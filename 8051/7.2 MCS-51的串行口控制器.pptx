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80" r:id="rId2"/>
    <p:sldId id="271" r:id="rId3"/>
    <p:sldId id="381" r:id="rId4"/>
    <p:sldId id="331" r:id="rId5"/>
    <p:sldId id="332" r:id="rId6"/>
    <p:sldId id="379" r:id="rId7"/>
    <p:sldId id="296" r:id="rId8"/>
    <p:sldId id="275" r:id="rId9"/>
    <p:sldId id="383" r:id="rId10"/>
    <p:sldId id="382" r:id="rId11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FF"/>
    <a:srgbClr val="66FFFF"/>
    <a:srgbClr val="6600CC"/>
    <a:srgbClr val="FF0000"/>
    <a:srgbClr val="FFC91D"/>
    <a:srgbClr val="00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0" autoAdjust="0"/>
    <p:restoredTop sz="94574" autoAdjust="0"/>
  </p:normalViewPr>
  <p:slideViewPr>
    <p:cSldViewPr>
      <p:cViewPr varScale="1">
        <p:scale>
          <a:sx n="63" d="100"/>
          <a:sy n="63" d="100"/>
        </p:scale>
        <p:origin x="1512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1FB1461-366F-4089-8A47-BE45ABDBA0DB}" type="datetimeFigureOut">
              <a:rPr lang="zh-CN" altLang="en-US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0F9C8D81-62A7-4A02-816E-053129DB066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fld id="{591F46E3-B05F-4252-B43F-97C36B497C9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CITTEXT"/>
          <p:cNvSpPr/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5" name="Picture 4" descr="CITBANN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Text Box 11">
            <a:hlinkClick r:id="" action="ppaction://noaction" highlightClick="1"/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4213" y="765175"/>
            <a:ext cx="7772400" cy="11430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7" descr="CITTEXT"/>
          <p:cNvSpPr/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1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28" name="Picture 4" descr="CITBAN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5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8" name="Text Box 16"/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8" grpId="0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84213" y="765175"/>
            <a:ext cx="7772400" cy="647601"/>
          </a:xfrm>
        </p:spPr>
        <p:txBody>
          <a:bodyPr/>
          <a:lstStyle/>
          <a:p>
            <a:r>
              <a:rPr lang="en-US" altLang="zh-CN" sz="35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7.2  MCS-51</a:t>
            </a:r>
            <a:r>
              <a:rPr lang="zh-CN" altLang="en-US" sz="35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的串行口控制器</a:t>
            </a:r>
            <a:endParaRPr lang="zh-CN" altLang="en-US" sz="35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3688" y="2780928"/>
            <a:ext cx="6984776" cy="1947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SzPct val="95000"/>
              <a:buFont typeface="Wingdings" panose="05000000000000000000" pitchFamily="2" charset="2"/>
              <a:buChar char="p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串行口的内部结构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SzPct val="95000"/>
              <a:buFont typeface="Wingdings" panose="05000000000000000000" pitchFamily="2" charset="2"/>
              <a:buChar char="p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两个缓冲器（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SBUF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）的作用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SzPct val="95000"/>
              <a:buFont typeface="Wingdings" panose="05000000000000000000" pitchFamily="2" charset="2"/>
              <a:buChar char="p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串行口控制寄存器（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SCON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PCON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15616" y="1988840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内容要点：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539750" y="2063750"/>
            <a:ext cx="7772400" cy="3600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1pPr>
            <a:lvl2pPr marL="1241425" indent="-285750">
              <a:spcBef>
                <a:spcPct val="20000"/>
              </a:spcBef>
              <a:buClr>
                <a:schemeClr val="accent2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2pPr>
            <a:lvl3pPr marL="1660525" indent="-22860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3pPr>
            <a:lvl4pPr marL="2079625" indent="-22860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4pPr>
            <a:lvl5pPr marL="2498725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5pPr>
            <a:lvl6pPr marL="2955925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6pPr>
            <a:lvl7pPr marL="3413125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7pPr>
            <a:lvl8pPr marL="3870325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8pPr>
            <a:lvl9pPr marL="4327525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MCS-51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串行口的结构由串行口控制电路、发送电路和接收电路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部分组成。</a:t>
            </a:r>
            <a:endParaRPr lang="en-US" altLang="zh-C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发送电路由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发送缓冲器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SBUF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和发送控制电路组成，用于串行口的发送；</a:t>
            </a:r>
            <a:endParaRPr lang="en-US" altLang="zh-C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接收电路由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接收缓冲器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SBUF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和接收控制电路组成，用于串行口的接收。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715" name="Rectangle 19"/>
          <p:cNvSpPr>
            <a:spLocks noGrp="1" noChangeArrowheads="1"/>
          </p:cNvSpPr>
          <p:nvPr>
            <p:ph type="title"/>
          </p:nvPr>
        </p:nvSpPr>
        <p:spPr>
          <a:xfrm>
            <a:off x="539750" y="163464"/>
            <a:ext cx="7772400" cy="8382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eaLnBrk="1" hangingPunct="1">
              <a:defRPr/>
            </a:pP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7.2  MCS-51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的串行口控制器</a:t>
            </a:r>
          </a:p>
        </p:txBody>
      </p:sp>
      <p:sp>
        <p:nvSpPr>
          <p:cNvPr id="29716" name="Text Box 20"/>
          <p:cNvSpPr txBox="1">
            <a:spLocks noChangeArrowheads="1"/>
          </p:cNvSpPr>
          <p:nvPr/>
        </p:nvSpPr>
        <p:spPr bwMode="auto">
          <a:xfrm>
            <a:off x="611560" y="1193379"/>
            <a:ext cx="5029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一、串行口的内部结构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3918743" y="3427834"/>
            <a:ext cx="1143000" cy="381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528343" y="3580234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" name="Picture 22"/>
          <p:cNvPicPr>
            <a:picLocks noChangeAspect="1" noChangeArrowheads="1"/>
          </p:cNvPicPr>
          <p:nvPr/>
        </p:nvPicPr>
        <p:blipFill>
          <a:blip r:embed="rId2">
            <a:lum bright="-36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31" y="476672"/>
            <a:ext cx="7704137" cy="3959225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Oval 23"/>
          <p:cNvSpPr>
            <a:spLocks noChangeArrowheads="1"/>
          </p:cNvSpPr>
          <p:nvPr/>
        </p:nvSpPr>
        <p:spPr bwMode="auto">
          <a:xfrm>
            <a:off x="3312318" y="619547"/>
            <a:ext cx="792163" cy="1512887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1800"/>
          </a:p>
        </p:txBody>
      </p:sp>
      <p:sp>
        <p:nvSpPr>
          <p:cNvPr id="8" name="Oval 24"/>
          <p:cNvSpPr>
            <a:spLocks noChangeArrowheads="1"/>
          </p:cNvSpPr>
          <p:nvPr/>
        </p:nvSpPr>
        <p:spPr bwMode="auto">
          <a:xfrm>
            <a:off x="3312318" y="2853159"/>
            <a:ext cx="792163" cy="1512888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1800"/>
          </a:p>
        </p:txBody>
      </p:sp>
      <p:sp>
        <p:nvSpPr>
          <p:cNvPr id="9" name="WordArt 25"/>
          <p:cNvSpPr>
            <a:spLocks noChangeArrowheads="1" noChangeShapeType="1" noTextEdit="1"/>
          </p:cNvSpPr>
          <p:nvPr/>
        </p:nvSpPr>
        <p:spPr bwMode="auto">
          <a:xfrm>
            <a:off x="2520156" y="1411709"/>
            <a:ext cx="93345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</a:rPr>
              <a:t>只写</a:t>
            </a:r>
          </a:p>
        </p:txBody>
      </p:sp>
      <p:sp>
        <p:nvSpPr>
          <p:cNvPr id="10" name="WordArt 26"/>
          <p:cNvSpPr>
            <a:spLocks noChangeArrowheads="1" noChangeShapeType="1" noTextEdit="1"/>
          </p:cNvSpPr>
          <p:nvPr/>
        </p:nvSpPr>
        <p:spPr bwMode="auto">
          <a:xfrm>
            <a:off x="2448718" y="4004097"/>
            <a:ext cx="93345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</a:rPr>
              <a:t>只读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11559" y="4535320"/>
            <a:ext cx="792088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发送控制器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：在门电路和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T1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配合下，将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SBUF</a:t>
            </a:r>
            <a:r>
              <a:rPr lang="zh-CN" altLang="en-US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发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的并行数据转换成串行数据，自动添加起始位、可编程位、停止位。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ea"/>
                <a:ea typeface="+mn-ea"/>
              </a:rPr>
              <a:t>结束后自动置位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ea"/>
                <a:ea typeface="+mn-ea"/>
              </a:rPr>
              <a:t>TI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，用以通知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CPU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已将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SBUF</a:t>
            </a:r>
            <a:r>
              <a:rPr lang="zh-CN" altLang="en-US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发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中的数据输出至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TXD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引脚。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spcAft>
                <a:spcPts val="600"/>
              </a:spcAft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接收控制器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：在接收移位寄存器和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T1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配合下，使来自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RXD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引脚的串行数据转换为并行数据，并自动过滤掉起始位、可编程位、停止位。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ea"/>
                <a:ea typeface="+mn-ea"/>
              </a:rPr>
              <a:t>结束后自动置位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ea"/>
                <a:ea typeface="+mn-ea"/>
              </a:rPr>
              <a:t>RI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，用以通知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CPU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接收的数据已存入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SBUF</a:t>
            </a:r>
            <a:r>
              <a:rPr lang="zh-CN" altLang="en-US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收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。</a:t>
            </a:r>
          </a:p>
        </p:txBody>
      </p:sp>
      <p:sp>
        <p:nvSpPr>
          <p:cNvPr id="15" name="对话气泡: 圆角矩形 14"/>
          <p:cNvSpPr/>
          <p:nvPr/>
        </p:nvSpPr>
        <p:spPr bwMode="auto">
          <a:xfrm>
            <a:off x="179512" y="3068960"/>
            <a:ext cx="1888206" cy="1080120"/>
          </a:xfrm>
          <a:prstGeom prst="wedgeRoundRectCallout">
            <a:avLst>
              <a:gd name="adj1" fmla="val 67802"/>
              <a:gd name="adj2" fmla="val -8650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用于产生收发过程中节拍控制的通信时钟。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4" grpId="0" build="p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684213" y="3500438"/>
            <a:ext cx="78486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30000"/>
              </a:spcBef>
              <a:defRPr/>
            </a:pP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数据发送与接收控制</a:t>
            </a:r>
          </a:p>
          <a:p>
            <a:pPr>
              <a:lnSpc>
                <a:spcPct val="115000"/>
              </a:lnSpc>
              <a:spcBef>
                <a:spcPct val="3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     发送控制器在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波特率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作用下，将发送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SBUF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中的数据由并到串，一位位地传输到发送端口；接收控制器在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波特率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作用下，将接收接收端口的数据由串到并，存入接收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SBUF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中。</a:t>
            </a: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611188" y="333375"/>
            <a:ext cx="7848600" cy="3242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数据缓冲寄存器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SBUF</a:t>
            </a:r>
          </a:p>
          <a:p>
            <a:pPr algn="just"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    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两个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SBUF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，一个用于发送（只写）；一个用于接收（只读）。映象地址均为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99H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。</a:t>
            </a:r>
          </a:p>
          <a:p>
            <a:pPr algn="just"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charset="0"/>
              </a:rPr>
              <a:t>     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指令 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 SBUF, A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启动一次数据发送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可向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SBUF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再发送下一个数。</a:t>
            </a:r>
          </a:p>
          <a:p>
            <a:pPr algn="just" eaLnBrk="1" hangingPunct="1"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指令 </a:t>
            </a:r>
            <a:r>
              <a:rPr kumimoji="1"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 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SBUF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完成一次数据接收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SBUF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可再接收下一个数。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04032" y="4293096"/>
            <a:ext cx="8028781" cy="170816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buSzPct val="75000"/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</a:rPr>
              <a:t>波特率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：是衡量数据传送速率的指标。表示每秒钟传送的二进制位数，单位是位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秒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(bit per second)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，简称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bps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/>
      <p:bldP spid="101381" grpId="0" bldLvl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900113" y="549275"/>
            <a:ext cx="7704137" cy="221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3. 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Monotype Sorts" pitchFamily="2" charset="2"/>
              </a:rPr>
              <a:t>RI/TI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的作用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  <a:sym typeface="Monotype Sorts" pitchFamily="2" charset="2"/>
              </a:rPr>
              <a:t>    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接收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/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发送数据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,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无论是否采用中断方式工作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,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每接收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/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发送一个数据都必须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用软件对 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RI/TI  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清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0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，以备下一次收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/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发。</a:t>
            </a:r>
          </a:p>
        </p:txBody>
      </p:sp>
      <p:pic>
        <p:nvPicPr>
          <p:cNvPr id="286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268413"/>
            <a:ext cx="7704137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5650" y="981075"/>
            <a:ext cx="7561263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Tahoma" panose="020B0604030504040204" pitchFamily="34" charset="0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5000"/>
              </a:spcBef>
              <a:defRPr/>
            </a:pP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4. 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串行口相关的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SFR</a:t>
            </a:r>
            <a:b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串行口的控制寄存器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SCON</a:t>
            </a:r>
            <a:b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</a:b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        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电源控制寄存器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PCON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5288" y="3789363"/>
            <a:ext cx="8748712" cy="1800225"/>
            <a:chOff x="395288" y="3789363"/>
            <a:chExt cx="8748712" cy="1800225"/>
          </a:xfrm>
        </p:grpSpPr>
        <p:pic>
          <p:nvPicPr>
            <p:cNvPr id="30728" name="Picture 13"/>
            <p:cNvPicPr>
              <a:picLocks noChangeAspect="1" noChangeArrowheads="1"/>
            </p:cNvPicPr>
            <p:nvPr/>
          </p:nvPicPr>
          <p:blipFill>
            <a:blip r:embed="rId2">
              <a:lum bright="-36000" contrast="5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8" y="3789363"/>
              <a:ext cx="8748712" cy="180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729" name="Text Box 15"/>
            <p:cNvSpPr txBox="1">
              <a:spLocks noChangeArrowheads="1"/>
            </p:cNvSpPr>
            <p:nvPr/>
          </p:nvSpPr>
          <p:spPr bwMode="auto">
            <a:xfrm>
              <a:off x="4211638" y="3832226"/>
              <a:ext cx="1081087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宋体" panose="02010600030101010101" pitchFamily="2" charset="-122"/>
                </a:rPr>
                <a:t>SM0 SM1=</a:t>
              </a:r>
            </a:p>
          </p:txBody>
        </p:sp>
        <p:sp>
          <p:nvSpPr>
            <p:cNvPr id="30730" name="Text Box 16"/>
            <p:cNvSpPr txBox="1">
              <a:spLocks noChangeArrowheads="1"/>
            </p:cNvSpPr>
            <p:nvPr/>
          </p:nvSpPr>
          <p:spPr bwMode="auto">
            <a:xfrm>
              <a:off x="4211638" y="4292601"/>
              <a:ext cx="1081087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宋体" panose="02010600030101010101" pitchFamily="2" charset="-122"/>
                </a:rPr>
                <a:t>SM0 SM1=</a:t>
              </a:r>
            </a:p>
          </p:txBody>
        </p:sp>
        <p:sp>
          <p:nvSpPr>
            <p:cNvPr id="30731" name="Text Box 17"/>
            <p:cNvSpPr txBox="1">
              <a:spLocks noChangeArrowheads="1"/>
            </p:cNvSpPr>
            <p:nvPr/>
          </p:nvSpPr>
          <p:spPr bwMode="auto">
            <a:xfrm>
              <a:off x="4211638" y="4725988"/>
              <a:ext cx="1081087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SM0 SM1=</a:t>
              </a:r>
            </a:p>
          </p:txBody>
        </p:sp>
        <p:sp>
          <p:nvSpPr>
            <p:cNvPr id="30732" name="Text Box 18"/>
            <p:cNvSpPr txBox="1">
              <a:spLocks noChangeArrowheads="1"/>
            </p:cNvSpPr>
            <p:nvPr/>
          </p:nvSpPr>
          <p:spPr bwMode="auto">
            <a:xfrm>
              <a:off x="4211638" y="5200651"/>
              <a:ext cx="1081087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SM0 SM1=</a:t>
              </a: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6926263" y="4281488"/>
              <a:ext cx="358775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10</a:t>
              </a: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6937375" y="4725988"/>
              <a:ext cx="358775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11</a:t>
              </a:r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auto">
            <a:xfrm>
              <a:off x="6937375" y="5184776"/>
              <a:ext cx="358775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11</a:t>
              </a:r>
            </a:p>
          </p:txBody>
        </p:sp>
      </p:grp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827088" y="333375"/>
            <a:ext cx="4392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二、串行口控制寄存器 </a:t>
            </a:r>
          </a:p>
        </p:txBody>
      </p:sp>
      <p:sp>
        <p:nvSpPr>
          <p:cNvPr id="16388" name="Text Box 9"/>
          <p:cNvSpPr txBox="1">
            <a:spLocks noChangeArrowheads="1"/>
          </p:cNvSpPr>
          <p:nvPr/>
        </p:nvSpPr>
        <p:spPr bwMode="auto">
          <a:xfrm>
            <a:off x="900113" y="908050"/>
            <a:ext cx="49672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串行口的控制寄存器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SCON </a:t>
            </a:r>
          </a:p>
        </p:txBody>
      </p:sp>
      <p:pic>
        <p:nvPicPr>
          <p:cNvPr id="30725" name="Picture 11"/>
          <p:cNvPicPr>
            <a:picLocks noChangeAspect="1" noChangeArrowheads="1"/>
          </p:cNvPicPr>
          <p:nvPr/>
        </p:nvPicPr>
        <p:blipFill>
          <a:blip r:embed="rId3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412875"/>
            <a:ext cx="8135938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548" name="Picture 12"/>
          <p:cNvPicPr>
            <a:picLocks noChangeAspect="1" noChangeArrowheads="1"/>
          </p:cNvPicPr>
          <p:nvPr/>
        </p:nvPicPr>
        <p:blipFill>
          <a:blip r:embed="rId4">
            <a:lum bright="-42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3698081"/>
            <a:ext cx="8351838" cy="266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550" name="AutoShape 14"/>
          <p:cNvSpPr/>
          <p:nvPr/>
        </p:nvSpPr>
        <p:spPr bwMode="auto">
          <a:xfrm>
            <a:off x="3711575" y="3798036"/>
            <a:ext cx="4964113" cy="2881313"/>
          </a:xfrm>
          <a:prstGeom prst="borderCallout2">
            <a:avLst>
              <a:gd name="adj1" fmla="val 3644"/>
              <a:gd name="adj2" fmla="val -1537"/>
              <a:gd name="adj3" fmla="val 3644"/>
              <a:gd name="adj4" fmla="val -3741"/>
              <a:gd name="adj5" fmla="val -36749"/>
              <a:gd name="adj6" fmla="val -9865"/>
            </a:avLst>
          </a:prstGeom>
          <a:solidFill>
            <a:srgbClr val="CCFFCC"/>
          </a:solidFill>
          <a:ln w="22225">
            <a:solidFill>
              <a:srgbClr val="000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方式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SM2=0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，则单机工作，接收一帧数据后，不管第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位（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RB8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）是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，都置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RI=1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，接收到的数据装入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SBUF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中； 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SM2=1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，则多机通信，若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RB8=1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，激活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，引起接收中断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方式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中，当接收时，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SM2=1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则只有收到有效停止位才激活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方式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置为</a:t>
            </a:r>
            <a:r>
              <a:rPr lang="en-US" altLang="zh-CN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2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200" dirty="0">
              <a:solidFill>
                <a:srgbClr val="66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8"/>
          <p:cNvSpPr txBox="1">
            <a:spLocks noChangeArrowheads="1"/>
          </p:cNvSpPr>
          <p:nvPr/>
        </p:nvSpPr>
        <p:spPr bwMode="auto">
          <a:xfrm>
            <a:off x="755650" y="333375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电源控制寄存器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PCON</a:t>
            </a:r>
          </a:p>
        </p:txBody>
      </p:sp>
      <p:sp>
        <p:nvSpPr>
          <p:cNvPr id="34825" name="Text Box 9"/>
          <p:cNvSpPr txBox="1">
            <a:spLocks noChangeArrowheads="1"/>
          </p:cNvSpPr>
          <p:nvPr/>
        </p:nvSpPr>
        <p:spPr bwMode="auto">
          <a:xfrm>
            <a:off x="468313" y="909638"/>
            <a:ext cx="792480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PCON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称为电源控制寄存器，格式如表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5.4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所示。串行通信中只用了其中的最高位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SMOD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，初始化时，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SMOD=0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，其余各位用于电源管理。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PCON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的字节地址为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87H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，无位地址，只能进行字节寻址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</a:p>
        </p:txBody>
      </p:sp>
      <p:pic>
        <p:nvPicPr>
          <p:cNvPr id="31748" name="Picture 11" descr="GIF014">
            <a:hlinkClick r:id="rId2" action="ppaction://hlinksldjump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408738"/>
            <a:ext cx="76200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12"/>
          <p:cNvPicPr>
            <a:picLocks noChangeAspect="1" noChangeArrowheads="1"/>
          </p:cNvPicPr>
          <p:nvPr/>
        </p:nvPicPr>
        <p:blipFill>
          <a:blip r:embed="rId4">
            <a:lum bright="-36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141663"/>
            <a:ext cx="7953375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45" name="AutoShape 29"/>
          <p:cNvSpPr/>
          <p:nvPr/>
        </p:nvSpPr>
        <p:spPr bwMode="auto">
          <a:xfrm>
            <a:off x="2555875" y="5445125"/>
            <a:ext cx="2227263" cy="1152525"/>
          </a:xfrm>
          <a:prstGeom prst="borderCallout2">
            <a:avLst>
              <a:gd name="adj1" fmla="val 9917"/>
              <a:gd name="adj2" fmla="val -3421"/>
              <a:gd name="adj3" fmla="val 9917"/>
              <a:gd name="adj4" fmla="val -11264"/>
              <a:gd name="adj5" fmla="val -24931"/>
              <a:gd name="adj6" fmla="val -19389"/>
            </a:avLst>
          </a:prstGeom>
          <a:solidFill>
            <a:srgbClr val="008080"/>
          </a:solidFill>
          <a:ln w="9525">
            <a:solidFill>
              <a:srgbClr val="6600CC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时，方式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的波特率加倍</a:t>
            </a:r>
          </a:p>
        </p:txBody>
      </p:sp>
      <p:sp>
        <p:nvSpPr>
          <p:cNvPr id="34846" name="WordArt 30"/>
          <p:cNvSpPr>
            <a:spLocks noChangeArrowheads="1" noChangeShapeType="1" noTextEdit="1"/>
          </p:cNvSpPr>
          <p:nvPr/>
        </p:nvSpPr>
        <p:spPr bwMode="auto">
          <a:xfrm>
            <a:off x="6227763" y="5300663"/>
            <a:ext cx="215900" cy="2889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</a:rPr>
              <a:t>0</a:t>
            </a:r>
            <a:endParaRPr lang="zh-CN" altLang="en-US" sz="3600" kern="10"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隶书"/>
            </a:endParaRPr>
          </a:p>
        </p:txBody>
      </p:sp>
      <p:sp>
        <p:nvSpPr>
          <p:cNvPr id="34847" name="WordArt 31"/>
          <p:cNvSpPr>
            <a:spLocks noChangeArrowheads="1" noChangeShapeType="1" noTextEdit="1"/>
          </p:cNvSpPr>
          <p:nvPr/>
        </p:nvSpPr>
        <p:spPr bwMode="auto">
          <a:xfrm>
            <a:off x="6659563" y="5300663"/>
            <a:ext cx="215900" cy="2889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</a:rPr>
              <a:t>1</a:t>
            </a:r>
            <a:endParaRPr lang="zh-CN" altLang="en-US" sz="3600" kern="10"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隶书"/>
            </a:endParaRPr>
          </a:p>
        </p:txBody>
      </p:sp>
      <p:sp>
        <p:nvSpPr>
          <p:cNvPr id="34851" name="WordArt 35"/>
          <p:cNvSpPr>
            <a:spLocks noChangeArrowheads="1" noChangeShapeType="1" noTextEdit="1"/>
          </p:cNvSpPr>
          <p:nvPr/>
        </p:nvSpPr>
        <p:spPr bwMode="auto">
          <a:xfrm>
            <a:off x="7524750" y="5300663"/>
            <a:ext cx="215900" cy="2889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</a:rPr>
              <a:t>0</a:t>
            </a:r>
            <a:endParaRPr lang="zh-CN" altLang="en-US" sz="3600" kern="10"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隶书"/>
            </a:endParaRPr>
          </a:p>
        </p:txBody>
      </p:sp>
      <p:sp>
        <p:nvSpPr>
          <p:cNvPr id="34852" name="WordArt 36"/>
          <p:cNvSpPr>
            <a:spLocks noChangeArrowheads="1" noChangeShapeType="1" noTextEdit="1"/>
          </p:cNvSpPr>
          <p:nvPr/>
        </p:nvSpPr>
        <p:spPr bwMode="auto">
          <a:xfrm>
            <a:off x="7956550" y="5300663"/>
            <a:ext cx="215900" cy="2889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</a:rPr>
              <a:t>1</a:t>
            </a:r>
            <a:endParaRPr lang="zh-CN" altLang="en-US" sz="3600" kern="10"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隶书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468313" y="909638"/>
            <a:ext cx="7924800" cy="396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单片机的两种模式状态：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掉电模式：进入掉电模式后，晶振停震，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、定时器、串行口全部停止工作，只有外部中断继续工作，可有外部中断低电平触发或下降沿触发或硬件复位模式唤醒。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just" eaLnBrk="1" hangingPunct="1"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空闲模式：除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不工作外，其余仍继续工作，在空闲模式下，可由任一个中断或者硬件复位唤醒。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611188" y="333375"/>
            <a:ext cx="7924800" cy="638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※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串行口的通信波特率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１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.</a:t>
            </a:r>
            <a:r>
              <a:rPr kumimoji="1"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方式０的波特率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---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固定，为</a:t>
            </a:r>
            <a:r>
              <a:rPr kumimoji="1"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</a:t>
            </a:r>
            <a:r>
              <a:rPr kumimoji="1" lang="en-US" altLang="zh-CN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osc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/12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２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.</a:t>
            </a:r>
            <a:r>
              <a:rPr kumimoji="1"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方式 </a:t>
            </a:r>
            <a:r>
              <a:rPr kumimoji="1" lang="en-US" altLang="zh-CN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 </a:t>
            </a:r>
            <a:r>
              <a:rPr kumimoji="1"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的波特率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--- </a:t>
            </a:r>
            <a:r>
              <a:rPr kumimoji="1"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</a:t>
            </a:r>
            <a:r>
              <a:rPr kumimoji="1" lang="en-US" altLang="zh-CN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osc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/32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或</a:t>
            </a:r>
            <a:r>
              <a:rPr kumimoji="1"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</a:t>
            </a:r>
            <a:r>
              <a:rPr kumimoji="1" lang="en-US" altLang="zh-CN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osc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/64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　　可用公式：波特率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=(2</a:t>
            </a:r>
            <a:r>
              <a:rPr kumimoji="1" lang="en-US" altLang="zh-CN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SMOD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/64)×</a:t>
            </a:r>
            <a:r>
              <a:rPr kumimoji="1"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</a:t>
            </a:r>
            <a:r>
              <a:rPr kumimoji="1" lang="en-US" altLang="zh-CN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osc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３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.</a:t>
            </a:r>
            <a:r>
              <a:rPr kumimoji="1"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方式１或３的波特率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　　其波特率是由定时器的溢出率决定。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　　波特率＝ 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(2</a:t>
            </a:r>
            <a:r>
              <a:rPr kumimoji="1" lang="en-US" altLang="zh-CN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SMOD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/32)×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定时器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T</a:t>
            </a:r>
            <a:r>
              <a:rPr kumimoji="1" lang="en-US" altLang="zh-CN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溢出率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而 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定时器溢出率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= 1/T=1/((2</a:t>
            </a:r>
            <a:r>
              <a:rPr kumimoji="1" lang="en-US" altLang="zh-CN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k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-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初值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)×12/</a:t>
            </a:r>
            <a:r>
              <a:rPr kumimoji="1"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</a:t>
            </a:r>
            <a:r>
              <a:rPr kumimoji="1" lang="en-US" altLang="zh-CN" baseline="-250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osc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)</a:t>
            </a:r>
            <a:endParaRPr kumimoji="1" lang="zh-CN" alt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代入得 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波特率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= (2</a:t>
            </a:r>
            <a:r>
              <a:rPr kumimoji="1"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SMOD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/32)×</a:t>
            </a:r>
            <a:r>
              <a:rPr kumimoji="1" lang="en-US" altLang="zh-CN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</a:t>
            </a:r>
            <a:r>
              <a:rPr kumimoji="1" lang="en-US" altLang="zh-CN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osc</a:t>
            </a:r>
            <a:r>
              <a:rPr kumimoji="1" lang="en-US" altLang="zh-CN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/(12 ×(2</a:t>
            </a:r>
            <a:r>
              <a:rPr kumimoji="1"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k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-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初值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))</a:t>
            </a:r>
            <a:endParaRPr kumimoji="1"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其中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k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为Ｔ</a:t>
            </a:r>
            <a:r>
              <a:rPr kumimoji="1" lang="en-US" altLang="zh-CN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的位数。方式０时为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13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，方式１时为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16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，方式２和３时为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8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d591188-b8c7-4d94-9ac4-1b38809b635b"/>
  <p:tag name="COMMONDATA" val="eyJoZGlkIjoiZDlhNzhkNzI3NzgzMjVmNTVjOTdmNzdiNmViZTJjM2MifQ=="/>
</p:tagLst>
</file>

<file path=ppt/theme/theme1.xml><?xml version="1.0" encoding="utf-8"?>
<a:theme xmlns:a="http://schemas.openxmlformats.org/drawingml/2006/main" name="CITRUS">
  <a:themeElements>
    <a:clrScheme name="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CITRUS">
      <a:majorFont>
        <a:latin typeface="Tahoma"/>
        <a:ea typeface="黑体"/>
        <a:cs typeface="Tahoma"/>
      </a:majorFont>
      <a:minorFont>
        <a:latin typeface="Tahoma"/>
        <a:ea typeface="宋体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726</Words>
  <Application>Microsoft Office PowerPoint</Application>
  <PresentationFormat>全屏显示(4:3)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Monotype Sorts</vt:lpstr>
      <vt:lpstr>仿宋_GB2312</vt:lpstr>
      <vt:lpstr>黑体</vt:lpstr>
      <vt:lpstr>华文仿宋</vt:lpstr>
      <vt:lpstr>华文楷体</vt:lpstr>
      <vt:lpstr>楷体</vt:lpstr>
      <vt:lpstr>楷体_GB2312</vt:lpstr>
      <vt:lpstr>隶书</vt:lpstr>
      <vt:lpstr>宋体</vt:lpstr>
      <vt:lpstr>Arial</vt:lpstr>
      <vt:lpstr>Tahoma</vt:lpstr>
      <vt:lpstr>Times</vt:lpstr>
      <vt:lpstr>Times New Roman</vt:lpstr>
      <vt:lpstr>Wingdings</vt:lpstr>
      <vt:lpstr>CITRUS</vt:lpstr>
      <vt:lpstr>7.2  MCS-51的串行口控制器</vt:lpstr>
      <vt:lpstr>7.2  MCS-51的串行口控制器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island</dc:creator>
  <cp:lastModifiedBy>admin</cp:lastModifiedBy>
  <cp:revision>249</cp:revision>
  <dcterms:created xsi:type="dcterms:W3CDTF">2010-01-21T07:14:00Z</dcterms:created>
  <dcterms:modified xsi:type="dcterms:W3CDTF">2025-04-20T11:57:16Z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8DE576273752498EBA68EC3D665364A9</vt:lpwstr>
  </property>
  <property fmtid="{D5CDD505-2E9C-101B-9397-08002B2CF9AE}" pid="3" name="KSOProductBuildVer">
    <vt:lpwstr>2052-11.1.0.12598</vt:lpwstr>
  </property>
</Properties>
</file>