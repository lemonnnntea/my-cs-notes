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0"/>
  </p:notesMasterIdLst>
  <p:handoutMasterIdLst>
    <p:handoutMasterId r:id="rId11"/>
  </p:handoutMasterIdLst>
  <p:sldIdLst>
    <p:sldId id="380" r:id="rId2"/>
    <p:sldId id="375" r:id="rId3"/>
    <p:sldId id="339" r:id="rId4"/>
    <p:sldId id="340" r:id="rId5"/>
    <p:sldId id="352" r:id="rId6"/>
    <p:sldId id="386" r:id="rId7"/>
    <p:sldId id="387" r:id="rId8"/>
    <p:sldId id="388" r:id="rId9"/>
  </p:sldIdLst>
  <p:sldSz cx="9144000" cy="6858000" type="screen4x3"/>
  <p:notesSz cx="6858000" cy="9144000"/>
  <p:defaultTextStyle>
    <a:defPPr>
      <a:defRPr lang="zh-CN"/>
    </a:defPPr>
    <a:lvl1pPr algn="l" rtl="0" eaLnBrk="0" fontAlgn="base" hangingPunct="0">
      <a:spcBef>
        <a:spcPct val="0"/>
      </a:spcBef>
      <a:spcAft>
        <a:spcPct val="0"/>
      </a:spcAft>
      <a:defRPr sz="2800"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28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28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28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28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8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8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8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800"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9900FF"/>
    <a:srgbClr val="66FFFF"/>
    <a:srgbClr val="6600CC"/>
    <a:srgbClr val="FF0000"/>
    <a:srgbClr val="FFC91D"/>
    <a:srgbClr val="0099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160" autoAdjust="0"/>
    <p:restoredTop sz="94574" autoAdjust="0"/>
  </p:normalViewPr>
  <p:slideViewPr>
    <p:cSldViewPr>
      <p:cViewPr varScale="1">
        <p:scale>
          <a:sx n="85" d="100"/>
          <a:sy n="85" d="100"/>
        </p:scale>
        <p:origin x="1722"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6" d="100"/>
          <a:sy n="86" d="100"/>
        </p:scale>
        <p:origin x="-3894"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082215A7-EC29-459A-BC9E-239972BE75CE}"/>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a:defRPr/>
            </a:pPr>
            <a:endParaRPr lang="zh-CN" altLang="en-US"/>
          </a:p>
        </p:txBody>
      </p:sp>
      <p:sp>
        <p:nvSpPr>
          <p:cNvPr id="3" name="日期占位符 2">
            <a:extLst>
              <a:ext uri="{FF2B5EF4-FFF2-40B4-BE49-F238E27FC236}">
                <a16:creationId xmlns:a16="http://schemas.microsoft.com/office/drawing/2014/main" id="{DB51A07F-C30F-4185-B807-453345C64ECD}"/>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a:defRPr/>
            </a:pPr>
            <a:fld id="{D1FB1461-366F-4089-8A47-BE45ABDBA0DB}" type="datetimeFigureOut">
              <a:rPr lang="zh-CN" altLang="en-US"/>
              <a:pPr>
                <a:defRPr/>
              </a:pPr>
              <a:t>2025/4/28</a:t>
            </a:fld>
            <a:endParaRPr lang="zh-CN" altLang="en-US"/>
          </a:p>
        </p:txBody>
      </p:sp>
      <p:sp>
        <p:nvSpPr>
          <p:cNvPr id="4" name="页脚占位符 3">
            <a:extLst>
              <a:ext uri="{FF2B5EF4-FFF2-40B4-BE49-F238E27FC236}">
                <a16:creationId xmlns:a16="http://schemas.microsoft.com/office/drawing/2014/main" id="{EE3DDB31-D28B-4469-A7A3-994C67C21560}"/>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a:defRPr/>
            </a:pPr>
            <a:endParaRPr lang="zh-CN" altLang="en-US"/>
          </a:p>
        </p:txBody>
      </p:sp>
      <p:sp>
        <p:nvSpPr>
          <p:cNvPr id="5" name="灯片编号占位符 4">
            <a:extLst>
              <a:ext uri="{FF2B5EF4-FFF2-40B4-BE49-F238E27FC236}">
                <a16:creationId xmlns:a16="http://schemas.microsoft.com/office/drawing/2014/main" id="{C8C0984A-8039-4F96-9750-2377F79C9424}"/>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0F9C8D81-62A7-4A02-816E-053129DB066E}" type="slidenum">
              <a:rPr lang="zh-CN" altLang="en-US"/>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F91917F1-8248-4AB2-B0E8-C880606AB37D}"/>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b="0"/>
            </a:lvl1pPr>
          </a:lstStyle>
          <a:p>
            <a:pPr>
              <a:defRPr/>
            </a:pPr>
            <a:endParaRPr lang="en-US" altLang="zh-CN"/>
          </a:p>
        </p:txBody>
      </p:sp>
      <p:sp>
        <p:nvSpPr>
          <p:cNvPr id="25603" name="Rectangle 3">
            <a:extLst>
              <a:ext uri="{FF2B5EF4-FFF2-40B4-BE49-F238E27FC236}">
                <a16:creationId xmlns:a16="http://schemas.microsoft.com/office/drawing/2014/main" id="{D8E47F8C-2884-4E5A-9E51-241223E2A1A4}"/>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b="0"/>
            </a:lvl1pPr>
          </a:lstStyle>
          <a:p>
            <a:pPr>
              <a:defRPr/>
            </a:pPr>
            <a:endParaRPr lang="en-US" altLang="zh-CN"/>
          </a:p>
        </p:txBody>
      </p:sp>
      <p:sp>
        <p:nvSpPr>
          <p:cNvPr id="13316" name="Rectangle 4">
            <a:extLst>
              <a:ext uri="{FF2B5EF4-FFF2-40B4-BE49-F238E27FC236}">
                <a16:creationId xmlns:a16="http://schemas.microsoft.com/office/drawing/2014/main" id="{21A72390-D751-4131-BF23-5E40BECF99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5605" name="Rectangle 5">
            <a:extLst>
              <a:ext uri="{FF2B5EF4-FFF2-40B4-BE49-F238E27FC236}">
                <a16:creationId xmlns:a16="http://schemas.microsoft.com/office/drawing/2014/main" id="{D98362D5-82A2-4570-931E-8AF1684DC936}"/>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5606" name="Rectangle 6">
            <a:extLst>
              <a:ext uri="{FF2B5EF4-FFF2-40B4-BE49-F238E27FC236}">
                <a16:creationId xmlns:a16="http://schemas.microsoft.com/office/drawing/2014/main" id="{C5BDB035-1BC6-4CCE-A511-DABFE1CB973B}"/>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b="0"/>
            </a:lvl1pPr>
          </a:lstStyle>
          <a:p>
            <a:pPr>
              <a:defRPr/>
            </a:pPr>
            <a:endParaRPr lang="en-US" altLang="zh-CN"/>
          </a:p>
        </p:txBody>
      </p:sp>
      <p:sp>
        <p:nvSpPr>
          <p:cNvPr id="25607" name="Rectangle 7">
            <a:extLst>
              <a:ext uri="{FF2B5EF4-FFF2-40B4-BE49-F238E27FC236}">
                <a16:creationId xmlns:a16="http://schemas.microsoft.com/office/drawing/2014/main" id="{9DD8697F-A60E-45A1-8815-004D9D15F11B}"/>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b="0"/>
            </a:lvl1pPr>
          </a:lstStyle>
          <a:p>
            <a:fld id="{591F46E3-B05F-4252-B43F-97C36B497C9F}"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91F46E3-B05F-4252-B43F-97C36B497C9F}" type="slidenum">
              <a:rPr lang="en-US" altLang="zh-CN" smtClean="0"/>
              <a:pPr/>
              <a:t>1</a:t>
            </a:fld>
            <a:endParaRPr lang="en-US" altLang="zh-CN"/>
          </a:p>
        </p:txBody>
      </p:sp>
    </p:spTree>
    <p:extLst>
      <p:ext uri="{BB962C8B-B14F-4D97-AF65-F5344CB8AC3E}">
        <p14:creationId xmlns:p14="http://schemas.microsoft.com/office/powerpoint/2010/main" val="19005886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3" name="Freeform 2" descr="CITTEXT">
            <a:extLst>
              <a:ext uri="{FF2B5EF4-FFF2-40B4-BE49-F238E27FC236}">
                <a16:creationId xmlns:a16="http://schemas.microsoft.com/office/drawing/2014/main" id="{2885C59F-8A42-4AFC-8DAA-469F0181160D}"/>
              </a:ext>
            </a:extLst>
          </p:cNvPr>
          <p:cNvSpPr>
            <a:spLocks/>
          </p:cNvSpPr>
          <p:nvPr userDrawn="1"/>
        </p:nvSpPr>
        <p:spPr bwMode="auto">
          <a:xfrm>
            <a:off x="0" y="0"/>
            <a:ext cx="2895600" cy="6858000"/>
          </a:xfrm>
          <a:custGeom>
            <a:avLst/>
            <a:gdLst>
              <a:gd name="T0" fmla="*/ 0 w 1824"/>
              <a:gd name="T1" fmla="*/ 2147483646 h 3840"/>
              <a:gd name="T2" fmla="*/ 0 w 1824"/>
              <a:gd name="T3" fmla="*/ 0 h 3840"/>
              <a:gd name="T4" fmla="*/ 2147483646 w 1824"/>
              <a:gd name="T5" fmla="*/ 0 h 3840"/>
              <a:gd name="T6" fmla="*/ 2147483646 w 1824"/>
              <a:gd name="T7" fmla="*/ 2147483646 h 3840"/>
              <a:gd name="T8" fmla="*/ 0 w 1824"/>
              <a:gd name="T9" fmla="*/ 2147483646 h 38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4" h="3840">
                <a:moveTo>
                  <a:pt x="0" y="3840"/>
                </a:moveTo>
                <a:lnTo>
                  <a:pt x="0" y="0"/>
                </a:lnTo>
                <a:lnTo>
                  <a:pt x="1824" y="0"/>
                </a:lnTo>
                <a:cubicBezTo>
                  <a:pt x="74" y="1204"/>
                  <a:pt x="465" y="3655"/>
                  <a:pt x="583" y="3840"/>
                </a:cubicBezTo>
                <a:cubicBezTo>
                  <a:pt x="291" y="3840"/>
                  <a:pt x="0" y="3840"/>
                  <a:pt x="0" y="3840"/>
                </a:cubicBezTo>
                <a:close/>
              </a:path>
            </a:pathLst>
          </a:custGeom>
          <a:blipFill dpi="0" rotWithShape="0">
            <a:blip r:embed="rId2"/>
            <a:srcRect/>
            <a:tile tx="0" ty="0" sx="100000" sy="100000" flip="none" algn="tl"/>
          </a:bli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3">
            <a:extLst>
              <a:ext uri="{FF2B5EF4-FFF2-40B4-BE49-F238E27FC236}">
                <a16:creationId xmlns:a16="http://schemas.microsoft.com/office/drawing/2014/main" id="{42AC6938-E17D-4DF3-9793-641D59754718}"/>
              </a:ext>
            </a:extLst>
          </p:cNvPr>
          <p:cNvSpPr>
            <a:spLocks noChangeArrowheads="1"/>
          </p:cNvSpPr>
          <p:nvPr userDrawn="1"/>
        </p:nvSpPr>
        <p:spPr bwMode="ltGray">
          <a:xfrm>
            <a:off x="1600200" y="0"/>
            <a:ext cx="7543800" cy="38100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800" b="1">
                <a:solidFill>
                  <a:schemeClr val="tx1"/>
                </a:solidFill>
                <a:latin typeface="Arial" pitchFamily="34" charset="0"/>
                <a:ea typeface="宋体" pitchFamily="2" charset="-122"/>
              </a:defRPr>
            </a:lvl1pPr>
            <a:lvl2pPr marL="742950" indent="-285750" eaLnBrk="0" hangingPunct="0">
              <a:defRPr sz="2800" b="1">
                <a:solidFill>
                  <a:schemeClr val="tx1"/>
                </a:solidFill>
                <a:latin typeface="Arial" pitchFamily="34" charset="0"/>
                <a:ea typeface="宋体" pitchFamily="2" charset="-122"/>
              </a:defRPr>
            </a:lvl2pPr>
            <a:lvl3pPr marL="1143000" indent="-228600" eaLnBrk="0" hangingPunct="0">
              <a:defRPr sz="2800" b="1">
                <a:solidFill>
                  <a:schemeClr val="tx1"/>
                </a:solidFill>
                <a:latin typeface="Arial" pitchFamily="34" charset="0"/>
                <a:ea typeface="宋体" pitchFamily="2" charset="-122"/>
              </a:defRPr>
            </a:lvl3pPr>
            <a:lvl4pPr marL="1600200" indent="-228600" eaLnBrk="0" hangingPunct="0">
              <a:defRPr sz="2800" b="1">
                <a:solidFill>
                  <a:schemeClr val="tx1"/>
                </a:solidFill>
                <a:latin typeface="Arial" pitchFamily="34" charset="0"/>
                <a:ea typeface="宋体" pitchFamily="2" charset="-122"/>
              </a:defRPr>
            </a:lvl4pPr>
            <a:lvl5pPr marL="2057400" indent="-228600" eaLnBrk="0" hangingPunct="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800" b="1">
                <a:solidFill>
                  <a:schemeClr val="tx1"/>
                </a:solidFill>
                <a:latin typeface="Arial" pitchFamily="34" charset="0"/>
                <a:ea typeface="宋体" pitchFamily="2" charset="-122"/>
              </a:defRPr>
            </a:lvl9pPr>
          </a:lstStyle>
          <a:p>
            <a:pPr eaLnBrk="1" hangingPunct="1">
              <a:defRPr/>
            </a:pPr>
            <a:endParaRPr lang="zh-CN" altLang="en-US"/>
          </a:p>
        </p:txBody>
      </p:sp>
      <p:pic>
        <p:nvPicPr>
          <p:cNvPr id="5" name="Picture 4" descr="CITBANND">
            <a:extLst>
              <a:ext uri="{FF2B5EF4-FFF2-40B4-BE49-F238E27FC236}">
                <a16:creationId xmlns:a16="http://schemas.microsoft.com/office/drawing/2014/main" id="{5446F4AE-FFFB-4C4E-A5CA-A84C3F91D74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l="30666" r="5334" b="86667"/>
          <a:stretch>
            <a:fillRect/>
          </a:stretch>
        </p:blipFill>
        <p:spPr bwMode="auto">
          <a:xfrm>
            <a:off x="2514600" y="0"/>
            <a:ext cx="6629400" cy="13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7CC6341E-2CC3-4976-A90F-D5D0399BE663}"/>
              </a:ext>
            </a:extLst>
          </p:cNvPr>
          <p:cNvSpPr>
            <a:spLocks noChangeArrowheads="1"/>
          </p:cNvSpPr>
          <p:nvPr userDrawn="1"/>
        </p:nvSpPr>
        <p:spPr bwMode="auto">
          <a:xfrm>
            <a:off x="1600200" y="381000"/>
            <a:ext cx="7543800" cy="76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800" b="1">
                <a:solidFill>
                  <a:schemeClr val="tx1"/>
                </a:solidFill>
                <a:latin typeface="Arial" pitchFamily="34" charset="0"/>
                <a:ea typeface="宋体" pitchFamily="2" charset="-122"/>
              </a:defRPr>
            </a:lvl1pPr>
            <a:lvl2pPr marL="742950" indent="-285750" eaLnBrk="0" hangingPunct="0">
              <a:defRPr sz="2800" b="1">
                <a:solidFill>
                  <a:schemeClr val="tx1"/>
                </a:solidFill>
                <a:latin typeface="Arial" pitchFamily="34" charset="0"/>
                <a:ea typeface="宋体" pitchFamily="2" charset="-122"/>
              </a:defRPr>
            </a:lvl2pPr>
            <a:lvl3pPr marL="1143000" indent="-228600" eaLnBrk="0" hangingPunct="0">
              <a:defRPr sz="2800" b="1">
                <a:solidFill>
                  <a:schemeClr val="tx1"/>
                </a:solidFill>
                <a:latin typeface="Arial" pitchFamily="34" charset="0"/>
                <a:ea typeface="宋体" pitchFamily="2" charset="-122"/>
              </a:defRPr>
            </a:lvl3pPr>
            <a:lvl4pPr marL="1600200" indent="-228600" eaLnBrk="0" hangingPunct="0">
              <a:defRPr sz="2800" b="1">
                <a:solidFill>
                  <a:schemeClr val="tx1"/>
                </a:solidFill>
                <a:latin typeface="Arial" pitchFamily="34" charset="0"/>
                <a:ea typeface="宋体" pitchFamily="2" charset="-122"/>
              </a:defRPr>
            </a:lvl4pPr>
            <a:lvl5pPr marL="2057400" indent="-228600" eaLnBrk="0" hangingPunct="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800" b="1">
                <a:solidFill>
                  <a:schemeClr val="tx1"/>
                </a:solidFill>
                <a:latin typeface="Arial" pitchFamily="34" charset="0"/>
                <a:ea typeface="宋体" pitchFamily="2" charset="-122"/>
              </a:defRPr>
            </a:lvl9pPr>
          </a:lstStyle>
          <a:p>
            <a:pPr eaLnBrk="1" hangingPunct="1">
              <a:defRPr/>
            </a:pPr>
            <a:endParaRPr lang="zh-CN" altLang="en-US"/>
          </a:p>
        </p:txBody>
      </p:sp>
      <p:sp>
        <p:nvSpPr>
          <p:cNvPr id="7" name="Text Box 11">
            <a:hlinkClick r:id="" action="ppaction://noaction" highlightClick="1"/>
            <a:extLst>
              <a:ext uri="{FF2B5EF4-FFF2-40B4-BE49-F238E27FC236}">
                <a16:creationId xmlns:a16="http://schemas.microsoft.com/office/drawing/2014/main" id="{3493F2A2-0EAC-4DA9-8879-13B8805FF0BA}"/>
              </a:ext>
            </a:extLst>
          </p:cNvPr>
          <p:cNvSpPr txBox="1">
            <a:spLocks noChangeArrowheads="1"/>
          </p:cNvSpPr>
          <p:nvPr userDrawn="1"/>
        </p:nvSpPr>
        <p:spPr bwMode="auto">
          <a:xfrm>
            <a:off x="5364163" y="115888"/>
            <a:ext cx="3779837"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b="1">
                <a:solidFill>
                  <a:schemeClr val="tx1"/>
                </a:solidFill>
                <a:latin typeface="Arial" pitchFamily="34" charset="0"/>
                <a:ea typeface="宋体" pitchFamily="2" charset="-122"/>
              </a:defRPr>
            </a:lvl1pPr>
            <a:lvl2pPr marL="742950" indent="-285750" eaLnBrk="0" hangingPunct="0">
              <a:defRPr sz="2800" b="1">
                <a:solidFill>
                  <a:schemeClr val="tx1"/>
                </a:solidFill>
                <a:latin typeface="Arial" pitchFamily="34" charset="0"/>
                <a:ea typeface="宋体" pitchFamily="2" charset="-122"/>
              </a:defRPr>
            </a:lvl2pPr>
            <a:lvl3pPr marL="1143000" indent="-228600" eaLnBrk="0" hangingPunct="0">
              <a:defRPr sz="2800" b="1">
                <a:solidFill>
                  <a:schemeClr val="tx1"/>
                </a:solidFill>
                <a:latin typeface="Arial" pitchFamily="34" charset="0"/>
                <a:ea typeface="宋体" pitchFamily="2" charset="-122"/>
              </a:defRPr>
            </a:lvl3pPr>
            <a:lvl4pPr marL="1600200" indent="-228600" eaLnBrk="0" hangingPunct="0">
              <a:defRPr sz="2800" b="1">
                <a:solidFill>
                  <a:schemeClr val="tx1"/>
                </a:solidFill>
                <a:latin typeface="Arial" pitchFamily="34" charset="0"/>
                <a:ea typeface="宋体" pitchFamily="2" charset="-122"/>
              </a:defRPr>
            </a:lvl4pPr>
            <a:lvl5pPr marL="2057400" indent="-228600" eaLnBrk="0" hangingPunct="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800" b="1">
                <a:solidFill>
                  <a:schemeClr val="tx1"/>
                </a:solidFill>
                <a:latin typeface="Arial" pitchFamily="34" charset="0"/>
                <a:ea typeface="宋体" pitchFamily="2" charset="-122"/>
              </a:defRPr>
            </a:lvl9pPr>
          </a:lstStyle>
          <a:p>
            <a:pPr algn="r" eaLnBrk="1" hangingPunct="1">
              <a:spcBef>
                <a:spcPct val="50000"/>
              </a:spcBef>
              <a:defRPr/>
            </a:pPr>
            <a:r>
              <a:rPr lang="zh-CN" altLang="en-US" sz="1200">
                <a:solidFill>
                  <a:srgbClr val="FFFF00"/>
                </a:solidFill>
                <a:latin typeface="楷体_GB2312" pitchFamily="49" charset="-122"/>
                <a:ea typeface="楷体_GB2312" pitchFamily="49" charset="-122"/>
              </a:rPr>
              <a:t>单片机原理与应用</a:t>
            </a:r>
          </a:p>
        </p:txBody>
      </p:sp>
      <p:sp>
        <p:nvSpPr>
          <p:cNvPr id="8" name="文本框 7">
            <a:extLst>
              <a:ext uri="{FF2B5EF4-FFF2-40B4-BE49-F238E27FC236}">
                <a16:creationId xmlns:a16="http://schemas.microsoft.com/office/drawing/2014/main" id="{F98C7643-9047-478D-BE92-3ACF62020291}"/>
              </a:ext>
            </a:extLst>
          </p:cNvPr>
          <p:cNvSpPr txBox="1">
            <a:spLocks noChangeArrowheads="1"/>
          </p:cNvSpPr>
          <p:nvPr userDrawn="1"/>
        </p:nvSpPr>
        <p:spPr bwMode="auto">
          <a:xfrm>
            <a:off x="7415213" y="115888"/>
            <a:ext cx="1728787" cy="2769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1200" dirty="0"/>
              <a:t>单片机原理及应用</a:t>
            </a:r>
          </a:p>
        </p:txBody>
      </p:sp>
      <p:sp>
        <p:nvSpPr>
          <p:cNvPr id="4102" name="Rectangle 6"/>
          <p:cNvSpPr>
            <a:spLocks noGrp="1" noChangeArrowheads="1"/>
          </p:cNvSpPr>
          <p:nvPr>
            <p:ph type="ctrTitle"/>
          </p:nvPr>
        </p:nvSpPr>
        <p:spPr>
          <a:xfrm>
            <a:off x="684213" y="765175"/>
            <a:ext cx="7772400" cy="1143000"/>
          </a:xfrm>
        </p:spPr>
        <p:txBody>
          <a:bodyPr anchor="b"/>
          <a:lstStyle>
            <a:lvl1pPr>
              <a:defRPr sz="3200"/>
            </a:lvl1pPr>
          </a:lstStyle>
          <a:p>
            <a:pPr lvl="0"/>
            <a:r>
              <a:rPr lang="zh-CN" altLang="en-US" noProof="0"/>
              <a:t>单击此处编辑母版标题样式</a:t>
            </a:r>
          </a:p>
        </p:txBody>
      </p:sp>
    </p:spTree>
    <p:extLst>
      <p:ext uri="{BB962C8B-B14F-4D97-AF65-F5344CB8AC3E}">
        <p14:creationId xmlns:p14="http://schemas.microsoft.com/office/powerpoint/2010/main" val="81678950"/>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ntr" presetSubtype="0" fill="hold" grpId="0" nodeType="afterEffect">
                                  <p:stCondLst>
                                    <p:cond delay="0"/>
                                  </p:stCondLst>
                                  <p:iterate type="lt">
                                    <p:tmPct val="50000"/>
                                  </p:iterate>
                                  <p:childTnLst>
                                    <p:set>
                                      <p:cBhvr>
                                        <p:cTn id="6" dur="1" fill="hold">
                                          <p:stCondLst>
                                            <p:cond delay="0"/>
                                          </p:stCondLst>
                                        </p:cTn>
                                        <p:tgtEl>
                                          <p:spTgt spid="7"/>
                                        </p:tgtEl>
                                        <p:attrNameLst>
                                          <p:attrName>style.visibility</p:attrName>
                                        </p:attrNameLst>
                                      </p:cBhvr>
                                      <p:to>
                                        <p:strVal val="visible"/>
                                      </p:to>
                                    </p:set>
                                    <p:anim calcmode="discrete" valueType="clr">
                                      <p:cBhvr override="childStyle">
                                        <p:cTn id="7" dur="80"/>
                                        <p:tgtEl>
                                          <p:spTgt spid="7"/>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7"/>
                                        </p:tgtEl>
                                        <p:attrNameLst>
                                          <p:attrName>fillcolor</p:attrName>
                                        </p:attrNameLst>
                                      </p:cBhvr>
                                      <p:tavLst>
                                        <p:tav tm="0">
                                          <p:val>
                                            <p:clrVal>
                                              <a:schemeClr val="accent2"/>
                                            </p:clrVal>
                                          </p:val>
                                        </p:tav>
                                        <p:tav tm="50000">
                                          <p:val>
                                            <p:clrVal>
                                              <a:schemeClr val="hlink"/>
                                            </p:clrVal>
                                          </p:val>
                                        </p:tav>
                                      </p:tavLst>
                                    </p:anim>
                                    <p:set>
                                      <p:cBhvr>
                                        <p:cTn id="9" dur="80"/>
                                        <p:tgtEl>
                                          <p:spTgt spid="7"/>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文本框 7">
            <a:extLst>
              <a:ext uri="{FF2B5EF4-FFF2-40B4-BE49-F238E27FC236}">
                <a16:creationId xmlns:a16="http://schemas.microsoft.com/office/drawing/2014/main" id="{010A4558-2EE1-4FD6-8488-94F8D1416C35}"/>
              </a:ext>
            </a:extLst>
          </p:cNvPr>
          <p:cNvSpPr txBox="1">
            <a:spLocks noChangeArrowheads="1"/>
          </p:cNvSpPr>
          <p:nvPr userDrawn="1"/>
        </p:nvSpPr>
        <p:spPr bwMode="auto">
          <a:xfrm>
            <a:off x="7415213" y="115888"/>
            <a:ext cx="1728787" cy="2769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1200" dirty="0"/>
              <a:t>单片机原理及应用</a:t>
            </a: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303422544"/>
      </p:ext>
    </p:extLst>
  </p:cSld>
  <p:clrMapOvr>
    <a:masterClrMapping/>
  </p:clrMapOvr>
  <p:transition spd="slow">
    <p:randomBar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文本框 7">
            <a:extLst>
              <a:ext uri="{FF2B5EF4-FFF2-40B4-BE49-F238E27FC236}">
                <a16:creationId xmlns:a16="http://schemas.microsoft.com/office/drawing/2014/main" id="{F6B5D157-C607-4531-BC9E-79E670331B4E}"/>
              </a:ext>
            </a:extLst>
          </p:cNvPr>
          <p:cNvSpPr txBox="1">
            <a:spLocks noChangeArrowheads="1"/>
          </p:cNvSpPr>
          <p:nvPr userDrawn="1"/>
        </p:nvSpPr>
        <p:spPr bwMode="auto">
          <a:xfrm>
            <a:off x="7415213" y="115888"/>
            <a:ext cx="1728787" cy="2769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1200" dirty="0"/>
              <a:t>单片机原理及应用</a:t>
            </a:r>
          </a:p>
        </p:txBody>
      </p:sp>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112478806"/>
      </p:ext>
    </p:extLst>
  </p:cSld>
  <p:clrMapOvr>
    <a:masterClrMapping/>
  </p:clrMapOvr>
  <p:transition spd="slow">
    <p:randomBar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文本框 7">
            <a:extLst>
              <a:ext uri="{FF2B5EF4-FFF2-40B4-BE49-F238E27FC236}">
                <a16:creationId xmlns:a16="http://schemas.microsoft.com/office/drawing/2014/main" id="{9DB139CC-858F-4194-AB70-F3AE080E2979}"/>
              </a:ext>
            </a:extLst>
          </p:cNvPr>
          <p:cNvSpPr txBox="1">
            <a:spLocks noChangeArrowheads="1"/>
          </p:cNvSpPr>
          <p:nvPr userDrawn="1"/>
        </p:nvSpPr>
        <p:spPr bwMode="auto">
          <a:xfrm>
            <a:off x="7415213" y="115888"/>
            <a:ext cx="1728787" cy="2769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1200" dirty="0"/>
              <a:t>单片机原理及应用</a:t>
            </a: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81013984"/>
      </p:ext>
    </p:extLst>
  </p:cSld>
  <p:clrMapOvr>
    <a:masterClrMapping/>
  </p:clrMapOvr>
  <p:transition spd="slow">
    <p:randomBar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文本框 7">
            <a:extLst>
              <a:ext uri="{FF2B5EF4-FFF2-40B4-BE49-F238E27FC236}">
                <a16:creationId xmlns:a16="http://schemas.microsoft.com/office/drawing/2014/main" id="{CA7F387C-AB15-4296-BE13-E9AF6F025F4C}"/>
              </a:ext>
            </a:extLst>
          </p:cNvPr>
          <p:cNvSpPr txBox="1">
            <a:spLocks noChangeArrowheads="1"/>
          </p:cNvSpPr>
          <p:nvPr userDrawn="1"/>
        </p:nvSpPr>
        <p:spPr bwMode="auto">
          <a:xfrm>
            <a:off x="7415213" y="115888"/>
            <a:ext cx="1728787" cy="2769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1200" dirty="0"/>
              <a:t>单片机原理及应用</a:t>
            </a:r>
          </a:p>
        </p:txBody>
      </p:sp>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27433944"/>
      </p:ext>
    </p:extLst>
  </p:cSld>
  <p:clrMapOvr>
    <a:masterClrMapping/>
  </p:clrMapOvr>
  <p:transition spd="slow">
    <p:randomBa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文本框 7">
            <a:extLst>
              <a:ext uri="{FF2B5EF4-FFF2-40B4-BE49-F238E27FC236}">
                <a16:creationId xmlns:a16="http://schemas.microsoft.com/office/drawing/2014/main" id="{F09218ED-44BE-4084-9862-D6292ED652C2}"/>
              </a:ext>
            </a:extLst>
          </p:cNvPr>
          <p:cNvSpPr txBox="1">
            <a:spLocks noChangeArrowheads="1"/>
          </p:cNvSpPr>
          <p:nvPr userDrawn="1"/>
        </p:nvSpPr>
        <p:spPr bwMode="auto">
          <a:xfrm>
            <a:off x="7415213" y="115888"/>
            <a:ext cx="1728787" cy="2769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1200" dirty="0"/>
              <a:t>单片机原理及应用</a:t>
            </a:r>
          </a:p>
        </p:txBody>
      </p:sp>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898598734"/>
      </p:ext>
    </p:extLst>
  </p:cSld>
  <p:clrMapOvr>
    <a:masterClrMapping/>
  </p:clrMapOvr>
  <p:transition spd="slow">
    <p:randomBa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文本框 7">
            <a:extLst>
              <a:ext uri="{FF2B5EF4-FFF2-40B4-BE49-F238E27FC236}">
                <a16:creationId xmlns:a16="http://schemas.microsoft.com/office/drawing/2014/main" id="{787FC61E-895A-4F91-A4EC-E5A56FC51C43}"/>
              </a:ext>
            </a:extLst>
          </p:cNvPr>
          <p:cNvSpPr txBox="1">
            <a:spLocks noChangeArrowheads="1"/>
          </p:cNvSpPr>
          <p:nvPr userDrawn="1"/>
        </p:nvSpPr>
        <p:spPr bwMode="auto">
          <a:xfrm>
            <a:off x="7415213" y="115888"/>
            <a:ext cx="1728787" cy="2769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1200" dirty="0"/>
              <a:t>单片机原理及应用</a:t>
            </a:r>
          </a:p>
        </p:txBody>
      </p:sp>
    </p:spTree>
    <p:extLst>
      <p:ext uri="{BB962C8B-B14F-4D97-AF65-F5344CB8AC3E}">
        <p14:creationId xmlns:p14="http://schemas.microsoft.com/office/powerpoint/2010/main" val="1217513836"/>
      </p:ext>
    </p:extLst>
  </p:cSld>
  <p:clrMapOvr>
    <a:masterClrMapping/>
  </p:clrMapOvr>
  <p:transition spd="slow">
    <p:randomBar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5" name="文本框 7">
            <a:extLst>
              <a:ext uri="{FF2B5EF4-FFF2-40B4-BE49-F238E27FC236}">
                <a16:creationId xmlns:a16="http://schemas.microsoft.com/office/drawing/2014/main" id="{65B5511D-A6FE-4E9F-B5FF-E509BC2096BA}"/>
              </a:ext>
            </a:extLst>
          </p:cNvPr>
          <p:cNvSpPr txBox="1">
            <a:spLocks noChangeArrowheads="1"/>
          </p:cNvSpPr>
          <p:nvPr userDrawn="1"/>
        </p:nvSpPr>
        <p:spPr bwMode="auto">
          <a:xfrm>
            <a:off x="7415213" y="115888"/>
            <a:ext cx="1728787" cy="2769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1200" dirty="0"/>
              <a:t>单片机原理及应用</a:t>
            </a:r>
          </a:p>
        </p:txBody>
      </p:sp>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394321687"/>
      </p:ext>
    </p:extLst>
  </p:cSld>
  <p:clrMapOvr>
    <a:masterClrMapping/>
  </p:clrMapOvr>
  <p:transition spd="slow">
    <p:randomBar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5" name="文本框 7">
            <a:extLst>
              <a:ext uri="{FF2B5EF4-FFF2-40B4-BE49-F238E27FC236}">
                <a16:creationId xmlns:a16="http://schemas.microsoft.com/office/drawing/2014/main" id="{BC9D2872-6517-4541-BF64-78BFE4CDAB9A}"/>
              </a:ext>
            </a:extLst>
          </p:cNvPr>
          <p:cNvSpPr txBox="1">
            <a:spLocks noChangeArrowheads="1"/>
          </p:cNvSpPr>
          <p:nvPr userDrawn="1"/>
        </p:nvSpPr>
        <p:spPr bwMode="auto">
          <a:xfrm>
            <a:off x="7415213" y="115888"/>
            <a:ext cx="1728787" cy="2769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1200" dirty="0"/>
              <a:t>单片机原理及应用</a:t>
            </a:r>
          </a:p>
        </p:txBody>
      </p:sp>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4069566737"/>
      </p:ext>
    </p:extLst>
  </p:cSld>
  <p:clrMapOvr>
    <a:masterClrMapping/>
  </p:clrMapOvr>
  <p:transition spd="slow">
    <p:randomBar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文本框 7">
            <a:extLst>
              <a:ext uri="{FF2B5EF4-FFF2-40B4-BE49-F238E27FC236}">
                <a16:creationId xmlns:a16="http://schemas.microsoft.com/office/drawing/2014/main" id="{8500CD5E-78CF-4303-B303-DB92257610D1}"/>
              </a:ext>
            </a:extLst>
          </p:cNvPr>
          <p:cNvSpPr txBox="1">
            <a:spLocks noChangeArrowheads="1"/>
          </p:cNvSpPr>
          <p:nvPr userDrawn="1"/>
        </p:nvSpPr>
        <p:spPr bwMode="auto">
          <a:xfrm>
            <a:off x="7415213" y="115888"/>
            <a:ext cx="1728787" cy="2769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1200" dirty="0"/>
              <a:t>单片机原理及应用</a:t>
            </a:r>
          </a:p>
        </p:txBody>
      </p:sp>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072985708"/>
      </p:ext>
    </p:extLst>
  </p:cSld>
  <p:clrMapOvr>
    <a:masterClrMapping/>
  </p:clrMapOvr>
  <p:transition spd="slow">
    <p:randomBar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4" name="文本框 7">
            <a:extLst>
              <a:ext uri="{FF2B5EF4-FFF2-40B4-BE49-F238E27FC236}">
                <a16:creationId xmlns:a16="http://schemas.microsoft.com/office/drawing/2014/main" id="{509A4C36-66EB-4798-9A87-A3807A7CEA2F}"/>
              </a:ext>
            </a:extLst>
          </p:cNvPr>
          <p:cNvSpPr txBox="1">
            <a:spLocks noChangeArrowheads="1"/>
          </p:cNvSpPr>
          <p:nvPr userDrawn="1"/>
        </p:nvSpPr>
        <p:spPr bwMode="auto">
          <a:xfrm>
            <a:off x="7415213" y="115888"/>
            <a:ext cx="1728787" cy="2769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1200" dirty="0"/>
              <a:t>单片机原理及应用</a:t>
            </a:r>
          </a:p>
        </p:txBody>
      </p:sp>
      <p:sp>
        <p:nvSpPr>
          <p:cNvPr id="2" name="竖排标题 1"/>
          <p:cNvSpPr>
            <a:spLocks noGrp="1"/>
          </p:cNvSpPr>
          <p:nvPr>
            <p:ph type="title" orient="vert"/>
          </p:nvPr>
        </p:nvSpPr>
        <p:spPr>
          <a:xfrm>
            <a:off x="6629400" y="609600"/>
            <a:ext cx="2057400" cy="551656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609600"/>
            <a:ext cx="6019800" cy="55165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12933444"/>
      </p:ext>
    </p:extLst>
  </p:cSld>
  <p:clrMapOvr>
    <a:masterClrMapping/>
  </p:clrMapOvr>
  <p:transition spd="slow">
    <p:randomBar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Freeform 17" descr="CITTEXT">
            <a:extLst>
              <a:ext uri="{FF2B5EF4-FFF2-40B4-BE49-F238E27FC236}">
                <a16:creationId xmlns:a16="http://schemas.microsoft.com/office/drawing/2014/main" id="{A3E1CA15-155D-461F-B569-0AFFFA92939D}"/>
              </a:ext>
            </a:extLst>
          </p:cNvPr>
          <p:cNvSpPr>
            <a:spLocks/>
          </p:cNvSpPr>
          <p:nvPr userDrawn="1"/>
        </p:nvSpPr>
        <p:spPr bwMode="auto">
          <a:xfrm>
            <a:off x="0" y="0"/>
            <a:ext cx="2895600" cy="6858000"/>
          </a:xfrm>
          <a:custGeom>
            <a:avLst/>
            <a:gdLst>
              <a:gd name="T0" fmla="*/ 0 w 1824"/>
              <a:gd name="T1" fmla="*/ 2147483646 h 3840"/>
              <a:gd name="T2" fmla="*/ 0 w 1824"/>
              <a:gd name="T3" fmla="*/ 0 h 3840"/>
              <a:gd name="T4" fmla="*/ 2147483646 w 1824"/>
              <a:gd name="T5" fmla="*/ 0 h 3840"/>
              <a:gd name="T6" fmla="*/ 2147483646 w 1824"/>
              <a:gd name="T7" fmla="*/ 2147483646 h 3840"/>
              <a:gd name="T8" fmla="*/ 0 w 1824"/>
              <a:gd name="T9" fmla="*/ 2147483646 h 38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4" h="3840">
                <a:moveTo>
                  <a:pt x="0" y="3840"/>
                </a:moveTo>
                <a:lnTo>
                  <a:pt x="0" y="0"/>
                </a:lnTo>
                <a:lnTo>
                  <a:pt x="1824" y="0"/>
                </a:lnTo>
                <a:cubicBezTo>
                  <a:pt x="74" y="1204"/>
                  <a:pt x="465" y="3655"/>
                  <a:pt x="583" y="3840"/>
                </a:cubicBezTo>
                <a:cubicBezTo>
                  <a:pt x="291" y="3840"/>
                  <a:pt x="0" y="3840"/>
                  <a:pt x="0" y="3840"/>
                </a:cubicBezTo>
                <a:close/>
              </a:path>
            </a:pathLst>
          </a:custGeom>
          <a:blipFill dpi="0" rotWithShape="0">
            <a:blip r:embed="rId13"/>
            <a:srcRect/>
            <a:tile tx="0" ty="0" sx="100000" sy="100000" flip="none" algn="tl"/>
          </a:bli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 name="Rectangle 3">
            <a:extLst>
              <a:ext uri="{FF2B5EF4-FFF2-40B4-BE49-F238E27FC236}">
                <a16:creationId xmlns:a16="http://schemas.microsoft.com/office/drawing/2014/main" id="{F0CACB90-9EF2-4E16-930F-3646D8EB64BA}"/>
              </a:ext>
            </a:extLst>
          </p:cNvPr>
          <p:cNvSpPr>
            <a:spLocks noChangeArrowheads="1"/>
          </p:cNvSpPr>
          <p:nvPr userDrawn="1"/>
        </p:nvSpPr>
        <p:spPr bwMode="ltGray">
          <a:xfrm>
            <a:off x="1600200" y="0"/>
            <a:ext cx="7543800" cy="38100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800" b="1">
                <a:solidFill>
                  <a:schemeClr val="tx1"/>
                </a:solidFill>
                <a:latin typeface="Arial" pitchFamily="34" charset="0"/>
                <a:ea typeface="宋体" pitchFamily="2" charset="-122"/>
              </a:defRPr>
            </a:lvl1pPr>
            <a:lvl2pPr marL="742950" indent="-285750" eaLnBrk="0" hangingPunct="0">
              <a:defRPr sz="2800" b="1">
                <a:solidFill>
                  <a:schemeClr val="tx1"/>
                </a:solidFill>
                <a:latin typeface="Arial" pitchFamily="34" charset="0"/>
                <a:ea typeface="宋体" pitchFamily="2" charset="-122"/>
              </a:defRPr>
            </a:lvl2pPr>
            <a:lvl3pPr marL="1143000" indent="-228600" eaLnBrk="0" hangingPunct="0">
              <a:defRPr sz="2800" b="1">
                <a:solidFill>
                  <a:schemeClr val="tx1"/>
                </a:solidFill>
                <a:latin typeface="Arial" pitchFamily="34" charset="0"/>
                <a:ea typeface="宋体" pitchFamily="2" charset="-122"/>
              </a:defRPr>
            </a:lvl3pPr>
            <a:lvl4pPr marL="1600200" indent="-228600" eaLnBrk="0" hangingPunct="0">
              <a:defRPr sz="2800" b="1">
                <a:solidFill>
                  <a:schemeClr val="tx1"/>
                </a:solidFill>
                <a:latin typeface="Arial" pitchFamily="34" charset="0"/>
                <a:ea typeface="宋体" pitchFamily="2" charset="-122"/>
              </a:defRPr>
            </a:lvl4pPr>
            <a:lvl5pPr marL="2057400" indent="-228600" eaLnBrk="0" hangingPunct="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800" b="1">
                <a:solidFill>
                  <a:schemeClr val="tx1"/>
                </a:solidFill>
                <a:latin typeface="Arial" pitchFamily="34" charset="0"/>
                <a:ea typeface="宋体" pitchFamily="2" charset="-122"/>
              </a:defRPr>
            </a:lvl9pPr>
          </a:lstStyle>
          <a:p>
            <a:pPr eaLnBrk="1" hangingPunct="1">
              <a:defRPr/>
            </a:pPr>
            <a:endParaRPr lang="zh-CN" altLang="en-US"/>
          </a:p>
        </p:txBody>
      </p:sp>
      <p:pic>
        <p:nvPicPr>
          <p:cNvPr id="1028" name="Picture 4" descr="CITBANND">
            <a:extLst>
              <a:ext uri="{FF2B5EF4-FFF2-40B4-BE49-F238E27FC236}">
                <a16:creationId xmlns:a16="http://schemas.microsoft.com/office/drawing/2014/main" id="{456CF97D-BDBF-4C3D-AF4A-C2A5A8B54471}"/>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l="30666" r="5334" b="86667"/>
          <a:stretch>
            <a:fillRect/>
          </a:stretch>
        </p:blipFill>
        <p:spPr bwMode="auto">
          <a:xfrm>
            <a:off x="2514600" y="0"/>
            <a:ext cx="6629400" cy="13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9" name="Rectangle 5">
            <a:extLst>
              <a:ext uri="{FF2B5EF4-FFF2-40B4-BE49-F238E27FC236}">
                <a16:creationId xmlns:a16="http://schemas.microsoft.com/office/drawing/2014/main" id="{1986FE51-B904-4FFC-A2CF-CDA72E42CEBE}"/>
              </a:ext>
            </a:extLst>
          </p:cNvPr>
          <p:cNvSpPr>
            <a:spLocks noChangeArrowheads="1"/>
          </p:cNvSpPr>
          <p:nvPr userDrawn="1"/>
        </p:nvSpPr>
        <p:spPr bwMode="auto">
          <a:xfrm>
            <a:off x="1600200" y="381000"/>
            <a:ext cx="7543800" cy="76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800" b="1">
                <a:solidFill>
                  <a:schemeClr val="tx1"/>
                </a:solidFill>
                <a:latin typeface="Arial" pitchFamily="34" charset="0"/>
                <a:ea typeface="宋体" pitchFamily="2" charset="-122"/>
              </a:defRPr>
            </a:lvl1pPr>
            <a:lvl2pPr marL="742950" indent="-285750" eaLnBrk="0" hangingPunct="0">
              <a:defRPr sz="2800" b="1">
                <a:solidFill>
                  <a:schemeClr val="tx1"/>
                </a:solidFill>
                <a:latin typeface="Arial" pitchFamily="34" charset="0"/>
                <a:ea typeface="宋体" pitchFamily="2" charset="-122"/>
              </a:defRPr>
            </a:lvl2pPr>
            <a:lvl3pPr marL="1143000" indent="-228600" eaLnBrk="0" hangingPunct="0">
              <a:defRPr sz="2800" b="1">
                <a:solidFill>
                  <a:schemeClr val="tx1"/>
                </a:solidFill>
                <a:latin typeface="Arial" pitchFamily="34" charset="0"/>
                <a:ea typeface="宋体" pitchFamily="2" charset="-122"/>
              </a:defRPr>
            </a:lvl3pPr>
            <a:lvl4pPr marL="1600200" indent="-228600" eaLnBrk="0" hangingPunct="0">
              <a:defRPr sz="2800" b="1">
                <a:solidFill>
                  <a:schemeClr val="tx1"/>
                </a:solidFill>
                <a:latin typeface="Arial" pitchFamily="34" charset="0"/>
                <a:ea typeface="宋体" pitchFamily="2" charset="-122"/>
              </a:defRPr>
            </a:lvl4pPr>
            <a:lvl5pPr marL="2057400" indent="-228600" eaLnBrk="0" hangingPunct="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800" b="1">
                <a:solidFill>
                  <a:schemeClr val="tx1"/>
                </a:solidFill>
                <a:latin typeface="Arial" pitchFamily="34" charset="0"/>
                <a:ea typeface="宋体" pitchFamily="2" charset="-122"/>
              </a:defRPr>
            </a:lvl9pPr>
          </a:lstStyle>
          <a:p>
            <a:pPr eaLnBrk="1" hangingPunct="1">
              <a:defRPr/>
            </a:pPr>
            <a:endParaRPr lang="zh-CN" altLang="en-US"/>
          </a:p>
        </p:txBody>
      </p:sp>
      <p:sp>
        <p:nvSpPr>
          <p:cNvPr id="1030" name="Rectangle 11">
            <a:extLst>
              <a:ext uri="{FF2B5EF4-FFF2-40B4-BE49-F238E27FC236}">
                <a16:creationId xmlns:a16="http://schemas.microsoft.com/office/drawing/2014/main" id="{704EDE98-2D8B-43CF-AB12-5E24EA5920BC}"/>
              </a:ext>
            </a:extLst>
          </p:cNvPr>
          <p:cNvSpPr>
            <a:spLocks noGrp="1" noChangeArrowheads="1"/>
          </p:cNvSpPr>
          <p:nvPr>
            <p:ph type="title"/>
          </p:nvPr>
        </p:nvSpPr>
        <p:spPr bwMode="auto">
          <a:xfrm>
            <a:off x="5334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088" name="Text Box 16">
            <a:extLst>
              <a:ext uri="{FF2B5EF4-FFF2-40B4-BE49-F238E27FC236}">
                <a16:creationId xmlns:a16="http://schemas.microsoft.com/office/drawing/2014/main" id="{8AAE7136-B7FE-432F-B84F-0810A6D649FD}"/>
              </a:ext>
            </a:extLst>
          </p:cNvPr>
          <p:cNvSpPr txBox="1">
            <a:spLocks noChangeArrowheads="1"/>
          </p:cNvSpPr>
          <p:nvPr userDrawn="1"/>
        </p:nvSpPr>
        <p:spPr bwMode="auto">
          <a:xfrm>
            <a:off x="5364163" y="115888"/>
            <a:ext cx="3779837"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b="1">
                <a:solidFill>
                  <a:schemeClr val="tx1"/>
                </a:solidFill>
                <a:latin typeface="Arial" pitchFamily="34" charset="0"/>
                <a:ea typeface="宋体" pitchFamily="2" charset="-122"/>
              </a:defRPr>
            </a:lvl1pPr>
            <a:lvl2pPr marL="742950" indent="-285750" eaLnBrk="0" hangingPunct="0">
              <a:defRPr sz="2800" b="1">
                <a:solidFill>
                  <a:schemeClr val="tx1"/>
                </a:solidFill>
                <a:latin typeface="Arial" pitchFamily="34" charset="0"/>
                <a:ea typeface="宋体" pitchFamily="2" charset="-122"/>
              </a:defRPr>
            </a:lvl2pPr>
            <a:lvl3pPr marL="1143000" indent="-228600" eaLnBrk="0" hangingPunct="0">
              <a:defRPr sz="2800" b="1">
                <a:solidFill>
                  <a:schemeClr val="tx1"/>
                </a:solidFill>
                <a:latin typeface="Arial" pitchFamily="34" charset="0"/>
                <a:ea typeface="宋体" pitchFamily="2" charset="-122"/>
              </a:defRPr>
            </a:lvl3pPr>
            <a:lvl4pPr marL="1600200" indent="-228600" eaLnBrk="0" hangingPunct="0">
              <a:defRPr sz="2800" b="1">
                <a:solidFill>
                  <a:schemeClr val="tx1"/>
                </a:solidFill>
                <a:latin typeface="Arial" pitchFamily="34" charset="0"/>
                <a:ea typeface="宋体" pitchFamily="2" charset="-122"/>
              </a:defRPr>
            </a:lvl4pPr>
            <a:lvl5pPr marL="2057400" indent="-228600" eaLnBrk="0" hangingPunct="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800" b="1">
                <a:solidFill>
                  <a:schemeClr val="tx1"/>
                </a:solidFill>
                <a:latin typeface="Arial" pitchFamily="34" charset="0"/>
                <a:ea typeface="宋体" pitchFamily="2" charset="-122"/>
              </a:defRPr>
            </a:lvl9pPr>
          </a:lstStyle>
          <a:p>
            <a:pPr algn="r" eaLnBrk="1" hangingPunct="1">
              <a:spcBef>
                <a:spcPct val="50000"/>
              </a:spcBef>
              <a:defRPr/>
            </a:pPr>
            <a:r>
              <a:rPr lang="zh-CN" altLang="en-US" sz="1200">
                <a:solidFill>
                  <a:srgbClr val="FFFF00"/>
                </a:solidFill>
                <a:latin typeface="楷体_GB2312" pitchFamily="49" charset="-122"/>
                <a:ea typeface="楷体_GB2312" pitchFamily="49" charset="-122"/>
              </a:rPr>
              <a:t>单片机原理与应用</a:t>
            </a:r>
          </a:p>
        </p:txBody>
      </p:sp>
      <p:sp>
        <p:nvSpPr>
          <p:cNvPr id="8" name="文本框 7">
            <a:extLst>
              <a:ext uri="{FF2B5EF4-FFF2-40B4-BE49-F238E27FC236}">
                <a16:creationId xmlns:a16="http://schemas.microsoft.com/office/drawing/2014/main" id="{56AA2F66-3DCA-46A7-8027-6B0AAA16C96C}"/>
              </a:ext>
            </a:extLst>
          </p:cNvPr>
          <p:cNvSpPr txBox="1">
            <a:spLocks noChangeArrowheads="1"/>
          </p:cNvSpPr>
          <p:nvPr userDrawn="1"/>
        </p:nvSpPr>
        <p:spPr bwMode="auto">
          <a:xfrm>
            <a:off x="7415213" y="115888"/>
            <a:ext cx="1728787" cy="2769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1200" dirty="0"/>
              <a:t>单片机原理及应用</a:t>
            </a:r>
          </a:p>
        </p:txBody>
      </p:sp>
    </p:spTree>
  </p:cSld>
  <p:clrMap bg1="lt1" tx1="dk1" bg2="lt2" tx2="dk2" accent1="accent1" accent2="accent2" accent3="accent3" accent4="accent4" accent5="accent5" accent6="accent6" hlink="hlink" folHlink="folHlink"/>
  <p:sldLayoutIdLst>
    <p:sldLayoutId id="2147483906" r:id="rId1"/>
    <p:sldLayoutId id="2147483907" r:id="rId2"/>
    <p:sldLayoutId id="2147483908" r:id="rId3"/>
    <p:sldLayoutId id="2147483909" r:id="rId4"/>
    <p:sldLayoutId id="2147483910" r:id="rId5"/>
    <p:sldLayoutId id="2147483911" r:id="rId6"/>
    <p:sldLayoutId id="2147483912" r:id="rId7"/>
    <p:sldLayoutId id="2147483913" r:id="rId8"/>
    <p:sldLayoutId id="2147483914" r:id="rId9"/>
    <p:sldLayoutId id="2147483915" r:id="rId10"/>
    <p:sldLayoutId id="2147483916" r:id="rId11"/>
  </p:sldLayoutIdLst>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7" presetClass="entr" presetSubtype="0" fill="hold" grpId="0" nodeType="afterEffect">
                                  <p:stCondLst>
                                    <p:cond delay="0"/>
                                  </p:stCondLst>
                                  <p:iterate type="lt">
                                    <p:tmPct val="50000"/>
                                  </p:iterate>
                                  <p:childTnLst>
                                    <p:set>
                                      <p:cBhvr>
                                        <p:cTn id="6" dur="1" fill="hold">
                                          <p:stCondLst>
                                            <p:cond delay="0"/>
                                          </p:stCondLst>
                                        </p:cTn>
                                        <p:tgtEl>
                                          <p:spTgt spid="3088"/>
                                        </p:tgtEl>
                                        <p:attrNameLst>
                                          <p:attrName>style.visibility</p:attrName>
                                        </p:attrNameLst>
                                      </p:cBhvr>
                                      <p:to>
                                        <p:strVal val="visible"/>
                                      </p:to>
                                    </p:set>
                                    <p:anim calcmode="discrete" valueType="clr">
                                      <p:cBhvr override="childStyle">
                                        <p:cTn id="7" dur="80"/>
                                        <p:tgtEl>
                                          <p:spTgt spid="3088"/>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088"/>
                                        </p:tgtEl>
                                        <p:attrNameLst>
                                          <p:attrName>fillcolor</p:attrName>
                                        </p:attrNameLst>
                                      </p:cBhvr>
                                      <p:tavLst>
                                        <p:tav tm="0">
                                          <p:val>
                                            <p:clrVal>
                                              <a:schemeClr val="accent2"/>
                                            </p:clrVal>
                                          </p:val>
                                        </p:tav>
                                        <p:tav tm="50000">
                                          <p:val>
                                            <p:clrVal>
                                              <a:schemeClr val="hlink"/>
                                            </p:clrVal>
                                          </p:val>
                                        </p:tav>
                                      </p:tavLst>
                                    </p:anim>
                                    <p:set>
                                      <p:cBhvr>
                                        <p:cTn id="9" dur="80"/>
                                        <p:tgtEl>
                                          <p:spTgt spid="3088"/>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8" grpId="0"/>
    </p:bldLst>
  </p:timing>
  <p:txStyles>
    <p:title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ea typeface="黑体" pitchFamily="49" charset="-122"/>
          <a:cs typeface="Tahoma" pitchFamily="34" charset="0"/>
        </a:defRPr>
      </a:lvl2pPr>
      <a:lvl3pPr algn="ctr" rtl="0" eaLnBrk="0" fontAlgn="base" hangingPunct="0">
        <a:spcBef>
          <a:spcPct val="0"/>
        </a:spcBef>
        <a:spcAft>
          <a:spcPct val="0"/>
        </a:spcAft>
        <a:defRPr sz="3600" b="1">
          <a:solidFill>
            <a:schemeClr val="tx2"/>
          </a:solidFill>
          <a:latin typeface="Tahoma" pitchFamily="34" charset="0"/>
          <a:ea typeface="黑体" pitchFamily="49" charset="-122"/>
          <a:cs typeface="Tahoma" pitchFamily="34" charset="0"/>
        </a:defRPr>
      </a:lvl3pPr>
      <a:lvl4pPr algn="ctr" rtl="0" eaLnBrk="0" fontAlgn="base" hangingPunct="0">
        <a:spcBef>
          <a:spcPct val="0"/>
        </a:spcBef>
        <a:spcAft>
          <a:spcPct val="0"/>
        </a:spcAft>
        <a:defRPr sz="3600" b="1">
          <a:solidFill>
            <a:schemeClr val="tx2"/>
          </a:solidFill>
          <a:latin typeface="Tahoma" pitchFamily="34" charset="0"/>
          <a:ea typeface="黑体" pitchFamily="49" charset="-122"/>
          <a:cs typeface="Tahoma" pitchFamily="34" charset="0"/>
        </a:defRPr>
      </a:lvl4pPr>
      <a:lvl5pPr algn="ctr" rtl="0" eaLnBrk="0" fontAlgn="base" hangingPunct="0">
        <a:spcBef>
          <a:spcPct val="0"/>
        </a:spcBef>
        <a:spcAft>
          <a:spcPct val="0"/>
        </a:spcAft>
        <a:defRPr sz="3600" b="1">
          <a:solidFill>
            <a:schemeClr val="tx2"/>
          </a:solidFill>
          <a:latin typeface="Tahoma" pitchFamily="34" charset="0"/>
          <a:ea typeface="黑体" pitchFamily="49" charset="-122"/>
          <a:cs typeface="Tahoma" pitchFamily="34" charset="0"/>
        </a:defRPr>
      </a:lvl5pPr>
      <a:lvl6pPr marL="457200" algn="ctr" rtl="0" fontAlgn="base">
        <a:spcBef>
          <a:spcPct val="0"/>
        </a:spcBef>
        <a:spcAft>
          <a:spcPct val="0"/>
        </a:spcAft>
        <a:defRPr sz="3600" b="1">
          <a:solidFill>
            <a:schemeClr val="tx2"/>
          </a:solidFill>
          <a:latin typeface="Tahoma" pitchFamily="34" charset="0"/>
          <a:ea typeface="黑体" pitchFamily="49" charset="-122"/>
          <a:cs typeface="Tahoma" pitchFamily="34" charset="0"/>
        </a:defRPr>
      </a:lvl6pPr>
      <a:lvl7pPr marL="914400" algn="ctr" rtl="0" fontAlgn="base">
        <a:spcBef>
          <a:spcPct val="0"/>
        </a:spcBef>
        <a:spcAft>
          <a:spcPct val="0"/>
        </a:spcAft>
        <a:defRPr sz="3600" b="1">
          <a:solidFill>
            <a:schemeClr val="tx2"/>
          </a:solidFill>
          <a:latin typeface="Tahoma" pitchFamily="34" charset="0"/>
          <a:ea typeface="黑体" pitchFamily="49" charset="-122"/>
          <a:cs typeface="Tahoma" pitchFamily="34" charset="0"/>
        </a:defRPr>
      </a:lvl7pPr>
      <a:lvl8pPr marL="1371600" algn="ctr" rtl="0" fontAlgn="base">
        <a:spcBef>
          <a:spcPct val="0"/>
        </a:spcBef>
        <a:spcAft>
          <a:spcPct val="0"/>
        </a:spcAft>
        <a:defRPr sz="3600" b="1">
          <a:solidFill>
            <a:schemeClr val="tx2"/>
          </a:solidFill>
          <a:latin typeface="Tahoma" pitchFamily="34" charset="0"/>
          <a:ea typeface="黑体" pitchFamily="49" charset="-122"/>
          <a:cs typeface="Tahoma" pitchFamily="34" charset="0"/>
        </a:defRPr>
      </a:lvl8pPr>
      <a:lvl9pPr marL="1828800" algn="ctr" rtl="0" fontAlgn="base">
        <a:spcBef>
          <a:spcPct val="0"/>
        </a:spcBef>
        <a:spcAft>
          <a:spcPct val="0"/>
        </a:spcAft>
        <a:defRPr sz="3600" b="1">
          <a:solidFill>
            <a:schemeClr val="tx2"/>
          </a:solidFill>
          <a:latin typeface="Tahoma" pitchFamily="34" charset="0"/>
          <a:ea typeface="黑体" pitchFamily="49" charset="-122"/>
          <a:cs typeface="Tahoma" pitchFamily="34" charset="0"/>
        </a:defRPr>
      </a:lvl9pPr>
    </p:titleStyle>
    <p:bodyStyle>
      <a:lvl1pPr marL="342900" indent="-342900" algn="l" rtl="0" eaLnBrk="0" fontAlgn="base" hangingPunct="0">
        <a:spcBef>
          <a:spcPct val="20000"/>
        </a:spcBef>
        <a:spcAft>
          <a:spcPct val="0"/>
        </a:spcAft>
        <a:buClr>
          <a:schemeClr val="hlink"/>
        </a:buClr>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Char char="•"/>
        <a:defRPr sz="2800">
          <a:solidFill>
            <a:schemeClr val="tx1"/>
          </a:solidFill>
          <a:latin typeface="+mn-lt"/>
          <a:ea typeface="+mn-ea"/>
          <a:cs typeface="+mn-cs"/>
        </a:defRPr>
      </a:lvl3pPr>
      <a:lvl4pPr marL="1600200" indent="-228600" algn="l" rtl="0" eaLnBrk="0" fontAlgn="base" hangingPunct="0">
        <a:spcBef>
          <a:spcPct val="20000"/>
        </a:spcBef>
        <a:spcAft>
          <a:spcPct val="0"/>
        </a:spcAft>
        <a:buClr>
          <a:schemeClr val="folHlink"/>
        </a:buClr>
        <a:buChar char="•"/>
        <a:defRPr sz="28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800">
          <a:solidFill>
            <a:schemeClr val="tx1"/>
          </a:solidFill>
          <a:latin typeface="+mn-lt"/>
          <a:ea typeface="+mn-ea"/>
          <a:cs typeface="+mn-cs"/>
        </a:defRPr>
      </a:lvl5pPr>
      <a:lvl6pPr marL="2514600" indent="-228600" algn="l" rtl="0" fontAlgn="base">
        <a:spcBef>
          <a:spcPct val="20000"/>
        </a:spcBef>
        <a:spcAft>
          <a:spcPct val="0"/>
        </a:spcAft>
        <a:buChar char="•"/>
        <a:defRPr sz="2800">
          <a:solidFill>
            <a:schemeClr val="tx1"/>
          </a:solidFill>
          <a:latin typeface="+mn-lt"/>
          <a:ea typeface="+mn-ea"/>
          <a:cs typeface="+mn-cs"/>
        </a:defRPr>
      </a:lvl6pPr>
      <a:lvl7pPr marL="2971800" indent="-228600" algn="l" rtl="0" fontAlgn="base">
        <a:spcBef>
          <a:spcPct val="20000"/>
        </a:spcBef>
        <a:spcAft>
          <a:spcPct val="0"/>
        </a:spcAft>
        <a:buChar char="•"/>
        <a:defRPr sz="2800">
          <a:solidFill>
            <a:schemeClr val="tx1"/>
          </a:solidFill>
          <a:latin typeface="+mn-lt"/>
          <a:ea typeface="+mn-ea"/>
          <a:cs typeface="+mn-cs"/>
        </a:defRPr>
      </a:lvl7pPr>
      <a:lvl8pPr marL="3429000" indent="-228600" algn="l" rtl="0" fontAlgn="base">
        <a:spcBef>
          <a:spcPct val="20000"/>
        </a:spcBef>
        <a:spcAft>
          <a:spcPct val="0"/>
        </a:spcAft>
        <a:buChar char="•"/>
        <a:defRPr sz="2800">
          <a:solidFill>
            <a:schemeClr val="tx1"/>
          </a:solidFill>
          <a:latin typeface="+mn-lt"/>
          <a:ea typeface="+mn-ea"/>
          <a:cs typeface="+mn-cs"/>
        </a:defRPr>
      </a:lvl8pPr>
      <a:lvl9pPr marL="3886200" indent="-228600" algn="l" rtl="0" fontAlgn="base">
        <a:spcBef>
          <a:spcPct val="20000"/>
        </a:spcBef>
        <a:spcAft>
          <a:spcPct val="0"/>
        </a:spcAft>
        <a:buChar char="•"/>
        <a:defRPr sz="28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6B234A37-ECEA-4319-836D-A41B6A38B80D}"/>
              </a:ext>
            </a:extLst>
          </p:cNvPr>
          <p:cNvSpPr txBox="1">
            <a:spLocks noChangeArrowheads="1"/>
          </p:cNvSpPr>
          <p:nvPr/>
        </p:nvSpPr>
        <p:spPr bwMode="auto">
          <a:xfrm>
            <a:off x="395288" y="476672"/>
            <a:ext cx="80010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30000"/>
              </a:spcBef>
              <a:defRPr/>
            </a:pPr>
            <a:r>
              <a:rPr kumimoji="1" lang="en-US" altLang="zh-CN" sz="3200" dirty="0">
                <a:solidFill>
                  <a:srgbClr val="9900CC"/>
                </a:solidFill>
                <a:effectLst>
                  <a:outerShdw blurRad="38100" dist="38100" dir="2700000" algn="tl">
                    <a:srgbClr val="C0C0C0"/>
                  </a:outerShdw>
                </a:effectLst>
                <a:latin typeface="隶书" pitchFamily="49" charset="-122"/>
                <a:ea typeface="隶书" pitchFamily="49" charset="-122"/>
              </a:rPr>
              <a:t>7.5 </a:t>
            </a:r>
            <a:r>
              <a:rPr kumimoji="1" lang="zh-CN" altLang="en-US" sz="3200" dirty="0">
                <a:solidFill>
                  <a:srgbClr val="9900CC"/>
                </a:solidFill>
                <a:effectLst>
                  <a:outerShdw blurRad="38100" dist="38100" dir="2700000" algn="tl">
                    <a:srgbClr val="C0C0C0"/>
                  </a:outerShdw>
                </a:effectLst>
                <a:latin typeface="隶书" pitchFamily="49" charset="-122"/>
                <a:ea typeface="隶书" pitchFamily="49" charset="-122"/>
              </a:rPr>
              <a:t>串行工作方式</a:t>
            </a:r>
            <a:r>
              <a:rPr kumimoji="1" lang="en-US" altLang="zh-CN" sz="3200" dirty="0">
                <a:solidFill>
                  <a:srgbClr val="9900CC"/>
                </a:solidFill>
                <a:effectLst>
                  <a:outerShdw blurRad="38100" dist="38100" dir="2700000" algn="tl">
                    <a:srgbClr val="C0C0C0"/>
                  </a:outerShdw>
                </a:effectLst>
                <a:latin typeface="隶书" pitchFamily="49" charset="-122"/>
                <a:ea typeface="隶书" pitchFamily="49" charset="-122"/>
              </a:rPr>
              <a:t>2</a:t>
            </a:r>
            <a:r>
              <a:rPr kumimoji="1" lang="zh-CN" altLang="en-US" sz="3200" dirty="0">
                <a:solidFill>
                  <a:srgbClr val="9900CC"/>
                </a:solidFill>
                <a:effectLst>
                  <a:outerShdw blurRad="38100" dist="38100" dir="2700000" algn="tl">
                    <a:srgbClr val="C0C0C0"/>
                  </a:outerShdw>
                </a:effectLst>
                <a:latin typeface="隶书" pitchFamily="49" charset="-122"/>
                <a:ea typeface="隶书" pitchFamily="49" charset="-122"/>
              </a:rPr>
              <a:t>及方式</a:t>
            </a:r>
            <a:r>
              <a:rPr kumimoji="1" lang="en-US" altLang="zh-CN" sz="3200" dirty="0">
                <a:solidFill>
                  <a:srgbClr val="9900CC"/>
                </a:solidFill>
                <a:effectLst>
                  <a:outerShdw blurRad="38100" dist="38100" dir="2700000" algn="tl">
                    <a:srgbClr val="C0C0C0"/>
                  </a:outerShdw>
                </a:effectLst>
                <a:latin typeface="隶书" pitchFamily="49" charset="-122"/>
                <a:ea typeface="隶书" pitchFamily="49" charset="-122"/>
              </a:rPr>
              <a:t>3</a:t>
            </a:r>
            <a:endParaRPr kumimoji="1" lang="zh-CN" altLang="en-US" sz="3200" dirty="0">
              <a:effectLst>
                <a:outerShdw blurRad="38100" dist="38100" dir="2700000" algn="tl">
                  <a:srgbClr val="C0C0C0"/>
                </a:outerShdw>
              </a:effectLst>
              <a:latin typeface="楷体_GB2312" pitchFamily="49" charset="-122"/>
              <a:ea typeface="楷体_GB2312" pitchFamily="49" charset="-122"/>
            </a:endParaRPr>
          </a:p>
        </p:txBody>
      </p:sp>
      <p:sp>
        <p:nvSpPr>
          <p:cNvPr id="3" name="Text Box 3">
            <a:extLst>
              <a:ext uri="{FF2B5EF4-FFF2-40B4-BE49-F238E27FC236}">
                <a16:creationId xmlns:a16="http://schemas.microsoft.com/office/drawing/2014/main" id="{A69334DE-14E8-49F3-96E7-394CFAE1D3BB}"/>
              </a:ext>
            </a:extLst>
          </p:cNvPr>
          <p:cNvSpPr txBox="1">
            <a:spLocks noChangeArrowheads="1"/>
          </p:cNvSpPr>
          <p:nvPr/>
        </p:nvSpPr>
        <p:spPr bwMode="auto">
          <a:xfrm>
            <a:off x="395288" y="1196975"/>
            <a:ext cx="8353176" cy="4990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eaLnBrk="1" hangingPunct="1">
              <a:lnSpc>
                <a:spcPct val="115000"/>
              </a:lnSpc>
              <a:spcBef>
                <a:spcPct val="20000"/>
              </a:spcBef>
              <a:buClr>
                <a:srgbClr val="C00000"/>
              </a:buClr>
              <a:buFont typeface="Wingdings" panose="05000000000000000000" pitchFamily="2" charset="2"/>
              <a:buChar char="p"/>
              <a:defRPr/>
            </a:pPr>
            <a:r>
              <a:rPr kumimoji="1" lang="zh-CN" altLang="en-US" sz="3200"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方式</a:t>
            </a:r>
            <a:r>
              <a:rPr kumimoji="1" lang="en-US" altLang="zh-CN" sz="3200"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2</a:t>
            </a:r>
            <a:r>
              <a:rPr kumimoji="1" lang="zh-CN" altLang="en-US" sz="3200"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特点</a:t>
            </a:r>
            <a:r>
              <a:rPr kumimoji="1" lang="en-US" altLang="zh-CN" sz="3200"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a:t>
            </a:r>
          </a:p>
          <a:p>
            <a:pPr marL="514350" indent="-514350" eaLnBrk="1" hangingPunct="1">
              <a:lnSpc>
                <a:spcPct val="115000"/>
              </a:lnSpc>
              <a:spcBef>
                <a:spcPct val="20000"/>
              </a:spcBef>
              <a:buClr>
                <a:schemeClr val="tx1"/>
              </a:buClr>
              <a:buFont typeface="+mj-ea"/>
              <a:buAutoNum type="circleNumDbPlain"/>
              <a:defRPr/>
            </a:pPr>
            <a:r>
              <a:rPr kumimoji="1" lang="en-US" altLang="zh-CN"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SM0 SM1=10</a:t>
            </a:r>
            <a:r>
              <a:rPr kumimoji="1"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时串行口工作于方式</a:t>
            </a:r>
            <a:r>
              <a:rPr kumimoji="1"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2</a:t>
            </a:r>
            <a:r>
              <a:rPr kumimoji="1"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endParaRPr kumimoji="1"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marL="514350" indent="-514350" eaLnBrk="1" hangingPunct="1">
              <a:lnSpc>
                <a:spcPct val="115000"/>
              </a:lnSpc>
              <a:spcBef>
                <a:spcPct val="20000"/>
              </a:spcBef>
              <a:buClr>
                <a:schemeClr val="tx1"/>
              </a:buClr>
              <a:buFont typeface="+mj-ea"/>
              <a:buAutoNum type="circleNumDbPlain"/>
              <a:defRPr/>
            </a:pPr>
            <a:r>
              <a:rPr kumimoji="1" lang="en-US" altLang="zh-CN"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11</a:t>
            </a:r>
            <a:r>
              <a:rPr kumimoji="1"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位异步通信方式。字符帧中有</a:t>
            </a:r>
            <a:r>
              <a:rPr kumimoji="1"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1</a:t>
            </a:r>
            <a:r>
              <a:rPr kumimoji="1"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位起始位</a:t>
            </a:r>
            <a:r>
              <a:rPr kumimoji="1"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+8</a:t>
            </a:r>
            <a:r>
              <a:rPr kumimoji="1"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位数据位</a:t>
            </a:r>
            <a:r>
              <a:rPr kumimoji="1"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+1</a:t>
            </a:r>
            <a:r>
              <a:rPr kumimoji="1"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位可编程位</a:t>
            </a:r>
            <a:r>
              <a:rPr kumimoji="1"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+1</a:t>
            </a:r>
            <a:r>
              <a:rPr kumimoji="1"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位停止位。</a:t>
            </a:r>
            <a:endParaRPr kumimoji="1"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eaLnBrk="1" hangingPunct="1">
              <a:lnSpc>
                <a:spcPct val="115000"/>
              </a:lnSpc>
              <a:spcBef>
                <a:spcPct val="20000"/>
              </a:spcBef>
              <a:buClr>
                <a:schemeClr val="tx1"/>
              </a:buClr>
              <a:defRPr/>
            </a:pPr>
            <a:r>
              <a:rPr kumimoji="1"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a:t>
            </a:r>
            <a:r>
              <a:rPr kumimoji="1"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其中，</a:t>
            </a:r>
            <a:r>
              <a:rPr kumimoji="1"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TB8</a:t>
            </a:r>
            <a:r>
              <a:rPr kumimoji="1"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存储第</a:t>
            </a:r>
            <a:r>
              <a:rPr kumimoji="1"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9</a:t>
            </a:r>
            <a:r>
              <a:rPr kumimoji="1"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数据位，</a:t>
            </a:r>
            <a:r>
              <a:rPr kumimoji="1"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RB8</a:t>
            </a:r>
            <a:r>
              <a:rPr kumimoji="1"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存储接收到的第</a:t>
            </a:r>
            <a:r>
              <a:rPr kumimoji="1"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9</a:t>
            </a:r>
            <a:r>
              <a:rPr kumimoji="1"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数据位。第</a:t>
            </a:r>
            <a:r>
              <a:rPr kumimoji="1"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9</a:t>
            </a:r>
            <a:r>
              <a:rPr kumimoji="1"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数据位由用户安排，可用于进行奇偶校验。</a:t>
            </a:r>
            <a:endParaRPr kumimoji="1"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marL="514350" indent="-514350" eaLnBrk="1" hangingPunct="1">
              <a:lnSpc>
                <a:spcPct val="115000"/>
              </a:lnSpc>
              <a:spcBef>
                <a:spcPct val="20000"/>
              </a:spcBef>
              <a:buFont typeface="+mj-ea"/>
              <a:buAutoNum type="circleNumDbPlain" startAt="3"/>
              <a:defRPr/>
            </a:pPr>
            <a:r>
              <a:rPr kumimoji="1"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波特率</a:t>
            </a:r>
            <a:r>
              <a:rPr kumimoji="1"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kumimoji="1" lang="en-US" altLang="zh-CN" dirty="0">
                <a:solidFill>
                  <a:srgbClr val="FF0000"/>
                </a:solidFill>
                <a:effectLst>
                  <a:outerShdw blurRad="38100" dist="38100" dir="2700000" algn="tl">
                    <a:srgbClr val="000000">
                      <a:alpha val="43137"/>
                    </a:srgbClr>
                  </a:outerShdw>
                </a:effectLst>
                <a:latin typeface="+mn-ea"/>
              </a:rPr>
              <a:t>(2</a:t>
            </a:r>
            <a:r>
              <a:rPr kumimoji="1" lang="en-US" altLang="zh-CN" baseline="30000" dirty="0">
                <a:solidFill>
                  <a:srgbClr val="FF0000"/>
                </a:solidFill>
                <a:effectLst>
                  <a:outerShdw blurRad="38100" dist="38100" dir="2700000" algn="tl">
                    <a:srgbClr val="000000">
                      <a:alpha val="43137"/>
                    </a:srgbClr>
                  </a:outerShdw>
                </a:effectLst>
                <a:latin typeface="+mn-ea"/>
              </a:rPr>
              <a:t>SMOD</a:t>
            </a:r>
            <a:r>
              <a:rPr kumimoji="1" lang="en-US" altLang="zh-CN" dirty="0">
                <a:solidFill>
                  <a:srgbClr val="FF0000"/>
                </a:solidFill>
                <a:effectLst>
                  <a:outerShdw blurRad="38100" dist="38100" dir="2700000" algn="tl">
                    <a:srgbClr val="000000">
                      <a:alpha val="43137"/>
                    </a:srgbClr>
                  </a:outerShdw>
                </a:effectLst>
                <a:latin typeface="+mn-ea"/>
              </a:rPr>
              <a:t>/64)×</a:t>
            </a:r>
            <a:r>
              <a:rPr kumimoji="1" lang="en-US" altLang="zh-CN" dirty="0" err="1">
                <a:solidFill>
                  <a:srgbClr val="FF0000"/>
                </a:solidFill>
                <a:effectLst>
                  <a:outerShdw blurRad="38100" dist="38100" dir="2700000" algn="tl">
                    <a:srgbClr val="000000">
                      <a:alpha val="43137"/>
                    </a:srgbClr>
                  </a:outerShdw>
                </a:effectLst>
                <a:latin typeface="+mn-ea"/>
              </a:rPr>
              <a:t>f</a:t>
            </a:r>
            <a:r>
              <a:rPr kumimoji="1" lang="en-US" altLang="zh-CN" baseline="-25000" dirty="0" err="1">
                <a:solidFill>
                  <a:srgbClr val="FF0000"/>
                </a:solidFill>
                <a:effectLst>
                  <a:outerShdw blurRad="38100" dist="38100" dir="2700000" algn="tl">
                    <a:srgbClr val="000000">
                      <a:alpha val="43137"/>
                    </a:srgbClr>
                  </a:outerShdw>
                </a:effectLst>
                <a:latin typeface="+mn-ea"/>
              </a:rPr>
              <a:t>osc</a:t>
            </a:r>
            <a:endParaRPr kumimoji="1" lang="zh-CN" altLang="en-US" dirty="0">
              <a:solidFill>
                <a:srgbClr val="FF0000"/>
              </a:solidFill>
              <a:effectLst>
                <a:outerShdw blurRad="38100" dist="38100" dir="2700000" algn="tl">
                  <a:srgbClr val="000000">
                    <a:alpha val="43137"/>
                  </a:srgbClr>
                </a:outerShdw>
              </a:effectLst>
              <a:latin typeface="+mn-ea"/>
            </a:endParaRPr>
          </a:p>
          <a:p>
            <a:pPr marL="514350" indent="-514350" eaLnBrk="1" hangingPunct="1">
              <a:lnSpc>
                <a:spcPct val="115000"/>
              </a:lnSpc>
              <a:spcBef>
                <a:spcPct val="20000"/>
              </a:spcBef>
              <a:buFont typeface="+mj-ea"/>
              <a:buAutoNum type="circleNumDbPlain" startAt="3"/>
              <a:defRPr/>
            </a:pPr>
            <a:r>
              <a:rPr kumimoji="1"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发送数据由</a:t>
            </a:r>
            <a:r>
              <a:rPr kumimoji="1"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TXD</a:t>
            </a:r>
            <a:r>
              <a:rPr kumimoji="1"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输出，接收数据由</a:t>
            </a:r>
            <a:r>
              <a:rPr kumimoji="1"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RXD</a:t>
            </a:r>
            <a:r>
              <a:rPr kumimoji="1"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输入。</a:t>
            </a:r>
            <a:endParaRPr kumimoji="1"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44726239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a:extLst>
              <a:ext uri="{FF2B5EF4-FFF2-40B4-BE49-F238E27FC236}">
                <a16:creationId xmlns:a16="http://schemas.microsoft.com/office/drawing/2014/main" id="{5636192F-A7C0-4E49-A5C8-9484709DAD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8875" y="485775"/>
            <a:ext cx="7085013" cy="59261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5059" name="Text Box 19">
            <a:extLst>
              <a:ext uri="{FF2B5EF4-FFF2-40B4-BE49-F238E27FC236}">
                <a16:creationId xmlns:a16="http://schemas.microsoft.com/office/drawing/2014/main" id="{CBDE2B9C-762D-497C-BCA8-0AA2A5E3AD93}"/>
              </a:ext>
            </a:extLst>
          </p:cNvPr>
          <p:cNvSpPr txBox="1">
            <a:spLocks noChangeArrowheads="1"/>
          </p:cNvSpPr>
          <p:nvPr/>
        </p:nvSpPr>
        <p:spPr bwMode="auto">
          <a:xfrm>
            <a:off x="250825" y="58738"/>
            <a:ext cx="1525588"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latin typeface="Times New Roman" panose="02020603050405020304" pitchFamily="18" charset="0"/>
              </a:rPr>
              <a:t>方式</a:t>
            </a:r>
            <a:r>
              <a:rPr kumimoji="1" lang="en-US" altLang="zh-CN">
                <a:latin typeface="Times New Roman" panose="02020603050405020304" pitchFamily="18" charset="0"/>
              </a:rPr>
              <a:t>2</a:t>
            </a:r>
          </a:p>
        </p:txBody>
      </p:sp>
      <p:sp>
        <p:nvSpPr>
          <p:cNvPr id="45060" name="TextBox 9">
            <a:extLst>
              <a:ext uri="{FF2B5EF4-FFF2-40B4-BE49-F238E27FC236}">
                <a16:creationId xmlns:a16="http://schemas.microsoft.com/office/drawing/2014/main" id="{80243CBC-3F3F-4B3D-B499-D9659C90363A}"/>
              </a:ext>
            </a:extLst>
          </p:cNvPr>
          <p:cNvSpPr txBox="1">
            <a:spLocks noChangeArrowheads="1"/>
          </p:cNvSpPr>
          <p:nvPr/>
        </p:nvSpPr>
        <p:spPr bwMode="auto">
          <a:xfrm>
            <a:off x="5545138" y="490538"/>
            <a:ext cx="1150937" cy="307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latin typeface="宋体" panose="02010600030101010101" pitchFamily="2" charset="-122"/>
              </a:rPr>
              <a:t>SBUF</a:t>
            </a:r>
            <a:r>
              <a:rPr lang="zh-CN" altLang="en-US" sz="2000" baseline="-25000">
                <a:latin typeface="宋体" panose="02010600030101010101" pitchFamily="2" charset="-122"/>
              </a:rPr>
              <a:t>发</a:t>
            </a:r>
            <a:r>
              <a:rPr lang="zh-CN" altLang="en-US" sz="2000">
                <a:latin typeface="宋体" panose="02010600030101010101" pitchFamily="2" charset="-122"/>
              </a:rPr>
              <a:t>空</a:t>
            </a:r>
          </a:p>
        </p:txBody>
      </p:sp>
      <p:sp>
        <p:nvSpPr>
          <p:cNvPr id="45061" name="TextBox 10">
            <a:extLst>
              <a:ext uri="{FF2B5EF4-FFF2-40B4-BE49-F238E27FC236}">
                <a16:creationId xmlns:a16="http://schemas.microsoft.com/office/drawing/2014/main" id="{F1931C84-8CA5-44C4-91DD-B218AE2A8EFA}"/>
              </a:ext>
            </a:extLst>
          </p:cNvPr>
          <p:cNvSpPr txBox="1">
            <a:spLocks noChangeArrowheads="1"/>
          </p:cNvSpPr>
          <p:nvPr/>
        </p:nvSpPr>
        <p:spPr bwMode="auto">
          <a:xfrm>
            <a:off x="5545138" y="830263"/>
            <a:ext cx="1008062" cy="307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latin typeface="宋体" panose="02010600030101010101" pitchFamily="2" charset="-122"/>
              </a:rPr>
              <a:t>SBUF</a:t>
            </a:r>
            <a:r>
              <a:rPr lang="zh-CN" altLang="en-US" sz="2000" baseline="-25000">
                <a:latin typeface="宋体" panose="02010600030101010101" pitchFamily="2" charset="-122"/>
              </a:rPr>
              <a:t>发</a:t>
            </a:r>
            <a:r>
              <a:rPr lang="zh-CN" altLang="en-US" sz="2000">
                <a:latin typeface="宋体" panose="02010600030101010101" pitchFamily="2" charset="-122"/>
              </a:rPr>
              <a:t>满</a:t>
            </a:r>
          </a:p>
        </p:txBody>
      </p:sp>
      <p:sp>
        <p:nvSpPr>
          <p:cNvPr id="45062" name="TextBox 11">
            <a:extLst>
              <a:ext uri="{FF2B5EF4-FFF2-40B4-BE49-F238E27FC236}">
                <a16:creationId xmlns:a16="http://schemas.microsoft.com/office/drawing/2014/main" id="{CBB9D9F0-E5A1-44A2-9F1E-859FBCCD54E5}"/>
              </a:ext>
            </a:extLst>
          </p:cNvPr>
          <p:cNvSpPr txBox="1">
            <a:spLocks noChangeArrowheads="1"/>
          </p:cNvSpPr>
          <p:nvPr/>
        </p:nvSpPr>
        <p:spPr bwMode="auto">
          <a:xfrm>
            <a:off x="5387975" y="2216150"/>
            <a:ext cx="746125" cy="307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0000FF"/>
                </a:solidFill>
                <a:latin typeface="宋体" panose="02010600030101010101" pitchFamily="2" charset="-122"/>
              </a:rPr>
              <a:t>SBUF</a:t>
            </a:r>
            <a:r>
              <a:rPr lang="zh-CN" altLang="en-US" sz="2000" baseline="-25000">
                <a:solidFill>
                  <a:srgbClr val="0000FF"/>
                </a:solidFill>
                <a:latin typeface="宋体" panose="02010600030101010101" pitchFamily="2" charset="-122"/>
              </a:rPr>
              <a:t>发</a:t>
            </a:r>
          </a:p>
        </p:txBody>
      </p:sp>
      <p:sp>
        <p:nvSpPr>
          <p:cNvPr id="45063" name="TextBox 12">
            <a:extLst>
              <a:ext uri="{FF2B5EF4-FFF2-40B4-BE49-F238E27FC236}">
                <a16:creationId xmlns:a16="http://schemas.microsoft.com/office/drawing/2014/main" id="{EB3BDF6C-8854-4A29-908F-1425D4BC66CD}"/>
              </a:ext>
            </a:extLst>
          </p:cNvPr>
          <p:cNvSpPr txBox="1">
            <a:spLocks noChangeArrowheads="1"/>
          </p:cNvSpPr>
          <p:nvPr/>
        </p:nvSpPr>
        <p:spPr bwMode="auto">
          <a:xfrm>
            <a:off x="5381625" y="3336925"/>
            <a:ext cx="863600" cy="307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0000FF"/>
                </a:solidFill>
                <a:latin typeface="宋体" panose="02010600030101010101" pitchFamily="2" charset="-122"/>
              </a:rPr>
              <a:t>SBUF</a:t>
            </a:r>
            <a:r>
              <a:rPr lang="zh-CN" altLang="en-US" sz="2000" baseline="-25000">
                <a:solidFill>
                  <a:srgbClr val="0000FF"/>
                </a:solidFill>
                <a:latin typeface="宋体" panose="02010600030101010101" pitchFamily="2" charset="-122"/>
              </a:rPr>
              <a:t>收</a:t>
            </a:r>
            <a:endParaRPr lang="zh-CN" altLang="en-US" sz="2000">
              <a:solidFill>
                <a:srgbClr val="0000FF"/>
              </a:solidFill>
              <a:latin typeface="宋体" panose="02010600030101010101" pitchFamily="2" charset="-122"/>
            </a:endParaRPr>
          </a:p>
        </p:txBody>
      </p:sp>
      <p:sp>
        <p:nvSpPr>
          <p:cNvPr id="45064" name="TextBox 4">
            <a:extLst>
              <a:ext uri="{FF2B5EF4-FFF2-40B4-BE49-F238E27FC236}">
                <a16:creationId xmlns:a16="http://schemas.microsoft.com/office/drawing/2014/main" id="{ACDAD956-EB5F-499F-87DB-B88D5BBD917C}"/>
              </a:ext>
            </a:extLst>
          </p:cNvPr>
          <p:cNvSpPr txBox="1">
            <a:spLocks noChangeArrowheads="1"/>
          </p:cNvSpPr>
          <p:nvPr/>
        </p:nvSpPr>
        <p:spPr bwMode="auto">
          <a:xfrm>
            <a:off x="7785100" y="2687638"/>
            <a:ext cx="746125" cy="307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0000FF"/>
                </a:solidFill>
                <a:latin typeface="宋体" panose="02010600030101010101" pitchFamily="2" charset="-122"/>
              </a:rPr>
              <a:t>P3.0</a:t>
            </a:r>
            <a:endParaRPr lang="zh-CN" altLang="en-US" sz="2000" baseline="-25000">
              <a:solidFill>
                <a:srgbClr val="0000FF"/>
              </a:solidFill>
              <a:latin typeface="宋体" panose="02010600030101010101" pitchFamily="2" charset="-122"/>
            </a:endParaRPr>
          </a:p>
        </p:txBody>
      </p:sp>
      <p:sp>
        <p:nvSpPr>
          <p:cNvPr id="45065" name="TextBox 4">
            <a:extLst>
              <a:ext uri="{FF2B5EF4-FFF2-40B4-BE49-F238E27FC236}">
                <a16:creationId xmlns:a16="http://schemas.microsoft.com/office/drawing/2014/main" id="{A395EFA9-3189-497B-879F-99393F4F2B32}"/>
              </a:ext>
            </a:extLst>
          </p:cNvPr>
          <p:cNvSpPr txBox="1">
            <a:spLocks noChangeArrowheads="1"/>
          </p:cNvSpPr>
          <p:nvPr/>
        </p:nvSpPr>
        <p:spPr bwMode="auto">
          <a:xfrm>
            <a:off x="7786688" y="2173288"/>
            <a:ext cx="746125" cy="307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0000FF"/>
                </a:solidFill>
                <a:latin typeface="宋体" panose="02010600030101010101" pitchFamily="2" charset="-122"/>
              </a:rPr>
              <a:t>P3.1</a:t>
            </a:r>
            <a:endParaRPr lang="zh-CN" altLang="en-US" sz="2000" baseline="-25000">
              <a:solidFill>
                <a:srgbClr val="0000FF"/>
              </a:solidFill>
              <a:latin typeface="宋体" panose="02010600030101010101" pitchFamily="2" charset="-122"/>
            </a:endParaRPr>
          </a:p>
        </p:txBody>
      </p:sp>
    </p:spTree>
  </p:cSld>
  <p:clrMapOvr>
    <a:masterClrMapping/>
  </p:clrMapOvr>
  <p:transition spd="slow">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3" name="Text Box 5">
            <a:extLst>
              <a:ext uri="{FF2B5EF4-FFF2-40B4-BE49-F238E27FC236}">
                <a16:creationId xmlns:a16="http://schemas.microsoft.com/office/drawing/2014/main" id="{68DD987A-C888-4889-A850-39948BE8AB07}"/>
              </a:ext>
            </a:extLst>
          </p:cNvPr>
          <p:cNvSpPr txBox="1">
            <a:spLocks noChangeArrowheads="1"/>
          </p:cNvSpPr>
          <p:nvPr/>
        </p:nvSpPr>
        <p:spPr bwMode="auto">
          <a:xfrm>
            <a:off x="611188" y="836613"/>
            <a:ext cx="8281987" cy="533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defRPr/>
            </a:pPr>
            <a:r>
              <a:rPr kumimoji="1" lang="en-US" altLang="zh-CN" sz="2600" dirty="0">
                <a:effectLst>
                  <a:outerShdw blurRad="38100" dist="38100" dir="2700000" algn="tl">
                    <a:srgbClr val="C0C0C0"/>
                  </a:outerShdw>
                </a:effectLst>
              </a:rPr>
              <a:t>      </a:t>
            </a:r>
            <a:r>
              <a:rPr kumimoji="1" lang="zh-CN" altLang="en-US" sz="2600" dirty="0">
                <a:effectLst>
                  <a:outerShdw blurRad="38100" dist="38100" dir="2700000" algn="tl">
                    <a:srgbClr val="C0C0C0"/>
                  </a:outerShdw>
                </a:effectLst>
              </a:rPr>
              <a:t>发送时，</a:t>
            </a:r>
            <a:r>
              <a:rPr kumimoji="1" lang="en-US" altLang="zh-CN" sz="2600" dirty="0">
                <a:effectLst>
                  <a:outerShdw blurRad="38100" dist="38100" dir="2700000" algn="tl">
                    <a:srgbClr val="C0C0C0"/>
                  </a:outerShdw>
                </a:effectLst>
              </a:rPr>
              <a:t>CPU</a:t>
            </a:r>
            <a:r>
              <a:rPr kumimoji="1" lang="zh-CN" altLang="en-US" sz="2600" dirty="0">
                <a:effectLst>
                  <a:outerShdw blurRad="38100" dist="38100" dir="2700000" algn="tl">
                    <a:srgbClr val="C0C0C0"/>
                  </a:outerShdw>
                </a:effectLst>
              </a:rPr>
              <a:t>除要把发送字符装入“</a:t>
            </a:r>
            <a:r>
              <a:rPr kumimoji="1" lang="en-US" altLang="zh-CN" sz="2600" dirty="0">
                <a:effectLst>
                  <a:outerShdw blurRad="38100" dist="38100" dir="2700000" algn="tl">
                    <a:srgbClr val="C0C0C0"/>
                  </a:outerShdw>
                </a:effectLst>
              </a:rPr>
              <a:t>SBUF(</a:t>
            </a:r>
            <a:r>
              <a:rPr kumimoji="1" lang="zh-CN" altLang="en-US" sz="2600" dirty="0">
                <a:effectLst>
                  <a:outerShdw blurRad="38100" dist="38100" dir="2700000" algn="tl">
                    <a:srgbClr val="C0C0C0"/>
                  </a:outerShdw>
                </a:effectLst>
              </a:rPr>
              <a:t>发送）”外，还把第</a:t>
            </a:r>
            <a:r>
              <a:rPr kumimoji="1" lang="en-US" altLang="zh-CN" sz="2600" dirty="0">
                <a:effectLst>
                  <a:outerShdw blurRad="38100" dist="38100" dir="2700000" algn="tl">
                    <a:srgbClr val="C0C0C0"/>
                  </a:outerShdw>
                </a:effectLst>
              </a:rPr>
              <a:t>9</a:t>
            </a:r>
            <a:r>
              <a:rPr kumimoji="1" lang="zh-CN" altLang="en-US" sz="2600" dirty="0">
                <a:effectLst>
                  <a:outerShdw blurRad="38100" dist="38100" dir="2700000" algn="tl">
                    <a:srgbClr val="C0C0C0"/>
                  </a:outerShdw>
                </a:effectLst>
              </a:rPr>
              <a:t>位数据位预先装入</a:t>
            </a:r>
            <a:r>
              <a:rPr kumimoji="1" lang="en-US" altLang="zh-CN" sz="2600" dirty="0">
                <a:effectLst>
                  <a:outerShdw blurRad="38100" dist="38100" dir="2700000" algn="tl">
                    <a:srgbClr val="C0C0C0"/>
                  </a:outerShdw>
                </a:effectLst>
              </a:rPr>
              <a:t>SCON</a:t>
            </a:r>
            <a:r>
              <a:rPr kumimoji="1" lang="zh-CN" altLang="en-US" sz="2600" dirty="0">
                <a:effectLst>
                  <a:outerShdw blurRad="38100" dist="38100" dir="2700000" algn="tl">
                    <a:srgbClr val="C0C0C0"/>
                  </a:outerShdw>
                </a:effectLst>
              </a:rPr>
              <a:t>的</a:t>
            </a:r>
            <a:r>
              <a:rPr kumimoji="1" lang="en-US" altLang="zh-CN" sz="2600" dirty="0">
                <a:effectLst>
                  <a:outerShdw blurRad="38100" dist="38100" dir="2700000" algn="tl">
                    <a:srgbClr val="C0C0C0"/>
                  </a:outerShdw>
                </a:effectLst>
              </a:rPr>
              <a:t>TB8</a:t>
            </a:r>
            <a:r>
              <a:rPr kumimoji="1" lang="zh-CN" altLang="en-US" sz="2600" dirty="0">
                <a:effectLst>
                  <a:outerShdw blurRad="38100" dist="38100" dir="2700000" algn="tl">
                    <a:srgbClr val="C0C0C0"/>
                  </a:outerShdw>
                </a:effectLst>
              </a:rPr>
              <a:t>中。第</a:t>
            </a:r>
            <a:r>
              <a:rPr kumimoji="1" lang="en-US" altLang="zh-CN" sz="2600" dirty="0">
                <a:effectLst>
                  <a:outerShdw blurRad="38100" dist="38100" dir="2700000" algn="tl">
                    <a:srgbClr val="C0C0C0"/>
                  </a:outerShdw>
                </a:effectLst>
              </a:rPr>
              <a:t>9</a:t>
            </a:r>
            <a:r>
              <a:rPr kumimoji="1" lang="zh-CN" altLang="en-US" sz="2600" dirty="0">
                <a:effectLst>
                  <a:outerShdw blurRad="38100" dist="38100" dir="2700000" algn="tl">
                    <a:srgbClr val="C0C0C0"/>
                  </a:outerShdw>
                </a:effectLst>
              </a:rPr>
              <a:t>位数据由用户安排，可以是奇偶校验位，也可是其他控制位。第</a:t>
            </a:r>
            <a:r>
              <a:rPr kumimoji="1" lang="en-US" altLang="zh-CN" sz="2600" dirty="0">
                <a:effectLst>
                  <a:outerShdw blurRad="38100" dist="38100" dir="2700000" algn="tl">
                    <a:srgbClr val="C0C0C0"/>
                  </a:outerShdw>
                </a:effectLst>
              </a:rPr>
              <a:t>9</a:t>
            </a:r>
            <a:r>
              <a:rPr kumimoji="1" lang="zh-CN" altLang="en-US" sz="2600" dirty="0">
                <a:effectLst>
                  <a:outerShdw blurRad="38100" dist="38100" dir="2700000" algn="tl">
                    <a:srgbClr val="C0C0C0"/>
                  </a:outerShdw>
                </a:effectLst>
              </a:rPr>
              <a:t>位数据位的装入可通过以下指令来完成：</a:t>
            </a:r>
          </a:p>
          <a:p>
            <a:pPr eaLnBrk="1" hangingPunct="1">
              <a:lnSpc>
                <a:spcPct val="110000"/>
              </a:lnSpc>
              <a:defRPr/>
            </a:pPr>
            <a:r>
              <a:rPr kumimoji="1" lang="zh-CN" altLang="en-US" sz="2600" dirty="0">
                <a:effectLst>
                  <a:outerShdw blurRad="38100" dist="38100" dir="2700000" algn="tl">
                    <a:srgbClr val="C0C0C0"/>
                  </a:outerShdw>
                </a:effectLst>
              </a:rPr>
              <a:t>　　</a:t>
            </a:r>
            <a:r>
              <a:rPr kumimoji="1" lang="en-US" altLang="zh-CN" sz="2600" dirty="0">
                <a:solidFill>
                  <a:srgbClr val="0000FF"/>
                </a:solidFill>
                <a:effectLst>
                  <a:outerShdw blurRad="38100" dist="38100" dir="2700000" algn="tl">
                    <a:srgbClr val="C0C0C0"/>
                  </a:outerShdw>
                </a:effectLst>
                <a:latin typeface="Times New Roman" pitchFamily="18" charset="0"/>
              </a:rPr>
              <a:t>SETB  TB8</a:t>
            </a:r>
          </a:p>
          <a:p>
            <a:pPr eaLnBrk="1" hangingPunct="1">
              <a:lnSpc>
                <a:spcPct val="110000"/>
              </a:lnSpc>
              <a:defRPr/>
            </a:pPr>
            <a:r>
              <a:rPr kumimoji="1" lang="zh-CN" altLang="en-US" sz="2600" dirty="0">
                <a:solidFill>
                  <a:srgbClr val="0000FF"/>
                </a:solidFill>
                <a:effectLst>
                  <a:outerShdw blurRad="38100" dist="38100" dir="2700000" algn="tl">
                    <a:srgbClr val="C0C0C0"/>
                  </a:outerShdw>
                </a:effectLst>
                <a:latin typeface="Times New Roman" pitchFamily="18" charset="0"/>
              </a:rPr>
              <a:t>　　</a:t>
            </a:r>
            <a:r>
              <a:rPr kumimoji="1" lang="en-US" altLang="zh-CN" sz="2600" dirty="0">
                <a:solidFill>
                  <a:srgbClr val="0000FF"/>
                </a:solidFill>
                <a:effectLst>
                  <a:outerShdw blurRad="38100" dist="38100" dir="2700000" algn="tl">
                    <a:srgbClr val="C0C0C0"/>
                  </a:outerShdw>
                </a:effectLst>
                <a:latin typeface="Times New Roman" pitchFamily="18" charset="0"/>
              </a:rPr>
              <a:t>CLR   TB8</a:t>
            </a:r>
          </a:p>
          <a:p>
            <a:pPr eaLnBrk="1" hangingPunct="1">
              <a:lnSpc>
                <a:spcPct val="110000"/>
              </a:lnSpc>
              <a:defRPr/>
            </a:pPr>
            <a:r>
              <a:rPr kumimoji="1" lang="en-US" altLang="zh-CN" sz="2600" dirty="0">
                <a:effectLst>
                  <a:outerShdw blurRad="38100" dist="38100" dir="2700000" algn="tl">
                    <a:srgbClr val="C0C0C0"/>
                  </a:outerShdw>
                </a:effectLst>
              </a:rPr>
              <a:t>      </a:t>
            </a:r>
            <a:r>
              <a:rPr kumimoji="1" lang="zh-CN" altLang="en-US" sz="2600" dirty="0">
                <a:effectLst>
                  <a:outerShdw blurRad="38100" dist="38100" dir="2700000" algn="tl">
                    <a:srgbClr val="C0C0C0"/>
                  </a:outerShdw>
                </a:effectLst>
              </a:rPr>
              <a:t>第</a:t>
            </a:r>
            <a:r>
              <a:rPr kumimoji="1" lang="en-US" altLang="zh-CN" sz="2600" dirty="0">
                <a:effectLst>
                  <a:outerShdw blurRad="38100" dist="38100" dir="2700000" algn="tl">
                    <a:srgbClr val="C0C0C0"/>
                  </a:outerShdw>
                </a:effectLst>
              </a:rPr>
              <a:t>9</a:t>
            </a:r>
            <a:r>
              <a:rPr kumimoji="1" lang="zh-CN" altLang="en-US" sz="2600" dirty="0">
                <a:effectLst>
                  <a:outerShdw blurRad="38100" dist="38100" dir="2700000" algn="tl">
                    <a:srgbClr val="C0C0C0"/>
                  </a:outerShdw>
                </a:effectLst>
              </a:rPr>
              <a:t>数据位的值装入</a:t>
            </a:r>
            <a:r>
              <a:rPr kumimoji="1" lang="en-US" altLang="zh-CN" sz="2600" dirty="0">
                <a:effectLst>
                  <a:outerShdw blurRad="38100" dist="38100" dir="2700000" algn="tl">
                    <a:srgbClr val="C0C0C0"/>
                  </a:outerShdw>
                </a:effectLst>
              </a:rPr>
              <a:t>TB8</a:t>
            </a:r>
            <a:r>
              <a:rPr kumimoji="1" lang="zh-CN" altLang="en-US" sz="2600" dirty="0">
                <a:effectLst>
                  <a:outerShdw blurRad="38100" dist="38100" dir="2700000" algn="tl">
                    <a:srgbClr val="C0C0C0"/>
                  </a:outerShdw>
                </a:effectLst>
              </a:rPr>
              <a:t>后，可用传送指令</a:t>
            </a:r>
          </a:p>
          <a:p>
            <a:pPr eaLnBrk="1" hangingPunct="1">
              <a:lnSpc>
                <a:spcPct val="110000"/>
              </a:lnSpc>
              <a:defRPr/>
            </a:pPr>
            <a:r>
              <a:rPr kumimoji="1" lang="en-US" altLang="zh-CN" sz="2600" dirty="0">
                <a:solidFill>
                  <a:srgbClr val="FF0000"/>
                </a:solidFill>
                <a:effectLst>
                  <a:outerShdw blurRad="38100" dist="38100" dir="2700000" algn="tl">
                    <a:srgbClr val="C0C0C0"/>
                  </a:outerShdw>
                </a:effectLst>
              </a:rPr>
              <a:t>MOV SBUF</a:t>
            </a:r>
            <a:r>
              <a:rPr kumimoji="1" lang="zh-CN" altLang="en-US" sz="2600" dirty="0">
                <a:solidFill>
                  <a:srgbClr val="FF0000"/>
                </a:solidFill>
                <a:effectLst>
                  <a:outerShdw blurRad="38100" dist="38100" dir="2700000" algn="tl">
                    <a:srgbClr val="C0C0C0"/>
                  </a:outerShdw>
                </a:effectLst>
              </a:rPr>
              <a:t>，</a:t>
            </a:r>
            <a:r>
              <a:rPr kumimoji="1" lang="en-US" altLang="zh-CN" sz="2600" dirty="0">
                <a:solidFill>
                  <a:srgbClr val="FF0000"/>
                </a:solidFill>
                <a:effectLst>
                  <a:outerShdw blurRad="38100" dist="38100" dir="2700000" algn="tl">
                    <a:srgbClr val="C0C0C0"/>
                  </a:outerShdw>
                </a:effectLst>
              </a:rPr>
              <a:t>A</a:t>
            </a:r>
            <a:r>
              <a:rPr kumimoji="1" lang="zh-CN" altLang="en-US" sz="2600" dirty="0">
                <a:effectLst>
                  <a:outerShdw blurRad="38100" dist="38100" dir="2700000" algn="tl">
                    <a:srgbClr val="C0C0C0"/>
                  </a:outerShdw>
                </a:effectLst>
              </a:rPr>
              <a:t>把发送数据装入</a:t>
            </a:r>
            <a:r>
              <a:rPr kumimoji="1" lang="en-US" altLang="zh-CN" sz="2600" dirty="0">
                <a:effectLst>
                  <a:outerShdw blurRad="38100" dist="38100" dir="2700000" algn="tl">
                    <a:srgbClr val="C0C0C0"/>
                  </a:outerShdw>
                </a:effectLst>
              </a:rPr>
              <a:t>SBUF</a:t>
            </a:r>
            <a:r>
              <a:rPr kumimoji="1" lang="zh-CN" altLang="en-US" sz="2600" dirty="0">
                <a:effectLst>
                  <a:outerShdw blurRad="38100" dist="38100" dir="2700000" algn="tl">
                    <a:srgbClr val="C0C0C0"/>
                  </a:outerShdw>
                </a:effectLst>
              </a:rPr>
              <a:t>来启动发送过程。串行口能</a:t>
            </a:r>
            <a:r>
              <a:rPr kumimoji="1" lang="zh-CN" altLang="en-US" sz="2600" dirty="0">
                <a:solidFill>
                  <a:srgbClr val="9900FF"/>
                </a:solidFill>
                <a:effectLst>
                  <a:outerShdw blurRad="38100" dist="38100" dir="2700000" algn="tl">
                    <a:srgbClr val="C0C0C0"/>
                  </a:outerShdw>
                </a:effectLst>
              </a:rPr>
              <a:t>自动</a:t>
            </a:r>
            <a:r>
              <a:rPr kumimoji="1" lang="zh-CN" altLang="en-US" sz="2600" dirty="0">
                <a:effectLst>
                  <a:outerShdw blurRad="38100" dist="38100" dir="2700000" algn="tl">
                    <a:srgbClr val="C0C0C0"/>
                  </a:outerShdw>
                </a:effectLst>
              </a:rPr>
              <a:t>取走</a:t>
            </a:r>
            <a:r>
              <a:rPr kumimoji="1" lang="en-US" altLang="zh-CN" sz="2600" dirty="0">
                <a:effectLst>
                  <a:outerShdw blurRad="38100" dist="38100" dir="2700000" algn="tl">
                    <a:srgbClr val="C0C0C0"/>
                  </a:outerShdw>
                </a:effectLst>
              </a:rPr>
              <a:t>TB8,</a:t>
            </a:r>
            <a:r>
              <a:rPr kumimoji="1" lang="zh-CN" altLang="en-US" sz="2600" dirty="0">
                <a:effectLst>
                  <a:outerShdw blurRad="38100" dist="38100" dir="2700000" algn="tl">
                    <a:srgbClr val="C0C0C0"/>
                  </a:outerShdw>
                </a:effectLst>
              </a:rPr>
              <a:t>并装入到第</a:t>
            </a:r>
            <a:r>
              <a:rPr kumimoji="1" lang="en-US" altLang="zh-CN" sz="2600" dirty="0">
                <a:effectLst>
                  <a:outerShdw blurRad="38100" dist="38100" dir="2700000" algn="tl">
                    <a:srgbClr val="C0C0C0"/>
                  </a:outerShdw>
                </a:effectLst>
              </a:rPr>
              <a:t>9</a:t>
            </a:r>
            <a:r>
              <a:rPr kumimoji="1" lang="zh-CN" altLang="en-US" sz="2600" dirty="0">
                <a:effectLst>
                  <a:outerShdw blurRad="38100" dist="38100" dir="2700000" algn="tl">
                    <a:srgbClr val="C0C0C0"/>
                  </a:outerShdw>
                </a:effectLst>
              </a:rPr>
              <a:t>位数据位的位置，再逐一发送出去。</a:t>
            </a:r>
          </a:p>
          <a:p>
            <a:pPr eaLnBrk="1" hangingPunct="1">
              <a:lnSpc>
                <a:spcPct val="110000"/>
              </a:lnSpc>
              <a:defRPr/>
            </a:pPr>
            <a:r>
              <a:rPr kumimoji="1" lang="zh-CN" altLang="en-US" sz="2600" dirty="0">
                <a:effectLst>
                  <a:outerShdw blurRad="38100" dist="38100" dir="2700000" algn="tl">
                    <a:srgbClr val="C0C0C0"/>
                  </a:outerShdw>
                </a:effectLst>
              </a:rPr>
              <a:t>      一帧数据发送完后，</a:t>
            </a:r>
            <a:r>
              <a:rPr kumimoji="1" lang="en-US" altLang="zh-CN" sz="2600" dirty="0">
                <a:solidFill>
                  <a:srgbClr val="FF0000"/>
                </a:solidFill>
                <a:effectLst>
                  <a:outerShdw blurRad="38100" dist="38100" dir="2700000" algn="tl">
                    <a:srgbClr val="C0C0C0"/>
                  </a:outerShdw>
                </a:effectLst>
              </a:rPr>
              <a:t>TI=1</a:t>
            </a:r>
            <a:r>
              <a:rPr kumimoji="1" lang="zh-CN" altLang="en-US" sz="2600" dirty="0">
                <a:effectLst>
                  <a:outerShdw blurRad="38100" dist="38100" dir="2700000" algn="tl">
                    <a:srgbClr val="C0C0C0"/>
                  </a:outerShdw>
                </a:effectLst>
              </a:rPr>
              <a:t>，</a:t>
            </a:r>
            <a:r>
              <a:rPr kumimoji="1" lang="en-US" altLang="zh-CN" sz="2600" dirty="0">
                <a:effectLst>
                  <a:outerShdw blurRad="38100" dist="38100" dir="2700000" algn="tl">
                    <a:srgbClr val="C0C0C0"/>
                  </a:outerShdw>
                </a:effectLst>
              </a:rPr>
              <a:t>CPU</a:t>
            </a:r>
            <a:r>
              <a:rPr kumimoji="1" lang="zh-CN" altLang="en-US" sz="2600" dirty="0">
                <a:effectLst>
                  <a:outerShdw blurRad="38100" dist="38100" dir="2700000" algn="tl">
                    <a:srgbClr val="C0C0C0"/>
                  </a:outerShdw>
                </a:effectLst>
              </a:rPr>
              <a:t>可通过查询</a:t>
            </a:r>
            <a:r>
              <a:rPr kumimoji="1" lang="en-US" altLang="zh-CN" sz="2600" dirty="0">
                <a:effectLst>
                  <a:outerShdw blurRad="38100" dist="38100" dir="2700000" algn="tl">
                    <a:srgbClr val="C0C0C0"/>
                  </a:outerShdw>
                </a:effectLst>
              </a:rPr>
              <a:t>TI</a:t>
            </a:r>
            <a:r>
              <a:rPr kumimoji="1" lang="zh-CN" altLang="en-US" sz="2600" dirty="0">
                <a:effectLst>
                  <a:outerShdw blurRad="38100" dist="38100" dir="2700000" algn="tl">
                    <a:srgbClr val="C0C0C0"/>
                  </a:outerShdw>
                </a:effectLst>
              </a:rPr>
              <a:t>来以同样方式发送下一字符帧。</a:t>
            </a:r>
            <a:endParaRPr lang="zh-CN" altLang="en-US" sz="2600" dirty="0"/>
          </a:p>
        </p:txBody>
      </p:sp>
      <p:sp>
        <p:nvSpPr>
          <p:cNvPr id="109574" name="Line 6">
            <a:extLst>
              <a:ext uri="{FF2B5EF4-FFF2-40B4-BE49-F238E27FC236}">
                <a16:creationId xmlns:a16="http://schemas.microsoft.com/office/drawing/2014/main" id="{B365F273-517A-4250-BCB8-04C0980D4911}"/>
              </a:ext>
            </a:extLst>
          </p:cNvPr>
          <p:cNvSpPr>
            <a:spLocks noChangeShapeType="1"/>
          </p:cNvSpPr>
          <p:nvPr/>
        </p:nvSpPr>
        <p:spPr bwMode="auto">
          <a:xfrm>
            <a:off x="1692275" y="1773238"/>
            <a:ext cx="5545138"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575" name="WordArt 7">
            <a:extLst>
              <a:ext uri="{FF2B5EF4-FFF2-40B4-BE49-F238E27FC236}">
                <a16:creationId xmlns:a16="http://schemas.microsoft.com/office/drawing/2014/main" id="{134274F0-6F7A-44F1-BB10-C1D7C0C3F15F}"/>
              </a:ext>
            </a:extLst>
          </p:cNvPr>
          <p:cNvSpPr>
            <a:spLocks noChangeArrowheads="1" noChangeShapeType="1" noTextEdit="1"/>
          </p:cNvSpPr>
          <p:nvPr/>
        </p:nvSpPr>
        <p:spPr bwMode="auto">
          <a:xfrm>
            <a:off x="755651" y="260350"/>
            <a:ext cx="3024261" cy="430212"/>
          </a:xfrm>
          <a:prstGeom prst="rect">
            <a:avLst/>
          </a:prstGeom>
          <a:extLst>
            <a:ext uri="{91240B29-F687-4F45-9708-019B960494DF}">
              <a14:hiddenLine xmlns:a14="http://schemas.microsoft.com/office/drawing/2010/main" w="19050">
                <a:solidFill>
                  <a:srgbClr val="99CCFF"/>
                </a:solidFill>
                <a:round/>
                <a:headEnd/>
                <a:tailEnd/>
              </a14:hiddenLine>
            </a:ext>
          </a:extLst>
        </p:spPr>
        <p:txBody>
          <a:bodyPr wrap="none" fromWordArt="1">
            <a:prstTxWarp prst="textPlain">
              <a:avLst>
                <a:gd name="adj" fmla="val 50000"/>
              </a:avLst>
            </a:prstTxWarp>
          </a:bodyPr>
          <a:lstStyle/>
          <a:p>
            <a:pPr algn="ctr" eaLnBrk="1" hangingPunct="1">
              <a:defRPr/>
            </a:pPr>
            <a:r>
              <a:rPr lang="zh-CN" altLang="en-US" sz="3600" kern="10" dirty="0">
                <a:solidFill>
                  <a:srgbClr val="0000FF"/>
                </a:solidFill>
                <a:effectLst>
                  <a:outerShdw dist="35921" dir="2700000" algn="ctr" rotWithShape="0">
                    <a:srgbClr val="990000"/>
                  </a:outerShdw>
                </a:effectLst>
                <a:latin typeface="楷体_GB2312"/>
              </a:rPr>
              <a:t>方式</a:t>
            </a:r>
            <a:r>
              <a:rPr lang="en-US" altLang="zh-CN" sz="3600" kern="10" dirty="0">
                <a:solidFill>
                  <a:srgbClr val="0000FF"/>
                </a:solidFill>
                <a:effectLst>
                  <a:outerShdw dist="35921" dir="2700000" algn="ctr" rotWithShape="0">
                    <a:srgbClr val="990000"/>
                  </a:outerShdw>
                </a:effectLst>
                <a:latin typeface="楷体_GB2312"/>
              </a:rPr>
              <a:t>2 </a:t>
            </a:r>
            <a:r>
              <a:rPr lang="zh-CN" altLang="en-US" sz="3600" kern="10" dirty="0">
                <a:solidFill>
                  <a:srgbClr val="0000FF"/>
                </a:solidFill>
                <a:effectLst>
                  <a:outerShdw dist="35921" dir="2700000" algn="ctr" rotWithShape="0">
                    <a:srgbClr val="990000"/>
                  </a:outerShdw>
                </a:effectLst>
                <a:latin typeface="楷体_GB2312"/>
              </a:rPr>
              <a:t>发送过程</a:t>
            </a: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9574"/>
                                        </p:tgtEl>
                                        <p:attrNameLst>
                                          <p:attrName>style.visibility</p:attrName>
                                        </p:attrNameLst>
                                      </p:cBhvr>
                                      <p:to>
                                        <p:strVal val="visible"/>
                                      </p:to>
                                    </p:set>
                                    <p:animEffect transition="in" filter="wipe(left)">
                                      <p:cBhvr>
                                        <p:cTn id="7" dur="500"/>
                                        <p:tgtEl>
                                          <p:spTgt spid="1095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6" name="Text Box 4">
            <a:extLst>
              <a:ext uri="{FF2B5EF4-FFF2-40B4-BE49-F238E27FC236}">
                <a16:creationId xmlns:a16="http://schemas.microsoft.com/office/drawing/2014/main" id="{3C3A6630-A58E-456B-8250-56BA2D7ADF0D}"/>
              </a:ext>
            </a:extLst>
          </p:cNvPr>
          <p:cNvSpPr txBox="1">
            <a:spLocks noChangeArrowheads="1"/>
          </p:cNvSpPr>
          <p:nvPr/>
        </p:nvSpPr>
        <p:spPr bwMode="auto">
          <a:xfrm>
            <a:off x="755650" y="1557338"/>
            <a:ext cx="7559675" cy="3554412"/>
          </a:xfrm>
          <a:prstGeom prst="rect">
            <a:avLst/>
          </a:prstGeom>
          <a:solidFill>
            <a:schemeClr val="bg1"/>
          </a:solidFill>
          <a:ln>
            <a:noFill/>
          </a:ln>
          <a:effectLst/>
          <a:extLst>
            <a:ext uri="{91240B29-F687-4F45-9708-019B960494DF}">
              <a14:hiddenLine xmlns:a14="http://schemas.microsoft.com/office/drawing/2010/main" w="1587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5000"/>
              </a:lnSpc>
              <a:spcBef>
                <a:spcPct val="20000"/>
              </a:spcBef>
              <a:defRPr/>
            </a:pPr>
            <a:r>
              <a:rPr kumimoji="1" lang="en-US" altLang="zh-CN" sz="3000" dirty="0">
                <a:effectLst>
                  <a:outerShdw blurRad="38100" dist="38100" dir="2700000" algn="tl">
                    <a:srgbClr val="C0C0C0"/>
                  </a:outerShdw>
                </a:effectLst>
                <a:latin typeface="楷体" panose="02010609060101010101" pitchFamily="49" charset="-122"/>
                <a:ea typeface="楷体" panose="02010609060101010101" pitchFamily="49" charset="-122"/>
              </a:rPr>
              <a:t>   </a:t>
            </a:r>
            <a:r>
              <a:rPr kumimoji="1" lang="zh-CN" altLang="en-US" sz="3000" dirty="0">
                <a:effectLst>
                  <a:outerShdw blurRad="38100" dist="38100" dir="2700000" algn="tl">
                    <a:srgbClr val="C0C0C0"/>
                  </a:outerShdw>
                </a:effectLst>
                <a:latin typeface="楷体" panose="02010609060101010101" pitchFamily="49" charset="-122"/>
                <a:ea typeface="楷体" panose="02010609060101010101" pitchFamily="49" charset="-122"/>
              </a:rPr>
              <a:t>接收时，须满足：</a:t>
            </a:r>
          </a:p>
          <a:p>
            <a:pPr eaLnBrk="1" hangingPunct="1">
              <a:lnSpc>
                <a:spcPct val="115000"/>
              </a:lnSpc>
              <a:spcBef>
                <a:spcPct val="20000"/>
              </a:spcBef>
              <a:defRPr/>
            </a:pPr>
            <a:r>
              <a:rPr kumimoji="1" lang="zh-CN" altLang="en-US" sz="3000" dirty="0">
                <a:effectLst>
                  <a:outerShdw blurRad="38100" dist="38100" dir="2700000" algn="tl">
                    <a:srgbClr val="C0C0C0"/>
                  </a:outerShdw>
                </a:effectLst>
                <a:latin typeface="楷体" panose="02010609060101010101" pitchFamily="49" charset="-122"/>
                <a:ea typeface="楷体" panose="02010609060101010101" pitchFamily="49" charset="-122"/>
              </a:rPr>
              <a:t>   ①</a:t>
            </a:r>
            <a:r>
              <a:rPr kumimoji="1" lang="en-US" altLang="zh-CN" sz="3000" dirty="0">
                <a:solidFill>
                  <a:srgbClr val="0000FF"/>
                </a:solidFill>
                <a:effectLst>
                  <a:outerShdw blurRad="38100" dist="38100" dir="2700000" algn="tl">
                    <a:srgbClr val="C0C0C0"/>
                  </a:outerShdw>
                </a:effectLst>
                <a:latin typeface="楷体" panose="02010609060101010101" pitchFamily="49" charset="-122"/>
                <a:ea typeface="楷体" panose="02010609060101010101" pitchFamily="49" charset="-122"/>
              </a:rPr>
              <a:t>RI=0</a:t>
            </a:r>
            <a:r>
              <a:rPr kumimoji="1" lang="zh-CN" altLang="en-US" sz="3000" dirty="0">
                <a:effectLst>
                  <a:outerShdw blurRad="38100" dist="38100" dir="2700000" algn="tl">
                    <a:srgbClr val="C0C0C0"/>
                  </a:outerShdw>
                </a:effectLst>
                <a:latin typeface="楷体" panose="02010609060101010101" pitchFamily="49" charset="-122"/>
                <a:ea typeface="楷体" panose="02010609060101010101" pitchFamily="49" charset="-122"/>
              </a:rPr>
              <a:t>，意味着接收缓冲器为空。</a:t>
            </a:r>
          </a:p>
          <a:p>
            <a:pPr eaLnBrk="1" hangingPunct="1">
              <a:lnSpc>
                <a:spcPct val="115000"/>
              </a:lnSpc>
              <a:spcBef>
                <a:spcPct val="20000"/>
              </a:spcBef>
              <a:defRPr/>
            </a:pPr>
            <a:r>
              <a:rPr kumimoji="1" lang="zh-CN" altLang="en-US" sz="3000" dirty="0">
                <a:effectLst>
                  <a:outerShdw blurRad="38100" dist="38100" dir="2700000" algn="tl">
                    <a:srgbClr val="C0C0C0"/>
                  </a:outerShdw>
                </a:effectLst>
                <a:latin typeface="楷体" panose="02010609060101010101" pitchFamily="49" charset="-122"/>
                <a:ea typeface="楷体" panose="02010609060101010101" pitchFamily="49" charset="-122"/>
              </a:rPr>
              <a:t>   ②</a:t>
            </a:r>
            <a:r>
              <a:rPr kumimoji="1" lang="en-US" altLang="zh-CN" sz="3000" dirty="0">
                <a:effectLst>
                  <a:outerShdw blurRad="38100" dist="38100" dir="2700000" algn="tl">
                    <a:srgbClr val="C0C0C0"/>
                  </a:outerShdw>
                </a:effectLst>
                <a:latin typeface="楷体" panose="02010609060101010101" pitchFamily="49" charset="-122"/>
                <a:ea typeface="楷体" panose="02010609060101010101" pitchFamily="49" charset="-122"/>
              </a:rPr>
              <a:t>SM</a:t>
            </a:r>
            <a:r>
              <a:rPr kumimoji="1" lang="en-US" altLang="zh-CN" sz="3000" baseline="-25000" dirty="0">
                <a:effectLst>
                  <a:outerShdw blurRad="38100" dist="38100" dir="2700000" algn="tl">
                    <a:srgbClr val="C0C0C0"/>
                  </a:outerShdw>
                </a:effectLst>
                <a:latin typeface="楷体" panose="02010609060101010101" pitchFamily="49" charset="-122"/>
                <a:ea typeface="楷体" panose="02010609060101010101" pitchFamily="49" charset="-122"/>
              </a:rPr>
              <a:t>2</a:t>
            </a:r>
            <a:r>
              <a:rPr kumimoji="1" lang="en-US" altLang="zh-CN" sz="3000" dirty="0">
                <a:effectLst>
                  <a:outerShdw blurRad="38100" dist="38100" dir="2700000" algn="tl">
                    <a:srgbClr val="C0C0C0"/>
                  </a:outerShdw>
                </a:effectLst>
                <a:latin typeface="楷体" panose="02010609060101010101" pitchFamily="49" charset="-122"/>
                <a:ea typeface="楷体" panose="02010609060101010101" pitchFamily="49" charset="-122"/>
              </a:rPr>
              <a:t>=0</a:t>
            </a:r>
            <a:r>
              <a:rPr kumimoji="1" lang="zh-CN" altLang="en-US" sz="3000" dirty="0">
                <a:effectLst>
                  <a:outerShdw blurRad="38100" dist="38100" dir="2700000" algn="tl">
                    <a:srgbClr val="C0C0C0"/>
                  </a:outerShdw>
                </a:effectLst>
                <a:latin typeface="楷体" panose="02010609060101010101" pitchFamily="49" charset="-122"/>
                <a:ea typeface="楷体" panose="02010609060101010101" pitchFamily="49" charset="-122"/>
              </a:rPr>
              <a:t>或收到的第</a:t>
            </a:r>
            <a:r>
              <a:rPr kumimoji="1" lang="en-US" altLang="zh-CN" sz="3000" dirty="0">
                <a:effectLst>
                  <a:outerShdw blurRad="38100" dist="38100" dir="2700000" algn="tl">
                    <a:srgbClr val="C0C0C0"/>
                  </a:outerShdw>
                </a:effectLst>
                <a:latin typeface="楷体" panose="02010609060101010101" pitchFamily="49" charset="-122"/>
                <a:ea typeface="楷体" panose="02010609060101010101" pitchFamily="49" charset="-122"/>
              </a:rPr>
              <a:t>9</a:t>
            </a:r>
            <a:r>
              <a:rPr kumimoji="1" lang="zh-CN" altLang="en-US" sz="3000" dirty="0">
                <a:effectLst>
                  <a:outerShdw blurRad="38100" dist="38100" dir="2700000" algn="tl">
                    <a:srgbClr val="C0C0C0"/>
                  </a:outerShdw>
                </a:effectLst>
                <a:latin typeface="楷体" panose="02010609060101010101" pitchFamily="49" charset="-122"/>
                <a:ea typeface="楷体" panose="02010609060101010101" pitchFamily="49" charset="-122"/>
              </a:rPr>
              <a:t>数据位为“１” </a:t>
            </a:r>
          </a:p>
          <a:p>
            <a:pPr eaLnBrk="1" hangingPunct="1">
              <a:lnSpc>
                <a:spcPct val="115000"/>
              </a:lnSpc>
              <a:spcBef>
                <a:spcPct val="20000"/>
              </a:spcBef>
              <a:defRPr/>
            </a:pPr>
            <a:r>
              <a:rPr kumimoji="1" lang="zh-CN" altLang="en-US" sz="3000" dirty="0">
                <a:effectLst>
                  <a:outerShdw blurRad="38100" dist="38100" dir="2700000" algn="tl">
                    <a:srgbClr val="C0C0C0"/>
                  </a:outerShdw>
                </a:effectLst>
                <a:latin typeface="楷体" panose="02010609060101010101" pitchFamily="49" charset="-122"/>
                <a:ea typeface="楷体" panose="02010609060101010101" pitchFamily="49" charset="-122"/>
              </a:rPr>
              <a:t>   只有同时满足，接收到的字符才能送入</a:t>
            </a:r>
            <a:r>
              <a:rPr kumimoji="1" lang="en-US" altLang="zh-CN" sz="3000" dirty="0">
                <a:effectLst>
                  <a:outerShdw blurRad="38100" dist="38100" dir="2700000" algn="tl">
                    <a:srgbClr val="C0C0C0"/>
                  </a:outerShdw>
                </a:effectLst>
                <a:latin typeface="楷体" panose="02010609060101010101" pitchFamily="49" charset="-122"/>
                <a:ea typeface="楷体" panose="02010609060101010101" pitchFamily="49" charset="-122"/>
              </a:rPr>
              <a:t>SBUF</a:t>
            </a:r>
            <a:r>
              <a:rPr kumimoji="1" lang="zh-CN" altLang="en-US" sz="3000" dirty="0">
                <a:effectLst>
                  <a:outerShdw blurRad="38100" dist="38100" dir="2700000" algn="tl">
                    <a:srgbClr val="C0C0C0"/>
                  </a:outerShdw>
                </a:effectLst>
                <a:latin typeface="楷体" panose="02010609060101010101" pitchFamily="49" charset="-122"/>
                <a:ea typeface="楷体" panose="02010609060101010101" pitchFamily="49" charset="-122"/>
              </a:rPr>
              <a:t>，第</a:t>
            </a:r>
            <a:r>
              <a:rPr kumimoji="1" lang="en-US" altLang="zh-CN" sz="3000" dirty="0">
                <a:effectLst>
                  <a:outerShdw blurRad="38100" dist="38100" dir="2700000" algn="tl">
                    <a:srgbClr val="C0C0C0"/>
                  </a:outerShdw>
                </a:effectLst>
                <a:latin typeface="楷体" panose="02010609060101010101" pitchFamily="49" charset="-122"/>
                <a:ea typeface="楷体" panose="02010609060101010101" pitchFamily="49" charset="-122"/>
              </a:rPr>
              <a:t>9</a:t>
            </a:r>
            <a:r>
              <a:rPr kumimoji="1" lang="zh-CN" altLang="en-US" sz="3000" dirty="0">
                <a:effectLst>
                  <a:outerShdw blurRad="38100" dist="38100" dir="2700000" algn="tl">
                    <a:srgbClr val="C0C0C0"/>
                  </a:outerShdw>
                </a:effectLst>
                <a:latin typeface="楷体" panose="02010609060101010101" pitchFamily="49" charset="-122"/>
                <a:ea typeface="楷体" panose="02010609060101010101" pitchFamily="49" charset="-122"/>
              </a:rPr>
              <a:t>数据位才能装入</a:t>
            </a:r>
            <a:r>
              <a:rPr kumimoji="1" lang="en-US" altLang="zh-CN" sz="3000" dirty="0">
                <a:effectLst>
                  <a:outerShdw blurRad="38100" dist="38100" dir="2700000" algn="tl">
                    <a:srgbClr val="C0C0C0"/>
                  </a:outerShdw>
                </a:effectLst>
                <a:latin typeface="楷体" panose="02010609060101010101" pitchFamily="49" charset="-122"/>
                <a:ea typeface="楷体" panose="02010609060101010101" pitchFamily="49" charset="-122"/>
              </a:rPr>
              <a:t>RB</a:t>
            </a:r>
            <a:r>
              <a:rPr kumimoji="1" lang="en-US" altLang="zh-CN" sz="3000" baseline="-25000" dirty="0">
                <a:effectLst>
                  <a:outerShdw blurRad="38100" dist="38100" dir="2700000" algn="tl">
                    <a:srgbClr val="C0C0C0"/>
                  </a:outerShdw>
                </a:effectLst>
                <a:latin typeface="楷体" panose="02010609060101010101" pitchFamily="49" charset="-122"/>
                <a:ea typeface="楷体" panose="02010609060101010101" pitchFamily="49" charset="-122"/>
              </a:rPr>
              <a:t>8</a:t>
            </a:r>
            <a:r>
              <a:rPr kumimoji="1" lang="zh-CN" altLang="en-US" sz="3000" dirty="0">
                <a:effectLst>
                  <a:outerShdw blurRad="38100" dist="38100" dir="2700000" algn="tl">
                    <a:srgbClr val="C0C0C0"/>
                  </a:outerShdw>
                </a:effectLst>
                <a:latin typeface="楷体" panose="02010609060101010101" pitchFamily="49" charset="-122"/>
                <a:ea typeface="楷体" panose="02010609060101010101" pitchFamily="49" charset="-122"/>
              </a:rPr>
              <a:t>中，并使</a:t>
            </a:r>
            <a:r>
              <a:rPr kumimoji="1" lang="en-US" altLang="zh-CN" sz="3000" dirty="0">
                <a:effectLst>
                  <a:outerShdw blurRad="38100" dist="38100" dir="2700000" algn="tl">
                    <a:srgbClr val="C0C0C0"/>
                  </a:outerShdw>
                </a:effectLst>
                <a:latin typeface="楷体" panose="02010609060101010101" pitchFamily="49" charset="-122"/>
                <a:ea typeface="楷体" panose="02010609060101010101" pitchFamily="49" charset="-122"/>
              </a:rPr>
              <a:t>RI=1</a:t>
            </a:r>
            <a:r>
              <a:rPr kumimoji="1" lang="zh-CN" altLang="en-US" sz="3000" dirty="0">
                <a:effectLst>
                  <a:outerShdw blurRad="38100" dist="38100" dir="2700000" algn="tl">
                    <a:srgbClr val="C0C0C0"/>
                  </a:outerShdw>
                </a:effectLst>
                <a:latin typeface="楷体" panose="02010609060101010101" pitchFamily="49" charset="-122"/>
                <a:ea typeface="楷体" panose="02010609060101010101" pitchFamily="49" charset="-122"/>
              </a:rPr>
              <a:t>；否则，此次收到的数据无效，</a:t>
            </a:r>
            <a:r>
              <a:rPr kumimoji="1" lang="en-US" altLang="zh-CN" sz="3000" dirty="0">
                <a:effectLst>
                  <a:outerShdw blurRad="38100" dist="38100" dir="2700000" algn="tl">
                    <a:srgbClr val="C0C0C0"/>
                  </a:outerShdw>
                </a:effectLst>
                <a:latin typeface="楷体" panose="02010609060101010101" pitchFamily="49" charset="-122"/>
                <a:ea typeface="楷体" panose="02010609060101010101" pitchFamily="49" charset="-122"/>
              </a:rPr>
              <a:t>RI</a:t>
            </a:r>
            <a:r>
              <a:rPr kumimoji="1" lang="zh-CN" altLang="en-US" sz="3000" dirty="0">
                <a:effectLst>
                  <a:outerShdw blurRad="38100" dist="38100" dir="2700000" algn="tl">
                    <a:srgbClr val="C0C0C0"/>
                  </a:outerShdw>
                </a:effectLst>
                <a:latin typeface="楷体" panose="02010609060101010101" pitchFamily="49" charset="-122"/>
                <a:ea typeface="楷体" panose="02010609060101010101" pitchFamily="49" charset="-122"/>
              </a:rPr>
              <a:t>也不置位。</a:t>
            </a:r>
          </a:p>
        </p:txBody>
      </p:sp>
      <p:sp>
        <p:nvSpPr>
          <p:cNvPr id="110597" name="WordArt 5">
            <a:extLst>
              <a:ext uri="{FF2B5EF4-FFF2-40B4-BE49-F238E27FC236}">
                <a16:creationId xmlns:a16="http://schemas.microsoft.com/office/drawing/2014/main" id="{04F9E4CB-B745-492D-8ADF-952E6928FD97}"/>
              </a:ext>
            </a:extLst>
          </p:cNvPr>
          <p:cNvSpPr>
            <a:spLocks noChangeArrowheads="1" noChangeShapeType="1" noTextEdit="1"/>
          </p:cNvSpPr>
          <p:nvPr/>
        </p:nvSpPr>
        <p:spPr bwMode="auto">
          <a:xfrm>
            <a:off x="1042989" y="765175"/>
            <a:ext cx="3168971" cy="431577"/>
          </a:xfrm>
          <a:prstGeom prst="rect">
            <a:avLst/>
          </a:prstGeom>
          <a:extLst>
            <a:ext uri="{91240B29-F687-4F45-9708-019B960494DF}">
              <a14:hiddenLine xmlns:a14="http://schemas.microsoft.com/office/drawing/2010/main" w="19050">
                <a:solidFill>
                  <a:srgbClr val="99CCFF"/>
                </a:solidFill>
                <a:round/>
                <a:headEnd/>
                <a:tailEnd/>
              </a14:hiddenLine>
            </a:ext>
          </a:extLst>
        </p:spPr>
        <p:txBody>
          <a:bodyPr wrap="none" fromWordArt="1">
            <a:prstTxWarp prst="textPlain">
              <a:avLst>
                <a:gd name="adj" fmla="val 50000"/>
              </a:avLst>
            </a:prstTxWarp>
          </a:bodyPr>
          <a:lstStyle/>
          <a:p>
            <a:pPr algn="ctr" eaLnBrk="1" hangingPunct="1">
              <a:defRPr/>
            </a:pPr>
            <a:r>
              <a:rPr lang="zh-CN" altLang="en-US" sz="3600" kern="10" dirty="0">
                <a:solidFill>
                  <a:srgbClr val="0000FF"/>
                </a:solidFill>
                <a:effectLst>
                  <a:outerShdw dist="35921" dir="2700000" algn="ctr" rotWithShape="0">
                    <a:srgbClr val="990000"/>
                  </a:outerShdw>
                </a:effectLst>
                <a:latin typeface="楷体_GB2312"/>
              </a:rPr>
              <a:t>方式</a:t>
            </a:r>
            <a:r>
              <a:rPr lang="en-US" altLang="zh-CN" sz="3600" kern="10" dirty="0">
                <a:solidFill>
                  <a:srgbClr val="0000FF"/>
                </a:solidFill>
                <a:effectLst>
                  <a:outerShdw dist="35921" dir="2700000" algn="ctr" rotWithShape="0">
                    <a:srgbClr val="990000"/>
                  </a:outerShdw>
                </a:effectLst>
                <a:latin typeface="楷体_GB2312"/>
              </a:rPr>
              <a:t>2 </a:t>
            </a:r>
            <a:r>
              <a:rPr lang="zh-CN" altLang="en-US" sz="3600" kern="10" dirty="0">
                <a:solidFill>
                  <a:srgbClr val="0000FF"/>
                </a:solidFill>
                <a:effectLst>
                  <a:outerShdw dist="35921" dir="2700000" algn="ctr" rotWithShape="0">
                    <a:srgbClr val="990000"/>
                  </a:outerShdw>
                </a:effectLst>
                <a:latin typeface="楷体_GB2312"/>
              </a:rPr>
              <a:t>接收过程</a:t>
            </a: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0596"/>
                                        </p:tgtEl>
                                        <p:attrNameLst>
                                          <p:attrName>style.visibility</p:attrName>
                                        </p:attrNameLst>
                                      </p:cBhvr>
                                      <p:to>
                                        <p:strVal val="visible"/>
                                      </p:to>
                                    </p:set>
                                    <p:animEffect transition="in" filter="wipe(up)">
                                      <p:cBhvr>
                                        <p:cTn id="7" dur="500"/>
                                        <p:tgtEl>
                                          <p:spTgt spid="1105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6"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696913" y="406091"/>
            <a:ext cx="7772400" cy="731837"/>
          </a:xfrm>
        </p:spPr>
        <p:txBody>
          <a:bodyPr/>
          <a:lstStyle/>
          <a:p>
            <a:pPr algn="l" eaLnBrk="1" hangingPunct="1">
              <a:defRPr/>
            </a:pPr>
            <a:r>
              <a:rPr lang="zh-CN" altLang="en-US" sz="3200"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Times New Roman" panose="02020603050405020304" pitchFamily="18" charset="0"/>
              </a:rPr>
              <a:t>例 方式</a:t>
            </a:r>
            <a:r>
              <a:rPr lang="en-US" altLang="zh-CN" sz="3200"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Times New Roman" panose="02020603050405020304" pitchFamily="18" charset="0"/>
              </a:rPr>
              <a:t>2</a:t>
            </a:r>
            <a:r>
              <a:rPr lang="zh-CN" altLang="en-US" sz="3200"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Times New Roman" panose="02020603050405020304" pitchFamily="18" charset="0"/>
              </a:rPr>
              <a:t>的双机通信</a:t>
            </a:r>
          </a:p>
        </p:txBody>
      </p:sp>
      <p:sp>
        <p:nvSpPr>
          <p:cNvPr id="40963" name="Rectangle 3"/>
          <p:cNvSpPr>
            <a:spLocks noGrp="1" noChangeArrowheads="1"/>
          </p:cNvSpPr>
          <p:nvPr>
            <p:ph type="body" idx="1"/>
          </p:nvPr>
        </p:nvSpPr>
        <p:spPr bwMode="auto">
          <a:xfrm>
            <a:off x="472776" y="1124744"/>
            <a:ext cx="8229600" cy="4968552"/>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eaLnBrk="1" hangingPunct="1">
              <a:lnSpc>
                <a:spcPct val="120000"/>
              </a:lnSpc>
              <a:buClr>
                <a:srgbClr val="C00000"/>
              </a:buClr>
              <a:defRPr/>
            </a:pPr>
            <a:r>
              <a:rPr lang="zh-CN" altLang="en-US" sz="2600" b="1" dirty="0">
                <a:effectLst>
                  <a:outerShdw blurRad="38100" dist="38100" dir="2700000" algn="tl">
                    <a:srgbClr val="000000">
                      <a:alpha val="43137"/>
                    </a:srgbClr>
                  </a:outerShdw>
                </a:effectLst>
              </a:rPr>
              <a:t>已知：</a:t>
            </a:r>
            <a:r>
              <a:rPr lang="en-US" altLang="zh-CN" sz="2600" b="1" dirty="0" err="1">
                <a:effectLst>
                  <a:outerShdw blurRad="38100" dist="38100" dir="2700000" algn="tl">
                    <a:srgbClr val="000000">
                      <a:alpha val="43137"/>
                    </a:srgbClr>
                  </a:outerShdw>
                </a:effectLst>
              </a:rPr>
              <a:t>fosc</a:t>
            </a:r>
            <a:r>
              <a:rPr lang="en-US" altLang="zh-CN" sz="2600" b="1" dirty="0">
                <a:effectLst>
                  <a:outerShdw blurRad="38100" dist="38100" dir="2700000" algn="tl">
                    <a:srgbClr val="000000">
                      <a:alpha val="43137"/>
                    </a:srgbClr>
                  </a:outerShdw>
                </a:effectLst>
              </a:rPr>
              <a:t>=11.0592MHz</a:t>
            </a:r>
            <a:r>
              <a:rPr lang="zh-CN" altLang="en-US" sz="2600" b="1" dirty="0">
                <a:effectLst>
                  <a:outerShdw blurRad="38100" dist="38100" dir="2700000" algn="tl">
                    <a:srgbClr val="000000">
                      <a:alpha val="43137"/>
                    </a:srgbClr>
                  </a:outerShdw>
                </a:effectLst>
              </a:rPr>
              <a:t>，串口方式</a:t>
            </a:r>
            <a:r>
              <a:rPr lang="en-US" altLang="zh-CN" sz="2600" b="1" dirty="0">
                <a:effectLst>
                  <a:outerShdw blurRad="38100" dist="38100" dir="2700000" algn="tl">
                    <a:srgbClr val="000000">
                      <a:alpha val="43137"/>
                    </a:srgbClr>
                  </a:outerShdw>
                </a:effectLst>
              </a:rPr>
              <a:t>2</a:t>
            </a:r>
            <a:r>
              <a:rPr lang="zh-CN" altLang="en-US" sz="2600" b="1" dirty="0">
                <a:effectLst>
                  <a:outerShdw blurRad="38100" dist="38100" dir="2700000" algn="tl">
                    <a:srgbClr val="000000">
                      <a:alpha val="43137"/>
                    </a:srgbClr>
                  </a:outerShdw>
                </a:effectLst>
              </a:rPr>
              <a:t>，通信时钟波特率为</a:t>
            </a:r>
            <a:r>
              <a:rPr lang="en-US" altLang="zh-CN" sz="2600" b="1" dirty="0">
                <a:effectLst>
                  <a:outerShdw blurRad="38100" dist="38100" dir="2700000" algn="tl">
                    <a:srgbClr val="000000">
                      <a:alpha val="43137"/>
                    </a:srgbClr>
                  </a:outerShdw>
                </a:effectLst>
              </a:rPr>
              <a:t>0.3456Mbps</a:t>
            </a:r>
            <a:r>
              <a:rPr lang="zh-CN" altLang="en-US" sz="2600" b="1" dirty="0">
                <a:effectLst>
                  <a:outerShdw blurRad="38100" dist="38100" dir="2700000" algn="tl">
                    <a:srgbClr val="000000">
                      <a:alpha val="43137"/>
                    </a:srgbClr>
                  </a:outerShdw>
                </a:effectLst>
              </a:rPr>
              <a:t>。</a:t>
            </a:r>
            <a:endParaRPr lang="en-US" altLang="zh-CN" sz="2600" b="1" dirty="0">
              <a:effectLst>
                <a:outerShdw blurRad="38100" dist="38100" dir="2700000" algn="tl">
                  <a:srgbClr val="000000">
                    <a:alpha val="43137"/>
                  </a:srgbClr>
                </a:outerShdw>
              </a:effectLst>
            </a:endParaRPr>
          </a:p>
          <a:p>
            <a:pPr eaLnBrk="1" hangingPunct="1">
              <a:lnSpc>
                <a:spcPct val="120000"/>
              </a:lnSpc>
              <a:buClr>
                <a:srgbClr val="C00000"/>
              </a:buClr>
              <a:defRPr/>
            </a:pPr>
            <a:r>
              <a:rPr lang="zh-CN" altLang="en-US" sz="2600" b="1" dirty="0">
                <a:effectLst>
                  <a:outerShdw blurRad="38100" dist="38100" dir="2700000" algn="tl">
                    <a:srgbClr val="000000">
                      <a:alpha val="43137"/>
                    </a:srgbClr>
                  </a:outerShdw>
                </a:effectLst>
              </a:rPr>
              <a:t>通信中增加奇偶校验功能，即甲机在循环发送数据（</a:t>
            </a:r>
            <a:r>
              <a:rPr lang="en-US" altLang="zh-CN" sz="2600" b="1" dirty="0">
                <a:effectLst>
                  <a:outerShdw blurRad="38100" dist="38100" dir="2700000" algn="tl">
                    <a:srgbClr val="000000">
                      <a:alpha val="43137"/>
                    </a:srgbClr>
                  </a:outerShdw>
                </a:effectLst>
              </a:rPr>
              <a:t>0-9</a:t>
            </a:r>
            <a:r>
              <a:rPr lang="zh-CN" altLang="en-US" sz="2600" b="1" dirty="0">
                <a:effectLst>
                  <a:outerShdw blurRad="38100" dist="38100" dir="2700000" algn="tl">
                    <a:srgbClr val="000000">
                      <a:alpha val="43137"/>
                    </a:srgbClr>
                  </a:outerShdw>
                </a:effectLst>
              </a:rPr>
              <a:t>）的同时发送相应奇偶检验码，乙机接收后先进行奇偶校验。若结果无误，在</a:t>
            </a:r>
            <a:r>
              <a:rPr lang="zh-CN" altLang="en-US" sz="2600" b="1" dirty="0">
                <a:solidFill>
                  <a:srgbClr val="FF0000"/>
                </a:solidFill>
                <a:effectLst>
                  <a:outerShdw blurRad="38100" dist="38100" dir="2700000" algn="tl">
                    <a:srgbClr val="000000">
                      <a:alpha val="43137"/>
                    </a:srgbClr>
                  </a:outerShdw>
                </a:effectLst>
              </a:rPr>
              <a:t>向甲机返回的接收值中使可编程位清</a:t>
            </a:r>
            <a:r>
              <a:rPr lang="en-US" altLang="zh-CN" sz="2600" b="1" dirty="0">
                <a:solidFill>
                  <a:srgbClr val="FF0000"/>
                </a:solidFill>
                <a:effectLst>
                  <a:outerShdw blurRad="38100" dist="38100" dir="2700000" algn="tl">
                    <a:srgbClr val="000000">
                      <a:alpha val="43137"/>
                    </a:srgbClr>
                  </a:outerShdw>
                </a:effectLst>
              </a:rPr>
              <a:t>0</a:t>
            </a:r>
            <a:r>
              <a:rPr lang="zh-CN" altLang="en-US" sz="2600" b="1" dirty="0">
                <a:effectLst>
                  <a:outerShdw blurRad="38100" dist="38100" dir="2700000" algn="tl">
                    <a:srgbClr val="000000">
                      <a:alpha val="43137"/>
                    </a:srgbClr>
                  </a:outerShdw>
                </a:effectLst>
              </a:rPr>
              <a:t>；若结果有误，可使可编程位置</a:t>
            </a:r>
            <a:r>
              <a:rPr lang="en-US" altLang="zh-CN" sz="2600" b="1" dirty="0">
                <a:effectLst>
                  <a:outerShdw blurRad="38100" dist="38100" dir="2700000" algn="tl">
                    <a:srgbClr val="000000">
                      <a:alpha val="43137"/>
                    </a:srgbClr>
                  </a:outerShdw>
                </a:effectLst>
              </a:rPr>
              <a:t>1</a:t>
            </a:r>
            <a:r>
              <a:rPr lang="zh-CN" altLang="en-US" sz="2600" b="1" dirty="0">
                <a:effectLst>
                  <a:outerShdw blurRad="38100" dist="38100" dir="2700000" algn="tl">
                    <a:srgbClr val="000000">
                      <a:alpha val="43137"/>
                    </a:srgbClr>
                  </a:outerShdw>
                </a:effectLst>
              </a:rPr>
              <a:t>。</a:t>
            </a:r>
            <a:endParaRPr lang="en-US" altLang="zh-CN" sz="2600" b="1" dirty="0">
              <a:effectLst>
                <a:outerShdw blurRad="38100" dist="38100" dir="2700000" algn="tl">
                  <a:srgbClr val="000000">
                    <a:alpha val="43137"/>
                  </a:srgbClr>
                </a:outerShdw>
              </a:effectLst>
            </a:endParaRPr>
          </a:p>
          <a:p>
            <a:pPr eaLnBrk="1" hangingPunct="1">
              <a:lnSpc>
                <a:spcPct val="120000"/>
              </a:lnSpc>
              <a:buClr>
                <a:srgbClr val="C00000"/>
              </a:buClr>
              <a:defRPr/>
            </a:pPr>
            <a:r>
              <a:rPr lang="zh-CN" altLang="en-US" sz="2600" b="1" dirty="0">
                <a:effectLst>
                  <a:outerShdw blurRad="38100" dist="38100" dir="2700000" algn="tl">
                    <a:srgbClr val="000000">
                      <a:alpha val="43137"/>
                    </a:srgbClr>
                  </a:outerShdw>
                </a:effectLst>
              </a:rPr>
              <a:t>甲机根据返回值中的可编程位做出发送新数据或重发当前数据的抉择。甲乙两机都在各自数码管上显示当前数据。</a:t>
            </a:r>
            <a:endParaRPr lang="en-US" altLang="zh-CN" sz="2600" dirty="0">
              <a:effectLst>
                <a:outerShdw blurRad="38100" dist="38100" dir="2700000" algn="tl">
                  <a:srgbClr val="000000">
                    <a:alpha val="43137"/>
                  </a:srgbClr>
                </a:outerShdw>
              </a:effectLst>
            </a:endParaRPr>
          </a:p>
        </p:txBody>
      </p:sp>
    </p:spTree>
  </p:cSld>
  <p:clrMapOvr>
    <a:masterClrMapping/>
  </p:clrMapOvr>
  <p:transition spd="slow">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a:spLocks noChangeArrowheads="1"/>
          </p:cNvSpPr>
          <p:nvPr/>
        </p:nvSpPr>
        <p:spPr bwMode="auto">
          <a:xfrm>
            <a:off x="395536" y="548680"/>
            <a:ext cx="8229600"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indent="0" eaLnBrk="1" hangingPunct="1">
              <a:lnSpc>
                <a:spcPct val="120000"/>
              </a:lnSpc>
              <a:spcBef>
                <a:spcPct val="20000"/>
              </a:spcBef>
              <a:buClr>
                <a:schemeClr val="hlink"/>
              </a:buClr>
              <a:defRPr/>
            </a:pPr>
            <a:r>
              <a:rPr lang="zh-CN" altLang="en-US"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实现方法：</a:t>
            </a:r>
            <a:endParaRPr lang="en-US" altLang="zh-CN"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514350" indent="-514350" eaLnBrk="1" hangingPunct="1">
              <a:lnSpc>
                <a:spcPct val="120000"/>
              </a:lnSpc>
              <a:spcBef>
                <a:spcPct val="20000"/>
              </a:spcBef>
              <a:buClr>
                <a:schemeClr val="hlink"/>
              </a:buClr>
              <a:buFont typeface="+mj-ea"/>
              <a:buAutoNum type="circleNumDbPlain"/>
              <a:defRPr/>
            </a:pPr>
            <a:r>
              <a:rPr lang="zh-CN" altLang="en-US" sz="26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由</a:t>
            </a:r>
            <a:r>
              <a:rPr lang="en-US" altLang="zh-CN" sz="260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fosc</a:t>
            </a:r>
            <a:r>
              <a:rPr lang="en-US" altLang="zh-CN"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=11.0592MHz</a:t>
            </a:r>
            <a:r>
              <a:rPr lang="zh-CN" altLang="en-US"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，串口方式</a:t>
            </a:r>
            <a:r>
              <a:rPr lang="en-US" altLang="zh-CN"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a:t>
            </a:r>
            <a:r>
              <a:rPr lang="zh-CN" altLang="en-US"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，通信时钟波特率为</a:t>
            </a:r>
            <a:r>
              <a:rPr lang="en-US" altLang="zh-CN"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0.3456Mbps </a:t>
            </a:r>
            <a:r>
              <a:rPr lang="zh-CN" altLang="en-US"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。由波特率</a:t>
            </a:r>
            <a:r>
              <a:rPr lang="en-US" altLang="zh-CN"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a:t>
            </a:r>
            <a:r>
              <a:rPr lang="en-US" altLang="zh-CN" sz="2600" baseline="30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SMOD</a:t>
            </a:r>
            <a:r>
              <a:rPr lang="en-US" altLang="zh-CN"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/64) *</a:t>
            </a:r>
            <a:r>
              <a:rPr lang="en-US" altLang="zh-CN" sz="260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fosc</a:t>
            </a:r>
            <a:r>
              <a:rPr lang="zh-CN" altLang="en-US"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，可得</a:t>
            </a:r>
            <a:r>
              <a:rPr lang="en-US" altLang="zh-CN"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SMOD=1,</a:t>
            </a:r>
            <a:r>
              <a:rPr lang="zh-CN" altLang="en-US"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则 </a:t>
            </a:r>
            <a:r>
              <a:rPr lang="en-US" altLang="zh-CN"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PCON=0x80</a:t>
            </a:r>
          </a:p>
          <a:p>
            <a:pPr marL="514350" indent="-514350" eaLnBrk="1" hangingPunct="1">
              <a:lnSpc>
                <a:spcPct val="120000"/>
              </a:lnSpc>
              <a:spcBef>
                <a:spcPct val="20000"/>
              </a:spcBef>
              <a:buClr>
                <a:schemeClr val="hlink"/>
              </a:buClr>
              <a:buFont typeface="+mj-ea"/>
              <a:buAutoNum type="circleNumDbPlain"/>
              <a:defRPr/>
            </a:pPr>
            <a:r>
              <a:rPr lang="en-US" altLang="zh-CN"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SCON=0x90//10010000</a:t>
            </a:r>
          </a:p>
          <a:p>
            <a:pPr marL="514350" indent="-514350" eaLnBrk="1" hangingPunct="1">
              <a:lnSpc>
                <a:spcPct val="120000"/>
              </a:lnSpc>
              <a:spcBef>
                <a:spcPct val="20000"/>
              </a:spcBef>
              <a:buClr>
                <a:schemeClr val="hlink"/>
              </a:buClr>
              <a:buFont typeface="+mj-ea"/>
              <a:buAutoNum type="circleNumDbPlain"/>
              <a:defRPr/>
            </a:pPr>
            <a:r>
              <a:rPr lang="zh-CN" altLang="en-US"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为获得发送或接收数据的奇偶校验位，每次发送或接收数据后，要将数据存入累加器</a:t>
            </a:r>
            <a:r>
              <a:rPr lang="en-US" altLang="zh-CN"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ACC</a:t>
            </a:r>
            <a:r>
              <a:rPr lang="zh-CN" altLang="en-US"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，从而可获得奇偶标志位。发送数据的校验位通过写入</a:t>
            </a:r>
            <a:r>
              <a:rPr lang="en-US" altLang="zh-CN"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TB8</a:t>
            </a:r>
            <a:r>
              <a:rPr lang="zh-CN" altLang="en-US"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输出，接收数据的校验位从</a:t>
            </a:r>
            <a:r>
              <a:rPr lang="en-US" altLang="zh-CN"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RB8</a:t>
            </a:r>
            <a:r>
              <a:rPr lang="zh-CN" altLang="en-US"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读取。</a:t>
            </a:r>
            <a:endParaRPr lang="en-US" altLang="zh-CN"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39552" y="116632"/>
            <a:ext cx="2880320" cy="523220"/>
          </a:xfrm>
          <a:prstGeom prst="rect">
            <a:avLst/>
          </a:prstGeom>
          <a:noFill/>
        </p:spPr>
        <p:txBody>
          <a:bodyPr wrap="square" rtlCol="0">
            <a:spAutoFit/>
          </a:bodyPr>
          <a:lstStyle/>
          <a:p>
            <a:r>
              <a:rPr lang="zh-CN" altLang="en-US"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发送程序：</a:t>
            </a:r>
          </a:p>
        </p:txBody>
      </p:sp>
      <p:pic>
        <p:nvPicPr>
          <p:cNvPr id="3" name="图片 2"/>
          <p:cNvPicPr>
            <a:picLocks noChangeAspect="1"/>
          </p:cNvPicPr>
          <p:nvPr/>
        </p:nvPicPr>
        <p:blipFill>
          <a:blip r:embed="rId2"/>
          <a:stretch>
            <a:fillRect/>
          </a:stretch>
        </p:blipFill>
        <p:spPr>
          <a:xfrm>
            <a:off x="1115616" y="682943"/>
            <a:ext cx="6622354" cy="6058425"/>
          </a:xfrm>
          <a:prstGeom prst="rect">
            <a:avLst/>
          </a:prstGeom>
        </p:spPr>
      </p:pic>
    </p:spTree>
  </p:cSld>
  <p:clrMapOvr>
    <a:masterClrMapping/>
  </p:clrMapOvr>
  <p:transition spd="slow">
    <p:randomBar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39552" y="116632"/>
            <a:ext cx="2880320" cy="523220"/>
          </a:xfrm>
          <a:prstGeom prst="rect">
            <a:avLst/>
          </a:prstGeom>
          <a:noFill/>
        </p:spPr>
        <p:txBody>
          <a:bodyPr wrap="square" rtlCol="0">
            <a:spAutoFit/>
          </a:bodyPr>
          <a:lstStyle/>
          <a:p>
            <a:r>
              <a:rPr lang="zh-CN" altLang="en-US"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接收程序：</a:t>
            </a:r>
          </a:p>
        </p:txBody>
      </p:sp>
      <p:pic>
        <p:nvPicPr>
          <p:cNvPr id="3" name="图片 2"/>
          <p:cNvPicPr>
            <a:picLocks noChangeAspect="1"/>
          </p:cNvPicPr>
          <p:nvPr/>
        </p:nvPicPr>
        <p:blipFill>
          <a:blip r:embed="rId2"/>
          <a:stretch>
            <a:fillRect/>
          </a:stretch>
        </p:blipFill>
        <p:spPr>
          <a:xfrm>
            <a:off x="1259632" y="770337"/>
            <a:ext cx="6340389" cy="4602879"/>
          </a:xfrm>
          <a:prstGeom prst="rect">
            <a:avLst/>
          </a:prstGeom>
        </p:spPr>
      </p:pic>
      <p:pic>
        <p:nvPicPr>
          <p:cNvPr id="6" name="图片 5"/>
          <p:cNvPicPr>
            <a:picLocks noChangeAspect="1"/>
          </p:cNvPicPr>
          <p:nvPr/>
        </p:nvPicPr>
        <p:blipFill rotWithShape="1">
          <a:blip r:embed="rId3"/>
          <a:srcRect r="3480"/>
          <a:stretch>
            <a:fillRect/>
          </a:stretch>
        </p:blipFill>
        <p:spPr>
          <a:xfrm>
            <a:off x="1259632" y="5373216"/>
            <a:ext cx="6340389" cy="731583"/>
          </a:xfrm>
          <a:prstGeom prst="rect">
            <a:avLst/>
          </a:prstGeom>
        </p:spPr>
      </p:pic>
    </p:spTree>
  </p:cSld>
  <p:clrMapOvr>
    <a:masterClrMapping/>
  </p:clrMapOvr>
  <p:transition spd="slow">
    <p:randomBar dir="vert"/>
  </p:transition>
</p:sld>
</file>

<file path=ppt/theme/theme1.xml><?xml version="1.0" encoding="utf-8"?>
<a:theme xmlns:a="http://schemas.openxmlformats.org/drawingml/2006/main" name="CITRUS">
  <a:themeElements>
    <a:clrScheme name="CITRUS 2">
      <a:dk1>
        <a:srgbClr val="000000"/>
      </a:dk1>
      <a:lt1>
        <a:srgbClr val="FFFFFF"/>
      </a:lt1>
      <a:dk2>
        <a:srgbClr val="000000"/>
      </a:dk2>
      <a:lt2>
        <a:srgbClr val="777777"/>
      </a:lt2>
      <a:accent1>
        <a:srgbClr val="00CC00"/>
      </a:accent1>
      <a:accent2>
        <a:srgbClr val="FF822D"/>
      </a:accent2>
      <a:accent3>
        <a:srgbClr val="FFFFFF"/>
      </a:accent3>
      <a:accent4>
        <a:srgbClr val="000000"/>
      </a:accent4>
      <a:accent5>
        <a:srgbClr val="AAE2AA"/>
      </a:accent5>
      <a:accent6>
        <a:srgbClr val="E77528"/>
      </a:accent6>
      <a:hlink>
        <a:srgbClr val="FF63B1"/>
      </a:hlink>
      <a:folHlink>
        <a:srgbClr val="B2B2B2"/>
      </a:folHlink>
    </a:clrScheme>
    <a:fontScheme name="CITRUS">
      <a:majorFont>
        <a:latin typeface="Tahoma"/>
        <a:ea typeface="黑体"/>
        <a:cs typeface="Tahoma"/>
      </a:majorFont>
      <a:minorFont>
        <a:latin typeface="Tahoma"/>
        <a:ea typeface="宋体"/>
        <a:cs typeface="Taho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800" b="1"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800" b="1"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CITRUS 1">
        <a:dk1>
          <a:srgbClr val="FC6600"/>
        </a:dk1>
        <a:lt1>
          <a:srgbClr val="C6FE82"/>
        </a:lt1>
        <a:dk2>
          <a:srgbClr val="FFFFFF"/>
        </a:dk2>
        <a:lt2>
          <a:srgbClr val="000000"/>
        </a:lt2>
        <a:accent1>
          <a:srgbClr val="00CC00"/>
        </a:accent1>
        <a:accent2>
          <a:srgbClr val="FF822D"/>
        </a:accent2>
        <a:accent3>
          <a:srgbClr val="DFFEC1"/>
        </a:accent3>
        <a:accent4>
          <a:srgbClr val="D75600"/>
        </a:accent4>
        <a:accent5>
          <a:srgbClr val="AAE2AA"/>
        </a:accent5>
        <a:accent6>
          <a:srgbClr val="E77528"/>
        </a:accent6>
        <a:hlink>
          <a:srgbClr val="FF63B1"/>
        </a:hlink>
        <a:folHlink>
          <a:srgbClr val="DDDDDD"/>
        </a:folHlink>
      </a:clrScheme>
      <a:clrMap bg1="lt1" tx1="dk1" bg2="lt2" tx2="dk2" accent1="accent1" accent2="accent2" accent3="accent3" accent4="accent4" accent5="accent5" accent6="accent6" hlink="hlink" folHlink="folHlink"/>
    </a:extraClrScheme>
    <a:extraClrScheme>
      <a:clrScheme name="CITRUS 2">
        <a:dk1>
          <a:srgbClr val="000000"/>
        </a:dk1>
        <a:lt1>
          <a:srgbClr val="FFFFFF"/>
        </a:lt1>
        <a:dk2>
          <a:srgbClr val="000000"/>
        </a:dk2>
        <a:lt2>
          <a:srgbClr val="777777"/>
        </a:lt2>
        <a:accent1>
          <a:srgbClr val="00CC00"/>
        </a:accent1>
        <a:accent2>
          <a:srgbClr val="FF822D"/>
        </a:accent2>
        <a:accent3>
          <a:srgbClr val="FFFFFF"/>
        </a:accent3>
        <a:accent4>
          <a:srgbClr val="000000"/>
        </a:accent4>
        <a:accent5>
          <a:srgbClr val="AAE2AA"/>
        </a:accent5>
        <a:accent6>
          <a:srgbClr val="E77528"/>
        </a:accent6>
        <a:hlink>
          <a:srgbClr val="FF63B1"/>
        </a:hlink>
        <a:folHlink>
          <a:srgbClr val="B2B2B2"/>
        </a:folHlink>
      </a:clrScheme>
      <a:clrMap bg1="lt1" tx1="dk1" bg2="lt2" tx2="dk2" accent1="accent1" accent2="accent2" accent3="accent3" accent4="accent4" accent5="accent5" accent6="accent6" hlink="hlink" folHlink="folHlink"/>
    </a:extraClrScheme>
    <a:extraClrScheme>
      <a:clrScheme name="CITRUS 3">
        <a:dk1>
          <a:srgbClr val="000000"/>
        </a:dk1>
        <a:lt1>
          <a:srgbClr val="FFFFFF"/>
        </a:lt1>
        <a:dk2>
          <a:srgbClr val="000000"/>
        </a:dk2>
        <a:lt2>
          <a:srgbClr val="4D4D4D"/>
        </a:lt2>
        <a:accent1>
          <a:srgbClr val="C0C0C0"/>
        </a:accent1>
        <a:accent2>
          <a:srgbClr val="808080"/>
        </a:accent2>
        <a:accent3>
          <a:srgbClr val="FFFFFF"/>
        </a:accent3>
        <a:accent4>
          <a:srgbClr val="000000"/>
        </a:accent4>
        <a:accent5>
          <a:srgbClr val="DCDCDC"/>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ITRUS 4">
        <a:dk1>
          <a:srgbClr val="000000"/>
        </a:dk1>
        <a:lt1>
          <a:srgbClr val="FFFFFF"/>
        </a:lt1>
        <a:dk2>
          <a:srgbClr val="000000"/>
        </a:dk2>
        <a:lt2>
          <a:srgbClr val="777777"/>
        </a:lt2>
        <a:accent1>
          <a:srgbClr val="72CE86"/>
        </a:accent1>
        <a:accent2>
          <a:srgbClr val="F6B070"/>
        </a:accent2>
        <a:accent3>
          <a:srgbClr val="FFFFFF"/>
        </a:accent3>
        <a:accent4>
          <a:srgbClr val="000000"/>
        </a:accent4>
        <a:accent5>
          <a:srgbClr val="BCE3C3"/>
        </a:accent5>
        <a:accent6>
          <a:srgbClr val="DF9F65"/>
        </a:accent6>
        <a:hlink>
          <a:srgbClr val="EB9DC4"/>
        </a:hlink>
        <a:folHlink>
          <a:srgbClr val="B2B2B2"/>
        </a:folHlink>
      </a:clrScheme>
      <a:clrMap bg1="lt1" tx1="dk1" bg2="lt2" tx2="dk2" accent1="accent1" accent2="accent2" accent3="accent3" accent4="accent4" accent5="accent5" accent6="accent6" hlink="hlink" folHlink="folHlink"/>
    </a:extraClrScheme>
    <a:extraClrScheme>
      <a:clrScheme name="CITRUS 5">
        <a:dk1>
          <a:srgbClr val="000000"/>
        </a:dk1>
        <a:lt1>
          <a:srgbClr val="FFFFFF"/>
        </a:lt1>
        <a:dk2>
          <a:srgbClr val="000000"/>
        </a:dk2>
        <a:lt2>
          <a:srgbClr val="777777"/>
        </a:lt2>
        <a:accent1>
          <a:srgbClr val="F58F91"/>
        </a:accent1>
        <a:accent2>
          <a:srgbClr val="CE7162"/>
        </a:accent2>
        <a:accent3>
          <a:srgbClr val="FFFFFF"/>
        </a:accent3>
        <a:accent4>
          <a:srgbClr val="000000"/>
        </a:accent4>
        <a:accent5>
          <a:srgbClr val="F9C6C7"/>
        </a:accent5>
        <a:accent6>
          <a:srgbClr val="BA6658"/>
        </a:accent6>
        <a:hlink>
          <a:srgbClr val="F6CA7C"/>
        </a:hlink>
        <a:folHlink>
          <a:srgbClr val="C0C0C0"/>
        </a:folHlink>
      </a:clrScheme>
      <a:clrMap bg1="lt1" tx1="dk1" bg2="lt2" tx2="dk2" accent1="accent1" accent2="accent2" accent3="accent3" accent4="accent4" accent5="accent5" accent6="accent6" hlink="hlink" folHlink="folHlink"/>
    </a:extraClrScheme>
    <a:extraClrScheme>
      <a:clrScheme name="CITRUS 6">
        <a:dk1>
          <a:srgbClr val="000000"/>
        </a:dk1>
        <a:lt1>
          <a:srgbClr val="FFFFFF"/>
        </a:lt1>
        <a:dk2>
          <a:srgbClr val="000000"/>
        </a:dk2>
        <a:lt2>
          <a:srgbClr val="777777"/>
        </a:lt2>
        <a:accent1>
          <a:srgbClr val="FAB774"/>
        </a:accent1>
        <a:accent2>
          <a:srgbClr val="CBACD4"/>
        </a:accent2>
        <a:accent3>
          <a:srgbClr val="FFFFFF"/>
        </a:accent3>
        <a:accent4>
          <a:srgbClr val="000000"/>
        </a:accent4>
        <a:accent5>
          <a:srgbClr val="FCD8BC"/>
        </a:accent5>
        <a:accent6>
          <a:srgbClr val="B89BC0"/>
        </a:accent6>
        <a:hlink>
          <a:srgbClr val="C2EB77"/>
        </a:hlink>
        <a:folHlink>
          <a:srgbClr val="C0C0C0"/>
        </a:folHlink>
      </a:clrScheme>
      <a:clrMap bg1="lt1" tx1="dk1" bg2="lt2" tx2="dk2" accent1="accent1" accent2="accent2" accent3="accent3" accent4="accent4" accent5="accent5" accent6="accent6" hlink="hlink" folHlink="folHlink"/>
    </a:extraClrScheme>
    <a:extraClrScheme>
      <a:clrScheme name="CITRUS 7">
        <a:dk1>
          <a:srgbClr val="3B6147"/>
        </a:dk1>
        <a:lt1>
          <a:srgbClr val="CED5E8"/>
        </a:lt1>
        <a:dk2>
          <a:srgbClr val="FFFFFF"/>
        </a:dk2>
        <a:lt2>
          <a:srgbClr val="777777"/>
        </a:lt2>
        <a:accent1>
          <a:srgbClr val="FEA868"/>
        </a:accent1>
        <a:accent2>
          <a:srgbClr val="9AA8D0"/>
        </a:accent2>
        <a:accent3>
          <a:srgbClr val="E3E7F2"/>
        </a:accent3>
        <a:accent4>
          <a:srgbClr val="31523B"/>
        </a:accent4>
        <a:accent5>
          <a:srgbClr val="FED1B9"/>
        </a:accent5>
        <a:accent6>
          <a:srgbClr val="8B98BC"/>
        </a:accent6>
        <a:hlink>
          <a:srgbClr val="9CE157"/>
        </a:hlink>
        <a:folHlink>
          <a:srgbClr val="969696"/>
        </a:folHlink>
      </a:clrScheme>
      <a:clrMap bg1="lt1" tx1="dk1" bg2="lt2" tx2="dk2" accent1="accent1" accent2="accent2" accent3="accent3" accent4="accent4" accent5="accent5" accent6="accent6" hlink="hlink" folHlink="folHlink"/>
    </a:extraClrScheme>
    <a:extraClrScheme>
      <a:clrScheme name="CITRUS 8">
        <a:dk1>
          <a:srgbClr val="2C395E"/>
        </a:dk1>
        <a:lt1>
          <a:srgbClr val="8798C7"/>
        </a:lt1>
        <a:dk2>
          <a:srgbClr val="FFFFFF"/>
        </a:dk2>
        <a:lt2>
          <a:srgbClr val="000000"/>
        </a:lt2>
        <a:accent1>
          <a:srgbClr val="FEE168"/>
        </a:accent1>
        <a:accent2>
          <a:srgbClr val="BAE482"/>
        </a:accent2>
        <a:accent3>
          <a:srgbClr val="C3CAE0"/>
        </a:accent3>
        <a:accent4>
          <a:srgbClr val="242F4F"/>
        </a:accent4>
        <a:accent5>
          <a:srgbClr val="FEEEB9"/>
        </a:accent5>
        <a:accent6>
          <a:srgbClr val="A8CF75"/>
        </a:accent6>
        <a:hlink>
          <a:srgbClr val="EFAD6B"/>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3157</TotalTime>
  <Words>405</Words>
  <Application>Microsoft Office PowerPoint</Application>
  <PresentationFormat>全屏显示(4:3)</PresentationFormat>
  <Paragraphs>37</Paragraphs>
  <Slides>8</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8</vt:i4>
      </vt:variant>
    </vt:vector>
  </HeadingPairs>
  <TitlesOfParts>
    <vt:vector size="18" baseType="lpstr">
      <vt:lpstr>黑体</vt:lpstr>
      <vt:lpstr>楷体</vt:lpstr>
      <vt:lpstr>楷体_GB2312</vt:lpstr>
      <vt:lpstr>隶书</vt:lpstr>
      <vt:lpstr>宋体</vt:lpstr>
      <vt:lpstr>Arial</vt:lpstr>
      <vt:lpstr>Tahoma</vt:lpstr>
      <vt:lpstr>Times New Roman</vt:lpstr>
      <vt:lpstr>Wingdings</vt:lpstr>
      <vt:lpstr>CITRUS</vt:lpstr>
      <vt:lpstr>PowerPoint 演示文稿</vt:lpstr>
      <vt:lpstr>PowerPoint 演示文稿</vt:lpstr>
      <vt:lpstr>PowerPoint 演示文稿</vt:lpstr>
      <vt:lpstr>PowerPoint 演示文稿</vt:lpstr>
      <vt:lpstr>例 方式2的双机通信</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island</dc:creator>
  <cp:lastModifiedBy>HEBUT</cp:lastModifiedBy>
  <cp:revision>252</cp:revision>
  <dcterms:created xsi:type="dcterms:W3CDTF">2010-01-21T07:14:51Z</dcterms:created>
  <dcterms:modified xsi:type="dcterms:W3CDTF">2025-04-28T02:03:43Z</dcterms:modified>
</cp:coreProperties>
</file>