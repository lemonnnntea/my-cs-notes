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8"/>
  </p:notesMasterIdLst>
  <p:sldIdLst>
    <p:sldId id="386" r:id="rId2"/>
    <p:sldId id="388" r:id="rId3"/>
    <p:sldId id="422" r:id="rId4"/>
    <p:sldId id="389" r:id="rId5"/>
    <p:sldId id="390" r:id="rId6"/>
    <p:sldId id="392" r:id="rId7"/>
    <p:sldId id="393" r:id="rId8"/>
    <p:sldId id="394" r:id="rId9"/>
    <p:sldId id="395" r:id="rId10"/>
    <p:sldId id="396" r:id="rId11"/>
    <p:sldId id="365" r:id="rId12"/>
    <p:sldId id="352" r:id="rId13"/>
    <p:sldId id="408" r:id="rId14"/>
    <p:sldId id="358" r:id="rId15"/>
    <p:sldId id="428" r:id="rId16"/>
    <p:sldId id="359" r:id="rId17"/>
    <p:sldId id="360" r:id="rId18"/>
    <p:sldId id="361" r:id="rId19"/>
    <p:sldId id="362" r:id="rId20"/>
    <p:sldId id="363" r:id="rId21"/>
    <p:sldId id="364" r:id="rId22"/>
    <p:sldId id="423" r:id="rId23"/>
    <p:sldId id="424" r:id="rId24"/>
    <p:sldId id="425" r:id="rId25"/>
    <p:sldId id="426" r:id="rId26"/>
    <p:sldId id="427" r:id="rId27"/>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000000"/>
    <a:srgbClr val="FFCC00"/>
    <a:srgbClr val="0000FF"/>
    <a:srgbClr val="FF00FF"/>
    <a:srgbClr val="FFFF00"/>
    <a:srgbClr val="000066"/>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61" autoAdjust="0"/>
    <p:restoredTop sz="94013" autoAdjust="0"/>
  </p:normalViewPr>
  <p:slideViewPr>
    <p:cSldViewPr>
      <p:cViewPr varScale="1">
        <p:scale>
          <a:sx n="68" d="100"/>
          <a:sy n="68" d="100"/>
        </p:scale>
        <p:origin x="147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104C422-0F19-4717-A72E-41BE20A50E9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latin typeface="Times New Roman" panose="02020603050405020304" pitchFamily="18" charset="0"/>
              </a:defRPr>
            </a:lvl1pPr>
          </a:lstStyle>
          <a:p>
            <a:pPr>
              <a:defRPr/>
            </a:pPr>
            <a:endParaRPr lang="en-US" altLang="zh-CN"/>
          </a:p>
        </p:txBody>
      </p:sp>
      <p:sp>
        <p:nvSpPr>
          <p:cNvPr id="71683" name="Rectangle 3">
            <a:extLst>
              <a:ext uri="{FF2B5EF4-FFF2-40B4-BE49-F238E27FC236}">
                <a16:creationId xmlns:a16="http://schemas.microsoft.com/office/drawing/2014/main" id="{F9C90546-13B0-40D0-89DD-90AA68975E8C}"/>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latin typeface="Times New Roman" panose="02020603050405020304"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C580464A-CE7D-49EB-9674-A1A6EA429534}"/>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685" name="Rectangle 5">
            <a:extLst>
              <a:ext uri="{FF2B5EF4-FFF2-40B4-BE49-F238E27FC236}">
                <a16:creationId xmlns:a16="http://schemas.microsoft.com/office/drawing/2014/main" id="{5A7F6E68-E52C-49E7-997F-7CD7BD5C33D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1686" name="Rectangle 6">
            <a:extLst>
              <a:ext uri="{FF2B5EF4-FFF2-40B4-BE49-F238E27FC236}">
                <a16:creationId xmlns:a16="http://schemas.microsoft.com/office/drawing/2014/main" id="{FE748DA9-E2DA-4A96-92E0-5A79B4D96C0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latin typeface="Times New Roman" panose="02020603050405020304" pitchFamily="18" charset="0"/>
              </a:defRPr>
            </a:lvl1pPr>
          </a:lstStyle>
          <a:p>
            <a:pPr>
              <a:defRPr/>
            </a:pPr>
            <a:endParaRPr lang="en-US" altLang="zh-CN"/>
          </a:p>
        </p:txBody>
      </p:sp>
      <p:sp>
        <p:nvSpPr>
          <p:cNvPr id="71687" name="Rectangle 7">
            <a:extLst>
              <a:ext uri="{FF2B5EF4-FFF2-40B4-BE49-F238E27FC236}">
                <a16:creationId xmlns:a16="http://schemas.microsoft.com/office/drawing/2014/main" id="{20B80B51-7D54-4B97-AD8D-992A786F7218}"/>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atin typeface="Times New Roman" panose="02020603050405020304" pitchFamily="18" charset="0"/>
              </a:defRPr>
            </a:lvl1pPr>
          </a:lstStyle>
          <a:p>
            <a:fld id="{1BBD0EDF-D966-45DE-AE07-1E967DA1394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6C423F5-D727-4B78-A9F4-8A0718612D49}"/>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6E3F5DC0-0BB0-4BE4-97FF-81C4E41263A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F01927F7-A251-41A9-AA19-0718B6D14656}"/>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1DE36B20-12A3-439F-B523-9510CD09E6E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A4F17FEA-5CBD-4EE2-A557-2E2FAB149BE6}"/>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F697858B-E686-4ADF-A2F9-7FF433CAF6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AD5A17F-35DA-41E4-AE6C-6DC7BE85E341}"/>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14261264-5150-4E75-A554-C3925DCDF4F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A1180793-0BBC-41DC-8013-EB4E725A1745}"/>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464CC384-75DA-41BD-ADB3-D1A321925CA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8126F975-2547-4CC4-81AC-C62944DFBE10}"/>
              </a:ext>
            </a:extLst>
          </p:cNvPr>
          <p:cNvGrpSpPr>
            <a:grpSpLocks/>
          </p:cNvGrpSpPr>
          <p:nvPr/>
        </p:nvGrpSpPr>
        <p:grpSpPr bwMode="auto">
          <a:xfrm>
            <a:off x="0" y="0"/>
            <a:ext cx="9144000" cy="6856413"/>
            <a:chOff x="0" y="0"/>
            <a:chExt cx="5760" cy="4319"/>
          </a:xfrm>
        </p:grpSpPr>
        <p:sp>
          <p:nvSpPr>
            <p:cNvPr id="5" name="Freeform 3">
              <a:extLst>
                <a:ext uri="{FF2B5EF4-FFF2-40B4-BE49-F238E27FC236}">
                  <a16:creationId xmlns:a16="http://schemas.microsoft.com/office/drawing/2014/main" id="{C1703A7B-E8D6-4B60-BC04-8FA662CE561E}"/>
                </a:ext>
              </a:extLst>
            </p:cNvPr>
            <p:cNvSpPr>
              <a:spLocks/>
            </p:cNvSpPr>
            <p:nvPr/>
          </p:nvSpPr>
          <p:spPr bwMode="hidden">
            <a:xfrm>
              <a:off x="0" y="12"/>
              <a:ext cx="5758" cy="3273"/>
            </a:xfrm>
            <a:custGeom>
              <a:avLst/>
              <a:gdLst>
                <a:gd name="T0" fmla="*/ 3193 w 5740"/>
                <a:gd name="T1" fmla="*/ 1816 h 3273"/>
                <a:gd name="T2" fmla="*/ 0 w 5740"/>
                <a:gd name="T3" fmla="*/ 0 h 3273"/>
                <a:gd name="T4" fmla="*/ 0 w 5740"/>
                <a:gd name="T5" fmla="*/ 522 h 3273"/>
                <a:gd name="T6" fmla="*/ 3037 w 5740"/>
                <a:gd name="T7" fmla="*/ 1978 h 3273"/>
                <a:gd name="T8" fmla="*/ 5740 w 5740"/>
                <a:gd name="T9" fmla="*/ 3273 h 3273"/>
                <a:gd name="T10" fmla="*/ 5740 w 5740"/>
                <a:gd name="T11" fmla="*/ 3267 h 3273"/>
                <a:gd name="T12" fmla="*/ 3193 w 5740"/>
                <a:gd name="T13" fmla="*/ 1816 h 3273"/>
                <a:gd name="T14" fmla="*/ 3193 w 5740"/>
                <a:gd name="T15" fmla="*/ 1816 h 3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 name="Freeform 4">
              <a:extLst>
                <a:ext uri="{FF2B5EF4-FFF2-40B4-BE49-F238E27FC236}">
                  <a16:creationId xmlns:a16="http://schemas.microsoft.com/office/drawing/2014/main" id="{969AEEFA-5211-4D56-9E43-0FE857A3CDFC}"/>
                </a:ext>
              </a:extLst>
            </p:cNvPr>
            <p:cNvSpPr>
              <a:spLocks/>
            </p:cNvSpPr>
            <p:nvPr/>
          </p:nvSpPr>
          <p:spPr bwMode="hidden">
            <a:xfrm>
              <a:off x="149" y="0"/>
              <a:ext cx="5609" cy="3243"/>
            </a:xfrm>
            <a:custGeom>
              <a:avLst/>
              <a:gdLst>
                <a:gd name="T0" fmla="*/ 3163 w 5591"/>
                <a:gd name="T1" fmla="*/ 1714 h 3243"/>
                <a:gd name="T2" fmla="*/ 431 w 5591"/>
                <a:gd name="T3" fmla="*/ 0 h 3243"/>
                <a:gd name="T4" fmla="*/ 0 w 5591"/>
                <a:gd name="T5" fmla="*/ 0 h 3243"/>
                <a:gd name="T6" fmla="*/ 3086 w 5591"/>
                <a:gd name="T7" fmla="*/ 1786 h 3243"/>
                <a:gd name="T8" fmla="*/ 5591 w 5591"/>
                <a:gd name="T9" fmla="*/ 3243 h 3243"/>
                <a:gd name="T10" fmla="*/ 5591 w 5591"/>
                <a:gd name="T11" fmla="*/ 3237 h 3243"/>
                <a:gd name="T12" fmla="*/ 3163 w 5591"/>
                <a:gd name="T13" fmla="*/ 1714 h 3243"/>
                <a:gd name="T14" fmla="*/ 3163 w 5591"/>
                <a:gd name="T15" fmla="*/ 1714 h 32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7" name="Freeform 5">
              <a:extLst>
                <a:ext uri="{FF2B5EF4-FFF2-40B4-BE49-F238E27FC236}">
                  <a16:creationId xmlns:a16="http://schemas.microsoft.com/office/drawing/2014/main" id="{5E68F357-18D3-4F68-BCDB-5F4A8A2AB4DF}"/>
                </a:ext>
              </a:extLst>
            </p:cNvPr>
            <p:cNvSpPr>
              <a:spLocks/>
            </p:cNvSpPr>
            <p:nvPr/>
          </p:nvSpPr>
          <p:spPr bwMode="hidden">
            <a:xfrm>
              <a:off x="0" y="3433"/>
              <a:ext cx="4038" cy="191"/>
            </a:xfrm>
            <a:custGeom>
              <a:avLst/>
              <a:gdLst>
                <a:gd name="T0" fmla="*/ 0 w 4042"/>
                <a:gd name="T1" fmla="*/ 156 h 192"/>
                <a:gd name="T2" fmla="*/ 4042 w 4042"/>
                <a:gd name="T3" fmla="*/ 192 h 192"/>
                <a:gd name="T4" fmla="*/ 4042 w 4042"/>
                <a:gd name="T5" fmla="*/ 144 h 192"/>
                <a:gd name="T6" fmla="*/ 0 w 4042"/>
                <a:gd name="T7" fmla="*/ 0 h 192"/>
                <a:gd name="T8" fmla="*/ 0 w 4042"/>
                <a:gd name="T9" fmla="*/ 156 h 192"/>
                <a:gd name="T10" fmla="*/ 0 w 4042"/>
                <a:gd name="T11" fmla="*/ 156 h 192"/>
              </a:gdLst>
              <a:ahLst/>
              <a:cxnLst>
                <a:cxn ang="0">
                  <a:pos x="T0" y="T1"/>
                </a:cxn>
                <a:cxn ang="0">
                  <a:pos x="T2" y="T3"/>
                </a:cxn>
                <a:cxn ang="0">
                  <a:pos x="T4" y="T5"/>
                </a:cxn>
                <a:cxn ang="0">
                  <a:pos x="T6" y="T7"/>
                </a:cxn>
                <a:cxn ang="0">
                  <a:pos x="T8" y="T9"/>
                </a:cxn>
                <a:cxn ang="0">
                  <a:pos x="T10" y="T11"/>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8" name="Freeform 6">
              <a:extLst>
                <a:ext uri="{FF2B5EF4-FFF2-40B4-BE49-F238E27FC236}">
                  <a16:creationId xmlns:a16="http://schemas.microsoft.com/office/drawing/2014/main" id="{AF4521FE-9F52-44A1-A723-7CB3C4E5EC66}"/>
                </a:ext>
              </a:extLst>
            </p:cNvPr>
            <p:cNvSpPr>
              <a:spLocks/>
            </p:cNvSpPr>
            <p:nvPr/>
          </p:nvSpPr>
          <p:spPr bwMode="hidden">
            <a:xfrm>
              <a:off x="4038" y="3577"/>
              <a:ext cx="1720" cy="65"/>
            </a:xfrm>
            <a:custGeom>
              <a:avLst/>
              <a:gdLst>
                <a:gd name="T0" fmla="*/ 1718 w 1722"/>
                <a:gd name="T1" fmla="*/ 64 h 66"/>
                <a:gd name="T2" fmla="*/ 1718 w 1722"/>
                <a:gd name="T3" fmla="*/ 58 h 66"/>
                <a:gd name="T4" fmla="*/ 0 w 1722"/>
                <a:gd name="T5" fmla="*/ 0 h 66"/>
                <a:gd name="T6" fmla="*/ 0 w 1722"/>
                <a:gd name="T7" fmla="*/ 46 h 66"/>
                <a:gd name="T8" fmla="*/ 1718 w 1722"/>
                <a:gd name="T9" fmla="*/ 64 h 66"/>
                <a:gd name="T10" fmla="*/ 1718 w 1722"/>
                <a:gd name="T11" fmla="*/ 64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7">
              <a:extLst>
                <a:ext uri="{FF2B5EF4-FFF2-40B4-BE49-F238E27FC236}">
                  <a16:creationId xmlns:a16="http://schemas.microsoft.com/office/drawing/2014/main" id="{D6F29CD8-8498-45A9-82EB-8C12EEE21C7D}"/>
                </a:ext>
              </a:extLst>
            </p:cNvPr>
            <p:cNvSpPr>
              <a:spLocks/>
            </p:cNvSpPr>
            <p:nvPr/>
          </p:nvSpPr>
          <p:spPr bwMode="hidden">
            <a:xfrm>
              <a:off x="0" y="3726"/>
              <a:ext cx="4784" cy="329"/>
            </a:xfrm>
            <a:custGeom>
              <a:avLst/>
              <a:gdLst>
                <a:gd name="T0" fmla="*/ 0 w 4789"/>
                <a:gd name="T1" fmla="*/ 329 h 329"/>
                <a:gd name="T2" fmla="*/ 4789 w 4789"/>
                <a:gd name="T3" fmla="*/ 77 h 329"/>
                <a:gd name="T4" fmla="*/ 4789 w 4789"/>
                <a:gd name="T5" fmla="*/ 0 h 329"/>
                <a:gd name="T6" fmla="*/ 0 w 4789"/>
                <a:gd name="T7" fmla="*/ 107 h 329"/>
                <a:gd name="T8" fmla="*/ 0 w 4789"/>
                <a:gd name="T9" fmla="*/ 329 h 329"/>
                <a:gd name="T10" fmla="*/ 0 w 4789"/>
                <a:gd name="T11" fmla="*/ 329 h 329"/>
              </a:gdLst>
              <a:ahLst/>
              <a:cxnLst>
                <a:cxn ang="0">
                  <a:pos x="T0" y="T1"/>
                </a:cxn>
                <a:cxn ang="0">
                  <a:pos x="T2" y="T3"/>
                </a:cxn>
                <a:cxn ang="0">
                  <a:pos x="T4" y="T5"/>
                </a:cxn>
                <a:cxn ang="0">
                  <a:pos x="T6" y="T7"/>
                </a:cxn>
                <a:cxn ang="0">
                  <a:pos x="T8" y="T9"/>
                </a:cxn>
                <a:cxn ang="0">
                  <a:pos x="T10" y="T11"/>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endParaRPr lang="zh-CN" altLang="en-US"/>
            </a:p>
          </p:txBody>
        </p:sp>
        <p:sp>
          <p:nvSpPr>
            <p:cNvPr id="10" name="Freeform 8">
              <a:extLst>
                <a:ext uri="{FF2B5EF4-FFF2-40B4-BE49-F238E27FC236}">
                  <a16:creationId xmlns:a16="http://schemas.microsoft.com/office/drawing/2014/main" id="{32D126F4-A6BD-4F34-93F4-276601845308}"/>
                </a:ext>
              </a:extLst>
            </p:cNvPr>
            <p:cNvSpPr>
              <a:spLocks/>
            </p:cNvSpPr>
            <p:nvPr/>
          </p:nvSpPr>
          <p:spPr bwMode="hidden">
            <a:xfrm>
              <a:off x="4784" y="3702"/>
              <a:ext cx="974" cy="101"/>
            </a:xfrm>
            <a:custGeom>
              <a:avLst/>
              <a:gdLst>
                <a:gd name="T0" fmla="*/ 973 w 975"/>
                <a:gd name="T1" fmla="*/ 48 h 101"/>
                <a:gd name="T2" fmla="*/ 973 w 975"/>
                <a:gd name="T3" fmla="*/ 0 h 101"/>
                <a:gd name="T4" fmla="*/ 0 w 975"/>
                <a:gd name="T5" fmla="*/ 24 h 101"/>
                <a:gd name="T6" fmla="*/ 0 w 975"/>
                <a:gd name="T7" fmla="*/ 101 h 101"/>
                <a:gd name="T8" fmla="*/ 973 w 975"/>
                <a:gd name="T9" fmla="*/ 48 h 101"/>
                <a:gd name="T10" fmla="*/ 973 w 975"/>
                <a:gd name="T11" fmla="*/ 48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5" h="101">
                  <a:moveTo>
                    <a:pt x="975" y="48"/>
                  </a:moveTo>
                  <a:lnTo>
                    <a:pt x="975" y="0"/>
                  </a:lnTo>
                  <a:lnTo>
                    <a:pt x="0" y="24"/>
                  </a:lnTo>
                  <a:lnTo>
                    <a:pt x="0" y="101"/>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9">
              <a:extLst>
                <a:ext uri="{FF2B5EF4-FFF2-40B4-BE49-F238E27FC236}">
                  <a16:creationId xmlns:a16="http://schemas.microsoft.com/office/drawing/2014/main" id="{8C234808-29CF-4448-A999-A606628711D2}"/>
                </a:ext>
              </a:extLst>
            </p:cNvPr>
            <p:cNvSpPr>
              <a:spLocks/>
            </p:cNvSpPr>
            <p:nvPr/>
          </p:nvSpPr>
          <p:spPr bwMode="hidden">
            <a:xfrm>
              <a:off x="3619" y="3815"/>
              <a:ext cx="2139" cy="198"/>
            </a:xfrm>
            <a:custGeom>
              <a:avLst/>
              <a:gdLst>
                <a:gd name="T0" fmla="*/ 2137 w 2141"/>
                <a:gd name="T1" fmla="*/ 0 h 198"/>
                <a:gd name="T2" fmla="*/ 0 w 2141"/>
                <a:gd name="T3" fmla="*/ 156 h 198"/>
                <a:gd name="T4" fmla="*/ 0 w 2141"/>
                <a:gd name="T5" fmla="*/ 198 h 198"/>
                <a:gd name="T6" fmla="*/ 2137 w 2141"/>
                <a:gd name="T7" fmla="*/ 0 h 198"/>
                <a:gd name="T8" fmla="*/ 2137 w 2141"/>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1" h="198">
                  <a:moveTo>
                    <a:pt x="2141" y="0"/>
                  </a:moveTo>
                  <a:lnTo>
                    <a:pt x="0" y="156"/>
                  </a:lnTo>
                  <a:lnTo>
                    <a:pt x="0" y="198"/>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
              <a:extLst>
                <a:ext uri="{FF2B5EF4-FFF2-40B4-BE49-F238E27FC236}">
                  <a16:creationId xmlns:a16="http://schemas.microsoft.com/office/drawing/2014/main" id="{97749873-8ED8-4925-8490-0CA700D8D3FE}"/>
                </a:ext>
              </a:extLst>
            </p:cNvPr>
            <p:cNvSpPr>
              <a:spLocks/>
            </p:cNvSpPr>
            <p:nvPr/>
          </p:nvSpPr>
          <p:spPr bwMode="hidden">
            <a:xfrm>
              <a:off x="0" y="3971"/>
              <a:ext cx="3619" cy="348"/>
            </a:xfrm>
            <a:custGeom>
              <a:avLst/>
              <a:gdLst>
                <a:gd name="T0" fmla="*/ 0 w 3623"/>
                <a:gd name="T1" fmla="*/ 348 h 348"/>
                <a:gd name="T2" fmla="*/ 311 w 3623"/>
                <a:gd name="T3" fmla="*/ 348 h 348"/>
                <a:gd name="T4" fmla="*/ 3623 w 3623"/>
                <a:gd name="T5" fmla="*/ 42 h 348"/>
                <a:gd name="T6" fmla="*/ 3623 w 3623"/>
                <a:gd name="T7" fmla="*/ 0 h 348"/>
                <a:gd name="T8" fmla="*/ 0 w 3623"/>
                <a:gd name="T9" fmla="*/ 264 h 348"/>
                <a:gd name="T10" fmla="*/ 0 w 3623"/>
                <a:gd name="T11" fmla="*/ 348 h 348"/>
                <a:gd name="T12" fmla="*/ 0 w 3623"/>
                <a:gd name="T13" fmla="*/ 348 h 348"/>
              </a:gdLst>
              <a:ahLst/>
              <a:cxnLst>
                <a:cxn ang="0">
                  <a:pos x="T0" y="T1"/>
                </a:cxn>
                <a:cxn ang="0">
                  <a:pos x="T2" y="T3"/>
                </a:cxn>
                <a:cxn ang="0">
                  <a:pos x="T4" y="T5"/>
                </a:cxn>
                <a:cxn ang="0">
                  <a:pos x="T6" y="T7"/>
                </a:cxn>
                <a:cxn ang="0">
                  <a:pos x="T8" y="T9"/>
                </a:cxn>
                <a:cxn ang="0">
                  <a:pos x="T10" y="T11"/>
                </a:cxn>
                <a:cxn ang="0">
                  <a:pos x="T12" y="T13"/>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3" name="Freeform 11">
              <a:extLst>
                <a:ext uri="{FF2B5EF4-FFF2-40B4-BE49-F238E27FC236}">
                  <a16:creationId xmlns:a16="http://schemas.microsoft.com/office/drawing/2014/main" id="{F29CD0F9-76E2-4758-8C23-A12688936875}"/>
                </a:ext>
              </a:extLst>
            </p:cNvPr>
            <p:cNvSpPr>
              <a:spLocks/>
            </p:cNvSpPr>
            <p:nvPr/>
          </p:nvSpPr>
          <p:spPr bwMode="hidden">
            <a:xfrm>
              <a:off x="2097" y="4043"/>
              <a:ext cx="2514" cy="276"/>
            </a:xfrm>
            <a:custGeom>
              <a:avLst/>
              <a:gdLst>
                <a:gd name="T0" fmla="*/ 2176 w 2517"/>
                <a:gd name="T1" fmla="*/ 276 h 276"/>
                <a:gd name="T2" fmla="*/ 2511 w 2517"/>
                <a:gd name="T3" fmla="*/ 204 h 276"/>
                <a:gd name="T4" fmla="*/ 2254 w 2517"/>
                <a:gd name="T5" fmla="*/ 0 h 276"/>
                <a:gd name="T6" fmla="*/ 0 w 2517"/>
                <a:gd name="T7" fmla="*/ 276 h 276"/>
                <a:gd name="T8" fmla="*/ 2176 w 2517"/>
                <a:gd name="T9" fmla="*/ 276 h 276"/>
                <a:gd name="T10" fmla="*/ 2176 w 2517"/>
                <a:gd name="T11" fmla="*/ 276 h 2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7" h="276">
                  <a:moveTo>
                    <a:pt x="2182" y="276"/>
                  </a:moveTo>
                  <a:lnTo>
                    <a:pt x="2517" y="204"/>
                  </a:lnTo>
                  <a:lnTo>
                    <a:pt x="2260" y="0"/>
                  </a:lnTo>
                  <a:lnTo>
                    <a:pt x="0"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2">
              <a:extLst>
                <a:ext uri="{FF2B5EF4-FFF2-40B4-BE49-F238E27FC236}">
                  <a16:creationId xmlns:a16="http://schemas.microsoft.com/office/drawing/2014/main" id="{79AA033A-AD8D-4FD8-800E-642FEDCDCF68}"/>
                </a:ext>
              </a:extLst>
            </p:cNvPr>
            <p:cNvSpPr>
              <a:spLocks/>
            </p:cNvSpPr>
            <p:nvPr/>
          </p:nvSpPr>
          <p:spPr bwMode="hidden">
            <a:xfrm>
              <a:off x="4354" y="3869"/>
              <a:ext cx="1404" cy="378"/>
            </a:xfrm>
            <a:custGeom>
              <a:avLst/>
              <a:gdLst>
                <a:gd name="T0" fmla="*/ 1405 w 1405"/>
                <a:gd name="T1" fmla="*/ 126 h 378"/>
                <a:gd name="T2" fmla="*/ 1405 w 1405"/>
                <a:gd name="T3" fmla="*/ 0 h 378"/>
                <a:gd name="T4" fmla="*/ 0 w 1405"/>
                <a:gd name="T5" fmla="*/ 174 h 378"/>
                <a:gd name="T6" fmla="*/ 257 w 1405"/>
                <a:gd name="T7" fmla="*/ 378 h 378"/>
                <a:gd name="T8" fmla="*/ 1405 w 1405"/>
                <a:gd name="T9" fmla="*/ 126 h 378"/>
                <a:gd name="T10" fmla="*/ 1405 w 1405"/>
                <a:gd name="T11" fmla="*/ 126 h 378"/>
              </a:gdLst>
              <a:ahLst/>
              <a:cxnLst>
                <a:cxn ang="0">
                  <a:pos x="T0" y="T1"/>
                </a:cxn>
                <a:cxn ang="0">
                  <a:pos x="T2" y="T3"/>
                </a:cxn>
                <a:cxn ang="0">
                  <a:pos x="T4" y="T5"/>
                </a:cxn>
                <a:cxn ang="0">
                  <a:pos x="T6" y="T7"/>
                </a:cxn>
                <a:cxn ang="0">
                  <a:pos x="T8" y="T9"/>
                </a:cxn>
                <a:cxn ang="0">
                  <a:pos x="T10" y="T11"/>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5" name="Freeform 13">
              <a:extLst>
                <a:ext uri="{FF2B5EF4-FFF2-40B4-BE49-F238E27FC236}">
                  <a16:creationId xmlns:a16="http://schemas.microsoft.com/office/drawing/2014/main" id="{2B6DA5F3-E117-450B-A64D-BEEC94D6AF68}"/>
                </a:ext>
              </a:extLst>
            </p:cNvPr>
            <p:cNvSpPr>
              <a:spLocks/>
            </p:cNvSpPr>
            <p:nvPr/>
          </p:nvSpPr>
          <p:spPr bwMode="hidden">
            <a:xfrm>
              <a:off x="5030" y="3151"/>
              <a:ext cx="728" cy="240"/>
            </a:xfrm>
            <a:custGeom>
              <a:avLst/>
              <a:gdLst>
                <a:gd name="T0" fmla="*/ 727 w 729"/>
                <a:gd name="T1" fmla="*/ 240 h 240"/>
                <a:gd name="T2" fmla="*/ 0 w 729"/>
                <a:gd name="T3" fmla="*/ 0 h 240"/>
                <a:gd name="T4" fmla="*/ 0 w 729"/>
                <a:gd name="T5" fmla="*/ 6 h 240"/>
                <a:gd name="T6" fmla="*/ 727 w 729"/>
                <a:gd name="T7" fmla="*/ 240 h 240"/>
                <a:gd name="T8" fmla="*/ 727 w 729"/>
                <a:gd name="T9" fmla="*/ 24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240">
                  <a:moveTo>
                    <a:pt x="729" y="240"/>
                  </a:moveTo>
                  <a:lnTo>
                    <a:pt x="0" y="0"/>
                  </a:lnTo>
                  <a:lnTo>
                    <a:pt x="0" y="6"/>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4">
              <a:extLst>
                <a:ext uri="{FF2B5EF4-FFF2-40B4-BE49-F238E27FC236}">
                  <a16:creationId xmlns:a16="http://schemas.microsoft.com/office/drawing/2014/main" id="{5F392ECC-95EB-4E52-8ABF-22A81502F2EB}"/>
                </a:ext>
              </a:extLst>
            </p:cNvPr>
            <p:cNvSpPr>
              <a:spLocks/>
            </p:cNvSpPr>
            <p:nvPr/>
          </p:nvSpPr>
          <p:spPr bwMode="hidden">
            <a:xfrm>
              <a:off x="0" y="1486"/>
              <a:ext cx="5030" cy="1671"/>
            </a:xfrm>
            <a:custGeom>
              <a:avLst/>
              <a:gdLst>
                <a:gd name="T0" fmla="*/ 0 w 5035"/>
                <a:gd name="T1" fmla="*/ 72 h 1672"/>
                <a:gd name="T2" fmla="*/ 5035 w 5035"/>
                <a:gd name="T3" fmla="*/ 1672 h 1672"/>
                <a:gd name="T4" fmla="*/ 5035 w 5035"/>
                <a:gd name="T5" fmla="*/ 1666 h 1672"/>
                <a:gd name="T6" fmla="*/ 0 w 5035"/>
                <a:gd name="T7" fmla="*/ 0 h 1672"/>
                <a:gd name="T8" fmla="*/ 0 w 5035"/>
                <a:gd name="T9" fmla="*/ 72 h 1672"/>
                <a:gd name="T10" fmla="*/ 0 w 5035"/>
                <a:gd name="T11" fmla="*/ 72 h 1672"/>
              </a:gdLst>
              <a:ahLst/>
              <a:cxnLst>
                <a:cxn ang="0">
                  <a:pos x="T0" y="T1"/>
                </a:cxn>
                <a:cxn ang="0">
                  <a:pos x="T2" y="T3"/>
                </a:cxn>
                <a:cxn ang="0">
                  <a:pos x="T4" y="T5"/>
                </a:cxn>
                <a:cxn ang="0">
                  <a:pos x="T6" y="T7"/>
                </a:cxn>
                <a:cxn ang="0">
                  <a:pos x="T8" y="T9"/>
                </a:cxn>
                <a:cxn ang="0">
                  <a:pos x="T10" y="T11"/>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7" name="Freeform 15">
              <a:extLst>
                <a:ext uri="{FF2B5EF4-FFF2-40B4-BE49-F238E27FC236}">
                  <a16:creationId xmlns:a16="http://schemas.microsoft.com/office/drawing/2014/main" id="{5E4A90AE-3C9C-4BFD-B8F9-29BEE85DE289}"/>
                </a:ext>
              </a:extLst>
            </p:cNvPr>
            <p:cNvSpPr>
              <a:spLocks/>
            </p:cNvSpPr>
            <p:nvPr/>
          </p:nvSpPr>
          <p:spPr bwMode="hidden">
            <a:xfrm>
              <a:off x="5030" y="3049"/>
              <a:ext cx="728" cy="318"/>
            </a:xfrm>
            <a:custGeom>
              <a:avLst/>
              <a:gdLst>
                <a:gd name="T0" fmla="*/ 727 w 729"/>
                <a:gd name="T1" fmla="*/ 318 h 318"/>
                <a:gd name="T2" fmla="*/ 727 w 729"/>
                <a:gd name="T3" fmla="*/ 312 h 318"/>
                <a:gd name="T4" fmla="*/ 0 w 729"/>
                <a:gd name="T5" fmla="*/ 0 h 318"/>
                <a:gd name="T6" fmla="*/ 0 w 729"/>
                <a:gd name="T7" fmla="*/ 54 h 318"/>
                <a:gd name="T8" fmla="*/ 727 w 729"/>
                <a:gd name="T9" fmla="*/ 318 h 318"/>
                <a:gd name="T10" fmla="*/ 727 w 729"/>
                <a:gd name="T11" fmla="*/ 318 h 3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6">
              <a:extLst>
                <a:ext uri="{FF2B5EF4-FFF2-40B4-BE49-F238E27FC236}">
                  <a16:creationId xmlns:a16="http://schemas.microsoft.com/office/drawing/2014/main" id="{E2191B92-986C-4E36-900F-C072C5B4F9B7}"/>
                </a:ext>
              </a:extLst>
            </p:cNvPr>
            <p:cNvSpPr>
              <a:spLocks/>
            </p:cNvSpPr>
            <p:nvPr/>
          </p:nvSpPr>
          <p:spPr bwMode="hidden">
            <a:xfrm>
              <a:off x="0" y="916"/>
              <a:ext cx="5030" cy="2187"/>
            </a:xfrm>
            <a:custGeom>
              <a:avLst/>
              <a:gdLst>
                <a:gd name="T0" fmla="*/ 0 w 5035"/>
                <a:gd name="T1" fmla="*/ 396 h 2188"/>
                <a:gd name="T2" fmla="*/ 5035 w 5035"/>
                <a:gd name="T3" fmla="*/ 2188 h 2188"/>
                <a:gd name="T4" fmla="*/ 5035 w 5035"/>
                <a:gd name="T5" fmla="*/ 2134 h 2188"/>
                <a:gd name="T6" fmla="*/ 0 w 5035"/>
                <a:gd name="T7" fmla="*/ 0 h 2188"/>
                <a:gd name="T8" fmla="*/ 0 w 5035"/>
                <a:gd name="T9" fmla="*/ 396 h 2188"/>
                <a:gd name="T10" fmla="*/ 0 w 5035"/>
                <a:gd name="T11" fmla="*/ 396 h 2188"/>
              </a:gdLst>
              <a:ahLst/>
              <a:cxnLst>
                <a:cxn ang="0">
                  <a:pos x="T0" y="T1"/>
                </a:cxn>
                <a:cxn ang="0">
                  <a:pos x="T2" y="T3"/>
                </a:cxn>
                <a:cxn ang="0">
                  <a:pos x="T4" y="T5"/>
                </a:cxn>
                <a:cxn ang="0">
                  <a:pos x="T6" y="T7"/>
                </a:cxn>
                <a:cxn ang="0">
                  <a:pos x="T8" y="T9"/>
                </a:cxn>
                <a:cxn ang="0">
                  <a:pos x="T10" y="T11"/>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9" name="Freeform 17">
              <a:extLst>
                <a:ext uri="{FF2B5EF4-FFF2-40B4-BE49-F238E27FC236}">
                  <a16:creationId xmlns:a16="http://schemas.microsoft.com/office/drawing/2014/main" id="{AF6A501B-CA2D-4955-9A91-4FA0653499E1}"/>
                </a:ext>
              </a:extLst>
            </p:cNvPr>
            <p:cNvSpPr>
              <a:spLocks/>
            </p:cNvSpPr>
            <p:nvPr/>
          </p:nvSpPr>
          <p:spPr bwMode="hidden">
            <a:xfrm>
              <a:off x="2294" y="0"/>
              <a:ext cx="3159" cy="2725"/>
            </a:xfrm>
            <a:custGeom>
              <a:avLst/>
              <a:gdLst>
                <a:gd name="T0" fmla="*/ 0 w 3163"/>
                <a:gd name="T1" fmla="*/ 0 h 2727"/>
                <a:gd name="T2" fmla="*/ 3145 w 3163"/>
                <a:gd name="T3" fmla="*/ 2727 h 2727"/>
                <a:gd name="T4" fmla="*/ 3163 w 3163"/>
                <a:gd name="T5" fmla="*/ 2704 h 2727"/>
                <a:gd name="T6" fmla="*/ 102 w 3163"/>
                <a:gd name="T7" fmla="*/ 0 h 2727"/>
                <a:gd name="T8" fmla="*/ 0 w 3163"/>
                <a:gd name="T9" fmla="*/ 0 h 2727"/>
                <a:gd name="T10" fmla="*/ 0 w 3163"/>
                <a:gd name="T11" fmla="*/ 0 h 2727"/>
              </a:gdLst>
              <a:ahLst/>
              <a:cxnLst>
                <a:cxn ang="0">
                  <a:pos x="T0" y="T1"/>
                </a:cxn>
                <a:cxn ang="0">
                  <a:pos x="T2" y="T3"/>
                </a:cxn>
                <a:cxn ang="0">
                  <a:pos x="T4" y="T5"/>
                </a:cxn>
                <a:cxn ang="0">
                  <a:pos x="T6" y="T7"/>
                </a:cxn>
                <a:cxn ang="0">
                  <a:pos x="T8" y="T9"/>
                </a:cxn>
                <a:cxn ang="0">
                  <a:pos x="T10" y="T11"/>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20" name="Freeform 18">
              <a:extLst>
                <a:ext uri="{FF2B5EF4-FFF2-40B4-BE49-F238E27FC236}">
                  <a16:creationId xmlns:a16="http://schemas.microsoft.com/office/drawing/2014/main" id="{A7429EB8-8319-4914-879F-F6B25B481615}"/>
                </a:ext>
              </a:extLst>
            </p:cNvPr>
            <p:cNvSpPr>
              <a:spLocks/>
            </p:cNvSpPr>
            <p:nvPr/>
          </p:nvSpPr>
          <p:spPr bwMode="hidden">
            <a:xfrm>
              <a:off x="5435" y="2702"/>
              <a:ext cx="323" cy="299"/>
            </a:xfrm>
            <a:custGeom>
              <a:avLst/>
              <a:gdLst>
                <a:gd name="T0" fmla="*/ 323 w 323"/>
                <a:gd name="T1" fmla="*/ 299 h 299"/>
                <a:gd name="T2" fmla="*/ 323 w 323"/>
                <a:gd name="T3" fmla="*/ 263 h 299"/>
                <a:gd name="T4" fmla="*/ 18 w 323"/>
                <a:gd name="T5" fmla="*/ 0 h 299"/>
                <a:gd name="T6" fmla="*/ 0 w 323"/>
                <a:gd name="T7" fmla="*/ 23 h 299"/>
                <a:gd name="T8" fmla="*/ 323 w 323"/>
                <a:gd name="T9" fmla="*/ 299 h 299"/>
                <a:gd name="T10" fmla="*/ 323 w 323"/>
                <a:gd name="T11" fmla="*/ 299 h 299"/>
              </a:gdLst>
              <a:ahLst/>
              <a:cxnLst>
                <a:cxn ang="0">
                  <a:pos x="T0" y="T1"/>
                </a:cxn>
                <a:cxn ang="0">
                  <a:pos x="T2" y="T3"/>
                </a:cxn>
                <a:cxn ang="0">
                  <a:pos x="T4" y="T5"/>
                </a:cxn>
                <a:cxn ang="0">
                  <a:pos x="T6" y="T7"/>
                </a:cxn>
                <a:cxn ang="0">
                  <a:pos x="T8" y="T9"/>
                </a:cxn>
                <a:cxn ang="0">
                  <a:pos x="T10" y="T11"/>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21" name="Freeform 19">
              <a:extLst>
                <a:ext uri="{FF2B5EF4-FFF2-40B4-BE49-F238E27FC236}">
                  <a16:creationId xmlns:a16="http://schemas.microsoft.com/office/drawing/2014/main" id="{408A52DF-01BF-47D6-804D-D94BDA51C842}"/>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335">
                  <a:moveTo>
                    <a:pt x="281" y="335"/>
                  </a:moveTo>
                  <a:lnTo>
                    <a:pt x="281" y="173"/>
                  </a:lnTo>
                  <a:lnTo>
                    <a:pt x="96" y="0"/>
                  </a:lnTo>
                  <a:lnTo>
                    <a:pt x="0" y="90"/>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20">
              <a:extLst>
                <a:ext uri="{FF2B5EF4-FFF2-40B4-BE49-F238E27FC236}">
                  <a16:creationId xmlns:a16="http://schemas.microsoft.com/office/drawing/2014/main" id="{BAE1A8D9-FE1C-409C-9F4B-7BCC19E7981C}"/>
                </a:ext>
              </a:extLst>
            </p:cNvPr>
            <p:cNvSpPr>
              <a:spLocks/>
            </p:cNvSpPr>
            <p:nvPr/>
          </p:nvSpPr>
          <p:spPr bwMode="hidden">
            <a:xfrm>
              <a:off x="2454" y="0"/>
              <a:ext cx="3119" cy="2678"/>
            </a:xfrm>
            <a:custGeom>
              <a:avLst/>
              <a:gdLst>
                <a:gd name="T0" fmla="*/ 0 w 3122"/>
                <a:gd name="T1" fmla="*/ 0 h 2680"/>
                <a:gd name="T2" fmla="*/ 3026 w 3122"/>
                <a:gd name="T3" fmla="*/ 2680 h 2680"/>
                <a:gd name="T4" fmla="*/ 3122 w 3122"/>
                <a:gd name="T5" fmla="*/ 2590 h 2680"/>
                <a:gd name="T6" fmla="*/ 383 w 3122"/>
                <a:gd name="T7" fmla="*/ 0 h 2680"/>
                <a:gd name="T8" fmla="*/ 0 w 3122"/>
                <a:gd name="T9" fmla="*/ 0 h 2680"/>
                <a:gd name="T10" fmla="*/ 0 w 3122"/>
                <a:gd name="T11" fmla="*/ 0 h 2680"/>
              </a:gdLst>
              <a:ahLst/>
              <a:cxnLst>
                <a:cxn ang="0">
                  <a:pos x="T0" y="T1"/>
                </a:cxn>
                <a:cxn ang="0">
                  <a:pos x="T2" y="T3"/>
                </a:cxn>
                <a:cxn ang="0">
                  <a:pos x="T4" y="T5"/>
                </a:cxn>
                <a:cxn ang="0">
                  <a:pos x="T6" y="T7"/>
                </a:cxn>
                <a:cxn ang="0">
                  <a:pos x="T8" y="T9"/>
                </a:cxn>
                <a:cxn ang="0">
                  <a:pos x="T10" y="T11"/>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23" name="Freeform 21">
              <a:extLst>
                <a:ext uri="{FF2B5EF4-FFF2-40B4-BE49-F238E27FC236}">
                  <a16:creationId xmlns:a16="http://schemas.microsoft.com/office/drawing/2014/main" id="{16E380EC-3C8A-4AF6-8A39-B32F652A44FF}"/>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2">
                  <a:moveTo>
                    <a:pt x="132" y="132"/>
                  </a:moveTo>
                  <a:lnTo>
                    <a:pt x="0" y="0"/>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2">
              <a:extLst>
                <a:ext uri="{FF2B5EF4-FFF2-40B4-BE49-F238E27FC236}">
                  <a16:creationId xmlns:a16="http://schemas.microsoft.com/office/drawing/2014/main" id="{6CFDE5E8-8F9C-423F-BA3F-C9D389B4EB20}"/>
                </a:ext>
              </a:extLst>
            </p:cNvPr>
            <p:cNvSpPr>
              <a:spLocks/>
            </p:cNvSpPr>
            <p:nvPr/>
          </p:nvSpPr>
          <p:spPr bwMode="hidden">
            <a:xfrm>
              <a:off x="3112" y="0"/>
              <a:ext cx="2514" cy="2534"/>
            </a:xfrm>
            <a:custGeom>
              <a:avLst/>
              <a:gdLst>
                <a:gd name="T0" fmla="*/ 0 w 2517"/>
                <a:gd name="T1" fmla="*/ 0 h 2536"/>
                <a:gd name="T2" fmla="*/ 2517 w 2517"/>
                <a:gd name="T3" fmla="*/ 2536 h 2536"/>
                <a:gd name="T4" fmla="*/ 2517 w 2517"/>
                <a:gd name="T5" fmla="*/ 2536 h 2536"/>
                <a:gd name="T6" fmla="*/ 66 w 2517"/>
                <a:gd name="T7" fmla="*/ 0 h 2536"/>
                <a:gd name="T8" fmla="*/ 0 w 2517"/>
                <a:gd name="T9" fmla="*/ 0 h 2536"/>
                <a:gd name="T10" fmla="*/ 0 w 2517"/>
                <a:gd name="T11" fmla="*/ 0 h 2536"/>
              </a:gdLst>
              <a:ahLst/>
              <a:cxnLst>
                <a:cxn ang="0">
                  <a:pos x="T0" y="T1"/>
                </a:cxn>
                <a:cxn ang="0">
                  <a:pos x="T2" y="T3"/>
                </a:cxn>
                <a:cxn ang="0">
                  <a:pos x="T4" y="T5"/>
                </a:cxn>
                <a:cxn ang="0">
                  <a:pos x="T6" y="T7"/>
                </a:cxn>
                <a:cxn ang="0">
                  <a:pos x="T8" y="T9"/>
                </a:cxn>
                <a:cxn ang="0">
                  <a:pos x="T10" y="T11"/>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25" name="Freeform 23">
              <a:extLst>
                <a:ext uri="{FF2B5EF4-FFF2-40B4-BE49-F238E27FC236}">
                  <a16:creationId xmlns:a16="http://schemas.microsoft.com/office/drawing/2014/main" id="{9C1C253A-3FF7-4E1E-9C66-F27CE05EB44B}"/>
                </a:ext>
              </a:extLst>
            </p:cNvPr>
            <p:cNvSpPr>
              <a:spLocks/>
            </p:cNvSpPr>
            <p:nvPr/>
          </p:nvSpPr>
          <p:spPr bwMode="hidden">
            <a:xfrm>
              <a:off x="3488" y="0"/>
              <a:ext cx="2198" cy="2480"/>
            </a:xfrm>
            <a:custGeom>
              <a:avLst/>
              <a:gdLst>
                <a:gd name="T0" fmla="*/ 0 w 2200"/>
                <a:gd name="T1" fmla="*/ 0 h 2482"/>
                <a:gd name="T2" fmla="*/ 2188 w 2200"/>
                <a:gd name="T3" fmla="*/ 2482 h 2482"/>
                <a:gd name="T4" fmla="*/ 2200 w 2200"/>
                <a:gd name="T5" fmla="*/ 2476 h 2482"/>
                <a:gd name="T6" fmla="*/ 317 w 2200"/>
                <a:gd name="T7" fmla="*/ 0 h 2482"/>
                <a:gd name="T8" fmla="*/ 0 w 2200"/>
                <a:gd name="T9" fmla="*/ 0 h 2482"/>
                <a:gd name="T10" fmla="*/ 0 w 2200"/>
                <a:gd name="T11" fmla="*/ 0 h 2482"/>
              </a:gdLst>
              <a:ahLst/>
              <a:cxnLst>
                <a:cxn ang="0">
                  <a:pos x="T0" y="T1"/>
                </a:cxn>
                <a:cxn ang="0">
                  <a:pos x="T2" y="T3"/>
                </a:cxn>
                <a:cxn ang="0">
                  <a:pos x="T4" y="T5"/>
                </a:cxn>
                <a:cxn ang="0">
                  <a:pos x="T6" y="T7"/>
                </a:cxn>
                <a:cxn ang="0">
                  <a:pos x="T8" y="T9"/>
                </a:cxn>
                <a:cxn ang="0">
                  <a:pos x="T10" y="T11"/>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endParaRPr lang="zh-CN" altLang="en-US"/>
            </a:p>
          </p:txBody>
        </p:sp>
        <p:sp>
          <p:nvSpPr>
            <p:cNvPr id="26" name="Freeform 24">
              <a:extLst>
                <a:ext uri="{FF2B5EF4-FFF2-40B4-BE49-F238E27FC236}">
                  <a16:creationId xmlns:a16="http://schemas.microsoft.com/office/drawing/2014/main" id="{B49780FD-E4F8-44AE-8A21-4A2D5F7313FF}"/>
                </a:ext>
              </a:extLst>
            </p:cNvPr>
            <p:cNvSpPr>
              <a:spLocks/>
            </p:cNvSpPr>
            <p:nvPr/>
          </p:nvSpPr>
          <p:spPr bwMode="hidden">
            <a:xfrm>
              <a:off x="5674" y="2474"/>
              <a:ext cx="84" cy="96"/>
            </a:xfrm>
            <a:custGeom>
              <a:avLst/>
              <a:gdLst>
                <a:gd name="T0" fmla="*/ 84 w 84"/>
                <a:gd name="T1" fmla="*/ 96 h 96"/>
                <a:gd name="T2" fmla="*/ 84 w 84"/>
                <a:gd name="T3" fmla="*/ 90 h 96"/>
                <a:gd name="T4" fmla="*/ 12 w 84"/>
                <a:gd name="T5" fmla="*/ 0 h 96"/>
                <a:gd name="T6" fmla="*/ 0 w 84"/>
                <a:gd name="T7" fmla="*/ 6 h 96"/>
                <a:gd name="T8" fmla="*/ 84 w 84"/>
                <a:gd name="T9" fmla="*/ 96 h 96"/>
                <a:gd name="T10" fmla="*/ 84 w 84"/>
                <a:gd name="T11" fmla="*/ 96 h 96"/>
              </a:gdLst>
              <a:ahLst/>
              <a:cxnLst>
                <a:cxn ang="0">
                  <a:pos x="T0" y="T1"/>
                </a:cxn>
                <a:cxn ang="0">
                  <a:pos x="T2" y="T3"/>
                </a:cxn>
                <a:cxn ang="0">
                  <a:pos x="T4" y="T5"/>
                </a:cxn>
                <a:cxn ang="0">
                  <a:pos x="T6" y="T7"/>
                </a:cxn>
                <a:cxn ang="0">
                  <a:pos x="T8" y="T9"/>
                </a:cxn>
                <a:cxn ang="0">
                  <a:pos x="T10" y="T11"/>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27" name="Freeform 25">
              <a:extLst>
                <a:ext uri="{FF2B5EF4-FFF2-40B4-BE49-F238E27FC236}">
                  <a16:creationId xmlns:a16="http://schemas.microsoft.com/office/drawing/2014/main" id="{234B0362-7E3F-4FC3-8890-DA2F04967CFD}"/>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516">
                  <a:moveTo>
                    <a:pt x="155" y="516"/>
                  </a:moveTo>
                  <a:lnTo>
                    <a:pt x="155" y="204"/>
                  </a:lnTo>
                  <a:lnTo>
                    <a:pt x="77" y="0"/>
                  </a:lnTo>
                  <a:lnTo>
                    <a:pt x="0" y="192"/>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26">
              <a:extLst>
                <a:ext uri="{FF2B5EF4-FFF2-40B4-BE49-F238E27FC236}">
                  <a16:creationId xmlns:a16="http://schemas.microsoft.com/office/drawing/2014/main" id="{9A0AE8F0-36A5-465A-A360-F7426BDDA302}"/>
                </a:ext>
              </a:extLst>
            </p:cNvPr>
            <p:cNvSpPr>
              <a:spLocks/>
            </p:cNvSpPr>
            <p:nvPr/>
          </p:nvSpPr>
          <p:spPr bwMode="hidden">
            <a:xfrm>
              <a:off x="5107" y="0"/>
              <a:ext cx="573" cy="1042"/>
            </a:xfrm>
            <a:custGeom>
              <a:avLst/>
              <a:gdLst>
                <a:gd name="T0" fmla="*/ 0 w 574"/>
                <a:gd name="T1" fmla="*/ 0 h 1043"/>
                <a:gd name="T2" fmla="*/ 497 w 574"/>
                <a:gd name="T3" fmla="*/ 1043 h 1043"/>
                <a:gd name="T4" fmla="*/ 574 w 574"/>
                <a:gd name="T5" fmla="*/ 851 h 1043"/>
                <a:gd name="T6" fmla="*/ 251 w 574"/>
                <a:gd name="T7" fmla="*/ 0 h 1043"/>
                <a:gd name="T8" fmla="*/ 0 w 574"/>
                <a:gd name="T9" fmla="*/ 0 h 1043"/>
                <a:gd name="T10" fmla="*/ 0 w 574"/>
                <a:gd name="T11" fmla="*/ 0 h 1043"/>
              </a:gdLst>
              <a:ahLst/>
              <a:cxnLst>
                <a:cxn ang="0">
                  <a:pos x="T0" y="T1"/>
                </a:cxn>
                <a:cxn ang="0">
                  <a:pos x="T2" y="T3"/>
                </a:cxn>
                <a:cxn ang="0">
                  <a:pos x="T4" y="T5"/>
                </a:cxn>
                <a:cxn ang="0">
                  <a:pos x="T6" y="T7"/>
                </a:cxn>
                <a:cxn ang="0">
                  <a:pos x="T8" y="T9"/>
                </a:cxn>
                <a:cxn ang="0">
                  <a:pos x="T10" y="T11"/>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29" name="Freeform 27">
              <a:extLst>
                <a:ext uri="{FF2B5EF4-FFF2-40B4-BE49-F238E27FC236}">
                  <a16:creationId xmlns:a16="http://schemas.microsoft.com/office/drawing/2014/main" id="{D6408F08-6675-471F-8B50-6379E737FD3D}"/>
                </a:ext>
              </a:extLst>
            </p:cNvPr>
            <p:cNvSpPr>
              <a:spLocks/>
            </p:cNvSpPr>
            <p:nvPr/>
          </p:nvSpPr>
          <p:spPr bwMode="hidden">
            <a:xfrm>
              <a:off x="5411" y="0"/>
              <a:ext cx="341" cy="796"/>
            </a:xfrm>
            <a:custGeom>
              <a:avLst/>
              <a:gdLst>
                <a:gd name="T0" fmla="*/ 144 w 341"/>
                <a:gd name="T1" fmla="*/ 0 h 797"/>
                <a:gd name="T2" fmla="*/ 0 w 341"/>
                <a:gd name="T3" fmla="*/ 0 h 797"/>
                <a:gd name="T4" fmla="*/ 287 w 341"/>
                <a:gd name="T5" fmla="*/ 797 h 797"/>
                <a:gd name="T6" fmla="*/ 341 w 341"/>
                <a:gd name="T7" fmla="*/ 653 h 797"/>
                <a:gd name="T8" fmla="*/ 144 w 341"/>
                <a:gd name="T9" fmla="*/ 0 h 797"/>
                <a:gd name="T10" fmla="*/ 144 w 341"/>
                <a:gd name="T11" fmla="*/ 0 h 797"/>
              </a:gdLst>
              <a:ahLst/>
              <a:cxnLst>
                <a:cxn ang="0">
                  <a:pos x="T0" y="T1"/>
                </a:cxn>
                <a:cxn ang="0">
                  <a:pos x="T2" y="T3"/>
                </a:cxn>
                <a:cxn ang="0">
                  <a:pos x="T4" y="T5"/>
                </a:cxn>
                <a:cxn ang="0">
                  <a:pos x="T6" y="T7"/>
                </a:cxn>
                <a:cxn ang="0">
                  <a:pos x="T8" y="T9"/>
                </a:cxn>
                <a:cxn ang="0">
                  <a:pos x="T10" y="T11"/>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0" name="Freeform 28">
              <a:extLst>
                <a:ext uri="{FF2B5EF4-FFF2-40B4-BE49-F238E27FC236}">
                  <a16:creationId xmlns:a16="http://schemas.microsoft.com/office/drawing/2014/main" id="{81EA527F-4492-4123-85D4-7F151AC53C87}"/>
                </a:ext>
              </a:extLst>
            </p:cNvPr>
            <p:cNvSpPr>
              <a:spLocks/>
            </p:cNvSpPr>
            <p:nvPr/>
          </p:nvSpPr>
          <p:spPr bwMode="hidden">
            <a:xfrm>
              <a:off x="5698" y="653"/>
              <a:ext cx="60" cy="311"/>
            </a:xfrm>
            <a:custGeom>
              <a:avLst/>
              <a:gdLst>
                <a:gd name="T0" fmla="*/ 0 w 60"/>
                <a:gd name="T1" fmla="*/ 144 h 312"/>
                <a:gd name="T2" fmla="*/ 60 w 60"/>
                <a:gd name="T3" fmla="*/ 310 h 312"/>
                <a:gd name="T4" fmla="*/ 60 w 60"/>
                <a:gd name="T5" fmla="*/ 6 h 312"/>
                <a:gd name="T6" fmla="*/ 54 w 60"/>
                <a:gd name="T7" fmla="*/ 0 h 312"/>
                <a:gd name="T8" fmla="*/ 0 w 60"/>
                <a:gd name="T9" fmla="*/ 144 h 312"/>
                <a:gd name="T10" fmla="*/ 0 w 60"/>
                <a:gd name="T11" fmla="*/ 144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312">
                  <a:moveTo>
                    <a:pt x="0" y="144"/>
                  </a:moveTo>
                  <a:lnTo>
                    <a:pt x="60" y="312"/>
                  </a:lnTo>
                  <a:lnTo>
                    <a:pt x="60" y="6"/>
                  </a:lnTo>
                  <a:lnTo>
                    <a:pt x="54"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29">
              <a:extLst>
                <a:ext uri="{FF2B5EF4-FFF2-40B4-BE49-F238E27FC236}">
                  <a16:creationId xmlns:a16="http://schemas.microsoft.com/office/drawing/2014/main" id="{7DB3B701-DF5D-4415-B72B-1567B3FD24A1}"/>
                </a:ext>
              </a:extLst>
            </p:cNvPr>
            <p:cNvSpPr>
              <a:spLocks/>
            </p:cNvSpPr>
            <p:nvPr/>
          </p:nvSpPr>
          <p:spPr bwMode="hidden">
            <a:xfrm>
              <a:off x="2" y="1601"/>
              <a:ext cx="5752" cy="1864"/>
            </a:xfrm>
            <a:custGeom>
              <a:avLst/>
              <a:gdLst>
                <a:gd name="T0" fmla="*/ 0 w 5740"/>
                <a:gd name="T1" fmla="*/ 371 h 1864"/>
                <a:gd name="T2" fmla="*/ 5740 w 5740"/>
                <a:gd name="T3" fmla="*/ 1864 h 1864"/>
                <a:gd name="T4" fmla="*/ 5740 w 5740"/>
                <a:gd name="T5" fmla="*/ 1834 h 1864"/>
                <a:gd name="T6" fmla="*/ 0 w 5740"/>
                <a:gd name="T7" fmla="*/ 0 h 1864"/>
                <a:gd name="T8" fmla="*/ 0 w 5740"/>
                <a:gd name="T9" fmla="*/ 371 h 1864"/>
                <a:gd name="T10" fmla="*/ 0 w 5740"/>
                <a:gd name="T11" fmla="*/ 371 h 1864"/>
              </a:gdLst>
              <a:ahLst/>
              <a:cxnLst>
                <a:cxn ang="0">
                  <a:pos x="T0" y="T1"/>
                </a:cxn>
                <a:cxn ang="0">
                  <a:pos x="T2" y="T3"/>
                </a:cxn>
                <a:cxn ang="0">
                  <a:pos x="T4" y="T5"/>
                </a:cxn>
                <a:cxn ang="0">
                  <a:pos x="T6" y="T7"/>
                </a:cxn>
                <a:cxn ang="0">
                  <a:pos x="T8" y="T9"/>
                </a:cxn>
                <a:cxn ang="0">
                  <a:pos x="T10" y="T1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2" name="Freeform 30">
              <a:extLst>
                <a:ext uri="{FF2B5EF4-FFF2-40B4-BE49-F238E27FC236}">
                  <a16:creationId xmlns:a16="http://schemas.microsoft.com/office/drawing/2014/main" id="{1551BB1A-CDB8-45CA-BC69-626E4C94523D}"/>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6">
                  <a:moveTo>
                    <a:pt x="6" y="6"/>
                  </a:moveTo>
                  <a:lnTo>
                    <a:pt x="0" y="0"/>
                  </a:lnTo>
                  <a:lnTo>
                    <a:pt x="0"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31">
              <a:extLst>
                <a:ext uri="{FF2B5EF4-FFF2-40B4-BE49-F238E27FC236}">
                  <a16:creationId xmlns:a16="http://schemas.microsoft.com/office/drawing/2014/main" id="{B05E84EF-B8D8-4CC9-A4D1-57F82FC2629A}"/>
                </a:ext>
              </a:extLst>
            </p:cNvPr>
            <p:cNvSpPr>
              <a:spLocks/>
            </p:cNvSpPr>
            <p:nvPr/>
          </p:nvSpPr>
          <p:spPr bwMode="hidden">
            <a:xfrm>
              <a:off x="2" y="2152"/>
              <a:ext cx="5752" cy="1337"/>
            </a:xfrm>
            <a:custGeom>
              <a:avLst/>
              <a:gdLst>
                <a:gd name="T0" fmla="*/ 0 w 5740"/>
                <a:gd name="T1" fmla="*/ 366 h 1337"/>
                <a:gd name="T2" fmla="*/ 5740 w 5740"/>
                <a:gd name="T3" fmla="*/ 1337 h 1337"/>
                <a:gd name="T4" fmla="*/ 5740 w 5740"/>
                <a:gd name="T5" fmla="*/ 1331 h 1337"/>
                <a:gd name="T6" fmla="*/ 0 w 5740"/>
                <a:gd name="T7" fmla="*/ 0 h 1337"/>
                <a:gd name="T8" fmla="*/ 0 w 5740"/>
                <a:gd name="T9" fmla="*/ 366 h 1337"/>
                <a:gd name="T10" fmla="*/ 0 w 5740"/>
                <a:gd name="T11" fmla="*/ 366 h 1337"/>
              </a:gdLst>
              <a:ahLst/>
              <a:cxnLst>
                <a:cxn ang="0">
                  <a:pos x="T0" y="T1"/>
                </a:cxn>
                <a:cxn ang="0">
                  <a:pos x="T2" y="T3"/>
                </a:cxn>
                <a:cxn ang="0">
                  <a:pos x="T4" y="T5"/>
                </a:cxn>
                <a:cxn ang="0">
                  <a:pos x="T6" y="T7"/>
                </a:cxn>
                <a:cxn ang="0">
                  <a:pos x="T8" y="T9"/>
                </a:cxn>
                <a:cxn ang="0">
                  <a:pos x="T10" y="T11"/>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4" name="Freeform 32">
              <a:extLst>
                <a:ext uri="{FF2B5EF4-FFF2-40B4-BE49-F238E27FC236}">
                  <a16:creationId xmlns:a16="http://schemas.microsoft.com/office/drawing/2014/main" id="{06A6EDF5-815C-4A60-A6E5-7557B21DC00B}"/>
                </a:ext>
              </a:extLst>
            </p:cNvPr>
            <p:cNvSpPr>
              <a:spLocks/>
            </p:cNvSpPr>
            <p:nvPr/>
          </p:nvSpPr>
          <p:spPr bwMode="hidden">
            <a:xfrm>
              <a:off x="2" y="3177"/>
              <a:ext cx="5752" cy="414"/>
            </a:xfrm>
            <a:custGeom>
              <a:avLst/>
              <a:gdLst>
                <a:gd name="T0" fmla="*/ 0 w 5740"/>
                <a:gd name="T1" fmla="*/ 48 h 414"/>
                <a:gd name="T2" fmla="*/ 5740 w 5740"/>
                <a:gd name="T3" fmla="*/ 414 h 414"/>
                <a:gd name="T4" fmla="*/ 5740 w 5740"/>
                <a:gd name="T5" fmla="*/ 402 h 414"/>
                <a:gd name="T6" fmla="*/ 0 w 5740"/>
                <a:gd name="T7" fmla="*/ 0 h 414"/>
                <a:gd name="T8" fmla="*/ 0 w 5740"/>
                <a:gd name="T9" fmla="*/ 48 h 414"/>
                <a:gd name="T10" fmla="*/ 0 w 5740"/>
                <a:gd name="T11" fmla="*/ 48 h 414"/>
              </a:gdLst>
              <a:ahLst/>
              <a:cxnLst>
                <a:cxn ang="0">
                  <a:pos x="T0" y="T1"/>
                </a:cxn>
                <a:cxn ang="0">
                  <a:pos x="T2" y="T3"/>
                </a:cxn>
                <a:cxn ang="0">
                  <a:pos x="T4" y="T5"/>
                </a:cxn>
                <a:cxn ang="0">
                  <a:pos x="T6" y="T7"/>
                </a:cxn>
                <a:cxn ang="0">
                  <a:pos x="T8" y="T9"/>
                </a:cxn>
                <a:cxn ang="0">
                  <a:pos x="T10" y="T11"/>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5" name="Freeform 33">
              <a:extLst>
                <a:ext uri="{FF2B5EF4-FFF2-40B4-BE49-F238E27FC236}">
                  <a16:creationId xmlns:a16="http://schemas.microsoft.com/office/drawing/2014/main" id="{752573C9-E4ED-46F7-AC41-4BADD61425E2}"/>
                </a:ext>
              </a:extLst>
            </p:cNvPr>
            <p:cNvSpPr>
              <a:spLocks/>
            </p:cNvSpPr>
            <p:nvPr/>
          </p:nvSpPr>
          <p:spPr bwMode="hidden">
            <a:xfrm>
              <a:off x="1297" y="0"/>
              <a:ext cx="4457" cy="3177"/>
            </a:xfrm>
            <a:custGeom>
              <a:avLst/>
              <a:gdLst>
                <a:gd name="T0" fmla="*/ 0 w 4448"/>
                <a:gd name="T1" fmla="*/ 0 h 3177"/>
                <a:gd name="T2" fmla="*/ 4448 w 4448"/>
                <a:gd name="T3" fmla="*/ 3177 h 3177"/>
                <a:gd name="T4" fmla="*/ 4448 w 4448"/>
                <a:gd name="T5" fmla="*/ 3153 h 3177"/>
                <a:gd name="T6" fmla="*/ 125 w 4448"/>
                <a:gd name="T7" fmla="*/ 0 h 3177"/>
                <a:gd name="T8" fmla="*/ 0 w 4448"/>
                <a:gd name="T9" fmla="*/ 0 h 3177"/>
                <a:gd name="T10" fmla="*/ 0 w 4448"/>
                <a:gd name="T11" fmla="*/ 0 h 3177"/>
              </a:gdLst>
              <a:ahLst/>
              <a:cxnLst>
                <a:cxn ang="0">
                  <a:pos x="T0" y="T1"/>
                </a:cxn>
                <a:cxn ang="0">
                  <a:pos x="T2" y="T3"/>
                </a:cxn>
                <a:cxn ang="0">
                  <a:pos x="T4" y="T5"/>
                </a:cxn>
                <a:cxn ang="0">
                  <a:pos x="T6" y="T7"/>
                </a:cxn>
                <a:cxn ang="0">
                  <a:pos x="T8" y="T9"/>
                </a:cxn>
                <a:cxn ang="0">
                  <a:pos x="T10" y="T11"/>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6" name="Freeform 34">
              <a:extLst>
                <a:ext uri="{FF2B5EF4-FFF2-40B4-BE49-F238E27FC236}">
                  <a16:creationId xmlns:a16="http://schemas.microsoft.com/office/drawing/2014/main" id="{5E43AE6F-9480-49B1-94B3-BDC9F6C9A9C2}"/>
                </a:ext>
              </a:extLst>
            </p:cNvPr>
            <p:cNvSpPr>
              <a:spLocks/>
            </p:cNvSpPr>
            <p:nvPr/>
          </p:nvSpPr>
          <p:spPr bwMode="hidden">
            <a:xfrm>
              <a:off x="3321" y="0"/>
              <a:ext cx="2433" cy="2614"/>
            </a:xfrm>
            <a:custGeom>
              <a:avLst/>
              <a:gdLst>
                <a:gd name="T0" fmla="*/ 0 w 2428"/>
                <a:gd name="T1" fmla="*/ 0 h 2614"/>
                <a:gd name="T2" fmla="*/ 2428 w 2428"/>
                <a:gd name="T3" fmla="*/ 2614 h 2614"/>
                <a:gd name="T4" fmla="*/ 2428 w 2428"/>
                <a:gd name="T5" fmla="*/ 2608 h 2614"/>
                <a:gd name="T6" fmla="*/ 66 w 2428"/>
                <a:gd name="T7" fmla="*/ 0 h 2614"/>
                <a:gd name="T8" fmla="*/ 0 w 2428"/>
                <a:gd name="T9" fmla="*/ 0 h 2614"/>
                <a:gd name="T10" fmla="*/ 0 w 2428"/>
                <a:gd name="T11" fmla="*/ 0 h 2614"/>
              </a:gdLst>
              <a:ahLst/>
              <a:cxnLst>
                <a:cxn ang="0">
                  <a:pos x="T0" y="T1"/>
                </a:cxn>
                <a:cxn ang="0">
                  <a:pos x="T2" y="T3"/>
                </a:cxn>
                <a:cxn ang="0">
                  <a:pos x="T4" y="T5"/>
                </a:cxn>
                <a:cxn ang="0">
                  <a:pos x="T6" y="T7"/>
                </a:cxn>
                <a:cxn ang="0">
                  <a:pos x="T8" y="T9"/>
                </a:cxn>
                <a:cxn ang="0">
                  <a:pos x="T10" y="T11"/>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7" name="Freeform 35">
              <a:extLst>
                <a:ext uri="{FF2B5EF4-FFF2-40B4-BE49-F238E27FC236}">
                  <a16:creationId xmlns:a16="http://schemas.microsoft.com/office/drawing/2014/main" id="{A29F2C1D-4E4E-4B27-B905-E63A85134648}"/>
                </a:ext>
              </a:extLst>
            </p:cNvPr>
            <p:cNvSpPr>
              <a:spLocks/>
            </p:cNvSpPr>
            <p:nvPr/>
          </p:nvSpPr>
          <p:spPr bwMode="hidden">
            <a:xfrm>
              <a:off x="3950" y="0"/>
              <a:ext cx="1804" cy="2464"/>
            </a:xfrm>
            <a:custGeom>
              <a:avLst/>
              <a:gdLst>
                <a:gd name="T0" fmla="*/ 485 w 1800"/>
                <a:gd name="T1" fmla="*/ 0 h 2464"/>
                <a:gd name="T2" fmla="*/ 0 w 1800"/>
                <a:gd name="T3" fmla="*/ 0 h 2464"/>
                <a:gd name="T4" fmla="*/ 1800 w 1800"/>
                <a:gd name="T5" fmla="*/ 2464 h 2464"/>
                <a:gd name="T6" fmla="*/ 1800 w 1800"/>
                <a:gd name="T7" fmla="*/ 2248 h 2464"/>
                <a:gd name="T8" fmla="*/ 1794 w 1800"/>
                <a:gd name="T9" fmla="*/ 2248 h 2464"/>
                <a:gd name="T10" fmla="*/ 485 w 1800"/>
                <a:gd name="T11" fmla="*/ 0 h 2464"/>
                <a:gd name="T12" fmla="*/ 485 w 1800"/>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8" name="Freeform 36">
              <a:extLst>
                <a:ext uri="{FF2B5EF4-FFF2-40B4-BE49-F238E27FC236}">
                  <a16:creationId xmlns:a16="http://schemas.microsoft.com/office/drawing/2014/main" id="{22B0CCBF-DBA3-43B3-8E92-5A7F90E78D66}"/>
                </a:ext>
              </a:extLst>
            </p:cNvPr>
            <p:cNvSpPr>
              <a:spLocks/>
            </p:cNvSpPr>
            <p:nvPr/>
          </p:nvSpPr>
          <p:spPr bwMode="hidden">
            <a:xfrm>
              <a:off x="4519" y="0"/>
              <a:ext cx="1235" cy="2074"/>
            </a:xfrm>
            <a:custGeom>
              <a:avLst/>
              <a:gdLst>
                <a:gd name="T0" fmla="*/ 0 w 1232"/>
                <a:gd name="T1" fmla="*/ 0 h 2074"/>
                <a:gd name="T2" fmla="*/ 1232 w 1232"/>
                <a:gd name="T3" fmla="*/ 2074 h 2074"/>
                <a:gd name="T4" fmla="*/ 1232 w 1232"/>
                <a:gd name="T5" fmla="*/ 2038 h 2074"/>
                <a:gd name="T6" fmla="*/ 42 w 1232"/>
                <a:gd name="T7" fmla="*/ 0 h 2074"/>
                <a:gd name="T8" fmla="*/ 0 w 1232"/>
                <a:gd name="T9" fmla="*/ 0 h 2074"/>
                <a:gd name="T10" fmla="*/ 0 w 1232"/>
                <a:gd name="T11" fmla="*/ 0 h 2074"/>
              </a:gdLst>
              <a:ahLst/>
              <a:cxnLst>
                <a:cxn ang="0">
                  <a:pos x="T0" y="T1"/>
                </a:cxn>
                <a:cxn ang="0">
                  <a:pos x="T2" y="T3"/>
                </a:cxn>
                <a:cxn ang="0">
                  <a:pos x="T4" y="T5"/>
                </a:cxn>
                <a:cxn ang="0">
                  <a:pos x="T6" y="T7"/>
                </a:cxn>
                <a:cxn ang="0">
                  <a:pos x="T8" y="T9"/>
                </a:cxn>
                <a:cxn ang="0">
                  <a:pos x="T10" y="T11"/>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39" name="Freeform 37">
              <a:extLst>
                <a:ext uri="{FF2B5EF4-FFF2-40B4-BE49-F238E27FC236}">
                  <a16:creationId xmlns:a16="http://schemas.microsoft.com/office/drawing/2014/main" id="{840302A6-0538-4D5C-A0E8-09A8967508E9}"/>
                </a:ext>
              </a:extLst>
            </p:cNvPr>
            <p:cNvSpPr>
              <a:spLocks/>
            </p:cNvSpPr>
            <p:nvPr/>
          </p:nvSpPr>
          <p:spPr bwMode="hidden">
            <a:xfrm>
              <a:off x="4694" y="0"/>
              <a:ext cx="1060" cy="1936"/>
            </a:xfrm>
            <a:custGeom>
              <a:avLst/>
              <a:gdLst>
                <a:gd name="T0" fmla="*/ 0 w 1058"/>
                <a:gd name="T1" fmla="*/ 0 h 1936"/>
                <a:gd name="T2" fmla="*/ 1058 w 1058"/>
                <a:gd name="T3" fmla="*/ 1936 h 1936"/>
                <a:gd name="T4" fmla="*/ 1058 w 1058"/>
                <a:gd name="T5" fmla="*/ 1930 h 1936"/>
                <a:gd name="T6" fmla="*/ 54 w 1058"/>
                <a:gd name="T7" fmla="*/ 0 h 1936"/>
                <a:gd name="T8" fmla="*/ 0 w 1058"/>
                <a:gd name="T9" fmla="*/ 0 h 1936"/>
                <a:gd name="T10" fmla="*/ 0 w 1058"/>
                <a:gd name="T11" fmla="*/ 0 h 1936"/>
              </a:gdLst>
              <a:ahLst/>
              <a:cxnLst>
                <a:cxn ang="0">
                  <a:pos x="T0" y="T1"/>
                </a:cxn>
                <a:cxn ang="0">
                  <a:pos x="T2" y="T3"/>
                </a:cxn>
                <a:cxn ang="0">
                  <a:pos x="T4" y="T5"/>
                </a:cxn>
                <a:cxn ang="0">
                  <a:pos x="T6" y="T7"/>
                </a:cxn>
                <a:cxn ang="0">
                  <a:pos x="T8" y="T9"/>
                </a:cxn>
                <a:cxn ang="0">
                  <a:pos x="T10" y="T11"/>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40" name="Freeform 38">
              <a:extLst>
                <a:ext uri="{FF2B5EF4-FFF2-40B4-BE49-F238E27FC236}">
                  <a16:creationId xmlns:a16="http://schemas.microsoft.com/office/drawing/2014/main" id="{B5024B55-04AE-41E5-B896-5FA2AD5DB1F5}"/>
                </a:ext>
              </a:extLst>
            </p:cNvPr>
            <p:cNvSpPr>
              <a:spLocks/>
            </p:cNvSpPr>
            <p:nvPr/>
          </p:nvSpPr>
          <p:spPr bwMode="hidden">
            <a:xfrm>
              <a:off x="4981" y="0"/>
              <a:ext cx="773" cy="1487"/>
            </a:xfrm>
            <a:custGeom>
              <a:avLst/>
              <a:gdLst>
                <a:gd name="T0" fmla="*/ 771 w 771"/>
                <a:gd name="T1" fmla="*/ 1433 h 1487"/>
                <a:gd name="T2" fmla="*/ 42 w 771"/>
                <a:gd name="T3" fmla="*/ 0 h 1487"/>
                <a:gd name="T4" fmla="*/ 0 w 771"/>
                <a:gd name="T5" fmla="*/ 0 h 1487"/>
                <a:gd name="T6" fmla="*/ 771 w 771"/>
                <a:gd name="T7" fmla="*/ 1487 h 1487"/>
                <a:gd name="T8" fmla="*/ 771 w 771"/>
                <a:gd name="T9" fmla="*/ 1433 h 1487"/>
                <a:gd name="T10" fmla="*/ 771 w 771"/>
                <a:gd name="T11" fmla="*/ 1433 h 1487"/>
              </a:gdLst>
              <a:ahLst/>
              <a:cxnLst>
                <a:cxn ang="0">
                  <a:pos x="T0" y="T1"/>
                </a:cxn>
                <a:cxn ang="0">
                  <a:pos x="T2" y="T3"/>
                </a:cxn>
                <a:cxn ang="0">
                  <a:pos x="T4" y="T5"/>
                </a:cxn>
                <a:cxn ang="0">
                  <a:pos x="T6" y="T7"/>
                </a:cxn>
                <a:cxn ang="0">
                  <a:pos x="T8" y="T9"/>
                </a:cxn>
                <a:cxn ang="0">
                  <a:pos x="T10" y="T11"/>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grpSp>
          <p:nvGrpSpPr>
            <p:cNvPr id="41" name="Group 39">
              <a:extLst>
                <a:ext uri="{FF2B5EF4-FFF2-40B4-BE49-F238E27FC236}">
                  <a16:creationId xmlns:a16="http://schemas.microsoft.com/office/drawing/2014/main" id="{1E9B4DE7-2D13-4D11-8D0A-CC1DEB80BED1}"/>
                </a:ext>
              </a:extLst>
            </p:cNvPr>
            <p:cNvGrpSpPr>
              <a:grpSpLocks/>
            </p:cNvGrpSpPr>
            <p:nvPr userDrawn="1"/>
          </p:nvGrpSpPr>
          <p:grpSpPr bwMode="auto">
            <a:xfrm>
              <a:off x="0" y="1632"/>
              <a:ext cx="5758" cy="1858"/>
              <a:chOff x="0" y="1632"/>
              <a:chExt cx="5758" cy="1858"/>
            </a:xfrm>
          </p:grpSpPr>
          <p:sp>
            <p:nvSpPr>
              <p:cNvPr id="42" name="Freeform 40">
                <a:extLst>
                  <a:ext uri="{FF2B5EF4-FFF2-40B4-BE49-F238E27FC236}">
                    <a16:creationId xmlns:a16="http://schemas.microsoft.com/office/drawing/2014/main" id="{621083A5-C2E4-4E66-AFEA-6381FD2F81D5}"/>
                  </a:ext>
                </a:extLst>
              </p:cNvPr>
              <p:cNvSpPr>
                <a:spLocks/>
              </p:cNvSpPr>
              <p:nvPr/>
            </p:nvSpPr>
            <p:spPr bwMode="hidden">
              <a:xfrm>
                <a:off x="0" y="1632"/>
                <a:ext cx="3670" cy="1313"/>
              </a:xfrm>
              <a:custGeom>
                <a:avLst/>
                <a:gdLst>
                  <a:gd name="T0" fmla="*/ 0 w 3659"/>
                  <a:gd name="T1" fmla="*/ 0 h 1313"/>
                  <a:gd name="T2" fmla="*/ 0 w 3659"/>
                  <a:gd name="T3" fmla="*/ 366 h 1313"/>
                  <a:gd name="T4" fmla="*/ 3635 w 3659"/>
                  <a:gd name="T5" fmla="*/ 1313 h 1313"/>
                  <a:gd name="T6" fmla="*/ 3647 w 3659"/>
                  <a:gd name="T7" fmla="*/ 1235 h 1313"/>
                  <a:gd name="T8" fmla="*/ 3659 w 3659"/>
                  <a:gd name="T9" fmla="*/ 1163 h 1313"/>
                  <a:gd name="T10" fmla="*/ 0 w 3659"/>
                  <a:gd name="T11" fmla="*/ 0 h 1313"/>
                  <a:gd name="T12" fmla="*/ 0 w 3659"/>
                  <a:gd name="T13" fmla="*/ 0 h 1313"/>
                </a:gdLst>
                <a:ahLst/>
                <a:cxnLst>
                  <a:cxn ang="0">
                    <a:pos x="T0" y="T1"/>
                  </a:cxn>
                  <a:cxn ang="0">
                    <a:pos x="T2" y="T3"/>
                  </a:cxn>
                  <a:cxn ang="0">
                    <a:pos x="T4" y="T5"/>
                  </a:cxn>
                  <a:cxn ang="0">
                    <a:pos x="T6" y="T7"/>
                  </a:cxn>
                  <a:cxn ang="0">
                    <a:pos x="T8" y="T9"/>
                  </a:cxn>
                  <a:cxn ang="0">
                    <a:pos x="T10" y="T11"/>
                  </a:cxn>
                  <a:cxn ang="0">
                    <a:pos x="T12" y="T13"/>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43" name="Freeform 41">
                <a:extLst>
                  <a:ext uri="{FF2B5EF4-FFF2-40B4-BE49-F238E27FC236}">
                    <a16:creationId xmlns:a16="http://schemas.microsoft.com/office/drawing/2014/main" id="{FB0022CD-4404-4980-B6CE-93605E9C993C}"/>
                  </a:ext>
                </a:extLst>
              </p:cNvPr>
              <p:cNvSpPr>
                <a:spLocks/>
              </p:cNvSpPr>
              <p:nvPr/>
            </p:nvSpPr>
            <p:spPr bwMode="hidden">
              <a:xfrm>
                <a:off x="3646" y="2795"/>
                <a:ext cx="2112" cy="695"/>
              </a:xfrm>
              <a:custGeom>
                <a:avLst/>
                <a:gdLst>
                  <a:gd name="T0" fmla="*/ 2105 w 2105"/>
                  <a:gd name="T1" fmla="*/ 665 h 695"/>
                  <a:gd name="T2" fmla="*/ 24 w 2105"/>
                  <a:gd name="T3" fmla="*/ 0 h 695"/>
                  <a:gd name="T4" fmla="*/ 12 w 2105"/>
                  <a:gd name="T5" fmla="*/ 72 h 695"/>
                  <a:gd name="T6" fmla="*/ 0 w 2105"/>
                  <a:gd name="T7" fmla="*/ 150 h 695"/>
                  <a:gd name="T8" fmla="*/ 2105 w 2105"/>
                  <a:gd name="T9" fmla="*/ 695 h 695"/>
                  <a:gd name="T10" fmla="*/ 2105 w 2105"/>
                  <a:gd name="T11" fmla="*/ 665 h 695"/>
                  <a:gd name="T12" fmla="*/ 2105 w 2105"/>
                  <a:gd name="T13" fmla="*/ 665 h 695"/>
                </a:gdLst>
                <a:ahLst/>
                <a:cxnLst>
                  <a:cxn ang="0">
                    <a:pos x="T0" y="T1"/>
                  </a:cxn>
                  <a:cxn ang="0">
                    <a:pos x="T2" y="T3"/>
                  </a:cxn>
                  <a:cxn ang="0">
                    <a:pos x="T4" y="T5"/>
                  </a:cxn>
                  <a:cxn ang="0">
                    <a:pos x="T6" y="T7"/>
                  </a:cxn>
                  <a:cxn ang="0">
                    <a:pos x="T8" y="T9"/>
                  </a:cxn>
                  <a:cxn ang="0">
                    <a:pos x="T10" y="T11"/>
                  </a:cxn>
                  <a:cxn ang="0">
                    <a:pos x="T12" y="T13"/>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grpSp>
      </p:grpSp>
      <p:sp>
        <p:nvSpPr>
          <p:cNvPr id="69674" name="Rectangle 42"/>
          <p:cNvSpPr>
            <a:spLocks noGrp="1" noChangeArrowheads="1"/>
          </p:cNvSpPr>
          <p:nvPr>
            <p:ph type="ctrTitle" sz="quarter"/>
          </p:nvPr>
        </p:nvSpPr>
        <p:spPr>
          <a:xfrm>
            <a:off x="457200" y="1600200"/>
            <a:ext cx="8229600" cy="1828800"/>
          </a:xfrm>
        </p:spPr>
        <p:txBody>
          <a:bodyPr/>
          <a:lstStyle>
            <a:lvl1pPr>
              <a:defRPr sz="4800"/>
            </a:lvl1pPr>
          </a:lstStyle>
          <a:p>
            <a:pPr lvl="0"/>
            <a:r>
              <a:rPr lang="zh-CN" altLang="en-US" noProof="0"/>
              <a:t>单击此处编辑母版标题样式</a:t>
            </a:r>
          </a:p>
        </p:txBody>
      </p:sp>
      <p:sp>
        <p:nvSpPr>
          <p:cNvPr id="69675" name="Rectangle 43"/>
          <p:cNvSpPr>
            <a:spLocks noGrp="1" noChangeArrowheads="1"/>
          </p:cNvSpPr>
          <p:nvPr>
            <p:ph type="subTitle" sz="quarter" idx="1"/>
          </p:nvPr>
        </p:nvSpPr>
        <p:spPr>
          <a:xfrm>
            <a:off x="1371600" y="3886200"/>
            <a:ext cx="6400800" cy="1752600"/>
          </a:xfrm>
        </p:spPr>
        <p:txBody>
          <a:bodyPr/>
          <a:lstStyle>
            <a:lvl1pPr marL="0" indent="0" algn="ctr">
              <a:buFont typeface="Wingdings" panose="05000000000000000000" pitchFamily="2" charset="2"/>
              <a:buNone/>
              <a:defRPr sz="3600"/>
            </a:lvl1pPr>
          </a:lstStyle>
          <a:p>
            <a:pPr lvl="0"/>
            <a:r>
              <a:rPr lang="zh-CN" altLang="en-US" noProof="0"/>
              <a:t>单击此处编辑母版副标题样式</a:t>
            </a:r>
          </a:p>
        </p:txBody>
      </p:sp>
      <p:sp>
        <p:nvSpPr>
          <p:cNvPr id="44" name="Rectangle 44">
            <a:extLst>
              <a:ext uri="{FF2B5EF4-FFF2-40B4-BE49-F238E27FC236}">
                <a16:creationId xmlns:a16="http://schemas.microsoft.com/office/drawing/2014/main" id="{22A4E303-8BE9-4852-BFA9-D37D54B6F165}"/>
              </a:ext>
            </a:extLst>
          </p:cNvPr>
          <p:cNvSpPr>
            <a:spLocks noGrp="1" noChangeArrowheads="1"/>
          </p:cNvSpPr>
          <p:nvPr>
            <p:ph type="dt" sz="quarter" idx="10"/>
          </p:nvPr>
        </p:nvSpPr>
        <p:spPr/>
        <p:txBody>
          <a:bodyPr/>
          <a:lstStyle>
            <a:lvl1pPr>
              <a:defRPr/>
            </a:lvl1pPr>
          </a:lstStyle>
          <a:p>
            <a:pPr>
              <a:defRPr/>
            </a:pPr>
            <a:fld id="{EFB8DB12-F7D1-4C98-9FD7-64C2A9AC3C0C}" type="datetime1">
              <a:rPr lang="zh-CN" altLang="en-US"/>
              <a:pPr>
                <a:defRPr/>
              </a:pPr>
              <a:t>2025/5/11</a:t>
            </a:fld>
            <a:endParaRPr lang="en-US" altLang="zh-CN"/>
          </a:p>
        </p:txBody>
      </p:sp>
      <p:sp>
        <p:nvSpPr>
          <p:cNvPr id="45" name="Rectangle 45">
            <a:extLst>
              <a:ext uri="{FF2B5EF4-FFF2-40B4-BE49-F238E27FC236}">
                <a16:creationId xmlns:a16="http://schemas.microsoft.com/office/drawing/2014/main" id="{3164F07F-BB56-4F5E-9939-6F1957AF58B6}"/>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6" name="Rectangle 46">
            <a:extLst>
              <a:ext uri="{FF2B5EF4-FFF2-40B4-BE49-F238E27FC236}">
                <a16:creationId xmlns:a16="http://schemas.microsoft.com/office/drawing/2014/main" id="{3CEA4C88-F116-4345-A95A-E72C7C665381}"/>
              </a:ext>
            </a:extLst>
          </p:cNvPr>
          <p:cNvSpPr>
            <a:spLocks noGrp="1" noChangeArrowheads="1"/>
          </p:cNvSpPr>
          <p:nvPr>
            <p:ph type="sldNum" sz="quarter" idx="12"/>
          </p:nvPr>
        </p:nvSpPr>
        <p:spPr/>
        <p:txBody>
          <a:bodyPr/>
          <a:lstStyle>
            <a:lvl1pPr>
              <a:defRPr/>
            </a:lvl1pPr>
          </a:lstStyle>
          <a:p>
            <a:fld id="{510C1BDF-A12D-4F52-9881-804F236151C2}" type="slidenum">
              <a:rPr lang="en-US" altLang="zh-CN"/>
              <a:pPr/>
              <a:t>‹#›</a:t>
            </a:fld>
            <a:endParaRPr lang="en-US" altLang="zh-CN"/>
          </a:p>
        </p:txBody>
      </p:sp>
    </p:spTree>
    <p:extLst>
      <p:ext uri="{BB962C8B-B14F-4D97-AF65-F5344CB8AC3E}">
        <p14:creationId xmlns:p14="http://schemas.microsoft.com/office/powerpoint/2010/main" val="3446226307"/>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a:extLst>
              <a:ext uri="{FF2B5EF4-FFF2-40B4-BE49-F238E27FC236}">
                <a16:creationId xmlns:a16="http://schemas.microsoft.com/office/drawing/2014/main" id="{4EC6EA71-E219-4187-A35B-4FA7B9F28C97}"/>
              </a:ext>
            </a:extLst>
          </p:cNvPr>
          <p:cNvSpPr>
            <a:spLocks noGrp="1" noChangeArrowheads="1"/>
          </p:cNvSpPr>
          <p:nvPr>
            <p:ph type="dt" sz="half" idx="10"/>
          </p:nvPr>
        </p:nvSpPr>
        <p:spPr>
          <a:ln/>
        </p:spPr>
        <p:txBody>
          <a:bodyPr/>
          <a:lstStyle>
            <a:lvl1pPr>
              <a:defRPr/>
            </a:lvl1pPr>
          </a:lstStyle>
          <a:p>
            <a:pPr>
              <a:defRPr/>
            </a:pPr>
            <a:fld id="{2CF22EB2-1C87-4E0A-B0E3-B33D23A11120}" type="datetime1">
              <a:rPr lang="zh-CN" altLang="en-US"/>
              <a:pPr>
                <a:defRPr/>
              </a:pPr>
              <a:t>2025/5/11</a:t>
            </a:fld>
            <a:endParaRPr lang="en-US" altLang="zh-CN"/>
          </a:p>
        </p:txBody>
      </p:sp>
      <p:sp>
        <p:nvSpPr>
          <p:cNvPr id="5" name="Rectangle 45">
            <a:extLst>
              <a:ext uri="{FF2B5EF4-FFF2-40B4-BE49-F238E27FC236}">
                <a16:creationId xmlns:a16="http://schemas.microsoft.com/office/drawing/2014/main" id="{A03BD3BA-6860-4EC2-AF2A-DC47003CBA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1C9D0791-EB54-4C5E-9993-12C96EDEEADA}"/>
              </a:ext>
            </a:extLst>
          </p:cNvPr>
          <p:cNvSpPr>
            <a:spLocks noGrp="1" noChangeArrowheads="1"/>
          </p:cNvSpPr>
          <p:nvPr>
            <p:ph type="sldNum" sz="quarter" idx="12"/>
          </p:nvPr>
        </p:nvSpPr>
        <p:spPr>
          <a:ln/>
        </p:spPr>
        <p:txBody>
          <a:bodyPr/>
          <a:lstStyle>
            <a:lvl1pPr>
              <a:defRPr/>
            </a:lvl1pPr>
          </a:lstStyle>
          <a:p>
            <a:fld id="{8C4235AB-5960-4FD5-A0DB-1773C4BB3CB2}" type="slidenum">
              <a:rPr lang="en-US" altLang="zh-CN"/>
              <a:pPr/>
              <a:t>‹#›</a:t>
            </a:fld>
            <a:endParaRPr lang="en-US" altLang="zh-CN"/>
          </a:p>
        </p:txBody>
      </p:sp>
    </p:spTree>
    <p:extLst>
      <p:ext uri="{BB962C8B-B14F-4D97-AF65-F5344CB8AC3E}">
        <p14:creationId xmlns:p14="http://schemas.microsoft.com/office/powerpoint/2010/main" val="1097086990"/>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4">
            <a:extLst>
              <a:ext uri="{FF2B5EF4-FFF2-40B4-BE49-F238E27FC236}">
                <a16:creationId xmlns:a16="http://schemas.microsoft.com/office/drawing/2014/main" id="{936D37E0-0AC4-40FB-9362-963B85A44FA0}"/>
              </a:ext>
            </a:extLst>
          </p:cNvPr>
          <p:cNvSpPr>
            <a:spLocks noGrp="1" noChangeArrowheads="1"/>
          </p:cNvSpPr>
          <p:nvPr>
            <p:ph type="dt" sz="half" idx="10"/>
          </p:nvPr>
        </p:nvSpPr>
        <p:spPr>
          <a:ln/>
        </p:spPr>
        <p:txBody>
          <a:bodyPr/>
          <a:lstStyle>
            <a:lvl1pPr>
              <a:defRPr/>
            </a:lvl1pPr>
          </a:lstStyle>
          <a:p>
            <a:pPr>
              <a:defRPr/>
            </a:pPr>
            <a:fld id="{B04E4669-4F20-4ADA-A8E7-C42F1090A974}" type="datetime1">
              <a:rPr lang="zh-CN" altLang="en-US"/>
              <a:pPr>
                <a:defRPr/>
              </a:pPr>
              <a:t>2025/5/11</a:t>
            </a:fld>
            <a:endParaRPr lang="en-US" altLang="zh-CN"/>
          </a:p>
        </p:txBody>
      </p:sp>
      <p:sp>
        <p:nvSpPr>
          <p:cNvPr id="5" name="Rectangle 45">
            <a:extLst>
              <a:ext uri="{FF2B5EF4-FFF2-40B4-BE49-F238E27FC236}">
                <a16:creationId xmlns:a16="http://schemas.microsoft.com/office/drawing/2014/main" id="{04D79352-DC13-4B6A-AE12-26F39959D74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C471A9D0-B172-478B-A2FA-9DA5C097C188}"/>
              </a:ext>
            </a:extLst>
          </p:cNvPr>
          <p:cNvSpPr>
            <a:spLocks noGrp="1" noChangeArrowheads="1"/>
          </p:cNvSpPr>
          <p:nvPr>
            <p:ph type="sldNum" sz="quarter" idx="12"/>
          </p:nvPr>
        </p:nvSpPr>
        <p:spPr>
          <a:ln/>
        </p:spPr>
        <p:txBody>
          <a:bodyPr/>
          <a:lstStyle>
            <a:lvl1pPr>
              <a:defRPr/>
            </a:lvl1pPr>
          </a:lstStyle>
          <a:p>
            <a:fld id="{AF47E8D0-1152-45CD-AB4A-E7D1EE576EC9}" type="slidenum">
              <a:rPr lang="en-US" altLang="zh-CN"/>
              <a:pPr/>
              <a:t>‹#›</a:t>
            </a:fld>
            <a:endParaRPr lang="en-US" altLang="zh-CN"/>
          </a:p>
        </p:txBody>
      </p:sp>
    </p:spTree>
    <p:extLst>
      <p:ext uri="{BB962C8B-B14F-4D97-AF65-F5344CB8AC3E}">
        <p14:creationId xmlns:p14="http://schemas.microsoft.com/office/powerpoint/2010/main" val="378519254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4">
            <a:extLst>
              <a:ext uri="{FF2B5EF4-FFF2-40B4-BE49-F238E27FC236}">
                <a16:creationId xmlns:a16="http://schemas.microsoft.com/office/drawing/2014/main" id="{C28856BA-8F7A-4999-B41F-12954BC1495A}"/>
              </a:ext>
            </a:extLst>
          </p:cNvPr>
          <p:cNvSpPr>
            <a:spLocks noGrp="1" noChangeArrowheads="1"/>
          </p:cNvSpPr>
          <p:nvPr>
            <p:ph type="dt" sz="half" idx="10"/>
          </p:nvPr>
        </p:nvSpPr>
        <p:spPr>
          <a:ln/>
        </p:spPr>
        <p:txBody>
          <a:bodyPr/>
          <a:lstStyle>
            <a:lvl1pPr>
              <a:defRPr/>
            </a:lvl1pPr>
          </a:lstStyle>
          <a:p>
            <a:pPr>
              <a:defRPr/>
            </a:pPr>
            <a:fld id="{987C9524-3AF3-4FBF-A005-57E32F136EC2}" type="datetime1">
              <a:rPr lang="zh-CN" altLang="en-US"/>
              <a:pPr>
                <a:defRPr/>
              </a:pPr>
              <a:t>2025/5/11</a:t>
            </a:fld>
            <a:endParaRPr lang="en-US" altLang="zh-CN"/>
          </a:p>
        </p:txBody>
      </p:sp>
      <p:sp>
        <p:nvSpPr>
          <p:cNvPr id="6" name="Rectangle 45">
            <a:extLst>
              <a:ext uri="{FF2B5EF4-FFF2-40B4-BE49-F238E27FC236}">
                <a16:creationId xmlns:a16="http://schemas.microsoft.com/office/drawing/2014/main" id="{B8A61D01-AE7F-481E-B15A-1314F577F45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70B1ACED-3CA2-4D8A-8190-D5D38DDE12BB}"/>
              </a:ext>
            </a:extLst>
          </p:cNvPr>
          <p:cNvSpPr>
            <a:spLocks noGrp="1" noChangeArrowheads="1"/>
          </p:cNvSpPr>
          <p:nvPr>
            <p:ph type="sldNum" sz="quarter" idx="12"/>
          </p:nvPr>
        </p:nvSpPr>
        <p:spPr>
          <a:ln/>
        </p:spPr>
        <p:txBody>
          <a:bodyPr/>
          <a:lstStyle>
            <a:lvl1pPr>
              <a:defRPr/>
            </a:lvl1pPr>
          </a:lstStyle>
          <a:p>
            <a:fld id="{FB6E02C4-8721-4BB0-80A0-D654D2B2B5B8}" type="slidenum">
              <a:rPr lang="en-US" altLang="zh-CN"/>
              <a:pPr/>
              <a:t>‹#›</a:t>
            </a:fld>
            <a:endParaRPr lang="en-US" altLang="zh-CN"/>
          </a:p>
        </p:txBody>
      </p:sp>
    </p:spTree>
    <p:extLst>
      <p:ext uri="{BB962C8B-B14F-4D97-AF65-F5344CB8AC3E}">
        <p14:creationId xmlns:p14="http://schemas.microsoft.com/office/powerpoint/2010/main" val="3648129512"/>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4">
            <a:extLst>
              <a:ext uri="{FF2B5EF4-FFF2-40B4-BE49-F238E27FC236}">
                <a16:creationId xmlns:a16="http://schemas.microsoft.com/office/drawing/2014/main" id="{523E87B2-EC5B-4F41-9954-67ED696C714B}"/>
              </a:ext>
            </a:extLst>
          </p:cNvPr>
          <p:cNvSpPr>
            <a:spLocks noGrp="1" noChangeArrowheads="1"/>
          </p:cNvSpPr>
          <p:nvPr>
            <p:ph type="dt" sz="half" idx="10"/>
          </p:nvPr>
        </p:nvSpPr>
        <p:spPr>
          <a:ln/>
        </p:spPr>
        <p:txBody>
          <a:bodyPr/>
          <a:lstStyle>
            <a:lvl1pPr>
              <a:defRPr/>
            </a:lvl1pPr>
          </a:lstStyle>
          <a:p>
            <a:pPr>
              <a:defRPr/>
            </a:pPr>
            <a:fld id="{36644A84-EE49-4573-B0EA-D3CC5D93D96C}" type="datetime1">
              <a:rPr lang="zh-CN" altLang="en-US"/>
              <a:pPr>
                <a:defRPr/>
              </a:pPr>
              <a:t>2025/5/11</a:t>
            </a:fld>
            <a:endParaRPr lang="en-US" altLang="zh-CN"/>
          </a:p>
        </p:txBody>
      </p:sp>
      <p:sp>
        <p:nvSpPr>
          <p:cNvPr id="8" name="Rectangle 45">
            <a:extLst>
              <a:ext uri="{FF2B5EF4-FFF2-40B4-BE49-F238E27FC236}">
                <a16:creationId xmlns:a16="http://schemas.microsoft.com/office/drawing/2014/main" id="{C474AEE2-4178-49FD-8D5A-FA5B3B3641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6">
            <a:extLst>
              <a:ext uri="{FF2B5EF4-FFF2-40B4-BE49-F238E27FC236}">
                <a16:creationId xmlns:a16="http://schemas.microsoft.com/office/drawing/2014/main" id="{93D620BE-131A-4E3D-A2A5-5786AB680F59}"/>
              </a:ext>
            </a:extLst>
          </p:cNvPr>
          <p:cNvSpPr>
            <a:spLocks noGrp="1" noChangeArrowheads="1"/>
          </p:cNvSpPr>
          <p:nvPr>
            <p:ph type="sldNum" sz="quarter" idx="12"/>
          </p:nvPr>
        </p:nvSpPr>
        <p:spPr>
          <a:ln/>
        </p:spPr>
        <p:txBody>
          <a:bodyPr/>
          <a:lstStyle>
            <a:lvl1pPr>
              <a:defRPr/>
            </a:lvl1pPr>
          </a:lstStyle>
          <a:p>
            <a:fld id="{414D3066-84DD-440A-B457-DF4172249FC1}" type="slidenum">
              <a:rPr lang="en-US" altLang="zh-CN"/>
              <a:pPr/>
              <a:t>‹#›</a:t>
            </a:fld>
            <a:endParaRPr lang="en-US" altLang="zh-CN"/>
          </a:p>
        </p:txBody>
      </p:sp>
    </p:spTree>
    <p:extLst>
      <p:ext uri="{BB962C8B-B14F-4D97-AF65-F5344CB8AC3E}">
        <p14:creationId xmlns:p14="http://schemas.microsoft.com/office/powerpoint/2010/main" val="1794565611"/>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4">
            <a:extLst>
              <a:ext uri="{FF2B5EF4-FFF2-40B4-BE49-F238E27FC236}">
                <a16:creationId xmlns:a16="http://schemas.microsoft.com/office/drawing/2014/main" id="{A070244C-7636-4F22-A69F-032368F8330C}"/>
              </a:ext>
            </a:extLst>
          </p:cNvPr>
          <p:cNvSpPr>
            <a:spLocks noGrp="1" noChangeArrowheads="1"/>
          </p:cNvSpPr>
          <p:nvPr>
            <p:ph type="dt" sz="half" idx="10"/>
          </p:nvPr>
        </p:nvSpPr>
        <p:spPr>
          <a:ln/>
        </p:spPr>
        <p:txBody>
          <a:bodyPr/>
          <a:lstStyle>
            <a:lvl1pPr>
              <a:defRPr/>
            </a:lvl1pPr>
          </a:lstStyle>
          <a:p>
            <a:pPr>
              <a:defRPr/>
            </a:pPr>
            <a:fld id="{7281EE9A-C30F-4A35-962E-BD2C0CA6A88D}" type="datetime1">
              <a:rPr lang="zh-CN" altLang="en-US"/>
              <a:pPr>
                <a:defRPr/>
              </a:pPr>
              <a:t>2025/5/11</a:t>
            </a:fld>
            <a:endParaRPr lang="en-US" altLang="zh-CN"/>
          </a:p>
        </p:txBody>
      </p:sp>
      <p:sp>
        <p:nvSpPr>
          <p:cNvPr id="4" name="Rectangle 45">
            <a:extLst>
              <a:ext uri="{FF2B5EF4-FFF2-40B4-BE49-F238E27FC236}">
                <a16:creationId xmlns:a16="http://schemas.microsoft.com/office/drawing/2014/main" id="{2CFD109B-C982-4024-A258-8AEF635EF1B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6">
            <a:extLst>
              <a:ext uri="{FF2B5EF4-FFF2-40B4-BE49-F238E27FC236}">
                <a16:creationId xmlns:a16="http://schemas.microsoft.com/office/drawing/2014/main" id="{C7B6DE1E-E876-4079-A3FA-C637550B0C8E}"/>
              </a:ext>
            </a:extLst>
          </p:cNvPr>
          <p:cNvSpPr>
            <a:spLocks noGrp="1" noChangeArrowheads="1"/>
          </p:cNvSpPr>
          <p:nvPr>
            <p:ph type="sldNum" sz="quarter" idx="12"/>
          </p:nvPr>
        </p:nvSpPr>
        <p:spPr>
          <a:ln/>
        </p:spPr>
        <p:txBody>
          <a:bodyPr/>
          <a:lstStyle>
            <a:lvl1pPr>
              <a:defRPr/>
            </a:lvl1pPr>
          </a:lstStyle>
          <a:p>
            <a:fld id="{C9FC81B8-03C9-4E22-93A2-9FC13E3A6636}" type="slidenum">
              <a:rPr lang="en-US" altLang="zh-CN"/>
              <a:pPr/>
              <a:t>‹#›</a:t>
            </a:fld>
            <a:endParaRPr lang="en-US" altLang="zh-CN"/>
          </a:p>
        </p:txBody>
      </p:sp>
    </p:spTree>
    <p:extLst>
      <p:ext uri="{BB962C8B-B14F-4D97-AF65-F5344CB8AC3E}">
        <p14:creationId xmlns:p14="http://schemas.microsoft.com/office/powerpoint/2010/main" val="3030037562"/>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4">
            <a:extLst>
              <a:ext uri="{FF2B5EF4-FFF2-40B4-BE49-F238E27FC236}">
                <a16:creationId xmlns:a16="http://schemas.microsoft.com/office/drawing/2014/main" id="{E5478C26-0D8C-4468-92F3-DD5608B6C310}"/>
              </a:ext>
            </a:extLst>
          </p:cNvPr>
          <p:cNvSpPr>
            <a:spLocks noGrp="1" noChangeArrowheads="1"/>
          </p:cNvSpPr>
          <p:nvPr>
            <p:ph type="dt" sz="half" idx="10"/>
          </p:nvPr>
        </p:nvSpPr>
        <p:spPr>
          <a:ln/>
        </p:spPr>
        <p:txBody>
          <a:bodyPr/>
          <a:lstStyle>
            <a:lvl1pPr>
              <a:defRPr/>
            </a:lvl1pPr>
          </a:lstStyle>
          <a:p>
            <a:pPr>
              <a:defRPr/>
            </a:pPr>
            <a:fld id="{6B459AF1-EB62-4C20-BF62-F90E793F11EC}" type="datetime1">
              <a:rPr lang="zh-CN" altLang="en-US"/>
              <a:pPr>
                <a:defRPr/>
              </a:pPr>
              <a:t>2025/5/11</a:t>
            </a:fld>
            <a:endParaRPr lang="en-US" altLang="zh-CN"/>
          </a:p>
        </p:txBody>
      </p:sp>
      <p:sp>
        <p:nvSpPr>
          <p:cNvPr id="3" name="Rectangle 45">
            <a:extLst>
              <a:ext uri="{FF2B5EF4-FFF2-40B4-BE49-F238E27FC236}">
                <a16:creationId xmlns:a16="http://schemas.microsoft.com/office/drawing/2014/main" id="{BB6FF318-D880-4626-8F97-DA78A966656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6">
            <a:extLst>
              <a:ext uri="{FF2B5EF4-FFF2-40B4-BE49-F238E27FC236}">
                <a16:creationId xmlns:a16="http://schemas.microsoft.com/office/drawing/2014/main" id="{4ED4992A-D31E-4B48-8864-D2C1094EE9C9}"/>
              </a:ext>
            </a:extLst>
          </p:cNvPr>
          <p:cNvSpPr>
            <a:spLocks noGrp="1" noChangeArrowheads="1"/>
          </p:cNvSpPr>
          <p:nvPr>
            <p:ph type="sldNum" sz="quarter" idx="12"/>
          </p:nvPr>
        </p:nvSpPr>
        <p:spPr>
          <a:ln/>
        </p:spPr>
        <p:txBody>
          <a:bodyPr/>
          <a:lstStyle>
            <a:lvl1pPr>
              <a:defRPr/>
            </a:lvl1pPr>
          </a:lstStyle>
          <a:p>
            <a:fld id="{D9D89297-7B85-4BEB-9245-3071BE7FFD67}" type="slidenum">
              <a:rPr lang="en-US" altLang="zh-CN"/>
              <a:pPr/>
              <a:t>‹#›</a:t>
            </a:fld>
            <a:endParaRPr lang="en-US" altLang="zh-CN"/>
          </a:p>
        </p:txBody>
      </p:sp>
    </p:spTree>
    <p:extLst>
      <p:ext uri="{BB962C8B-B14F-4D97-AF65-F5344CB8AC3E}">
        <p14:creationId xmlns:p14="http://schemas.microsoft.com/office/powerpoint/2010/main" val="904539550"/>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4">
            <a:extLst>
              <a:ext uri="{FF2B5EF4-FFF2-40B4-BE49-F238E27FC236}">
                <a16:creationId xmlns:a16="http://schemas.microsoft.com/office/drawing/2014/main" id="{4DA547A0-B525-4B7C-AFD2-DE7561F89A2B}"/>
              </a:ext>
            </a:extLst>
          </p:cNvPr>
          <p:cNvSpPr>
            <a:spLocks noGrp="1" noChangeArrowheads="1"/>
          </p:cNvSpPr>
          <p:nvPr>
            <p:ph type="dt" sz="half" idx="10"/>
          </p:nvPr>
        </p:nvSpPr>
        <p:spPr>
          <a:ln/>
        </p:spPr>
        <p:txBody>
          <a:bodyPr/>
          <a:lstStyle>
            <a:lvl1pPr>
              <a:defRPr/>
            </a:lvl1pPr>
          </a:lstStyle>
          <a:p>
            <a:pPr>
              <a:defRPr/>
            </a:pPr>
            <a:fld id="{0784F946-AC44-45F3-AB28-F36DC16B6C21}" type="datetime1">
              <a:rPr lang="zh-CN" altLang="en-US"/>
              <a:pPr>
                <a:defRPr/>
              </a:pPr>
              <a:t>2025/5/11</a:t>
            </a:fld>
            <a:endParaRPr lang="en-US" altLang="zh-CN"/>
          </a:p>
        </p:txBody>
      </p:sp>
      <p:sp>
        <p:nvSpPr>
          <p:cNvPr id="6" name="Rectangle 45">
            <a:extLst>
              <a:ext uri="{FF2B5EF4-FFF2-40B4-BE49-F238E27FC236}">
                <a16:creationId xmlns:a16="http://schemas.microsoft.com/office/drawing/2014/main" id="{AEE072B8-175E-4913-AE2A-BB73ECB2BF5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2553CC89-1B74-4201-B53F-7D25EAA87304}"/>
              </a:ext>
            </a:extLst>
          </p:cNvPr>
          <p:cNvSpPr>
            <a:spLocks noGrp="1" noChangeArrowheads="1"/>
          </p:cNvSpPr>
          <p:nvPr>
            <p:ph type="sldNum" sz="quarter" idx="12"/>
          </p:nvPr>
        </p:nvSpPr>
        <p:spPr>
          <a:ln/>
        </p:spPr>
        <p:txBody>
          <a:bodyPr/>
          <a:lstStyle>
            <a:lvl1pPr>
              <a:defRPr/>
            </a:lvl1pPr>
          </a:lstStyle>
          <a:p>
            <a:fld id="{DFD508EF-A6D3-453E-850D-C50B3DE7A75A}" type="slidenum">
              <a:rPr lang="en-US" altLang="zh-CN"/>
              <a:pPr/>
              <a:t>‹#›</a:t>
            </a:fld>
            <a:endParaRPr lang="en-US" altLang="zh-CN"/>
          </a:p>
        </p:txBody>
      </p:sp>
    </p:spTree>
    <p:extLst>
      <p:ext uri="{BB962C8B-B14F-4D97-AF65-F5344CB8AC3E}">
        <p14:creationId xmlns:p14="http://schemas.microsoft.com/office/powerpoint/2010/main" val="162484917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4">
            <a:extLst>
              <a:ext uri="{FF2B5EF4-FFF2-40B4-BE49-F238E27FC236}">
                <a16:creationId xmlns:a16="http://schemas.microsoft.com/office/drawing/2014/main" id="{3FFF82C0-CFB5-4E43-B37C-74B16DB428C7}"/>
              </a:ext>
            </a:extLst>
          </p:cNvPr>
          <p:cNvSpPr>
            <a:spLocks noGrp="1" noChangeArrowheads="1"/>
          </p:cNvSpPr>
          <p:nvPr>
            <p:ph type="dt" sz="half" idx="10"/>
          </p:nvPr>
        </p:nvSpPr>
        <p:spPr>
          <a:ln/>
        </p:spPr>
        <p:txBody>
          <a:bodyPr/>
          <a:lstStyle>
            <a:lvl1pPr>
              <a:defRPr/>
            </a:lvl1pPr>
          </a:lstStyle>
          <a:p>
            <a:pPr>
              <a:defRPr/>
            </a:pPr>
            <a:fld id="{99409190-4826-42D8-AE59-42AFABBD29A2}" type="datetime1">
              <a:rPr lang="zh-CN" altLang="en-US"/>
              <a:pPr>
                <a:defRPr/>
              </a:pPr>
              <a:t>2025/5/11</a:t>
            </a:fld>
            <a:endParaRPr lang="en-US" altLang="zh-CN"/>
          </a:p>
        </p:txBody>
      </p:sp>
      <p:sp>
        <p:nvSpPr>
          <p:cNvPr id="6" name="Rectangle 45">
            <a:extLst>
              <a:ext uri="{FF2B5EF4-FFF2-40B4-BE49-F238E27FC236}">
                <a16:creationId xmlns:a16="http://schemas.microsoft.com/office/drawing/2014/main" id="{A19E020F-4805-465C-8A06-7408182E4FB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6">
            <a:extLst>
              <a:ext uri="{FF2B5EF4-FFF2-40B4-BE49-F238E27FC236}">
                <a16:creationId xmlns:a16="http://schemas.microsoft.com/office/drawing/2014/main" id="{2C21DBF1-01A3-44A3-B17F-9F1FC667E2B5}"/>
              </a:ext>
            </a:extLst>
          </p:cNvPr>
          <p:cNvSpPr>
            <a:spLocks noGrp="1" noChangeArrowheads="1"/>
          </p:cNvSpPr>
          <p:nvPr>
            <p:ph type="sldNum" sz="quarter" idx="12"/>
          </p:nvPr>
        </p:nvSpPr>
        <p:spPr>
          <a:ln/>
        </p:spPr>
        <p:txBody>
          <a:bodyPr/>
          <a:lstStyle>
            <a:lvl1pPr>
              <a:defRPr/>
            </a:lvl1pPr>
          </a:lstStyle>
          <a:p>
            <a:fld id="{1D623C3B-6B0B-47D4-A159-611072EE003A}" type="slidenum">
              <a:rPr lang="en-US" altLang="zh-CN"/>
              <a:pPr/>
              <a:t>‹#›</a:t>
            </a:fld>
            <a:endParaRPr lang="en-US" altLang="zh-CN"/>
          </a:p>
        </p:txBody>
      </p:sp>
    </p:spTree>
    <p:extLst>
      <p:ext uri="{BB962C8B-B14F-4D97-AF65-F5344CB8AC3E}">
        <p14:creationId xmlns:p14="http://schemas.microsoft.com/office/powerpoint/2010/main" val="425452335"/>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a:extLst>
              <a:ext uri="{FF2B5EF4-FFF2-40B4-BE49-F238E27FC236}">
                <a16:creationId xmlns:a16="http://schemas.microsoft.com/office/drawing/2014/main" id="{CD6A3DB7-9102-4090-9095-5F9B6DE2EF3C}"/>
              </a:ext>
            </a:extLst>
          </p:cNvPr>
          <p:cNvSpPr>
            <a:spLocks noGrp="1" noChangeArrowheads="1"/>
          </p:cNvSpPr>
          <p:nvPr>
            <p:ph type="dt" sz="half" idx="10"/>
          </p:nvPr>
        </p:nvSpPr>
        <p:spPr>
          <a:ln/>
        </p:spPr>
        <p:txBody>
          <a:bodyPr/>
          <a:lstStyle>
            <a:lvl1pPr>
              <a:defRPr/>
            </a:lvl1pPr>
          </a:lstStyle>
          <a:p>
            <a:pPr>
              <a:defRPr/>
            </a:pPr>
            <a:fld id="{FB68DC0B-58D7-4E0C-B759-743CF0270D76}" type="datetime1">
              <a:rPr lang="zh-CN" altLang="en-US"/>
              <a:pPr>
                <a:defRPr/>
              </a:pPr>
              <a:t>2025/5/11</a:t>
            </a:fld>
            <a:endParaRPr lang="en-US" altLang="zh-CN"/>
          </a:p>
        </p:txBody>
      </p:sp>
      <p:sp>
        <p:nvSpPr>
          <p:cNvPr id="5" name="Rectangle 45">
            <a:extLst>
              <a:ext uri="{FF2B5EF4-FFF2-40B4-BE49-F238E27FC236}">
                <a16:creationId xmlns:a16="http://schemas.microsoft.com/office/drawing/2014/main" id="{A7275613-11F6-4492-879D-3BD0039748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FA9E2DB0-FBD4-49FA-B26C-7EDC26E6D3D8}"/>
              </a:ext>
            </a:extLst>
          </p:cNvPr>
          <p:cNvSpPr>
            <a:spLocks noGrp="1" noChangeArrowheads="1"/>
          </p:cNvSpPr>
          <p:nvPr>
            <p:ph type="sldNum" sz="quarter" idx="12"/>
          </p:nvPr>
        </p:nvSpPr>
        <p:spPr>
          <a:ln/>
        </p:spPr>
        <p:txBody>
          <a:bodyPr/>
          <a:lstStyle>
            <a:lvl1pPr>
              <a:defRPr/>
            </a:lvl1pPr>
          </a:lstStyle>
          <a:p>
            <a:fld id="{B4F420A7-138F-4798-BD36-558465175175}" type="slidenum">
              <a:rPr lang="en-US" altLang="zh-CN"/>
              <a:pPr/>
              <a:t>‹#›</a:t>
            </a:fld>
            <a:endParaRPr lang="en-US" altLang="zh-CN"/>
          </a:p>
        </p:txBody>
      </p:sp>
    </p:spTree>
    <p:extLst>
      <p:ext uri="{BB962C8B-B14F-4D97-AF65-F5344CB8AC3E}">
        <p14:creationId xmlns:p14="http://schemas.microsoft.com/office/powerpoint/2010/main" val="1932265494"/>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a:extLst>
              <a:ext uri="{FF2B5EF4-FFF2-40B4-BE49-F238E27FC236}">
                <a16:creationId xmlns:a16="http://schemas.microsoft.com/office/drawing/2014/main" id="{F80D3529-4512-49B8-A28F-230B79339CE4}"/>
              </a:ext>
            </a:extLst>
          </p:cNvPr>
          <p:cNvSpPr>
            <a:spLocks noGrp="1" noChangeArrowheads="1"/>
          </p:cNvSpPr>
          <p:nvPr>
            <p:ph type="dt" sz="half" idx="10"/>
          </p:nvPr>
        </p:nvSpPr>
        <p:spPr>
          <a:ln/>
        </p:spPr>
        <p:txBody>
          <a:bodyPr/>
          <a:lstStyle>
            <a:lvl1pPr>
              <a:defRPr/>
            </a:lvl1pPr>
          </a:lstStyle>
          <a:p>
            <a:pPr>
              <a:defRPr/>
            </a:pPr>
            <a:fld id="{BB3964C9-01E0-47ED-88DB-C90C412E57BF}" type="datetime1">
              <a:rPr lang="zh-CN" altLang="en-US"/>
              <a:pPr>
                <a:defRPr/>
              </a:pPr>
              <a:t>2025/5/11</a:t>
            </a:fld>
            <a:endParaRPr lang="en-US" altLang="zh-CN"/>
          </a:p>
        </p:txBody>
      </p:sp>
      <p:sp>
        <p:nvSpPr>
          <p:cNvPr id="5" name="Rectangle 45">
            <a:extLst>
              <a:ext uri="{FF2B5EF4-FFF2-40B4-BE49-F238E27FC236}">
                <a16:creationId xmlns:a16="http://schemas.microsoft.com/office/drawing/2014/main" id="{6840DEF3-EC95-43BD-AE44-D049C94642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6">
            <a:extLst>
              <a:ext uri="{FF2B5EF4-FFF2-40B4-BE49-F238E27FC236}">
                <a16:creationId xmlns:a16="http://schemas.microsoft.com/office/drawing/2014/main" id="{39557517-CB44-4B50-8019-D25DF16822D8}"/>
              </a:ext>
            </a:extLst>
          </p:cNvPr>
          <p:cNvSpPr>
            <a:spLocks noGrp="1" noChangeArrowheads="1"/>
          </p:cNvSpPr>
          <p:nvPr>
            <p:ph type="sldNum" sz="quarter" idx="12"/>
          </p:nvPr>
        </p:nvSpPr>
        <p:spPr>
          <a:ln/>
        </p:spPr>
        <p:txBody>
          <a:bodyPr/>
          <a:lstStyle>
            <a:lvl1pPr>
              <a:defRPr/>
            </a:lvl1pPr>
          </a:lstStyle>
          <a:p>
            <a:fld id="{32084A58-96B7-4F9E-A5ED-CB33463651D0}" type="slidenum">
              <a:rPr lang="en-US" altLang="zh-CN"/>
              <a:pPr/>
              <a:t>‹#›</a:t>
            </a:fld>
            <a:endParaRPr lang="en-US" altLang="zh-CN"/>
          </a:p>
        </p:txBody>
      </p:sp>
    </p:spTree>
    <p:extLst>
      <p:ext uri="{BB962C8B-B14F-4D97-AF65-F5344CB8AC3E}">
        <p14:creationId xmlns:p14="http://schemas.microsoft.com/office/powerpoint/2010/main" val="101778326"/>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58"/>
            </a:gs>
            <a:gs pos="100000">
              <a:schemeClr val="bg1"/>
            </a:gs>
          </a:gsLst>
          <a:lin ang="27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531130E7-62B2-4181-A811-DF1857A4B0AD}"/>
              </a:ext>
            </a:extLst>
          </p:cNvPr>
          <p:cNvGrpSpPr>
            <a:grpSpLocks/>
          </p:cNvGrpSpPr>
          <p:nvPr/>
        </p:nvGrpSpPr>
        <p:grpSpPr bwMode="auto">
          <a:xfrm>
            <a:off x="0" y="0"/>
            <a:ext cx="9144000" cy="6856413"/>
            <a:chOff x="0" y="0"/>
            <a:chExt cx="5760" cy="4319"/>
          </a:xfrm>
        </p:grpSpPr>
        <p:sp>
          <p:nvSpPr>
            <p:cNvPr id="68611" name="Freeform 3">
              <a:extLst>
                <a:ext uri="{FF2B5EF4-FFF2-40B4-BE49-F238E27FC236}">
                  <a16:creationId xmlns:a16="http://schemas.microsoft.com/office/drawing/2014/main" id="{C86E579C-DBC0-43C9-AE05-8A4721B7662F}"/>
                </a:ext>
              </a:extLst>
            </p:cNvPr>
            <p:cNvSpPr>
              <a:spLocks/>
            </p:cNvSpPr>
            <p:nvPr/>
          </p:nvSpPr>
          <p:spPr bwMode="hidden">
            <a:xfrm>
              <a:off x="0" y="12"/>
              <a:ext cx="5758" cy="3273"/>
            </a:xfrm>
            <a:custGeom>
              <a:avLst/>
              <a:gdLst>
                <a:gd name="T0" fmla="*/ 3193 w 5740"/>
                <a:gd name="T1" fmla="*/ 1816 h 3273"/>
                <a:gd name="T2" fmla="*/ 0 w 5740"/>
                <a:gd name="T3" fmla="*/ 0 h 3273"/>
                <a:gd name="T4" fmla="*/ 0 w 5740"/>
                <a:gd name="T5" fmla="*/ 522 h 3273"/>
                <a:gd name="T6" fmla="*/ 3037 w 5740"/>
                <a:gd name="T7" fmla="*/ 1978 h 3273"/>
                <a:gd name="T8" fmla="*/ 5740 w 5740"/>
                <a:gd name="T9" fmla="*/ 3273 h 3273"/>
                <a:gd name="T10" fmla="*/ 5740 w 5740"/>
                <a:gd name="T11" fmla="*/ 3267 h 3273"/>
                <a:gd name="T12" fmla="*/ 3193 w 5740"/>
                <a:gd name="T13" fmla="*/ 1816 h 3273"/>
                <a:gd name="T14" fmla="*/ 3193 w 5740"/>
                <a:gd name="T15" fmla="*/ 1816 h 32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chemeClr val="bg2">
                    <a:gamma/>
                    <a:shade val="63529"/>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12" name="Freeform 4">
              <a:extLst>
                <a:ext uri="{FF2B5EF4-FFF2-40B4-BE49-F238E27FC236}">
                  <a16:creationId xmlns:a16="http://schemas.microsoft.com/office/drawing/2014/main" id="{43477FA2-B9B0-4625-B5C6-6EA4B08D6CC3}"/>
                </a:ext>
              </a:extLst>
            </p:cNvPr>
            <p:cNvSpPr>
              <a:spLocks/>
            </p:cNvSpPr>
            <p:nvPr/>
          </p:nvSpPr>
          <p:spPr bwMode="hidden">
            <a:xfrm>
              <a:off x="149" y="0"/>
              <a:ext cx="5609" cy="3243"/>
            </a:xfrm>
            <a:custGeom>
              <a:avLst/>
              <a:gdLst>
                <a:gd name="T0" fmla="*/ 3163 w 5591"/>
                <a:gd name="T1" fmla="*/ 1714 h 3243"/>
                <a:gd name="T2" fmla="*/ 431 w 5591"/>
                <a:gd name="T3" fmla="*/ 0 h 3243"/>
                <a:gd name="T4" fmla="*/ 0 w 5591"/>
                <a:gd name="T5" fmla="*/ 0 h 3243"/>
                <a:gd name="T6" fmla="*/ 3086 w 5591"/>
                <a:gd name="T7" fmla="*/ 1786 h 3243"/>
                <a:gd name="T8" fmla="*/ 5591 w 5591"/>
                <a:gd name="T9" fmla="*/ 3243 h 3243"/>
                <a:gd name="T10" fmla="*/ 5591 w 5591"/>
                <a:gd name="T11" fmla="*/ 3237 h 3243"/>
                <a:gd name="T12" fmla="*/ 3163 w 5591"/>
                <a:gd name="T13" fmla="*/ 1714 h 3243"/>
                <a:gd name="T14" fmla="*/ 3163 w 5591"/>
                <a:gd name="T15" fmla="*/ 1714 h 324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13" name="Freeform 5">
              <a:extLst>
                <a:ext uri="{FF2B5EF4-FFF2-40B4-BE49-F238E27FC236}">
                  <a16:creationId xmlns:a16="http://schemas.microsoft.com/office/drawing/2014/main" id="{9AB8B710-715A-4592-9151-79D745D08763}"/>
                </a:ext>
              </a:extLst>
            </p:cNvPr>
            <p:cNvSpPr>
              <a:spLocks/>
            </p:cNvSpPr>
            <p:nvPr/>
          </p:nvSpPr>
          <p:spPr bwMode="hidden">
            <a:xfrm>
              <a:off x="0" y="3433"/>
              <a:ext cx="4038" cy="191"/>
            </a:xfrm>
            <a:custGeom>
              <a:avLst/>
              <a:gdLst>
                <a:gd name="T0" fmla="*/ 0 w 4042"/>
                <a:gd name="T1" fmla="*/ 156 h 192"/>
                <a:gd name="T2" fmla="*/ 4042 w 4042"/>
                <a:gd name="T3" fmla="*/ 192 h 192"/>
                <a:gd name="T4" fmla="*/ 4042 w 4042"/>
                <a:gd name="T5" fmla="*/ 144 h 192"/>
                <a:gd name="T6" fmla="*/ 0 w 4042"/>
                <a:gd name="T7" fmla="*/ 0 h 192"/>
                <a:gd name="T8" fmla="*/ 0 w 4042"/>
                <a:gd name="T9" fmla="*/ 156 h 192"/>
                <a:gd name="T10" fmla="*/ 0 w 4042"/>
                <a:gd name="T11" fmla="*/ 156 h 192"/>
              </a:gdLst>
              <a:ahLst/>
              <a:cxnLst>
                <a:cxn ang="0">
                  <a:pos x="T0" y="T1"/>
                </a:cxn>
                <a:cxn ang="0">
                  <a:pos x="T2" y="T3"/>
                </a:cxn>
                <a:cxn ang="0">
                  <a:pos x="T4" y="T5"/>
                </a:cxn>
                <a:cxn ang="0">
                  <a:pos x="T6" y="T7"/>
                </a:cxn>
                <a:cxn ang="0">
                  <a:pos x="T8" y="T9"/>
                </a:cxn>
                <a:cxn ang="0">
                  <a:pos x="T10" y="T11"/>
                </a:cxn>
              </a:cxnLst>
              <a:rect l="0" t="0" r="r" b="b"/>
              <a:pathLst>
                <a:path w="4042" h="192">
                  <a:moveTo>
                    <a:pt x="0" y="156"/>
                  </a:moveTo>
                  <a:lnTo>
                    <a:pt x="4042" y="192"/>
                  </a:lnTo>
                  <a:lnTo>
                    <a:pt x="4042" y="144"/>
                  </a:lnTo>
                  <a:lnTo>
                    <a:pt x="0" y="0"/>
                  </a:lnTo>
                  <a:lnTo>
                    <a:pt x="0" y="156"/>
                  </a:lnTo>
                  <a:lnTo>
                    <a:pt x="0" y="156"/>
                  </a:lnTo>
                  <a:close/>
                </a:path>
              </a:pathLst>
            </a:custGeom>
            <a:gradFill rotWithShape="0">
              <a:gsLst>
                <a:gs pos="0">
                  <a:schemeClr val="bg2">
                    <a:gamma/>
                    <a:shade val="75686"/>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35" name="Freeform 6">
              <a:extLst>
                <a:ext uri="{FF2B5EF4-FFF2-40B4-BE49-F238E27FC236}">
                  <a16:creationId xmlns:a16="http://schemas.microsoft.com/office/drawing/2014/main" id="{DF40D437-0059-43D5-877E-9F360428EDAD}"/>
                </a:ext>
              </a:extLst>
            </p:cNvPr>
            <p:cNvSpPr>
              <a:spLocks/>
            </p:cNvSpPr>
            <p:nvPr/>
          </p:nvSpPr>
          <p:spPr bwMode="hidden">
            <a:xfrm>
              <a:off x="4038" y="3577"/>
              <a:ext cx="1720" cy="65"/>
            </a:xfrm>
            <a:custGeom>
              <a:avLst/>
              <a:gdLst>
                <a:gd name="T0" fmla="*/ 1718 w 1722"/>
                <a:gd name="T1" fmla="*/ 64 h 66"/>
                <a:gd name="T2" fmla="*/ 1718 w 1722"/>
                <a:gd name="T3" fmla="*/ 58 h 66"/>
                <a:gd name="T4" fmla="*/ 0 w 1722"/>
                <a:gd name="T5" fmla="*/ 0 h 66"/>
                <a:gd name="T6" fmla="*/ 0 w 1722"/>
                <a:gd name="T7" fmla="*/ 46 h 66"/>
                <a:gd name="T8" fmla="*/ 1718 w 1722"/>
                <a:gd name="T9" fmla="*/ 64 h 66"/>
                <a:gd name="T10" fmla="*/ 1718 w 1722"/>
                <a:gd name="T11" fmla="*/ 64 h 6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22" h="66">
                  <a:moveTo>
                    <a:pt x="1722" y="66"/>
                  </a:moveTo>
                  <a:lnTo>
                    <a:pt x="1722" y="60"/>
                  </a:lnTo>
                  <a:lnTo>
                    <a:pt x="0" y="0"/>
                  </a:lnTo>
                  <a:lnTo>
                    <a:pt x="0" y="48"/>
                  </a:lnTo>
                  <a:lnTo>
                    <a:pt x="1722" y="66"/>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15" name="Freeform 7">
              <a:extLst>
                <a:ext uri="{FF2B5EF4-FFF2-40B4-BE49-F238E27FC236}">
                  <a16:creationId xmlns:a16="http://schemas.microsoft.com/office/drawing/2014/main" id="{D3EDAA39-CC26-4519-BE82-27DA02D2D002}"/>
                </a:ext>
              </a:extLst>
            </p:cNvPr>
            <p:cNvSpPr>
              <a:spLocks/>
            </p:cNvSpPr>
            <p:nvPr/>
          </p:nvSpPr>
          <p:spPr bwMode="hidden">
            <a:xfrm>
              <a:off x="0" y="3726"/>
              <a:ext cx="4784" cy="329"/>
            </a:xfrm>
            <a:custGeom>
              <a:avLst/>
              <a:gdLst>
                <a:gd name="T0" fmla="*/ 0 w 4789"/>
                <a:gd name="T1" fmla="*/ 329 h 329"/>
                <a:gd name="T2" fmla="*/ 4789 w 4789"/>
                <a:gd name="T3" fmla="*/ 77 h 329"/>
                <a:gd name="T4" fmla="*/ 4789 w 4789"/>
                <a:gd name="T5" fmla="*/ 0 h 329"/>
                <a:gd name="T6" fmla="*/ 0 w 4789"/>
                <a:gd name="T7" fmla="*/ 107 h 329"/>
                <a:gd name="T8" fmla="*/ 0 w 4789"/>
                <a:gd name="T9" fmla="*/ 329 h 329"/>
                <a:gd name="T10" fmla="*/ 0 w 4789"/>
                <a:gd name="T11" fmla="*/ 329 h 329"/>
              </a:gdLst>
              <a:ahLst/>
              <a:cxnLst>
                <a:cxn ang="0">
                  <a:pos x="T0" y="T1"/>
                </a:cxn>
                <a:cxn ang="0">
                  <a:pos x="T2" y="T3"/>
                </a:cxn>
                <a:cxn ang="0">
                  <a:pos x="T4" y="T5"/>
                </a:cxn>
                <a:cxn ang="0">
                  <a:pos x="T6" y="T7"/>
                </a:cxn>
                <a:cxn ang="0">
                  <a:pos x="T8" y="T9"/>
                </a:cxn>
                <a:cxn ang="0">
                  <a:pos x="T10" y="T11"/>
                </a:cxn>
              </a:cxnLst>
              <a:rect l="0" t="0" r="r" b="b"/>
              <a:pathLst>
                <a:path w="4789" h="329">
                  <a:moveTo>
                    <a:pt x="0" y="329"/>
                  </a:moveTo>
                  <a:lnTo>
                    <a:pt x="4789" y="77"/>
                  </a:lnTo>
                  <a:lnTo>
                    <a:pt x="4789" y="0"/>
                  </a:lnTo>
                  <a:lnTo>
                    <a:pt x="0" y="107"/>
                  </a:lnTo>
                  <a:lnTo>
                    <a:pt x="0" y="329"/>
                  </a:lnTo>
                  <a:lnTo>
                    <a:pt x="0" y="329"/>
                  </a:lnTo>
                  <a:close/>
                </a:path>
              </a:pathLst>
            </a:custGeom>
            <a:gradFill rotWithShape="0">
              <a:gsLst>
                <a:gs pos="0">
                  <a:schemeClr val="bg1">
                    <a:gamma/>
                    <a:shade val="81961"/>
                    <a:invGamma/>
                  </a:schemeClr>
                </a:gs>
                <a:gs pos="100000">
                  <a:schemeClr val="bg1"/>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endParaRPr lang="zh-CN" altLang="en-US"/>
            </a:p>
          </p:txBody>
        </p:sp>
        <p:sp>
          <p:nvSpPr>
            <p:cNvPr id="1037" name="Freeform 8">
              <a:extLst>
                <a:ext uri="{FF2B5EF4-FFF2-40B4-BE49-F238E27FC236}">
                  <a16:creationId xmlns:a16="http://schemas.microsoft.com/office/drawing/2014/main" id="{2D0B60C3-4EDA-4980-95F0-D5C06E2C0504}"/>
                </a:ext>
              </a:extLst>
            </p:cNvPr>
            <p:cNvSpPr>
              <a:spLocks/>
            </p:cNvSpPr>
            <p:nvPr/>
          </p:nvSpPr>
          <p:spPr bwMode="hidden">
            <a:xfrm>
              <a:off x="4784" y="3702"/>
              <a:ext cx="974" cy="101"/>
            </a:xfrm>
            <a:custGeom>
              <a:avLst/>
              <a:gdLst>
                <a:gd name="T0" fmla="*/ 973 w 975"/>
                <a:gd name="T1" fmla="*/ 48 h 101"/>
                <a:gd name="T2" fmla="*/ 973 w 975"/>
                <a:gd name="T3" fmla="*/ 0 h 101"/>
                <a:gd name="T4" fmla="*/ 0 w 975"/>
                <a:gd name="T5" fmla="*/ 24 h 101"/>
                <a:gd name="T6" fmla="*/ 0 w 975"/>
                <a:gd name="T7" fmla="*/ 101 h 101"/>
                <a:gd name="T8" fmla="*/ 973 w 975"/>
                <a:gd name="T9" fmla="*/ 48 h 101"/>
                <a:gd name="T10" fmla="*/ 973 w 975"/>
                <a:gd name="T11" fmla="*/ 48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75" h="101">
                  <a:moveTo>
                    <a:pt x="975" y="48"/>
                  </a:moveTo>
                  <a:lnTo>
                    <a:pt x="975" y="0"/>
                  </a:lnTo>
                  <a:lnTo>
                    <a:pt x="0" y="24"/>
                  </a:lnTo>
                  <a:lnTo>
                    <a:pt x="0" y="101"/>
                  </a:lnTo>
                  <a:lnTo>
                    <a:pt x="975" y="4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8" name="Freeform 9">
              <a:extLst>
                <a:ext uri="{FF2B5EF4-FFF2-40B4-BE49-F238E27FC236}">
                  <a16:creationId xmlns:a16="http://schemas.microsoft.com/office/drawing/2014/main" id="{049485AD-DF3C-4E8C-9177-382B3A97AA83}"/>
                </a:ext>
              </a:extLst>
            </p:cNvPr>
            <p:cNvSpPr>
              <a:spLocks/>
            </p:cNvSpPr>
            <p:nvPr/>
          </p:nvSpPr>
          <p:spPr bwMode="hidden">
            <a:xfrm>
              <a:off x="3619" y="3815"/>
              <a:ext cx="2139" cy="198"/>
            </a:xfrm>
            <a:custGeom>
              <a:avLst/>
              <a:gdLst>
                <a:gd name="T0" fmla="*/ 2137 w 2141"/>
                <a:gd name="T1" fmla="*/ 0 h 198"/>
                <a:gd name="T2" fmla="*/ 0 w 2141"/>
                <a:gd name="T3" fmla="*/ 156 h 198"/>
                <a:gd name="T4" fmla="*/ 0 w 2141"/>
                <a:gd name="T5" fmla="*/ 198 h 198"/>
                <a:gd name="T6" fmla="*/ 2137 w 2141"/>
                <a:gd name="T7" fmla="*/ 0 h 198"/>
                <a:gd name="T8" fmla="*/ 2137 w 2141"/>
                <a:gd name="T9" fmla="*/ 0 h 1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41" h="198">
                  <a:moveTo>
                    <a:pt x="2141" y="0"/>
                  </a:moveTo>
                  <a:lnTo>
                    <a:pt x="0" y="156"/>
                  </a:lnTo>
                  <a:lnTo>
                    <a:pt x="0" y="198"/>
                  </a:lnTo>
                  <a:lnTo>
                    <a:pt x="2141"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18" name="Freeform 10">
              <a:extLst>
                <a:ext uri="{FF2B5EF4-FFF2-40B4-BE49-F238E27FC236}">
                  <a16:creationId xmlns:a16="http://schemas.microsoft.com/office/drawing/2014/main" id="{42E7E4EF-A0B2-4879-BA0D-288C573EDABA}"/>
                </a:ext>
              </a:extLst>
            </p:cNvPr>
            <p:cNvSpPr>
              <a:spLocks/>
            </p:cNvSpPr>
            <p:nvPr/>
          </p:nvSpPr>
          <p:spPr bwMode="hidden">
            <a:xfrm>
              <a:off x="0" y="3971"/>
              <a:ext cx="3619" cy="348"/>
            </a:xfrm>
            <a:custGeom>
              <a:avLst/>
              <a:gdLst>
                <a:gd name="T0" fmla="*/ 0 w 3623"/>
                <a:gd name="T1" fmla="*/ 348 h 348"/>
                <a:gd name="T2" fmla="*/ 311 w 3623"/>
                <a:gd name="T3" fmla="*/ 348 h 348"/>
                <a:gd name="T4" fmla="*/ 3623 w 3623"/>
                <a:gd name="T5" fmla="*/ 42 h 348"/>
                <a:gd name="T6" fmla="*/ 3623 w 3623"/>
                <a:gd name="T7" fmla="*/ 0 h 348"/>
                <a:gd name="T8" fmla="*/ 0 w 3623"/>
                <a:gd name="T9" fmla="*/ 264 h 348"/>
                <a:gd name="T10" fmla="*/ 0 w 3623"/>
                <a:gd name="T11" fmla="*/ 348 h 348"/>
                <a:gd name="T12" fmla="*/ 0 w 3623"/>
                <a:gd name="T13" fmla="*/ 348 h 348"/>
              </a:gdLst>
              <a:ahLst/>
              <a:cxnLst>
                <a:cxn ang="0">
                  <a:pos x="T0" y="T1"/>
                </a:cxn>
                <a:cxn ang="0">
                  <a:pos x="T2" y="T3"/>
                </a:cxn>
                <a:cxn ang="0">
                  <a:pos x="T4" y="T5"/>
                </a:cxn>
                <a:cxn ang="0">
                  <a:pos x="T6" y="T7"/>
                </a:cxn>
                <a:cxn ang="0">
                  <a:pos x="T8" y="T9"/>
                </a:cxn>
                <a:cxn ang="0">
                  <a:pos x="T10" y="T11"/>
                </a:cxn>
                <a:cxn ang="0">
                  <a:pos x="T12" y="T13"/>
                </a:cxn>
              </a:cxnLst>
              <a:rect l="0" t="0" r="r" b="b"/>
              <a:pathLst>
                <a:path w="3623" h="348">
                  <a:moveTo>
                    <a:pt x="0" y="348"/>
                  </a:moveTo>
                  <a:lnTo>
                    <a:pt x="311" y="348"/>
                  </a:lnTo>
                  <a:lnTo>
                    <a:pt x="3623" y="42"/>
                  </a:lnTo>
                  <a:lnTo>
                    <a:pt x="3623" y="0"/>
                  </a:lnTo>
                  <a:lnTo>
                    <a:pt x="0" y="264"/>
                  </a:lnTo>
                  <a:lnTo>
                    <a:pt x="0" y="348"/>
                  </a:lnTo>
                  <a:lnTo>
                    <a:pt x="0" y="348"/>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40" name="Freeform 11">
              <a:extLst>
                <a:ext uri="{FF2B5EF4-FFF2-40B4-BE49-F238E27FC236}">
                  <a16:creationId xmlns:a16="http://schemas.microsoft.com/office/drawing/2014/main" id="{835E6FB4-2C6C-492B-BE7E-16633DA07447}"/>
                </a:ext>
              </a:extLst>
            </p:cNvPr>
            <p:cNvSpPr>
              <a:spLocks/>
            </p:cNvSpPr>
            <p:nvPr/>
          </p:nvSpPr>
          <p:spPr bwMode="hidden">
            <a:xfrm>
              <a:off x="2097" y="4043"/>
              <a:ext cx="2514" cy="276"/>
            </a:xfrm>
            <a:custGeom>
              <a:avLst/>
              <a:gdLst>
                <a:gd name="T0" fmla="*/ 2176 w 2517"/>
                <a:gd name="T1" fmla="*/ 276 h 276"/>
                <a:gd name="T2" fmla="*/ 2511 w 2517"/>
                <a:gd name="T3" fmla="*/ 204 h 276"/>
                <a:gd name="T4" fmla="*/ 2254 w 2517"/>
                <a:gd name="T5" fmla="*/ 0 h 276"/>
                <a:gd name="T6" fmla="*/ 0 w 2517"/>
                <a:gd name="T7" fmla="*/ 276 h 276"/>
                <a:gd name="T8" fmla="*/ 2176 w 2517"/>
                <a:gd name="T9" fmla="*/ 276 h 276"/>
                <a:gd name="T10" fmla="*/ 2176 w 2517"/>
                <a:gd name="T11" fmla="*/ 276 h 27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7" h="276">
                  <a:moveTo>
                    <a:pt x="2182" y="276"/>
                  </a:moveTo>
                  <a:lnTo>
                    <a:pt x="2517" y="204"/>
                  </a:lnTo>
                  <a:lnTo>
                    <a:pt x="2260" y="0"/>
                  </a:lnTo>
                  <a:lnTo>
                    <a:pt x="0" y="276"/>
                  </a:lnTo>
                  <a:lnTo>
                    <a:pt x="2182" y="2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20" name="Freeform 12">
              <a:extLst>
                <a:ext uri="{FF2B5EF4-FFF2-40B4-BE49-F238E27FC236}">
                  <a16:creationId xmlns:a16="http://schemas.microsoft.com/office/drawing/2014/main" id="{995C0DF6-F567-49EB-9D9B-386444AF0A0C}"/>
                </a:ext>
              </a:extLst>
            </p:cNvPr>
            <p:cNvSpPr>
              <a:spLocks/>
            </p:cNvSpPr>
            <p:nvPr/>
          </p:nvSpPr>
          <p:spPr bwMode="hidden">
            <a:xfrm>
              <a:off x="4354" y="3869"/>
              <a:ext cx="1404" cy="378"/>
            </a:xfrm>
            <a:custGeom>
              <a:avLst/>
              <a:gdLst>
                <a:gd name="T0" fmla="*/ 1405 w 1405"/>
                <a:gd name="T1" fmla="*/ 126 h 378"/>
                <a:gd name="T2" fmla="*/ 1405 w 1405"/>
                <a:gd name="T3" fmla="*/ 0 h 378"/>
                <a:gd name="T4" fmla="*/ 0 w 1405"/>
                <a:gd name="T5" fmla="*/ 174 h 378"/>
                <a:gd name="T6" fmla="*/ 257 w 1405"/>
                <a:gd name="T7" fmla="*/ 378 h 378"/>
                <a:gd name="T8" fmla="*/ 1405 w 1405"/>
                <a:gd name="T9" fmla="*/ 126 h 378"/>
                <a:gd name="T10" fmla="*/ 1405 w 1405"/>
                <a:gd name="T11" fmla="*/ 126 h 378"/>
              </a:gdLst>
              <a:ahLst/>
              <a:cxnLst>
                <a:cxn ang="0">
                  <a:pos x="T0" y="T1"/>
                </a:cxn>
                <a:cxn ang="0">
                  <a:pos x="T2" y="T3"/>
                </a:cxn>
                <a:cxn ang="0">
                  <a:pos x="T4" y="T5"/>
                </a:cxn>
                <a:cxn ang="0">
                  <a:pos x="T6" y="T7"/>
                </a:cxn>
                <a:cxn ang="0">
                  <a:pos x="T8" y="T9"/>
                </a:cxn>
                <a:cxn ang="0">
                  <a:pos x="T10" y="T11"/>
                </a:cxn>
              </a:cxnLst>
              <a:rect l="0" t="0" r="r" b="b"/>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chemeClr val="bg1">
                    <a:gamma/>
                    <a:tint val="96863"/>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42" name="Freeform 13">
              <a:extLst>
                <a:ext uri="{FF2B5EF4-FFF2-40B4-BE49-F238E27FC236}">
                  <a16:creationId xmlns:a16="http://schemas.microsoft.com/office/drawing/2014/main" id="{DA58B162-A2A6-4F8F-A09B-C807370BA311}"/>
                </a:ext>
              </a:extLst>
            </p:cNvPr>
            <p:cNvSpPr>
              <a:spLocks/>
            </p:cNvSpPr>
            <p:nvPr/>
          </p:nvSpPr>
          <p:spPr bwMode="hidden">
            <a:xfrm>
              <a:off x="5030" y="3151"/>
              <a:ext cx="728" cy="240"/>
            </a:xfrm>
            <a:custGeom>
              <a:avLst/>
              <a:gdLst>
                <a:gd name="T0" fmla="*/ 727 w 729"/>
                <a:gd name="T1" fmla="*/ 240 h 240"/>
                <a:gd name="T2" fmla="*/ 0 w 729"/>
                <a:gd name="T3" fmla="*/ 0 h 240"/>
                <a:gd name="T4" fmla="*/ 0 w 729"/>
                <a:gd name="T5" fmla="*/ 6 h 240"/>
                <a:gd name="T6" fmla="*/ 727 w 729"/>
                <a:gd name="T7" fmla="*/ 240 h 240"/>
                <a:gd name="T8" fmla="*/ 727 w 729"/>
                <a:gd name="T9" fmla="*/ 240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29" h="240">
                  <a:moveTo>
                    <a:pt x="729" y="240"/>
                  </a:moveTo>
                  <a:lnTo>
                    <a:pt x="0" y="0"/>
                  </a:lnTo>
                  <a:lnTo>
                    <a:pt x="0" y="6"/>
                  </a:lnTo>
                  <a:lnTo>
                    <a:pt x="729" y="24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22" name="Freeform 14">
              <a:extLst>
                <a:ext uri="{FF2B5EF4-FFF2-40B4-BE49-F238E27FC236}">
                  <a16:creationId xmlns:a16="http://schemas.microsoft.com/office/drawing/2014/main" id="{FD010CCF-691A-4718-9266-63E476B27DA1}"/>
                </a:ext>
              </a:extLst>
            </p:cNvPr>
            <p:cNvSpPr>
              <a:spLocks/>
            </p:cNvSpPr>
            <p:nvPr/>
          </p:nvSpPr>
          <p:spPr bwMode="hidden">
            <a:xfrm>
              <a:off x="0" y="1486"/>
              <a:ext cx="5030" cy="1671"/>
            </a:xfrm>
            <a:custGeom>
              <a:avLst/>
              <a:gdLst>
                <a:gd name="T0" fmla="*/ 0 w 5035"/>
                <a:gd name="T1" fmla="*/ 72 h 1672"/>
                <a:gd name="T2" fmla="*/ 5035 w 5035"/>
                <a:gd name="T3" fmla="*/ 1672 h 1672"/>
                <a:gd name="T4" fmla="*/ 5035 w 5035"/>
                <a:gd name="T5" fmla="*/ 1666 h 1672"/>
                <a:gd name="T6" fmla="*/ 0 w 5035"/>
                <a:gd name="T7" fmla="*/ 0 h 1672"/>
                <a:gd name="T8" fmla="*/ 0 w 5035"/>
                <a:gd name="T9" fmla="*/ 72 h 1672"/>
                <a:gd name="T10" fmla="*/ 0 w 5035"/>
                <a:gd name="T11" fmla="*/ 72 h 1672"/>
              </a:gdLst>
              <a:ahLst/>
              <a:cxnLst>
                <a:cxn ang="0">
                  <a:pos x="T0" y="T1"/>
                </a:cxn>
                <a:cxn ang="0">
                  <a:pos x="T2" y="T3"/>
                </a:cxn>
                <a:cxn ang="0">
                  <a:pos x="T4" y="T5"/>
                </a:cxn>
                <a:cxn ang="0">
                  <a:pos x="T6" y="T7"/>
                </a:cxn>
                <a:cxn ang="0">
                  <a:pos x="T8" y="T9"/>
                </a:cxn>
                <a:cxn ang="0">
                  <a:pos x="T10" y="T11"/>
                </a:cxn>
              </a:cxnLst>
              <a:rect l="0" t="0" r="r" b="b"/>
              <a:pathLst>
                <a:path w="5035" h="1672">
                  <a:moveTo>
                    <a:pt x="0" y="72"/>
                  </a:moveTo>
                  <a:lnTo>
                    <a:pt x="5035" y="1672"/>
                  </a:lnTo>
                  <a:lnTo>
                    <a:pt x="5035" y="1666"/>
                  </a:lnTo>
                  <a:lnTo>
                    <a:pt x="0" y="0"/>
                  </a:lnTo>
                  <a:lnTo>
                    <a:pt x="0" y="72"/>
                  </a:lnTo>
                  <a:lnTo>
                    <a:pt x="0" y="72"/>
                  </a:lnTo>
                  <a:close/>
                </a:path>
              </a:pathLst>
            </a:custGeom>
            <a:gradFill rotWithShape="0">
              <a:gsLst>
                <a:gs pos="0">
                  <a:schemeClr val="bg1">
                    <a:gamma/>
                    <a:shade val="54510"/>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44" name="Freeform 15">
              <a:extLst>
                <a:ext uri="{FF2B5EF4-FFF2-40B4-BE49-F238E27FC236}">
                  <a16:creationId xmlns:a16="http://schemas.microsoft.com/office/drawing/2014/main" id="{899AA8B8-512C-43F1-9946-F9982C3B047A}"/>
                </a:ext>
              </a:extLst>
            </p:cNvPr>
            <p:cNvSpPr>
              <a:spLocks/>
            </p:cNvSpPr>
            <p:nvPr/>
          </p:nvSpPr>
          <p:spPr bwMode="hidden">
            <a:xfrm>
              <a:off x="5030" y="3049"/>
              <a:ext cx="728" cy="318"/>
            </a:xfrm>
            <a:custGeom>
              <a:avLst/>
              <a:gdLst>
                <a:gd name="T0" fmla="*/ 727 w 729"/>
                <a:gd name="T1" fmla="*/ 318 h 318"/>
                <a:gd name="T2" fmla="*/ 727 w 729"/>
                <a:gd name="T3" fmla="*/ 312 h 318"/>
                <a:gd name="T4" fmla="*/ 0 w 729"/>
                <a:gd name="T5" fmla="*/ 0 h 318"/>
                <a:gd name="T6" fmla="*/ 0 w 729"/>
                <a:gd name="T7" fmla="*/ 54 h 318"/>
                <a:gd name="T8" fmla="*/ 727 w 729"/>
                <a:gd name="T9" fmla="*/ 318 h 318"/>
                <a:gd name="T10" fmla="*/ 727 w 729"/>
                <a:gd name="T11" fmla="*/ 318 h 3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9" h="318">
                  <a:moveTo>
                    <a:pt x="729" y="318"/>
                  </a:moveTo>
                  <a:lnTo>
                    <a:pt x="729" y="312"/>
                  </a:lnTo>
                  <a:lnTo>
                    <a:pt x="0" y="0"/>
                  </a:lnTo>
                  <a:lnTo>
                    <a:pt x="0" y="54"/>
                  </a:lnTo>
                  <a:lnTo>
                    <a:pt x="729" y="318"/>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24" name="Freeform 16">
              <a:extLst>
                <a:ext uri="{FF2B5EF4-FFF2-40B4-BE49-F238E27FC236}">
                  <a16:creationId xmlns:a16="http://schemas.microsoft.com/office/drawing/2014/main" id="{268AD5E9-BC32-4F05-9B84-9B6D6DDCAA3B}"/>
                </a:ext>
              </a:extLst>
            </p:cNvPr>
            <p:cNvSpPr>
              <a:spLocks/>
            </p:cNvSpPr>
            <p:nvPr/>
          </p:nvSpPr>
          <p:spPr bwMode="hidden">
            <a:xfrm>
              <a:off x="0" y="916"/>
              <a:ext cx="5030" cy="2187"/>
            </a:xfrm>
            <a:custGeom>
              <a:avLst/>
              <a:gdLst>
                <a:gd name="T0" fmla="*/ 0 w 5035"/>
                <a:gd name="T1" fmla="*/ 396 h 2188"/>
                <a:gd name="T2" fmla="*/ 5035 w 5035"/>
                <a:gd name="T3" fmla="*/ 2188 h 2188"/>
                <a:gd name="T4" fmla="*/ 5035 w 5035"/>
                <a:gd name="T5" fmla="*/ 2134 h 2188"/>
                <a:gd name="T6" fmla="*/ 0 w 5035"/>
                <a:gd name="T7" fmla="*/ 0 h 2188"/>
                <a:gd name="T8" fmla="*/ 0 w 5035"/>
                <a:gd name="T9" fmla="*/ 396 h 2188"/>
                <a:gd name="T10" fmla="*/ 0 w 5035"/>
                <a:gd name="T11" fmla="*/ 396 h 2188"/>
              </a:gdLst>
              <a:ahLst/>
              <a:cxnLst>
                <a:cxn ang="0">
                  <a:pos x="T0" y="T1"/>
                </a:cxn>
                <a:cxn ang="0">
                  <a:pos x="T2" y="T3"/>
                </a:cxn>
                <a:cxn ang="0">
                  <a:pos x="T4" y="T5"/>
                </a:cxn>
                <a:cxn ang="0">
                  <a:pos x="T6" y="T7"/>
                </a:cxn>
                <a:cxn ang="0">
                  <a:pos x="T8" y="T9"/>
                </a:cxn>
                <a:cxn ang="0">
                  <a:pos x="T10" y="T11"/>
                </a:cxn>
              </a:cxnLst>
              <a:rect l="0" t="0" r="r" b="b"/>
              <a:pathLst>
                <a:path w="5035" h="2188">
                  <a:moveTo>
                    <a:pt x="0" y="396"/>
                  </a:moveTo>
                  <a:lnTo>
                    <a:pt x="5035" y="2188"/>
                  </a:lnTo>
                  <a:lnTo>
                    <a:pt x="5035" y="2134"/>
                  </a:lnTo>
                  <a:lnTo>
                    <a:pt x="0" y="0"/>
                  </a:lnTo>
                  <a:lnTo>
                    <a:pt x="0" y="396"/>
                  </a:lnTo>
                  <a:lnTo>
                    <a:pt x="0" y="396"/>
                  </a:lnTo>
                  <a:close/>
                </a:path>
              </a:pathLst>
            </a:custGeom>
            <a:gradFill rotWithShape="0">
              <a:gsLst>
                <a:gs pos="0">
                  <a:schemeClr val="bg2">
                    <a:gamma/>
                    <a:shade val="66667"/>
                    <a:invGamma/>
                  </a:schemeClr>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25" name="Freeform 17">
              <a:extLst>
                <a:ext uri="{FF2B5EF4-FFF2-40B4-BE49-F238E27FC236}">
                  <a16:creationId xmlns:a16="http://schemas.microsoft.com/office/drawing/2014/main" id="{7B3E2845-6B78-4AB9-A318-94DD4729D90A}"/>
                </a:ext>
              </a:extLst>
            </p:cNvPr>
            <p:cNvSpPr>
              <a:spLocks/>
            </p:cNvSpPr>
            <p:nvPr/>
          </p:nvSpPr>
          <p:spPr bwMode="hidden">
            <a:xfrm>
              <a:off x="2294" y="0"/>
              <a:ext cx="3159" cy="2725"/>
            </a:xfrm>
            <a:custGeom>
              <a:avLst/>
              <a:gdLst>
                <a:gd name="T0" fmla="*/ 0 w 3163"/>
                <a:gd name="T1" fmla="*/ 0 h 2727"/>
                <a:gd name="T2" fmla="*/ 3145 w 3163"/>
                <a:gd name="T3" fmla="*/ 2727 h 2727"/>
                <a:gd name="T4" fmla="*/ 3163 w 3163"/>
                <a:gd name="T5" fmla="*/ 2704 h 2727"/>
                <a:gd name="T6" fmla="*/ 102 w 3163"/>
                <a:gd name="T7" fmla="*/ 0 h 2727"/>
                <a:gd name="T8" fmla="*/ 0 w 3163"/>
                <a:gd name="T9" fmla="*/ 0 h 2727"/>
                <a:gd name="T10" fmla="*/ 0 w 3163"/>
                <a:gd name="T11" fmla="*/ 0 h 2727"/>
              </a:gdLst>
              <a:ahLst/>
              <a:cxnLst>
                <a:cxn ang="0">
                  <a:pos x="T0" y="T1"/>
                </a:cxn>
                <a:cxn ang="0">
                  <a:pos x="T2" y="T3"/>
                </a:cxn>
                <a:cxn ang="0">
                  <a:pos x="T4" y="T5"/>
                </a:cxn>
                <a:cxn ang="0">
                  <a:pos x="T6" y="T7"/>
                </a:cxn>
                <a:cxn ang="0">
                  <a:pos x="T8" y="T9"/>
                </a:cxn>
                <a:cxn ang="0">
                  <a:pos x="T10" y="T11"/>
                </a:cxn>
              </a:cxnLst>
              <a:rect l="0" t="0" r="r" b="b"/>
              <a:pathLst>
                <a:path w="3163" h="2727">
                  <a:moveTo>
                    <a:pt x="0" y="0"/>
                  </a:moveTo>
                  <a:lnTo>
                    <a:pt x="3145" y="2727"/>
                  </a:lnTo>
                  <a:lnTo>
                    <a:pt x="3163" y="2704"/>
                  </a:lnTo>
                  <a:lnTo>
                    <a:pt x="102" y="0"/>
                  </a:lnTo>
                  <a:lnTo>
                    <a:pt x="0" y="0"/>
                  </a:lnTo>
                  <a:lnTo>
                    <a:pt x="0" y="0"/>
                  </a:lnTo>
                  <a:close/>
                </a:path>
              </a:pathLst>
            </a:custGeom>
            <a:gradFill rotWithShape="0">
              <a:gsLst>
                <a:gs pos="0">
                  <a:schemeClr val="bg1">
                    <a:gamma/>
                    <a:shade val="6980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26" name="Freeform 18">
              <a:extLst>
                <a:ext uri="{FF2B5EF4-FFF2-40B4-BE49-F238E27FC236}">
                  <a16:creationId xmlns:a16="http://schemas.microsoft.com/office/drawing/2014/main" id="{6F37D17D-C2CE-4E10-B544-A8CCA988902D}"/>
                </a:ext>
              </a:extLst>
            </p:cNvPr>
            <p:cNvSpPr>
              <a:spLocks/>
            </p:cNvSpPr>
            <p:nvPr/>
          </p:nvSpPr>
          <p:spPr bwMode="hidden">
            <a:xfrm>
              <a:off x="5435" y="2702"/>
              <a:ext cx="323" cy="299"/>
            </a:xfrm>
            <a:custGeom>
              <a:avLst/>
              <a:gdLst>
                <a:gd name="T0" fmla="*/ 323 w 323"/>
                <a:gd name="T1" fmla="*/ 299 h 299"/>
                <a:gd name="T2" fmla="*/ 323 w 323"/>
                <a:gd name="T3" fmla="*/ 263 h 299"/>
                <a:gd name="T4" fmla="*/ 18 w 323"/>
                <a:gd name="T5" fmla="*/ 0 h 299"/>
                <a:gd name="T6" fmla="*/ 0 w 323"/>
                <a:gd name="T7" fmla="*/ 23 h 299"/>
                <a:gd name="T8" fmla="*/ 323 w 323"/>
                <a:gd name="T9" fmla="*/ 299 h 299"/>
                <a:gd name="T10" fmla="*/ 323 w 323"/>
                <a:gd name="T11" fmla="*/ 299 h 299"/>
              </a:gdLst>
              <a:ahLst/>
              <a:cxnLst>
                <a:cxn ang="0">
                  <a:pos x="T0" y="T1"/>
                </a:cxn>
                <a:cxn ang="0">
                  <a:pos x="T2" y="T3"/>
                </a:cxn>
                <a:cxn ang="0">
                  <a:pos x="T4" y="T5"/>
                </a:cxn>
                <a:cxn ang="0">
                  <a:pos x="T6" y="T7"/>
                </a:cxn>
                <a:cxn ang="0">
                  <a:pos x="T8" y="T9"/>
                </a:cxn>
                <a:cxn ang="0">
                  <a:pos x="T10" y="T11"/>
                </a:cxn>
              </a:cxnLst>
              <a:rect l="0" t="0" r="r" b="b"/>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chemeClr val="bg1">
                    <a:gamma/>
                    <a:tint val="94118"/>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48" name="Freeform 19">
              <a:extLst>
                <a:ext uri="{FF2B5EF4-FFF2-40B4-BE49-F238E27FC236}">
                  <a16:creationId xmlns:a16="http://schemas.microsoft.com/office/drawing/2014/main" id="{B5B79A81-3BF9-42B7-BF9D-26A7858AE174}"/>
                </a:ext>
              </a:extLst>
            </p:cNvPr>
            <p:cNvSpPr>
              <a:spLocks/>
            </p:cNvSpPr>
            <p:nvPr/>
          </p:nvSpPr>
          <p:spPr bwMode="hidden">
            <a:xfrm>
              <a:off x="5477" y="2588"/>
              <a:ext cx="281" cy="335"/>
            </a:xfrm>
            <a:custGeom>
              <a:avLst/>
              <a:gdLst>
                <a:gd name="T0" fmla="*/ 281 w 281"/>
                <a:gd name="T1" fmla="*/ 335 h 335"/>
                <a:gd name="T2" fmla="*/ 281 w 281"/>
                <a:gd name="T3" fmla="*/ 173 h 335"/>
                <a:gd name="T4" fmla="*/ 96 w 281"/>
                <a:gd name="T5" fmla="*/ 0 h 335"/>
                <a:gd name="T6" fmla="*/ 0 w 281"/>
                <a:gd name="T7" fmla="*/ 90 h 335"/>
                <a:gd name="T8" fmla="*/ 281 w 281"/>
                <a:gd name="T9" fmla="*/ 335 h 335"/>
                <a:gd name="T10" fmla="*/ 281 w 281"/>
                <a:gd name="T11" fmla="*/ 335 h 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335">
                  <a:moveTo>
                    <a:pt x="281" y="335"/>
                  </a:moveTo>
                  <a:lnTo>
                    <a:pt x="281" y="173"/>
                  </a:lnTo>
                  <a:lnTo>
                    <a:pt x="96" y="0"/>
                  </a:lnTo>
                  <a:lnTo>
                    <a:pt x="0" y="90"/>
                  </a:lnTo>
                  <a:lnTo>
                    <a:pt x="281" y="33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28" name="Freeform 20">
              <a:extLst>
                <a:ext uri="{FF2B5EF4-FFF2-40B4-BE49-F238E27FC236}">
                  <a16:creationId xmlns:a16="http://schemas.microsoft.com/office/drawing/2014/main" id="{FC545AD9-4DF0-446C-B11B-BCEB5B4EA492}"/>
                </a:ext>
              </a:extLst>
            </p:cNvPr>
            <p:cNvSpPr>
              <a:spLocks/>
            </p:cNvSpPr>
            <p:nvPr/>
          </p:nvSpPr>
          <p:spPr bwMode="hidden">
            <a:xfrm>
              <a:off x="2454" y="0"/>
              <a:ext cx="3119" cy="2678"/>
            </a:xfrm>
            <a:custGeom>
              <a:avLst/>
              <a:gdLst>
                <a:gd name="T0" fmla="*/ 0 w 3122"/>
                <a:gd name="T1" fmla="*/ 0 h 2680"/>
                <a:gd name="T2" fmla="*/ 3026 w 3122"/>
                <a:gd name="T3" fmla="*/ 2680 h 2680"/>
                <a:gd name="T4" fmla="*/ 3122 w 3122"/>
                <a:gd name="T5" fmla="*/ 2590 h 2680"/>
                <a:gd name="T6" fmla="*/ 383 w 3122"/>
                <a:gd name="T7" fmla="*/ 0 h 2680"/>
                <a:gd name="T8" fmla="*/ 0 w 3122"/>
                <a:gd name="T9" fmla="*/ 0 h 2680"/>
                <a:gd name="T10" fmla="*/ 0 w 3122"/>
                <a:gd name="T11" fmla="*/ 0 h 2680"/>
              </a:gdLst>
              <a:ahLst/>
              <a:cxnLst>
                <a:cxn ang="0">
                  <a:pos x="T0" y="T1"/>
                </a:cxn>
                <a:cxn ang="0">
                  <a:pos x="T2" y="T3"/>
                </a:cxn>
                <a:cxn ang="0">
                  <a:pos x="T4" y="T5"/>
                </a:cxn>
                <a:cxn ang="0">
                  <a:pos x="T6" y="T7"/>
                </a:cxn>
                <a:cxn ang="0">
                  <a:pos x="T8" y="T9"/>
                </a:cxn>
                <a:cxn ang="0">
                  <a:pos x="T10" y="T11"/>
                </a:cxn>
              </a:cxnLst>
              <a:rect l="0" t="0" r="r" b="b"/>
              <a:pathLst>
                <a:path w="3122" h="2680">
                  <a:moveTo>
                    <a:pt x="0" y="0"/>
                  </a:moveTo>
                  <a:lnTo>
                    <a:pt x="3026" y="2680"/>
                  </a:lnTo>
                  <a:lnTo>
                    <a:pt x="3122" y="2590"/>
                  </a:lnTo>
                  <a:lnTo>
                    <a:pt x="383" y="0"/>
                  </a:lnTo>
                  <a:lnTo>
                    <a:pt x="0" y="0"/>
                  </a:lnTo>
                  <a:lnTo>
                    <a:pt x="0" y="0"/>
                  </a:lnTo>
                  <a:close/>
                </a:path>
              </a:pathLst>
            </a:custGeom>
            <a:gradFill rotWithShape="0">
              <a:gsLst>
                <a:gs pos="0">
                  <a:schemeClr val="bg1">
                    <a:gamma/>
                    <a:shade val="46275"/>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50" name="Freeform 21">
              <a:extLst>
                <a:ext uri="{FF2B5EF4-FFF2-40B4-BE49-F238E27FC236}">
                  <a16:creationId xmlns:a16="http://schemas.microsoft.com/office/drawing/2014/main" id="{534525DB-6750-4A9A-B52D-5121B5397E9F}"/>
                </a:ext>
              </a:extLst>
            </p:cNvPr>
            <p:cNvSpPr>
              <a:spLocks/>
            </p:cNvSpPr>
            <p:nvPr/>
          </p:nvSpPr>
          <p:spPr bwMode="hidden">
            <a:xfrm>
              <a:off x="5626" y="2534"/>
              <a:ext cx="132" cy="132"/>
            </a:xfrm>
            <a:custGeom>
              <a:avLst/>
              <a:gdLst>
                <a:gd name="T0" fmla="*/ 132 w 132"/>
                <a:gd name="T1" fmla="*/ 132 h 132"/>
                <a:gd name="T2" fmla="*/ 0 w 132"/>
                <a:gd name="T3" fmla="*/ 0 h 132"/>
                <a:gd name="T4" fmla="*/ 0 w 132"/>
                <a:gd name="T5" fmla="*/ 0 h 132"/>
                <a:gd name="T6" fmla="*/ 132 w 132"/>
                <a:gd name="T7" fmla="*/ 132 h 132"/>
                <a:gd name="T8" fmla="*/ 132 w 132"/>
                <a:gd name="T9" fmla="*/ 13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2">
                  <a:moveTo>
                    <a:pt x="132" y="132"/>
                  </a:moveTo>
                  <a:lnTo>
                    <a:pt x="0" y="0"/>
                  </a:lnTo>
                  <a:lnTo>
                    <a:pt x="132" y="132"/>
                  </a:lnTo>
                  <a:close/>
                </a:path>
              </a:pathLst>
            </a:custGeom>
            <a:solidFill>
              <a:srgbClr val="FF99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30" name="Freeform 22">
              <a:extLst>
                <a:ext uri="{FF2B5EF4-FFF2-40B4-BE49-F238E27FC236}">
                  <a16:creationId xmlns:a16="http://schemas.microsoft.com/office/drawing/2014/main" id="{D21EBDCB-A7B2-4408-9B21-93388BA92E0C}"/>
                </a:ext>
              </a:extLst>
            </p:cNvPr>
            <p:cNvSpPr>
              <a:spLocks/>
            </p:cNvSpPr>
            <p:nvPr/>
          </p:nvSpPr>
          <p:spPr bwMode="hidden">
            <a:xfrm>
              <a:off x="3112" y="0"/>
              <a:ext cx="2514" cy="2534"/>
            </a:xfrm>
            <a:custGeom>
              <a:avLst/>
              <a:gdLst>
                <a:gd name="T0" fmla="*/ 0 w 2517"/>
                <a:gd name="T1" fmla="*/ 0 h 2536"/>
                <a:gd name="T2" fmla="*/ 2517 w 2517"/>
                <a:gd name="T3" fmla="*/ 2536 h 2536"/>
                <a:gd name="T4" fmla="*/ 2517 w 2517"/>
                <a:gd name="T5" fmla="*/ 2536 h 2536"/>
                <a:gd name="T6" fmla="*/ 66 w 2517"/>
                <a:gd name="T7" fmla="*/ 0 h 2536"/>
                <a:gd name="T8" fmla="*/ 0 w 2517"/>
                <a:gd name="T9" fmla="*/ 0 h 2536"/>
                <a:gd name="T10" fmla="*/ 0 w 2517"/>
                <a:gd name="T11" fmla="*/ 0 h 2536"/>
              </a:gdLst>
              <a:ahLst/>
              <a:cxnLst>
                <a:cxn ang="0">
                  <a:pos x="T0" y="T1"/>
                </a:cxn>
                <a:cxn ang="0">
                  <a:pos x="T2" y="T3"/>
                </a:cxn>
                <a:cxn ang="0">
                  <a:pos x="T4" y="T5"/>
                </a:cxn>
                <a:cxn ang="0">
                  <a:pos x="T6" y="T7"/>
                </a:cxn>
                <a:cxn ang="0">
                  <a:pos x="T8" y="T9"/>
                </a:cxn>
                <a:cxn ang="0">
                  <a:pos x="T10" y="T11"/>
                </a:cxn>
              </a:cxnLst>
              <a:rect l="0" t="0" r="r" b="b"/>
              <a:pathLst>
                <a:path w="2517" h="2536">
                  <a:moveTo>
                    <a:pt x="0" y="0"/>
                  </a:moveTo>
                  <a:lnTo>
                    <a:pt x="2517" y="2536"/>
                  </a:lnTo>
                  <a:lnTo>
                    <a:pt x="2517" y="2536"/>
                  </a:lnTo>
                  <a:lnTo>
                    <a:pt x="66" y="0"/>
                  </a:lnTo>
                  <a:lnTo>
                    <a:pt x="0" y="0"/>
                  </a:lnTo>
                  <a:lnTo>
                    <a:pt x="0" y="0"/>
                  </a:lnTo>
                  <a:close/>
                </a:path>
              </a:pathLst>
            </a:custGeom>
            <a:gradFill rotWithShape="0">
              <a:gsLst>
                <a:gs pos="0">
                  <a:schemeClr val="bg1">
                    <a:gamma/>
                    <a:shade val="51373"/>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31" name="Freeform 23">
              <a:extLst>
                <a:ext uri="{FF2B5EF4-FFF2-40B4-BE49-F238E27FC236}">
                  <a16:creationId xmlns:a16="http://schemas.microsoft.com/office/drawing/2014/main" id="{467F62A6-72CD-4F00-A21C-C95910904251}"/>
                </a:ext>
              </a:extLst>
            </p:cNvPr>
            <p:cNvSpPr>
              <a:spLocks/>
            </p:cNvSpPr>
            <p:nvPr/>
          </p:nvSpPr>
          <p:spPr bwMode="hidden">
            <a:xfrm>
              <a:off x="3488" y="0"/>
              <a:ext cx="2198" cy="2480"/>
            </a:xfrm>
            <a:custGeom>
              <a:avLst/>
              <a:gdLst>
                <a:gd name="T0" fmla="*/ 0 w 2200"/>
                <a:gd name="T1" fmla="*/ 0 h 2482"/>
                <a:gd name="T2" fmla="*/ 2188 w 2200"/>
                <a:gd name="T3" fmla="*/ 2482 h 2482"/>
                <a:gd name="T4" fmla="*/ 2200 w 2200"/>
                <a:gd name="T5" fmla="*/ 2476 h 2482"/>
                <a:gd name="T6" fmla="*/ 317 w 2200"/>
                <a:gd name="T7" fmla="*/ 0 h 2482"/>
                <a:gd name="T8" fmla="*/ 0 w 2200"/>
                <a:gd name="T9" fmla="*/ 0 h 2482"/>
                <a:gd name="T10" fmla="*/ 0 w 2200"/>
                <a:gd name="T11" fmla="*/ 0 h 2482"/>
              </a:gdLst>
              <a:ahLst/>
              <a:cxnLst>
                <a:cxn ang="0">
                  <a:pos x="T0" y="T1"/>
                </a:cxn>
                <a:cxn ang="0">
                  <a:pos x="T2" y="T3"/>
                </a:cxn>
                <a:cxn ang="0">
                  <a:pos x="T4" y="T5"/>
                </a:cxn>
                <a:cxn ang="0">
                  <a:pos x="T6" y="T7"/>
                </a:cxn>
                <a:cxn ang="0">
                  <a:pos x="T8" y="T9"/>
                </a:cxn>
                <a:cxn ang="0">
                  <a:pos x="T10" y="T11"/>
                </a:cxn>
              </a:cxnLst>
              <a:rect l="0" t="0" r="r" b="b"/>
              <a:pathLst>
                <a:path w="2200" h="2482">
                  <a:moveTo>
                    <a:pt x="0" y="0"/>
                  </a:moveTo>
                  <a:lnTo>
                    <a:pt x="2188" y="2482"/>
                  </a:lnTo>
                  <a:lnTo>
                    <a:pt x="2200" y="2476"/>
                  </a:lnTo>
                  <a:lnTo>
                    <a:pt x="317" y="0"/>
                  </a:lnTo>
                  <a:lnTo>
                    <a:pt x="0" y="0"/>
                  </a:lnTo>
                  <a:lnTo>
                    <a:pt x="0" y="0"/>
                  </a:lnTo>
                  <a:close/>
                </a:path>
              </a:pathLst>
            </a:custGeom>
            <a:gradFill rotWithShape="0">
              <a:gsLst>
                <a:gs pos="0">
                  <a:schemeClr val="bg2">
                    <a:gamma/>
                    <a:shade val="78824"/>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defRPr/>
              </a:pPr>
              <a:endParaRPr lang="zh-CN" altLang="en-US"/>
            </a:p>
          </p:txBody>
        </p:sp>
        <p:sp>
          <p:nvSpPr>
            <p:cNvPr id="68632" name="Freeform 24">
              <a:extLst>
                <a:ext uri="{FF2B5EF4-FFF2-40B4-BE49-F238E27FC236}">
                  <a16:creationId xmlns:a16="http://schemas.microsoft.com/office/drawing/2014/main" id="{C2B4DD52-5A61-4FB3-8805-D64DC484787F}"/>
                </a:ext>
              </a:extLst>
            </p:cNvPr>
            <p:cNvSpPr>
              <a:spLocks/>
            </p:cNvSpPr>
            <p:nvPr/>
          </p:nvSpPr>
          <p:spPr bwMode="hidden">
            <a:xfrm>
              <a:off x="5674" y="2474"/>
              <a:ext cx="84" cy="96"/>
            </a:xfrm>
            <a:custGeom>
              <a:avLst/>
              <a:gdLst>
                <a:gd name="T0" fmla="*/ 84 w 84"/>
                <a:gd name="T1" fmla="*/ 96 h 96"/>
                <a:gd name="T2" fmla="*/ 84 w 84"/>
                <a:gd name="T3" fmla="*/ 90 h 96"/>
                <a:gd name="T4" fmla="*/ 12 w 84"/>
                <a:gd name="T5" fmla="*/ 0 h 96"/>
                <a:gd name="T6" fmla="*/ 0 w 84"/>
                <a:gd name="T7" fmla="*/ 6 h 96"/>
                <a:gd name="T8" fmla="*/ 84 w 84"/>
                <a:gd name="T9" fmla="*/ 96 h 96"/>
                <a:gd name="T10" fmla="*/ 84 w 84"/>
                <a:gd name="T11" fmla="*/ 96 h 96"/>
              </a:gdLst>
              <a:ahLst/>
              <a:cxnLst>
                <a:cxn ang="0">
                  <a:pos x="T0" y="T1"/>
                </a:cxn>
                <a:cxn ang="0">
                  <a:pos x="T2" y="T3"/>
                </a:cxn>
                <a:cxn ang="0">
                  <a:pos x="T4" y="T5"/>
                </a:cxn>
                <a:cxn ang="0">
                  <a:pos x="T6" y="T7"/>
                </a:cxn>
                <a:cxn ang="0">
                  <a:pos x="T8" y="T9"/>
                </a:cxn>
                <a:cxn ang="0">
                  <a:pos x="T10" y="T11"/>
                </a:cxn>
              </a:cxnLst>
              <a:rect l="0" t="0" r="r" b="b"/>
              <a:pathLst>
                <a:path w="84" h="96">
                  <a:moveTo>
                    <a:pt x="84" y="96"/>
                  </a:moveTo>
                  <a:lnTo>
                    <a:pt x="84" y="90"/>
                  </a:lnTo>
                  <a:lnTo>
                    <a:pt x="12" y="0"/>
                  </a:lnTo>
                  <a:lnTo>
                    <a:pt x="0" y="6"/>
                  </a:lnTo>
                  <a:lnTo>
                    <a:pt x="84" y="96"/>
                  </a:lnTo>
                  <a:lnTo>
                    <a:pt x="84" y="96"/>
                  </a:lnTo>
                  <a:close/>
                </a:path>
              </a:pathLst>
            </a:custGeom>
            <a:gradFill rotWithShape="0">
              <a:gsLst>
                <a:gs pos="0">
                  <a:schemeClr val="bg1"/>
                </a:gs>
                <a:gs pos="100000">
                  <a:schemeClr val="bg1">
                    <a:gamma/>
                    <a:tint val="90980"/>
                    <a:invGamma/>
                  </a:schemeClr>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54" name="Freeform 25">
              <a:extLst>
                <a:ext uri="{FF2B5EF4-FFF2-40B4-BE49-F238E27FC236}">
                  <a16:creationId xmlns:a16="http://schemas.microsoft.com/office/drawing/2014/main" id="{2421E598-6F61-49FE-B53C-E4082821FB98}"/>
                </a:ext>
              </a:extLst>
            </p:cNvPr>
            <p:cNvSpPr>
              <a:spLocks/>
            </p:cNvSpPr>
            <p:nvPr/>
          </p:nvSpPr>
          <p:spPr bwMode="hidden">
            <a:xfrm>
              <a:off x="5603" y="850"/>
              <a:ext cx="155" cy="516"/>
            </a:xfrm>
            <a:custGeom>
              <a:avLst/>
              <a:gdLst>
                <a:gd name="T0" fmla="*/ 155 w 155"/>
                <a:gd name="T1" fmla="*/ 516 h 516"/>
                <a:gd name="T2" fmla="*/ 155 w 155"/>
                <a:gd name="T3" fmla="*/ 204 h 516"/>
                <a:gd name="T4" fmla="*/ 77 w 155"/>
                <a:gd name="T5" fmla="*/ 0 h 516"/>
                <a:gd name="T6" fmla="*/ 0 w 155"/>
                <a:gd name="T7" fmla="*/ 192 h 516"/>
                <a:gd name="T8" fmla="*/ 155 w 155"/>
                <a:gd name="T9" fmla="*/ 516 h 516"/>
                <a:gd name="T10" fmla="*/ 155 w 155"/>
                <a:gd name="T11" fmla="*/ 516 h 5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55" h="516">
                  <a:moveTo>
                    <a:pt x="155" y="516"/>
                  </a:moveTo>
                  <a:lnTo>
                    <a:pt x="155" y="204"/>
                  </a:lnTo>
                  <a:lnTo>
                    <a:pt x="77" y="0"/>
                  </a:lnTo>
                  <a:lnTo>
                    <a:pt x="0" y="192"/>
                  </a:lnTo>
                  <a:lnTo>
                    <a:pt x="155" y="51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34" name="Freeform 26">
              <a:extLst>
                <a:ext uri="{FF2B5EF4-FFF2-40B4-BE49-F238E27FC236}">
                  <a16:creationId xmlns:a16="http://schemas.microsoft.com/office/drawing/2014/main" id="{C5D68E19-04B3-43B2-A934-74BFE89BAEBE}"/>
                </a:ext>
              </a:extLst>
            </p:cNvPr>
            <p:cNvSpPr>
              <a:spLocks/>
            </p:cNvSpPr>
            <p:nvPr/>
          </p:nvSpPr>
          <p:spPr bwMode="hidden">
            <a:xfrm>
              <a:off x="5107" y="0"/>
              <a:ext cx="573" cy="1042"/>
            </a:xfrm>
            <a:custGeom>
              <a:avLst/>
              <a:gdLst>
                <a:gd name="T0" fmla="*/ 0 w 574"/>
                <a:gd name="T1" fmla="*/ 0 h 1043"/>
                <a:gd name="T2" fmla="*/ 497 w 574"/>
                <a:gd name="T3" fmla="*/ 1043 h 1043"/>
                <a:gd name="T4" fmla="*/ 574 w 574"/>
                <a:gd name="T5" fmla="*/ 851 h 1043"/>
                <a:gd name="T6" fmla="*/ 251 w 574"/>
                <a:gd name="T7" fmla="*/ 0 h 1043"/>
                <a:gd name="T8" fmla="*/ 0 w 574"/>
                <a:gd name="T9" fmla="*/ 0 h 1043"/>
                <a:gd name="T10" fmla="*/ 0 w 574"/>
                <a:gd name="T11" fmla="*/ 0 h 1043"/>
              </a:gdLst>
              <a:ahLst/>
              <a:cxnLst>
                <a:cxn ang="0">
                  <a:pos x="T0" y="T1"/>
                </a:cxn>
                <a:cxn ang="0">
                  <a:pos x="T2" y="T3"/>
                </a:cxn>
                <a:cxn ang="0">
                  <a:pos x="T4" y="T5"/>
                </a:cxn>
                <a:cxn ang="0">
                  <a:pos x="T6" y="T7"/>
                </a:cxn>
                <a:cxn ang="0">
                  <a:pos x="T8" y="T9"/>
                </a:cxn>
                <a:cxn ang="0">
                  <a:pos x="T10" y="T11"/>
                </a:cxn>
              </a:cxnLst>
              <a:rect l="0" t="0" r="r" b="b"/>
              <a:pathLst>
                <a:path w="574" h="1043">
                  <a:moveTo>
                    <a:pt x="0" y="0"/>
                  </a:moveTo>
                  <a:lnTo>
                    <a:pt x="497" y="1043"/>
                  </a:lnTo>
                  <a:lnTo>
                    <a:pt x="574" y="851"/>
                  </a:lnTo>
                  <a:lnTo>
                    <a:pt x="251" y="0"/>
                  </a:lnTo>
                  <a:lnTo>
                    <a:pt x="0" y="0"/>
                  </a:lnTo>
                  <a:lnTo>
                    <a:pt x="0" y="0"/>
                  </a:lnTo>
                  <a:close/>
                </a:path>
              </a:pathLst>
            </a:custGeom>
            <a:gradFill rotWithShape="0">
              <a:gsLst>
                <a:gs pos="0">
                  <a:schemeClr val="bg2">
                    <a:gamma/>
                    <a:shade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35" name="Freeform 27">
              <a:extLst>
                <a:ext uri="{FF2B5EF4-FFF2-40B4-BE49-F238E27FC236}">
                  <a16:creationId xmlns:a16="http://schemas.microsoft.com/office/drawing/2014/main" id="{4BA7A131-2002-4784-8912-E35AE5DC015A}"/>
                </a:ext>
              </a:extLst>
            </p:cNvPr>
            <p:cNvSpPr>
              <a:spLocks/>
            </p:cNvSpPr>
            <p:nvPr/>
          </p:nvSpPr>
          <p:spPr bwMode="hidden">
            <a:xfrm>
              <a:off x="5411" y="0"/>
              <a:ext cx="341" cy="796"/>
            </a:xfrm>
            <a:custGeom>
              <a:avLst/>
              <a:gdLst>
                <a:gd name="T0" fmla="*/ 144 w 341"/>
                <a:gd name="T1" fmla="*/ 0 h 797"/>
                <a:gd name="T2" fmla="*/ 0 w 341"/>
                <a:gd name="T3" fmla="*/ 0 h 797"/>
                <a:gd name="T4" fmla="*/ 287 w 341"/>
                <a:gd name="T5" fmla="*/ 797 h 797"/>
                <a:gd name="T6" fmla="*/ 341 w 341"/>
                <a:gd name="T7" fmla="*/ 653 h 797"/>
                <a:gd name="T8" fmla="*/ 144 w 341"/>
                <a:gd name="T9" fmla="*/ 0 h 797"/>
                <a:gd name="T10" fmla="*/ 144 w 341"/>
                <a:gd name="T11" fmla="*/ 0 h 797"/>
              </a:gdLst>
              <a:ahLst/>
              <a:cxnLst>
                <a:cxn ang="0">
                  <a:pos x="T0" y="T1"/>
                </a:cxn>
                <a:cxn ang="0">
                  <a:pos x="T2" y="T3"/>
                </a:cxn>
                <a:cxn ang="0">
                  <a:pos x="T4" y="T5"/>
                </a:cxn>
                <a:cxn ang="0">
                  <a:pos x="T6" y="T7"/>
                </a:cxn>
                <a:cxn ang="0">
                  <a:pos x="T8" y="T9"/>
                </a:cxn>
                <a:cxn ang="0">
                  <a:pos x="T10" y="T11"/>
                </a:cxn>
              </a:cxnLst>
              <a:rect l="0" t="0" r="r" b="b"/>
              <a:pathLst>
                <a:path w="341" h="797">
                  <a:moveTo>
                    <a:pt x="144" y="0"/>
                  </a:moveTo>
                  <a:lnTo>
                    <a:pt x="0" y="0"/>
                  </a:lnTo>
                  <a:lnTo>
                    <a:pt x="287" y="797"/>
                  </a:lnTo>
                  <a:lnTo>
                    <a:pt x="341" y="653"/>
                  </a:lnTo>
                  <a:lnTo>
                    <a:pt x="144" y="0"/>
                  </a:lnTo>
                  <a:lnTo>
                    <a:pt x="144" y="0"/>
                  </a:lnTo>
                  <a:close/>
                </a:path>
              </a:pathLst>
            </a:custGeom>
            <a:gradFill rotWithShape="0">
              <a:gsLst>
                <a:gs pos="0">
                  <a:schemeClr val="bg2">
                    <a:gamma/>
                    <a:shade val="6980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57" name="Freeform 28">
              <a:extLst>
                <a:ext uri="{FF2B5EF4-FFF2-40B4-BE49-F238E27FC236}">
                  <a16:creationId xmlns:a16="http://schemas.microsoft.com/office/drawing/2014/main" id="{06898BBB-1028-436D-BA79-74F7E1EB5840}"/>
                </a:ext>
              </a:extLst>
            </p:cNvPr>
            <p:cNvSpPr>
              <a:spLocks/>
            </p:cNvSpPr>
            <p:nvPr/>
          </p:nvSpPr>
          <p:spPr bwMode="hidden">
            <a:xfrm>
              <a:off x="5698" y="653"/>
              <a:ext cx="60" cy="311"/>
            </a:xfrm>
            <a:custGeom>
              <a:avLst/>
              <a:gdLst>
                <a:gd name="T0" fmla="*/ 0 w 60"/>
                <a:gd name="T1" fmla="*/ 144 h 312"/>
                <a:gd name="T2" fmla="*/ 60 w 60"/>
                <a:gd name="T3" fmla="*/ 310 h 312"/>
                <a:gd name="T4" fmla="*/ 60 w 60"/>
                <a:gd name="T5" fmla="*/ 6 h 312"/>
                <a:gd name="T6" fmla="*/ 54 w 60"/>
                <a:gd name="T7" fmla="*/ 0 h 312"/>
                <a:gd name="T8" fmla="*/ 0 w 60"/>
                <a:gd name="T9" fmla="*/ 144 h 312"/>
                <a:gd name="T10" fmla="*/ 0 w 60"/>
                <a:gd name="T11" fmla="*/ 144 h 3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0" h="312">
                  <a:moveTo>
                    <a:pt x="0" y="144"/>
                  </a:moveTo>
                  <a:lnTo>
                    <a:pt x="60" y="312"/>
                  </a:lnTo>
                  <a:lnTo>
                    <a:pt x="60" y="6"/>
                  </a:lnTo>
                  <a:lnTo>
                    <a:pt x="54" y="0"/>
                  </a:lnTo>
                  <a:lnTo>
                    <a:pt x="0" y="14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37" name="Freeform 29">
              <a:extLst>
                <a:ext uri="{FF2B5EF4-FFF2-40B4-BE49-F238E27FC236}">
                  <a16:creationId xmlns:a16="http://schemas.microsoft.com/office/drawing/2014/main" id="{6EE945CB-87BA-4A8D-8C15-834712FC6C66}"/>
                </a:ext>
              </a:extLst>
            </p:cNvPr>
            <p:cNvSpPr>
              <a:spLocks/>
            </p:cNvSpPr>
            <p:nvPr/>
          </p:nvSpPr>
          <p:spPr bwMode="hidden">
            <a:xfrm>
              <a:off x="2" y="1601"/>
              <a:ext cx="5752" cy="1864"/>
            </a:xfrm>
            <a:custGeom>
              <a:avLst/>
              <a:gdLst>
                <a:gd name="T0" fmla="*/ 0 w 5740"/>
                <a:gd name="T1" fmla="*/ 371 h 1864"/>
                <a:gd name="T2" fmla="*/ 5740 w 5740"/>
                <a:gd name="T3" fmla="*/ 1864 h 1864"/>
                <a:gd name="T4" fmla="*/ 5740 w 5740"/>
                <a:gd name="T5" fmla="*/ 1834 h 1864"/>
                <a:gd name="T6" fmla="*/ 0 w 5740"/>
                <a:gd name="T7" fmla="*/ 0 h 1864"/>
                <a:gd name="T8" fmla="*/ 0 w 5740"/>
                <a:gd name="T9" fmla="*/ 371 h 1864"/>
                <a:gd name="T10" fmla="*/ 0 w 5740"/>
                <a:gd name="T11" fmla="*/ 371 h 1864"/>
              </a:gdLst>
              <a:ahLst/>
              <a:cxnLst>
                <a:cxn ang="0">
                  <a:pos x="T0" y="T1"/>
                </a:cxn>
                <a:cxn ang="0">
                  <a:pos x="T2" y="T3"/>
                </a:cxn>
                <a:cxn ang="0">
                  <a:pos x="T4" y="T5"/>
                </a:cxn>
                <a:cxn ang="0">
                  <a:pos x="T6" y="T7"/>
                </a:cxn>
                <a:cxn ang="0">
                  <a:pos x="T8" y="T9"/>
                </a:cxn>
                <a:cxn ang="0">
                  <a:pos x="T10" y="T11"/>
                </a:cxn>
              </a:cxnLst>
              <a:rect l="0" t="0" r="r" b="b"/>
              <a:pathLst>
                <a:path w="5740" h="1864">
                  <a:moveTo>
                    <a:pt x="0" y="371"/>
                  </a:moveTo>
                  <a:lnTo>
                    <a:pt x="5740" y="1864"/>
                  </a:lnTo>
                  <a:lnTo>
                    <a:pt x="5740" y="1834"/>
                  </a:lnTo>
                  <a:lnTo>
                    <a:pt x="0" y="0"/>
                  </a:lnTo>
                  <a:lnTo>
                    <a:pt x="0" y="371"/>
                  </a:lnTo>
                  <a:lnTo>
                    <a:pt x="0" y="371"/>
                  </a:lnTo>
                  <a:close/>
                </a:path>
              </a:pathLst>
            </a:custGeom>
            <a:gradFill rotWithShape="0">
              <a:gsLst>
                <a:gs pos="0">
                  <a:schemeClr val="bg1">
                    <a:gamma/>
                    <a:shade val="6352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1059" name="Freeform 30">
              <a:extLst>
                <a:ext uri="{FF2B5EF4-FFF2-40B4-BE49-F238E27FC236}">
                  <a16:creationId xmlns:a16="http://schemas.microsoft.com/office/drawing/2014/main" id="{9F88478C-2393-4647-9C6D-17FDA08ADD0D}"/>
                </a:ext>
              </a:extLst>
            </p:cNvPr>
            <p:cNvSpPr>
              <a:spLocks/>
            </p:cNvSpPr>
            <p:nvPr/>
          </p:nvSpPr>
          <p:spPr bwMode="hidden">
            <a:xfrm>
              <a:off x="5754" y="3483"/>
              <a:ext cx="6" cy="6"/>
            </a:xfrm>
            <a:custGeom>
              <a:avLst/>
              <a:gdLst>
                <a:gd name="T0" fmla="*/ 6 w 6"/>
                <a:gd name="T1" fmla="*/ 6 h 6"/>
                <a:gd name="T2" fmla="*/ 0 w 6"/>
                <a:gd name="T3" fmla="*/ 0 h 6"/>
                <a:gd name="T4" fmla="*/ 0 w 6"/>
                <a:gd name="T5" fmla="*/ 6 h 6"/>
                <a:gd name="T6" fmla="*/ 6 w 6"/>
                <a:gd name="T7" fmla="*/ 6 h 6"/>
                <a:gd name="T8" fmla="*/ 6 w 6"/>
                <a:gd name="T9" fmla="*/ 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 h="6">
                  <a:moveTo>
                    <a:pt x="6" y="6"/>
                  </a:moveTo>
                  <a:lnTo>
                    <a:pt x="0" y="0"/>
                  </a:lnTo>
                  <a:lnTo>
                    <a:pt x="0" y="6"/>
                  </a:lnTo>
                  <a:lnTo>
                    <a:pt x="6" y="6"/>
                  </a:lnTo>
                  <a:close/>
                </a:path>
              </a:pathLst>
            </a:custGeom>
            <a:solidFill>
              <a:srgbClr val="18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639" name="Freeform 31">
              <a:extLst>
                <a:ext uri="{FF2B5EF4-FFF2-40B4-BE49-F238E27FC236}">
                  <a16:creationId xmlns:a16="http://schemas.microsoft.com/office/drawing/2014/main" id="{3E79F18A-5E8B-4281-9DE0-2587ABDBCAB8}"/>
                </a:ext>
              </a:extLst>
            </p:cNvPr>
            <p:cNvSpPr>
              <a:spLocks/>
            </p:cNvSpPr>
            <p:nvPr/>
          </p:nvSpPr>
          <p:spPr bwMode="hidden">
            <a:xfrm>
              <a:off x="2" y="2152"/>
              <a:ext cx="5752" cy="1337"/>
            </a:xfrm>
            <a:custGeom>
              <a:avLst/>
              <a:gdLst>
                <a:gd name="T0" fmla="*/ 0 w 5740"/>
                <a:gd name="T1" fmla="*/ 366 h 1337"/>
                <a:gd name="T2" fmla="*/ 5740 w 5740"/>
                <a:gd name="T3" fmla="*/ 1337 h 1337"/>
                <a:gd name="T4" fmla="*/ 5740 w 5740"/>
                <a:gd name="T5" fmla="*/ 1331 h 1337"/>
                <a:gd name="T6" fmla="*/ 0 w 5740"/>
                <a:gd name="T7" fmla="*/ 0 h 1337"/>
                <a:gd name="T8" fmla="*/ 0 w 5740"/>
                <a:gd name="T9" fmla="*/ 366 h 1337"/>
                <a:gd name="T10" fmla="*/ 0 w 5740"/>
                <a:gd name="T11" fmla="*/ 366 h 1337"/>
              </a:gdLst>
              <a:ahLst/>
              <a:cxnLst>
                <a:cxn ang="0">
                  <a:pos x="T0" y="T1"/>
                </a:cxn>
                <a:cxn ang="0">
                  <a:pos x="T2" y="T3"/>
                </a:cxn>
                <a:cxn ang="0">
                  <a:pos x="T4" y="T5"/>
                </a:cxn>
                <a:cxn ang="0">
                  <a:pos x="T6" y="T7"/>
                </a:cxn>
                <a:cxn ang="0">
                  <a:pos x="T8" y="T9"/>
                </a:cxn>
                <a:cxn ang="0">
                  <a:pos x="T10" y="T11"/>
                </a:cxn>
              </a:cxnLst>
              <a:rect l="0" t="0" r="r" b="b"/>
              <a:pathLst>
                <a:path w="5740" h="1337">
                  <a:moveTo>
                    <a:pt x="0" y="366"/>
                  </a:moveTo>
                  <a:lnTo>
                    <a:pt x="5740" y="1337"/>
                  </a:lnTo>
                  <a:lnTo>
                    <a:pt x="5740" y="1331"/>
                  </a:lnTo>
                  <a:lnTo>
                    <a:pt x="0" y="0"/>
                  </a:lnTo>
                  <a:lnTo>
                    <a:pt x="0" y="366"/>
                  </a:lnTo>
                  <a:lnTo>
                    <a:pt x="0" y="366"/>
                  </a:lnTo>
                  <a:close/>
                </a:path>
              </a:pathLst>
            </a:custGeom>
            <a:gradFill rotWithShape="0">
              <a:gsLst>
                <a:gs pos="0">
                  <a:schemeClr val="bg1">
                    <a:gamma/>
                    <a:shade val="6078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0" name="Freeform 32">
              <a:extLst>
                <a:ext uri="{FF2B5EF4-FFF2-40B4-BE49-F238E27FC236}">
                  <a16:creationId xmlns:a16="http://schemas.microsoft.com/office/drawing/2014/main" id="{997DA224-73EC-4F15-B66E-56D190ECD955}"/>
                </a:ext>
              </a:extLst>
            </p:cNvPr>
            <p:cNvSpPr>
              <a:spLocks/>
            </p:cNvSpPr>
            <p:nvPr/>
          </p:nvSpPr>
          <p:spPr bwMode="hidden">
            <a:xfrm>
              <a:off x="2" y="3177"/>
              <a:ext cx="5752" cy="414"/>
            </a:xfrm>
            <a:custGeom>
              <a:avLst/>
              <a:gdLst>
                <a:gd name="T0" fmla="*/ 0 w 5740"/>
                <a:gd name="T1" fmla="*/ 48 h 414"/>
                <a:gd name="T2" fmla="*/ 5740 w 5740"/>
                <a:gd name="T3" fmla="*/ 414 h 414"/>
                <a:gd name="T4" fmla="*/ 5740 w 5740"/>
                <a:gd name="T5" fmla="*/ 402 h 414"/>
                <a:gd name="T6" fmla="*/ 0 w 5740"/>
                <a:gd name="T7" fmla="*/ 0 h 414"/>
                <a:gd name="T8" fmla="*/ 0 w 5740"/>
                <a:gd name="T9" fmla="*/ 48 h 414"/>
                <a:gd name="T10" fmla="*/ 0 w 5740"/>
                <a:gd name="T11" fmla="*/ 48 h 414"/>
              </a:gdLst>
              <a:ahLst/>
              <a:cxnLst>
                <a:cxn ang="0">
                  <a:pos x="T0" y="T1"/>
                </a:cxn>
                <a:cxn ang="0">
                  <a:pos x="T2" y="T3"/>
                </a:cxn>
                <a:cxn ang="0">
                  <a:pos x="T4" y="T5"/>
                </a:cxn>
                <a:cxn ang="0">
                  <a:pos x="T6" y="T7"/>
                </a:cxn>
                <a:cxn ang="0">
                  <a:pos x="T8" y="T9"/>
                </a:cxn>
                <a:cxn ang="0">
                  <a:pos x="T10" y="T11"/>
                </a:cxn>
              </a:cxnLst>
              <a:rect l="0" t="0" r="r" b="b"/>
              <a:pathLst>
                <a:path w="5740" h="414">
                  <a:moveTo>
                    <a:pt x="0" y="48"/>
                  </a:moveTo>
                  <a:lnTo>
                    <a:pt x="5740" y="414"/>
                  </a:lnTo>
                  <a:lnTo>
                    <a:pt x="5740" y="402"/>
                  </a:lnTo>
                  <a:lnTo>
                    <a:pt x="0" y="0"/>
                  </a:lnTo>
                  <a:lnTo>
                    <a:pt x="0" y="48"/>
                  </a:lnTo>
                  <a:lnTo>
                    <a:pt x="0" y="48"/>
                  </a:lnTo>
                  <a:close/>
                </a:path>
              </a:pathLst>
            </a:custGeom>
            <a:gradFill rotWithShape="0">
              <a:gsLst>
                <a:gs pos="0">
                  <a:schemeClr val="bg1">
                    <a:gamma/>
                    <a:shade val="84706"/>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1" name="Freeform 33">
              <a:extLst>
                <a:ext uri="{FF2B5EF4-FFF2-40B4-BE49-F238E27FC236}">
                  <a16:creationId xmlns:a16="http://schemas.microsoft.com/office/drawing/2014/main" id="{A1946F2A-7511-4A5D-9A62-096CA948BDFA}"/>
                </a:ext>
              </a:extLst>
            </p:cNvPr>
            <p:cNvSpPr>
              <a:spLocks/>
            </p:cNvSpPr>
            <p:nvPr/>
          </p:nvSpPr>
          <p:spPr bwMode="hidden">
            <a:xfrm>
              <a:off x="1297" y="0"/>
              <a:ext cx="4457" cy="3177"/>
            </a:xfrm>
            <a:custGeom>
              <a:avLst/>
              <a:gdLst>
                <a:gd name="T0" fmla="*/ 0 w 4448"/>
                <a:gd name="T1" fmla="*/ 0 h 3177"/>
                <a:gd name="T2" fmla="*/ 4448 w 4448"/>
                <a:gd name="T3" fmla="*/ 3177 h 3177"/>
                <a:gd name="T4" fmla="*/ 4448 w 4448"/>
                <a:gd name="T5" fmla="*/ 3153 h 3177"/>
                <a:gd name="T6" fmla="*/ 125 w 4448"/>
                <a:gd name="T7" fmla="*/ 0 h 3177"/>
                <a:gd name="T8" fmla="*/ 0 w 4448"/>
                <a:gd name="T9" fmla="*/ 0 h 3177"/>
                <a:gd name="T10" fmla="*/ 0 w 4448"/>
                <a:gd name="T11" fmla="*/ 0 h 3177"/>
              </a:gdLst>
              <a:ahLst/>
              <a:cxnLst>
                <a:cxn ang="0">
                  <a:pos x="T0" y="T1"/>
                </a:cxn>
                <a:cxn ang="0">
                  <a:pos x="T2" y="T3"/>
                </a:cxn>
                <a:cxn ang="0">
                  <a:pos x="T4" y="T5"/>
                </a:cxn>
                <a:cxn ang="0">
                  <a:pos x="T6" y="T7"/>
                </a:cxn>
                <a:cxn ang="0">
                  <a:pos x="T8" y="T9"/>
                </a:cxn>
                <a:cxn ang="0">
                  <a:pos x="T10" y="T11"/>
                </a:cxn>
              </a:cxnLst>
              <a:rect l="0" t="0" r="r" b="b"/>
              <a:pathLst>
                <a:path w="4448" h="3177">
                  <a:moveTo>
                    <a:pt x="0" y="0"/>
                  </a:moveTo>
                  <a:lnTo>
                    <a:pt x="4448" y="3177"/>
                  </a:lnTo>
                  <a:lnTo>
                    <a:pt x="4448" y="3153"/>
                  </a:lnTo>
                  <a:lnTo>
                    <a:pt x="125" y="0"/>
                  </a:lnTo>
                  <a:lnTo>
                    <a:pt x="0" y="0"/>
                  </a:lnTo>
                  <a:lnTo>
                    <a:pt x="0" y="0"/>
                  </a:lnTo>
                  <a:close/>
                </a:path>
              </a:pathLst>
            </a:custGeom>
            <a:gradFill rotWithShape="0">
              <a:gsLst>
                <a:gs pos="0">
                  <a:schemeClr val="bg1">
                    <a:gamma/>
                    <a:shade val="4862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2" name="Freeform 34">
              <a:extLst>
                <a:ext uri="{FF2B5EF4-FFF2-40B4-BE49-F238E27FC236}">
                  <a16:creationId xmlns:a16="http://schemas.microsoft.com/office/drawing/2014/main" id="{54A2AEE4-4390-447F-86C6-50A52F837CE0}"/>
                </a:ext>
              </a:extLst>
            </p:cNvPr>
            <p:cNvSpPr>
              <a:spLocks/>
            </p:cNvSpPr>
            <p:nvPr/>
          </p:nvSpPr>
          <p:spPr bwMode="hidden">
            <a:xfrm>
              <a:off x="3321" y="0"/>
              <a:ext cx="2433" cy="2614"/>
            </a:xfrm>
            <a:custGeom>
              <a:avLst/>
              <a:gdLst>
                <a:gd name="T0" fmla="*/ 0 w 2428"/>
                <a:gd name="T1" fmla="*/ 0 h 2614"/>
                <a:gd name="T2" fmla="*/ 2428 w 2428"/>
                <a:gd name="T3" fmla="*/ 2614 h 2614"/>
                <a:gd name="T4" fmla="*/ 2428 w 2428"/>
                <a:gd name="T5" fmla="*/ 2608 h 2614"/>
                <a:gd name="T6" fmla="*/ 66 w 2428"/>
                <a:gd name="T7" fmla="*/ 0 h 2614"/>
                <a:gd name="T8" fmla="*/ 0 w 2428"/>
                <a:gd name="T9" fmla="*/ 0 h 2614"/>
                <a:gd name="T10" fmla="*/ 0 w 2428"/>
                <a:gd name="T11" fmla="*/ 0 h 2614"/>
              </a:gdLst>
              <a:ahLst/>
              <a:cxnLst>
                <a:cxn ang="0">
                  <a:pos x="T0" y="T1"/>
                </a:cxn>
                <a:cxn ang="0">
                  <a:pos x="T2" y="T3"/>
                </a:cxn>
                <a:cxn ang="0">
                  <a:pos x="T4" y="T5"/>
                </a:cxn>
                <a:cxn ang="0">
                  <a:pos x="T6" y="T7"/>
                </a:cxn>
                <a:cxn ang="0">
                  <a:pos x="T8" y="T9"/>
                </a:cxn>
                <a:cxn ang="0">
                  <a:pos x="T10" y="T11"/>
                </a:cxn>
              </a:cxnLst>
              <a:rect l="0" t="0" r="r" b="b"/>
              <a:pathLst>
                <a:path w="2428" h="2614">
                  <a:moveTo>
                    <a:pt x="0" y="0"/>
                  </a:moveTo>
                  <a:lnTo>
                    <a:pt x="2428" y="2614"/>
                  </a:lnTo>
                  <a:lnTo>
                    <a:pt x="2428" y="2608"/>
                  </a:lnTo>
                  <a:lnTo>
                    <a:pt x="66" y="0"/>
                  </a:lnTo>
                  <a:lnTo>
                    <a:pt x="0" y="0"/>
                  </a:lnTo>
                  <a:lnTo>
                    <a:pt x="0" y="0"/>
                  </a:lnTo>
                  <a:close/>
                </a:path>
              </a:pathLst>
            </a:custGeom>
            <a:gradFill rotWithShape="0">
              <a:gsLst>
                <a:gs pos="0">
                  <a:schemeClr val="bg1">
                    <a:gamma/>
                    <a:shade val="84706"/>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3" name="Freeform 35">
              <a:extLst>
                <a:ext uri="{FF2B5EF4-FFF2-40B4-BE49-F238E27FC236}">
                  <a16:creationId xmlns:a16="http://schemas.microsoft.com/office/drawing/2014/main" id="{28C4BAF3-0C5D-4AAD-8BD0-A23716D39B76}"/>
                </a:ext>
              </a:extLst>
            </p:cNvPr>
            <p:cNvSpPr>
              <a:spLocks/>
            </p:cNvSpPr>
            <p:nvPr/>
          </p:nvSpPr>
          <p:spPr bwMode="hidden">
            <a:xfrm>
              <a:off x="3950" y="0"/>
              <a:ext cx="1804" cy="2464"/>
            </a:xfrm>
            <a:custGeom>
              <a:avLst/>
              <a:gdLst>
                <a:gd name="T0" fmla="*/ 485 w 1800"/>
                <a:gd name="T1" fmla="*/ 0 h 2464"/>
                <a:gd name="T2" fmla="*/ 0 w 1800"/>
                <a:gd name="T3" fmla="*/ 0 h 2464"/>
                <a:gd name="T4" fmla="*/ 1800 w 1800"/>
                <a:gd name="T5" fmla="*/ 2464 h 2464"/>
                <a:gd name="T6" fmla="*/ 1800 w 1800"/>
                <a:gd name="T7" fmla="*/ 2248 h 2464"/>
                <a:gd name="T8" fmla="*/ 1794 w 1800"/>
                <a:gd name="T9" fmla="*/ 2248 h 2464"/>
                <a:gd name="T10" fmla="*/ 485 w 1800"/>
                <a:gd name="T11" fmla="*/ 0 h 2464"/>
                <a:gd name="T12" fmla="*/ 485 w 1800"/>
                <a:gd name="T13" fmla="*/ 0 h 2464"/>
              </a:gdLst>
              <a:ahLst/>
              <a:cxnLst>
                <a:cxn ang="0">
                  <a:pos x="T0" y="T1"/>
                </a:cxn>
                <a:cxn ang="0">
                  <a:pos x="T2" y="T3"/>
                </a:cxn>
                <a:cxn ang="0">
                  <a:pos x="T4" y="T5"/>
                </a:cxn>
                <a:cxn ang="0">
                  <a:pos x="T6" y="T7"/>
                </a:cxn>
                <a:cxn ang="0">
                  <a:pos x="T8" y="T9"/>
                </a:cxn>
                <a:cxn ang="0">
                  <a:pos x="T10" y="T11"/>
                </a:cxn>
                <a:cxn ang="0">
                  <a:pos x="T12" y="T13"/>
                </a:cxn>
              </a:cxnLst>
              <a:rect l="0" t="0" r="r" b="b"/>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chemeClr val="bg2">
                    <a:gamma/>
                    <a:shade val="78824"/>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4" name="Freeform 36">
              <a:extLst>
                <a:ext uri="{FF2B5EF4-FFF2-40B4-BE49-F238E27FC236}">
                  <a16:creationId xmlns:a16="http://schemas.microsoft.com/office/drawing/2014/main" id="{0F182309-4CEE-4F81-B312-A9F47D4E245E}"/>
                </a:ext>
              </a:extLst>
            </p:cNvPr>
            <p:cNvSpPr>
              <a:spLocks/>
            </p:cNvSpPr>
            <p:nvPr/>
          </p:nvSpPr>
          <p:spPr bwMode="hidden">
            <a:xfrm>
              <a:off x="4519" y="0"/>
              <a:ext cx="1235" cy="2074"/>
            </a:xfrm>
            <a:custGeom>
              <a:avLst/>
              <a:gdLst>
                <a:gd name="T0" fmla="*/ 0 w 1232"/>
                <a:gd name="T1" fmla="*/ 0 h 2074"/>
                <a:gd name="T2" fmla="*/ 1232 w 1232"/>
                <a:gd name="T3" fmla="*/ 2074 h 2074"/>
                <a:gd name="T4" fmla="*/ 1232 w 1232"/>
                <a:gd name="T5" fmla="*/ 2038 h 2074"/>
                <a:gd name="T6" fmla="*/ 42 w 1232"/>
                <a:gd name="T7" fmla="*/ 0 h 2074"/>
                <a:gd name="T8" fmla="*/ 0 w 1232"/>
                <a:gd name="T9" fmla="*/ 0 h 2074"/>
                <a:gd name="T10" fmla="*/ 0 w 1232"/>
                <a:gd name="T11" fmla="*/ 0 h 2074"/>
              </a:gdLst>
              <a:ahLst/>
              <a:cxnLst>
                <a:cxn ang="0">
                  <a:pos x="T0" y="T1"/>
                </a:cxn>
                <a:cxn ang="0">
                  <a:pos x="T2" y="T3"/>
                </a:cxn>
                <a:cxn ang="0">
                  <a:pos x="T4" y="T5"/>
                </a:cxn>
                <a:cxn ang="0">
                  <a:pos x="T6" y="T7"/>
                </a:cxn>
                <a:cxn ang="0">
                  <a:pos x="T8" y="T9"/>
                </a:cxn>
                <a:cxn ang="0">
                  <a:pos x="T10" y="T11"/>
                </a:cxn>
              </a:cxnLst>
              <a:rect l="0" t="0" r="r" b="b"/>
              <a:pathLst>
                <a:path w="1232" h="2074">
                  <a:moveTo>
                    <a:pt x="0" y="0"/>
                  </a:moveTo>
                  <a:lnTo>
                    <a:pt x="1232" y="2074"/>
                  </a:lnTo>
                  <a:lnTo>
                    <a:pt x="1232" y="2038"/>
                  </a:lnTo>
                  <a:lnTo>
                    <a:pt x="42" y="0"/>
                  </a:lnTo>
                  <a:lnTo>
                    <a:pt x="0" y="0"/>
                  </a:lnTo>
                  <a:lnTo>
                    <a:pt x="0" y="0"/>
                  </a:lnTo>
                  <a:close/>
                </a:path>
              </a:pathLst>
            </a:custGeom>
            <a:gradFill rotWithShape="0">
              <a:gsLst>
                <a:gs pos="0">
                  <a:schemeClr val="bg1">
                    <a:gamma/>
                    <a:shade val="57647"/>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5" name="Freeform 37">
              <a:extLst>
                <a:ext uri="{FF2B5EF4-FFF2-40B4-BE49-F238E27FC236}">
                  <a16:creationId xmlns:a16="http://schemas.microsoft.com/office/drawing/2014/main" id="{15D43F55-B11D-4CB1-8E50-533A6128B346}"/>
                </a:ext>
              </a:extLst>
            </p:cNvPr>
            <p:cNvSpPr>
              <a:spLocks/>
            </p:cNvSpPr>
            <p:nvPr/>
          </p:nvSpPr>
          <p:spPr bwMode="hidden">
            <a:xfrm>
              <a:off x="4694" y="0"/>
              <a:ext cx="1060" cy="1936"/>
            </a:xfrm>
            <a:custGeom>
              <a:avLst/>
              <a:gdLst>
                <a:gd name="T0" fmla="*/ 0 w 1058"/>
                <a:gd name="T1" fmla="*/ 0 h 1936"/>
                <a:gd name="T2" fmla="*/ 1058 w 1058"/>
                <a:gd name="T3" fmla="*/ 1936 h 1936"/>
                <a:gd name="T4" fmla="*/ 1058 w 1058"/>
                <a:gd name="T5" fmla="*/ 1930 h 1936"/>
                <a:gd name="T6" fmla="*/ 54 w 1058"/>
                <a:gd name="T7" fmla="*/ 0 h 1936"/>
                <a:gd name="T8" fmla="*/ 0 w 1058"/>
                <a:gd name="T9" fmla="*/ 0 h 1936"/>
                <a:gd name="T10" fmla="*/ 0 w 1058"/>
                <a:gd name="T11" fmla="*/ 0 h 1936"/>
              </a:gdLst>
              <a:ahLst/>
              <a:cxnLst>
                <a:cxn ang="0">
                  <a:pos x="T0" y="T1"/>
                </a:cxn>
                <a:cxn ang="0">
                  <a:pos x="T2" y="T3"/>
                </a:cxn>
                <a:cxn ang="0">
                  <a:pos x="T4" y="T5"/>
                </a:cxn>
                <a:cxn ang="0">
                  <a:pos x="T6" y="T7"/>
                </a:cxn>
                <a:cxn ang="0">
                  <a:pos x="T8" y="T9"/>
                </a:cxn>
                <a:cxn ang="0">
                  <a:pos x="T10" y="T11"/>
                </a:cxn>
              </a:cxnLst>
              <a:rect l="0" t="0" r="r" b="b"/>
              <a:pathLst>
                <a:path w="1058" h="1936">
                  <a:moveTo>
                    <a:pt x="0" y="0"/>
                  </a:moveTo>
                  <a:lnTo>
                    <a:pt x="1058" y="1936"/>
                  </a:lnTo>
                  <a:lnTo>
                    <a:pt x="1058" y="1930"/>
                  </a:lnTo>
                  <a:lnTo>
                    <a:pt x="54" y="0"/>
                  </a:lnTo>
                  <a:lnTo>
                    <a:pt x="0" y="0"/>
                  </a:lnTo>
                  <a:lnTo>
                    <a:pt x="0" y="0"/>
                  </a:lnTo>
                  <a:close/>
                </a:path>
              </a:pathLst>
            </a:custGeom>
            <a:gradFill rotWithShape="0">
              <a:gsLst>
                <a:gs pos="0">
                  <a:schemeClr val="bg1">
                    <a:gamma/>
                    <a:shade val="72549"/>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6" name="Freeform 38">
              <a:extLst>
                <a:ext uri="{FF2B5EF4-FFF2-40B4-BE49-F238E27FC236}">
                  <a16:creationId xmlns:a16="http://schemas.microsoft.com/office/drawing/2014/main" id="{2941011A-533A-4F7A-B14D-E146006BD088}"/>
                </a:ext>
              </a:extLst>
            </p:cNvPr>
            <p:cNvSpPr>
              <a:spLocks/>
            </p:cNvSpPr>
            <p:nvPr/>
          </p:nvSpPr>
          <p:spPr bwMode="hidden">
            <a:xfrm>
              <a:off x="4981" y="0"/>
              <a:ext cx="773" cy="1487"/>
            </a:xfrm>
            <a:custGeom>
              <a:avLst/>
              <a:gdLst>
                <a:gd name="T0" fmla="*/ 771 w 771"/>
                <a:gd name="T1" fmla="*/ 1433 h 1487"/>
                <a:gd name="T2" fmla="*/ 42 w 771"/>
                <a:gd name="T3" fmla="*/ 0 h 1487"/>
                <a:gd name="T4" fmla="*/ 0 w 771"/>
                <a:gd name="T5" fmla="*/ 0 h 1487"/>
                <a:gd name="T6" fmla="*/ 771 w 771"/>
                <a:gd name="T7" fmla="*/ 1487 h 1487"/>
                <a:gd name="T8" fmla="*/ 771 w 771"/>
                <a:gd name="T9" fmla="*/ 1433 h 1487"/>
                <a:gd name="T10" fmla="*/ 771 w 771"/>
                <a:gd name="T11" fmla="*/ 1433 h 1487"/>
              </a:gdLst>
              <a:ahLst/>
              <a:cxnLst>
                <a:cxn ang="0">
                  <a:pos x="T0" y="T1"/>
                </a:cxn>
                <a:cxn ang="0">
                  <a:pos x="T2" y="T3"/>
                </a:cxn>
                <a:cxn ang="0">
                  <a:pos x="T4" y="T5"/>
                </a:cxn>
                <a:cxn ang="0">
                  <a:pos x="T6" y="T7"/>
                </a:cxn>
                <a:cxn ang="0">
                  <a:pos x="T8" y="T9"/>
                </a:cxn>
                <a:cxn ang="0">
                  <a:pos x="T10" y="T11"/>
                </a:cxn>
              </a:cxnLst>
              <a:rect l="0" t="0" r="r" b="b"/>
              <a:pathLst>
                <a:path w="771" h="1487">
                  <a:moveTo>
                    <a:pt x="771" y="1433"/>
                  </a:moveTo>
                  <a:lnTo>
                    <a:pt x="42" y="0"/>
                  </a:lnTo>
                  <a:lnTo>
                    <a:pt x="0" y="0"/>
                  </a:lnTo>
                  <a:lnTo>
                    <a:pt x="771" y="1487"/>
                  </a:lnTo>
                  <a:lnTo>
                    <a:pt x="771" y="1433"/>
                  </a:lnTo>
                  <a:lnTo>
                    <a:pt x="771" y="1433"/>
                  </a:lnTo>
                  <a:close/>
                </a:path>
              </a:pathLst>
            </a:custGeom>
            <a:gradFill rotWithShape="0">
              <a:gsLst>
                <a:gs pos="0">
                  <a:schemeClr val="bg1">
                    <a:gamma/>
                    <a:shade val="78824"/>
                    <a:invGamma/>
                  </a:schemeClr>
                </a:gs>
                <a:gs pos="100000">
                  <a:schemeClr val="bg1"/>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grpSp>
          <p:nvGrpSpPr>
            <p:cNvPr id="1068" name="Group 39">
              <a:extLst>
                <a:ext uri="{FF2B5EF4-FFF2-40B4-BE49-F238E27FC236}">
                  <a16:creationId xmlns:a16="http://schemas.microsoft.com/office/drawing/2014/main" id="{519048BE-F89E-4CAD-AB17-0670C88C9D01}"/>
                </a:ext>
              </a:extLst>
            </p:cNvPr>
            <p:cNvGrpSpPr>
              <a:grpSpLocks/>
            </p:cNvGrpSpPr>
            <p:nvPr userDrawn="1"/>
          </p:nvGrpSpPr>
          <p:grpSpPr bwMode="auto">
            <a:xfrm>
              <a:off x="0" y="1632"/>
              <a:ext cx="5758" cy="1858"/>
              <a:chOff x="0" y="1632"/>
              <a:chExt cx="5758" cy="1858"/>
            </a:xfrm>
          </p:grpSpPr>
          <p:sp>
            <p:nvSpPr>
              <p:cNvPr id="68648" name="Freeform 40">
                <a:extLst>
                  <a:ext uri="{FF2B5EF4-FFF2-40B4-BE49-F238E27FC236}">
                    <a16:creationId xmlns:a16="http://schemas.microsoft.com/office/drawing/2014/main" id="{8B201D1A-7BBB-4A5F-9344-201C128A7426}"/>
                  </a:ext>
                </a:extLst>
              </p:cNvPr>
              <p:cNvSpPr>
                <a:spLocks/>
              </p:cNvSpPr>
              <p:nvPr/>
            </p:nvSpPr>
            <p:spPr bwMode="hidden">
              <a:xfrm>
                <a:off x="0" y="1632"/>
                <a:ext cx="3670" cy="1313"/>
              </a:xfrm>
              <a:custGeom>
                <a:avLst/>
                <a:gdLst>
                  <a:gd name="T0" fmla="*/ 0 w 3659"/>
                  <a:gd name="T1" fmla="*/ 0 h 1313"/>
                  <a:gd name="T2" fmla="*/ 0 w 3659"/>
                  <a:gd name="T3" fmla="*/ 366 h 1313"/>
                  <a:gd name="T4" fmla="*/ 3635 w 3659"/>
                  <a:gd name="T5" fmla="*/ 1313 h 1313"/>
                  <a:gd name="T6" fmla="*/ 3647 w 3659"/>
                  <a:gd name="T7" fmla="*/ 1235 h 1313"/>
                  <a:gd name="T8" fmla="*/ 3659 w 3659"/>
                  <a:gd name="T9" fmla="*/ 1163 h 1313"/>
                  <a:gd name="T10" fmla="*/ 0 w 3659"/>
                  <a:gd name="T11" fmla="*/ 0 h 1313"/>
                  <a:gd name="T12" fmla="*/ 0 w 3659"/>
                  <a:gd name="T13" fmla="*/ 0 h 1313"/>
                </a:gdLst>
                <a:ahLst/>
                <a:cxnLst>
                  <a:cxn ang="0">
                    <a:pos x="T0" y="T1"/>
                  </a:cxn>
                  <a:cxn ang="0">
                    <a:pos x="T2" y="T3"/>
                  </a:cxn>
                  <a:cxn ang="0">
                    <a:pos x="T4" y="T5"/>
                  </a:cxn>
                  <a:cxn ang="0">
                    <a:pos x="T6" y="T7"/>
                  </a:cxn>
                  <a:cxn ang="0">
                    <a:pos x="T8" y="T9"/>
                  </a:cxn>
                  <a:cxn ang="0">
                    <a:pos x="T10" y="T11"/>
                  </a:cxn>
                  <a:cxn ang="0">
                    <a:pos x="T12" y="T13"/>
                  </a:cxn>
                </a:cxnLst>
                <a:rect l="0" t="0" r="r" b="b"/>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chemeClr val="bg1">
                      <a:gamma/>
                      <a:shade val="72549"/>
                      <a:invGamma/>
                    </a:schemeClr>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sp>
            <p:nvSpPr>
              <p:cNvPr id="68649" name="Freeform 41">
                <a:extLst>
                  <a:ext uri="{FF2B5EF4-FFF2-40B4-BE49-F238E27FC236}">
                    <a16:creationId xmlns:a16="http://schemas.microsoft.com/office/drawing/2014/main" id="{4D83C3AC-AEBA-4F6E-AEAF-296D7611A017}"/>
                  </a:ext>
                </a:extLst>
              </p:cNvPr>
              <p:cNvSpPr>
                <a:spLocks/>
              </p:cNvSpPr>
              <p:nvPr/>
            </p:nvSpPr>
            <p:spPr bwMode="hidden">
              <a:xfrm>
                <a:off x="3646" y="2795"/>
                <a:ext cx="2112" cy="695"/>
              </a:xfrm>
              <a:custGeom>
                <a:avLst/>
                <a:gdLst>
                  <a:gd name="T0" fmla="*/ 2105 w 2105"/>
                  <a:gd name="T1" fmla="*/ 665 h 695"/>
                  <a:gd name="T2" fmla="*/ 24 w 2105"/>
                  <a:gd name="T3" fmla="*/ 0 h 695"/>
                  <a:gd name="T4" fmla="*/ 12 w 2105"/>
                  <a:gd name="T5" fmla="*/ 72 h 695"/>
                  <a:gd name="T6" fmla="*/ 0 w 2105"/>
                  <a:gd name="T7" fmla="*/ 150 h 695"/>
                  <a:gd name="T8" fmla="*/ 2105 w 2105"/>
                  <a:gd name="T9" fmla="*/ 695 h 695"/>
                  <a:gd name="T10" fmla="*/ 2105 w 2105"/>
                  <a:gd name="T11" fmla="*/ 665 h 695"/>
                  <a:gd name="T12" fmla="*/ 2105 w 2105"/>
                  <a:gd name="T13" fmla="*/ 665 h 695"/>
                </a:gdLst>
                <a:ahLst/>
                <a:cxnLst>
                  <a:cxn ang="0">
                    <a:pos x="T0" y="T1"/>
                  </a:cxn>
                  <a:cxn ang="0">
                    <a:pos x="T2" y="T3"/>
                  </a:cxn>
                  <a:cxn ang="0">
                    <a:pos x="T4" y="T5"/>
                  </a:cxn>
                  <a:cxn ang="0">
                    <a:pos x="T6" y="T7"/>
                  </a:cxn>
                  <a:cxn ang="0">
                    <a:pos x="T8" y="T9"/>
                  </a:cxn>
                  <a:cxn ang="0">
                    <a:pos x="T10" y="T11"/>
                  </a:cxn>
                  <a:cxn ang="0">
                    <a:pos x="T12" y="T13"/>
                  </a:cxn>
                </a:cxnLst>
                <a:rect l="0" t="0" r="r" b="b"/>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chemeClr val="bg1">
                      <a:gamma/>
                      <a:tint val="90980"/>
                      <a:invGamma/>
                    </a:schemeClr>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hangingPunct="1">
                  <a:defRPr/>
                </a:pPr>
                <a:endParaRPr lang="zh-CN" altLang="en-US"/>
              </a:p>
            </p:txBody>
          </p:sp>
        </p:grpSp>
      </p:grpSp>
      <p:sp>
        <p:nvSpPr>
          <p:cNvPr id="68650" name="Rectangle 42">
            <a:extLst>
              <a:ext uri="{FF2B5EF4-FFF2-40B4-BE49-F238E27FC236}">
                <a16:creationId xmlns:a16="http://schemas.microsoft.com/office/drawing/2014/main" id="{2F4DFB08-6E0B-4411-8485-3C4259F69506}"/>
              </a:ext>
            </a:extLst>
          </p:cNvPr>
          <p:cNvSpPr>
            <a:spLocks noGrp="1" noChangeArrowheads="1"/>
          </p:cNvSpPr>
          <p:nvPr>
            <p:ph type="title"/>
          </p:nvPr>
        </p:nvSpPr>
        <p:spPr bwMode="auto">
          <a:xfrm>
            <a:off x="457200" y="27781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68651" name="Rectangle 43">
            <a:extLst>
              <a:ext uri="{FF2B5EF4-FFF2-40B4-BE49-F238E27FC236}">
                <a16:creationId xmlns:a16="http://schemas.microsoft.com/office/drawing/2014/main" id="{5C3CC4EF-A299-42C7-A0F4-B751D7306E61}"/>
              </a:ext>
            </a:extLst>
          </p:cNvPr>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8652" name="Rectangle 44">
            <a:extLst>
              <a:ext uri="{FF2B5EF4-FFF2-40B4-BE49-F238E27FC236}">
                <a16:creationId xmlns:a16="http://schemas.microsoft.com/office/drawing/2014/main" id="{270AB516-882F-4F4F-A424-31F4DBBDFB1F}"/>
              </a:ext>
            </a:extLst>
          </p:cNvPr>
          <p:cNvSpPr>
            <a:spLocks noGrp="1" noChangeArrowheads="1"/>
          </p:cNvSpPr>
          <p:nvPr>
            <p:ph type="dt" sz="half" idx="2"/>
          </p:nvPr>
        </p:nvSpPr>
        <p:spPr bwMode="auto">
          <a:xfrm>
            <a:off x="457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effectLst>
                  <a:outerShdw blurRad="38100" dist="38100" dir="2700000" algn="tl">
                    <a:srgbClr val="000000"/>
                  </a:outerShdw>
                </a:effectLst>
              </a:defRPr>
            </a:lvl1pPr>
          </a:lstStyle>
          <a:p>
            <a:pPr>
              <a:defRPr/>
            </a:pPr>
            <a:fld id="{5137D06E-E20B-4B10-A130-4A118CD8E553}" type="datetime1">
              <a:rPr lang="zh-CN" altLang="en-US"/>
              <a:pPr>
                <a:defRPr/>
              </a:pPr>
              <a:t>2025/5/11</a:t>
            </a:fld>
            <a:endParaRPr lang="en-US" altLang="zh-CN"/>
          </a:p>
        </p:txBody>
      </p:sp>
      <p:sp>
        <p:nvSpPr>
          <p:cNvPr id="68653" name="Rectangle 45">
            <a:extLst>
              <a:ext uri="{FF2B5EF4-FFF2-40B4-BE49-F238E27FC236}">
                <a16:creationId xmlns:a16="http://schemas.microsoft.com/office/drawing/2014/main" id="{9CA75C89-A6BF-4BF4-87F6-CF5F328AD6D2}"/>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b="0">
                <a:effectLst>
                  <a:outerShdw blurRad="38100" dist="38100" dir="2700000" algn="tl">
                    <a:srgbClr val="000000"/>
                  </a:outerShdw>
                </a:effectLst>
              </a:defRPr>
            </a:lvl1pPr>
          </a:lstStyle>
          <a:p>
            <a:pPr>
              <a:defRPr/>
            </a:pPr>
            <a:endParaRPr lang="en-US" altLang="zh-CN"/>
          </a:p>
        </p:txBody>
      </p:sp>
      <p:sp>
        <p:nvSpPr>
          <p:cNvPr id="68654" name="Rectangle 46">
            <a:extLst>
              <a:ext uri="{FF2B5EF4-FFF2-40B4-BE49-F238E27FC236}">
                <a16:creationId xmlns:a16="http://schemas.microsoft.com/office/drawing/2014/main" id="{0EEF04AD-A5F6-4C31-AF2E-C48700951A3C}"/>
              </a:ext>
            </a:extLst>
          </p:cNvPr>
          <p:cNvSpPr>
            <a:spLocks noGrp="1" noChangeArrowheads="1"/>
          </p:cNvSpPr>
          <p:nvPr>
            <p:ph type="sldNum" sz="quarter" idx="4"/>
          </p:nvPr>
        </p:nvSpPr>
        <p:spPr bwMode="auto">
          <a:xfrm>
            <a:off x="6553200" y="6243638"/>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effectLst>
                  <a:outerShdw blurRad="38100" dist="38100" dir="2700000" algn="tl">
                    <a:srgbClr val="000000"/>
                  </a:outerShdw>
                </a:effectLst>
              </a:defRPr>
            </a:lvl1pPr>
          </a:lstStyle>
          <a:p>
            <a:fld id="{F468535A-5CF3-4A60-B36C-860FEE426772}"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86"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p:random/>
  </p:transition>
  <p:hf hdr="0" ftr="0" dt="0"/>
  <p:txStyles>
    <p:titleStyle>
      <a:lvl1pPr algn="ctr" rtl="0" eaLnBrk="0" fontAlgn="base" hangingPunct="0">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90000"/>
        <a:buFont typeface="Wingdings" panose="05000000000000000000" pitchFamily="2" charset="2"/>
        <a:buBlip>
          <a:blip r:embed="rId13"/>
        </a:buBlip>
        <a:defRPr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accent2"/>
        </a:buClr>
        <a:buSzPct val="90000"/>
        <a:buFont typeface="Wingdings" panose="05000000000000000000" pitchFamily="2" charset="2"/>
        <a:buBlip>
          <a:blip r:embed="rId14"/>
        </a:buBlip>
        <a:defRPr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folHlink"/>
        </a:buClr>
        <a:buSzPct val="90000"/>
        <a:buFont typeface="Wingdings" panose="05000000000000000000" pitchFamily="2" charset="2"/>
        <a:buBlip>
          <a:blip r:embed="rId15"/>
        </a:buBlip>
        <a:defRPr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slide" Target="slide25.xml"/><Relationship Id="rId5" Type="http://schemas.openxmlformats.org/officeDocument/2006/relationships/slide" Target="slide24.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a:extLst>
              <a:ext uri="{FF2B5EF4-FFF2-40B4-BE49-F238E27FC236}">
                <a16:creationId xmlns:a16="http://schemas.microsoft.com/office/drawing/2014/main" id="{139B9E4A-19BC-44F2-9329-5FBDB89916BB}"/>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A6FC0E3-3F50-4FAB-A99B-FC3DB8669C9C}" type="slidenum">
              <a:rPr lang="en-US" altLang="zh-CN" b="0"/>
              <a:pPr/>
              <a:t>1</a:t>
            </a:fld>
            <a:endParaRPr lang="en-US" altLang="zh-CN" b="0"/>
          </a:p>
        </p:txBody>
      </p:sp>
      <p:sp>
        <p:nvSpPr>
          <p:cNvPr id="152578" name="Rectangle 2">
            <a:extLst>
              <a:ext uri="{FF2B5EF4-FFF2-40B4-BE49-F238E27FC236}">
                <a16:creationId xmlns:a16="http://schemas.microsoft.com/office/drawing/2014/main" id="{54CFA10D-1537-4B33-BF22-5DE72D278EE2}"/>
              </a:ext>
            </a:extLst>
          </p:cNvPr>
          <p:cNvSpPr>
            <a:spLocks noChangeArrowheads="1"/>
          </p:cNvSpPr>
          <p:nvPr/>
        </p:nvSpPr>
        <p:spPr bwMode="auto">
          <a:xfrm>
            <a:off x="647700" y="1152525"/>
            <a:ext cx="8316913" cy="537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chemeClr val="hlink"/>
              </a:buClr>
              <a:buSzPct val="90000"/>
              <a:buFont typeface="Wingdings" panose="05000000000000000000" pitchFamily="2" charset="2"/>
              <a:buBlip>
                <a:blip r:embed="rId2"/>
              </a:buBlip>
              <a:defRPr sz="32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marL="990600" indent="-533400">
              <a:spcBef>
                <a:spcPct val="20000"/>
              </a:spcBef>
              <a:buChar char="–"/>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marL="1371600" indent="-457200">
              <a:spcBef>
                <a:spcPct val="20000"/>
              </a:spcBef>
              <a:buClr>
                <a:schemeClr val="accent2"/>
              </a:buClr>
              <a:buSzPct val="90000"/>
              <a:buFont typeface="Wingdings" panose="05000000000000000000" pitchFamily="2" charset="2"/>
              <a:buBlip>
                <a:blip r:embed="rId3"/>
              </a:buBlip>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marL="1752600" indent="-381000">
              <a:spcBef>
                <a:spcPct val="20000"/>
              </a:spcBef>
              <a:buChar char="–"/>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marL="2209800" indent="-381000">
              <a:spcBef>
                <a:spcPct val="20000"/>
              </a:spcBef>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2667000" indent="-381000" fontAlgn="base">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3124200" indent="-381000" fontAlgn="base">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3581400" indent="-381000" fontAlgn="base">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4038600" indent="-381000" fontAlgn="base">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eaLnBrk="1" hangingPunct="1">
              <a:lnSpc>
                <a:spcPct val="125000"/>
              </a:lnSpc>
              <a:defRPr/>
            </a:pPr>
            <a:r>
              <a:rPr lang="en-US" altLang="zh-CN" sz="2600" dirty="0"/>
              <a:t>1.</a:t>
            </a:r>
            <a:r>
              <a:rPr lang="zh-CN" altLang="en-US" sz="2600" dirty="0"/>
              <a:t>常用的</a:t>
            </a:r>
            <a:r>
              <a:rPr lang="en-US" altLang="zh-CN" sz="2600" dirty="0"/>
              <a:t>A/D</a:t>
            </a:r>
            <a:r>
              <a:rPr lang="zh-CN" altLang="en-US" sz="2600" dirty="0"/>
              <a:t>转换方法</a:t>
            </a:r>
            <a:r>
              <a:rPr lang="en-US" altLang="zh-CN" sz="2600" dirty="0"/>
              <a:t>—</a:t>
            </a:r>
            <a:r>
              <a:rPr lang="zh-CN" altLang="en-US" sz="2600" dirty="0">
                <a:solidFill>
                  <a:srgbClr val="FFFF00"/>
                </a:solidFill>
              </a:rPr>
              <a:t>逐次逼近式</a:t>
            </a:r>
            <a:r>
              <a:rPr lang="en-US" altLang="zh-CN" sz="2600" dirty="0"/>
              <a:t>A/D</a:t>
            </a:r>
            <a:r>
              <a:rPr lang="zh-CN" altLang="en-US" sz="2600" dirty="0"/>
              <a:t>转换的原理</a:t>
            </a:r>
          </a:p>
          <a:p>
            <a:pPr lvl="2" eaLnBrk="1" hangingPunct="1">
              <a:lnSpc>
                <a:spcPct val="125000"/>
              </a:lnSpc>
              <a:buClr>
                <a:schemeClr val="tx1"/>
              </a:buClr>
              <a:buSzPct val="85000"/>
              <a:buFont typeface="Wingdings" panose="05000000000000000000" pitchFamily="2" charset="2"/>
              <a:buChar char="l"/>
              <a:defRPr/>
            </a:pPr>
            <a:r>
              <a:rPr lang="zh-CN" altLang="en-US" sz="2600" dirty="0"/>
              <a:t>基本结构</a:t>
            </a:r>
          </a:p>
          <a:p>
            <a:pPr lvl="2" eaLnBrk="1" hangingPunct="1">
              <a:lnSpc>
                <a:spcPct val="125000"/>
              </a:lnSpc>
              <a:buClr>
                <a:schemeClr val="tx1"/>
              </a:buClr>
              <a:buSzPct val="85000"/>
              <a:buFont typeface="Wingdings" panose="05000000000000000000" pitchFamily="2" charset="2"/>
              <a:buChar char="l"/>
              <a:defRPr/>
            </a:pPr>
            <a:r>
              <a:rPr lang="zh-CN" altLang="en-US" sz="2600" dirty="0"/>
              <a:t>工作过程 </a:t>
            </a:r>
          </a:p>
          <a:p>
            <a:pPr eaLnBrk="1" hangingPunct="1">
              <a:lnSpc>
                <a:spcPct val="125000"/>
              </a:lnSpc>
              <a:spcBef>
                <a:spcPct val="65000"/>
              </a:spcBef>
              <a:defRPr/>
            </a:pPr>
            <a:r>
              <a:rPr lang="en-US" altLang="zh-CN" sz="2600" b="0" dirty="0"/>
              <a:t>2.</a:t>
            </a:r>
            <a:r>
              <a:rPr lang="zh-CN" altLang="en-US" sz="2800" dirty="0"/>
              <a:t>典型</a:t>
            </a:r>
            <a:r>
              <a:rPr lang="en-US" altLang="zh-CN" sz="2800" dirty="0"/>
              <a:t>A/D</a:t>
            </a:r>
            <a:r>
              <a:rPr lang="zh-CN" altLang="en-US" sz="2800" dirty="0"/>
              <a:t>转换芯片</a:t>
            </a:r>
            <a:r>
              <a:rPr lang="en-US" altLang="zh-CN" sz="2800" dirty="0"/>
              <a:t>-ADC0809</a:t>
            </a:r>
            <a:r>
              <a:rPr lang="zh-CN" altLang="en-US" sz="2800" dirty="0"/>
              <a:t>（是采用逐次逼近法的</a:t>
            </a:r>
            <a:r>
              <a:rPr lang="en-US" altLang="zh-CN" sz="2800" dirty="0"/>
              <a:t>8</a:t>
            </a:r>
            <a:r>
              <a:rPr lang="zh-CN" altLang="en-US" sz="2800" dirty="0"/>
              <a:t>位</a:t>
            </a:r>
            <a:r>
              <a:rPr lang="en-US" altLang="zh-CN" sz="2800" dirty="0"/>
              <a:t>A/D</a:t>
            </a:r>
            <a:r>
              <a:rPr lang="zh-CN" altLang="en-US" sz="2800" dirty="0"/>
              <a:t>转换器）</a:t>
            </a:r>
          </a:p>
          <a:p>
            <a:pPr eaLnBrk="1" hangingPunct="1">
              <a:lnSpc>
                <a:spcPct val="125000"/>
              </a:lnSpc>
              <a:buClr>
                <a:schemeClr val="tx2"/>
              </a:buClr>
              <a:buFont typeface="Wingdings" panose="05000000000000000000" pitchFamily="2" charset="2"/>
              <a:buNone/>
              <a:defRPr/>
            </a:pPr>
            <a:r>
              <a:rPr lang="zh-CN" altLang="en-US" sz="2800" b="0" dirty="0"/>
              <a:t>      </a:t>
            </a:r>
          </a:p>
          <a:p>
            <a:pPr eaLnBrk="1" hangingPunct="1">
              <a:lnSpc>
                <a:spcPct val="125000"/>
              </a:lnSpc>
              <a:buClr>
                <a:srgbClr val="FFFF00"/>
              </a:buClr>
              <a:buFont typeface="Wingdings" panose="05000000000000000000" pitchFamily="2" charset="2"/>
              <a:buNone/>
              <a:defRPr/>
            </a:pPr>
            <a:r>
              <a:rPr lang="zh-CN" altLang="en-US" sz="2800" b="0" dirty="0"/>
              <a:t>	</a:t>
            </a:r>
            <a:endParaRPr lang="zh-CN" altLang="en-US" sz="2400" b="0" dirty="0"/>
          </a:p>
        </p:txBody>
      </p:sp>
      <p:sp>
        <p:nvSpPr>
          <p:cNvPr id="30724" name="Rectangle 4">
            <a:extLst>
              <a:ext uri="{FF2B5EF4-FFF2-40B4-BE49-F238E27FC236}">
                <a16:creationId xmlns:a16="http://schemas.microsoft.com/office/drawing/2014/main" id="{409A4C63-7979-4CFC-B947-9B13A3041772}"/>
              </a:ext>
            </a:extLst>
          </p:cNvPr>
          <p:cNvSpPr>
            <a:spLocks noChangeArrowheads="1"/>
          </p:cNvSpPr>
          <p:nvPr/>
        </p:nvSpPr>
        <p:spPr bwMode="auto">
          <a:xfrm>
            <a:off x="323850" y="1196975"/>
            <a:ext cx="8497888" cy="1698625"/>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52581" name="Text Box 5">
            <a:extLst>
              <a:ext uri="{FF2B5EF4-FFF2-40B4-BE49-F238E27FC236}">
                <a16:creationId xmlns:a16="http://schemas.microsoft.com/office/drawing/2014/main" id="{3F3B2DBB-0DDF-4B2F-8935-94CC4F015697}"/>
              </a:ext>
            </a:extLst>
          </p:cNvPr>
          <p:cNvSpPr txBox="1">
            <a:spLocks noChangeArrowheads="1"/>
          </p:cNvSpPr>
          <p:nvPr/>
        </p:nvSpPr>
        <p:spPr bwMode="auto">
          <a:xfrm>
            <a:off x="1547813" y="4149725"/>
            <a:ext cx="5040312"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5000"/>
              </a:lnSpc>
              <a:buSzPct val="80000"/>
              <a:buFont typeface="Wingdings" panose="05000000000000000000" pitchFamily="2" charset="2"/>
              <a:buChar char="l"/>
              <a:defRPr/>
            </a:pPr>
            <a:r>
              <a:rPr lang="en-US" altLang="zh-CN" sz="2600" b="0" dirty="0">
                <a:effectLst>
                  <a:outerShdw blurRad="38100" dist="38100" dir="2700000" algn="tl">
                    <a:srgbClr val="000000"/>
                  </a:outerShdw>
                </a:effectLst>
                <a:latin typeface="Times New Roman" panose="02020603050405020304" pitchFamily="18" charset="0"/>
                <a:ea typeface="黑体" panose="02010609060101010101" pitchFamily="49" charset="-122"/>
              </a:rPr>
              <a:t> </a:t>
            </a:r>
            <a:r>
              <a:rPr lang="en-US" altLang="zh-CN" sz="2600" dirty="0">
                <a:effectLst>
                  <a:outerShdw blurRad="38100" dist="38100" dir="2700000" algn="tl">
                    <a:srgbClr val="000000"/>
                  </a:outerShdw>
                </a:effectLst>
                <a:latin typeface="宋体" panose="02010600030101010101" pitchFamily="2" charset="-122"/>
              </a:rPr>
              <a:t>ADC0809</a:t>
            </a:r>
            <a:r>
              <a:rPr lang="zh-CN" altLang="en-US" sz="2600" dirty="0">
                <a:effectLst>
                  <a:outerShdw blurRad="38100" dist="38100" dir="2700000" algn="tl">
                    <a:srgbClr val="000000"/>
                  </a:outerShdw>
                </a:effectLst>
                <a:latin typeface="宋体" panose="02010600030101010101" pitchFamily="2" charset="-122"/>
              </a:rPr>
              <a:t>的主要特性</a:t>
            </a:r>
          </a:p>
          <a:p>
            <a:pPr eaLnBrk="1" hangingPunct="1">
              <a:lnSpc>
                <a:spcPct val="135000"/>
              </a:lnSpc>
              <a:buSzPct val="80000"/>
              <a:buFont typeface="Wingdings" panose="05000000000000000000" pitchFamily="2" charset="2"/>
              <a:buChar char="l"/>
              <a:defRPr/>
            </a:pPr>
            <a:r>
              <a:rPr lang="zh-CN" altLang="en-US" sz="2600" dirty="0">
                <a:effectLst>
                  <a:outerShdw blurRad="38100" dist="38100" dir="2700000" algn="tl">
                    <a:srgbClr val="000000"/>
                  </a:outerShdw>
                </a:effectLst>
                <a:latin typeface="宋体" panose="02010600030101010101" pitchFamily="2" charset="-122"/>
              </a:rPr>
              <a:t> 内部结构与引脚特性</a:t>
            </a:r>
          </a:p>
          <a:p>
            <a:pPr eaLnBrk="1" hangingPunct="1">
              <a:lnSpc>
                <a:spcPct val="135000"/>
              </a:lnSpc>
              <a:buSzPct val="80000"/>
              <a:buFont typeface="Wingdings" panose="05000000000000000000" pitchFamily="2" charset="2"/>
              <a:buChar char="l"/>
              <a:defRPr/>
            </a:pPr>
            <a:r>
              <a:rPr lang="zh-CN" altLang="en-US" sz="2600" dirty="0">
                <a:effectLst>
                  <a:outerShdw blurRad="38100" dist="38100" dir="2700000" algn="tl">
                    <a:srgbClr val="000000"/>
                  </a:outerShdw>
                </a:effectLst>
                <a:latin typeface="宋体" panose="02010600030101010101" pitchFamily="2" charset="-122"/>
              </a:rPr>
              <a:t> </a:t>
            </a:r>
            <a:r>
              <a:rPr lang="en-US" altLang="zh-CN" sz="2600" dirty="0">
                <a:effectLst>
                  <a:outerShdw blurRad="38100" dist="38100" dir="2700000" algn="tl">
                    <a:srgbClr val="000000"/>
                  </a:outerShdw>
                </a:effectLst>
                <a:latin typeface="宋体" panose="02010600030101010101" pitchFamily="2" charset="-122"/>
              </a:rPr>
              <a:t>ADC0809</a:t>
            </a:r>
            <a:r>
              <a:rPr lang="zh-CN" altLang="en-US" sz="2600" dirty="0">
                <a:effectLst>
                  <a:outerShdw blurRad="38100" dist="38100" dir="2700000" algn="tl">
                    <a:srgbClr val="000000"/>
                  </a:outerShdw>
                </a:effectLst>
                <a:latin typeface="宋体" panose="02010600030101010101" pitchFamily="2" charset="-122"/>
              </a:rPr>
              <a:t>的工作过程</a:t>
            </a:r>
          </a:p>
          <a:p>
            <a:pPr eaLnBrk="1" hangingPunct="1">
              <a:lnSpc>
                <a:spcPct val="135000"/>
              </a:lnSpc>
              <a:buSzPct val="80000"/>
              <a:buFont typeface="Wingdings" panose="05000000000000000000" pitchFamily="2" charset="2"/>
              <a:buChar char="l"/>
              <a:defRPr/>
            </a:pPr>
            <a:r>
              <a:rPr lang="zh-CN" altLang="en-US" sz="2600" dirty="0">
                <a:effectLst>
                  <a:outerShdw blurRad="38100" dist="38100" dir="2700000" algn="tl">
                    <a:srgbClr val="000000"/>
                  </a:outerShdw>
                </a:effectLst>
                <a:latin typeface="宋体" panose="02010600030101010101" pitchFamily="2" charset="-122"/>
              </a:rPr>
              <a:t> </a:t>
            </a:r>
            <a:r>
              <a:rPr lang="en-US" altLang="zh-CN" sz="2600" dirty="0">
                <a:effectLst>
                  <a:outerShdw blurRad="38100" dist="38100" dir="2700000" algn="tl">
                    <a:srgbClr val="000000"/>
                  </a:outerShdw>
                </a:effectLst>
                <a:latin typeface="宋体" panose="02010600030101010101" pitchFamily="2" charset="-122"/>
              </a:rPr>
              <a:t>A/D</a:t>
            </a:r>
            <a:r>
              <a:rPr lang="zh-CN" altLang="en-US" sz="2600" dirty="0">
                <a:effectLst>
                  <a:outerShdw blurRad="38100" dist="38100" dir="2700000" algn="tl">
                    <a:srgbClr val="000000"/>
                  </a:outerShdw>
                </a:effectLst>
                <a:latin typeface="宋体" panose="02010600030101010101" pitchFamily="2" charset="-122"/>
              </a:rPr>
              <a:t>转换器与系统的连接</a:t>
            </a:r>
          </a:p>
        </p:txBody>
      </p:sp>
      <p:sp>
        <p:nvSpPr>
          <p:cNvPr id="30726" name="Rectangle 7">
            <a:extLst>
              <a:ext uri="{FF2B5EF4-FFF2-40B4-BE49-F238E27FC236}">
                <a16:creationId xmlns:a16="http://schemas.microsoft.com/office/drawing/2014/main" id="{8DD08E3B-1F5C-4260-91F4-42704980EA92}"/>
              </a:ext>
            </a:extLst>
          </p:cNvPr>
          <p:cNvSpPr>
            <a:spLocks noChangeArrowheads="1"/>
          </p:cNvSpPr>
          <p:nvPr/>
        </p:nvSpPr>
        <p:spPr bwMode="auto">
          <a:xfrm>
            <a:off x="323850" y="3141663"/>
            <a:ext cx="8496300" cy="3455987"/>
          </a:xfrm>
          <a:prstGeom prst="rect">
            <a:avLst/>
          </a:prstGeom>
          <a:noFill/>
          <a:ln w="222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30727" name="Text Box 8">
            <a:extLst>
              <a:ext uri="{FF2B5EF4-FFF2-40B4-BE49-F238E27FC236}">
                <a16:creationId xmlns:a16="http://schemas.microsoft.com/office/drawing/2014/main" id="{D9FD7FC4-90AC-4242-A7F9-926D5A998B99}"/>
              </a:ext>
            </a:extLst>
          </p:cNvPr>
          <p:cNvSpPr txBox="1">
            <a:spLocks noChangeArrowheads="1"/>
          </p:cNvSpPr>
          <p:nvPr/>
        </p:nvSpPr>
        <p:spPr bwMode="auto">
          <a:xfrm>
            <a:off x="755650" y="476250"/>
            <a:ext cx="7543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a:solidFill>
                  <a:srgbClr val="FFFF00"/>
                </a:solidFill>
              </a:rPr>
              <a:t>8.4</a:t>
            </a:r>
            <a:r>
              <a:rPr lang="en-US" altLang="zh-CN" dirty="0">
                <a:solidFill>
                  <a:srgbClr val="FFFF00"/>
                </a:solidFill>
              </a:rPr>
              <a:t>	 A/D</a:t>
            </a:r>
            <a:r>
              <a:rPr lang="zh-CN" altLang="en-US" dirty="0">
                <a:solidFill>
                  <a:srgbClr val="FFFF00"/>
                </a:solidFill>
              </a:rPr>
              <a:t>转换与</a:t>
            </a:r>
            <a:r>
              <a:rPr lang="en-US" altLang="zh-CN" dirty="0">
                <a:solidFill>
                  <a:srgbClr val="FFFF00"/>
                </a:solidFill>
              </a:rPr>
              <a:t>ADC0809</a:t>
            </a:r>
            <a:endParaRPr lang="zh-CN" altLang="en-US" dirty="0">
              <a:solidFill>
                <a:srgbClr val="FFFF00"/>
              </a:solidFill>
            </a:endParaRPr>
          </a:p>
        </p:txBody>
      </p:sp>
    </p:spTree>
  </p:cSld>
  <p:clrMapOvr>
    <a:masterClrMapping/>
  </p:clrMapOvr>
  <p:transition>
    <p:newsfla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3590C067-5A89-4744-BFB3-645CAD75F7BA}"/>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22754381-A820-48B9-9A97-253816C14BA8}" type="slidenum">
              <a:rPr lang="en-US" altLang="zh-CN" b="0"/>
              <a:pPr/>
              <a:t>2</a:t>
            </a:fld>
            <a:endParaRPr lang="en-US" altLang="zh-CN" b="0"/>
          </a:p>
        </p:txBody>
      </p:sp>
      <p:sp>
        <p:nvSpPr>
          <p:cNvPr id="154626" name="Rectangle 2">
            <a:extLst>
              <a:ext uri="{FF2B5EF4-FFF2-40B4-BE49-F238E27FC236}">
                <a16:creationId xmlns:a16="http://schemas.microsoft.com/office/drawing/2014/main" id="{2DCA4D30-BEA9-4261-BBFE-ECE52CEE42B7}"/>
              </a:ext>
            </a:extLst>
          </p:cNvPr>
          <p:cNvSpPr>
            <a:spLocks noGrp="1" noChangeArrowheads="1"/>
          </p:cNvSpPr>
          <p:nvPr>
            <p:ph type="body" idx="1"/>
          </p:nvPr>
        </p:nvSpPr>
        <p:spPr>
          <a:xfrm>
            <a:off x="395288" y="549275"/>
            <a:ext cx="8229600" cy="4530725"/>
          </a:xfrm>
        </p:spPr>
        <p:txBody>
          <a:bodyPr/>
          <a:lstStyle/>
          <a:p>
            <a:pPr eaLnBrk="1" hangingPunct="1">
              <a:lnSpc>
                <a:spcPct val="130000"/>
              </a:lnSpc>
              <a:defRPr/>
            </a:pPr>
            <a:r>
              <a:rPr lang="en-US" altLang="zh-CN" b="1"/>
              <a:t>A/D</a:t>
            </a:r>
            <a:r>
              <a:rPr lang="zh-CN" altLang="en-US" b="1"/>
              <a:t>转换的概念：</a:t>
            </a:r>
          </a:p>
          <a:p>
            <a:pPr eaLnBrk="1" hangingPunct="1">
              <a:lnSpc>
                <a:spcPct val="130000"/>
              </a:lnSpc>
              <a:buFont typeface="Wingdings" panose="05000000000000000000" pitchFamily="2" charset="2"/>
              <a:buNone/>
              <a:defRPr/>
            </a:pPr>
            <a:r>
              <a:rPr lang="zh-CN" altLang="en-US" b="1"/>
              <a:t>          </a:t>
            </a:r>
            <a:r>
              <a:rPr lang="en-US" altLang="zh-CN" b="1"/>
              <a:t>A/D</a:t>
            </a:r>
            <a:r>
              <a:rPr lang="zh-CN" altLang="en-US" b="1"/>
              <a:t>转换指的是实现</a:t>
            </a:r>
            <a:r>
              <a:rPr lang="zh-CN" altLang="en-US" b="1">
                <a:solidFill>
                  <a:srgbClr val="FFFF00"/>
                </a:solidFill>
              </a:rPr>
              <a:t>模拟</a:t>
            </a:r>
            <a:r>
              <a:rPr lang="en-US" altLang="zh-CN" b="1">
                <a:solidFill>
                  <a:srgbClr val="FFFF00"/>
                </a:solidFill>
              </a:rPr>
              <a:t>/</a:t>
            </a:r>
            <a:r>
              <a:rPr lang="zh-CN" altLang="en-US" b="1">
                <a:solidFill>
                  <a:srgbClr val="FFFF00"/>
                </a:solidFill>
              </a:rPr>
              <a:t>数字</a:t>
            </a:r>
            <a:r>
              <a:rPr lang="zh-CN" altLang="en-US" b="1"/>
              <a:t>的转换。 </a:t>
            </a:r>
            <a:r>
              <a:rPr lang="en-US" altLang="zh-CN" b="1"/>
              <a:t>A/D</a:t>
            </a:r>
            <a:r>
              <a:rPr lang="zh-CN" altLang="en-US" b="1"/>
              <a:t>转换器将需要计算机处理的模拟信号转换成</a:t>
            </a:r>
            <a:r>
              <a:rPr lang="en-US" altLang="zh-CN" b="1"/>
              <a:t>n</a:t>
            </a:r>
            <a:r>
              <a:rPr lang="zh-CN" altLang="en-US" b="1"/>
              <a:t>位数字信号，该信号通过数据线输入给计算机。在测控系统中，</a:t>
            </a:r>
            <a:r>
              <a:rPr lang="en-US" altLang="zh-CN" b="1"/>
              <a:t>A/D</a:t>
            </a:r>
            <a:r>
              <a:rPr lang="zh-CN" altLang="en-US" b="1"/>
              <a:t>转换器主要用于外部模拟量的数据采集。</a:t>
            </a:r>
          </a:p>
          <a:p>
            <a:pPr lvl="1" eaLnBrk="1" hangingPunct="1">
              <a:buFontTx/>
              <a:buNone/>
              <a:defRPr/>
            </a:pPr>
            <a:endParaRPr lang="zh-CN" altLang="en-US" sz="3200" b="1">
              <a:solidFill>
                <a:srgbClr val="FF3300"/>
              </a:solidFill>
              <a:latin typeface="黑体" panose="02010609060101010101" pitchFamily="49" charset="-122"/>
            </a:endParaRPr>
          </a:p>
          <a:p>
            <a:pPr eaLnBrk="1" hangingPunct="1">
              <a:defRPr/>
            </a:pPr>
            <a:endParaRPr lang="en-US" altLang="zh-CN">
              <a:solidFill>
                <a:schemeClr val="folHlink"/>
              </a:solidFill>
            </a:endParaRPr>
          </a:p>
        </p:txBody>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4626">
                                            <p:txEl>
                                              <p:pRg st="0" end="0"/>
                                            </p:txEl>
                                          </p:spTgt>
                                        </p:tgtEl>
                                        <p:attrNameLst>
                                          <p:attrName>style.visibility</p:attrName>
                                        </p:attrNameLst>
                                      </p:cBhvr>
                                      <p:to>
                                        <p:strVal val="visible"/>
                                      </p:to>
                                    </p:set>
                                    <p:animEffect transition="in" filter="wipe(left)">
                                      <p:cBhvr>
                                        <p:cTn id="7" dur="500"/>
                                        <p:tgtEl>
                                          <p:spTgt spid="154626">
                                            <p:txEl>
                                              <p:pRg st="0" end="0"/>
                                            </p:txEl>
                                          </p:spTgt>
                                        </p:tgtEl>
                                      </p:cBhvr>
                                    </p:animEffect>
                                  </p:childTnLst>
                                  <p:subTnLst>
                                    <p:set>
                                      <p:cBhvr override="childStyle">
                                        <p:cTn dur="1" fill="hold" display="0" masterRel="sameClick" afterEffect="1">
                                          <p:stCondLst>
                                            <p:cond evt="end" delay="0">
                                              <p:tn val="5"/>
                                            </p:cond>
                                          </p:stCondLst>
                                        </p:cTn>
                                        <p:tgtEl>
                                          <p:spTgt spid="154626">
                                            <p:txEl>
                                              <p:pRg st="0" end="0"/>
                                            </p:txEl>
                                          </p:spTgt>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4626">
                                            <p:txEl>
                                              <p:pRg st="1" end="1"/>
                                            </p:txEl>
                                          </p:spTgt>
                                        </p:tgtEl>
                                        <p:attrNameLst>
                                          <p:attrName>style.visibility</p:attrName>
                                        </p:attrNameLst>
                                      </p:cBhvr>
                                      <p:to>
                                        <p:strVal val="visible"/>
                                      </p:to>
                                    </p:set>
                                    <p:animEffect transition="in" filter="wipe(left)">
                                      <p:cBhvr>
                                        <p:cTn id="12" dur="500"/>
                                        <p:tgtEl>
                                          <p:spTgt spid="154626">
                                            <p:txEl>
                                              <p:pRg st="1" end="1"/>
                                            </p:txEl>
                                          </p:spTgt>
                                        </p:tgtEl>
                                      </p:cBhvr>
                                    </p:animEffect>
                                  </p:childTnLst>
                                  <p:subTnLst>
                                    <p:set>
                                      <p:cBhvr override="childStyle">
                                        <p:cTn dur="1" fill="hold" display="0" masterRel="nextClick" afterEffect="1"/>
                                        <p:tgtEl>
                                          <p:spTgt spid="154626">
                                            <p:txEl>
                                              <p:pRg st="1" end="1"/>
                                            </p:txEl>
                                          </p:spTgt>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940CE75-9406-43BD-8EFA-4285D9D5FFF2}"/>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1C2A134-C1AA-4F96-A553-C241FC99AEEB}" type="slidenum">
              <a:rPr lang="en-US" altLang="zh-CN" b="0"/>
              <a:pPr/>
              <a:t>3</a:t>
            </a:fld>
            <a:endParaRPr lang="en-US" altLang="zh-CN" b="0"/>
          </a:p>
        </p:txBody>
      </p:sp>
      <p:sp>
        <p:nvSpPr>
          <p:cNvPr id="5" name="Text Box 4">
            <a:extLst>
              <a:ext uri="{FF2B5EF4-FFF2-40B4-BE49-F238E27FC236}">
                <a16:creationId xmlns:a16="http://schemas.microsoft.com/office/drawing/2014/main" id="{34BF92FC-D5B5-4EAE-98E7-247073E5276E}"/>
              </a:ext>
            </a:extLst>
          </p:cNvPr>
          <p:cNvSpPr txBox="1">
            <a:spLocks noChangeArrowheads="1"/>
          </p:cNvSpPr>
          <p:nvPr/>
        </p:nvSpPr>
        <p:spPr bwMode="auto">
          <a:xfrm>
            <a:off x="539750" y="544513"/>
            <a:ext cx="8496300" cy="5148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ClrTx/>
              <a:buSzTx/>
              <a:buFontTx/>
              <a:buNone/>
            </a:pPr>
            <a:r>
              <a:rPr lang="en-US" altLang="zh-CN" sz="2800">
                <a:latin typeface="宋体" panose="02010600030101010101" pitchFamily="2" charset="-122"/>
              </a:rPr>
              <a:t>    </a:t>
            </a:r>
            <a:r>
              <a:rPr lang="en-US" altLang="zh-CN">
                <a:latin typeface="宋体" panose="02010600030101010101" pitchFamily="2" charset="-122"/>
              </a:rPr>
              <a:t>A/D</a:t>
            </a:r>
            <a:r>
              <a:rPr lang="zh-CN" altLang="en-US">
                <a:latin typeface="宋体" panose="02010600030101010101" pitchFamily="2" charset="-122"/>
              </a:rPr>
              <a:t>转换电路的种类很多，如</a:t>
            </a:r>
            <a:r>
              <a:rPr lang="zh-CN" altLang="en-US">
                <a:solidFill>
                  <a:srgbClr val="FFFF00"/>
                </a:solidFill>
                <a:latin typeface="宋体" panose="02010600030101010101" pitchFamily="2" charset="-122"/>
              </a:rPr>
              <a:t>计数比较型、逐次逼近型、双积分型</a:t>
            </a:r>
            <a:r>
              <a:rPr lang="zh-CN" altLang="en-US">
                <a:latin typeface="宋体" panose="02010600030101010101" pitchFamily="2" charset="-122"/>
              </a:rPr>
              <a:t>等等。选择</a:t>
            </a:r>
            <a:r>
              <a:rPr lang="en-US" altLang="zh-CN">
                <a:latin typeface="宋体" panose="02010600030101010101" pitchFamily="2" charset="-122"/>
              </a:rPr>
              <a:t>A/D</a:t>
            </a:r>
            <a:r>
              <a:rPr lang="zh-CN" altLang="en-US">
                <a:latin typeface="宋体" panose="02010600030101010101" pitchFamily="2" charset="-122"/>
              </a:rPr>
              <a:t>转换器件主要从速度、精度和价格上考虑。这里，主要学习</a:t>
            </a:r>
            <a:r>
              <a:rPr lang="zh-CN" altLang="en-US">
                <a:solidFill>
                  <a:srgbClr val="FFFF00"/>
                </a:solidFill>
                <a:latin typeface="宋体" panose="02010600030101010101" pitchFamily="2" charset="-122"/>
              </a:rPr>
              <a:t>逐次逼近式</a:t>
            </a:r>
            <a:r>
              <a:rPr lang="en-US" altLang="zh-CN">
                <a:solidFill>
                  <a:srgbClr val="FFFF00"/>
                </a:solidFill>
                <a:latin typeface="宋体" panose="02010600030101010101" pitchFamily="2" charset="-122"/>
              </a:rPr>
              <a:t>A/D</a:t>
            </a:r>
            <a:r>
              <a:rPr lang="zh-CN" altLang="en-US">
                <a:solidFill>
                  <a:srgbClr val="FFFF00"/>
                </a:solidFill>
                <a:latin typeface="宋体" panose="02010600030101010101" pitchFamily="2" charset="-122"/>
              </a:rPr>
              <a:t>转换</a:t>
            </a:r>
            <a:r>
              <a:rPr lang="zh-CN" altLang="en-US">
                <a:latin typeface="宋体" panose="02010600030101010101" pitchFamily="2" charset="-122"/>
              </a:rPr>
              <a:t>电路芯片与微机系统的接口方法。逐次逼近式</a:t>
            </a:r>
            <a:r>
              <a:rPr lang="en-US" altLang="zh-CN">
                <a:latin typeface="宋体" panose="02010600030101010101" pitchFamily="2" charset="-122"/>
              </a:rPr>
              <a:t>A/D</a:t>
            </a:r>
            <a:r>
              <a:rPr lang="zh-CN" altLang="en-US">
                <a:latin typeface="宋体" panose="02010600030101010101" pitchFamily="2" charset="-122"/>
              </a:rPr>
              <a:t>转换器，在精度、速度和价格上都适中，是最常用的</a:t>
            </a:r>
            <a:r>
              <a:rPr lang="en-US" altLang="zh-CN">
                <a:latin typeface="宋体" panose="02010600030101010101" pitchFamily="2" charset="-122"/>
              </a:rPr>
              <a:t>A/D</a:t>
            </a:r>
            <a:r>
              <a:rPr lang="zh-CN" altLang="en-US">
                <a:latin typeface="宋体" panose="02010600030101010101" pitchFamily="2" charset="-122"/>
              </a:rPr>
              <a:t>转换器件</a:t>
            </a:r>
            <a:r>
              <a:rPr lang="zh-CN" altLang="en-US" sz="2800">
                <a:latin typeface="宋体" panose="02010600030101010101" pitchFamily="2" charset="-122"/>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1D789ED1-64E5-4445-9D4B-2E556C0A4E79}"/>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F716950-853E-42BD-97BA-934BF8642E28}" type="slidenum">
              <a:rPr lang="en-US" altLang="zh-CN" b="0"/>
              <a:pPr/>
              <a:t>4</a:t>
            </a:fld>
            <a:endParaRPr lang="en-US" altLang="zh-CN" b="0"/>
          </a:p>
        </p:txBody>
      </p:sp>
      <p:sp>
        <p:nvSpPr>
          <p:cNvPr id="155650" name="Rectangle 2">
            <a:extLst>
              <a:ext uri="{FF2B5EF4-FFF2-40B4-BE49-F238E27FC236}">
                <a16:creationId xmlns:a16="http://schemas.microsoft.com/office/drawing/2014/main" id="{43217DC4-D81D-4B6A-917C-0020650F4F76}"/>
              </a:ext>
            </a:extLst>
          </p:cNvPr>
          <p:cNvSpPr>
            <a:spLocks noGrp="1" noChangeArrowheads="1"/>
          </p:cNvSpPr>
          <p:nvPr>
            <p:ph type="title"/>
          </p:nvPr>
        </p:nvSpPr>
        <p:spPr/>
        <p:txBody>
          <a:bodyPr/>
          <a:lstStyle/>
          <a:p>
            <a:pPr eaLnBrk="1" hangingPunct="1">
              <a:defRPr/>
            </a:pPr>
            <a:r>
              <a:rPr lang="zh-CN" altLang="en-US"/>
              <a:t>导入</a:t>
            </a:r>
          </a:p>
        </p:txBody>
      </p:sp>
      <p:sp>
        <p:nvSpPr>
          <p:cNvPr id="155651" name="Rectangle 3">
            <a:extLst>
              <a:ext uri="{FF2B5EF4-FFF2-40B4-BE49-F238E27FC236}">
                <a16:creationId xmlns:a16="http://schemas.microsoft.com/office/drawing/2014/main" id="{A3588BA2-0091-43D0-952F-1007B75D2BC5}"/>
              </a:ext>
            </a:extLst>
          </p:cNvPr>
          <p:cNvSpPr>
            <a:spLocks noGrp="1" noChangeArrowheads="1"/>
          </p:cNvSpPr>
          <p:nvPr>
            <p:ph type="body" idx="1"/>
          </p:nvPr>
        </p:nvSpPr>
        <p:spPr>
          <a:xfrm>
            <a:off x="395288" y="1341438"/>
            <a:ext cx="8064500" cy="1223962"/>
          </a:xfrm>
        </p:spPr>
        <p:txBody>
          <a:bodyPr/>
          <a:lstStyle/>
          <a:p>
            <a:pPr eaLnBrk="1" hangingPunct="1">
              <a:lnSpc>
                <a:spcPct val="125000"/>
              </a:lnSpc>
              <a:spcBef>
                <a:spcPct val="5000"/>
              </a:spcBef>
              <a:defRPr/>
            </a:pPr>
            <a:r>
              <a:rPr lang="zh-CN" altLang="en-US" b="1">
                <a:latin typeface="宋体" panose="02010600030101010101" pitchFamily="2" charset="-122"/>
              </a:rPr>
              <a:t>逐次逼近式</a:t>
            </a:r>
            <a:r>
              <a:rPr lang="en-US" altLang="zh-CN" b="1">
                <a:latin typeface="宋体" panose="02010600030101010101" pitchFamily="2" charset="-122"/>
              </a:rPr>
              <a:t>A/D</a:t>
            </a:r>
            <a:r>
              <a:rPr lang="zh-CN" altLang="en-US" b="1">
                <a:latin typeface="宋体" panose="02010600030101010101" pitchFamily="2" charset="-122"/>
              </a:rPr>
              <a:t>转换器的工作原理可用</a:t>
            </a:r>
            <a:r>
              <a:rPr lang="zh-CN" altLang="en-US" b="1">
                <a:solidFill>
                  <a:srgbClr val="FFFF00"/>
                </a:solidFill>
                <a:latin typeface="宋体" panose="02010600030101010101" pitchFamily="2" charset="-122"/>
              </a:rPr>
              <a:t>天平秤重</a:t>
            </a:r>
            <a:r>
              <a:rPr lang="zh-CN" altLang="en-US" b="1">
                <a:latin typeface="宋体" panose="02010600030101010101" pitchFamily="2" charset="-122"/>
              </a:rPr>
              <a:t>过程作比喻来说明。</a:t>
            </a:r>
          </a:p>
        </p:txBody>
      </p:sp>
      <p:sp>
        <p:nvSpPr>
          <p:cNvPr id="155652" name="Text Box 4">
            <a:extLst>
              <a:ext uri="{FF2B5EF4-FFF2-40B4-BE49-F238E27FC236}">
                <a16:creationId xmlns:a16="http://schemas.microsoft.com/office/drawing/2014/main" id="{C52DAC72-DB50-4F80-868F-E57DD13B1E44}"/>
              </a:ext>
            </a:extLst>
          </p:cNvPr>
          <p:cNvSpPr txBox="1">
            <a:spLocks noChangeArrowheads="1"/>
          </p:cNvSpPr>
          <p:nvPr/>
        </p:nvSpPr>
        <p:spPr bwMode="auto">
          <a:xfrm>
            <a:off x="733425" y="2622550"/>
            <a:ext cx="7654925"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5000"/>
              </a:spcBef>
              <a:buClr>
                <a:schemeClr val="hlink"/>
              </a:buClr>
              <a:buSzPct val="60000"/>
              <a:buFont typeface="Wingdings" panose="05000000000000000000" pitchFamily="2" charset="2"/>
              <a:buNone/>
              <a:defRPr/>
            </a:pPr>
            <a:r>
              <a:rPr kumimoji="0" lang="zh-CN" altLang="en-US" sz="3200">
                <a:effectLst>
                  <a:outerShdw blurRad="38100" dist="38100" dir="2700000" algn="tl">
                    <a:srgbClr val="000000"/>
                  </a:outerShdw>
                </a:effectLst>
                <a:latin typeface="宋体" panose="02010600030101010101" pitchFamily="2" charset="-122"/>
              </a:rPr>
              <a:t>若有四个砝码共重</a:t>
            </a:r>
            <a:r>
              <a:rPr kumimoji="0" lang="en-US" altLang="zh-CN" sz="3200">
                <a:effectLst>
                  <a:outerShdw blurRad="38100" dist="38100" dir="2700000" algn="tl">
                    <a:srgbClr val="000000"/>
                  </a:outerShdw>
                </a:effectLst>
                <a:latin typeface="宋体" panose="02010600030101010101" pitchFamily="2" charset="-122"/>
              </a:rPr>
              <a:t>15</a:t>
            </a:r>
            <a:r>
              <a:rPr kumimoji="0" lang="zh-CN" altLang="en-US" sz="3200">
                <a:effectLst>
                  <a:outerShdw blurRad="38100" dist="38100" dir="2700000" algn="tl">
                    <a:srgbClr val="000000"/>
                  </a:outerShdw>
                </a:effectLst>
                <a:latin typeface="宋体" panose="02010600030101010101" pitchFamily="2" charset="-122"/>
              </a:rPr>
              <a:t>克，每个重量分别为</a:t>
            </a:r>
            <a:r>
              <a:rPr kumimoji="0" lang="en-US" altLang="zh-CN" sz="3200">
                <a:solidFill>
                  <a:srgbClr val="FFFF00"/>
                </a:solidFill>
                <a:latin typeface="宋体" panose="02010600030101010101" pitchFamily="2" charset="-122"/>
              </a:rPr>
              <a:t>8</a:t>
            </a:r>
            <a:r>
              <a:rPr kumimoji="0" lang="zh-CN" altLang="en-US" sz="3200">
                <a:solidFill>
                  <a:srgbClr val="FFFF00"/>
                </a:solidFill>
                <a:latin typeface="宋体" panose="02010600030101010101" pitchFamily="2" charset="-122"/>
              </a:rPr>
              <a:t>、</a:t>
            </a:r>
            <a:r>
              <a:rPr kumimoji="0" lang="en-US" altLang="zh-CN" sz="3200">
                <a:solidFill>
                  <a:srgbClr val="FFFF00"/>
                </a:solidFill>
                <a:latin typeface="宋体" panose="02010600030101010101" pitchFamily="2" charset="-122"/>
              </a:rPr>
              <a:t>4</a:t>
            </a:r>
            <a:r>
              <a:rPr kumimoji="0" lang="zh-CN" altLang="en-US" sz="3200">
                <a:solidFill>
                  <a:srgbClr val="FFFF00"/>
                </a:solidFill>
                <a:latin typeface="宋体" panose="02010600030101010101" pitchFamily="2" charset="-122"/>
              </a:rPr>
              <a:t>、</a:t>
            </a:r>
            <a:r>
              <a:rPr kumimoji="0" lang="en-US" altLang="zh-CN" sz="3200">
                <a:solidFill>
                  <a:srgbClr val="FFFF00"/>
                </a:solidFill>
                <a:latin typeface="宋体" panose="02010600030101010101" pitchFamily="2" charset="-122"/>
              </a:rPr>
              <a:t>2</a:t>
            </a:r>
            <a:r>
              <a:rPr kumimoji="0" lang="zh-CN" altLang="en-US" sz="3200">
                <a:solidFill>
                  <a:srgbClr val="FFFF00"/>
                </a:solidFill>
                <a:latin typeface="宋体" panose="02010600030101010101" pitchFamily="2" charset="-122"/>
              </a:rPr>
              <a:t>、</a:t>
            </a:r>
            <a:r>
              <a:rPr kumimoji="0" lang="en-US" altLang="zh-CN" sz="3200">
                <a:solidFill>
                  <a:srgbClr val="FFFF00"/>
                </a:solidFill>
                <a:latin typeface="宋体" panose="02010600030101010101" pitchFamily="2" charset="-122"/>
              </a:rPr>
              <a:t>1</a:t>
            </a:r>
            <a:r>
              <a:rPr kumimoji="0" lang="zh-CN" altLang="en-US" sz="3200">
                <a:effectLst>
                  <a:outerShdw blurRad="38100" dist="38100" dir="2700000" algn="tl">
                    <a:srgbClr val="000000"/>
                  </a:outerShdw>
                </a:effectLst>
                <a:latin typeface="宋体" panose="02010600030101010101" pitchFamily="2" charset="-122"/>
              </a:rPr>
              <a:t>克。 </a:t>
            </a:r>
          </a:p>
        </p:txBody>
      </p:sp>
      <p:sp>
        <p:nvSpPr>
          <p:cNvPr id="155653" name="Text Box 5">
            <a:extLst>
              <a:ext uri="{FF2B5EF4-FFF2-40B4-BE49-F238E27FC236}">
                <a16:creationId xmlns:a16="http://schemas.microsoft.com/office/drawing/2014/main" id="{D404DA46-11BB-474D-A74F-5F12AC199EDE}"/>
              </a:ext>
            </a:extLst>
          </p:cNvPr>
          <p:cNvSpPr txBox="1">
            <a:spLocks noChangeArrowheads="1"/>
          </p:cNvSpPr>
          <p:nvPr/>
        </p:nvSpPr>
        <p:spPr bwMode="auto">
          <a:xfrm>
            <a:off x="755650" y="4002088"/>
            <a:ext cx="45370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zh-CN" altLang="en-US" sz="3200">
                <a:effectLst>
                  <a:outerShdw blurRad="38100" dist="38100" dir="2700000" algn="tl">
                    <a:srgbClr val="000000"/>
                  </a:outerShdw>
                </a:effectLst>
                <a:latin typeface="宋体" panose="02010600030101010101" pitchFamily="2" charset="-122"/>
              </a:rPr>
              <a:t>设待秤重量</a:t>
            </a:r>
            <a:r>
              <a:rPr lang="en-US" altLang="zh-CN" sz="3200">
                <a:effectLst>
                  <a:outerShdw blurRad="38100" dist="38100" dir="2700000" algn="tl">
                    <a:srgbClr val="000000"/>
                  </a:outerShdw>
                </a:effectLst>
                <a:latin typeface="宋体" panose="02010600030101010101" pitchFamily="2" charset="-122"/>
              </a:rPr>
              <a:t>Wx</a:t>
            </a:r>
            <a:r>
              <a:rPr lang="en-US" altLang="zh-CN" sz="3200">
                <a:solidFill>
                  <a:srgbClr val="FFFF00"/>
                </a:solidFill>
                <a:latin typeface="宋体" panose="02010600030101010101" pitchFamily="2" charset="-122"/>
              </a:rPr>
              <a:t> = 13</a:t>
            </a:r>
            <a:r>
              <a:rPr lang="zh-CN" altLang="en-US" sz="3200">
                <a:solidFill>
                  <a:srgbClr val="FFFF00"/>
                </a:solidFill>
                <a:latin typeface="宋体" panose="02010600030101010101" pitchFamily="2" charset="-122"/>
              </a:rPr>
              <a:t>克</a:t>
            </a:r>
            <a:r>
              <a:rPr lang="zh-CN" altLang="en-US" sz="2800">
                <a:solidFill>
                  <a:srgbClr val="FFFF00"/>
                </a:solidFill>
                <a:latin typeface="宋体" panose="02010600030101010101" pitchFamily="2" charset="-122"/>
              </a:rPr>
              <a:t> </a:t>
            </a:r>
          </a:p>
        </p:txBody>
      </p:sp>
    </p:spTree>
  </p:cSld>
  <p:clrMapOvr>
    <a:masterClrMapping/>
  </p:clrMapOvr>
  <p:transition>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5651">
                                            <p:txEl>
                                              <p:pRg st="0" end="0"/>
                                            </p:txEl>
                                          </p:spTgt>
                                        </p:tgtEl>
                                        <p:attrNameLst>
                                          <p:attrName>style.visibility</p:attrName>
                                        </p:attrNameLst>
                                      </p:cBhvr>
                                      <p:to>
                                        <p:strVal val="visible"/>
                                      </p:to>
                                    </p:set>
                                    <p:animEffect transition="in" filter="blinds(horizontal)">
                                      <p:cBhvr>
                                        <p:cTn id="7" dur="500"/>
                                        <p:tgtEl>
                                          <p:spTgt spid="155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5652"/>
                                        </p:tgtEl>
                                        <p:attrNameLst>
                                          <p:attrName>style.visibility</p:attrName>
                                        </p:attrNameLst>
                                      </p:cBhvr>
                                      <p:to>
                                        <p:strVal val="visible"/>
                                      </p:to>
                                    </p:set>
                                    <p:animEffect transition="in" filter="blinds(horizontal)">
                                      <p:cBhvr>
                                        <p:cTn id="12" dur="500"/>
                                        <p:tgtEl>
                                          <p:spTgt spid="1556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5653"/>
                                        </p:tgtEl>
                                        <p:attrNameLst>
                                          <p:attrName>style.visibility</p:attrName>
                                        </p:attrNameLst>
                                      </p:cBhvr>
                                      <p:to>
                                        <p:strVal val="visible"/>
                                      </p:to>
                                    </p:set>
                                    <p:animEffect transition="in" filter="blinds(horizontal)">
                                      <p:cBhvr>
                                        <p:cTn id="1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P spid="155652" grpId="0"/>
      <p:bldP spid="1556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5">
            <a:extLst>
              <a:ext uri="{FF2B5EF4-FFF2-40B4-BE49-F238E27FC236}">
                <a16:creationId xmlns:a16="http://schemas.microsoft.com/office/drawing/2014/main" id="{814E30D4-0EE3-4DEC-B3A4-B0A8EFFB3DEE}"/>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C2A22D5B-F316-4AE1-ABA1-965A2CABC233}" type="slidenum">
              <a:rPr lang="en-US" altLang="zh-CN" b="0"/>
              <a:pPr/>
              <a:t>5</a:t>
            </a:fld>
            <a:endParaRPr lang="en-US" altLang="zh-CN" b="0"/>
          </a:p>
        </p:txBody>
      </p:sp>
      <p:sp>
        <p:nvSpPr>
          <p:cNvPr id="156674" name="Text Box 2">
            <a:extLst>
              <a:ext uri="{FF2B5EF4-FFF2-40B4-BE49-F238E27FC236}">
                <a16:creationId xmlns:a16="http://schemas.microsoft.com/office/drawing/2014/main" id="{0997FF1F-BF23-4FE2-A28A-88484780F233}"/>
              </a:ext>
            </a:extLst>
          </p:cNvPr>
          <p:cNvSpPr txBox="1">
            <a:spLocks noChangeArrowheads="1"/>
          </p:cNvSpPr>
          <p:nvPr/>
        </p:nvSpPr>
        <p:spPr bwMode="auto">
          <a:xfrm>
            <a:off x="323850" y="1557338"/>
            <a:ext cx="59055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a:latin typeface="Times New Roman" panose="02020603050405020304" pitchFamily="18" charset="0"/>
              </a:rPr>
              <a:t>秤量过程：</a:t>
            </a:r>
            <a:r>
              <a:rPr lang="zh-CN" altLang="en-US">
                <a:latin typeface="Times New Roman" panose="02020603050405020304" pitchFamily="18" charset="0"/>
                <a:ea typeface="黑体" panose="02010609060101010101" pitchFamily="49" charset="-122"/>
              </a:rPr>
              <a:t> </a:t>
            </a:r>
          </a:p>
        </p:txBody>
      </p:sp>
      <p:sp>
        <p:nvSpPr>
          <p:cNvPr id="156675" name="Text Box 3">
            <a:extLst>
              <a:ext uri="{FF2B5EF4-FFF2-40B4-BE49-F238E27FC236}">
                <a16:creationId xmlns:a16="http://schemas.microsoft.com/office/drawing/2014/main" id="{F3028EDE-E239-4506-86E6-AA7AD31272F3}"/>
              </a:ext>
            </a:extLst>
          </p:cNvPr>
          <p:cNvSpPr txBox="1">
            <a:spLocks noChangeArrowheads="1"/>
          </p:cNvSpPr>
          <p:nvPr/>
        </p:nvSpPr>
        <p:spPr bwMode="auto">
          <a:xfrm>
            <a:off x="468313" y="2205038"/>
            <a:ext cx="81375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solidFill>
                  <a:srgbClr val="FFFF00"/>
                </a:solidFill>
                <a:latin typeface="宋体" panose="02010600030101010101" pitchFamily="2" charset="-122"/>
              </a:rPr>
              <a:t>顺序  砝码重        比较判断      暂时结果 </a:t>
            </a:r>
          </a:p>
        </p:txBody>
      </p:sp>
      <p:sp>
        <p:nvSpPr>
          <p:cNvPr id="156676" name="Text Box 4">
            <a:extLst>
              <a:ext uri="{FF2B5EF4-FFF2-40B4-BE49-F238E27FC236}">
                <a16:creationId xmlns:a16="http://schemas.microsoft.com/office/drawing/2014/main" id="{0FC6B54B-274A-4D41-A2DA-CDDB43F541E5}"/>
              </a:ext>
            </a:extLst>
          </p:cNvPr>
          <p:cNvSpPr txBox="1">
            <a:spLocks noChangeArrowheads="1"/>
          </p:cNvSpPr>
          <p:nvPr/>
        </p:nvSpPr>
        <p:spPr bwMode="auto">
          <a:xfrm>
            <a:off x="541338" y="2995613"/>
            <a:ext cx="719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ea typeface="黑体" panose="02010609060101010101" pitchFamily="49" charset="-122"/>
              </a:rPr>
              <a:t>1</a:t>
            </a:r>
          </a:p>
        </p:txBody>
      </p:sp>
      <p:sp>
        <p:nvSpPr>
          <p:cNvPr id="156677" name="Text Box 5">
            <a:extLst>
              <a:ext uri="{FF2B5EF4-FFF2-40B4-BE49-F238E27FC236}">
                <a16:creationId xmlns:a16="http://schemas.microsoft.com/office/drawing/2014/main" id="{F35F2BAC-B2C8-4502-8ABF-E6E197483BF3}"/>
              </a:ext>
            </a:extLst>
          </p:cNvPr>
          <p:cNvSpPr txBox="1">
            <a:spLocks noChangeArrowheads="1"/>
          </p:cNvSpPr>
          <p:nvPr/>
        </p:nvSpPr>
        <p:spPr bwMode="auto">
          <a:xfrm>
            <a:off x="1693863" y="2981325"/>
            <a:ext cx="9350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8g</a:t>
            </a:r>
          </a:p>
        </p:txBody>
      </p:sp>
      <p:sp>
        <p:nvSpPr>
          <p:cNvPr id="156678" name="Text Box 6">
            <a:extLst>
              <a:ext uri="{FF2B5EF4-FFF2-40B4-BE49-F238E27FC236}">
                <a16:creationId xmlns:a16="http://schemas.microsoft.com/office/drawing/2014/main" id="{98C99DDC-7300-4ED4-9B8D-D1F2211508CD}"/>
              </a:ext>
            </a:extLst>
          </p:cNvPr>
          <p:cNvSpPr txBox="1">
            <a:spLocks noChangeArrowheads="1"/>
          </p:cNvSpPr>
          <p:nvPr/>
        </p:nvSpPr>
        <p:spPr bwMode="auto">
          <a:xfrm>
            <a:off x="3997325" y="2924175"/>
            <a:ext cx="17287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  8g&lt;13g</a:t>
            </a:r>
          </a:p>
        </p:txBody>
      </p:sp>
      <p:sp>
        <p:nvSpPr>
          <p:cNvPr id="156679" name="Text Box 7">
            <a:extLst>
              <a:ext uri="{FF2B5EF4-FFF2-40B4-BE49-F238E27FC236}">
                <a16:creationId xmlns:a16="http://schemas.microsoft.com/office/drawing/2014/main" id="{B5704A69-E02D-4162-BA87-5B3BE5D13232}"/>
              </a:ext>
            </a:extLst>
          </p:cNvPr>
          <p:cNvSpPr txBox="1">
            <a:spLocks noChangeArrowheads="1"/>
          </p:cNvSpPr>
          <p:nvPr/>
        </p:nvSpPr>
        <p:spPr bwMode="auto">
          <a:xfrm>
            <a:off x="6589713" y="2924175"/>
            <a:ext cx="1511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保留</a:t>
            </a:r>
            <a:r>
              <a:rPr lang="en-US" altLang="zh-CN">
                <a:latin typeface="Times New Roman" panose="02020603050405020304" pitchFamily="18" charset="0"/>
                <a:ea typeface="黑体" panose="02010609060101010101" pitchFamily="49" charset="-122"/>
              </a:rPr>
              <a:t>8g</a:t>
            </a:r>
          </a:p>
        </p:txBody>
      </p:sp>
      <p:sp>
        <p:nvSpPr>
          <p:cNvPr id="156680" name="Text Box 8">
            <a:extLst>
              <a:ext uri="{FF2B5EF4-FFF2-40B4-BE49-F238E27FC236}">
                <a16:creationId xmlns:a16="http://schemas.microsoft.com/office/drawing/2014/main" id="{964CDBBC-117A-47CD-B4BC-3D10D77F8FBA}"/>
              </a:ext>
            </a:extLst>
          </p:cNvPr>
          <p:cNvSpPr txBox="1">
            <a:spLocks noChangeArrowheads="1"/>
          </p:cNvSpPr>
          <p:nvPr/>
        </p:nvSpPr>
        <p:spPr bwMode="auto">
          <a:xfrm>
            <a:off x="541338" y="3784600"/>
            <a:ext cx="719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ea typeface="黑体" panose="02010609060101010101" pitchFamily="49" charset="-122"/>
              </a:rPr>
              <a:t>2</a:t>
            </a:r>
          </a:p>
        </p:txBody>
      </p:sp>
      <p:sp>
        <p:nvSpPr>
          <p:cNvPr id="156681" name="Text Box 9">
            <a:extLst>
              <a:ext uri="{FF2B5EF4-FFF2-40B4-BE49-F238E27FC236}">
                <a16:creationId xmlns:a16="http://schemas.microsoft.com/office/drawing/2014/main" id="{A4FA1D19-0BDC-4E98-A4D8-55C883AF0266}"/>
              </a:ext>
            </a:extLst>
          </p:cNvPr>
          <p:cNvSpPr txBox="1">
            <a:spLocks noChangeArrowheads="1"/>
          </p:cNvSpPr>
          <p:nvPr/>
        </p:nvSpPr>
        <p:spPr bwMode="auto">
          <a:xfrm>
            <a:off x="1693863" y="3770313"/>
            <a:ext cx="12398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8g+4g</a:t>
            </a:r>
          </a:p>
        </p:txBody>
      </p:sp>
      <p:sp>
        <p:nvSpPr>
          <p:cNvPr id="156682" name="Text Box 10">
            <a:extLst>
              <a:ext uri="{FF2B5EF4-FFF2-40B4-BE49-F238E27FC236}">
                <a16:creationId xmlns:a16="http://schemas.microsoft.com/office/drawing/2014/main" id="{853BEA08-1635-4D9F-894E-7C48E36F41C5}"/>
              </a:ext>
            </a:extLst>
          </p:cNvPr>
          <p:cNvSpPr txBox="1">
            <a:spLocks noChangeArrowheads="1"/>
          </p:cNvSpPr>
          <p:nvPr/>
        </p:nvSpPr>
        <p:spPr bwMode="auto">
          <a:xfrm>
            <a:off x="3997325" y="3716338"/>
            <a:ext cx="17287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12g&lt;13g</a:t>
            </a:r>
          </a:p>
        </p:txBody>
      </p:sp>
      <p:sp>
        <p:nvSpPr>
          <p:cNvPr id="156683" name="Text Box 11">
            <a:extLst>
              <a:ext uri="{FF2B5EF4-FFF2-40B4-BE49-F238E27FC236}">
                <a16:creationId xmlns:a16="http://schemas.microsoft.com/office/drawing/2014/main" id="{CAB5AA3D-BFB4-4E9B-A6A5-B1B6E9EA9014}"/>
              </a:ext>
            </a:extLst>
          </p:cNvPr>
          <p:cNvSpPr txBox="1">
            <a:spLocks noChangeArrowheads="1"/>
          </p:cNvSpPr>
          <p:nvPr/>
        </p:nvSpPr>
        <p:spPr bwMode="auto">
          <a:xfrm>
            <a:off x="6589713" y="3716338"/>
            <a:ext cx="15113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保留</a:t>
            </a:r>
            <a:r>
              <a:rPr lang="en-US" altLang="zh-CN">
                <a:latin typeface="Times New Roman" panose="02020603050405020304" pitchFamily="18" charset="0"/>
                <a:ea typeface="黑体" panose="02010609060101010101" pitchFamily="49" charset="-122"/>
              </a:rPr>
              <a:t>4g</a:t>
            </a:r>
          </a:p>
        </p:txBody>
      </p:sp>
      <p:sp>
        <p:nvSpPr>
          <p:cNvPr id="156684" name="Text Box 12">
            <a:extLst>
              <a:ext uri="{FF2B5EF4-FFF2-40B4-BE49-F238E27FC236}">
                <a16:creationId xmlns:a16="http://schemas.microsoft.com/office/drawing/2014/main" id="{2D8A7502-E4DA-487B-B2C7-20F9369446CB}"/>
              </a:ext>
            </a:extLst>
          </p:cNvPr>
          <p:cNvSpPr txBox="1">
            <a:spLocks noChangeArrowheads="1"/>
          </p:cNvSpPr>
          <p:nvPr/>
        </p:nvSpPr>
        <p:spPr bwMode="auto">
          <a:xfrm>
            <a:off x="541338" y="4505325"/>
            <a:ext cx="719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ea typeface="黑体" panose="02010609060101010101" pitchFamily="49" charset="-122"/>
              </a:rPr>
              <a:t>3</a:t>
            </a:r>
          </a:p>
        </p:txBody>
      </p:sp>
      <p:sp>
        <p:nvSpPr>
          <p:cNvPr id="156685" name="Text Box 13">
            <a:extLst>
              <a:ext uri="{FF2B5EF4-FFF2-40B4-BE49-F238E27FC236}">
                <a16:creationId xmlns:a16="http://schemas.microsoft.com/office/drawing/2014/main" id="{56F2A228-2BFD-451B-91DA-144FF942CCF7}"/>
              </a:ext>
            </a:extLst>
          </p:cNvPr>
          <p:cNvSpPr txBox="1">
            <a:spLocks noChangeArrowheads="1"/>
          </p:cNvSpPr>
          <p:nvPr/>
        </p:nvSpPr>
        <p:spPr bwMode="auto">
          <a:xfrm>
            <a:off x="1693863" y="4437063"/>
            <a:ext cx="18716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8g+4g+2g</a:t>
            </a:r>
          </a:p>
        </p:txBody>
      </p:sp>
      <p:sp>
        <p:nvSpPr>
          <p:cNvPr id="156686" name="Text Box 14">
            <a:extLst>
              <a:ext uri="{FF2B5EF4-FFF2-40B4-BE49-F238E27FC236}">
                <a16:creationId xmlns:a16="http://schemas.microsoft.com/office/drawing/2014/main" id="{ABD2AD4E-D4EF-453A-87E4-E25FA5E57E74}"/>
              </a:ext>
            </a:extLst>
          </p:cNvPr>
          <p:cNvSpPr txBox="1">
            <a:spLocks noChangeArrowheads="1"/>
          </p:cNvSpPr>
          <p:nvPr/>
        </p:nvSpPr>
        <p:spPr bwMode="auto">
          <a:xfrm>
            <a:off x="3997325" y="4437063"/>
            <a:ext cx="17287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14g&gt;13g</a:t>
            </a:r>
          </a:p>
        </p:txBody>
      </p:sp>
      <p:sp>
        <p:nvSpPr>
          <p:cNvPr id="156687" name="Text Box 15">
            <a:extLst>
              <a:ext uri="{FF2B5EF4-FFF2-40B4-BE49-F238E27FC236}">
                <a16:creationId xmlns:a16="http://schemas.microsoft.com/office/drawing/2014/main" id="{6AA727D9-E58B-4440-B62B-1B0DEB8B5B2F}"/>
              </a:ext>
            </a:extLst>
          </p:cNvPr>
          <p:cNvSpPr txBox="1">
            <a:spLocks noChangeArrowheads="1"/>
          </p:cNvSpPr>
          <p:nvPr/>
        </p:nvSpPr>
        <p:spPr bwMode="auto">
          <a:xfrm>
            <a:off x="6589713" y="4437063"/>
            <a:ext cx="15113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撤销</a:t>
            </a:r>
            <a:r>
              <a:rPr lang="en-US" altLang="zh-CN" sz="2800">
                <a:latin typeface="Times New Roman" panose="02020603050405020304" pitchFamily="18" charset="0"/>
              </a:rPr>
              <a:t>2</a:t>
            </a:r>
            <a:r>
              <a:rPr lang="en-US" altLang="zh-CN">
                <a:latin typeface="Times New Roman" panose="02020603050405020304" pitchFamily="18" charset="0"/>
                <a:ea typeface="黑体" panose="02010609060101010101" pitchFamily="49" charset="-122"/>
              </a:rPr>
              <a:t>g</a:t>
            </a:r>
          </a:p>
        </p:txBody>
      </p:sp>
      <p:sp>
        <p:nvSpPr>
          <p:cNvPr id="156688" name="Text Box 16">
            <a:extLst>
              <a:ext uri="{FF2B5EF4-FFF2-40B4-BE49-F238E27FC236}">
                <a16:creationId xmlns:a16="http://schemas.microsoft.com/office/drawing/2014/main" id="{B2130F33-5125-4848-8325-AC0E39D3FC76}"/>
              </a:ext>
            </a:extLst>
          </p:cNvPr>
          <p:cNvSpPr txBox="1">
            <a:spLocks noChangeArrowheads="1"/>
          </p:cNvSpPr>
          <p:nvPr/>
        </p:nvSpPr>
        <p:spPr bwMode="auto">
          <a:xfrm>
            <a:off x="541338" y="5297488"/>
            <a:ext cx="7191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ea typeface="黑体" panose="02010609060101010101" pitchFamily="49" charset="-122"/>
              </a:rPr>
              <a:t>4</a:t>
            </a:r>
          </a:p>
        </p:txBody>
      </p:sp>
      <p:sp>
        <p:nvSpPr>
          <p:cNvPr id="156689" name="Text Box 17">
            <a:extLst>
              <a:ext uri="{FF2B5EF4-FFF2-40B4-BE49-F238E27FC236}">
                <a16:creationId xmlns:a16="http://schemas.microsoft.com/office/drawing/2014/main" id="{BE9FE067-D42A-41D3-8D91-0892AB256627}"/>
              </a:ext>
            </a:extLst>
          </p:cNvPr>
          <p:cNvSpPr txBox="1">
            <a:spLocks noChangeArrowheads="1"/>
          </p:cNvSpPr>
          <p:nvPr/>
        </p:nvSpPr>
        <p:spPr bwMode="auto">
          <a:xfrm>
            <a:off x="1693863" y="5229225"/>
            <a:ext cx="20875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8g+4g+1g</a:t>
            </a:r>
          </a:p>
        </p:txBody>
      </p:sp>
      <p:sp>
        <p:nvSpPr>
          <p:cNvPr id="156690" name="Text Box 18">
            <a:extLst>
              <a:ext uri="{FF2B5EF4-FFF2-40B4-BE49-F238E27FC236}">
                <a16:creationId xmlns:a16="http://schemas.microsoft.com/office/drawing/2014/main" id="{F1BA70F9-BB36-4E0C-B8A0-45B89217F998}"/>
              </a:ext>
            </a:extLst>
          </p:cNvPr>
          <p:cNvSpPr txBox="1">
            <a:spLocks noChangeArrowheads="1"/>
          </p:cNvSpPr>
          <p:nvPr/>
        </p:nvSpPr>
        <p:spPr bwMode="auto">
          <a:xfrm>
            <a:off x="3997325" y="5300663"/>
            <a:ext cx="17287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13g=13g</a:t>
            </a:r>
          </a:p>
        </p:txBody>
      </p:sp>
      <p:sp>
        <p:nvSpPr>
          <p:cNvPr id="156691" name="Text Box 19">
            <a:extLst>
              <a:ext uri="{FF2B5EF4-FFF2-40B4-BE49-F238E27FC236}">
                <a16:creationId xmlns:a16="http://schemas.microsoft.com/office/drawing/2014/main" id="{FE00A600-6D85-4FF5-9060-4980F865338C}"/>
              </a:ext>
            </a:extLst>
          </p:cNvPr>
          <p:cNvSpPr txBox="1">
            <a:spLocks noChangeArrowheads="1"/>
          </p:cNvSpPr>
          <p:nvPr/>
        </p:nvSpPr>
        <p:spPr bwMode="auto">
          <a:xfrm>
            <a:off x="6589713" y="5270500"/>
            <a:ext cx="1511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Times New Roman" panose="02020603050405020304" pitchFamily="18" charset="0"/>
              </a:rPr>
              <a:t>保留</a:t>
            </a:r>
            <a:r>
              <a:rPr lang="en-US" altLang="zh-CN">
                <a:latin typeface="Times New Roman" panose="02020603050405020304" pitchFamily="18" charset="0"/>
                <a:ea typeface="黑体" panose="02010609060101010101" pitchFamily="49" charset="-122"/>
              </a:rPr>
              <a:t>1g</a:t>
            </a:r>
          </a:p>
        </p:txBody>
      </p:sp>
      <p:sp>
        <p:nvSpPr>
          <p:cNvPr id="156692" name="Text Box 20">
            <a:extLst>
              <a:ext uri="{FF2B5EF4-FFF2-40B4-BE49-F238E27FC236}">
                <a16:creationId xmlns:a16="http://schemas.microsoft.com/office/drawing/2014/main" id="{C9292F3D-A564-4D77-B42D-FC70F3409987}"/>
              </a:ext>
            </a:extLst>
          </p:cNvPr>
          <p:cNvSpPr txBox="1">
            <a:spLocks noChangeArrowheads="1"/>
          </p:cNvSpPr>
          <p:nvPr/>
        </p:nvSpPr>
        <p:spPr bwMode="auto">
          <a:xfrm>
            <a:off x="323850" y="404813"/>
            <a:ext cx="8135938" cy="109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10000"/>
              </a:lnSpc>
              <a:buClr>
                <a:schemeClr val="hlink"/>
              </a:buClr>
              <a:buSzPct val="60000"/>
              <a:buFont typeface="Wingdings" panose="05000000000000000000" pitchFamily="2" charset="2"/>
              <a:buNone/>
              <a:defRPr/>
            </a:pPr>
            <a:r>
              <a:rPr lang="zh-CN" altLang="en-US" sz="3000">
                <a:effectLst>
                  <a:outerShdw blurRad="38100" dist="38100" dir="2700000" algn="tl">
                    <a:srgbClr val="000000"/>
                  </a:outerShdw>
                </a:effectLst>
                <a:latin typeface="宋体" panose="02010600030101010101" pitchFamily="2" charset="-122"/>
              </a:rPr>
              <a:t>每个砝码重量分别为</a:t>
            </a:r>
            <a:r>
              <a:rPr lang="en-US" altLang="zh-CN" sz="3000">
                <a:effectLst>
                  <a:outerShdw blurRad="38100" dist="38100" dir="2700000" algn="tl">
                    <a:srgbClr val="000000"/>
                  </a:outerShdw>
                </a:effectLst>
                <a:latin typeface="宋体" panose="02010600030101010101" pitchFamily="2" charset="-122"/>
              </a:rPr>
              <a:t>8</a:t>
            </a:r>
            <a:r>
              <a:rPr lang="zh-CN" altLang="en-US" sz="3000">
                <a:effectLst>
                  <a:outerShdw blurRad="38100" dist="38100" dir="2700000" algn="tl">
                    <a:srgbClr val="000000"/>
                  </a:outerShdw>
                </a:effectLst>
                <a:latin typeface="宋体" panose="02010600030101010101" pitchFamily="2" charset="-122"/>
              </a:rPr>
              <a:t>、</a:t>
            </a:r>
            <a:r>
              <a:rPr lang="en-US" altLang="zh-CN" sz="3000">
                <a:effectLst>
                  <a:outerShdw blurRad="38100" dist="38100" dir="2700000" algn="tl">
                    <a:srgbClr val="000000"/>
                  </a:outerShdw>
                </a:effectLst>
                <a:latin typeface="宋体" panose="02010600030101010101" pitchFamily="2" charset="-122"/>
              </a:rPr>
              <a:t>4</a:t>
            </a:r>
            <a:r>
              <a:rPr lang="zh-CN" altLang="en-US" sz="3000">
                <a:effectLst>
                  <a:outerShdw blurRad="38100" dist="38100" dir="2700000" algn="tl">
                    <a:srgbClr val="000000"/>
                  </a:outerShdw>
                </a:effectLst>
                <a:latin typeface="宋体" panose="02010600030101010101" pitchFamily="2" charset="-122"/>
              </a:rPr>
              <a:t>、</a:t>
            </a:r>
            <a:r>
              <a:rPr lang="en-US" altLang="zh-CN" sz="3000">
                <a:effectLst>
                  <a:outerShdw blurRad="38100" dist="38100" dir="2700000" algn="tl">
                    <a:srgbClr val="000000"/>
                  </a:outerShdw>
                </a:effectLst>
                <a:latin typeface="宋体" panose="02010600030101010101" pitchFamily="2" charset="-122"/>
              </a:rPr>
              <a:t>2</a:t>
            </a:r>
            <a:r>
              <a:rPr lang="zh-CN" altLang="en-US" sz="3000">
                <a:effectLst>
                  <a:outerShdw blurRad="38100" dist="38100" dir="2700000" algn="tl">
                    <a:srgbClr val="000000"/>
                  </a:outerShdw>
                </a:effectLst>
                <a:latin typeface="宋体" panose="02010600030101010101" pitchFamily="2" charset="-122"/>
              </a:rPr>
              <a:t>、</a:t>
            </a:r>
            <a:r>
              <a:rPr lang="en-US" altLang="zh-CN" sz="3000">
                <a:effectLst>
                  <a:outerShdw blurRad="38100" dist="38100" dir="2700000" algn="tl">
                    <a:srgbClr val="000000"/>
                  </a:outerShdw>
                </a:effectLst>
                <a:latin typeface="宋体" panose="02010600030101010101" pitchFamily="2" charset="-122"/>
              </a:rPr>
              <a:t>1</a:t>
            </a:r>
            <a:r>
              <a:rPr lang="zh-CN" altLang="en-US" sz="3000">
                <a:effectLst>
                  <a:outerShdw blurRad="38100" dist="38100" dir="2700000" algn="tl">
                    <a:srgbClr val="000000"/>
                  </a:outerShdw>
                </a:effectLst>
                <a:latin typeface="宋体" panose="02010600030101010101" pitchFamily="2" charset="-122"/>
              </a:rPr>
              <a:t>克，设待秤重量</a:t>
            </a:r>
            <a:r>
              <a:rPr lang="en-US" altLang="zh-CN" sz="3000">
                <a:effectLst>
                  <a:outerShdw blurRad="38100" dist="38100" dir="2700000" algn="tl">
                    <a:srgbClr val="000000"/>
                  </a:outerShdw>
                </a:effectLst>
                <a:latin typeface="宋体" panose="02010600030101010101" pitchFamily="2" charset="-122"/>
              </a:rPr>
              <a:t>Wx = 13</a:t>
            </a:r>
            <a:r>
              <a:rPr lang="zh-CN" altLang="en-US" sz="3000">
                <a:effectLst>
                  <a:outerShdw blurRad="38100" dist="38100" dir="2700000" algn="tl">
                    <a:srgbClr val="000000"/>
                  </a:outerShdw>
                </a:effectLst>
                <a:latin typeface="宋体" panose="02010600030101010101" pitchFamily="2" charset="-122"/>
              </a:rPr>
              <a:t>克 </a:t>
            </a:r>
            <a:endParaRPr lang="zh-CN" altLang="en-US" sz="3000">
              <a:latin typeface="宋体" panose="02010600030101010101" pitchFamily="2" charset="-122"/>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6674"/>
                                        </p:tgtEl>
                                        <p:attrNameLst>
                                          <p:attrName>style.visibility</p:attrName>
                                        </p:attrNameLst>
                                      </p:cBhvr>
                                      <p:to>
                                        <p:strVal val="visible"/>
                                      </p:to>
                                    </p:set>
                                    <p:animEffect transition="in" filter="box(in)">
                                      <p:cBhvr>
                                        <p:cTn id="7" dur="500"/>
                                        <p:tgtEl>
                                          <p:spTgt spid="156674"/>
                                        </p:tgtEl>
                                      </p:cBhvr>
                                    </p:animEffect>
                                  </p:childTnLst>
                                </p:cTn>
                              </p:par>
                            </p:childTnLst>
                          </p:cTn>
                        </p:par>
                        <p:par>
                          <p:cTn id="8" fill="hold" nodeType="afterGroup">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56675"/>
                                        </p:tgtEl>
                                        <p:attrNameLst>
                                          <p:attrName>style.visibility</p:attrName>
                                        </p:attrNameLst>
                                      </p:cBhvr>
                                      <p:to>
                                        <p:strVal val="visible"/>
                                      </p:to>
                                    </p:set>
                                    <p:animEffect transition="in" filter="wipe(left)">
                                      <p:cBhvr>
                                        <p:cTn id="11" dur="500"/>
                                        <p:tgtEl>
                                          <p:spTgt spid="15667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6676"/>
                                        </p:tgtEl>
                                        <p:attrNameLst>
                                          <p:attrName>style.visibility</p:attrName>
                                        </p:attrNameLst>
                                      </p:cBhvr>
                                      <p:to>
                                        <p:strVal val="visible"/>
                                      </p:to>
                                    </p:set>
                                    <p:animEffect transition="in" filter="wipe(left)">
                                      <p:cBhvr>
                                        <p:cTn id="16" dur="500"/>
                                        <p:tgtEl>
                                          <p:spTgt spid="1566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56677"/>
                                        </p:tgtEl>
                                        <p:attrNameLst>
                                          <p:attrName>style.visibility</p:attrName>
                                        </p:attrNameLst>
                                      </p:cBhvr>
                                      <p:to>
                                        <p:strVal val="visible"/>
                                      </p:to>
                                    </p:set>
                                    <p:animEffect transition="in" filter="wipe(left)">
                                      <p:cBhvr>
                                        <p:cTn id="21" dur="500"/>
                                        <p:tgtEl>
                                          <p:spTgt spid="15667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6678"/>
                                        </p:tgtEl>
                                        <p:attrNameLst>
                                          <p:attrName>style.visibility</p:attrName>
                                        </p:attrNameLst>
                                      </p:cBhvr>
                                      <p:to>
                                        <p:strVal val="visible"/>
                                      </p:to>
                                    </p:set>
                                    <p:animEffect transition="in" filter="wipe(left)">
                                      <p:cBhvr>
                                        <p:cTn id="26" dur="500"/>
                                        <p:tgtEl>
                                          <p:spTgt spid="15667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6679"/>
                                        </p:tgtEl>
                                        <p:attrNameLst>
                                          <p:attrName>style.visibility</p:attrName>
                                        </p:attrNameLst>
                                      </p:cBhvr>
                                      <p:to>
                                        <p:strVal val="visible"/>
                                      </p:to>
                                    </p:set>
                                    <p:animEffect transition="in" filter="wipe(left)">
                                      <p:cBhvr>
                                        <p:cTn id="31" dur="500"/>
                                        <p:tgtEl>
                                          <p:spTgt spid="15667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6680"/>
                                        </p:tgtEl>
                                        <p:attrNameLst>
                                          <p:attrName>style.visibility</p:attrName>
                                        </p:attrNameLst>
                                      </p:cBhvr>
                                      <p:to>
                                        <p:strVal val="visible"/>
                                      </p:to>
                                    </p:set>
                                    <p:animEffect transition="in" filter="wipe(left)">
                                      <p:cBhvr>
                                        <p:cTn id="36" dur="500"/>
                                        <p:tgtEl>
                                          <p:spTgt spid="15668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6681"/>
                                        </p:tgtEl>
                                        <p:attrNameLst>
                                          <p:attrName>style.visibility</p:attrName>
                                        </p:attrNameLst>
                                      </p:cBhvr>
                                      <p:to>
                                        <p:strVal val="visible"/>
                                      </p:to>
                                    </p:set>
                                    <p:animEffect transition="in" filter="wipe(left)">
                                      <p:cBhvr>
                                        <p:cTn id="41" dur="500"/>
                                        <p:tgtEl>
                                          <p:spTgt spid="156681"/>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6682"/>
                                        </p:tgtEl>
                                        <p:attrNameLst>
                                          <p:attrName>style.visibility</p:attrName>
                                        </p:attrNameLst>
                                      </p:cBhvr>
                                      <p:to>
                                        <p:strVal val="visible"/>
                                      </p:to>
                                    </p:set>
                                    <p:animEffect transition="in" filter="wipe(left)">
                                      <p:cBhvr>
                                        <p:cTn id="46" dur="500"/>
                                        <p:tgtEl>
                                          <p:spTgt spid="15668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56683"/>
                                        </p:tgtEl>
                                        <p:attrNameLst>
                                          <p:attrName>style.visibility</p:attrName>
                                        </p:attrNameLst>
                                      </p:cBhvr>
                                      <p:to>
                                        <p:strVal val="visible"/>
                                      </p:to>
                                    </p:set>
                                    <p:animEffect transition="in" filter="wipe(left)">
                                      <p:cBhvr>
                                        <p:cTn id="51" dur="500"/>
                                        <p:tgtEl>
                                          <p:spTgt spid="15668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56684"/>
                                        </p:tgtEl>
                                        <p:attrNameLst>
                                          <p:attrName>style.visibility</p:attrName>
                                        </p:attrNameLst>
                                      </p:cBhvr>
                                      <p:to>
                                        <p:strVal val="visible"/>
                                      </p:to>
                                    </p:set>
                                    <p:animEffect transition="in" filter="wipe(left)">
                                      <p:cBhvr>
                                        <p:cTn id="56" dur="500"/>
                                        <p:tgtEl>
                                          <p:spTgt spid="15668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56685"/>
                                        </p:tgtEl>
                                        <p:attrNameLst>
                                          <p:attrName>style.visibility</p:attrName>
                                        </p:attrNameLst>
                                      </p:cBhvr>
                                      <p:to>
                                        <p:strVal val="visible"/>
                                      </p:to>
                                    </p:set>
                                    <p:animEffect transition="in" filter="wipe(left)">
                                      <p:cBhvr>
                                        <p:cTn id="61" dur="500"/>
                                        <p:tgtEl>
                                          <p:spTgt spid="15668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6686"/>
                                        </p:tgtEl>
                                        <p:attrNameLst>
                                          <p:attrName>style.visibility</p:attrName>
                                        </p:attrNameLst>
                                      </p:cBhvr>
                                      <p:to>
                                        <p:strVal val="visible"/>
                                      </p:to>
                                    </p:set>
                                    <p:animEffect transition="in" filter="wipe(left)">
                                      <p:cBhvr>
                                        <p:cTn id="66" dur="500"/>
                                        <p:tgtEl>
                                          <p:spTgt spid="15668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56687"/>
                                        </p:tgtEl>
                                        <p:attrNameLst>
                                          <p:attrName>style.visibility</p:attrName>
                                        </p:attrNameLst>
                                      </p:cBhvr>
                                      <p:to>
                                        <p:strVal val="visible"/>
                                      </p:to>
                                    </p:set>
                                    <p:animEffect transition="in" filter="wipe(left)">
                                      <p:cBhvr>
                                        <p:cTn id="71" dur="500"/>
                                        <p:tgtEl>
                                          <p:spTgt spid="156687"/>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56688"/>
                                        </p:tgtEl>
                                        <p:attrNameLst>
                                          <p:attrName>style.visibility</p:attrName>
                                        </p:attrNameLst>
                                      </p:cBhvr>
                                      <p:to>
                                        <p:strVal val="visible"/>
                                      </p:to>
                                    </p:set>
                                    <p:animEffect transition="in" filter="wipe(left)">
                                      <p:cBhvr>
                                        <p:cTn id="76" dur="500"/>
                                        <p:tgtEl>
                                          <p:spTgt spid="15668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56689"/>
                                        </p:tgtEl>
                                        <p:attrNameLst>
                                          <p:attrName>style.visibility</p:attrName>
                                        </p:attrNameLst>
                                      </p:cBhvr>
                                      <p:to>
                                        <p:strVal val="visible"/>
                                      </p:to>
                                    </p:set>
                                    <p:animEffect transition="in" filter="wipe(left)">
                                      <p:cBhvr>
                                        <p:cTn id="81" dur="500"/>
                                        <p:tgtEl>
                                          <p:spTgt spid="156689"/>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56690"/>
                                        </p:tgtEl>
                                        <p:attrNameLst>
                                          <p:attrName>style.visibility</p:attrName>
                                        </p:attrNameLst>
                                      </p:cBhvr>
                                      <p:to>
                                        <p:strVal val="visible"/>
                                      </p:to>
                                    </p:set>
                                    <p:animEffect transition="in" filter="wipe(left)">
                                      <p:cBhvr>
                                        <p:cTn id="86" dur="500"/>
                                        <p:tgtEl>
                                          <p:spTgt spid="156690"/>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56691"/>
                                        </p:tgtEl>
                                        <p:attrNameLst>
                                          <p:attrName>style.visibility</p:attrName>
                                        </p:attrNameLst>
                                      </p:cBhvr>
                                      <p:to>
                                        <p:strVal val="visible"/>
                                      </p:to>
                                    </p:set>
                                    <p:animEffect transition="in" filter="wipe(left)">
                                      <p:cBhvr>
                                        <p:cTn id="91" dur="500"/>
                                        <p:tgtEl>
                                          <p:spTgt spid="156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p:bldP spid="156675" grpId="0"/>
      <p:bldP spid="156676" grpId="0"/>
      <p:bldP spid="156677" grpId="0"/>
      <p:bldP spid="156678" grpId="0"/>
      <p:bldP spid="156679" grpId="0"/>
      <p:bldP spid="156680" grpId="0"/>
      <p:bldP spid="156681" grpId="0"/>
      <p:bldP spid="156682" grpId="0"/>
      <p:bldP spid="156683" grpId="0"/>
      <p:bldP spid="156684" grpId="0"/>
      <p:bldP spid="156685" grpId="0"/>
      <p:bldP spid="156686" grpId="0"/>
      <p:bldP spid="156687" grpId="0"/>
      <p:bldP spid="156688" grpId="0"/>
      <p:bldP spid="156689" grpId="0"/>
      <p:bldP spid="156690" grpId="0"/>
      <p:bldP spid="15669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灯片编号占位符 3">
            <a:extLst>
              <a:ext uri="{FF2B5EF4-FFF2-40B4-BE49-F238E27FC236}">
                <a16:creationId xmlns:a16="http://schemas.microsoft.com/office/drawing/2014/main" id="{4EF78279-A6C1-4CB7-B0EF-6CCA50B0F903}"/>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A0E1868-8AFF-4B70-A7D9-3E5BA560CFD2}" type="slidenum">
              <a:rPr lang="en-US" altLang="zh-CN" b="0"/>
              <a:pPr/>
              <a:t>6</a:t>
            </a:fld>
            <a:endParaRPr lang="en-US" altLang="zh-CN" b="0"/>
          </a:p>
        </p:txBody>
      </p:sp>
      <p:sp>
        <p:nvSpPr>
          <p:cNvPr id="35843" name="Text Box 2">
            <a:extLst>
              <a:ext uri="{FF2B5EF4-FFF2-40B4-BE49-F238E27FC236}">
                <a16:creationId xmlns:a16="http://schemas.microsoft.com/office/drawing/2014/main" id="{6A75773C-DEA7-47C2-B262-98F09DFAB29A}"/>
              </a:ext>
            </a:extLst>
          </p:cNvPr>
          <p:cNvSpPr txBox="1">
            <a:spLocks noChangeArrowheads="1"/>
          </p:cNvSpPr>
          <p:nvPr/>
        </p:nvSpPr>
        <p:spPr bwMode="auto">
          <a:xfrm>
            <a:off x="179388" y="188913"/>
            <a:ext cx="73453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solidFill>
                  <a:srgbClr val="FFFF00"/>
                </a:solidFill>
              </a:rPr>
              <a:t>8.5.1  A/D</a:t>
            </a:r>
            <a:r>
              <a:rPr lang="zh-CN" altLang="en-US" sz="2800">
                <a:solidFill>
                  <a:srgbClr val="FFFF00"/>
                </a:solidFill>
              </a:rPr>
              <a:t>转换器基本原理（逐次逼近式）</a:t>
            </a:r>
          </a:p>
        </p:txBody>
      </p:sp>
      <p:grpSp>
        <p:nvGrpSpPr>
          <p:cNvPr id="158723" name="Group 3">
            <a:extLst>
              <a:ext uri="{FF2B5EF4-FFF2-40B4-BE49-F238E27FC236}">
                <a16:creationId xmlns:a16="http://schemas.microsoft.com/office/drawing/2014/main" id="{01FB3280-80BE-44D7-A773-CFEB835A0353}"/>
              </a:ext>
            </a:extLst>
          </p:cNvPr>
          <p:cNvGrpSpPr>
            <a:grpSpLocks/>
          </p:cNvGrpSpPr>
          <p:nvPr/>
        </p:nvGrpSpPr>
        <p:grpSpPr bwMode="auto">
          <a:xfrm>
            <a:off x="1538288" y="2601913"/>
            <a:ext cx="1254125" cy="1866900"/>
            <a:chOff x="960" y="1680"/>
            <a:chExt cx="816" cy="1270"/>
          </a:xfrm>
        </p:grpSpPr>
        <p:sp>
          <p:nvSpPr>
            <p:cNvPr id="35939" name="Text Box 4">
              <a:extLst>
                <a:ext uri="{FF2B5EF4-FFF2-40B4-BE49-F238E27FC236}">
                  <a16:creationId xmlns:a16="http://schemas.microsoft.com/office/drawing/2014/main" id="{31C34FE7-1138-4CAB-BE3E-008A8AC6FF35}"/>
                </a:ext>
              </a:extLst>
            </p:cNvPr>
            <p:cNvSpPr txBox="1">
              <a:spLocks noChangeArrowheads="1"/>
            </p:cNvSpPr>
            <p:nvPr/>
          </p:nvSpPr>
          <p:spPr bwMode="auto">
            <a:xfrm>
              <a:off x="960" y="1680"/>
              <a:ext cx="768" cy="1270"/>
            </a:xfrm>
            <a:prstGeom prst="rect">
              <a:avLst/>
            </a:prstGeom>
            <a:noFill/>
            <a:ln w="317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p:txBody>
        </p:sp>
        <p:sp>
          <p:nvSpPr>
            <p:cNvPr id="35940" name="Text Box 5">
              <a:extLst>
                <a:ext uri="{FF2B5EF4-FFF2-40B4-BE49-F238E27FC236}">
                  <a16:creationId xmlns:a16="http://schemas.microsoft.com/office/drawing/2014/main" id="{5CCE0AE8-134A-4D57-9142-32F544516593}"/>
                </a:ext>
              </a:extLst>
            </p:cNvPr>
            <p:cNvSpPr txBox="1">
              <a:spLocks noChangeArrowheads="1"/>
            </p:cNvSpPr>
            <p:nvPr/>
          </p:nvSpPr>
          <p:spPr bwMode="auto">
            <a:xfrm>
              <a:off x="960" y="1776"/>
              <a:ext cx="816" cy="1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en-US" altLang="zh-CN" sz="2400"/>
                <a:t>n</a:t>
              </a:r>
              <a:r>
                <a:rPr lang="zh-CN" altLang="en-US" sz="2400"/>
                <a:t>位</a:t>
              </a:r>
            </a:p>
            <a:p>
              <a:pPr algn="ctr" eaLnBrk="1" hangingPunct="1">
                <a:spcBef>
                  <a:spcPct val="50000"/>
                </a:spcBef>
                <a:buClrTx/>
                <a:buSzTx/>
                <a:buFontTx/>
                <a:buNone/>
              </a:pPr>
              <a:r>
                <a:rPr lang="en-US" altLang="zh-CN" sz="2400"/>
                <a:t>D/A</a:t>
              </a:r>
            </a:p>
            <a:p>
              <a:pPr algn="ctr" eaLnBrk="1" hangingPunct="1">
                <a:spcBef>
                  <a:spcPct val="50000"/>
                </a:spcBef>
                <a:buClrTx/>
                <a:buSzTx/>
                <a:buFontTx/>
                <a:buNone/>
              </a:pPr>
              <a:r>
                <a:rPr lang="zh-CN" altLang="en-US" sz="2400"/>
                <a:t>转换器</a:t>
              </a:r>
            </a:p>
          </p:txBody>
        </p:sp>
      </p:grpSp>
      <p:grpSp>
        <p:nvGrpSpPr>
          <p:cNvPr id="158726" name="Group 6">
            <a:extLst>
              <a:ext uri="{FF2B5EF4-FFF2-40B4-BE49-F238E27FC236}">
                <a16:creationId xmlns:a16="http://schemas.microsoft.com/office/drawing/2014/main" id="{555F4053-C7DE-495A-B34F-EF766BFD6EBC}"/>
              </a:ext>
            </a:extLst>
          </p:cNvPr>
          <p:cNvGrpSpPr>
            <a:grpSpLocks/>
          </p:cNvGrpSpPr>
          <p:nvPr/>
        </p:nvGrpSpPr>
        <p:grpSpPr bwMode="auto">
          <a:xfrm>
            <a:off x="4192588" y="1049338"/>
            <a:ext cx="2138362" cy="917575"/>
            <a:chOff x="2641" y="661"/>
            <a:chExt cx="1347" cy="578"/>
          </a:xfrm>
        </p:grpSpPr>
        <p:sp>
          <p:nvSpPr>
            <p:cNvPr id="35937" name="Text Box 7">
              <a:extLst>
                <a:ext uri="{FF2B5EF4-FFF2-40B4-BE49-F238E27FC236}">
                  <a16:creationId xmlns:a16="http://schemas.microsoft.com/office/drawing/2014/main" id="{CE08FAA6-C333-4659-A3F5-F5647E8FF6E0}"/>
                </a:ext>
              </a:extLst>
            </p:cNvPr>
            <p:cNvSpPr txBox="1">
              <a:spLocks noChangeArrowheads="1"/>
            </p:cNvSpPr>
            <p:nvPr/>
          </p:nvSpPr>
          <p:spPr bwMode="auto">
            <a:xfrm>
              <a:off x="2641" y="661"/>
              <a:ext cx="1347" cy="57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lang="zh-CN" altLang="zh-CN" sz="1800" b="0"/>
            </a:p>
          </p:txBody>
        </p:sp>
        <p:sp>
          <p:nvSpPr>
            <p:cNvPr id="35938" name="Text Box 8">
              <a:extLst>
                <a:ext uri="{FF2B5EF4-FFF2-40B4-BE49-F238E27FC236}">
                  <a16:creationId xmlns:a16="http://schemas.microsoft.com/office/drawing/2014/main" id="{2DF311F9-6753-4623-A8A1-92B22799238E}"/>
                </a:ext>
              </a:extLst>
            </p:cNvPr>
            <p:cNvSpPr txBox="1">
              <a:spLocks noChangeArrowheads="1"/>
            </p:cNvSpPr>
            <p:nvPr/>
          </p:nvSpPr>
          <p:spPr bwMode="auto">
            <a:xfrm>
              <a:off x="2687" y="795"/>
              <a:ext cx="125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800"/>
                <a:t>控制电路</a:t>
              </a:r>
            </a:p>
          </p:txBody>
        </p:sp>
      </p:grpSp>
      <p:grpSp>
        <p:nvGrpSpPr>
          <p:cNvPr id="158729" name="Group 9">
            <a:extLst>
              <a:ext uri="{FF2B5EF4-FFF2-40B4-BE49-F238E27FC236}">
                <a16:creationId xmlns:a16="http://schemas.microsoft.com/office/drawing/2014/main" id="{89C08BBF-45E7-4D5F-B2B3-682A9514DD5A}"/>
              </a:ext>
            </a:extLst>
          </p:cNvPr>
          <p:cNvGrpSpPr>
            <a:grpSpLocks/>
          </p:cNvGrpSpPr>
          <p:nvPr/>
        </p:nvGrpSpPr>
        <p:grpSpPr bwMode="auto">
          <a:xfrm>
            <a:off x="4265613" y="2565400"/>
            <a:ext cx="1990725" cy="2068513"/>
            <a:chOff x="2687" y="1639"/>
            <a:chExt cx="1254" cy="1303"/>
          </a:xfrm>
        </p:grpSpPr>
        <p:sp>
          <p:nvSpPr>
            <p:cNvPr id="35935" name="Text Box 10">
              <a:extLst>
                <a:ext uri="{FF2B5EF4-FFF2-40B4-BE49-F238E27FC236}">
                  <a16:creationId xmlns:a16="http://schemas.microsoft.com/office/drawing/2014/main" id="{DF41EFFB-D639-412B-9D07-AD4FA3A5C1BB}"/>
                </a:ext>
              </a:extLst>
            </p:cNvPr>
            <p:cNvSpPr txBox="1">
              <a:spLocks noChangeArrowheads="1"/>
            </p:cNvSpPr>
            <p:nvPr/>
          </p:nvSpPr>
          <p:spPr bwMode="auto">
            <a:xfrm>
              <a:off x="2687" y="1639"/>
              <a:ext cx="1254" cy="128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a:p>
              <a:pPr eaLnBrk="1" hangingPunct="1">
                <a:spcBef>
                  <a:spcPct val="50000"/>
                </a:spcBef>
                <a:buClrTx/>
                <a:buSzTx/>
                <a:buFontTx/>
                <a:buNone/>
              </a:pPr>
              <a:endParaRPr lang="en-US" altLang="zh-CN" sz="1800" b="0"/>
            </a:p>
          </p:txBody>
        </p:sp>
        <p:sp>
          <p:nvSpPr>
            <p:cNvPr id="35936" name="Text Box 11">
              <a:extLst>
                <a:ext uri="{FF2B5EF4-FFF2-40B4-BE49-F238E27FC236}">
                  <a16:creationId xmlns:a16="http://schemas.microsoft.com/office/drawing/2014/main" id="{6A6FCFA5-F0D0-43EA-A75D-9B60393A1E7A}"/>
                </a:ext>
              </a:extLst>
            </p:cNvPr>
            <p:cNvSpPr txBox="1">
              <a:spLocks noChangeArrowheads="1"/>
            </p:cNvSpPr>
            <p:nvPr/>
          </p:nvSpPr>
          <p:spPr bwMode="auto">
            <a:xfrm>
              <a:off x="2780" y="2064"/>
              <a:ext cx="1022" cy="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
                </a:spcBef>
                <a:buClrTx/>
                <a:buSzTx/>
                <a:buFontTx/>
                <a:buNone/>
              </a:pPr>
              <a:r>
                <a:rPr lang="en-US" altLang="zh-CN" sz="2800"/>
                <a:t>n</a:t>
              </a:r>
              <a:r>
                <a:rPr lang="zh-CN" altLang="en-US" sz="2800"/>
                <a:t>位逐次逼近</a:t>
              </a:r>
            </a:p>
            <a:p>
              <a:pPr algn="ctr" eaLnBrk="1" hangingPunct="1">
                <a:spcBef>
                  <a:spcPct val="5000"/>
                </a:spcBef>
                <a:buClrTx/>
                <a:buSzTx/>
                <a:buFontTx/>
                <a:buNone/>
              </a:pPr>
              <a:r>
                <a:rPr lang="zh-CN" altLang="en-US" sz="2800"/>
                <a:t>寄存器</a:t>
              </a:r>
            </a:p>
          </p:txBody>
        </p:sp>
      </p:grpSp>
      <p:grpSp>
        <p:nvGrpSpPr>
          <p:cNvPr id="158732" name="Group 12">
            <a:extLst>
              <a:ext uri="{FF2B5EF4-FFF2-40B4-BE49-F238E27FC236}">
                <a16:creationId xmlns:a16="http://schemas.microsoft.com/office/drawing/2014/main" id="{58E4326B-ED9B-4CE9-AD94-4F8BB294A912}"/>
              </a:ext>
            </a:extLst>
          </p:cNvPr>
          <p:cNvGrpSpPr>
            <a:grpSpLocks/>
          </p:cNvGrpSpPr>
          <p:nvPr/>
        </p:nvGrpSpPr>
        <p:grpSpPr bwMode="auto">
          <a:xfrm>
            <a:off x="6330950" y="914400"/>
            <a:ext cx="2813050" cy="457200"/>
            <a:chOff x="3988" y="576"/>
            <a:chExt cx="1772" cy="288"/>
          </a:xfrm>
        </p:grpSpPr>
        <p:sp>
          <p:nvSpPr>
            <p:cNvPr id="35933" name="Text Box 13">
              <a:extLst>
                <a:ext uri="{FF2B5EF4-FFF2-40B4-BE49-F238E27FC236}">
                  <a16:creationId xmlns:a16="http://schemas.microsoft.com/office/drawing/2014/main" id="{4E0589E2-9780-4E04-84F2-E8B312CFEB67}"/>
                </a:ext>
              </a:extLst>
            </p:cNvPr>
            <p:cNvSpPr txBox="1">
              <a:spLocks noChangeArrowheads="1"/>
            </p:cNvSpPr>
            <p:nvPr/>
          </p:nvSpPr>
          <p:spPr bwMode="auto">
            <a:xfrm>
              <a:off x="4692" y="576"/>
              <a:ext cx="10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启动信号</a:t>
              </a:r>
            </a:p>
          </p:txBody>
        </p:sp>
        <p:sp>
          <p:nvSpPr>
            <p:cNvPr id="35934" name="Line 14">
              <a:extLst>
                <a:ext uri="{FF2B5EF4-FFF2-40B4-BE49-F238E27FC236}">
                  <a16:creationId xmlns:a16="http://schemas.microsoft.com/office/drawing/2014/main" id="{FFC08714-C351-47AF-AA40-57949FB13C9C}"/>
                </a:ext>
              </a:extLst>
            </p:cNvPr>
            <p:cNvSpPr>
              <a:spLocks noChangeShapeType="1"/>
            </p:cNvSpPr>
            <p:nvPr/>
          </p:nvSpPr>
          <p:spPr bwMode="auto">
            <a:xfrm flipH="1">
              <a:off x="3988" y="750"/>
              <a:ext cx="603"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8735" name="Group 15">
            <a:extLst>
              <a:ext uri="{FF2B5EF4-FFF2-40B4-BE49-F238E27FC236}">
                <a16:creationId xmlns:a16="http://schemas.microsoft.com/office/drawing/2014/main" id="{363C7B5E-B73B-4769-B822-E26259178316}"/>
              </a:ext>
            </a:extLst>
          </p:cNvPr>
          <p:cNvGrpSpPr>
            <a:grpSpLocks/>
          </p:cNvGrpSpPr>
          <p:nvPr/>
        </p:nvGrpSpPr>
        <p:grpSpPr bwMode="auto">
          <a:xfrm>
            <a:off x="6256338" y="1331913"/>
            <a:ext cx="2887662" cy="1974850"/>
            <a:chOff x="3941" y="839"/>
            <a:chExt cx="1579" cy="1244"/>
          </a:xfrm>
        </p:grpSpPr>
        <p:grpSp>
          <p:nvGrpSpPr>
            <p:cNvPr id="35928" name="Group 16">
              <a:extLst>
                <a:ext uri="{FF2B5EF4-FFF2-40B4-BE49-F238E27FC236}">
                  <a16:creationId xmlns:a16="http://schemas.microsoft.com/office/drawing/2014/main" id="{F9F25159-91B3-40C7-B430-BE90641057B5}"/>
                </a:ext>
              </a:extLst>
            </p:cNvPr>
            <p:cNvGrpSpPr>
              <a:grpSpLocks/>
            </p:cNvGrpSpPr>
            <p:nvPr/>
          </p:nvGrpSpPr>
          <p:grpSpPr bwMode="auto">
            <a:xfrm>
              <a:off x="3988" y="839"/>
              <a:ext cx="1532" cy="1244"/>
              <a:chOff x="3988" y="839"/>
              <a:chExt cx="1532" cy="1244"/>
            </a:xfrm>
          </p:grpSpPr>
          <p:sp>
            <p:nvSpPr>
              <p:cNvPr id="35930" name="Text Box 17">
                <a:extLst>
                  <a:ext uri="{FF2B5EF4-FFF2-40B4-BE49-F238E27FC236}">
                    <a16:creationId xmlns:a16="http://schemas.microsoft.com/office/drawing/2014/main" id="{DC54FD4B-944D-4C61-B10B-6D2CAE413A47}"/>
                  </a:ext>
                </a:extLst>
              </p:cNvPr>
              <p:cNvSpPr txBox="1">
                <a:spLocks noChangeArrowheads="1"/>
              </p:cNvSpPr>
              <p:nvPr/>
            </p:nvSpPr>
            <p:spPr bwMode="auto">
              <a:xfrm>
                <a:off x="4591" y="839"/>
                <a:ext cx="92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600"/>
                  <a:t>CLK </a:t>
                </a:r>
                <a:r>
                  <a:rPr lang="zh-CN" altLang="en-US" sz="2600"/>
                  <a:t>时钟</a:t>
                </a:r>
              </a:p>
            </p:txBody>
          </p:sp>
          <p:sp>
            <p:nvSpPr>
              <p:cNvPr id="35931" name="Line 18">
                <a:extLst>
                  <a:ext uri="{FF2B5EF4-FFF2-40B4-BE49-F238E27FC236}">
                    <a16:creationId xmlns:a16="http://schemas.microsoft.com/office/drawing/2014/main" id="{BB27E49C-5ED6-44AF-BB1B-E4B0C530F924}"/>
                  </a:ext>
                </a:extLst>
              </p:cNvPr>
              <p:cNvSpPr>
                <a:spLocks noChangeShapeType="1"/>
              </p:cNvSpPr>
              <p:nvPr/>
            </p:nvSpPr>
            <p:spPr bwMode="auto">
              <a:xfrm flipH="1">
                <a:off x="3988" y="972"/>
                <a:ext cx="603" cy="0"/>
              </a:xfrm>
              <a:prstGeom prst="line">
                <a:avLst/>
              </a:prstGeom>
              <a:noFill/>
              <a:ln w="3175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32" name="Line 19">
                <a:extLst>
                  <a:ext uri="{FF2B5EF4-FFF2-40B4-BE49-F238E27FC236}">
                    <a16:creationId xmlns:a16="http://schemas.microsoft.com/office/drawing/2014/main" id="{7E50F83C-50DF-4336-9F46-F2AB26F5AC8A}"/>
                  </a:ext>
                </a:extLst>
              </p:cNvPr>
              <p:cNvSpPr>
                <a:spLocks noChangeShapeType="1"/>
              </p:cNvSpPr>
              <p:nvPr/>
            </p:nvSpPr>
            <p:spPr bwMode="auto">
              <a:xfrm>
                <a:off x="4127" y="972"/>
                <a:ext cx="0" cy="1111"/>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5929" name="Line 20">
              <a:extLst>
                <a:ext uri="{FF2B5EF4-FFF2-40B4-BE49-F238E27FC236}">
                  <a16:creationId xmlns:a16="http://schemas.microsoft.com/office/drawing/2014/main" id="{A6B05F2B-E9C0-4AB2-BDD3-8468CAB653F3}"/>
                </a:ext>
              </a:extLst>
            </p:cNvPr>
            <p:cNvSpPr>
              <a:spLocks noChangeShapeType="1"/>
            </p:cNvSpPr>
            <p:nvPr/>
          </p:nvSpPr>
          <p:spPr bwMode="auto">
            <a:xfrm flipH="1">
              <a:off x="3941" y="2083"/>
              <a:ext cx="186"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58741" name="Text Box 21">
            <a:extLst>
              <a:ext uri="{FF2B5EF4-FFF2-40B4-BE49-F238E27FC236}">
                <a16:creationId xmlns:a16="http://schemas.microsoft.com/office/drawing/2014/main" id="{97B86466-8C3D-47C0-984A-2BFBF8EA6F77}"/>
              </a:ext>
            </a:extLst>
          </p:cNvPr>
          <p:cNvSpPr txBox="1">
            <a:spLocks noChangeArrowheads="1"/>
          </p:cNvSpPr>
          <p:nvPr/>
        </p:nvSpPr>
        <p:spPr bwMode="auto">
          <a:xfrm>
            <a:off x="2497138" y="5353050"/>
            <a:ext cx="2506662" cy="488950"/>
          </a:xfrm>
          <a:prstGeom prst="rect">
            <a:avLst/>
          </a:prstGeom>
          <a:noFill/>
          <a:ln w="3175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SzTx/>
              <a:buFontTx/>
              <a:buNone/>
            </a:pPr>
            <a:r>
              <a:rPr lang="zh-CN" altLang="en-US" sz="2400"/>
              <a:t>缓冲寄存器</a:t>
            </a:r>
          </a:p>
        </p:txBody>
      </p:sp>
      <p:grpSp>
        <p:nvGrpSpPr>
          <p:cNvPr id="158742" name="Group 22">
            <a:extLst>
              <a:ext uri="{FF2B5EF4-FFF2-40B4-BE49-F238E27FC236}">
                <a16:creationId xmlns:a16="http://schemas.microsoft.com/office/drawing/2014/main" id="{DF2D7AEB-9FA5-43F3-B2BD-577DF927AB5E}"/>
              </a:ext>
            </a:extLst>
          </p:cNvPr>
          <p:cNvGrpSpPr>
            <a:grpSpLocks/>
          </p:cNvGrpSpPr>
          <p:nvPr/>
        </p:nvGrpSpPr>
        <p:grpSpPr bwMode="auto">
          <a:xfrm>
            <a:off x="2717800" y="2813050"/>
            <a:ext cx="1547813" cy="1481138"/>
            <a:chOff x="1712" y="1772"/>
            <a:chExt cx="975" cy="933"/>
          </a:xfrm>
        </p:grpSpPr>
        <p:sp>
          <p:nvSpPr>
            <p:cNvPr id="35923" name="Line 23">
              <a:extLst>
                <a:ext uri="{FF2B5EF4-FFF2-40B4-BE49-F238E27FC236}">
                  <a16:creationId xmlns:a16="http://schemas.microsoft.com/office/drawing/2014/main" id="{AF7FF431-1E10-4F47-B818-99A81B9BF6F3}"/>
                </a:ext>
              </a:extLst>
            </p:cNvPr>
            <p:cNvSpPr>
              <a:spLocks noChangeShapeType="1"/>
            </p:cNvSpPr>
            <p:nvPr/>
          </p:nvSpPr>
          <p:spPr bwMode="auto">
            <a:xfrm flipH="1">
              <a:off x="1712" y="1772"/>
              <a:ext cx="975"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4" name="Line 24">
              <a:extLst>
                <a:ext uri="{FF2B5EF4-FFF2-40B4-BE49-F238E27FC236}">
                  <a16:creationId xmlns:a16="http://schemas.microsoft.com/office/drawing/2014/main" id="{FDEC5691-37C3-4C7D-B704-4736858BA3A6}"/>
                </a:ext>
              </a:extLst>
            </p:cNvPr>
            <p:cNvSpPr>
              <a:spLocks noChangeShapeType="1"/>
            </p:cNvSpPr>
            <p:nvPr/>
          </p:nvSpPr>
          <p:spPr bwMode="auto">
            <a:xfrm flipH="1">
              <a:off x="1712" y="1994"/>
              <a:ext cx="975"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5" name="Line 25">
              <a:extLst>
                <a:ext uri="{FF2B5EF4-FFF2-40B4-BE49-F238E27FC236}">
                  <a16:creationId xmlns:a16="http://schemas.microsoft.com/office/drawing/2014/main" id="{A853294B-C9D7-42C2-935B-E607E2F2A163}"/>
                </a:ext>
              </a:extLst>
            </p:cNvPr>
            <p:cNvSpPr>
              <a:spLocks noChangeShapeType="1"/>
            </p:cNvSpPr>
            <p:nvPr/>
          </p:nvSpPr>
          <p:spPr bwMode="auto">
            <a:xfrm flipH="1">
              <a:off x="1712" y="2528"/>
              <a:ext cx="975"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6" name="Line 26">
              <a:extLst>
                <a:ext uri="{FF2B5EF4-FFF2-40B4-BE49-F238E27FC236}">
                  <a16:creationId xmlns:a16="http://schemas.microsoft.com/office/drawing/2014/main" id="{A8931057-2E09-47A6-A478-9DCC88A66A0B}"/>
                </a:ext>
              </a:extLst>
            </p:cNvPr>
            <p:cNvSpPr>
              <a:spLocks noChangeShapeType="1"/>
            </p:cNvSpPr>
            <p:nvPr/>
          </p:nvSpPr>
          <p:spPr bwMode="auto">
            <a:xfrm flipH="1">
              <a:off x="1712" y="2705"/>
              <a:ext cx="975"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7" name="Text Box 27">
              <a:extLst>
                <a:ext uri="{FF2B5EF4-FFF2-40B4-BE49-F238E27FC236}">
                  <a16:creationId xmlns:a16="http://schemas.microsoft.com/office/drawing/2014/main" id="{9C543803-7D31-4082-B6D1-F6F7D14133D9}"/>
                </a:ext>
              </a:extLst>
            </p:cNvPr>
            <p:cNvSpPr txBox="1">
              <a:spLocks noChangeArrowheads="1"/>
            </p:cNvSpPr>
            <p:nvPr/>
          </p:nvSpPr>
          <p:spPr bwMode="auto">
            <a:xfrm>
              <a:off x="2070" y="2083"/>
              <a:ext cx="385" cy="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a:t>
              </a:r>
            </a:p>
          </p:txBody>
        </p:sp>
      </p:grpSp>
      <p:grpSp>
        <p:nvGrpSpPr>
          <p:cNvPr id="158748" name="Group 28">
            <a:extLst>
              <a:ext uri="{FF2B5EF4-FFF2-40B4-BE49-F238E27FC236}">
                <a16:creationId xmlns:a16="http://schemas.microsoft.com/office/drawing/2014/main" id="{898731D3-1946-493B-AE3E-B739514BA78A}"/>
              </a:ext>
            </a:extLst>
          </p:cNvPr>
          <p:cNvGrpSpPr>
            <a:grpSpLocks/>
          </p:cNvGrpSpPr>
          <p:nvPr/>
        </p:nvGrpSpPr>
        <p:grpSpPr bwMode="auto">
          <a:xfrm>
            <a:off x="2971800" y="2813050"/>
            <a:ext cx="1066800" cy="2540000"/>
            <a:chOff x="1872" y="1772"/>
            <a:chExt cx="672" cy="1600"/>
          </a:xfrm>
        </p:grpSpPr>
        <p:sp>
          <p:nvSpPr>
            <p:cNvPr id="35919" name="Line 29">
              <a:extLst>
                <a:ext uri="{FF2B5EF4-FFF2-40B4-BE49-F238E27FC236}">
                  <a16:creationId xmlns:a16="http://schemas.microsoft.com/office/drawing/2014/main" id="{7934B4DF-D584-41A3-9AFF-152D56865A50}"/>
                </a:ext>
              </a:extLst>
            </p:cNvPr>
            <p:cNvSpPr>
              <a:spLocks noChangeShapeType="1"/>
            </p:cNvSpPr>
            <p:nvPr/>
          </p:nvSpPr>
          <p:spPr bwMode="auto">
            <a:xfrm>
              <a:off x="1872" y="1772"/>
              <a:ext cx="0" cy="1600"/>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0" name="Line 30">
              <a:extLst>
                <a:ext uri="{FF2B5EF4-FFF2-40B4-BE49-F238E27FC236}">
                  <a16:creationId xmlns:a16="http://schemas.microsoft.com/office/drawing/2014/main" id="{E1C2A0ED-31F5-42F0-B382-D12D0D4E06D5}"/>
                </a:ext>
              </a:extLst>
            </p:cNvPr>
            <p:cNvSpPr>
              <a:spLocks noChangeShapeType="1"/>
            </p:cNvSpPr>
            <p:nvPr/>
          </p:nvSpPr>
          <p:spPr bwMode="auto">
            <a:xfrm>
              <a:off x="2064" y="1994"/>
              <a:ext cx="0" cy="1378"/>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1" name="Line 31">
              <a:extLst>
                <a:ext uri="{FF2B5EF4-FFF2-40B4-BE49-F238E27FC236}">
                  <a16:creationId xmlns:a16="http://schemas.microsoft.com/office/drawing/2014/main" id="{996AED22-6DF9-49DF-B57C-FF48D8A464A7}"/>
                </a:ext>
              </a:extLst>
            </p:cNvPr>
            <p:cNvSpPr>
              <a:spLocks noChangeShapeType="1"/>
            </p:cNvSpPr>
            <p:nvPr/>
          </p:nvSpPr>
          <p:spPr bwMode="auto">
            <a:xfrm>
              <a:off x="2304" y="2528"/>
              <a:ext cx="0" cy="799"/>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22" name="Line 32">
              <a:extLst>
                <a:ext uri="{FF2B5EF4-FFF2-40B4-BE49-F238E27FC236}">
                  <a16:creationId xmlns:a16="http://schemas.microsoft.com/office/drawing/2014/main" id="{CA66EBD0-2CAB-4D63-9D57-5089F6E8703A}"/>
                </a:ext>
              </a:extLst>
            </p:cNvPr>
            <p:cNvSpPr>
              <a:spLocks noChangeShapeType="1"/>
            </p:cNvSpPr>
            <p:nvPr/>
          </p:nvSpPr>
          <p:spPr bwMode="auto">
            <a:xfrm>
              <a:off x="2544" y="2705"/>
              <a:ext cx="0" cy="667"/>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158753" name="Group 33">
            <a:extLst>
              <a:ext uri="{FF2B5EF4-FFF2-40B4-BE49-F238E27FC236}">
                <a16:creationId xmlns:a16="http://schemas.microsoft.com/office/drawing/2014/main" id="{1A968D3D-0C05-4BB8-A021-8B46D118CC81}"/>
              </a:ext>
            </a:extLst>
          </p:cNvPr>
          <p:cNvGrpSpPr>
            <a:grpSpLocks/>
          </p:cNvGrpSpPr>
          <p:nvPr/>
        </p:nvGrpSpPr>
        <p:grpSpPr bwMode="auto">
          <a:xfrm>
            <a:off x="433388" y="838200"/>
            <a:ext cx="1252537" cy="519113"/>
            <a:chOff x="273" y="528"/>
            <a:chExt cx="789" cy="327"/>
          </a:xfrm>
        </p:grpSpPr>
        <p:sp>
          <p:nvSpPr>
            <p:cNvPr id="35917" name="Line 34">
              <a:extLst>
                <a:ext uri="{FF2B5EF4-FFF2-40B4-BE49-F238E27FC236}">
                  <a16:creationId xmlns:a16="http://schemas.microsoft.com/office/drawing/2014/main" id="{60F0A33A-9316-4AD2-8EC9-DC0E730C67AF}"/>
                </a:ext>
              </a:extLst>
            </p:cNvPr>
            <p:cNvSpPr>
              <a:spLocks noChangeShapeType="1"/>
            </p:cNvSpPr>
            <p:nvPr/>
          </p:nvSpPr>
          <p:spPr bwMode="auto">
            <a:xfrm>
              <a:off x="319" y="839"/>
              <a:ext cx="650" cy="0"/>
            </a:xfrm>
            <a:prstGeom prst="line">
              <a:avLst/>
            </a:prstGeom>
            <a:noFill/>
            <a:ln w="31750">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18" name="Text Box 35">
              <a:extLst>
                <a:ext uri="{FF2B5EF4-FFF2-40B4-BE49-F238E27FC236}">
                  <a16:creationId xmlns:a16="http://schemas.microsoft.com/office/drawing/2014/main" id="{2E63E1ED-AF36-4B48-8EFE-FA86EC9CF40C}"/>
                </a:ext>
              </a:extLst>
            </p:cNvPr>
            <p:cNvSpPr txBox="1">
              <a:spLocks noChangeArrowheads="1"/>
            </p:cNvSpPr>
            <p:nvPr/>
          </p:nvSpPr>
          <p:spPr bwMode="auto">
            <a:xfrm>
              <a:off x="273" y="528"/>
              <a:ext cx="7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Courier New" panose="02070309020205020404" pitchFamily="49" charset="0"/>
                </a:rPr>
                <a:t>V</a:t>
              </a:r>
              <a:r>
                <a:rPr lang="en-US" altLang="zh-CN" sz="2800" baseline="-25000">
                  <a:latin typeface="Courier New" panose="02070309020205020404" pitchFamily="49" charset="0"/>
                </a:rPr>
                <a:t>i</a:t>
              </a:r>
            </a:p>
          </p:txBody>
        </p:sp>
      </p:grpSp>
      <p:grpSp>
        <p:nvGrpSpPr>
          <p:cNvPr id="158756" name="Group 36">
            <a:extLst>
              <a:ext uri="{FF2B5EF4-FFF2-40B4-BE49-F238E27FC236}">
                <a16:creationId xmlns:a16="http://schemas.microsoft.com/office/drawing/2014/main" id="{C40E4391-082F-48E4-AEDA-E6E367C62186}"/>
              </a:ext>
            </a:extLst>
          </p:cNvPr>
          <p:cNvGrpSpPr>
            <a:grpSpLocks/>
          </p:cNvGrpSpPr>
          <p:nvPr/>
        </p:nvGrpSpPr>
        <p:grpSpPr bwMode="auto">
          <a:xfrm>
            <a:off x="285750" y="1755775"/>
            <a:ext cx="1327150" cy="1550988"/>
            <a:chOff x="180" y="1106"/>
            <a:chExt cx="836" cy="977"/>
          </a:xfrm>
        </p:grpSpPr>
        <p:sp>
          <p:nvSpPr>
            <p:cNvPr id="35913" name="Line 37">
              <a:extLst>
                <a:ext uri="{FF2B5EF4-FFF2-40B4-BE49-F238E27FC236}">
                  <a16:creationId xmlns:a16="http://schemas.microsoft.com/office/drawing/2014/main" id="{931D0798-7421-4FE3-9479-F82439137FC4}"/>
                </a:ext>
              </a:extLst>
            </p:cNvPr>
            <p:cNvSpPr>
              <a:spLocks noChangeShapeType="1"/>
            </p:cNvSpPr>
            <p:nvPr/>
          </p:nvSpPr>
          <p:spPr bwMode="auto">
            <a:xfrm flipH="1">
              <a:off x="505" y="2083"/>
              <a:ext cx="464" cy="0"/>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14" name="Line 38">
              <a:extLst>
                <a:ext uri="{FF2B5EF4-FFF2-40B4-BE49-F238E27FC236}">
                  <a16:creationId xmlns:a16="http://schemas.microsoft.com/office/drawing/2014/main" id="{8E22DD01-AAC2-472E-917F-232DDE0B431E}"/>
                </a:ext>
              </a:extLst>
            </p:cNvPr>
            <p:cNvSpPr>
              <a:spLocks noChangeShapeType="1"/>
            </p:cNvSpPr>
            <p:nvPr/>
          </p:nvSpPr>
          <p:spPr bwMode="auto">
            <a:xfrm flipV="1">
              <a:off x="505" y="1106"/>
              <a:ext cx="0" cy="977"/>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15" name="Line 39">
              <a:extLst>
                <a:ext uri="{FF2B5EF4-FFF2-40B4-BE49-F238E27FC236}">
                  <a16:creationId xmlns:a16="http://schemas.microsoft.com/office/drawing/2014/main" id="{0E66CE57-B735-4C19-AEF8-B4CB3BC951E5}"/>
                </a:ext>
              </a:extLst>
            </p:cNvPr>
            <p:cNvSpPr>
              <a:spLocks noChangeShapeType="1"/>
            </p:cNvSpPr>
            <p:nvPr/>
          </p:nvSpPr>
          <p:spPr bwMode="auto">
            <a:xfrm>
              <a:off x="505" y="1106"/>
              <a:ext cx="464" cy="0"/>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16" name="Text Box 40">
              <a:extLst>
                <a:ext uri="{FF2B5EF4-FFF2-40B4-BE49-F238E27FC236}">
                  <a16:creationId xmlns:a16="http://schemas.microsoft.com/office/drawing/2014/main" id="{A99118B1-9DFC-4B23-9AB8-3E40B9196F5A}"/>
                </a:ext>
              </a:extLst>
            </p:cNvPr>
            <p:cNvSpPr txBox="1">
              <a:spLocks noChangeArrowheads="1"/>
            </p:cNvSpPr>
            <p:nvPr/>
          </p:nvSpPr>
          <p:spPr bwMode="auto">
            <a:xfrm>
              <a:off x="180" y="1737"/>
              <a:ext cx="8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solidFill>
                    <a:srgbClr val="FFFF00"/>
                  </a:solidFill>
                  <a:latin typeface="Courier New" panose="02070309020205020404" pitchFamily="49" charset="0"/>
                </a:rPr>
                <a:t>V</a:t>
              </a:r>
              <a:r>
                <a:rPr lang="en-US" altLang="zh-CN" sz="2800" baseline="-25000">
                  <a:solidFill>
                    <a:srgbClr val="FFFF00"/>
                  </a:solidFill>
                  <a:latin typeface="Courier New" panose="02070309020205020404" pitchFamily="49" charset="0"/>
                </a:rPr>
                <a:t>o</a:t>
              </a:r>
            </a:p>
          </p:txBody>
        </p:sp>
      </p:grpSp>
      <p:sp>
        <p:nvSpPr>
          <p:cNvPr id="158761" name="Line 41">
            <a:extLst>
              <a:ext uri="{FF2B5EF4-FFF2-40B4-BE49-F238E27FC236}">
                <a16:creationId xmlns:a16="http://schemas.microsoft.com/office/drawing/2014/main" id="{322FF843-1455-44F6-9914-46E8F355B4D0}"/>
              </a:ext>
            </a:extLst>
          </p:cNvPr>
          <p:cNvSpPr>
            <a:spLocks noChangeShapeType="1"/>
          </p:cNvSpPr>
          <p:nvPr/>
        </p:nvSpPr>
        <p:spPr bwMode="auto">
          <a:xfrm>
            <a:off x="2644775" y="1543050"/>
            <a:ext cx="1547813" cy="0"/>
          </a:xfrm>
          <a:prstGeom prst="line">
            <a:avLst/>
          </a:prstGeom>
          <a:noFill/>
          <a:ln w="317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8762" name="Group 42">
            <a:extLst>
              <a:ext uri="{FF2B5EF4-FFF2-40B4-BE49-F238E27FC236}">
                <a16:creationId xmlns:a16="http://schemas.microsoft.com/office/drawing/2014/main" id="{6D08EA20-63FE-4D36-98B8-92258C0EA9A1}"/>
              </a:ext>
            </a:extLst>
          </p:cNvPr>
          <p:cNvGrpSpPr>
            <a:grpSpLocks/>
          </p:cNvGrpSpPr>
          <p:nvPr/>
        </p:nvGrpSpPr>
        <p:grpSpPr bwMode="auto">
          <a:xfrm>
            <a:off x="1524000" y="908050"/>
            <a:ext cx="1327150" cy="1143000"/>
            <a:chOff x="960" y="572"/>
            <a:chExt cx="836" cy="720"/>
          </a:xfrm>
        </p:grpSpPr>
        <p:grpSp>
          <p:nvGrpSpPr>
            <p:cNvPr id="35906" name="Group 43">
              <a:extLst>
                <a:ext uri="{FF2B5EF4-FFF2-40B4-BE49-F238E27FC236}">
                  <a16:creationId xmlns:a16="http://schemas.microsoft.com/office/drawing/2014/main" id="{6C1E3A5B-62E4-4865-A9F9-1BB9C1E0B310}"/>
                </a:ext>
              </a:extLst>
            </p:cNvPr>
            <p:cNvGrpSpPr>
              <a:grpSpLocks/>
            </p:cNvGrpSpPr>
            <p:nvPr/>
          </p:nvGrpSpPr>
          <p:grpSpPr bwMode="auto">
            <a:xfrm>
              <a:off x="969" y="572"/>
              <a:ext cx="697" cy="720"/>
              <a:chOff x="3936" y="1815"/>
              <a:chExt cx="480" cy="672"/>
            </a:xfrm>
          </p:grpSpPr>
          <p:sp>
            <p:nvSpPr>
              <p:cNvPr id="35910" name="Line 44">
                <a:extLst>
                  <a:ext uri="{FF2B5EF4-FFF2-40B4-BE49-F238E27FC236}">
                    <a16:creationId xmlns:a16="http://schemas.microsoft.com/office/drawing/2014/main" id="{63265420-B77B-4F9A-9272-CD76D6844FBD}"/>
                  </a:ext>
                </a:extLst>
              </p:cNvPr>
              <p:cNvSpPr>
                <a:spLocks noChangeShapeType="1"/>
              </p:cNvSpPr>
              <p:nvPr/>
            </p:nvSpPr>
            <p:spPr bwMode="auto">
              <a:xfrm>
                <a:off x="3936" y="1815"/>
                <a:ext cx="0" cy="672"/>
              </a:xfrm>
              <a:prstGeom prst="line">
                <a:avLst/>
              </a:prstGeom>
              <a:noFill/>
              <a:ln w="349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11" name="Line 45">
                <a:extLst>
                  <a:ext uri="{FF2B5EF4-FFF2-40B4-BE49-F238E27FC236}">
                    <a16:creationId xmlns:a16="http://schemas.microsoft.com/office/drawing/2014/main" id="{E0759D83-20EE-4E15-B545-9E43F68F27E9}"/>
                  </a:ext>
                </a:extLst>
              </p:cNvPr>
              <p:cNvSpPr>
                <a:spLocks noChangeShapeType="1"/>
              </p:cNvSpPr>
              <p:nvPr/>
            </p:nvSpPr>
            <p:spPr bwMode="auto">
              <a:xfrm>
                <a:off x="3936" y="1815"/>
                <a:ext cx="480" cy="384"/>
              </a:xfrm>
              <a:prstGeom prst="line">
                <a:avLst/>
              </a:prstGeom>
              <a:noFill/>
              <a:ln w="349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12" name="Line 46">
                <a:extLst>
                  <a:ext uri="{FF2B5EF4-FFF2-40B4-BE49-F238E27FC236}">
                    <a16:creationId xmlns:a16="http://schemas.microsoft.com/office/drawing/2014/main" id="{3802F238-B542-4F28-9995-3F404746510B}"/>
                  </a:ext>
                </a:extLst>
              </p:cNvPr>
              <p:cNvSpPr>
                <a:spLocks noChangeShapeType="1"/>
              </p:cNvSpPr>
              <p:nvPr/>
            </p:nvSpPr>
            <p:spPr bwMode="auto">
              <a:xfrm flipV="1">
                <a:off x="3936" y="2199"/>
                <a:ext cx="480" cy="288"/>
              </a:xfrm>
              <a:prstGeom prst="line">
                <a:avLst/>
              </a:prstGeom>
              <a:noFill/>
              <a:ln w="349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5907" name="Line 47">
              <a:extLst>
                <a:ext uri="{FF2B5EF4-FFF2-40B4-BE49-F238E27FC236}">
                  <a16:creationId xmlns:a16="http://schemas.microsoft.com/office/drawing/2014/main" id="{CE8869E9-369C-47C4-AEB0-D1F6D7A34DFE}"/>
                </a:ext>
              </a:extLst>
            </p:cNvPr>
            <p:cNvSpPr>
              <a:spLocks noChangeShapeType="1"/>
            </p:cNvSpPr>
            <p:nvPr/>
          </p:nvSpPr>
          <p:spPr bwMode="auto">
            <a:xfrm>
              <a:off x="1666" y="972"/>
              <a:ext cx="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08" name="Text Box 48">
              <a:extLst>
                <a:ext uri="{FF2B5EF4-FFF2-40B4-BE49-F238E27FC236}">
                  <a16:creationId xmlns:a16="http://schemas.microsoft.com/office/drawing/2014/main" id="{98A43DD3-4D1D-4643-AE2E-7E4A137142EB}"/>
                </a:ext>
              </a:extLst>
            </p:cNvPr>
            <p:cNvSpPr txBox="1">
              <a:spLocks noChangeArrowheads="1"/>
            </p:cNvSpPr>
            <p:nvPr/>
          </p:nvSpPr>
          <p:spPr bwMode="auto">
            <a:xfrm>
              <a:off x="969" y="864"/>
              <a:ext cx="3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solidFill>
                    <a:srgbClr val="FFFF00"/>
                  </a:solidFill>
                </a:rPr>
                <a:t>_</a:t>
              </a:r>
            </a:p>
          </p:txBody>
        </p:sp>
        <p:sp>
          <p:nvSpPr>
            <p:cNvPr id="35909" name="Text Box 49">
              <a:extLst>
                <a:ext uri="{FF2B5EF4-FFF2-40B4-BE49-F238E27FC236}">
                  <a16:creationId xmlns:a16="http://schemas.microsoft.com/office/drawing/2014/main" id="{647FEAEB-B0DE-41DD-8E80-B9512F6323FE}"/>
                </a:ext>
              </a:extLst>
            </p:cNvPr>
            <p:cNvSpPr txBox="1">
              <a:spLocks noChangeArrowheads="1"/>
            </p:cNvSpPr>
            <p:nvPr/>
          </p:nvSpPr>
          <p:spPr bwMode="auto">
            <a:xfrm>
              <a:off x="960" y="661"/>
              <a:ext cx="8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solidFill>
                    <a:srgbClr val="FFFF00"/>
                  </a:solidFill>
                </a:rPr>
                <a:t>＋</a:t>
              </a:r>
            </a:p>
          </p:txBody>
        </p:sp>
      </p:grpSp>
      <p:grpSp>
        <p:nvGrpSpPr>
          <p:cNvPr id="158770" name="Group 50">
            <a:extLst>
              <a:ext uri="{FF2B5EF4-FFF2-40B4-BE49-F238E27FC236}">
                <a16:creationId xmlns:a16="http://schemas.microsoft.com/office/drawing/2014/main" id="{9A45065F-5375-4CCC-A1CF-5B52133341D5}"/>
              </a:ext>
            </a:extLst>
          </p:cNvPr>
          <p:cNvGrpSpPr>
            <a:grpSpLocks/>
          </p:cNvGrpSpPr>
          <p:nvPr/>
        </p:nvGrpSpPr>
        <p:grpSpPr bwMode="auto">
          <a:xfrm>
            <a:off x="2008188" y="5818188"/>
            <a:ext cx="3436937" cy="720725"/>
            <a:chOff x="1265" y="3665"/>
            <a:chExt cx="2165" cy="454"/>
          </a:xfrm>
        </p:grpSpPr>
        <p:sp>
          <p:nvSpPr>
            <p:cNvPr id="35900" name="Text Box 51">
              <a:extLst>
                <a:ext uri="{FF2B5EF4-FFF2-40B4-BE49-F238E27FC236}">
                  <a16:creationId xmlns:a16="http://schemas.microsoft.com/office/drawing/2014/main" id="{C36E6F2A-A2D6-4A54-B540-3305C4F198F6}"/>
                </a:ext>
              </a:extLst>
            </p:cNvPr>
            <p:cNvSpPr txBox="1">
              <a:spLocks noChangeArrowheads="1"/>
            </p:cNvSpPr>
            <p:nvPr/>
          </p:nvSpPr>
          <p:spPr bwMode="auto">
            <a:xfrm>
              <a:off x="2037" y="3816"/>
              <a:ext cx="883" cy="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a:t>
              </a:r>
            </a:p>
          </p:txBody>
        </p:sp>
        <p:sp>
          <p:nvSpPr>
            <p:cNvPr id="35901" name="Line 52">
              <a:extLst>
                <a:ext uri="{FF2B5EF4-FFF2-40B4-BE49-F238E27FC236}">
                  <a16:creationId xmlns:a16="http://schemas.microsoft.com/office/drawing/2014/main" id="{1FA401FF-EECB-4398-8B65-1004473DE258}"/>
                </a:ext>
              </a:extLst>
            </p:cNvPr>
            <p:cNvSpPr>
              <a:spLocks noChangeShapeType="1"/>
            </p:cNvSpPr>
            <p:nvPr/>
          </p:nvSpPr>
          <p:spPr bwMode="auto">
            <a:xfrm>
              <a:off x="1759" y="3683"/>
              <a:ext cx="0" cy="311"/>
            </a:xfrm>
            <a:prstGeom prst="line">
              <a:avLst/>
            </a:prstGeom>
            <a:noFill/>
            <a:ln w="317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02" name="Line 53">
              <a:extLst>
                <a:ext uri="{FF2B5EF4-FFF2-40B4-BE49-F238E27FC236}">
                  <a16:creationId xmlns:a16="http://schemas.microsoft.com/office/drawing/2014/main" id="{6A0B7BB8-EF28-4445-8D9F-465F04CD3F29}"/>
                </a:ext>
              </a:extLst>
            </p:cNvPr>
            <p:cNvSpPr>
              <a:spLocks noChangeShapeType="1"/>
            </p:cNvSpPr>
            <p:nvPr/>
          </p:nvSpPr>
          <p:spPr bwMode="auto">
            <a:xfrm>
              <a:off x="2920" y="3665"/>
              <a:ext cx="0" cy="355"/>
            </a:xfrm>
            <a:prstGeom prst="line">
              <a:avLst/>
            </a:prstGeom>
            <a:noFill/>
            <a:ln w="317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03" name="Line 54">
              <a:extLst>
                <a:ext uri="{FF2B5EF4-FFF2-40B4-BE49-F238E27FC236}">
                  <a16:creationId xmlns:a16="http://schemas.microsoft.com/office/drawing/2014/main" id="{82A53B74-9F4E-4B39-8C50-720CBF4504A9}"/>
                </a:ext>
              </a:extLst>
            </p:cNvPr>
            <p:cNvSpPr>
              <a:spLocks noChangeShapeType="1"/>
            </p:cNvSpPr>
            <p:nvPr/>
          </p:nvSpPr>
          <p:spPr bwMode="auto">
            <a:xfrm>
              <a:off x="1991" y="3683"/>
              <a:ext cx="0" cy="311"/>
            </a:xfrm>
            <a:prstGeom prst="line">
              <a:avLst/>
            </a:prstGeom>
            <a:noFill/>
            <a:ln w="317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904" name="Text Box 55">
              <a:extLst>
                <a:ext uri="{FF2B5EF4-FFF2-40B4-BE49-F238E27FC236}">
                  <a16:creationId xmlns:a16="http://schemas.microsoft.com/office/drawing/2014/main" id="{C154DBE2-291C-42B6-8607-3CC568C8CA5A}"/>
                </a:ext>
              </a:extLst>
            </p:cNvPr>
            <p:cNvSpPr txBox="1">
              <a:spLocks noChangeArrowheads="1"/>
            </p:cNvSpPr>
            <p:nvPr/>
          </p:nvSpPr>
          <p:spPr bwMode="auto">
            <a:xfrm>
              <a:off x="1265" y="3772"/>
              <a:ext cx="8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Dn-1</a:t>
              </a:r>
            </a:p>
          </p:txBody>
        </p:sp>
        <p:sp>
          <p:nvSpPr>
            <p:cNvPr id="35905" name="Text Box 56">
              <a:extLst>
                <a:ext uri="{FF2B5EF4-FFF2-40B4-BE49-F238E27FC236}">
                  <a16:creationId xmlns:a16="http://schemas.microsoft.com/office/drawing/2014/main" id="{13CE38AC-6D20-4FB2-9361-F3F42DAEF83A}"/>
                </a:ext>
              </a:extLst>
            </p:cNvPr>
            <p:cNvSpPr txBox="1">
              <a:spLocks noChangeArrowheads="1"/>
            </p:cNvSpPr>
            <p:nvPr/>
          </p:nvSpPr>
          <p:spPr bwMode="auto">
            <a:xfrm>
              <a:off x="2966" y="3772"/>
              <a:ext cx="4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D0</a:t>
              </a:r>
            </a:p>
          </p:txBody>
        </p:sp>
      </p:grpSp>
      <p:grpSp>
        <p:nvGrpSpPr>
          <p:cNvPr id="158777" name="Group 57">
            <a:extLst>
              <a:ext uri="{FF2B5EF4-FFF2-40B4-BE49-F238E27FC236}">
                <a16:creationId xmlns:a16="http://schemas.microsoft.com/office/drawing/2014/main" id="{CFCC150F-1A26-4136-9EC1-6579FF7B8A3D}"/>
              </a:ext>
            </a:extLst>
          </p:cNvPr>
          <p:cNvGrpSpPr>
            <a:grpSpLocks/>
          </p:cNvGrpSpPr>
          <p:nvPr/>
        </p:nvGrpSpPr>
        <p:grpSpPr bwMode="auto">
          <a:xfrm>
            <a:off x="5003800" y="1825625"/>
            <a:ext cx="3052763" cy="3738563"/>
            <a:chOff x="3152" y="1150"/>
            <a:chExt cx="1923" cy="2355"/>
          </a:xfrm>
        </p:grpSpPr>
        <p:sp>
          <p:nvSpPr>
            <p:cNvPr id="35896" name="Text Box 58">
              <a:extLst>
                <a:ext uri="{FF2B5EF4-FFF2-40B4-BE49-F238E27FC236}">
                  <a16:creationId xmlns:a16="http://schemas.microsoft.com/office/drawing/2014/main" id="{F44094D1-4D1E-44E3-9F79-0DCDEFF397EC}"/>
                </a:ext>
              </a:extLst>
            </p:cNvPr>
            <p:cNvSpPr txBox="1">
              <a:spLocks noChangeArrowheads="1"/>
            </p:cNvSpPr>
            <p:nvPr/>
          </p:nvSpPr>
          <p:spPr bwMode="auto">
            <a:xfrm>
              <a:off x="4395" y="1406"/>
              <a:ext cx="68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solidFill>
                    <a:srgbClr val="FFFF00"/>
                  </a:solidFill>
                </a:rPr>
                <a:t>转 换结 束</a:t>
              </a:r>
            </a:p>
          </p:txBody>
        </p:sp>
        <p:sp>
          <p:nvSpPr>
            <p:cNvPr id="35897" name="Line 59">
              <a:extLst>
                <a:ext uri="{FF2B5EF4-FFF2-40B4-BE49-F238E27FC236}">
                  <a16:creationId xmlns:a16="http://schemas.microsoft.com/office/drawing/2014/main" id="{B3C2B278-38D8-424F-8317-E68BA05AF3FF}"/>
                </a:ext>
              </a:extLst>
            </p:cNvPr>
            <p:cNvSpPr>
              <a:spLocks noChangeShapeType="1"/>
            </p:cNvSpPr>
            <p:nvPr/>
          </p:nvSpPr>
          <p:spPr bwMode="auto">
            <a:xfrm>
              <a:off x="3988" y="1150"/>
              <a:ext cx="835" cy="0"/>
            </a:xfrm>
            <a:prstGeom prst="line">
              <a:avLst/>
            </a:prstGeom>
            <a:noFill/>
            <a:ln w="31750">
              <a:solidFill>
                <a:srgbClr val="FFFF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98" name="Line 60">
              <a:extLst>
                <a:ext uri="{FF2B5EF4-FFF2-40B4-BE49-F238E27FC236}">
                  <a16:creationId xmlns:a16="http://schemas.microsoft.com/office/drawing/2014/main" id="{EEACCAE8-8074-45C3-B920-E53A79D17F90}"/>
                </a:ext>
              </a:extLst>
            </p:cNvPr>
            <p:cNvSpPr>
              <a:spLocks noChangeShapeType="1"/>
            </p:cNvSpPr>
            <p:nvPr/>
          </p:nvSpPr>
          <p:spPr bwMode="auto">
            <a:xfrm>
              <a:off x="4677" y="1150"/>
              <a:ext cx="0" cy="2355"/>
            </a:xfrm>
            <a:prstGeom prst="line">
              <a:avLst/>
            </a:prstGeom>
            <a:noFill/>
            <a:ln w="3175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99" name="Line 61">
              <a:extLst>
                <a:ext uri="{FF2B5EF4-FFF2-40B4-BE49-F238E27FC236}">
                  <a16:creationId xmlns:a16="http://schemas.microsoft.com/office/drawing/2014/main" id="{986F6463-9A6F-4E20-8223-53617D9B77B0}"/>
                </a:ext>
              </a:extLst>
            </p:cNvPr>
            <p:cNvSpPr>
              <a:spLocks noChangeShapeType="1"/>
            </p:cNvSpPr>
            <p:nvPr/>
          </p:nvSpPr>
          <p:spPr bwMode="auto">
            <a:xfrm>
              <a:off x="3152" y="3505"/>
              <a:ext cx="1532" cy="0"/>
            </a:xfrm>
            <a:prstGeom prst="line">
              <a:avLst/>
            </a:prstGeom>
            <a:noFill/>
            <a:ln w="31750">
              <a:solidFill>
                <a:srgbClr val="FFFF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58782" name="Line 62">
            <a:extLst>
              <a:ext uri="{FF2B5EF4-FFF2-40B4-BE49-F238E27FC236}">
                <a16:creationId xmlns:a16="http://schemas.microsoft.com/office/drawing/2014/main" id="{ED47F3B4-E5B2-4B2B-9131-E19B35EC5827}"/>
              </a:ext>
            </a:extLst>
          </p:cNvPr>
          <p:cNvSpPr>
            <a:spLocks noChangeShapeType="1"/>
          </p:cNvSpPr>
          <p:nvPr/>
        </p:nvSpPr>
        <p:spPr bwMode="auto">
          <a:xfrm>
            <a:off x="5224463" y="1966913"/>
            <a:ext cx="0" cy="635000"/>
          </a:xfrm>
          <a:prstGeom prst="line">
            <a:avLst/>
          </a:prstGeom>
          <a:noFill/>
          <a:ln w="3175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158783" name="Group 63">
            <a:extLst>
              <a:ext uri="{FF2B5EF4-FFF2-40B4-BE49-F238E27FC236}">
                <a16:creationId xmlns:a16="http://schemas.microsoft.com/office/drawing/2014/main" id="{C18EF752-B48F-4012-A9D0-EB43D35EB76C}"/>
              </a:ext>
            </a:extLst>
          </p:cNvPr>
          <p:cNvGrpSpPr>
            <a:grpSpLocks/>
          </p:cNvGrpSpPr>
          <p:nvPr/>
        </p:nvGrpSpPr>
        <p:grpSpPr bwMode="auto">
          <a:xfrm>
            <a:off x="7235825" y="404813"/>
            <a:ext cx="1295400" cy="457200"/>
            <a:chOff x="192" y="3792"/>
            <a:chExt cx="864" cy="288"/>
          </a:xfrm>
        </p:grpSpPr>
        <p:sp>
          <p:nvSpPr>
            <p:cNvPr id="35891" name="Line 64">
              <a:extLst>
                <a:ext uri="{FF2B5EF4-FFF2-40B4-BE49-F238E27FC236}">
                  <a16:creationId xmlns:a16="http://schemas.microsoft.com/office/drawing/2014/main" id="{657DF23B-E8DE-456C-89D5-13E6D734746A}"/>
                </a:ext>
              </a:extLst>
            </p:cNvPr>
            <p:cNvSpPr>
              <a:spLocks noChangeShapeType="1"/>
            </p:cNvSpPr>
            <p:nvPr/>
          </p:nvSpPr>
          <p:spPr bwMode="auto">
            <a:xfrm>
              <a:off x="192" y="4080"/>
              <a:ext cx="240" cy="0"/>
            </a:xfrm>
            <a:prstGeom prst="line">
              <a:avLst/>
            </a:prstGeom>
            <a:noFill/>
            <a:ln w="412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92" name="Line 65">
              <a:extLst>
                <a:ext uri="{FF2B5EF4-FFF2-40B4-BE49-F238E27FC236}">
                  <a16:creationId xmlns:a16="http://schemas.microsoft.com/office/drawing/2014/main" id="{A844CF80-3033-42BF-96EF-2F969B3D26EC}"/>
                </a:ext>
              </a:extLst>
            </p:cNvPr>
            <p:cNvSpPr>
              <a:spLocks noChangeShapeType="1"/>
            </p:cNvSpPr>
            <p:nvPr/>
          </p:nvSpPr>
          <p:spPr bwMode="auto">
            <a:xfrm>
              <a:off x="432" y="3792"/>
              <a:ext cx="0" cy="288"/>
            </a:xfrm>
            <a:prstGeom prst="line">
              <a:avLst/>
            </a:prstGeom>
            <a:noFill/>
            <a:ln w="412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93" name="Line 66">
              <a:extLst>
                <a:ext uri="{FF2B5EF4-FFF2-40B4-BE49-F238E27FC236}">
                  <a16:creationId xmlns:a16="http://schemas.microsoft.com/office/drawing/2014/main" id="{43C7408B-FA62-4782-A4B0-2A2946FC3F91}"/>
                </a:ext>
              </a:extLst>
            </p:cNvPr>
            <p:cNvSpPr>
              <a:spLocks noChangeShapeType="1"/>
            </p:cNvSpPr>
            <p:nvPr/>
          </p:nvSpPr>
          <p:spPr bwMode="auto">
            <a:xfrm>
              <a:off x="432" y="3792"/>
              <a:ext cx="384" cy="0"/>
            </a:xfrm>
            <a:prstGeom prst="line">
              <a:avLst/>
            </a:prstGeom>
            <a:noFill/>
            <a:ln w="412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94" name="Line 67">
              <a:extLst>
                <a:ext uri="{FF2B5EF4-FFF2-40B4-BE49-F238E27FC236}">
                  <a16:creationId xmlns:a16="http://schemas.microsoft.com/office/drawing/2014/main" id="{149D5A5E-B082-4C75-8E04-70FB7D66FA46}"/>
                </a:ext>
              </a:extLst>
            </p:cNvPr>
            <p:cNvSpPr>
              <a:spLocks noChangeShapeType="1"/>
            </p:cNvSpPr>
            <p:nvPr/>
          </p:nvSpPr>
          <p:spPr bwMode="auto">
            <a:xfrm>
              <a:off x="816" y="3792"/>
              <a:ext cx="0" cy="288"/>
            </a:xfrm>
            <a:prstGeom prst="line">
              <a:avLst/>
            </a:prstGeom>
            <a:noFill/>
            <a:ln w="412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5895" name="Line 68">
              <a:extLst>
                <a:ext uri="{FF2B5EF4-FFF2-40B4-BE49-F238E27FC236}">
                  <a16:creationId xmlns:a16="http://schemas.microsoft.com/office/drawing/2014/main" id="{56BD7797-0319-4559-84BB-F7262BA0FAA1}"/>
                </a:ext>
              </a:extLst>
            </p:cNvPr>
            <p:cNvSpPr>
              <a:spLocks noChangeShapeType="1"/>
            </p:cNvSpPr>
            <p:nvPr/>
          </p:nvSpPr>
          <p:spPr bwMode="auto">
            <a:xfrm>
              <a:off x="816" y="4080"/>
              <a:ext cx="240" cy="0"/>
            </a:xfrm>
            <a:prstGeom prst="line">
              <a:avLst/>
            </a:prstGeom>
            <a:noFill/>
            <a:ln w="41275">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158789" name="AutoShape 69">
            <a:extLst>
              <a:ext uri="{FF2B5EF4-FFF2-40B4-BE49-F238E27FC236}">
                <a16:creationId xmlns:a16="http://schemas.microsoft.com/office/drawing/2014/main" id="{A915CAF6-FBC3-4D18-9D5C-62F68CE9B0D6}"/>
              </a:ext>
            </a:extLst>
          </p:cNvPr>
          <p:cNvSpPr>
            <a:spLocks noChangeArrowheads="1"/>
          </p:cNvSpPr>
          <p:nvPr/>
        </p:nvSpPr>
        <p:spPr bwMode="auto">
          <a:xfrm>
            <a:off x="971550" y="404813"/>
            <a:ext cx="2232025" cy="504825"/>
          </a:xfrm>
          <a:prstGeom prst="wedgeRoundRectCallout">
            <a:avLst>
              <a:gd name="adj1" fmla="val -55264"/>
              <a:gd name="adj2" fmla="val 79560"/>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400">
                <a:solidFill>
                  <a:srgbClr val="0000FF"/>
                </a:solidFill>
              </a:rPr>
              <a:t>待转换的电压</a:t>
            </a:r>
          </a:p>
        </p:txBody>
      </p:sp>
      <p:sp>
        <p:nvSpPr>
          <p:cNvPr id="158790" name="Text Box 70">
            <a:extLst>
              <a:ext uri="{FF2B5EF4-FFF2-40B4-BE49-F238E27FC236}">
                <a16:creationId xmlns:a16="http://schemas.microsoft.com/office/drawing/2014/main" id="{28C45EC3-C172-41C4-B887-4E792B5BDD4C}"/>
              </a:ext>
            </a:extLst>
          </p:cNvPr>
          <p:cNvSpPr txBox="1">
            <a:spLocks noChangeArrowheads="1"/>
          </p:cNvSpPr>
          <p:nvPr/>
        </p:nvSpPr>
        <p:spPr bwMode="auto">
          <a:xfrm>
            <a:off x="2268538" y="981075"/>
            <a:ext cx="18716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电压比较器</a:t>
            </a:r>
          </a:p>
        </p:txBody>
      </p:sp>
      <p:sp>
        <p:nvSpPr>
          <p:cNvPr id="158791" name="Line 71">
            <a:extLst>
              <a:ext uri="{FF2B5EF4-FFF2-40B4-BE49-F238E27FC236}">
                <a16:creationId xmlns:a16="http://schemas.microsoft.com/office/drawing/2014/main" id="{F048D2CA-2DD6-4610-8416-5F5DDCF244BA}"/>
              </a:ext>
            </a:extLst>
          </p:cNvPr>
          <p:cNvSpPr>
            <a:spLocks noChangeShapeType="1"/>
          </p:cNvSpPr>
          <p:nvPr/>
        </p:nvSpPr>
        <p:spPr bwMode="auto">
          <a:xfrm flipV="1">
            <a:off x="7596188" y="404813"/>
            <a:ext cx="0" cy="431800"/>
          </a:xfrm>
          <a:prstGeom prst="line">
            <a:avLst/>
          </a:prstGeom>
          <a:noFill/>
          <a:ln w="57150">
            <a:solidFill>
              <a:srgbClr val="FF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792" name="Text Box 72">
            <a:extLst>
              <a:ext uri="{FF2B5EF4-FFF2-40B4-BE49-F238E27FC236}">
                <a16:creationId xmlns:a16="http://schemas.microsoft.com/office/drawing/2014/main" id="{579D498C-5EEB-4AB6-92DB-F6BBB66F55E1}"/>
              </a:ext>
            </a:extLst>
          </p:cNvPr>
          <p:cNvSpPr txBox="1">
            <a:spLocks noChangeArrowheads="1"/>
          </p:cNvSpPr>
          <p:nvPr/>
        </p:nvSpPr>
        <p:spPr bwMode="auto">
          <a:xfrm>
            <a:off x="4572000" y="2781300"/>
            <a:ext cx="1511300" cy="588963"/>
          </a:xfrm>
          <a:prstGeom prst="rect">
            <a:avLst/>
          </a:prstGeom>
          <a:solidFill>
            <a:srgbClr val="FFCC99"/>
          </a:solidFill>
          <a:ln w="952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solidFill>
                  <a:srgbClr val="000000"/>
                </a:solidFill>
                <a:latin typeface="Times New Roman" panose="02020603050405020304" pitchFamily="18" charset="0"/>
                <a:ea typeface="黑体" panose="02010609060101010101" pitchFamily="49" charset="-122"/>
              </a:rPr>
              <a:t>00…00</a:t>
            </a:r>
          </a:p>
        </p:txBody>
      </p:sp>
      <p:sp>
        <p:nvSpPr>
          <p:cNvPr id="158793" name="Line 73">
            <a:extLst>
              <a:ext uri="{FF2B5EF4-FFF2-40B4-BE49-F238E27FC236}">
                <a16:creationId xmlns:a16="http://schemas.microsoft.com/office/drawing/2014/main" id="{C4D58251-9CC9-4296-B74B-6E7C5D216F0C}"/>
              </a:ext>
            </a:extLst>
          </p:cNvPr>
          <p:cNvSpPr>
            <a:spLocks noChangeShapeType="1"/>
          </p:cNvSpPr>
          <p:nvPr/>
        </p:nvSpPr>
        <p:spPr bwMode="auto">
          <a:xfrm>
            <a:off x="8172450" y="404813"/>
            <a:ext cx="0" cy="431800"/>
          </a:xfrm>
          <a:prstGeom prst="line">
            <a:avLst/>
          </a:prstGeom>
          <a:noFill/>
          <a:ln w="539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8794" name="Text Box 74">
            <a:extLst>
              <a:ext uri="{FF2B5EF4-FFF2-40B4-BE49-F238E27FC236}">
                <a16:creationId xmlns:a16="http://schemas.microsoft.com/office/drawing/2014/main" id="{F91A0C12-3BB2-4622-95CC-60EA1C8EBA90}"/>
              </a:ext>
            </a:extLst>
          </p:cNvPr>
          <p:cNvSpPr txBox="1">
            <a:spLocks noChangeArrowheads="1"/>
          </p:cNvSpPr>
          <p:nvPr/>
        </p:nvSpPr>
        <p:spPr bwMode="auto">
          <a:xfrm>
            <a:off x="4572000" y="2765425"/>
            <a:ext cx="1512888" cy="588963"/>
          </a:xfrm>
          <a:prstGeom prst="rect">
            <a:avLst/>
          </a:prstGeom>
          <a:solidFill>
            <a:srgbClr val="FFCC99"/>
          </a:solidFill>
          <a:ln w="9525">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dirty="0">
                <a:solidFill>
                  <a:srgbClr val="FF0000"/>
                </a:solidFill>
                <a:latin typeface="Times New Roman" panose="02020603050405020304" pitchFamily="18" charset="0"/>
                <a:ea typeface="黑体" panose="02010609060101010101" pitchFamily="49" charset="-122"/>
              </a:rPr>
              <a:t>1</a:t>
            </a:r>
            <a:r>
              <a:rPr lang="en-US" altLang="zh-CN" dirty="0">
                <a:solidFill>
                  <a:srgbClr val="000000"/>
                </a:solidFill>
                <a:latin typeface="Times New Roman" panose="02020603050405020304" pitchFamily="18" charset="0"/>
                <a:ea typeface="黑体" panose="02010609060101010101" pitchFamily="49" charset="-122"/>
              </a:rPr>
              <a:t>0..00</a:t>
            </a:r>
          </a:p>
        </p:txBody>
      </p:sp>
      <p:grpSp>
        <p:nvGrpSpPr>
          <p:cNvPr id="158795" name="Group 75">
            <a:extLst>
              <a:ext uri="{FF2B5EF4-FFF2-40B4-BE49-F238E27FC236}">
                <a16:creationId xmlns:a16="http://schemas.microsoft.com/office/drawing/2014/main" id="{D3AFA17D-E790-4ECB-8E66-99E758CB7203}"/>
              </a:ext>
            </a:extLst>
          </p:cNvPr>
          <p:cNvGrpSpPr>
            <a:grpSpLocks/>
          </p:cNvGrpSpPr>
          <p:nvPr/>
        </p:nvGrpSpPr>
        <p:grpSpPr bwMode="auto">
          <a:xfrm>
            <a:off x="7524750" y="1844675"/>
            <a:ext cx="1438275" cy="431800"/>
            <a:chOff x="3833" y="3793"/>
            <a:chExt cx="906" cy="272"/>
          </a:xfrm>
        </p:grpSpPr>
        <p:grpSp>
          <p:nvGrpSpPr>
            <p:cNvPr id="35881" name="Group 76">
              <a:extLst>
                <a:ext uri="{FF2B5EF4-FFF2-40B4-BE49-F238E27FC236}">
                  <a16:creationId xmlns:a16="http://schemas.microsoft.com/office/drawing/2014/main" id="{F98A0C92-08CC-4697-91B5-80E38B421528}"/>
                </a:ext>
              </a:extLst>
            </p:cNvPr>
            <p:cNvGrpSpPr>
              <a:grpSpLocks/>
            </p:cNvGrpSpPr>
            <p:nvPr/>
          </p:nvGrpSpPr>
          <p:grpSpPr bwMode="auto">
            <a:xfrm>
              <a:off x="3833" y="3793"/>
              <a:ext cx="453" cy="272"/>
              <a:chOff x="3833" y="3793"/>
              <a:chExt cx="453" cy="272"/>
            </a:xfrm>
          </p:grpSpPr>
          <p:sp>
            <p:nvSpPr>
              <p:cNvPr id="35887" name="Line 77">
                <a:extLst>
                  <a:ext uri="{FF2B5EF4-FFF2-40B4-BE49-F238E27FC236}">
                    <a16:creationId xmlns:a16="http://schemas.microsoft.com/office/drawing/2014/main" id="{2B48AD50-7D99-4950-A030-43C9D456FB88}"/>
                  </a:ext>
                </a:extLst>
              </p:cNvPr>
              <p:cNvSpPr>
                <a:spLocks noChangeShapeType="1"/>
              </p:cNvSpPr>
              <p:nvPr/>
            </p:nvSpPr>
            <p:spPr bwMode="auto">
              <a:xfrm>
                <a:off x="3833" y="4065"/>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8" name="Line 78">
                <a:extLst>
                  <a:ext uri="{FF2B5EF4-FFF2-40B4-BE49-F238E27FC236}">
                    <a16:creationId xmlns:a16="http://schemas.microsoft.com/office/drawing/2014/main" id="{A90DE1AF-BACD-4C56-90D9-681D142F1296}"/>
                  </a:ext>
                </a:extLst>
              </p:cNvPr>
              <p:cNvSpPr>
                <a:spLocks noChangeShapeType="1"/>
              </p:cNvSpPr>
              <p:nvPr/>
            </p:nvSpPr>
            <p:spPr bwMode="auto">
              <a:xfrm flipV="1">
                <a:off x="4059" y="379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9" name="Line 79">
                <a:extLst>
                  <a:ext uri="{FF2B5EF4-FFF2-40B4-BE49-F238E27FC236}">
                    <a16:creationId xmlns:a16="http://schemas.microsoft.com/office/drawing/2014/main" id="{3721E22B-8E3E-44FF-A1FF-F2E1F2F1E6C3}"/>
                  </a:ext>
                </a:extLst>
              </p:cNvPr>
              <p:cNvSpPr>
                <a:spLocks noChangeShapeType="1"/>
              </p:cNvSpPr>
              <p:nvPr/>
            </p:nvSpPr>
            <p:spPr bwMode="auto">
              <a:xfrm>
                <a:off x="4059" y="3793"/>
                <a:ext cx="22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90" name="Line 80">
                <a:extLst>
                  <a:ext uri="{FF2B5EF4-FFF2-40B4-BE49-F238E27FC236}">
                    <a16:creationId xmlns:a16="http://schemas.microsoft.com/office/drawing/2014/main" id="{1F99C2AC-5275-4950-A082-00786229D17B}"/>
                  </a:ext>
                </a:extLst>
              </p:cNvPr>
              <p:cNvSpPr>
                <a:spLocks noChangeShapeType="1"/>
              </p:cNvSpPr>
              <p:nvPr/>
            </p:nvSpPr>
            <p:spPr bwMode="auto">
              <a:xfrm>
                <a:off x="4286" y="379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5882" name="Group 81">
              <a:extLst>
                <a:ext uri="{FF2B5EF4-FFF2-40B4-BE49-F238E27FC236}">
                  <a16:creationId xmlns:a16="http://schemas.microsoft.com/office/drawing/2014/main" id="{1B238837-BC05-4629-8C72-141097A4C030}"/>
                </a:ext>
              </a:extLst>
            </p:cNvPr>
            <p:cNvGrpSpPr>
              <a:grpSpLocks/>
            </p:cNvGrpSpPr>
            <p:nvPr/>
          </p:nvGrpSpPr>
          <p:grpSpPr bwMode="auto">
            <a:xfrm>
              <a:off x="4286" y="3793"/>
              <a:ext cx="453" cy="272"/>
              <a:chOff x="3833" y="3793"/>
              <a:chExt cx="453" cy="272"/>
            </a:xfrm>
          </p:grpSpPr>
          <p:sp>
            <p:nvSpPr>
              <p:cNvPr id="35883" name="Line 82">
                <a:extLst>
                  <a:ext uri="{FF2B5EF4-FFF2-40B4-BE49-F238E27FC236}">
                    <a16:creationId xmlns:a16="http://schemas.microsoft.com/office/drawing/2014/main" id="{FE6C4B01-4A57-4F16-9FD3-BF8C84F5C026}"/>
                  </a:ext>
                </a:extLst>
              </p:cNvPr>
              <p:cNvSpPr>
                <a:spLocks noChangeShapeType="1"/>
              </p:cNvSpPr>
              <p:nvPr/>
            </p:nvSpPr>
            <p:spPr bwMode="auto">
              <a:xfrm>
                <a:off x="3833" y="4065"/>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4" name="Line 83">
                <a:extLst>
                  <a:ext uri="{FF2B5EF4-FFF2-40B4-BE49-F238E27FC236}">
                    <a16:creationId xmlns:a16="http://schemas.microsoft.com/office/drawing/2014/main" id="{00815525-B1F8-44A6-BC2B-641BC2F7D763}"/>
                  </a:ext>
                </a:extLst>
              </p:cNvPr>
              <p:cNvSpPr>
                <a:spLocks noChangeShapeType="1"/>
              </p:cNvSpPr>
              <p:nvPr/>
            </p:nvSpPr>
            <p:spPr bwMode="auto">
              <a:xfrm flipV="1">
                <a:off x="4059" y="379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5" name="Line 84">
                <a:extLst>
                  <a:ext uri="{FF2B5EF4-FFF2-40B4-BE49-F238E27FC236}">
                    <a16:creationId xmlns:a16="http://schemas.microsoft.com/office/drawing/2014/main" id="{782A9CC6-E0F1-46EF-ADE6-67F032EE4653}"/>
                  </a:ext>
                </a:extLst>
              </p:cNvPr>
              <p:cNvSpPr>
                <a:spLocks noChangeShapeType="1"/>
              </p:cNvSpPr>
              <p:nvPr/>
            </p:nvSpPr>
            <p:spPr bwMode="auto">
              <a:xfrm>
                <a:off x="4059" y="3793"/>
                <a:ext cx="22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6" name="Line 85">
                <a:extLst>
                  <a:ext uri="{FF2B5EF4-FFF2-40B4-BE49-F238E27FC236}">
                    <a16:creationId xmlns:a16="http://schemas.microsoft.com/office/drawing/2014/main" id="{A4BC9552-9497-42B2-A12D-5AF55DA8A886}"/>
                  </a:ext>
                </a:extLst>
              </p:cNvPr>
              <p:cNvSpPr>
                <a:spLocks noChangeShapeType="1"/>
              </p:cNvSpPr>
              <p:nvPr/>
            </p:nvSpPr>
            <p:spPr bwMode="auto">
              <a:xfrm>
                <a:off x="4286" y="3793"/>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158806" name="Text Box 86">
            <a:extLst>
              <a:ext uri="{FF2B5EF4-FFF2-40B4-BE49-F238E27FC236}">
                <a16:creationId xmlns:a16="http://schemas.microsoft.com/office/drawing/2014/main" id="{73552EC0-A37C-4B9B-A10D-07432221F6D5}"/>
              </a:ext>
            </a:extLst>
          </p:cNvPr>
          <p:cNvSpPr txBox="1">
            <a:spLocks noChangeArrowheads="1"/>
          </p:cNvSpPr>
          <p:nvPr/>
        </p:nvSpPr>
        <p:spPr bwMode="auto">
          <a:xfrm>
            <a:off x="323850" y="3429000"/>
            <a:ext cx="1260475" cy="1014413"/>
          </a:xfrm>
          <a:prstGeom prst="rect">
            <a:avLst/>
          </a:prstGeom>
          <a:solidFill>
            <a:srgbClr val="FFCC99"/>
          </a:solidFill>
          <a:ln w="952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solidFill>
                  <a:srgbClr val="0000FF"/>
                </a:solidFill>
                <a:latin typeface="Times New Roman" panose="02020603050405020304" pitchFamily="18" charset="0"/>
                <a:ea typeface="黑体" panose="02010609060101010101" pitchFamily="49" charset="-122"/>
              </a:rPr>
              <a:t>Vo=</a:t>
            </a:r>
          </a:p>
          <a:p>
            <a:pPr eaLnBrk="1" hangingPunct="1">
              <a:spcBef>
                <a:spcPct val="50000"/>
              </a:spcBef>
              <a:buClrTx/>
              <a:buSzTx/>
              <a:buFontTx/>
              <a:buNone/>
            </a:pPr>
            <a:r>
              <a:rPr lang="en-US" altLang="zh-CN" sz="2400">
                <a:solidFill>
                  <a:srgbClr val="0000FF"/>
                </a:solidFill>
                <a:latin typeface="Times New Roman" panose="02020603050405020304" pitchFamily="18" charset="0"/>
                <a:ea typeface="黑体" panose="02010609060101010101" pitchFamily="49" charset="-122"/>
              </a:rPr>
              <a:t>Vmax/2</a:t>
            </a:r>
          </a:p>
        </p:txBody>
      </p:sp>
      <p:sp>
        <p:nvSpPr>
          <p:cNvPr id="158807" name="Text Box 87">
            <a:extLst>
              <a:ext uri="{FF2B5EF4-FFF2-40B4-BE49-F238E27FC236}">
                <a16:creationId xmlns:a16="http://schemas.microsoft.com/office/drawing/2014/main" id="{659D3503-F9AB-4328-9F12-FD321C3295D5}"/>
              </a:ext>
            </a:extLst>
          </p:cNvPr>
          <p:cNvSpPr txBox="1">
            <a:spLocks noChangeArrowheads="1"/>
          </p:cNvSpPr>
          <p:nvPr/>
        </p:nvSpPr>
        <p:spPr bwMode="auto">
          <a:xfrm>
            <a:off x="4572000" y="3644900"/>
            <a:ext cx="1512888" cy="588963"/>
          </a:xfrm>
          <a:prstGeom prst="rect">
            <a:avLst/>
          </a:prstGeom>
          <a:solidFill>
            <a:srgbClr val="FFCC99"/>
          </a:solidFill>
          <a:ln w="9525" algn="ctr">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dirty="0">
                <a:solidFill>
                  <a:srgbClr val="000000"/>
                </a:solidFill>
                <a:latin typeface="Times New Roman" panose="02020603050405020304" pitchFamily="18" charset="0"/>
                <a:ea typeface="黑体" panose="02010609060101010101" pitchFamily="49" charset="-122"/>
              </a:rPr>
              <a:t>X</a:t>
            </a:r>
            <a:r>
              <a:rPr lang="en-US" altLang="zh-CN" dirty="0">
                <a:solidFill>
                  <a:srgbClr val="FF0000"/>
                </a:solidFill>
                <a:latin typeface="Times New Roman" panose="02020603050405020304" pitchFamily="18" charset="0"/>
                <a:ea typeface="黑体" panose="02010609060101010101" pitchFamily="49" charset="-122"/>
              </a:rPr>
              <a:t>1</a:t>
            </a:r>
            <a:r>
              <a:rPr lang="en-US" altLang="zh-CN" dirty="0">
                <a:solidFill>
                  <a:srgbClr val="000000"/>
                </a:solidFill>
                <a:latin typeface="Times New Roman" panose="02020603050405020304" pitchFamily="18" charset="0"/>
                <a:ea typeface="黑体" panose="02010609060101010101" pitchFamily="49" charset="-122"/>
              </a:rPr>
              <a:t>..00</a:t>
            </a:r>
          </a:p>
        </p:txBody>
      </p:sp>
      <p:sp>
        <p:nvSpPr>
          <p:cNvPr id="158808" name="Text Box 88">
            <a:extLst>
              <a:ext uri="{FF2B5EF4-FFF2-40B4-BE49-F238E27FC236}">
                <a16:creationId xmlns:a16="http://schemas.microsoft.com/office/drawing/2014/main" id="{970379CC-4D50-473B-A179-D47E198B35D7}"/>
              </a:ext>
            </a:extLst>
          </p:cNvPr>
          <p:cNvSpPr txBox="1">
            <a:spLocks noChangeArrowheads="1"/>
          </p:cNvSpPr>
          <p:nvPr/>
        </p:nvSpPr>
        <p:spPr bwMode="auto">
          <a:xfrm>
            <a:off x="8675688" y="2276475"/>
            <a:ext cx="3952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2</a:t>
            </a:r>
          </a:p>
        </p:txBody>
      </p:sp>
      <p:grpSp>
        <p:nvGrpSpPr>
          <p:cNvPr id="158809" name="Group 89">
            <a:extLst>
              <a:ext uri="{FF2B5EF4-FFF2-40B4-BE49-F238E27FC236}">
                <a16:creationId xmlns:a16="http://schemas.microsoft.com/office/drawing/2014/main" id="{79954F3E-488B-490A-BFFD-8CE79AD716E6}"/>
              </a:ext>
            </a:extLst>
          </p:cNvPr>
          <p:cNvGrpSpPr>
            <a:grpSpLocks/>
          </p:cNvGrpSpPr>
          <p:nvPr/>
        </p:nvGrpSpPr>
        <p:grpSpPr bwMode="auto">
          <a:xfrm>
            <a:off x="2655888" y="2795588"/>
            <a:ext cx="1625600" cy="1497012"/>
            <a:chOff x="1673" y="1761"/>
            <a:chExt cx="1024" cy="943"/>
          </a:xfrm>
        </p:grpSpPr>
        <p:sp>
          <p:nvSpPr>
            <p:cNvPr id="35877" name="Line 90">
              <a:extLst>
                <a:ext uri="{FF2B5EF4-FFF2-40B4-BE49-F238E27FC236}">
                  <a16:creationId xmlns:a16="http://schemas.microsoft.com/office/drawing/2014/main" id="{511F0ABB-9B90-4562-9540-6E95417DB29C}"/>
                </a:ext>
              </a:extLst>
            </p:cNvPr>
            <p:cNvSpPr>
              <a:spLocks noChangeShapeType="1"/>
            </p:cNvSpPr>
            <p:nvPr/>
          </p:nvSpPr>
          <p:spPr bwMode="auto">
            <a:xfrm flipH="1">
              <a:off x="1692" y="2523"/>
              <a:ext cx="1004" cy="0"/>
            </a:xfrm>
            <a:prstGeom prst="line">
              <a:avLst/>
            </a:prstGeom>
            <a:noFill/>
            <a:ln w="412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8" name="Line 91">
              <a:extLst>
                <a:ext uri="{FF2B5EF4-FFF2-40B4-BE49-F238E27FC236}">
                  <a16:creationId xmlns:a16="http://schemas.microsoft.com/office/drawing/2014/main" id="{A2BFEB4B-C0ED-4D4A-936C-A0E756BC0250}"/>
                </a:ext>
              </a:extLst>
            </p:cNvPr>
            <p:cNvSpPr>
              <a:spLocks noChangeShapeType="1"/>
            </p:cNvSpPr>
            <p:nvPr/>
          </p:nvSpPr>
          <p:spPr bwMode="auto">
            <a:xfrm flipH="1">
              <a:off x="1673" y="1988"/>
              <a:ext cx="1004" cy="0"/>
            </a:xfrm>
            <a:prstGeom prst="line">
              <a:avLst/>
            </a:prstGeom>
            <a:noFill/>
            <a:ln w="412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9" name="Line 92">
              <a:extLst>
                <a:ext uri="{FF2B5EF4-FFF2-40B4-BE49-F238E27FC236}">
                  <a16:creationId xmlns:a16="http://schemas.microsoft.com/office/drawing/2014/main" id="{F92A57D9-E601-48AA-9B20-4A46BA761307}"/>
                </a:ext>
              </a:extLst>
            </p:cNvPr>
            <p:cNvSpPr>
              <a:spLocks noChangeShapeType="1"/>
            </p:cNvSpPr>
            <p:nvPr/>
          </p:nvSpPr>
          <p:spPr bwMode="auto">
            <a:xfrm flipH="1">
              <a:off x="1693" y="2704"/>
              <a:ext cx="1004" cy="0"/>
            </a:xfrm>
            <a:prstGeom prst="line">
              <a:avLst/>
            </a:prstGeom>
            <a:noFill/>
            <a:ln w="412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80" name="Line 93">
              <a:extLst>
                <a:ext uri="{FF2B5EF4-FFF2-40B4-BE49-F238E27FC236}">
                  <a16:creationId xmlns:a16="http://schemas.microsoft.com/office/drawing/2014/main" id="{7156F8BB-6CDE-4FA7-B9D2-BBFECDD9778D}"/>
                </a:ext>
              </a:extLst>
            </p:cNvPr>
            <p:cNvSpPr>
              <a:spLocks noChangeShapeType="1"/>
            </p:cNvSpPr>
            <p:nvPr/>
          </p:nvSpPr>
          <p:spPr bwMode="auto">
            <a:xfrm flipH="1">
              <a:off x="1673" y="1761"/>
              <a:ext cx="1004" cy="0"/>
            </a:xfrm>
            <a:prstGeom prst="line">
              <a:avLst/>
            </a:prstGeom>
            <a:noFill/>
            <a:ln w="412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8814" name="Group 94">
            <a:extLst>
              <a:ext uri="{FF2B5EF4-FFF2-40B4-BE49-F238E27FC236}">
                <a16:creationId xmlns:a16="http://schemas.microsoft.com/office/drawing/2014/main" id="{826A9859-FBF8-40F0-97B3-0795E2322A57}"/>
              </a:ext>
            </a:extLst>
          </p:cNvPr>
          <p:cNvGrpSpPr>
            <a:grpSpLocks/>
          </p:cNvGrpSpPr>
          <p:nvPr/>
        </p:nvGrpSpPr>
        <p:grpSpPr bwMode="auto">
          <a:xfrm>
            <a:off x="7885113" y="1628775"/>
            <a:ext cx="719137" cy="1300163"/>
            <a:chOff x="4967" y="1026"/>
            <a:chExt cx="453" cy="819"/>
          </a:xfrm>
        </p:grpSpPr>
        <p:grpSp>
          <p:nvGrpSpPr>
            <p:cNvPr id="35873" name="Group 95">
              <a:extLst>
                <a:ext uri="{FF2B5EF4-FFF2-40B4-BE49-F238E27FC236}">
                  <a16:creationId xmlns:a16="http://schemas.microsoft.com/office/drawing/2014/main" id="{3940693D-74CA-4AC4-AE1C-D00921B06DBF}"/>
                </a:ext>
              </a:extLst>
            </p:cNvPr>
            <p:cNvGrpSpPr>
              <a:grpSpLocks/>
            </p:cNvGrpSpPr>
            <p:nvPr/>
          </p:nvGrpSpPr>
          <p:grpSpPr bwMode="auto">
            <a:xfrm>
              <a:off x="4967" y="1026"/>
              <a:ext cx="453" cy="590"/>
              <a:chOff x="4967" y="1026"/>
              <a:chExt cx="453" cy="590"/>
            </a:xfrm>
          </p:grpSpPr>
          <p:sp>
            <p:nvSpPr>
              <p:cNvPr id="35875" name="Line 96">
                <a:extLst>
                  <a:ext uri="{FF2B5EF4-FFF2-40B4-BE49-F238E27FC236}">
                    <a16:creationId xmlns:a16="http://schemas.microsoft.com/office/drawing/2014/main" id="{2D20627B-BE17-4825-B027-25B555F306A8}"/>
                  </a:ext>
                </a:extLst>
              </p:cNvPr>
              <p:cNvSpPr>
                <a:spLocks noChangeShapeType="1"/>
              </p:cNvSpPr>
              <p:nvPr/>
            </p:nvSpPr>
            <p:spPr bwMode="auto">
              <a:xfrm>
                <a:off x="4967" y="1026"/>
                <a:ext cx="0" cy="590"/>
              </a:xfrm>
              <a:prstGeom prst="line">
                <a:avLst/>
              </a:prstGeom>
              <a:noFill/>
              <a:ln w="539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876" name="Line 97">
                <a:extLst>
                  <a:ext uri="{FF2B5EF4-FFF2-40B4-BE49-F238E27FC236}">
                    <a16:creationId xmlns:a16="http://schemas.microsoft.com/office/drawing/2014/main" id="{05FE16A3-03E3-47DF-B451-F001C5754A0D}"/>
                  </a:ext>
                </a:extLst>
              </p:cNvPr>
              <p:cNvSpPr>
                <a:spLocks noChangeShapeType="1"/>
              </p:cNvSpPr>
              <p:nvPr/>
            </p:nvSpPr>
            <p:spPr bwMode="auto">
              <a:xfrm>
                <a:off x="5420" y="1071"/>
                <a:ext cx="0" cy="545"/>
              </a:xfrm>
              <a:prstGeom prst="line">
                <a:avLst/>
              </a:prstGeom>
              <a:noFill/>
              <a:ln w="53975">
                <a:solidFill>
                  <a:srgbClr val="FF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5874" name="Text Box 98">
              <a:extLst>
                <a:ext uri="{FF2B5EF4-FFF2-40B4-BE49-F238E27FC236}">
                  <a16:creationId xmlns:a16="http://schemas.microsoft.com/office/drawing/2014/main" id="{4BFABEA9-7A9D-4A58-9338-501592C8FA0B}"/>
                </a:ext>
              </a:extLst>
            </p:cNvPr>
            <p:cNvSpPr txBox="1">
              <a:spLocks noChangeArrowheads="1"/>
            </p:cNvSpPr>
            <p:nvPr/>
          </p:nvSpPr>
          <p:spPr bwMode="auto">
            <a:xfrm>
              <a:off x="5057" y="1480"/>
              <a:ext cx="22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a:t>
              </a:r>
            </a:p>
          </p:txBody>
        </p:sp>
      </p:grpSp>
      <p:sp>
        <p:nvSpPr>
          <p:cNvPr id="158819" name="Text Box 99">
            <a:extLst>
              <a:ext uri="{FF2B5EF4-FFF2-40B4-BE49-F238E27FC236}">
                <a16:creationId xmlns:a16="http://schemas.microsoft.com/office/drawing/2014/main" id="{8687D5CF-85BC-4CD3-8E37-6094568841AA}"/>
              </a:ext>
            </a:extLst>
          </p:cNvPr>
          <p:cNvSpPr txBox="1">
            <a:spLocks noChangeArrowheads="1"/>
          </p:cNvSpPr>
          <p:nvPr/>
        </p:nvSpPr>
        <p:spPr bwMode="auto">
          <a:xfrm>
            <a:off x="2627313" y="1644650"/>
            <a:ext cx="1728787" cy="1381125"/>
          </a:xfrm>
          <a:prstGeom prst="rect">
            <a:avLst/>
          </a:prstGeom>
          <a:solidFill>
            <a:srgbClr val="FFCC99"/>
          </a:solidFill>
          <a:ln w="41275">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200">
                <a:solidFill>
                  <a:srgbClr val="0000FF"/>
                </a:solidFill>
                <a:latin typeface="Times New Roman" panose="02020603050405020304" pitchFamily="18" charset="0"/>
                <a:ea typeface="黑体" panose="02010609060101010101" pitchFamily="49" charset="-122"/>
              </a:rPr>
              <a:t>若</a:t>
            </a:r>
            <a:r>
              <a:rPr lang="en-US" altLang="zh-CN" sz="2200">
                <a:solidFill>
                  <a:srgbClr val="0000FF"/>
                </a:solidFill>
                <a:latin typeface="Times New Roman" panose="02020603050405020304" pitchFamily="18" charset="0"/>
                <a:ea typeface="黑体" panose="02010609060101010101" pitchFamily="49" charset="-122"/>
              </a:rPr>
              <a:t>Vi≥Vo</a:t>
            </a:r>
            <a:r>
              <a:rPr lang="zh-CN" altLang="en-US" sz="2200">
                <a:solidFill>
                  <a:srgbClr val="0000FF"/>
                </a:solidFill>
                <a:latin typeface="Times New Roman" panose="02020603050405020304" pitchFamily="18" charset="0"/>
                <a:ea typeface="黑体" panose="02010609060101010101" pitchFamily="49" charset="-122"/>
              </a:rPr>
              <a:t>，置位的</a:t>
            </a:r>
            <a:r>
              <a:rPr lang="en-US" altLang="zh-CN" sz="2200">
                <a:solidFill>
                  <a:srgbClr val="0000FF"/>
                </a:solidFill>
                <a:latin typeface="Times New Roman" panose="02020603050405020304" pitchFamily="18" charset="0"/>
                <a:ea typeface="黑体" panose="02010609060101010101" pitchFamily="49" charset="-122"/>
              </a:rPr>
              <a:t>1</a:t>
            </a:r>
            <a:r>
              <a:rPr lang="zh-CN" altLang="en-US" sz="2200">
                <a:solidFill>
                  <a:srgbClr val="0000FF"/>
                </a:solidFill>
                <a:latin typeface="Times New Roman" panose="02020603050405020304" pitchFamily="18" charset="0"/>
                <a:ea typeface="黑体" panose="02010609060101010101" pitchFamily="49" charset="-122"/>
              </a:rPr>
              <a:t>保留，否则撤销（变为</a:t>
            </a:r>
            <a:r>
              <a:rPr lang="en-US" altLang="zh-CN" sz="2200">
                <a:solidFill>
                  <a:srgbClr val="0000FF"/>
                </a:solidFill>
                <a:latin typeface="Times New Roman" panose="02020603050405020304" pitchFamily="18" charset="0"/>
                <a:ea typeface="黑体" panose="02010609060101010101" pitchFamily="49" charset="-122"/>
              </a:rPr>
              <a:t>0</a:t>
            </a:r>
            <a:r>
              <a:rPr lang="zh-CN" altLang="en-US" sz="2200">
                <a:solidFill>
                  <a:srgbClr val="0000FF"/>
                </a:solidFill>
                <a:latin typeface="Times New Roman" panose="02020603050405020304" pitchFamily="18" charset="0"/>
                <a:ea typeface="黑体" panose="02010609060101010101" pitchFamily="49" charset="-122"/>
              </a:rPr>
              <a:t>）</a:t>
            </a: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58762"/>
                                        </p:tgtEl>
                                        <p:attrNameLst>
                                          <p:attrName>style.visibility</p:attrName>
                                        </p:attrNameLst>
                                      </p:cBhvr>
                                      <p:to>
                                        <p:strVal val="visible"/>
                                      </p:to>
                                    </p:set>
                                    <p:animEffect transition="in" filter="diamond(in)">
                                      <p:cBhvr>
                                        <p:cTn id="7" dur="500"/>
                                        <p:tgtEl>
                                          <p:spTgt spid="158762"/>
                                        </p:tgtEl>
                                      </p:cBhvr>
                                    </p:animEffect>
                                  </p:childTnLst>
                                </p:cTn>
                              </p:par>
                            </p:childTnLst>
                          </p:cTn>
                        </p:par>
                        <p:par>
                          <p:cTn id="8" fill="hold" nodeType="afterGroup">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58790"/>
                                        </p:tgtEl>
                                        <p:attrNameLst>
                                          <p:attrName>style.visibility</p:attrName>
                                        </p:attrNameLst>
                                      </p:cBhvr>
                                      <p:to>
                                        <p:strVal val="visible"/>
                                      </p:to>
                                    </p:set>
                                    <p:animEffect transition="in" filter="wipe(down)">
                                      <p:cBhvr>
                                        <p:cTn id="11" dur="500"/>
                                        <p:tgtEl>
                                          <p:spTgt spid="15879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8" presetClass="entr" presetSubtype="16" fill="hold" nodeType="clickEffect">
                                  <p:stCondLst>
                                    <p:cond delay="0"/>
                                  </p:stCondLst>
                                  <p:childTnLst>
                                    <p:set>
                                      <p:cBhvr>
                                        <p:cTn id="15" dur="1" fill="hold">
                                          <p:stCondLst>
                                            <p:cond delay="0"/>
                                          </p:stCondLst>
                                        </p:cTn>
                                        <p:tgtEl>
                                          <p:spTgt spid="158726"/>
                                        </p:tgtEl>
                                        <p:attrNameLst>
                                          <p:attrName>style.visibility</p:attrName>
                                        </p:attrNameLst>
                                      </p:cBhvr>
                                      <p:to>
                                        <p:strVal val="visible"/>
                                      </p:to>
                                    </p:set>
                                    <p:animEffect transition="in" filter="diamond(in)">
                                      <p:cBhvr>
                                        <p:cTn id="16" dur="500"/>
                                        <p:tgtEl>
                                          <p:spTgt spid="15872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nodeType="clickEffect">
                                  <p:stCondLst>
                                    <p:cond delay="0"/>
                                  </p:stCondLst>
                                  <p:childTnLst>
                                    <p:set>
                                      <p:cBhvr>
                                        <p:cTn id="20" dur="1" fill="hold">
                                          <p:stCondLst>
                                            <p:cond delay="0"/>
                                          </p:stCondLst>
                                        </p:cTn>
                                        <p:tgtEl>
                                          <p:spTgt spid="158723"/>
                                        </p:tgtEl>
                                        <p:attrNameLst>
                                          <p:attrName>style.visibility</p:attrName>
                                        </p:attrNameLst>
                                      </p:cBhvr>
                                      <p:to>
                                        <p:strVal val="visible"/>
                                      </p:to>
                                    </p:set>
                                    <p:animEffect transition="in" filter="box(in)">
                                      <p:cBhvr>
                                        <p:cTn id="21" dur="500"/>
                                        <p:tgtEl>
                                          <p:spTgt spid="15872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58729"/>
                                        </p:tgtEl>
                                        <p:attrNameLst>
                                          <p:attrName>style.visibility</p:attrName>
                                        </p:attrNameLst>
                                      </p:cBhvr>
                                      <p:to>
                                        <p:strVal val="visible"/>
                                      </p:to>
                                    </p:set>
                                    <p:animEffect transition="in" filter="blinds(horizontal)">
                                      <p:cBhvr>
                                        <p:cTn id="26" dur="500"/>
                                        <p:tgtEl>
                                          <p:spTgt spid="15872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58741"/>
                                        </p:tgtEl>
                                        <p:attrNameLst>
                                          <p:attrName>style.visibility</p:attrName>
                                        </p:attrNameLst>
                                      </p:cBhvr>
                                      <p:to>
                                        <p:strVal val="visible"/>
                                      </p:to>
                                    </p:set>
                                    <p:animEffect transition="in" filter="box(in)">
                                      <p:cBhvr>
                                        <p:cTn id="31" dur="500"/>
                                        <p:tgtEl>
                                          <p:spTgt spid="15874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158753"/>
                                        </p:tgtEl>
                                        <p:attrNameLst>
                                          <p:attrName>style.visibility</p:attrName>
                                        </p:attrNameLst>
                                      </p:cBhvr>
                                      <p:to>
                                        <p:strVal val="visible"/>
                                      </p:to>
                                    </p:set>
                                    <p:animEffect transition="in" filter="wipe(left)">
                                      <p:cBhvr>
                                        <p:cTn id="36" dur="500"/>
                                        <p:tgtEl>
                                          <p:spTgt spid="15875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58789"/>
                                        </p:tgtEl>
                                        <p:attrNameLst>
                                          <p:attrName>style.visibility</p:attrName>
                                        </p:attrNameLst>
                                      </p:cBhvr>
                                      <p:to>
                                        <p:strVal val="visible"/>
                                      </p:to>
                                    </p:set>
                                    <p:animEffect transition="in" filter="wipe(down)">
                                      <p:cBhvr>
                                        <p:cTn id="41" dur="500"/>
                                        <p:tgtEl>
                                          <p:spTgt spid="15878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58761"/>
                                        </p:tgtEl>
                                        <p:attrNameLst>
                                          <p:attrName>style.visibility</p:attrName>
                                        </p:attrNameLst>
                                      </p:cBhvr>
                                      <p:to>
                                        <p:strVal val="visible"/>
                                      </p:to>
                                    </p:set>
                                    <p:animEffect transition="in" filter="wipe(left)">
                                      <p:cBhvr>
                                        <p:cTn id="46" dur="500"/>
                                        <p:tgtEl>
                                          <p:spTgt spid="15876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58782"/>
                                        </p:tgtEl>
                                        <p:attrNameLst>
                                          <p:attrName>style.visibility</p:attrName>
                                        </p:attrNameLst>
                                      </p:cBhvr>
                                      <p:to>
                                        <p:strVal val="visible"/>
                                      </p:to>
                                    </p:set>
                                    <p:animEffect transition="in" filter="wipe(up)">
                                      <p:cBhvr>
                                        <p:cTn id="51" dur="500"/>
                                        <p:tgtEl>
                                          <p:spTgt spid="15878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2" fill="hold" nodeType="clickEffect">
                                  <p:stCondLst>
                                    <p:cond delay="0"/>
                                  </p:stCondLst>
                                  <p:childTnLst>
                                    <p:set>
                                      <p:cBhvr>
                                        <p:cTn id="55" dur="1" fill="hold">
                                          <p:stCondLst>
                                            <p:cond delay="0"/>
                                          </p:stCondLst>
                                        </p:cTn>
                                        <p:tgtEl>
                                          <p:spTgt spid="158742"/>
                                        </p:tgtEl>
                                        <p:attrNameLst>
                                          <p:attrName>style.visibility</p:attrName>
                                        </p:attrNameLst>
                                      </p:cBhvr>
                                      <p:to>
                                        <p:strVal val="visible"/>
                                      </p:to>
                                    </p:set>
                                    <p:animEffect transition="in" filter="wipe(right)">
                                      <p:cBhvr>
                                        <p:cTn id="56" dur="500"/>
                                        <p:tgtEl>
                                          <p:spTgt spid="15874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nodeType="clickEffect">
                                  <p:stCondLst>
                                    <p:cond delay="0"/>
                                  </p:stCondLst>
                                  <p:childTnLst>
                                    <p:set>
                                      <p:cBhvr>
                                        <p:cTn id="60" dur="1" fill="hold">
                                          <p:stCondLst>
                                            <p:cond delay="0"/>
                                          </p:stCondLst>
                                        </p:cTn>
                                        <p:tgtEl>
                                          <p:spTgt spid="158756"/>
                                        </p:tgtEl>
                                        <p:attrNameLst>
                                          <p:attrName>style.visibility</p:attrName>
                                        </p:attrNameLst>
                                      </p:cBhvr>
                                      <p:to>
                                        <p:strVal val="visible"/>
                                      </p:to>
                                    </p:set>
                                    <p:animEffect transition="in" filter="wipe(down)">
                                      <p:cBhvr>
                                        <p:cTn id="61" dur="500"/>
                                        <p:tgtEl>
                                          <p:spTgt spid="15875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158735"/>
                                        </p:tgtEl>
                                        <p:attrNameLst>
                                          <p:attrName>style.visibility</p:attrName>
                                        </p:attrNameLst>
                                      </p:cBhvr>
                                      <p:to>
                                        <p:strVal val="visible"/>
                                      </p:to>
                                    </p:set>
                                    <p:animEffect transition="in" filter="wipe(down)">
                                      <p:cBhvr>
                                        <p:cTn id="66" dur="500"/>
                                        <p:tgtEl>
                                          <p:spTgt spid="15873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158795"/>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2" fill="hold" nodeType="clickEffect">
                                  <p:stCondLst>
                                    <p:cond delay="0"/>
                                  </p:stCondLst>
                                  <p:childTnLst>
                                    <p:set>
                                      <p:cBhvr>
                                        <p:cTn id="74" dur="1" fill="hold">
                                          <p:stCondLst>
                                            <p:cond delay="0"/>
                                          </p:stCondLst>
                                        </p:cTn>
                                        <p:tgtEl>
                                          <p:spTgt spid="158732"/>
                                        </p:tgtEl>
                                        <p:attrNameLst>
                                          <p:attrName>style.visibility</p:attrName>
                                        </p:attrNameLst>
                                      </p:cBhvr>
                                      <p:to>
                                        <p:strVal val="visible"/>
                                      </p:to>
                                    </p:set>
                                    <p:animEffect transition="in" filter="wipe(right)">
                                      <p:cBhvr>
                                        <p:cTn id="75" dur="500"/>
                                        <p:tgtEl>
                                          <p:spTgt spid="158732"/>
                                        </p:tgtEl>
                                      </p:cBhvr>
                                    </p:animEffect>
                                  </p:childTnLst>
                                </p:cTn>
                              </p:par>
                            </p:childTnLst>
                          </p:cTn>
                        </p:par>
                        <p:par>
                          <p:cTn id="76" fill="hold" nodeType="afterGroup">
                            <p:stCondLst>
                              <p:cond delay="500"/>
                            </p:stCondLst>
                            <p:childTnLst>
                              <p:par>
                                <p:cTn id="77" presetID="8" presetClass="entr" presetSubtype="16" fill="hold" nodeType="afterEffect">
                                  <p:stCondLst>
                                    <p:cond delay="0"/>
                                  </p:stCondLst>
                                  <p:childTnLst>
                                    <p:set>
                                      <p:cBhvr>
                                        <p:cTn id="78" dur="1" fill="hold">
                                          <p:stCondLst>
                                            <p:cond delay="0"/>
                                          </p:stCondLst>
                                        </p:cTn>
                                        <p:tgtEl>
                                          <p:spTgt spid="158783"/>
                                        </p:tgtEl>
                                        <p:attrNameLst>
                                          <p:attrName>style.visibility</p:attrName>
                                        </p:attrNameLst>
                                      </p:cBhvr>
                                      <p:to>
                                        <p:strVal val="visible"/>
                                      </p:to>
                                    </p:set>
                                    <p:animEffect transition="in" filter="diamond(in)">
                                      <p:cBhvr>
                                        <p:cTn id="79" dur="500"/>
                                        <p:tgtEl>
                                          <p:spTgt spid="158783"/>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158791"/>
                                        </p:tgtEl>
                                        <p:attrNameLst>
                                          <p:attrName>style.visibility</p:attrName>
                                        </p:attrNameLst>
                                      </p:cBhvr>
                                      <p:to>
                                        <p:strVal val="visible"/>
                                      </p:to>
                                    </p:set>
                                    <p:animEffect transition="in" filter="wipe(down)">
                                      <p:cBhvr>
                                        <p:cTn id="84" dur="500"/>
                                        <p:tgtEl>
                                          <p:spTgt spid="15879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58792"/>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1" fill="hold" nodeType="clickEffect">
                                  <p:stCondLst>
                                    <p:cond delay="0"/>
                                  </p:stCondLst>
                                  <p:childTnLst>
                                    <p:set>
                                      <p:cBhvr>
                                        <p:cTn id="92" dur="1" fill="hold">
                                          <p:stCondLst>
                                            <p:cond delay="0"/>
                                          </p:stCondLst>
                                        </p:cTn>
                                        <p:tgtEl>
                                          <p:spTgt spid="158793"/>
                                        </p:tgtEl>
                                        <p:attrNameLst>
                                          <p:attrName>style.visibility</p:attrName>
                                        </p:attrNameLst>
                                      </p:cBhvr>
                                      <p:to>
                                        <p:strVal val="visible"/>
                                      </p:to>
                                    </p:set>
                                    <p:animEffect transition="in" filter="wipe(up)">
                                      <p:cBhvr>
                                        <p:cTn id="93" dur="500"/>
                                        <p:tgtEl>
                                          <p:spTgt spid="158793"/>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4" presetClass="entr" presetSubtype="16" fill="hold" nodeType="clickEffect">
                                  <p:stCondLst>
                                    <p:cond delay="0"/>
                                  </p:stCondLst>
                                  <p:childTnLst>
                                    <p:set>
                                      <p:cBhvr>
                                        <p:cTn id="97" dur="1" fill="hold">
                                          <p:stCondLst>
                                            <p:cond delay="0"/>
                                          </p:stCondLst>
                                        </p:cTn>
                                        <p:tgtEl>
                                          <p:spTgt spid="158814"/>
                                        </p:tgtEl>
                                        <p:attrNameLst>
                                          <p:attrName>style.visibility</p:attrName>
                                        </p:attrNameLst>
                                      </p:cBhvr>
                                      <p:to>
                                        <p:strVal val="visible"/>
                                      </p:to>
                                    </p:set>
                                    <p:animEffect transition="in" filter="box(in)">
                                      <p:cBhvr>
                                        <p:cTn id="98" dur="500"/>
                                        <p:tgtEl>
                                          <p:spTgt spid="15881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58794"/>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2" fill="hold" nodeType="clickEffect">
                                  <p:stCondLst>
                                    <p:cond delay="0"/>
                                  </p:stCondLst>
                                  <p:childTnLst>
                                    <p:set>
                                      <p:cBhvr>
                                        <p:cTn id="106" dur="1" fill="hold">
                                          <p:stCondLst>
                                            <p:cond delay="0"/>
                                          </p:stCondLst>
                                        </p:cTn>
                                        <p:tgtEl>
                                          <p:spTgt spid="158809"/>
                                        </p:tgtEl>
                                        <p:attrNameLst>
                                          <p:attrName>style.visibility</p:attrName>
                                        </p:attrNameLst>
                                      </p:cBhvr>
                                      <p:to>
                                        <p:strVal val="visible"/>
                                      </p:to>
                                    </p:set>
                                    <p:animEffect transition="in" filter="wipe(right)">
                                      <p:cBhvr>
                                        <p:cTn id="107" dur="500"/>
                                        <p:tgtEl>
                                          <p:spTgt spid="15880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158806"/>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158819"/>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4" presetClass="entr" presetSubtype="16" fill="hold" grpId="0" nodeType="clickEffect">
                                  <p:stCondLst>
                                    <p:cond delay="0"/>
                                  </p:stCondLst>
                                  <p:childTnLst>
                                    <p:set>
                                      <p:cBhvr>
                                        <p:cTn id="119" dur="1" fill="hold">
                                          <p:stCondLst>
                                            <p:cond delay="0"/>
                                          </p:stCondLst>
                                        </p:cTn>
                                        <p:tgtEl>
                                          <p:spTgt spid="158808"/>
                                        </p:tgtEl>
                                        <p:attrNameLst>
                                          <p:attrName>style.visibility</p:attrName>
                                        </p:attrNameLst>
                                      </p:cBhvr>
                                      <p:to>
                                        <p:strVal val="visible"/>
                                      </p:to>
                                    </p:set>
                                    <p:animEffect transition="in" filter="box(in)">
                                      <p:cBhvr>
                                        <p:cTn id="120" dur="500"/>
                                        <p:tgtEl>
                                          <p:spTgt spid="158808"/>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58807"/>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2" presetClass="entr" presetSubtype="8" fill="hold" nodeType="clickEffect">
                                  <p:stCondLst>
                                    <p:cond delay="0"/>
                                  </p:stCondLst>
                                  <p:childTnLst>
                                    <p:set>
                                      <p:cBhvr>
                                        <p:cTn id="128" dur="1" fill="hold">
                                          <p:stCondLst>
                                            <p:cond delay="0"/>
                                          </p:stCondLst>
                                        </p:cTn>
                                        <p:tgtEl>
                                          <p:spTgt spid="158777"/>
                                        </p:tgtEl>
                                        <p:attrNameLst>
                                          <p:attrName>style.visibility</p:attrName>
                                        </p:attrNameLst>
                                      </p:cBhvr>
                                      <p:to>
                                        <p:strVal val="visible"/>
                                      </p:to>
                                    </p:set>
                                    <p:animEffect transition="in" filter="wipe(left)">
                                      <p:cBhvr>
                                        <p:cTn id="129" dur="500"/>
                                        <p:tgtEl>
                                          <p:spTgt spid="158777"/>
                                        </p:tgtEl>
                                      </p:cBhvr>
                                    </p:animEffect>
                                  </p:childTnLst>
                                </p:cTn>
                              </p:par>
                            </p:childTnLst>
                          </p:cTn>
                        </p:par>
                      </p:childTnLst>
                    </p:cTn>
                  </p:par>
                  <p:par>
                    <p:cTn id="130" fill="hold" nodeType="clickPar">
                      <p:stCondLst>
                        <p:cond delay="indefinite"/>
                      </p:stCondLst>
                      <p:childTnLst>
                        <p:par>
                          <p:cTn id="131" fill="hold" nodeType="withGroup">
                            <p:stCondLst>
                              <p:cond delay="0"/>
                            </p:stCondLst>
                            <p:childTnLst>
                              <p:par>
                                <p:cTn id="132" presetID="22" presetClass="entr" presetSubtype="1" fill="hold" nodeType="clickEffect">
                                  <p:stCondLst>
                                    <p:cond delay="0"/>
                                  </p:stCondLst>
                                  <p:childTnLst>
                                    <p:set>
                                      <p:cBhvr>
                                        <p:cTn id="133" dur="1" fill="hold">
                                          <p:stCondLst>
                                            <p:cond delay="0"/>
                                          </p:stCondLst>
                                        </p:cTn>
                                        <p:tgtEl>
                                          <p:spTgt spid="158748"/>
                                        </p:tgtEl>
                                        <p:attrNameLst>
                                          <p:attrName>style.visibility</p:attrName>
                                        </p:attrNameLst>
                                      </p:cBhvr>
                                      <p:to>
                                        <p:strVal val="visible"/>
                                      </p:to>
                                    </p:set>
                                    <p:animEffect transition="in" filter="wipe(up)">
                                      <p:cBhvr>
                                        <p:cTn id="134" dur="500"/>
                                        <p:tgtEl>
                                          <p:spTgt spid="158748"/>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3" presetClass="entr" presetSubtype="10" fill="hold" nodeType="clickEffect">
                                  <p:stCondLst>
                                    <p:cond delay="0"/>
                                  </p:stCondLst>
                                  <p:childTnLst>
                                    <p:set>
                                      <p:cBhvr>
                                        <p:cTn id="138" dur="1" fill="hold">
                                          <p:stCondLst>
                                            <p:cond delay="0"/>
                                          </p:stCondLst>
                                        </p:cTn>
                                        <p:tgtEl>
                                          <p:spTgt spid="158770"/>
                                        </p:tgtEl>
                                        <p:attrNameLst>
                                          <p:attrName>style.visibility</p:attrName>
                                        </p:attrNameLst>
                                      </p:cBhvr>
                                      <p:to>
                                        <p:strVal val="visible"/>
                                      </p:to>
                                    </p:set>
                                    <p:animEffect transition="in" filter="blinds(horizontal)">
                                      <p:cBhvr>
                                        <p:cTn id="139" dur="500"/>
                                        <p:tgtEl>
                                          <p:spTgt spid="158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41" grpId="0" animBg="1"/>
      <p:bldP spid="158789" grpId="0" animBg="1"/>
      <p:bldP spid="158790" grpId="0"/>
      <p:bldP spid="158792" grpId="0" animBg="1"/>
      <p:bldP spid="158794" grpId="0" animBg="1"/>
      <p:bldP spid="158806" grpId="0" animBg="1"/>
      <p:bldP spid="158807" grpId="0" animBg="1"/>
      <p:bldP spid="158808" grpId="0"/>
      <p:bldP spid="15881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a:extLst>
              <a:ext uri="{FF2B5EF4-FFF2-40B4-BE49-F238E27FC236}">
                <a16:creationId xmlns:a16="http://schemas.microsoft.com/office/drawing/2014/main" id="{E8EF4FA1-CA8E-4164-9972-784E48CC6C5C}"/>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2F894063-39FF-4CF0-BC4C-EA3697156B17}" type="slidenum">
              <a:rPr lang="en-US" altLang="zh-CN" b="0"/>
              <a:pPr/>
              <a:t>7</a:t>
            </a:fld>
            <a:endParaRPr lang="en-US" altLang="zh-CN" b="0"/>
          </a:p>
        </p:txBody>
      </p:sp>
      <p:sp>
        <p:nvSpPr>
          <p:cNvPr id="159746" name="Rectangle 2">
            <a:extLst>
              <a:ext uri="{FF2B5EF4-FFF2-40B4-BE49-F238E27FC236}">
                <a16:creationId xmlns:a16="http://schemas.microsoft.com/office/drawing/2014/main" id="{969DE51E-EEF7-43E3-B858-ADC49747C12E}"/>
              </a:ext>
            </a:extLst>
          </p:cNvPr>
          <p:cNvSpPr>
            <a:spLocks noGrp="1" noChangeArrowheads="1"/>
          </p:cNvSpPr>
          <p:nvPr>
            <p:ph type="body" idx="1"/>
          </p:nvPr>
        </p:nvSpPr>
        <p:spPr>
          <a:xfrm>
            <a:off x="250825" y="908050"/>
            <a:ext cx="8569325" cy="4530725"/>
          </a:xfrm>
        </p:spPr>
        <p:txBody>
          <a:bodyPr/>
          <a:lstStyle/>
          <a:p>
            <a:pPr eaLnBrk="1" hangingPunct="1">
              <a:buFont typeface="Wingdings" panose="05000000000000000000" pitchFamily="2" charset="2"/>
              <a:buNone/>
              <a:defRPr/>
            </a:pPr>
            <a:r>
              <a:rPr lang="en-US" altLang="zh-CN"/>
              <a:t>        </a:t>
            </a:r>
            <a:endParaRPr lang="en-US" altLang="zh-CN" sz="2400">
              <a:solidFill>
                <a:srgbClr val="FFFF66"/>
              </a:solidFill>
            </a:endParaRPr>
          </a:p>
        </p:txBody>
      </p:sp>
      <p:sp>
        <p:nvSpPr>
          <p:cNvPr id="36868" name="Text Box 3">
            <a:extLst>
              <a:ext uri="{FF2B5EF4-FFF2-40B4-BE49-F238E27FC236}">
                <a16:creationId xmlns:a16="http://schemas.microsoft.com/office/drawing/2014/main" id="{EA33E0CC-7895-4929-96DD-B6A18863B050}"/>
              </a:ext>
            </a:extLst>
          </p:cNvPr>
          <p:cNvSpPr txBox="1">
            <a:spLocks noChangeArrowheads="1"/>
          </p:cNvSpPr>
          <p:nvPr/>
        </p:nvSpPr>
        <p:spPr bwMode="auto">
          <a:xfrm>
            <a:off x="250825" y="404813"/>
            <a:ext cx="50403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1. </a:t>
            </a:r>
            <a:r>
              <a:rPr lang="zh-CN" altLang="en-US" sz="2800"/>
              <a:t>逐次逼近式</a:t>
            </a:r>
            <a:r>
              <a:rPr lang="en-US" altLang="zh-CN" sz="2800"/>
              <a:t>A/D</a:t>
            </a:r>
            <a:r>
              <a:rPr lang="zh-CN" altLang="en-US" sz="2800"/>
              <a:t>转换器结构</a:t>
            </a:r>
          </a:p>
        </p:txBody>
      </p:sp>
      <p:sp>
        <p:nvSpPr>
          <p:cNvPr id="159748" name="Text Box 4">
            <a:extLst>
              <a:ext uri="{FF2B5EF4-FFF2-40B4-BE49-F238E27FC236}">
                <a16:creationId xmlns:a16="http://schemas.microsoft.com/office/drawing/2014/main" id="{75ACD53A-FD69-4831-A4C4-0870FED81662}"/>
              </a:ext>
            </a:extLst>
          </p:cNvPr>
          <p:cNvSpPr txBox="1">
            <a:spLocks noChangeArrowheads="1"/>
          </p:cNvSpPr>
          <p:nvPr/>
        </p:nvSpPr>
        <p:spPr bwMode="auto">
          <a:xfrm>
            <a:off x="611188" y="1482725"/>
            <a:ext cx="8208962"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       </a:t>
            </a:r>
            <a:r>
              <a:rPr lang="zh-CN" altLang="en-US" sz="2400"/>
              <a:t>转换时，从最高位开始，通过设置试探值进行。具体来说：在第一个时钟脉冲时，控制电路将寄存器值设置为</a:t>
            </a:r>
            <a:r>
              <a:rPr lang="en-US" altLang="zh-CN" sz="2400"/>
              <a:t>10000000B</a:t>
            </a:r>
            <a:r>
              <a:rPr lang="zh-CN" altLang="en-US" sz="2400"/>
              <a:t>，</a:t>
            </a:r>
            <a:r>
              <a:rPr lang="en-US" altLang="zh-CN" sz="2400"/>
              <a:t>D/A</a:t>
            </a:r>
            <a:r>
              <a:rPr lang="zh-CN" altLang="en-US" sz="2400"/>
              <a:t>转换器输出电压成为满量程的一半，这时，若</a:t>
            </a:r>
            <a:r>
              <a:rPr lang="en-US" altLang="zh-CN" sz="2800">
                <a:latin typeface="Courier New" panose="02070309020205020404" pitchFamily="49" charset="0"/>
              </a:rPr>
              <a:t>V</a:t>
            </a:r>
            <a:r>
              <a:rPr lang="en-US" altLang="zh-CN" sz="2800" baseline="-25000">
                <a:latin typeface="Courier New" panose="02070309020205020404" pitchFamily="49" charset="0"/>
              </a:rPr>
              <a:t>o</a:t>
            </a:r>
            <a:r>
              <a:rPr lang="en-US" altLang="zh-CN" sz="2800">
                <a:latin typeface="Courier New" panose="02070309020205020404" pitchFamily="49" charset="0"/>
              </a:rPr>
              <a:t>&gt;V</a:t>
            </a:r>
            <a:r>
              <a:rPr lang="en-US" altLang="zh-CN" sz="2800" baseline="-25000">
                <a:latin typeface="Courier New" panose="02070309020205020404" pitchFamily="49" charset="0"/>
              </a:rPr>
              <a:t>i</a:t>
            </a:r>
            <a:r>
              <a:rPr lang="zh-CN" altLang="en-US" sz="2400"/>
              <a:t>，则比较器输出成为低电平，控制电路清除寄存器最高位；若</a:t>
            </a:r>
            <a:r>
              <a:rPr lang="en-US" altLang="zh-CN" sz="2800">
                <a:latin typeface="Courier New" panose="02070309020205020404" pitchFamily="49" charset="0"/>
              </a:rPr>
              <a:t>V</a:t>
            </a:r>
            <a:r>
              <a:rPr lang="en-US" altLang="zh-CN" sz="2800" baseline="-25000">
                <a:latin typeface="Courier New" panose="02070309020205020404" pitchFamily="49" charset="0"/>
              </a:rPr>
              <a:t>o</a:t>
            </a:r>
            <a:r>
              <a:rPr lang="en-US" altLang="zh-CN" sz="2800">
                <a:latin typeface="Courier New" panose="02070309020205020404" pitchFamily="49" charset="0"/>
              </a:rPr>
              <a:t>≤V</a:t>
            </a:r>
            <a:r>
              <a:rPr lang="en-US" altLang="zh-CN" sz="2800" baseline="-25000">
                <a:latin typeface="Courier New" panose="02070309020205020404" pitchFamily="49" charset="0"/>
              </a:rPr>
              <a:t>i</a:t>
            </a:r>
            <a:r>
              <a:rPr lang="zh-CN" altLang="en-US" sz="2400"/>
              <a:t>，比较器输出高电平，控制电路使最高位</a:t>
            </a:r>
            <a:r>
              <a:rPr lang="en-US" altLang="zh-CN" sz="2400"/>
              <a:t>1</a:t>
            </a:r>
            <a:r>
              <a:rPr lang="zh-CN" altLang="en-US" sz="2400"/>
              <a:t>保留下来。</a:t>
            </a:r>
          </a:p>
          <a:p>
            <a:pPr eaLnBrk="1" hangingPunct="1">
              <a:spcBef>
                <a:spcPct val="50000"/>
              </a:spcBef>
              <a:buClrTx/>
              <a:buSzTx/>
              <a:buFontTx/>
              <a:buNone/>
            </a:pPr>
            <a:endParaRPr lang="en-US" altLang="zh-CN" sz="1800" b="0"/>
          </a:p>
        </p:txBody>
      </p:sp>
      <p:sp>
        <p:nvSpPr>
          <p:cNvPr id="159749" name="Text Box 5">
            <a:extLst>
              <a:ext uri="{FF2B5EF4-FFF2-40B4-BE49-F238E27FC236}">
                <a16:creationId xmlns:a16="http://schemas.microsoft.com/office/drawing/2014/main" id="{A31B4FD4-4DF8-41DA-8FE6-3F89C4A69B9F}"/>
              </a:ext>
            </a:extLst>
          </p:cNvPr>
          <p:cNvSpPr txBox="1">
            <a:spLocks noChangeArrowheads="1"/>
          </p:cNvSpPr>
          <p:nvPr/>
        </p:nvSpPr>
        <p:spPr bwMode="auto">
          <a:xfrm>
            <a:off x="250825" y="1525588"/>
            <a:ext cx="82073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       </a:t>
            </a:r>
            <a:r>
              <a:rPr lang="zh-CN" altLang="en-US" sz="2400"/>
              <a:t>当出现启动信号（正脉冲）时，寄存器清</a:t>
            </a:r>
            <a:r>
              <a:rPr lang="en-US" altLang="zh-CN" sz="2400"/>
              <a:t>0</a:t>
            </a:r>
            <a:r>
              <a:rPr lang="zh-CN" altLang="en-US" sz="2400"/>
              <a:t>，此时</a:t>
            </a:r>
            <a:r>
              <a:rPr lang="en-US" altLang="zh-CN" sz="2400"/>
              <a:t>D/A</a:t>
            </a:r>
            <a:r>
              <a:rPr lang="zh-CN" altLang="en-US" sz="2400"/>
              <a:t>输出电压为</a:t>
            </a:r>
            <a:r>
              <a:rPr lang="en-US" altLang="zh-CN" sz="2400"/>
              <a:t>0</a:t>
            </a:r>
            <a:r>
              <a:rPr lang="zh-CN" altLang="en-US" sz="2400"/>
              <a:t>，在启动信号的后沿，转换开始。</a:t>
            </a:r>
            <a:endParaRPr lang="zh-CN" altLang="en-US" sz="1800" b="0"/>
          </a:p>
        </p:txBody>
      </p:sp>
      <p:sp>
        <p:nvSpPr>
          <p:cNvPr id="159750" name="Text Box 6">
            <a:extLst>
              <a:ext uri="{FF2B5EF4-FFF2-40B4-BE49-F238E27FC236}">
                <a16:creationId xmlns:a16="http://schemas.microsoft.com/office/drawing/2014/main" id="{FB3CF672-5A54-498D-B2AB-F2DBE83C5FAB}"/>
              </a:ext>
            </a:extLst>
          </p:cNvPr>
          <p:cNvSpPr txBox="1">
            <a:spLocks noChangeArrowheads="1"/>
          </p:cNvSpPr>
          <p:nvPr/>
        </p:nvSpPr>
        <p:spPr bwMode="auto">
          <a:xfrm>
            <a:off x="250825" y="908050"/>
            <a:ext cx="20161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2. </a:t>
            </a:r>
            <a:r>
              <a:rPr lang="zh-CN" altLang="en-US" sz="2800"/>
              <a:t>工作过程</a:t>
            </a:r>
          </a:p>
        </p:txBody>
      </p:sp>
      <p:sp>
        <p:nvSpPr>
          <p:cNvPr id="159751" name="Text Box 7">
            <a:extLst>
              <a:ext uri="{FF2B5EF4-FFF2-40B4-BE49-F238E27FC236}">
                <a16:creationId xmlns:a16="http://schemas.microsoft.com/office/drawing/2014/main" id="{0959589A-B203-4DFF-A062-6C119E3D4991}"/>
              </a:ext>
            </a:extLst>
          </p:cNvPr>
          <p:cNvSpPr txBox="1">
            <a:spLocks noChangeArrowheads="1"/>
          </p:cNvSpPr>
          <p:nvPr/>
        </p:nvSpPr>
        <p:spPr bwMode="auto">
          <a:xfrm>
            <a:off x="612775" y="3895725"/>
            <a:ext cx="79200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      </a:t>
            </a:r>
            <a:r>
              <a:rPr lang="zh-CN" altLang="en-US" sz="2400"/>
              <a:t>下一个时钟脉冲时，使次高位置</a:t>
            </a:r>
            <a:r>
              <a:rPr lang="en-US" altLang="zh-CN" sz="2400"/>
              <a:t>1</a:t>
            </a:r>
            <a:r>
              <a:rPr lang="zh-CN" altLang="en-US" sz="2400"/>
              <a:t>，再进行比较。直到比较完毕，将保留或复位的结果输出，即得到与输入电压相当的二进制数。</a:t>
            </a:r>
          </a:p>
        </p:txBody>
      </p:sp>
      <p:sp>
        <p:nvSpPr>
          <p:cNvPr id="159752" name="Text Box 8">
            <a:extLst>
              <a:ext uri="{FF2B5EF4-FFF2-40B4-BE49-F238E27FC236}">
                <a16:creationId xmlns:a16="http://schemas.microsoft.com/office/drawing/2014/main" id="{DBEFA259-643C-4D46-820F-54D8BB18455C}"/>
              </a:ext>
            </a:extLst>
          </p:cNvPr>
          <p:cNvSpPr txBox="1">
            <a:spLocks noChangeArrowheads="1"/>
          </p:cNvSpPr>
          <p:nvPr/>
        </p:nvSpPr>
        <p:spPr bwMode="auto">
          <a:xfrm>
            <a:off x="323850" y="908050"/>
            <a:ext cx="8424863"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defRPr/>
            </a:pPr>
            <a:r>
              <a:rPr lang="en-US" altLang="zh-CN"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       </a:t>
            </a:r>
            <a:r>
              <a:rPr lang="zh-CN" altLang="en-US"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逐次逼近</a:t>
            </a:r>
            <a:r>
              <a:rPr lang="en-US" altLang="zh-CN"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A/D</a:t>
            </a:r>
            <a:r>
              <a:rPr lang="zh-CN" altLang="en-US"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转换器的结构通常是由一个比较器、一个</a:t>
            </a:r>
            <a:r>
              <a:rPr lang="en-US" altLang="zh-CN"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D/A</a:t>
            </a:r>
            <a:r>
              <a:rPr lang="zh-CN" altLang="en-US"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转换器、一个</a:t>
            </a:r>
            <a:r>
              <a:rPr lang="en-US" altLang="zh-CN"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n</a:t>
            </a:r>
            <a:r>
              <a:rPr lang="zh-CN" altLang="en-US"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位寄存器和一个控制电路组成的。</a:t>
            </a:r>
          </a:p>
          <a:p>
            <a:pPr eaLnBrk="1" hangingPunct="1">
              <a:lnSpc>
                <a:spcPct val="130000"/>
              </a:lnSpc>
              <a:defRPr/>
            </a:pPr>
            <a:r>
              <a:rPr lang="zh-CN" altLang="en-US" sz="2400" b="0" dirty="0">
                <a:effectLst>
                  <a:outerShdw blurRad="38100" dist="38100" dir="2700000" algn="tl">
                    <a:srgbClr val="000000"/>
                  </a:outerShdw>
                </a:effectLst>
                <a:latin typeface="Times New Roman" panose="02020603050405020304" pitchFamily="18" charset="0"/>
                <a:ea typeface="黑体" panose="02010609060101010101" pitchFamily="49" charset="-122"/>
              </a:rPr>
              <a:t>      </a:t>
            </a:r>
            <a:r>
              <a:rPr lang="zh-CN" altLang="en-US" sz="2400" dirty="0">
                <a:solidFill>
                  <a:srgbClr val="FFFF66"/>
                </a:solidFill>
                <a:effectLst>
                  <a:outerShdw blurRad="38100" dist="38100" dir="2700000" algn="tl">
                    <a:srgbClr val="000000"/>
                  </a:outerShdw>
                </a:effectLst>
                <a:latin typeface="黑体" panose="02010609060101010101" pitchFamily="49" charset="-122"/>
                <a:ea typeface="黑体" panose="02010609060101010101" pitchFamily="49" charset="-122"/>
              </a:rPr>
              <a:t>控制电路根据比较器的输出确定</a:t>
            </a:r>
            <a:r>
              <a:rPr lang="en-US" altLang="zh-CN" sz="2400" dirty="0">
                <a:solidFill>
                  <a:srgbClr val="FFFF66"/>
                </a:solidFill>
                <a:effectLst>
                  <a:outerShdw blurRad="38100" dist="38100" dir="2700000" algn="tl">
                    <a:srgbClr val="000000"/>
                  </a:outerShdw>
                </a:effectLst>
                <a:latin typeface="黑体" panose="02010609060101010101" pitchFamily="49" charset="-122"/>
                <a:ea typeface="黑体" panose="02010609060101010101" pitchFamily="49" charset="-122"/>
              </a:rPr>
              <a:t>n</a:t>
            </a:r>
            <a:r>
              <a:rPr lang="zh-CN" altLang="en-US" sz="2400" dirty="0">
                <a:solidFill>
                  <a:srgbClr val="FFFF66"/>
                </a:solidFill>
                <a:effectLst>
                  <a:outerShdw blurRad="38100" dist="38100" dir="2700000" algn="tl">
                    <a:srgbClr val="000000"/>
                  </a:outerShdw>
                </a:effectLst>
                <a:latin typeface="黑体" panose="02010609060101010101" pitchFamily="49" charset="-122"/>
                <a:ea typeface="黑体" panose="02010609060101010101" pitchFamily="49" charset="-122"/>
              </a:rPr>
              <a:t>位寄存器每一位的值</a:t>
            </a:r>
            <a:r>
              <a:rPr lang="zh-CN" altLang="en-US" sz="2400" b="0" dirty="0">
                <a:solidFill>
                  <a:srgbClr val="FFFF66"/>
                </a:solidFill>
                <a:effectLst>
                  <a:outerShdw blurRad="38100" dist="38100" dir="2700000" algn="tl">
                    <a:srgbClr val="000000"/>
                  </a:outerShdw>
                </a:effectLst>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p:txBody>
      </p:sp>
      <p:sp>
        <p:nvSpPr>
          <p:cNvPr id="159753" name="Text Box 9">
            <a:extLst>
              <a:ext uri="{FF2B5EF4-FFF2-40B4-BE49-F238E27FC236}">
                <a16:creationId xmlns:a16="http://schemas.microsoft.com/office/drawing/2014/main" id="{8A704967-271D-4107-B708-AB382F4946B6}"/>
              </a:ext>
            </a:extLst>
          </p:cNvPr>
          <p:cNvSpPr txBox="1">
            <a:spLocks noChangeArrowheads="1"/>
          </p:cNvSpPr>
          <p:nvPr/>
        </p:nvSpPr>
        <p:spPr bwMode="auto">
          <a:xfrm>
            <a:off x="611188" y="5003800"/>
            <a:ext cx="820896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       </a:t>
            </a:r>
            <a:r>
              <a:rPr lang="zh-CN" altLang="en-US" sz="2400"/>
              <a:t>转换结束时，控制电路送出结束信号，从而将寄存器内容送到缓冲寄存器中，得到数字量输出。</a:t>
            </a: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9752"/>
                                        </p:tgtEl>
                                        <p:attrNameLst>
                                          <p:attrName>style.visibility</p:attrName>
                                        </p:attrNameLst>
                                      </p:cBhvr>
                                      <p:to>
                                        <p:strVal val="visible"/>
                                      </p:to>
                                    </p:set>
                                  </p:childTnLst>
                                  <p:subTnLst>
                                    <p:set>
                                      <p:cBhvr override="childStyle">
                                        <p:cTn dur="1" fill="hold" display="0" masterRel="nextClick" afterEffect="1"/>
                                        <p:tgtEl>
                                          <p:spTgt spid="15975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59750"/>
                                        </p:tgtEl>
                                        <p:attrNameLst>
                                          <p:attrName>style.visibility</p:attrName>
                                        </p:attrNameLst>
                                      </p:cBhvr>
                                      <p:to>
                                        <p:strVal val="visible"/>
                                      </p:to>
                                    </p:set>
                                    <p:animEffect transition="in" filter="blinds(horizontal)">
                                      <p:cBhvr>
                                        <p:cTn id="11" dur="500"/>
                                        <p:tgtEl>
                                          <p:spTgt spid="15975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59749"/>
                                        </p:tgtEl>
                                        <p:attrNameLst>
                                          <p:attrName>style.visibility</p:attrName>
                                        </p:attrNameLst>
                                      </p:cBhvr>
                                      <p:to>
                                        <p:strVal val="visible"/>
                                      </p:to>
                                    </p:set>
                                    <p:animEffect transition="in" filter="dissolve">
                                      <p:cBhvr>
                                        <p:cTn id="16" dur="500"/>
                                        <p:tgtEl>
                                          <p:spTgt spid="159749"/>
                                        </p:tgtEl>
                                      </p:cBhvr>
                                    </p:animEffect>
                                  </p:childTnLst>
                                  <p:subTnLst>
                                    <p:set>
                                      <p:cBhvr override="childStyle">
                                        <p:cTn dur="1" fill="hold" display="0" masterRel="nextClick" afterEffect="1"/>
                                        <p:tgtEl>
                                          <p:spTgt spid="159749"/>
                                        </p:tgtEl>
                                        <p:attrNameLst>
                                          <p:attrName>style.visibility</p:attrName>
                                        </p:attrNameLst>
                                      </p:cBhvr>
                                      <p:to>
                                        <p:strVal val="hidden"/>
                                      </p:to>
                                    </p:set>
                                  </p:sub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59748"/>
                                        </p:tgtEl>
                                        <p:attrNameLst>
                                          <p:attrName>style.visibility</p:attrName>
                                        </p:attrNameLst>
                                      </p:cBhvr>
                                      <p:to>
                                        <p:strVal val="visible"/>
                                      </p:to>
                                    </p:set>
                                    <p:animEffect transition="in" filter="box(in)">
                                      <p:cBhvr>
                                        <p:cTn id="21" dur="500"/>
                                        <p:tgtEl>
                                          <p:spTgt spid="15974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6" presetClass="entr" presetSubtype="26" fill="hold" grpId="0" nodeType="clickEffect">
                                  <p:stCondLst>
                                    <p:cond delay="0"/>
                                  </p:stCondLst>
                                  <p:childTnLst>
                                    <p:set>
                                      <p:cBhvr>
                                        <p:cTn id="25" dur="1" fill="hold">
                                          <p:stCondLst>
                                            <p:cond delay="0"/>
                                          </p:stCondLst>
                                        </p:cTn>
                                        <p:tgtEl>
                                          <p:spTgt spid="159751"/>
                                        </p:tgtEl>
                                        <p:attrNameLst>
                                          <p:attrName>style.visibility</p:attrName>
                                        </p:attrNameLst>
                                      </p:cBhvr>
                                      <p:to>
                                        <p:strVal val="visible"/>
                                      </p:to>
                                    </p:set>
                                    <p:animEffect transition="in" filter="barn(inHorizontal)">
                                      <p:cBhvr>
                                        <p:cTn id="26" dur="500"/>
                                        <p:tgtEl>
                                          <p:spTgt spid="15975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97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8" grpId="0" autoUpdateAnimBg="0"/>
      <p:bldP spid="159749" grpId="0" autoUpdateAnimBg="0"/>
      <p:bldP spid="159750" grpId="0"/>
      <p:bldP spid="159751" grpId="0" autoUpdateAnimBg="0"/>
      <p:bldP spid="159752" grpId="0"/>
      <p:bldP spid="15975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6113489-E26B-43AB-A5F7-739879BF4574}"/>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93B7AFEB-0B58-43E9-831D-C3918DD56722}" type="slidenum">
              <a:rPr lang="en-US" altLang="zh-CN" b="0"/>
              <a:pPr/>
              <a:t>8</a:t>
            </a:fld>
            <a:endParaRPr lang="en-US" altLang="zh-CN" b="0"/>
          </a:p>
        </p:txBody>
      </p:sp>
      <p:sp>
        <p:nvSpPr>
          <p:cNvPr id="160770" name="Text Box 2">
            <a:extLst>
              <a:ext uri="{FF2B5EF4-FFF2-40B4-BE49-F238E27FC236}">
                <a16:creationId xmlns:a16="http://schemas.microsoft.com/office/drawing/2014/main" id="{F7A3AD8C-B495-48E9-8DE8-E059C7981C8D}"/>
              </a:ext>
            </a:extLst>
          </p:cNvPr>
          <p:cNvSpPr txBox="1">
            <a:spLocks noChangeArrowheads="1"/>
          </p:cNvSpPr>
          <p:nvPr/>
        </p:nvSpPr>
        <p:spPr bwMode="auto">
          <a:xfrm>
            <a:off x="395288" y="1557338"/>
            <a:ext cx="7772400"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b="1">
                <a:solidFill>
                  <a:schemeClr val="tx1"/>
                </a:solidFill>
                <a:latin typeface="Arial" panose="020B0604020202020204" pitchFamily="34" charset="0"/>
                <a:ea typeface="宋体" panose="02010600030101010101" pitchFamily="2" charset="-122"/>
              </a:defRPr>
            </a:lvl1pPr>
            <a:lvl2pPr marL="914400" indent="-457200">
              <a:defRPr b="1">
                <a:solidFill>
                  <a:schemeClr val="tx1"/>
                </a:solidFill>
                <a:latin typeface="Arial" panose="020B0604020202020204" pitchFamily="34" charset="0"/>
                <a:ea typeface="宋体" panose="02010600030101010101" pitchFamily="2" charset="-122"/>
              </a:defRPr>
            </a:lvl2pPr>
            <a:lvl3pPr marL="1371600" indent="-457200">
              <a:defRPr b="1">
                <a:solidFill>
                  <a:schemeClr val="tx1"/>
                </a:solidFill>
                <a:latin typeface="Arial" panose="020B0604020202020204" pitchFamily="34" charset="0"/>
                <a:ea typeface="宋体" panose="02010600030101010101" pitchFamily="2" charset="-122"/>
              </a:defRPr>
            </a:lvl3pPr>
            <a:lvl4pPr marL="1828800" indent="-457200">
              <a:defRPr b="1">
                <a:solidFill>
                  <a:schemeClr val="tx1"/>
                </a:solidFill>
                <a:latin typeface="Arial" panose="020B0604020202020204" pitchFamily="34" charset="0"/>
                <a:ea typeface="宋体" panose="02010600030101010101" pitchFamily="2" charset="-122"/>
              </a:defRPr>
            </a:lvl4pPr>
            <a:lvl5pPr marL="2286000" indent="-457200">
              <a:defRPr b="1">
                <a:solidFill>
                  <a:schemeClr val="tx1"/>
                </a:solidFill>
                <a:latin typeface="Arial" panose="020B0604020202020204" pitchFamily="34" charset="0"/>
                <a:ea typeface="宋体" panose="02010600030101010101" pitchFamily="2" charset="-122"/>
              </a:defRPr>
            </a:lvl5pPr>
            <a:lvl6pPr marL="27432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32004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6576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41148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20000"/>
              </a:spcBef>
            </a:pPr>
            <a:r>
              <a:rPr lang="en-US" altLang="zh-CN" sz="2800"/>
              <a:t>     </a:t>
            </a:r>
            <a:r>
              <a:rPr lang="zh-CN" altLang="en-US" sz="2800"/>
              <a:t>设一个</a:t>
            </a:r>
            <a:r>
              <a:rPr lang="en-US" altLang="zh-CN" sz="2800"/>
              <a:t>4</a:t>
            </a:r>
            <a:r>
              <a:rPr lang="zh-CN" altLang="en-US" sz="2800"/>
              <a:t>位转换器，满量程电压为</a:t>
            </a:r>
            <a:r>
              <a:rPr lang="en-US" altLang="zh-CN" sz="2800"/>
              <a:t>10V</a:t>
            </a:r>
            <a:r>
              <a:rPr lang="zh-CN" altLang="en-US" sz="2800"/>
              <a:t>。各位权值对应的</a:t>
            </a:r>
            <a:r>
              <a:rPr lang="en-US" altLang="zh-CN" sz="2800"/>
              <a:t>D/A</a:t>
            </a:r>
            <a:r>
              <a:rPr lang="zh-CN" altLang="en-US" sz="2800"/>
              <a:t>输出电压为： </a:t>
            </a:r>
          </a:p>
        </p:txBody>
      </p:sp>
      <p:sp>
        <p:nvSpPr>
          <p:cNvPr id="160771" name="Text Box 3">
            <a:extLst>
              <a:ext uri="{FF2B5EF4-FFF2-40B4-BE49-F238E27FC236}">
                <a16:creationId xmlns:a16="http://schemas.microsoft.com/office/drawing/2014/main" id="{1A396CFD-A791-42DD-9F1E-8888B8F4BB10}"/>
              </a:ext>
            </a:extLst>
          </p:cNvPr>
          <p:cNvSpPr txBox="1">
            <a:spLocks noChangeArrowheads="1"/>
          </p:cNvSpPr>
          <p:nvPr/>
        </p:nvSpPr>
        <p:spPr bwMode="auto">
          <a:xfrm>
            <a:off x="1687513" y="2970213"/>
            <a:ext cx="6629400" cy="3195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b="1">
                <a:solidFill>
                  <a:schemeClr val="tx1"/>
                </a:solidFill>
                <a:latin typeface="Arial" panose="020B0604020202020204" pitchFamily="34" charset="0"/>
                <a:ea typeface="宋体" panose="02010600030101010101" pitchFamily="2" charset="-122"/>
              </a:defRPr>
            </a:lvl1pPr>
            <a:lvl2pPr marL="914400" indent="-457200">
              <a:defRPr b="1">
                <a:solidFill>
                  <a:schemeClr val="tx1"/>
                </a:solidFill>
                <a:latin typeface="Arial" panose="020B0604020202020204" pitchFamily="34" charset="0"/>
                <a:ea typeface="宋体" panose="02010600030101010101" pitchFamily="2" charset="-122"/>
              </a:defRPr>
            </a:lvl2pPr>
            <a:lvl3pPr marL="1371600" indent="-457200">
              <a:defRPr b="1">
                <a:solidFill>
                  <a:schemeClr val="tx1"/>
                </a:solidFill>
                <a:latin typeface="Arial" panose="020B0604020202020204" pitchFamily="34" charset="0"/>
                <a:ea typeface="宋体" panose="02010600030101010101" pitchFamily="2" charset="-122"/>
              </a:defRPr>
            </a:lvl3pPr>
            <a:lvl4pPr marL="1828800" indent="-457200">
              <a:defRPr b="1">
                <a:solidFill>
                  <a:schemeClr val="tx1"/>
                </a:solidFill>
                <a:latin typeface="Arial" panose="020B0604020202020204" pitchFamily="34" charset="0"/>
                <a:ea typeface="宋体" panose="02010600030101010101" pitchFamily="2" charset="-122"/>
              </a:defRPr>
            </a:lvl4pPr>
            <a:lvl5pPr marL="2286000" indent="-457200">
              <a:defRPr b="1">
                <a:solidFill>
                  <a:schemeClr val="tx1"/>
                </a:solidFill>
                <a:latin typeface="Arial" panose="020B0604020202020204" pitchFamily="34" charset="0"/>
                <a:ea typeface="宋体" panose="02010600030101010101" pitchFamily="2" charset="-122"/>
              </a:defRPr>
            </a:lvl5pPr>
            <a:lvl6pPr marL="27432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32004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6576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4114800" indent="-4572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AutoNum type="arabicPlain" startAt="1000"/>
            </a:pPr>
            <a:r>
              <a:rPr lang="en-US" altLang="zh-CN" sz="2400"/>
              <a:t>        5V</a:t>
            </a:r>
          </a:p>
          <a:p>
            <a:pPr eaLnBrk="1" hangingPunct="1">
              <a:spcBef>
                <a:spcPct val="50000"/>
              </a:spcBef>
            </a:pPr>
            <a:r>
              <a:rPr lang="en-US" altLang="zh-CN" sz="2400"/>
              <a:t>0100       2.5V</a:t>
            </a:r>
          </a:p>
          <a:p>
            <a:pPr eaLnBrk="1" hangingPunct="1">
              <a:spcBef>
                <a:spcPct val="50000"/>
              </a:spcBef>
            </a:pPr>
            <a:r>
              <a:rPr lang="en-US" altLang="zh-CN" sz="2400"/>
              <a:t>0010      1.25V</a:t>
            </a:r>
          </a:p>
          <a:p>
            <a:pPr eaLnBrk="1" hangingPunct="1">
              <a:spcBef>
                <a:spcPct val="50000"/>
              </a:spcBef>
            </a:pPr>
            <a:r>
              <a:rPr lang="en-US" altLang="zh-CN" sz="2400"/>
              <a:t>0001       0.625V</a:t>
            </a:r>
          </a:p>
          <a:p>
            <a:pPr eaLnBrk="1" hangingPunct="1">
              <a:spcBef>
                <a:spcPct val="50000"/>
              </a:spcBef>
              <a:buFontTx/>
              <a:buChar char="•"/>
            </a:pPr>
            <a:endParaRPr lang="en-US" altLang="zh-CN" sz="2400"/>
          </a:p>
          <a:p>
            <a:pPr eaLnBrk="1" hangingPunct="1">
              <a:spcBef>
                <a:spcPct val="50000"/>
              </a:spcBef>
            </a:pPr>
            <a:endParaRPr lang="en-US" altLang="zh-CN" sz="2400"/>
          </a:p>
        </p:txBody>
      </p:sp>
      <p:sp>
        <p:nvSpPr>
          <p:cNvPr id="160772" name="Text Box 4">
            <a:extLst>
              <a:ext uri="{FF2B5EF4-FFF2-40B4-BE49-F238E27FC236}">
                <a16:creationId xmlns:a16="http://schemas.microsoft.com/office/drawing/2014/main" id="{720D5B90-36A5-4132-A66B-25D686C09156}"/>
              </a:ext>
            </a:extLst>
          </p:cNvPr>
          <p:cNvSpPr txBox="1">
            <a:spLocks noChangeArrowheads="1"/>
          </p:cNvSpPr>
          <p:nvPr/>
        </p:nvSpPr>
        <p:spPr bwMode="auto">
          <a:xfrm>
            <a:off x="611188" y="908050"/>
            <a:ext cx="30972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t>3. </a:t>
            </a:r>
            <a:r>
              <a:rPr lang="zh-CN" altLang="en-US"/>
              <a:t>举例</a:t>
            </a:r>
          </a:p>
        </p:txBody>
      </p:sp>
    </p:spTree>
  </p:cSld>
  <p:clrMapOvr>
    <a:masterClrMapping/>
  </p:clrMapOvr>
  <p:transition>
    <p:wheel spokes="2"/>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blinds(horizontal)">
                                      <p:cBhvr>
                                        <p:cTn id="7" dur="500"/>
                                        <p:tgtEl>
                                          <p:spTgt spid="160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60770"/>
                                        </p:tgtEl>
                                        <p:attrNameLst>
                                          <p:attrName>style.visibility</p:attrName>
                                        </p:attrNameLst>
                                      </p:cBhvr>
                                      <p:to>
                                        <p:strVal val="visible"/>
                                      </p:to>
                                    </p:set>
                                    <p:animEffect transition="in" filter="wipe(up)">
                                      <p:cBhvr>
                                        <p:cTn id="12" dur="500"/>
                                        <p:tgtEl>
                                          <p:spTgt spid="16077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60771"/>
                                        </p:tgtEl>
                                        <p:attrNameLst>
                                          <p:attrName>style.visibility</p:attrName>
                                        </p:attrNameLst>
                                      </p:cBhvr>
                                      <p:to>
                                        <p:strVal val="visible"/>
                                      </p:to>
                                    </p:set>
                                    <p:animEffect transition="in" filter="strips(downLeft)">
                                      <p:cBhvr>
                                        <p:cTn id="17" dur="500"/>
                                        <p:tgtEl>
                                          <p:spTgt spid="1607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autoUpdateAnimBg="0"/>
      <p:bldP spid="160771" grpId="0" autoUpdateAnimBg="0"/>
      <p:bldP spid="16077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5">
            <a:extLst>
              <a:ext uri="{FF2B5EF4-FFF2-40B4-BE49-F238E27FC236}">
                <a16:creationId xmlns:a16="http://schemas.microsoft.com/office/drawing/2014/main" id="{3777B40E-630F-47D0-8AC9-FB564C335314}"/>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581719B7-8BDD-40E5-ABFC-D70F7C36FAE6}" type="slidenum">
              <a:rPr lang="en-US" altLang="zh-CN" b="0"/>
              <a:pPr/>
              <a:t>9</a:t>
            </a:fld>
            <a:endParaRPr lang="en-US" altLang="zh-CN" b="0"/>
          </a:p>
        </p:txBody>
      </p:sp>
      <p:sp>
        <p:nvSpPr>
          <p:cNvPr id="161794" name="Text Box 2">
            <a:extLst>
              <a:ext uri="{FF2B5EF4-FFF2-40B4-BE49-F238E27FC236}">
                <a16:creationId xmlns:a16="http://schemas.microsoft.com/office/drawing/2014/main" id="{24F45864-FA49-4397-8DB6-52815127D35B}"/>
              </a:ext>
            </a:extLst>
          </p:cNvPr>
          <p:cNvSpPr txBox="1">
            <a:spLocks noChangeArrowheads="1"/>
          </p:cNvSpPr>
          <p:nvPr/>
        </p:nvSpPr>
        <p:spPr bwMode="auto">
          <a:xfrm>
            <a:off x="533400" y="47625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dirty="0"/>
              <a:t>设输入模拟电压为</a:t>
            </a:r>
            <a:r>
              <a:rPr lang="en-US" altLang="zh-CN" sz="2400" dirty="0">
                <a:solidFill>
                  <a:srgbClr val="FFFF00"/>
                </a:solidFill>
              </a:rPr>
              <a:t>V</a:t>
            </a:r>
            <a:r>
              <a:rPr lang="en-US" altLang="zh-CN" sz="2400" baseline="-25000" dirty="0">
                <a:solidFill>
                  <a:srgbClr val="FFFF00"/>
                </a:solidFill>
              </a:rPr>
              <a:t>i</a:t>
            </a:r>
            <a:r>
              <a:rPr lang="en-US" altLang="zh-CN" sz="2400" dirty="0">
                <a:solidFill>
                  <a:srgbClr val="FFFF00"/>
                </a:solidFill>
              </a:rPr>
              <a:t>=6.875V</a:t>
            </a:r>
            <a:r>
              <a:rPr lang="zh-CN" altLang="en-US" sz="2400" dirty="0"/>
              <a:t>，分析它所对应的数字量。</a:t>
            </a:r>
          </a:p>
        </p:txBody>
      </p:sp>
      <p:sp>
        <p:nvSpPr>
          <p:cNvPr id="161795" name="Text Box 3">
            <a:extLst>
              <a:ext uri="{FF2B5EF4-FFF2-40B4-BE49-F238E27FC236}">
                <a16:creationId xmlns:a16="http://schemas.microsoft.com/office/drawing/2014/main" id="{1EC4CA46-DB76-4108-A187-2F8C97B5118E}"/>
              </a:ext>
            </a:extLst>
          </p:cNvPr>
          <p:cNvSpPr txBox="1">
            <a:spLocks noChangeArrowheads="1"/>
          </p:cNvSpPr>
          <p:nvPr/>
        </p:nvSpPr>
        <p:spPr bwMode="auto">
          <a:xfrm>
            <a:off x="539750" y="1052513"/>
            <a:ext cx="731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用逐次逼近法见下表：</a:t>
            </a:r>
          </a:p>
        </p:txBody>
      </p:sp>
      <p:graphicFrame>
        <p:nvGraphicFramePr>
          <p:cNvPr id="161796" name="Group 4">
            <a:extLst>
              <a:ext uri="{FF2B5EF4-FFF2-40B4-BE49-F238E27FC236}">
                <a16:creationId xmlns:a16="http://schemas.microsoft.com/office/drawing/2014/main" id="{CBBAA9C3-9A55-453C-97C9-5014342D5AD2}"/>
              </a:ext>
            </a:extLst>
          </p:cNvPr>
          <p:cNvGraphicFramePr>
            <a:graphicFrameLocks noGrp="1"/>
          </p:cNvGraphicFramePr>
          <p:nvPr/>
        </p:nvGraphicFramePr>
        <p:xfrm>
          <a:off x="323850" y="1628775"/>
          <a:ext cx="8458200" cy="4873627"/>
        </p:xfrm>
        <a:graphic>
          <a:graphicData uri="http://schemas.openxmlformats.org/drawingml/2006/table">
            <a:tbl>
              <a:tblPr/>
              <a:tblGrid>
                <a:gridCol w="1546225">
                  <a:extLst>
                    <a:ext uri="{9D8B030D-6E8A-4147-A177-3AD203B41FA5}">
                      <a16:colId xmlns:a16="http://schemas.microsoft.com/office/drawing/2014/main" val="1263079053"/>
                    </a:ext>
                  </a:extLst>
                </a:gridCol>
                <a:gridCol w="5297488">
                  <a:extLst>
                    <a:ext uri="{9D8B030D-6E8A-4147-A177-3AD203B41FA5}">
                      <a16:colId xmlns:a16="http://schemas.microsoft.com/office/drawing/2014/main" val="2702583289"/>
                    </a:ext>
                  </a:extLst>
                </a:gridCol>
                <a:gridCol w="1614487">
                  <a:extLst>
                    <a:ext uri="{9D8B030D-6E8A-4147-A177-3AD203B41FA5}">
                      <a16:colId xmlns:a16="http://schemas.microsoft.com/office/drawing/2014/main" val="1562158563"/>
                    </a:ext>
                  </a:extLst>
                </a:gridCol>
              </a:tblGrid>
              <a:tr h="993775">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6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设定的</a:t>
                      </a:r>
                    </a:p>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6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试探值</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6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比较后的状态和修改方法</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r>
                        <a:rPr kumimoji="0" lang="zh-CN" altLang="en-US" sz="28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rPr>
                        <a:t>数字量</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66422508"/>
                  </a:ext>
                </a:extLst>
              </a:tr>
              <a:tr h="912813">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6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249718875"/>
                  </a:ext>
                </a:extLst>
              </a:tr>
              <a:tr h="973138">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308553889"/>
                  </a:ext>
                </a:extLst>
              </a:tr>
              <a:tr h="1081088">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254192394"/>
                  </a:ext>
                </a:extLst>
              </a:tr>
              <a:tr h="912813">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400" b="1"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hlink"/>
                        </a:buClr>
                        <a:buSzPct val="90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spcBef>
                          <a:spcPct val="20000"/>
                        </a:spcBef>
                        <a:defRPr sz="24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spcBef>
                          <a:spcPct val="20000"/>
                        </a:spcBef>
                        <a:buClr>
                          <a:schemeClr val="accent2"/>
                        </a:buClr>
                        <a:buSzPct val="90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spcBef>
                          <a:spcPct val="20000"/>
                        </a:spcBef>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spcBef>
                          <a:spcPct val="20000"/>
                        </a:spcBef>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SzPct val="90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90000"/>
                        <a:buFont typeface="Wingdings" panose="05000000000000000000" pitchFamily="2" charset="2"/>
                        <a:buNone/>
                        <a:tabLst/>
                      </a:pPr>
                      <a:endParaRPr kumimoji="0" lang="zh-CN" altLang="zh-CN" sz="2800" b="0" i="0" u="none" strike="noStrike" cap="none" normalizeH="0" baseline="0">
                        <a:ln>
                          <a:noFill/>
                        </a:ln>
                        <a:solidFill>
                          <a:schemeClr val="tx1"/>
                        </a:solidFill>
                        <a:effectLst>
                          <a:outerShdw blurRad="38100" dist="38100" dir="2700000" algn="tl">
                            <a:srgbClr val="000000"/>
                          </a:outerShdw>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595816130"/>
                  </a:ext>
                </a:extLst>
              </a:tr>
            </a:tbl>
          </a:graphicData>
        </a:graphic>
      </p:graphicFrame>
      <p:sp>
        <p:nvSpPr>
          <p:cNvPr id="161822" name="Text Box 30">
            <a:extLst>
              <a:ext uri="{FF2B5EF4-FFF2-40B4-BE49-F238E27FC236}">
                <a16:creationId xmlns:a16="http://schemas.microsoft.com/office/drawing/2014/main" id="{F0130372-0838-40DF-996A-62B8661B97B4}"/>
              </a:ext>
            </a:extLst>
          </p:cNvPr>
          <p:cNvSpPr txBox="1">
            <a:spLocks noChangeArrowheads="1"/>
          </p:cNvSpPr>
          <p:nvPr/>
        </p:nvSpPr>
        <p:spPr bwMode="auto">
          <a:xfrm>
            <a:off x="465138" y="2705100"/>
            <a:ext cx="1439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1000</a:t>
            </a:r>
          </a:p>
        </p:txBody>
      </p:sp>
      <p:sp>
        <p:nvSpPr>
          <p:cNvPr id="161823" name="Text Box 31">
            <a:extLst>
              <a:ext uri="{FF2B5EF4-FFF2-40B4-BE49-F238E27FC236}">
                <a16:creationId xmlns:a16="http://schemas.microsoft.com/office/drawing/2014/main" id="{4E5DFCA1-7E9C-45C6-B223-45885FD389D8}"/>
              </a:ext>
            </a:extLst>
          </p:cNvPr>
          <p:cNvSpPr txBox="1">
            <a:spLocks noChangeArrowheads="1"/>
          </p:cNvSpPr>
          <p:nvPr/>
        </p:nvSpPr>
        <p:spPr bwMode="auto">
          <a:xfrm>
            <a:off x="1978025" y="2708275"/>
            <a:ext cx="4824413"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buClr>
                <a:schemeClr val="hlink"/>
              </a:buClr>
              <a:buSzPct val="60000"/>
              <a:buFont typeface="Wingdings" panose="05000000000000000000" pitchFamily="2" charset="2"/>
              <a:buNone/>
              <a:defRPr/>
            </a:pP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Vo=5V,Vi&gt;V0</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，保留最高位</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1</a:t>
            </a:r>
            <a:endParaRPr lang="en-US" altLang="zh-CN" sz="2800">
              <a:latin typeface="Times New Roman" panose="02020603050405020304" pitchFamily="18" charset="0"/>
              <a:ea typeface="黑体" panose="02010609060101010101" pitchFamily="49" charset="-122"/>
            </a:endParaRPr>
          </a:p>
        </p:txBody>
      </p:sp>
      <p:sp>
        <p:nvSpPr>
          <p:cNvPr id="161824" name="Text Box 32">
            <a:extLst>
              <a:ext uri="{FF2B5EF4-FFF2-40B4-BE49-F238E27FC236}">
                <a16:creationId xmlns:a16="http://schemas.microsoft.com/office/drawing/2014/main" id="{81EDD040-689C-4D5B-BB1F-FBA34D3CBD98}"/>
              </a:ext>
            </a:extLst>
          </p:cNvPr>
          <p:cNvSpPr txBox="1">
            <a:spLocks noChangeArrowheads="1"/>
          </p:cNvSpPr>
          <p:nvPr/>
        </p:nvSpPr>
        <p:spPr bwMode="auto">
          <a:xfrm>
            <a:off x="7305675" y="2705100"/>
            <a:ext cx="1225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3200" b="0" dirty="0">
                <a:effectLst>
                  <a:outerShdw blurRad="38100" dist="38100" dir="2700000" algn="tl">
                    <a:srgbClr val="000000"/>
                  </a:outerShdw>
                </a:effectLst>
                <a:latin typeface="Times New Roman" panose="02020603050405020304" pitchFamily="18" charset="0"/>
                <a:ea typeface="黑体" panose="02010609060101010101" pitchFamily="49" charset="-122"/>
              </a:rPr>
              <a:t>1000</a:t>
            </a:r>
          </a:p>
        </p:txBody>
      </p:sp>
      <p:sp>
        <p:nvSpPr>
          <p:cNvPr id="161825" name="Text Box 33">
            <a:extLst>
              <a:ext uri="{FF2B5EF4-FFF2-40B4-BE49-F238E27FC236}">
                <a16:creationId xmlns:a16="http://schemas.microsoft.com/office/drawing/2014/main" id="{03CE6A6E-C885-4819-A413-E46097C762C9}"/>
              </a:ext>
            </a:extLst>
          </p:cNvPr>
          <p:cNvSpPr txBox="1">
            <a:spLocks noChangeArrowheads="1"/>
          </p:cNvSpPr>
          <p:nvPr/>
        </p:nvSpPr>
        <p:spPr bwMode="auto">
          <a:xfrm>
            <a:off x="465138" y="3641725"/>
            <a:ext cx="143986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buSzPct val="60000"/>
              <a:buFont typeface="Wingdings" panose="05000000000000000000" pitchFamily="2" charset="2"/>
              <a:buNone/>
            </a:pPr>
            <a:r>
              <a:rPr lang="en-US" altLang="zh-CN">
                <a:latin typeface="Times New Roman" panose="02020603050405020304" pitchFamily="18" charset="0"/>
                <a:ea typeface="黑体" panose="02010609060101010101" pitchFamily="49" charset="-122"/>
              </a:rPr>
              <a:t>1100</a:t>
            </a:r>
          </a:p>
        </p:txBody>
      </p:sp>
      <p:sp>
        <p:nvSpPr>
          <p:cNvPr id="161826" name="Text Box 34">
            <a:extLst>
              <a:ext uri="{FF2B5EF4-FFF2-40B4-BE49-F238E27FC236}">
                <a16:creationId xmlns:a16="http://schemas.microsoft.com/office/drawing/2014/main" id="{03E0026E-E496-45A2-BB02-27DB8308DFFE}"/>
              </a:ext>
            </a:extLst>
          </p:cNvPr>
          <p:cNvSpPr txBox="1">
            <a:spLocks noChangeArrowheads="1"/>
          </p:cNvSpPr>
          <p:nvPr/>
        </p:nvSpPr>
        <p:spPr bwMode="auto">
          <a:xfrm>
            <a:off x="1978025" y="3551238"/>
            <a:ext cx="3960813"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buClr>
                <a:schemeClr val="hlink"/>
              </a:buClr>
              <a:buSzPct val="60000"/>
              <a:buFont typeface="Wingdings" panose="05000000000000000000" pitchFamily="2" charset="2"/>
              <a:buNone/>
              <a:defRPr/>
            </a:pP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Vo=5</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2.5=7.5V</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Vi&lt;Vo</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，次高位</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1</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复位</a:t>
            </a:r>
            <a:endParaRPr lang="zh-CN" altLang="en-US" sz="2600">
              <a:latin typeface="Times New Roman" panose="02020603050405020304" pitchFamily="18" charset="0"/>
              <a:ea typeface="黑体" panose="02010609060101010101" pitchFamily="49" charset="-122"/>
            </a:endParaRPr>
          </a:p>
        </p:txBody>
      </p:sp>
      <p:sp>
        <p:nvSpPr>
          <p:cNvPr id="161827" name="Text Box 35">
            <a:extLst>
              <a:ext uri="{FF2B5EF4-FFF2-40B4-BE49-F238E27FC236}">
                <a16:creationId xmlns:a16="http://schemas.microsoft.com/office/drawing/2014/main" id="{1E52CFFB-B85D-4076-8037-16EFE5BA1723}"/>
              </a:ext>
            </a:extLst>
          </p:cNvPr>
          <p:cNvSpPr txBox="1">
            <a:spLocks noChangeArrowheads="1"/>
          </p:cNvSpPr>
          <p:nvPr/>
        </p:nvSpPr>
        <p:spPr bwMode="auto">
          <a:xfrm>
            <a:off x="7305675" y="3789363"/>
            <a:ext cx="1152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1000</a:t>
            </a:r>
          </a:p>
        </p:txBody>
      </p:sp>
      <p:sp>
        <p:nvSpPr>
          <p:cNvPr id="161828" name="Text Box 36">
            <a:extLst>
              <a:ext uri="{FF2B5EF4-FFF2-40B4-BE49-F238E27FC236}">
                <a16:creationId xmlns:a16="http://schemas.microsoft.com/office/drawing/2014/main" id="{3E352FE2-287B-4AD7-83D2-89C6CA2779C5}"/>
              </a:ext>
            </a:extLst>
          </p:cNvPr>
          <p:cNvSpPr txBox="1">
            <a:spLocks noChangeArrowheads="1"/>
          </p:cNvSpPr>
          <p:nvPr/>
        </p:nvSpPr>
        <p:spPr bwMode="auto">
          <a:xfrm>
            <a:off x="465138" y="4649788"/>
            <a:ext cx="12588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Times New Roman" panose="02020603050405020304" pitchFamily="18" charset="0"/>
                <a:ea typeface="黑体" panose="02010609060101010101" pitchFamily="49" charset="-122"/>
              </a:rPr>
              <a:t>1010</a:t>
            </a:r>
          </a:p>
        </p:txBody>
      </p:sp>
      <p:sp>
        <p:nvSpPr>
          <p:cNvPr id="161829" name="Text Box 37">
            <a:extLst>
              <a:ext uri="{FF2B5EF4-FFF2-40B4-BE49-F238E27FC236}">
                <a16:creationId xmlns:a16="http://schemas.microsoft.com/office/drawing/2014/main" id="{A1566AA8-CE5F-4F3A-AD49-54AB33E1EC10}"/>
              </a:ext>
            </a:extLst>
          </p:cNvPr>
          <p:cNvSpPr txBox="1">
            <a:spLocks noChangeArrowheads="1"/>
          </p:cNvSpPr>
          <p:nvPr/>
        </p:nvSpPr>
        <p:spPr bwMode="auto">
          <a:xfrm>
            <a:off x="1976438" y="4559300"/>
            <a:ext cx="4321175"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buClr>
                <a:schemeClr val="hlink"/>
              </a:buClr>
              <a:buSzPct val="60000"/>
              <a:buFont typeface="Wingdings" panose="05000000000000000000" pitchFamily="2" charset="2"/>
              <a:buNone/>
              <a:defRPr/>
            </a:pP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Vo=5+1.25=6.25V</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Vi&gt;Vo</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，次低位</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1</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保留</a:t>
            </a:r>
            <a:endParaRPr lang="zh-CN" altLang="en-US" sz="2600">
              <a:latin typeface="Times New Roman" panose="02020603050405020304" pitchFamily="18" charset="0"/>
              <a:ea typeface="黑体" panose="02010609060101010101" pitchFamily="49" charset="-122"/>
            </a:endParaRPr>
          </a:p>
        </p:txBody>
      </p:sp>
      <p:sp>
        <p:nvSpPr>
          <p:cNvPr id="161830" name="Text Box 38">
            <a:extLst>
              <a:ext uri="{FF2B5EF4-FFF2-40B4-BE49-F238E27FC236}">
                <a16:creationId xmlns:a16="http://schemas.microsoft.com/office/drawing/2014/main" id="{1B7FFF08-D5E8-4F1E-A807-CE950942F4D4}"/>
              </a:ext>
            </a:extLst>
          </p:cNvPr>
          <p:cNvSpPr txBox="1">
            <a:spLocks noChangeArrowheads="1"/>
          </p:cNvSpPr>
          <p:nvPr/>
        </p:nvSpPr>
        <p:spPr bwMode="auto">
          <a:xfrm>
            <a:off x="1978025" y="5638800"/>
            <a:ext cx="42481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buClr>
                <a:schemeClr val="hlink"/>
              </a:buClr>
              <a:buSzPct val="60000"/>
              <a:buFont typeface="Wingdings" panose="05000000000000000000" pitchFamily="2" charset="2"/>
              <a:buNone/>
              <a:defRPr/>
            </a:pP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Vo=5+1.25+0.625=6.875V</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Vi=Vo</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，最低位</a:t>
            </a:r>
            <a:r>
              <a:rPr lang="en-US" altLang="zh-CN" sz="2600">
                <a:effectLst>
                  <a:outerShdw blurRad="38100" dist="38100" dir="2700000" algn="tl">
                    <a:srgbClr val="000000"/>
                  </a:outerShdw>
                </a:effectLst>
                <a:latin typeface="Times New Roman" panose="02020603050405020304" pitchFamily="18" charset="0"/>
                <a:ea typeface="黑体" panose="02010609060101010101" pitchFamily="49" charset="-122"/>
              </a:rPr>
              <a:t>1</a:t>
            </a:r>
            <a:r>
              <a:rPr lang="zh-CN" altLang="en-US" sz="2600">
                <a:effectLst>
                  <a:outerShdw blurRad="38100" dist="38100" dir="2700000" algn="tl">
                    <a:srgbClr val="000000"/>
                  </a:outerShdw>
                </a:effectLst>
                <a:latin typeface="Times New Roman" panose="02020603050405020304" pitchFamily="18" charset="0"/>
                <a:ea typeface="黑体" panose="02010609060101010101" pitchFamily="49" charset="-122"/>
              </a:rPr>
              <a:t>保留</a:t>
            </a:r>
            <a:endParaRPr lang="zh-CN" altLang="en-US" sz="2600">
              <a:latin typeface="Times New Roman" panose="02020603050405020304" pitchFamily="18" charset="0"/>
              <a:ea typeface="黑体" panose="02010609060101010101" pitchFamily="49" charset="-122"/>
            </a:endParaRPr>
          </a:p>
        </p:txBody>
      </p:sp>
      <p:sp>
        <p:nvSpPr>
          <p:cNvPr id="161831" name="Text Box 39">
            <a:extLst>
              <a:ext uri="{FF2B5EF4-FFF2-40B4-BE49-F238E27FC236}">
                <a16:creationId xmlns:a16="http://schemas.microsoft.com/office/drawing/2014/main" id="{759116AF-62DD-412B-8D9F-50CB3BBA93C3}"/>
              </a:ext>
            </a:extLst>
          </p:cNvPr>
          <p:cNvSpPr txBox="1">
            <a:spLocks noChangeArrowheads="1"/>
          </p:cNvSpPr>
          <p:nvPr/>
        </p:nvSpPr>
        <p:spPr bwMode="auto">
          <a:xfrm>
            <a:off x="7305675" y="5734050"/>
            <a:ext cx="14398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3200" b="0">
                <a:effectLst>
                  <a:outerShdw blurRad="38100" dist="38100" dir="2700000" algn="tl">
                    <a:srgbClr val="000000"/>
                  </a:outerShdw>
                </a:effectLst>
                <a:latin typeface="Times New Roman" panose="02020603050405020304" pitchFamily="18" charset="0"/>
                <a:ea typeface="黑体" panose="02010609060101010101" pitchFamily="49" charset="-122"/>
              </a:rPr>
              <a:t>1011</a:t>
            </a:r>
          </a:p>
        </p:txBody>
      </p:sp>
      <p:sp>
        <p:nvSpPr>
          <p:cNvPr id="161832" name="Text Box 40">
            <a:extLst>
              <a:ext uri="{FF2B5EF4-FFF2-40B4-BE49-F238E27FC236}">
                <a16:creationId xmlns:a16="http://schemas.microsoft.com/office/drawing/2014/main" id="{3BF5FB99-A919-470C-9CA0-317FA7DDD38D}"/>
              </a:ext>
            </a:extLst>
          </p:cNvPr>
          <p:cNvSpPr txBox="1">
            <a:spLocks noChangeArrowheads="1"/>
          </p:cNvSpPr>
          <p:nvPr/>
        </p:nvSpPr>
        <p:spPr bwMode="auto">
          <a:xfrm>
            <a:off x="7305675" y="4652963"/>
            <a:ext cx="14398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lang="en-US" altLang="zh-CN" sz="3200" b="0">
                <a:effectLst>
                  <a:outerShdw blurRad="38100" dist="38100" dir="2700000" algn="tl">
                    <a:srgbClr val="000000"/>
                  </a:outerShdw>
                </a:effectLst>
                <a:latin typeface="Times New Roman" panose="02020603050405020304" pitchFamily="18" charset="0"/>
                <a:ea typeface="黑体" panose="02010609060101010101" pitchFamily="49" charset="-122"/>
              </a:rPr>
              <a:t>1010</a:t>
            </a:r>
          </a:p>
        </p:txBody>
      </p:sp>
      <p:sp>
        <p:nvSpPr>
          <p:cNvPr id="161833" name="Text Box 41">
            <a:extLst>
              <a:ext uri="{FF2B5EF4-FFF2-40B4-BE49-F238E27FC236}">
                <a16:creationId xmlns:a16="http://schemas.microsoft.com/office/drawing/2014/main" id="{3C3D8B69-0B38-4586-A1E9-ACD33147F3A6}"/>
              </a:ext>
            </a:extLst>
          </p:cNvPr>
          <p:cNvSpPr txBox="1">
            <a:spLocks noChangeArrowheads="1"/>
          </p:cNvSpPr>
          <p:nvPr/>
        </p:nvSpPr>
        <p:spPr bwMode="auto">
          <a:xfrm>
            <a:off x="465138" y="5657850"/>
            <a:ext cx="13684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buSzPct val="60000"/>
              <a:buFont typeface="Wingdings" panose="05000000000000000000" pitchFamily="2" charset="2"/>
              <a:buNone/>
            </a:pPr>
            <a:r>
              <a:rPr lang="en-US" altLang="zh-CN">
                <a:latin typeface="Times New Roman" panose="02020603050405020304" pitchFamily="18" charset="0"/>
                <a:ea typeface="黑体" panose="02010609060101010101" pitchFamily="49" charset="-122"/>
              </a:rPr>
              <a:t>1011</a:t>
            </a:r>
          </a:p>
        </p:txBody>
      </p:sp>
    </p:spTree>
  </p:cSld>
  <p:clrMapOvr>
    <a:masterClrMapping/>
  </p:clrMapOvr>
  <p:transition>
    <p:newsflash/>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blinds(horizontal)">
                                      <p:cBhvr>
                                        <p:cTn id="7" dur="500"/>
                                        <p:tgtEl>
                                          <p:spTgt spid="161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1795"/>
                                        </p:tgtEl>
                                        <p:attrNameLst>
                                          <p:attrName>style.visibility</p:attrName>
                                        </p:attrNameLst>
                                      </p:cBhvr>
                                      <p:to>
                                        <p:strVal val="visible"/>
                                      </p:to>
                                    </p:set>
                                    <p:animEffect transition="in" filter="box(in)">
                                      <p:cBhvr>
                                        <p:cTn id="12" dur="500"/>
                                        <p:tgtEl>
                                          <p:spTgt spid="161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161796"/>
                                        </p:tgtEl>
                                        <p:attrNameLst>
                                          <p:attrName>style.visibility</p:attrName>
                                        </p:attrNameLst>
                                      </p:cBhvr>
                                      <p:to>
                                        <p:strVal val="visible"/>
                                      </p:to>
                                    </p:set>
                                    <p:anim calcmode="lin" valueType="num">
                                      <p:cBhvr>
                                        <p:cTn id="17" dur="500" fill="hold"/>
                                        <p:tgtEl>
                                          <p:spTgt spid="161796"/>
                                        </p:tgtEl>
                                        <p:attrNameLst>
                                          <p:attrName>ppt_w</p:attrName>
                                        </p:attrNameLst>
                                      </p:cBhvr>
                                      <p:tavLst>
                                        <p:tav tm="0">
                                          <p:val>
                                            <p:fltVal val="0"/>
                                          </p:val>
                                        </p:tav>
                                        <p:tav tm="100000">
                                          <p:val>
                                            <p:strVal val="#ppt_w"/>
                                          </p:val>
                                        </p:tav>
                                      </p:tavLst>
                                    </p:anim>
                                    <p:anim calcmode="lin" valueType="num">
                                      <p:cBhvr>
                                        <p:cTn id="18" dur="500" fill="hold"/>
                                        <p:tgtEl>
                                          <p:spTgt spid="161796"/>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1822"/>
                                        </p:tgtEl>
                                        <p:attrNameLst>
                                          <p:attrName>style.visibility</p:attrName>
                                        </p:attrNameLst>
                                      </p:cBhvr>
                                      <p:to>
                                        <p:strVal val="visible"/>
                                      </p:to>
                                    </p:set>
                                    <p:animEffect transition="in" filter="wipe(left)">
                                      <p:cBhvr>
                                        <p:cTn id="23" dur="500"/>
                                        <p:tgtEl>
                                          <p:spTgt spid="1618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1823"/>
                                        </p:tgtEl>
                                        <p:attrNameLst>
                                          <p:attrName>style.visibility</p:attrName>
                                        </p:attrNameLst>
                                      </p:cBhvr>
                                      <p:to>
                                        <p:strVal val="visible"/>
                                      </p:to>
                                    </p:set>
                                    <p:animEffect transition="in" filter="wipe(left)">
                                      <p:cBhvr>
                                        <p:cTn id="28" dur="500"/>
                                        <p:tgtEl>
                                          <p:spTgt spid="16182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1824"/>
                                        </p:tgtEl>
                                        <p:attrNameLst>
                                          <p:attrName>style.visibility</p:attrName>
                                        </p:attrNameLst>
                                      </p:cBhvr>
                                      <p:to>
                                        <p:strVal val="visible"/>
                                      </p:to>
                                    </p:set>
                                    <p:animEffect transition="in" filter="wipe(left)">
                                      <p:cBhvr>
                                        <p:cTn id="33" dur="500"/>
                                        <p:tgtEl>
                                          <p:spTgt spid="1618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1825"/>
                                        </p:tgtEl>
                                        <p:attrNameLst>
                                          <p:attrName>style.visibility</p:attrName>
                                        </p:attrNameLst>
                                      </p:cBhvr>
                                      <p:to>
                                        <p:strVal val="visible"/>
                                      </p:to>
                                    </p:set>
                                    <p:animEffect transition="in" filter="wipe(left)">
                                      <p:cBhvr>
                                        <p:cTn id="38" dur="500"/>
                                        <p:tgtEl>
                                          <p:spTgt spid="16182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1826"/>
                                        </p:tgtEl>
                                        <p:attrNameLst>
                                          <p:attrName>style.visibility</p:attrName>
                                        </p:attrNameLst>
                                      </p:cBhvr>
                                      <p:to>
                                        <p:strVal val="visible"/>
                                      </p:to>
                                    </p:set>
                                    <p:animEffect transition="in" filter="wipe(left)">
                                      <p:cBhvr>
                                        <p:cTn id="43" dur="500"/>
                                        <p:tgtEl>
                                          <p:spTgt spid="1618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61827"/>
                                        </p:tgtEl>
                                        <p:attrNameLst>
                                          <p:attrName>style.visibility</p:attrName>
                                        </p:attrNameLst>
                                      </p:cBhvr>
                                      <p:to>
                                        <p:strVal val="visible"/>
                                      </p:to>
                                    </p:set>
                                    <p:animEffect transition="in" filter="wipe(left)">
                                      <p:cBhvr>
                                        <p:cTn id="48" dur="500"/>
                                        <p:tgtEl>
                                          <p:spTgt spid="16182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61828"/>
                                        </p:tgtEl>
                                        <p:attrNameLst>
                                          <p:attrName>style.visibility</p:attrName>
                                        </p:attrNameLst>
                                      </p:cBhvr>
                                      <p:to>
                                        <p:strVal val="visible"/>
                                      </p:to>
                                    </p:set>
                                    <p:animEffect transition="in" filter="wipe(left)">
                                      <p:cBhvr>
                                        <p:cTn id="53" dur="500"/>
                                        <p:tgtEl>
                                          <p:spTgt spid="16182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61829"/>
                                        </p:tgtEl>
                                        <p:attrNameLst>
                                          <p:attrName>style.visibility</p:attrName>
                                        </p:attrNameLst>
                                      </p:cBhvr>
                                      <p:to>
                                        <p:strVal val="visible"/>
                                      </p:to>
                                    </p:set>
                                    <p:animEffect transition="in" filter="wipe(left)">
                                      <p:cBhvr>
                                        <p:cTn id="58" dur="500"/>
                                        <p:tgtEl>
                                          <p:spTgt spid="161829"/>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61832"/>
                                        </p:tgtEl>
                                        <p:attrNameLst>
                                          <p:attrName>style.visibility</p:attrName>
                                        </p:attrNameLst>
                                      </p:cBhvr>
                                      <p:to>
                                        <p:strVal val="visible"/>
                                      </p:to>
                                    </p:set>
                                    <p:animEffect transition="in" filter="wipe(left)">
                                      <p:cBhvr>
                                        <p:cTn id="63" dur="500"/>
                                        <p:tgtEl>
                                          <p:spTgt spid="16183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61833"/>
                                        </p:tgtEl>
                                        <p:attrNameLst>
                                          <p:attrName>style.visibility</p:attrName>
                                        </p:attrNameLst>
                                      </p:cBhvr>
                                      <p:to>
                                        <p:strVal val="visible"/>
                                      </p:to>
                                    </p:set>
                                    <p:animEffect transition="in" filter="wipe(left)">
                                      <p:cBhvr>
                                        <p:cTn id="68" dur="500"/>
                                        <p:tgtEl>
                                          <p:spTgt spid="161833"/>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61830"/>
                                        </p:tgtEl>
                                        <p:attrNameLst>
                                          <p:attrName>style.visibility</p:attrName>
                                        </p:attrNameLst>
                                      </p:cBhvr>
                                      <p:to>
                                        <p:strVal val="visible"/>
                                      </p:to>
                                    </p:set>
                                    <p:animEffect transition="in" filter="wipe(left)">
                                      <p:cBhvr>
                                        <p:cTn id="73" dur="500"/>
                                        <p:tgtEl>
                                          <p:spTgt spid="16183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61831"/>
                                        </p:tgtEl>
                                        <p:attrNameLst>
                                          <p:attrName>style.visibility</p:attrName>
                                        </p:attrNameLst>
                                      </p:cBhvr>
                                      <p:to>
                                        <p:strVal val="visible"/>
                                      </p:to>
                                    </p:set>
                                    <p:animEffect transition="in" filter="wipe(left)">
                                      <p:cBhvr>
                                        <p:cTn id="78" dur="500"/>
                                        <p:tgtEl>
                                          <p:spTgt spid="161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autoUpdateAnimBg="0"/>
      <p:bldP spid="161795" grpId="0" autoUpdateAnimBg="0"/>
      <p:bldP spid="161822" grpId="0"/>
      <p:bldP spid="161823" grpId="0"/>
      <p:bldP spid="161824" grpId="0"/>
      <p:bldP spid="161825" grpId="0"/>
      <p:bldP spid="161826" grpId="0"/>
      <p:bldP spid="161827" grpId="0"/>
      <p:bldP spid="161828" grpId="0"/>
      <p:bldP spid="161829" grpId="0"/>
      <p:bldP spid="161830" grpId="0"/>
      <p:bldP spid="161831" grpId="0"/>
      <p:bldP spid="161832" grpId="0"/>
      <p:bldP spid="16183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892D0FFE-9758-48F3-BD4A-05CE4E05571E}"/>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F7C04E22-1292-4A3D-A0E5-8FBB76A7A26D}" type="slidenum">
              <a:rPr lang="en-US" altLang="zh-CN" b="0"/>
              <a:pPr/>
              <a:t>10</a:t>
            </a:fld>
            <a:endParaRPr lang="en-US" altLang="zh-CN" b="0"/>
          </a:p>
        </p:txBody>
      </p:sp>
      <p:sp>
        <p:nvSpPr>
          <p:cNvPr id="162818" name="Rectangle 2">
            <a:extLst>
              <a:ext uri="{FF2B5EF4-FFF2-40B4-BE49-F238E27FC236}">
                <a16:creationId xmlns:a16="http://schemas.microsoft.com/office/drawing/2014/main" id="{256D1645-7F31-48CA-ABC7-AB2F9E4CEA70}"/>
              </a:ext>
            </a:extLst>
          </p:cNvPr>
          <p:cNvSpPr>
            <a:spLocks noChangeArrowheads="1"/>
          </p:cNvSpPr>
          <p:nvPr/>
        </p:nvSpPr>
        <p:spPr bwMode="auto">
          <a:xfrm>
            <a:off x="395288" y="549275"/>
            <a:ext cx="7056437" cy="130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ClrTx/>
              <a:buSzTx/>
              <a:buFontTx/>
              <a:buNone/>
            </a:pPr>
            <a:r>
              <a:rPr lang="en-US" altLang="zh-CN" sz="2800"/>
              <a:t>4. </a:t>
            </a:r>
            <a:r>
              <a:rPr lang="zh-CN" altLang="en-US" sz="2800"/>
              <a:t>总结</a:t>
            </a:r>
          </a:p>
          <a:p>
            <a:pPr eaLnBrk="1" hangingPunct="1">
              <a:lnSpc>
                <a:spcPct val="125000"/>
              </a:lnSpc>
              <a:spcBef>
                <a:spcPct val="35000"/>
              </a:spcBef>
              <a:buClrTx/>
              <a:buSzTx/>
              <a:buFontTx/>
              <a:buNone/>
            </a:pPr>
            <a:r>
              <a:rPr lang="zh-CN" altLang="en-US" sz="2400"/>
              <a:t>       </a:t>
            </a:r>
            <a:r>
              <a:rPr lang="zh-CN" altLang="en-US" sz="2800">
                <a:solidFill>
                  <a:srgbClr val="FFFF66"/>
                </a:solidFill>
              </a:rPr>
              <a:t>从最高位逐位置</a:t>
            </a:r>
            <a:r>
              <a:rPr lang="en-US" altLang="zh-CN" sz="2800">
                <a:solidFill>
                  <a:srgbClr val="FFFF66"/>
                </a:solidFill>
              </a:rPr>
              <a:t>1</a:t>
            </a:r>
            <a:r>
              <a:rPr lang="zh-CN" altLang="en-US" sz="2800">
                <a:solidFill>
                  <a:srgbClr val="FFFF66"/>
                </a:solidFill>
              </a:rPr>
              <a:t>，比较，决定去留。</a:t>
            </a:r>
          </a:p>
        </p:txBody>
      </p:sp>
      <p:sp>
        <p:nvSpPr>
          <p:cNvPr id="162819" name="Text Box 3">
            <a:extLst>
              <a:ext uri="{FF2B5EF4-FFF2-40B4-BE49-F238E27FC236}">
                <a16:creationId xmlns:a16="http://schemas.microsoft.com/office/drawing/2014/main" id="{5FD02236-9F31-43F6-A838-001FE04D9D23}"/>
              </a:ext>
            </a:extLst>
          </p:cNvPr>
          <p:cNvSpPr txBox="1">
            <a:spLocks noChangeArrowheads="1"/>
          </p:cNvSpPr>
          <p:nvPr/>
        </p:nvSpPr>
        <p:spPr bwMode="auto">
          <a:xfrm>
            <a:off x="468313" y="1844675"/>
            <a:ext cx="7993062"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5000"/>
              </a:spcBef>
              <a:buClrTx/>
              <a:buSzTx/>
              <a:buFontTx/>
              <a:buNone/>
            </a:pPr>
            <a:r>
              <a:rPr lang="en-US" altLang="zh-CN" sz="2800"/>
              <a:t>      </a:t>
            </a:r>
            <a:r>
              <a:rPr lang="zh-CN" altLang="en-US" sz="2800"/>
              <a:t>用逐次逼近法时，首先将最高位置</a:t>
            </a:r>
            <a:r>
              <a:rPr lang="en-US" altLang="zh-CN" sz="2800"/>
              <a:t>1</a:t>
            </a:r>
            <a:r>
              <a:rPr lang="zh-CN" altLang="en-US" sz="2800"/>
              <a:t>，这相当于取最大允许电压的</a:t>
            </a:r>
            <a:r>
              <a:rPr lang="en-US" altLang="zh-CN" sz="2800"/>
              <a:t>1/2</a:t>
            </a:r>
            <a:r>
              <a:rPr lang="zh-CN" altLang="en-US" sz="2800"/>
              <a:t>与输入电压比较，若搜索值小于最大允许电压的</a:t>
            </a:r>
            <a:r>
              <a:rPr lang="en-US" altLang="zh-CN" sz="2800"/>
              <a:t>1/2</a:t>
            </a:r>
            <a:r>
              <a:rPr lang="zh-CN" altLang="en-US" sz="2800"/>
              <a:t>时，将最高位复位，次高位置</a:t>
            </a:r>
            <a:r>
              <a:rPr lang="en-US" altLang="zh-CN" sz="2800"/>
              <a:t>1</a:t>
            </a:r>
            <a:r>
              <a:rPr lang="zh-CN" altLang="en-US" sz="2800"/>
              <a:t>，相当于在二分之一范围内再作对半搜索。若搜索值大于最大允许电压的</a:t>
            </a:r>
            <a:r>
              <a:rPr lang="en-US" altLang="zh-CN" sz="2800"/>
              <a:t>1/2</a:t>
            </a:r>
            <a:r>
              <a:rPr lang="zh-CN" altLang="en-US" sz="2800"/>
              <a:t>时，最高位</a:t>
            </a:r>
            <a:r>
              <a:rPr lang="en-US" altLang="zh-CN" sz="2800"/>
              <a:t>1</a:t>
            </a:r>
            <a:r>
              <a:rPr lang="zh-CN" altLang="en-US" sz="2800"/>
              <a:t>保留，次高位置</a:t>
            </a:r>
            <a:r>
              <a:rPr lang="en-US" altLang="zh-CN" sz="2800"/>
              <a:t>1</a:t>
            </a:r>
            <a:r>
              <a:rPr lang="zh-CN" altLang="en-US" sz="2800"/>
              <a:t>，相当于在另外一个二分之一的范围中再作对半搜索。因此逐次逼近法也称为</a:t>
            </a:r>
            <a:r>
              <a:rPr lang="zh-CN" altLang="en-US" sz="2800">
                <a:solidFill>
                  <a:srgbClr val="FFFF00"/>
                </a:solidFill>
              </a:rPr>
              <a:t>二分搜索法</a:t>
            </a:r>
            <a:r>
              <a:rPr lang="zh-CN" altLang="en-US" sz="2800"/>
              <a:t>或</a:t>
            </a:r>
            <a:r>
              <a:rPr lang="zh-CN" altLang="en-US" sz="2800">
                <a:solidFill>
                  <a:srgbClr val="FFFF00"/>
                </a:solidFill>
              </a:rPr>
              <a:t>对半搜索法</a:t>
            </a:r>
            <a:r>
              <a:rPr lang="zh-CN" altLang="en-US" sz="2800"/>
              <a:t>。</a:t>
            </a:r>
            <a:endParaRPr lang="zh-CN" altLang="en-US" sz="2800" b="0"/>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2818"/>
                                        </p:tgtEl>
                                        <p:attrNameLst>
                                          <p:attrName>style.visibility</p:attrName>
                                        </p:attrNameLst>
                                      </p:cBhvr>
                                      <p:to>
                                        <p:strVal val="visible"/>
                                      </p:to>
                                    </p:set>
                                    <p:animEffect transition="in" filter="blinds(horizontal)">
                                      <p:cBhvr>
                                        <p:cTn id="7" dur="500"/>
                                        <p:tgtEl>
                                          <p:spTgt spid="1628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162819"/>
                                        </p:tgtEl>
                                        <p:attrNameLst>
                                          <p:attrName>style.visibility</p:attrName>
                                        </p:attrNameLst>
                                      </p:cBhvr>
                                      <p:to>
                                        <p:strVal val="visible"/>
                                      </p:to>
                                    </p:set>
                                    <p:animEffect transition="in" filter="barn(inHorizontal)">
                                      <p:cBhvr>
                                        <p:cTn id="12" dur="500"/>
                                        <p:tgtEl>
                                          <p:spTgt spid="162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8" grpId="0"/>
      <p:bldP spid="16281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FAC0F6D-3B6F-4360-82BE-30F87820F588}"/>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2E50905-EE67-4E65-A444-5EB892D030AA}" type="slidenum">
              <a:rPr lang="en-US" altLang="zh-CN" b="0"/>
              <a:pPr/>
              <a:t>11</a:t>
            </a:fld>
            <a:endParaRPr lang="en-US" altLang="zh-CN" b="0"/>
          </a:p>
        </p:txBody>
      </p:sp>
      <p:sp>
        <p:nvSpPr>
          <p:cNvPr id="40963" name="Text Box 2">
            <a:extLst>
              <a:ext uri="{FF2B5EF4-FFF2-40B4-BE49-F238E27FC236}">
                <a16:creationId xmlns:a16="http://schemas.microsoft.com/office/drawing/2014/main" id="{5C2354FA-73BD-4F70-A692-C8276930A444}"/>
              </a:ext>
            </a:extLst>
          </p:cNvPr>
          <p:cNvSpPr txBox="1">
            <a:spLocks noChangeArrowheads="1"/>
          </p:cNvSpPr>
          <p:nvPr/>
        </p:nvSpPr>
        <p:spPr bwMode="auto">
          <a:xfrm>
            <a:off x="684213" y="725488"/>
            <a:ext cx="75438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t>A/D</a:t>
            </a:r>
            <a:r>
              <a:rPr lang="zh-CN" altLang="en-US"/>
              <a:t>转换器的主要技术指标</a:t>
            </a:r>
          </a:p>
        </p:txBody>
      </p:sp>
      <p:sp>
        <p:nvSpPr>
          <p:cNvPr id="125959" name="Text Box 7">
            <a:extLst>
              <a:ext uri="{FF2B5EF4-FFF2-40B4-BE49-F238E27FC236}">
                <a16:creationId xmlns:a16="http://schemas.microsoft.com/office/drawing/2014/main" id="{EDCA773E-957F-496B-9D53-605BAEE0D454}"/>
              </a:ext>
            </a:extLst>
          </p:cNvPr>
          <p:cNvSpPr txBox="1">
            <a:spLocks noChangeArrowheads="1"/>
          </p:cNvSpPr>
          <p:nvPr/>
        </p:nvSpPr>
        <p:spPr bwMode="auto">
          <a:xfrm>
            <a:off x="684213" y="1700213"/>
            <a:ext cx="8064500" cy="274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dirty="0">
                <a:solidFill>
                  <a:srgbClr val="FFFF00"/>
                </a:solidFill>
              </a:rPr>
              <a:t>1. </a:t>
            </a:r>
            <a:r>
              <a:rPr lang="zh-CN" altLang="en-US" sz="2800" dirty="0">
                <a:solidFill>
                  <a:srgbClr val="FFFF00"/>
                </a:solidFill>
              </a:rPr>
              <a:t>分辨率</a:t>
            </a:r>
          </a:p>
          <a:p>
            <a:pPr eaLnBrk="1" hangingPunct="1">
              <a:lnSpc>
                <a:spcPct val="130000"/>
              </a:lnSpc>
              <a:spcBef>
                <a:spcPct val="0"/>
              </a:spcBef>
              <a:buClrTx/>
              <a:buSzTx/>
              <a:buFontTx/>
              <a:buNone/>
            </a:pPr>
            <a:r>
              <a:rPr lang="zh-CN" altLang="en-US" sz="2800" dirty="0"/>
              <a:t>        指</a:t>
            </a:r>
            <a:r>
              <a:rPr lang="en-US" altLang="zh-CN" sz="2800" dirty="0"/>
              <a:t>A/D</a:t>
            </a:r>
            <a:r>
              <a:rPr lang="zh-CN" altLang="en-US" sz="2800" dirty="0"/>
              <a:t>转换器所分辨的最小模拟输入量。如</a:t>
            </a:r>
            <a:r>
              <a:rPr lang="en-US" altLang="zh-CN" sz="2800" dirty="0"/>
              <a:t>4</a:t>
            </a:r>
            <a:r>
              <a:rPr lang="zh-CN" altLang="en-US" sz="2800" dirty="0"/>
              <a:t>位</a:t>
            </a:r>
            <a:r>
              <a:rPr lang="en-US" altLang="zh-CN" sz="2800" dirty="0"/>
              <a:t>A/D</a:t>
            </a:r>
            <a:r>
              <a:rPr lang="zh-CN" altLang="en-US" sz="2800" dirty="0"/>
              <a:t>转换器，满量程电压为</a:t>
            </a:r>
            <a:r>
              <a:rPr lang="en-US" altLang="zh-CN" sz="2800" dirty="0"/>
              <a:t>5V</a:t>
            </a:r>
            <a:r>
              <a:rPr lang="zh-CN" altLang="en-US" sz="2800" dirty="0"/>
              <a:t>，则分辨率</a:t>
            </a:r>
            <a:r>
              <a:rPr lang="en-US" altLang="zh-CN" sz="2800" dirty="0"/>
              <a:t>=5/2</a:t>
            </a:r>
            <a:r>
              <a:rPr lang="en-US" altLang="zh-CN" sz="2800" baseline="30000" dirty="0"/>
              <a:t>4</a:t>
            </a:r>
            <a:r>
              <a:rPr lang="en-US" altLang="zh-CN" sz="2800" dirty="0"/>
              <a:t>=0.3125V</a:t>
            </a:r>
            <a:r>
              <a:rPr lang="zh-CN" altLang="en-US" sz="2800" dirty="0"/>
              <a:t>，而</a:t>
            </a:r>
            <a:r>
              <a:rPr lang="en-US" altLang="zh-CN" sz="2800" dirty="0"/>
              <a:t>8</a:t>
            </a:r>
            <a:r>
              <a:rPr lang="zh-CN" altLang="en-US" sz="2800" dirty="0"/>
              <a:t>位</a:t>
            </a:r>
            <a:r>
              <a:rPr lang="en-US" altLang="zh-CN" sz="2800" dirty="0"/>
              <a:t>A/D</a:t>
            </a:r>
            <a:r>
              <a:rPr lang="zh-CN" altLang="en-US" sz="2800" dirty="0"/>
              <a:t>转换器的分辨率</a:t>
            </a:r>
            <a:r>
              <a:rPr lang="en-US" altLang="zh-CN" sz="2800" dirty="0"/>
              <a:t>=5V/256=0.0195</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5959"/>
                                        </p:tgtEl>
                                        <p:attrNameLst>
                                          <p:attrName>style.visibility</p:attrName>
                                        </p:attrNameLst>
                                      </p:cBhvr>
                                      <p:to>
                                        <p:strVal val="visible"/>
                                      </p:to>
                                    </p:set>
                                    <p:animEffect transition="in" filter="blinds(horizontal)">
                                      <p:cBhvr>
                                        <p:cTn id="7" dur="500"/>
                                        <p:tgtEl>
                                          <p:spTgt spid="125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9"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288499DD-21FE-4106-9F65-54B89BB0E816}"/>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AB32162-E052-4C3A-B69C-2A094DE45BB8}" type="slidenum">
              <a:rPr lang="en-US" altLang="zh-CN" b="0"/>
              <a:pPr/>
              <a:t>12</a:t>
            </a:fld>
            <a:endParaRPr lang="en-US" altLang="zh-CN" b="0"/>
          </a:p>
        </p:txBody>
      </p:sp>
      <p:sp>
        <p:nvSpPr>
          <p:cNvPr id="112645" name="Text Box 5">
            <a:extLst>
              <a:ext uri="{FF2B5EF4-FFF2-40B4-BE49-F238E27FC236}">
                <a16:creationId xmlns:a16="http://schemas.microsoft.com/office/drawing/2014/main" id="{F6D0CE35-A572-4C49-B4D8-62C1CEC72BB7}"/>
              </a:ext>
            </a:extLst>
          </p:cNvPr>
          <p:cNvSpPr txBox="1">
            <a:spLocks noChangeArrowheads="1"/>
          </p:cNvSpPr>
          <p:nvPr/>
        </p:nvSpPr>
        <p:spPr bwMode="auto">
          <a:xfrm>
            <a:off x="468313" y="620713"/>
            <a:ext cx="8280400"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50000"/>
              </a:spcBef>
              <a:buClrTx/>
              <a:buSzTx/>
              <a:buFontTx/>
              <a:buNone/>
            </a:pPr>
            <a:r>
              <a:rPr lang="en-US" altLang="zh-CN" sz="2900">
                <a:solidFill>
                  <a:srgbClr val="FFFF00"/>
                </a:solidFill>
              </a:rPr>
              <a:t>2. </a:t>
            </a:r>
            <a:r>
              <a:rPr lang="zh-CN" altLang="en-US" sz="2900">
                <a:solidFill>
                  <a:srgbClr val="FFFF00"/>
                </a:solidFill>
              </a:rPr>
              <a:t>转换时间</a:t>
            </a:r>
          </a:p>
          <a:p>
            <a:pPr eaLnBrk="1" hangingPunct="1">
              <a:lnSpc>
                <a:spcPct val="140000"/>
              </a:lnSpc>
              <a:spcBef>
                <a:spcPct val="5000"/>
              </a:spcBef>
              <a:buClrTx/>
              <a:buSzTx/>
              <a:buFontTx/>
              <a:buNone/>
            </a:pPr>
            <a:r>
              <a:rPr lang="zh-CN" altLang="en-US" sz="2900"/>
              <a:t>       </a:t>
            </a:r>
            <a:r>
              <a:rPr lang="en-US" altLang="zh-CN" sz="2900"/>
              <a:t>A/D</a:t>
            </a:r>
            <a:r>
              <a:rPr lang="zh-CN" altLang="en-US" sz="2900"/>
              <a:t>转换时间指的是从发出启动转换命令到转换结束获得整个数字信号为止所需的时间间隔。</a:t>
            </a:r>
          </a:p>
          <a:p>
            <a:pPr eaLnBrk="1" hangingPunct="1">
              <a:lnSpc>
                <a:spcPct val="140000"/>
              </a:lnSpc>
              <a:spcBef>
                <a:spcPct val="5000"/>
              </a:spcBef>
              <a:buClrTx/>
              <a:buSzTx/>
              <a:buFontTx/>
              <a:buNone/>
            </a:pPr>
            <a:r>
              <a:rPr lang="zh-CN" altLang="en-US" sz="2900"/>
              <a:t>       完成一次</a:t>
            </a:r>
            <a:r>
              <a:rPr lang="en-US" altLang="zh-CN" sz="2900"/>
              <a:t>A/D</a:t>
            </a:r>
            <a:r>
              <a:rPr lang="zh-CN" altLang="en-US" sz="2900"/>
              <a:t>转换所需时间，表明转换的速度。当转换时间大于</a:t>
            </a:r>
            <a:r>
              <a:rPr lang="en-US" altLang="zh-CN" sz="2900"/>
              <a:t>10ms</a:t>
            </a:r>
            <a:r>
              <a:rPr lang="zh-CN" altLang="en-US" sz="2900"/>
              <a:t>时，则该</a:t>
            </a:r>
            <a:r>
              <a:rPr lang="en-US" altLang="zh-CN" sz="2900"/>
              <a:t>ADC</a:t>
            </a:r>
            <a:r>
              <a:rPr lang="zh-CN" altLang="en-US" sz="2900"/>
              <a:t>为慢速；若转换时间在</a:t>
            </a:r>
            <a:r>
              <a:rPr lang="en-US" altLang="zh-CN" sz="2900"/>
              <a:t>100us-10ms</a:t>
            </a:r>
            <a:r>
              <a:rPr lang="zh-CN" altLang="en-US" sz="2900"/>
              <a:t>之间时，为中速；若转换时间在</a:t>
            </a:r>
            <a:r>
              <a:rPr lang="en-US" altLang="zh-CN" sz="2900"/>
              <a:t>1us-100us</a:t>
            </a:r>
            <a:r>
              <a:rPr lang="zh-CN" altLang="en-US" sz="2900"/>
              <a:t>之间时，为高速；时间小于</a:t>
            </a:r>
            <a:r>
              <a:rPr lang="en-US" altLang="zh-CN" sz="2900"/>
              <a:t>1us</a:t>
            </a:r>
            <a:r>
              <a:rPr lang="zh-CN" altLang="en-US" sz="2900"/>
              <a:t>，为超高速转换器。</a:t>
            </a: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2645"/>
                                        </p:tgtEl>
                                        <p:attrNameLst>
                                          <p:attrName>style.visibility</p:attrName>
                                        </p:attrNameLst>
                                      </p:cBhvr>
                                      <p:to>
                                        <p:strVal val="visible"/>
                                      </p:to>
                                    </p:set>
                                    <p:animEffect transition="in" filter="box(in)">
                                      <p:cBhvr>
                                        <p:cTn id="7" dur="500"/>
                                        <p:tgtEl>
                                          <p:spTgt spid="1126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AE5BF0D7-5DC8-4AD5-9052-1E3E55CC0ECB}"/>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B4AB4884-A3E5-461C-8389-BFCD94939F61}" type="slidenum">
              <a:rPr lang="en-US" altLang="zh-CN" b="0"/>
              <a:pPr/>
              <a:t>13</a:t>
            </a:fld>
            <a:endParaRPr lang="en-US" altLang="zh-CN" b="0"/>
          </a:p>
        </p:txBody>
      </p:sp>
      <p:sp>
        <p:nvSpPr>
          <p:cNvPr id="176130" name="Rectangle 2">
            <a:extLst>
              <a:ext uri="{FF2B5EF4-FFF2-40B4-BE49-F238E27FC236}">
                <a16:creationId xmlns:a16="http://schemas.microsoft.com/office/drawing/2014/main" id="{5BC3930B-BCA2-46FD-9DFC-DC3640F23671}"/>
              </a:ext>
            </a:extLst>
          </p:cNvPr>
          <p:cNvSpPr>
            <a:spLocks noGrp="1" noChangeArrowheads="1"/>
          </p:cNvSpPr>
          <p:nvPr>
            <p:ph type="title"/>
          </p:nvPr>
        </p:nvSpPr>
        <p:spPr>
          <a:xfrm>
            <a:off x="684213" y="404813"/>
            <a:ext cx="6861175" cy="1143000"/>
          </a:xfrm>
        </p:spPr>
        <p:txBody>
          <a:bodyPr/>
          <a:lstStyle/>
          <a:p>
            <a:pPr algn="l" eaLnBrk="1" hangingPunct="1">
              <a:defRPr/>
            </a:pPr>
            <a:r>
              <a:rPr lang="en-US" altLang="zh-CN" sz="3600" b="1" dirty="0"/>
              <a:t>A/D</a:t>
            </a:r>
            <a:r>
              <a:rPr lang="zh-CN" altLang="en-US" sz="3600" b="1" dirty="0"/>
              <a:t>转换器的外部特性</a:t>
            </a:r>
          </a:p>
        </p:txBody>
      </p:sp>
      <p:sp>
        <p:nvSpPr>
          <p:cNvPr id="176131" name="Rectangle 3">
            <a:extLst>
              <a:ext uri="{FF2B5EF4-FFF2-40B4-BE49-F238E27FC236}">
                <a16:creationId xmlns:a16="http://schemas.microsoft.com/office/drawing/2014/main" id="{D01522BA-ACBC-4BEA-B97B-71F7970BB399}"/>
              </a:ext>
            </a:extLst>
          </p:cNvPr>
          <p:cNvSpPr>
            <a:spLocks noGrp="1" noChangeArrowheads="1"/>
          </p:cNvSpPr>
          <p:nvPr>
            <p:ph type="body" idx="1"/>
          </p:nvPr>
        </p:nvSpPr>
        <p:spPr/>
        <p:txBody>
          <a:bodyPr/>
          <a:lstStyle/>
          <a:p>
            <a:pPr eaLnBrk="1" hangingPunct="1">
              <a:buFont typeface="Wingdings" panose="05000000000000000000" pitchFamily="2" charset="2"/>
              <a:buNone/>
              <a:defRPr/>
            </a:pPr>
            <a:r>
              <a:rPr lang="en-US" altLang="zh-CN" dirty="0"/>
              <a:t>       </a:t>
            </a:r>
            <a:r>
              <a:rPr lang="zh-CN" altLang="en-US" b="1" dirty="0"/>
              <a:t>任何一种</a:t>
            </a:r>
            <a:r>
              <a:rPr lang="en-US" altLang="zh-CN" b="1" dirty="0"/>
              <a:t>A/D</a:t>
            </a:r>
            <a:r>
              <a:rPr lang="zh-CN" altLang="en-US" b="1" dirty="0"/>
              <a:t>转换器芯片一般具有的控制信号线：</a:t>
            </a:r>
          </a:p>
          <a:p>
            <a:pPr eaLnBrk="1" hangingPunct="1">
              <a:defRPr/>
            </a:pPr>
            <a:r>
              <a:rPr lang="zh-CN" altLang="en-US" b="1" dirty="0"/>
              <a:t>（</a:t>
            </a:r>
            <a:r>
              <a:rPr lang="en-US" altLang="zh-CN" b="1" dirty="0"/>
              <a:t>1</a:t>
            </a:r>
            <a:r>
              <a:rPr lang="zh-CN" altLang="en-US" b="1" dirty="0"/>
              <a:t>）启动转换信号线（</a:t>
            </a:r>
            <a:r>
              <a:rPr lang="en-US" altLang="zh-CN" b="1" dirty="0"/>
              <a:t>START</a:t>
            </a:r>
            <a:r>
              <a:rPr lang="zh-CN" altLang="en-US" b="1" dirty="0"/>
              <a:t>）；</a:t>
            </a:r>
          </a:p>
          <a:p>
            <a:pPr eaLnBrk="1" hangingPunct="1">
              <a:defRPr/>
            </a:pPr>
            <a:r>
              <a:rPr lang="zh-CN" altLang="en-US" b="1" dirty="0"/>
              <a:t>（</a:t>
            </a:r>
            <a:r>
              <a:rPr lang="en-US" altLang="zh-CN" b="1" dirty="0"/>
              <a:t>2</a:t>
            </a:r>
            <a:r>
              <a:rPr lang="zh-CN" altLang="en-US" b="1" dirty="0"/>
              <a:t>）转换结束信号线（</a:t>
            </a:r>
            <a:r>
              <a:rPr lang="en-US" altLang="zh-CN" b="1" dirty="0"/>
              <a:t>EOC</a:t>
            </a:r>
            <a:r>
              <a:rPr lang="zh-CN" altLang="en-US" b="1" dirty="0"/>
              <a:t>）； </a:t>
            </a:r>
          </a:p>
          <a:p>
            <a:pPr eaLnBrk="1" hangingPunct="1">
              <a:defRPr/>
            </a:pPr>
            <a:r>
              <a:rPr lang="zh-CN" altLang="en-US" b="1" dirty="0"/>
              <a:t>（</a:t>
            </a:r>
            <a:r>
              <a:rPr lang="en-US" altLang="zh-CN" b="1" dirty="0"/>
              <a:t>3</a:t>
            </a:r>
            <a:r>
              <a:rPr lang="zh-CN" altLang="en-US" b="1" dirty="0"/>
              <a:t>）片选信号线</a:t>
            </a: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041B50A-3925-4869-9FCB-2BB8845E5AC1}"/>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ED9342A5-77B2-429A-B099-E7E84E14E1E3}" type="slidenum">
              <a:rPr lang="en-US" altLang="zh-CN" b="0"/>
              <a:pPr/>
              <a:t>14</a:t>
            </a:fld>
            <a:endParaRPr lang="en-US" altLang="zh-CN" b="0"/>
          </a:p>
        </p:txBody>
      </p:sp>
      <p:pic>
        <p:nvPicPr>
          <p:cNvPr id="44035" name="Picture 56" descr="8t26">
            <a:extLst>
              <a:ext uri="{FF2B5EF4-FFF2-40B4-BE49-F238E27FC236}">
                <a16:creationId xmlns:a16="http://schemas.microsoft.com/office/drawing/2014/main" id="{AAF87581-D6F9-41CF-AB2C-AE12FB698EF0}"/>
              </a:ext>
            </a:extLst>
          </p:cNvPr>
          <p:cNvPicPr>
            <a:picLocks noGrp="1" noChangeAspect="1" noChangeArrowheads="1"/>
          </p:cNvPicPr>
          <p:nvPr>
            <p:ph type="body" idx="1"/>
          </p:nvPr>
        </p:nvPicPr>
        <p:blipFill>
          <a:blip r:embed="rId2">
            <a:lum bright="-24000" contrast="18000"/>
            <a:extLst>
              <a:ext uri="{28A0092B-C50C-407E-A947-70E740481C1C}">
                <a14:useLocalDpi xmlns:a14="http://schemas.microsoft.com/office/drawing/2010/main" val="0"/>
              </a:ext>
            </a:extLst>
          </a:blip>
          <a:srcRect/>
          <a:stretch>
            <a:fillRect/>
          </a:stretch>
        </p:blipFill>
        <p:spPr>
          <a:xfrm>
            <a:off x="179388" y="836613"/>
            <a:ext cx="8785225" cy="5832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37" name="Text Box 58">
            <a:extLst>
              <a:ext uri="{FF2B5EF4-FFF2-40B4-BE49-F238E27FC236}">
                <a16:creationId xmlns:a16="http://schemas.microsoft.com/office/drawing/2014/main" id="{F3B179C0-544E-4C06-8637-901C8294CA50}"/>
              </a:ext>
            </a:extLst>
          </p:cNvPr>
          <p:cNvSpPr txBox="1">
            <a:spLocks noChangeArrowheads="1"/>
          </p:cNvSpPr>
          <p:nvPr/>
        </p:nvSpPr>
        <p:spPr bwMode="auto">
          <a:xfrm>
            <a:off x="179388" y="333375"/>
            <a:ext cx="838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8.5.2   ADC0809</a:t>
            </a:r>
          </a:p>
        </p:txBody>
      </p:sp>
    </p:spTree>
  </p:cSld>
  <p:clrMapOvr>
    <a:masterClrMapping/>
  </p:clrMapOvr>
  <p:transition>
    <p:plus/>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8C4235AB-5960-4FD5-A0DB-1773C4BB3CB2}" type="slidenum">
              <a:rPr lang="en-US" altLang="zh-CN" smtClean="0"/>
              <a:pPr/>
              <a:t>15</a:t>
            </a:fld>
            <a:endParaRPr lang="en-US" altLang="zh-CN"/>
          </a:p>
        </p:txBody>
      </p:sp>
      <p:sp>
        <p:nvSpPr>
          <p:cNvPr id="5" name="Text Box 57">
            <a:extLst>
              <a:ext uri="{FF2B5EF4-FFF2-40B4-BE49-F238E27FC236}">
                <a16:creationId xmlns:a16="http://schemas.microsoft.com/office/drawing/2014/main" id="{A83217EA-26DD-45A1-B222-1AB71F96F48D}"/>
              </a:ext>
            </a:extLst>
          </p:cNvPr>
          <p:cNvSpPr txBox="1">
            <a:spLocks noChangeArrowheads="1"/>
          </p:cNvSpPr>
          <p:nvPr/>
        </p:nvSpPr>
        <p:spPr bwMode="auto">
          <a:xfrm>
            <a:off x="541338" y="1125538"/>
            <a:ext cx="7991475" cy="4404091"/>
          </a:xfrm>
          <a:prstGeom prst="rect">
            <a:avLst/>
          </a:prstGeom>
          <a:solidFill>
            <a:srgbClr val="FFCC99"/>
          </a:solidFill>
          <a:ln w="317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ClrTx/>
              <a:buSzTx/>
              <a:buFontTx/>
              <a:buNone/>
            </a:pPr>
            <a:r>
              <a:rPr lang="en-US" altLang="zh-CN" dirty="0">
                <a:solidFill>
                  <a:srgbClr val="000066"/>
                </a:solidFill>
                <a:latin typeface="宋体" panose="02010600030101010101" pitchFamily="2" charset="-122"/>
              </a:rPr>
              <a:t>1</a:t>
            </a:r>
            <a:r>
              <a:rPr lang="zh-CN" altLang="en-US" dirty="0">
                <a:solidFill>
                  <a:srgbClr val="000066"/>
                </a:solidFill>
                <a:latin typeface="宋体" panose="02010600030101010101" pitchFamily="2" charset="-122"/>
              </a:rPr>
              <a:t>、主要特性</a:t>
            </a:r>
          </a:p>
          <a:p>
            <a:pPr eaLnBrk="1" hangingPunct="1">
              <a:lnSpc>
                <a:spcPct val="125000"/>
              </a:lnSpc>
              <a:spcBef>
                <a:spcPct val="0"/>
              </a:spcBef>
              <a:buClrTx/>
              <a:buSzTx/>
              <a:buFontTx/>
              <a:buNone/>
            </a:pPr>
            <a:r>
              <a:rPr lang="zh-CN" altLang="en-US" sz="2800" dirty="0">
                <a:solidFill>
                  <a:srgbClr val="0000FF"/>
                </a:solidFill>
                <a:latin typeface="宋体" panose="02010600030101010101" pitchFamily="2" charset="-122"/>
              </a:rPr>
              <a:t>（</a:t>
            </a:r>
            <a:r>
              <a:rPr lang="en-US" altLang="zh-CN" sz="2800" dirty="0">
                <a:solidFill>
                  <a:srgbClr val="0000FF"/>
                </a:solidFill>
                <a:latin typeface="宋体" panose="02010600030101010101" pitchFamily="2" charset="-122"/>
              </a:rPr>
              <a:t>1</a:t>
            </a:r>
            <a:r>
              <a:rPr lang="zh-CN" altLang="en-US" sz="2800" dirty="0">
                <a:solidFill>
                  <a:srgbClr val="0000FF"/>
                </a:solidFill>
                <a:latin typeface="宋体" panose="02010600030101010101" pitchFamily="2" charset="-122"/>
              </a:rPr>
              <a:t>）</a:t>
            </a:r>
            <a:r>
              <a:rPr lang="en-US" altLang="zh-CN" sz="2800" dirty="0">
                <a:solidFill>
                  <a:srgbClr val="0000FF"/>
                </a:solidFill>
                <a:latin typeface="宋体" panose="02010600030101010101" pitchFamily="2" charset="-122"/>
              </a:rPr>
              <a:t>ADC0809</a:t>
            </a:r>
            <a:r>
              <a:rPr lang="zh-CN" altLang="en-US" sz="2800" dirty="0">
                <a:solidFill>
                  <a:srgbClr val="0000FF"/>
                </a:solidFill>
                <a:latin typeface="宋体" panose="02010600030101010101" pitchFamily="2" charset="-122"/>
              </a:rPr>
              <a:t>具有</a:t>
            </a:r>
            <a:r>
              <a:rPr lang="en-US" altLang="zh-CN" sz="2800" dirty="0">
                <a:solidFill>
                  <a:srgbClr val="0000FF"/>
                </a:solidFill>
                <a:latin typeface="宋体" panose="02010600030101010101" pitchFamily="2" charset="-122"/>
              </a:rPr>
              <a:t>8</a:t>
            </a:r>
            <a:r>
              <a:rPr lang="zh-CN" altLang="en-US" sz="2800" dirty="0">
                <a:solidFill>
                  <a:srgbClr val="0000FF"/>
                </a:solidFill>
                <a:latin typeface="宋体" panose="02010600030101010101" pitchFamily="2" charset="-122"/>
              </a:rPr>
              <a:t>个通道的模拟输入线</a:t>
            </a:r>
            <a:r>
              <a:rPr lang="en-US" altLang="zh-CN" sz="2800" dirty="0">
                <a:solidFill>
                  <a:srgbClr val="0000FF"/>
                </a:solidFill>
                <a:latin typeface="宋体" panose="02010600030101010101" pitchFamily="2" charset="-122"/>
              </a:rPr>
              <a:t>(IN0</a:t>
            </a:r>
            <a:r>
              <a:rPr lang="zh-CN" altLang="en-US" sz="2800" dirty="0">
                <a:solidFill>
                  <a:srgbClr val="0000FF"/>
                </a:solidFill>
                <a:latin typeface="宋体" panose="02010600030101010101" pitchFamily="2" charset="-122"/>
              </a:rPr>
              <a:t>～</a:t>
            </a:r>
            <a:r>
              <a:rPr lang="en-US" altLang="zh-CN" sz="2800" dirty="0">
                <a:solidFill>
                  <a:srgbClr val="0000FF"/>
                </a:solidFill>
                <a:latin typeface="宋体" panose="02010600030101010101" pitchFamily="2" charset="-122"/>
              </a:rPr>
              <a:t>IN7)</a:t>
            </a:r>
            <a:r>
              <a:rPr lang="zh-CN" altLang="en-US" sz="2800" dirty="0">
                <a:solidFill>
                  <a:srgbClr val="0000FF"/>
                </a:solidFill>
                <a:latin typeface="宋体" panose="02010600030101010101" pitchFamily="2" charset="-122"/>
              </a:rPr>
              <a:t>，可在程序控制下对任意通道进行</a:t>
            </a:r>
            <a:r>
              <a:rPr lang="en-US" altLang="zh-CN" sz="2800" dirty="0">
                <a:solidFill>
                  <a:srgbClr val="0000FF"/>
                </a:solidFill>
                <a:latin typeface="宋体" panose="02010600030101010101" pitchFamily="2" charset="-122"/>
              </a:rPr>
              <a:t>A/D</a:t>
            </a:r>
            <a:r>
              <a:rPr lang="zh-CN" altLang="en-US" sz="2800" dirty="0">
                <a:solidFill>
                  <a:srgbClr val="0000FF"/>
                </a:solidFill>
                <a:latin typeface="宋体" panose="02010600030101010101" pitchFamily="2" charset="-122"/>
              </a:rPr>
              <a:t>转换，输出</a:t>
            </a:r>
            <a:r>
              <a:rPr lang="en-US" altLang="zh-CN" sz="2800" dirty="0">
                <a:solidFill>
                  <a:srgbClr val="0000FF"/>
                </a:solidFill>
                <a:latin typeface="宋体" panose="02010600030101010101" pitchFamily="2" charset="-122"/>
              </a:rPr>
              <a:t>8</a:t>
            </a:r>
            <a:r>
              <a:rPr lang="zh-CN" altLang="en-US" sz="2800" dirty="0">
                <a:solidFill>
                  <a:srgbClr val="0000FF"/>
                </a:solidFill>
                <a:latin typeface="宋体" panose="02010600030101010101" pitchFamily="2" charset="-122"/>
              </a:rPr>
              <a:t>位二进制数字量</a:t>
            </a:r>
            <a:r>
              <a:rPr lang="en-US" altLang="zh-CN" sz="2800" dirty="0">
                <a:solidFill>
                  <a:srgbClr val="0000FF"/>
                </a:solidFill>
                <a:latin typeface="宋体" panose="02010600030101010101" pitchFamily="2" charset="-122"/>
              </a:rPr>
              <a:t>(D7</a:t>
            </a:r>
            <a:r>
              <a:rPr lang="zh-CN" altLang="en-US" sz="2800" dirty="0">
                <a:solidFill>
                  <a:srgbClr val="0000FF"/>
                </a:solidFill>
                <a:latin typeface="宋体" panose="02010600030101010101" pitchFamily="2" charset="-122"/>
              </a:rPr>
              <a:t>～</a:t>
            </a:r>
            <a:r>
              <a:rPr lang="en-US" altLang="zh-CN" sz="2800" dirty="0">
                <a:solidFill>
                  <a:srgbClr val="0000FF"/>
                </a:solidFill>
                <a:latin typeface="宋体" panose="02010600030101010101" pitchFamily="2" charset="-122"/>
              </a:rPr>
              <a:t>D0)</a:t>
            </a:r>
            <a:r>
              <a:rPr lang="zh-CN" altLang="en-US" sz="2800" dirty="0">
                <a:solidFill>
                  <a:srgbClr val="0000FF"/>
                </a:solidFill>
                <a:latin typeface="宋体" panose="02010600030101010101" pitchFamily="2" charset="-122"/>
              </a:rPr>
              <a:t>。</a:t>
            </a:r>
          </a:p>
          <a:p>
            <a:pPr eaLnBrk="1" hangingPunct="1">
              <a:lnSpc>
                <a:spcPct val="125000"/>
              </a:lnSpc>
              <a:spcBef>
                <a:spcPct val="0"/>
              </a:spcBef>
              <a:buClrTx/>
              <a:buSzTx/>
              <a:buFontTx/>
              <a:buNone/>
            </a:pPr>
            <a:r>
              <a:rPr lang="zh-CN" altLang="en-US" sz="2800" dirty="0">
                <a:solidFill>
                  <a:srgbClr val="0000FF"/>
                </a:solidFill>
                <a:latin typeface="宋体" panose="02010600030101010101" pitchFamily="2" charset="-122"/>
              </a:rPr>
              <a:t>（</a:t>
            </a:r>
            <a:r>
              <a:rPr lang="en-US" altLang="zh-CN" sz="2800" dirty="0">
                <a:solidFill>
                  <a:srgbClr val="0000FF"/>
                </a:solidFill>
                <a:latin typeface="宋体" panose="02010600030101010101" pitchFamily="2" charset="-122"/>
              </a:rPr>
              <a:t>2</a:t>
            </a:r>
            <a:r>
              <a:rPr lang="zh-CN" altLang="en-US" sz="2800" dirty="0">
                <a:solidFill>
                  <a:srgbClr val="0000FF"/>
                </a:solidFill>
                <a:latin typeface="宋体" panose="02010600030101010101" pitchFamily="2" charset="-122"/>
              </a:rPr>
              <a:t>）为了能实现</a:t>
            </a:r>
            <a:r>
              <a:rPr lang="en-US" altLang="zh-CN" sz="2800" dirty="0">
                <a:solidFill>
                  <a:srgbClr val="0000FF"/>
                </a:solidFill>
                <a:latin typeface="宋体" panose="02010600030101010101" pitchFamily="2" charset="-122"/>
              </a:rPr>
              <a:t>8</a:t>
            </a:r>
            <a:r>
              <a:rPr lang="zh-CN" altLang="en-US" sz="2800" dirty="0">
                <a:solidFill>
                  <a:srgbClr val="0000FF"/>
                </a:solidFill>
                <a:latin typeface="宋体" panose="02010600030101010101" pitchFamily="2" charset="-122"/>
              </a:rPr>
              <a:t>路模拟信号的分时采样，片内设置了</a:t>
            </a:r>
            <a:r>
              <a:rPr lang="en-US" altLang="zh-CN" sz="2800" dirty="0">
                <a:solidFill>
                  <a:srgbClr val="0000FF"/>
                </a:solidFill>
                <a:latin typeface="宋体" panose="02010600030101010101" pitchFamily="2" charset="-122"/>
              </a:rPr>
              <a:t>8</a:t>
            </a:r>
            <a:r>
              <a:rPr lang="zh-CN" altLang="en-US" sz="2800" dirty="0">
                <a:solidFill>
                  <a:srgbClr val="0000FF"/>
                </a:solidFill>
                <a:latin typeface="宋体" panose="02010600030101010101" pitchFamily="2" charset="-122"/>
              </a:rPr>
              <a:t>路模拟选通开关以及相应的通道地址锁存及译码电路。转换的数据送入三态输出数据锁存器。</a:t>
            </a:r>
          </a:p>
        </p:txBody>
      </p:sp>
    </p:spTree>
    <p:extLst>
      <p:ext uri="{BB962C8B-B14F-4D97-AF65-F5344CB8AC3E}">
        <p14:creationId xmlns:p14="http://schemas.microsoft.com/office/powerpoint/2010/main" val="268746976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44A6638D-D7CD-4CC6-82A9-4890F5227F79}"/>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14EE6A30-72D0-4430-86E5-31B2A2EDE82C}" type="slidenum">
              <a:rPr lang="en-US" altLang="zh-CN" b="0"/>
              <a:pPr/>
              <a:t>16</a:t>
            </a:fld>
            <a:endParaRPr lang="en-US" altLang="zh-CN" b="0"/>
          </a:p>
        </p:txBody>
      </p:sp>
      <p:sp>
        <p:nvSpPr>
          <p:cNvPr id="119811" name="Text Box 3">
            <a:extLst>
              <a:ext uri="{FF2B5EF4-FFF2-40B4-BE49-F238E27FC236}">
                <a16:creationId xmlns:a16="http://schemas.microsoft.com/office/drawing/2014/main" id="{5FDC38AE-4BD3-43A2-ABE5-1062E64F7195}"/>
              </a:ext>
            </a:extLst>
          </p:cNvPr>
          <p:cNvSpPr txBox="1">
            <a:spLocks noChangeArrowheads="1"/>
          </p:cNvSpPr>
          <p:nvPr/>
        </p:nvSpPr>
        <p:spPr bwMode="auto">
          <a:xfrm>
            <a:off x="468313" y="404813"/>
            <a:ext cx="708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2</a:t>
            </a:r>
            <a:r>
              <a:rPr lang="zh-CN" altLang="en-US" sz="2400"/>
              <a:t>、引脚特性</a:t>
            </a:r>
          </a:p>
        </p:txBody>
      </p:sp>
      <p:sp>
        <p:nvSpPr>
          <p:cNvPr id="119812" name="Text Box 4">
            <a:extLst>
              <a:ext uri="{FF2B5EF4-FFF2-40B4-BE49-F238E27FC236}">
                <a16:creationId xmlns:a16="http://schemas.microsoft.com/office/drawing/2014/main" id="{25562030-3DDD-4462-A3C2-45ACFCFD7D8F}"/>
              </a:ext>
            </a:extLst>
          </p:cNvPr>
          <p:cNvSpPr txBox="1">
            <a:spLocks noChangeArrowheads="1"/>
          </p:cNvSpPr>
          <p:nvPr/>
        </p:nvSpPr>
        <p:spPr bwMode="auto">
          <a:xfrm>
            <a:off x="323850" y="981075"/>
            <a:ext cx="762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400"/>
              <a:t>（</a:t>
            </a:r>
            <a:r>
              <a:rPr lang="en-US" altLang="zh-CN" sz="2400"/>
              <a:t>1</a:t>
            </a:r>
            <a:r>
              <a:rPr lang="zh-CN" altLang="en-US" sz="2400"/>
              <a:t>）</a:t>
            </a:r>
            <a:r>
              <a:rPr lang="en-US" altLang="zh-CN" sz="2400"/>
              <a:t>IN0-IN7</a:t>
            </a:r>
            <a:r>
              <a:rPr lang="zh-CN" altLang="en-US" sz="2400"/>
              <a:t>：</a:t>
            </a:r>
            <a:r>
              <a:rPr lang="en-US" altLang="zh-CN" sz="2400"/>
              <a:t>8</a:t>
            </a:r>
            <a:r>
              <a:rPr lang="zh-CN" altLang="en-US" sz="2400"/>
              <a:t>个输入通道的模拟信号输入端。</a:t>
            </a:r>
          </a:p>
        </p:txBody>
      </p:sp>
      <p:sp>
        <p:nvSpPr>
          <p:cNvPr id="119813" name="Text Box 5">
            <a:extLst>
              <a:ext uri="{FF2B5EF4-FFF2-40B4-BE49-F238E27FC236}">
                <a16:creationId xmlns:a16="http://schemas.microsoft.com/office/drawing/2014/main" id="{18562009-5251-4E0F-BFEA-F381B35DB1FF}"/>
              </a:ext>
            </a:extLst>
          </p:cNvPr>
          <p:cNvSpPr txBox="1">
            <a:spLocks noChangeArrowheads="1"/>
          </p:cNvSpPr>
          <p:nvPr/>
        </p:nvSpPr>
        <p:spPr bwMode="auto">
          <a:xfrm>
            <a:off x="323850" y="4868863"/>
            <a:ext cx="820737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0"/>
              </a:spcBef>
              <a:buClrTx/>
              <a:buSzTx/>
              <a:buFontTx/>
              <a:buNone/>
            </a:pPr>
            <a:r>
              <a:rPr lang="zh-CN" altLang="en-US" sz="2400"/>
              <a:t>（</a:t>
            </a:r>
            <a:r>
              <a:rPr lang="en-US" altLang="zh-CN" sz="2400"/>
              <a:t>5</a:t>
            </a:r>
            <a:r>
              <a:rPr lang="zh-CN" altLang="en-US" sz="2400"/>
              <a:t>）</a:t>
            </a:r>
            <a:r>
              <a:rPr lang="en-US" altLang="zh-CN" sz="2400">
                <a:solidFill>
                  <a:srgbClr val="FFFF00"/>
                </a:solidFill>
              </a:rPr>
              <a:t>EOC</a:t>
            </a:r>
            <a:r>
              <a:rPr lang="zh-CN" altLang="en-US" sz="2400"/>
              <a:t>：转换结束信号，转换开始后</a:t>
            </a:r>
            <a:r>
              <a:rPr lang="en-US" altLang="zh-CN" sz="2400"/>
              <a:t>EOC</a:t>
            </a:r>
            <a:r>
              <a:rPr lang="zh-CN" altLang="en-US" sz="2400"/>
              <a:t>变低；转换结束时，</a:t>
            </a:r>
            <a:r>
              <a:rPr lang="en-US" altLang="zh-CN" sz="2400"/>
              <a:t>EOC</a:t>
            </a:r>
            <a:r>
              <a:rPr lang="zh-CN" altLang="en-US" sz="2400"/>
              <a:t>返回高电平。该信号可作为</a:t>
            </a:r>
            <a:r>
              <a:rPr lang="en-US" altLang="zh-CN" sz="2400"/>
              <a:t>A/D</a:t>
            </a:r>
            <a:r>
              <a:rPr lang="zh-CN" altLang="en-US" sz="2400"/>
              <a:t>转换器的状态信号来查询，也可用作中断请求信号。</a:t>
            </a:r>
            <a:endParaRPr lang="zh-CN" altLang="en-US" sz="1800" b="0"/>
          </a:p>
        </p:txBody>
      </p:sp>
      <p:sp>
        <p:nvSpPr>
          <p:cNvPr id="119814" name="Text Box 6">
            <a:extLst>
              <a:ext uri="{FF2B5EF4-FFF2-40B4-BE49-F238E27FC236}">
                <a16:creationId xmlns:a16="http://schemas.microsoft.com/office/drawing/2014/main" id="{E0E0B58C-53D6-462B-B7EB-4302695ED69C}"/>
              </a:ext>
            </a:extLst>
          </p:cNvPr>
          <p:cNvSpPr txBox="1">
            <a:spLocks noChangeArrowheads="1"/>
          </p:cNvSpPr>
          <p:nvPr/>
        </p:nvSpPr>
        <p:spPr bwMode="auto">
          <a:xfrm>
            <a:off x="323850" y="2492375"/>
            <a:ext cx="8207375"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5000"/>
              </a:spcBef>
              <a:buClrTx/>
              <a:buSzTx/>
              <a:buFontTx/>
              <a:buNone/>
            </a:pPr>
            <a:r>
              <a:rPr lang="zh-CN" altLang="en-US" sz="2400"/>
              <a:t>（</a:t>
            </a:r>
            <a:r>
              <a:rPr lang="en-US" altLang="zh-CN" sz="2400"/>
              <a:t>4</a:t>
            </a:r>
            <a:r>
              <a:rPr lang="zh-CN" altLang="en-US" sz="2400"/>
              <a:t>）</a:t>
            </a:r>
            <a:r>
              <a:rPr lang="en-US" altLang="zh-CN" sz="2400">
                <a:solidFill>
                  <a:srgbClr val="FFCC00"/>
                </a:solidFill>
              </a:rPr>
              <a:t>ALE</a:t>
            </a:r>
            <a:r>
              <a:rPr lang="zh-CN" altLang="en-US" sz="2400">
                <a:solidFill>
                  <a:srgbClr val="FFCC00"/>
                </a:solidFill>
              </a:rPr>
              <a:t>：</a:t>
            </a:r>
            <a:r>
              <a:rPr lang="zh-CN" altLang="en-US" sz="2400"/>
              <a:t>地址锁存信号，由低到高时把三位地址信号送入地址锁存器，并经译码器得到地址输出，以选择相应的模拟输入通道。</a:t>
            </a:r>
            <a:endParaRPr lang="zh-CN" altLang="en-US" sz="1800" b="0"/>
          </a:p>
        </p:txBody>
      </p:sp>
      <p:sp>
        <p:nvSpPr>
          <p:cNvPr id="119815" name="Text Box 7">
            <a:extLst>
              <a:ext uri="{FF2B5EF4-FFF2-40B4-BE49-F238E27FC236}">
                <a16:creationId xmlns:a16="http://schemas.microsoft.com/office/drawing/2014/main" id="{48C8D476-DC33-4303-884D-0E5A72581360}"/>
              </a:ext>
            </a:extLst>
          </p:cNvPr>
          <p:cNvSpPr txBox="1">
            <a:spLocks noChangeArrowheads="1"/>
          </p:cNvSpPr>
          <p:nvPr/>
        </p:nvSpPr>
        <p:spPr bwMode="auto">
          <a:xfrm>
            <a:off x="336550" y="1958975"/>
            <a:ext cx="8662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400"/>
              <a:t>（</a:t>
            </a:r>
            <a:r>
              <a:rPr lang="en-US" altLang="zh-CN" sz="2400"/>
              <a:t>3</a:t>
            </a:r>
            <a:r>
              <a:rPr lang="zh-CN" altLang="en-US" sz="2400"/>
              <a:t>）</a:t>
            </a:r>
            <a:r>
              <a:rPr lang="en-US" altLang="zh-CN" sz="2400">
                <a:solidFill>
                  <a:srgbClr val="FFFF00"/>
                </a:solidFill>
              </a:rPr>
              <a:t>START</a:t>
            </a:r>
            <a:r>
              <a:rPr lang="zh-CN" altLang="en-US" sz="2400"/>
              <a:t>：启动信号，加上</a:t>
            </a:r>
            <a:r>
              <a:rPr lang="zh-CN" altLang="en-US" sz="2400">
                <a:solidFill>
                  <a:srgbClr val="FFFF00"/>
                </a:solidFill>
              </a:rPr>
              <a:t>正脉冲</a:t>
            </a:r>
            <a:r>
              <a:rPr lang="zh-CN" altLang="en-US" sz="2400"/>
              <a:t>后，</a:t>
            </a:r>
            <a:r>
              <a:rPr lang="en-US" altLang="zh-CN" sz="2400"/>
              <a:t>A/D</a:t>
            </a:r>
            <a:r>
              <a:rPr lang="zh-CN" altLang="en-US" sz="2400"/>
              <a:t>转换开始进行。</a:t>
            </a:r>
            <a:endParaRPr lang="zh-CN" altLang="en-US" sz="1800" b="0"/>
          </a:p>
        </p:txBody>
      </p:sp>
      <p:sp>
        <p:nvSpPr>
          <p:cNvPr id="119816" name="Text Box 8">
            <a:extLst>
              <a:ext uri="{FF2B5EF4-FFF2-40B4-BE49-F238E27FC236}">
                <a16:creationId xmlns:a16="http://schemas.microsoft.com/office/drawing/2014/main" id="{37F7A3B4-2760-4A77-A385-C2D107B13ADD}"/>
              </a:ext>
            </a:extLst>
          </p:cNvPr>
          <p:cNvSpPr txBox="1">
            <a:spLocks noChangeArrowheads="1"/>
          </p:cNvSpPr>
          <p:nvPr/>
        </p:nvSpPr>
        <p:spPr bwMode="auto">
          <a:xfrm>
            <a:off x="323850" y="1484313"/>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zh-CN" altLang="en-US" sz="2400"/>
              <a:t>（</a:t>
            </a:r>
            <a:r>
              <a:rPr lang="en-US" altLang="zh-CN" sz="2400"/>
              <a:t>2</a:t>
            </a:r>
            <a:r>
              <a:rPr lang="zh-CN" altLang="en-US" sz="2400"/>
              <a:t>）</a:t>
            </a:r>
            <a:r>
              <a:rPr lang="en-US" altLang="zh-CN" sz="2400"/>
              <a:t>D0-D7</a:t>
            </a:r>
            <a:r>
              <a:rPr lang="zh-CN" altLang="en-US" sz="2400"/>
              <a:t>：</a:t>
            </a:r>
            <a:r>
              <a:rPr lang="en-US" altLang="zh-CN" sz="2400"/>
              <a:t>8</a:t>
            </a:r>
            <a:r>
              <a:rPr lang="zh-CN" altLang="en-US" sz="2400"/>
              <a:t>位数字量输出端。</a:t>
            </a:r>
            <a:endParaRPr lang="zh-CN" altLang="en-US" sz="2400">
              <a:solidFill>
                <a:srgbClr val="FFFF00"/>
              </a:solidFill>
            </a:endParaRPr>
          </a:p>
        </p:txBody>
      </p:sp>
      <p:sp>
        <p:nvSpPr>
          <p:cNvPr id="119817" name="Text Box 9">
            <a:extLst>
              <a:ext uri="{FF2B5EF4-FFF2-40B4-BE49-F238E27FC236}">
                <a16:creationId xmlns:a16="http://schemas.microsoft.com/office/drawing/2014/main" id="{217A40A6-E9EB-492A-BBA9-F9E1C5E61D22}"/>
              </a:ext>
            </a:extLst>
          </p:cNvPr>
          <p:cNvSpPr txBox="1">
            <a:spLocks noChangeArrowheads="1"/>
          </p:cNvSpPr>
          <p:nvPr/>
        </p:nvSpPr>
        <p:spPr bwMode="auto">
          <a:xfrm>
            <a:off x="466725" y="3933825"/>
            <a:ext cx="80645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ClrTx/>
              <a:buSzTx/>
              <a:buFontTx/>
              <a:buNone/>
            </a:pPr>
            <a:r>
              <a:rPr lang="zh-CN" altLang="en-US" sz="2400"/>
              <a:t>使用时，</a:t>
            </a:r>
            <a:r>
              <a:rPr lang="en-US" altLang="zh-CN" sz="2400"/>
              <a:t>START</a:t>
            </a:r>
            <a:r>
              <a:rPr lang="zh-CN" altLang="en-US" sz="2400"/>
              <a:t>和</a:t>
            </a:r>
            <a:r>
              <a:rPr lang="en-US" altLang="zh-CN" sz="2400"/>
              <a:t>ALE</a:t>
            </a:r>
            <a:r>
              <a:rPr lang="zh-CN" altLang="en-US" sz="2400"/>
              <a:t>常连在一起，</a:t>
            </a:r>
            <a:r>
              <a:rPr lang="zh-CN" altLang="en-US" sz="2400">
                <a:solidFill>
                  <a:srgbClr val="FFFF00"/>
                </a:solidFill>
              </a:rPr>
              <a:t>通过软件输入一个正脉冲</a:t>
            </a:r>
            <a:r>
              <a:rPr lang="zh-CN" altLang="en-US" sz="2400"/>
              <a:t>，以便在锁存通道地址的同时启动</a:t>
            </a:r>
            <a:r>
              <a:rPr lang="en-US" altLang="zh-CN" sz="2400"/>
              <a:t>A/D</a:t>
            </a:r>
            <a:r>
              <a:rPr lang="zh-CN" altLang="en-US" sz="2400"/>
              <a:t>转换。</a:t>
            </a:r>
          </a:p>
        </p:txBody>
      </p:sp>
    </p:spTree>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9811"/>
                                        </p:tgtEl>
                                        <p:attrNameLst>
                                          <p:attrName>style.visibility</p:attrName>
                                        </p:attrNameLst>
                                      </p:cBhvr>
                                      <p:to>
                                        <p:strVal val="visible"/>
                                      </p:to>
                                    </p:set>
                                    <p:animEffect transition="in" filter="blinds(horizontal)">
                                      <p:cBhvr>
                                        <p:cTn id="7" dur="500"/>
                                        <p:tgtEl>
                                          <p:spTgt spid="119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9812"/>
                                        </p:tgtEl>
                                        <p:attrNameLst>
                                          <p:attrName>style.visibility</p:attrName>
                                        </p:attrNameLst>
                                      </p:cBhvr>
                                      <p:to>
                                        <p:strVal val="visible"/>
                                      </p:to>
                                    </p:set>
                                    <p:animEffect transition="in" filter="checkerboard(across)">
                                      <p:cBhvr>
                                        <p:cTn id="12" dur="500"/>
                                        <p:tgtEl>
                                          <p:spTgt spid="1198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9816"/>
                                        </p:tgtEl>
                                        <p:attrNameLst>
                                          <p:attrName>style.visibility</p:attrName>
                                        </p:attrNameLst>
                                      </p:cBhvr>
                                      <p:to>
                                        <p:strVal val="visible"/>
                                      </p:to>
                                    </p:set>
                                    <p:animEffect transition="in" filter="dissolve">
                                      <p:cBhvr>
                                        <p:cTn id="17" dur="500"/>
                                        <p:tgtEl>
                                          <p:spTgt spid="1198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9815"/>
                                        </p:tgtEl>
                                        <p:attrNameLst>
                                          <p:attrName>style.visibility</p:attrName>
                                        </p:attrNameLst>
                                      </p:cBhvr>
                                      <p:to>
                                        <p:strVal val="visible"/>
                                      </p:to>
                                    </p:set>
                                    <p:animEffect transition="in" filter="checkerboard(across)">
                                      <p:cBhvr>
                                        <p:cTn id="22" dur="500"/>
                                        <p:tgtEl>
                                          <p:spTgt spid="1198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19814"/>
                                        </p:tgtEl>
                                        <p:attrNameLst>
                                          <p:attrName>style.visibility</p:attrName>
                                        </p:attrNameLst>
                                      </p:cBhvr>
                                      <p:to>
                                        <p:strVal val="visible"/>
                                      </p:to>
                                    </p:set>
                                    <p:animEffect transition="in" filter="box(in)">
                                      <p:cBhvr>
                                        <p:cTn id="27" dur="500"/>
                                        <p:tgtEl>
                                          <p:spTgt spid="11981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119817"/>
                                        </p:tgtEl>
                                        <p:attrNameLst>
                                          <p:attrName>style.visibility</p:attrName>
                                        </p:attrNameLst>
                                      </p:cBhvr>
                                      <p:to>
                                        <p:strVal val="visible"/>
                                      </p:to>
                                    </p:set>
                                    <p:animEffect transition="in" filter="diamond(in)">
                                      <p:cBhvr>
                                        <p:cTn id="32" dur="2000"/>
                                        <p:tgtEl>
                                          <p:spTgt spid="1198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19813"/>
                                        </p:tgtEl>
                                        <p:attrNameLst>
                                          <p:attrName>style.visibility</p:attrName>
                                        </p:attrNameLst>
                                      </p:cBhvr>
                                      <p:to>
                                        <p:strVal val="visible"/>
                                      </p:to>
                                    </p:set>
                                    <p:animEffect transition="in" filter="wipe(up)">
                                      <p:cBhvr>
                                        <p:cTn id="37" dur="500"/>
                                        <p:tgtEl>
                                          <p:spTgt spid="119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autoUpdateAnimBg="0"/>
      <p:bldP spid="119812" grpId="0" autoUpdateAnimBg="0"/>
      <p:bldP spid="119813" grpId="0" autoUpdateAnimBg="0"/>
      <p:bldP spid="119814" grpId="0" autoUpdateAnimBg="0"/>
      <p:bldP spid="119815" grpId="0" autoUpdateAnimBg="0"/>
      <p:bldP spid="119816" grpId="0" autoUpdateAnimBg="0"/>
      <p:bldP spid="1198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1EB4C3F6-5249-4508-8533-AC86EFD2B1B0}"/>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53224B73-EDF1-4DC7-8C54-C5784C08C8CB}" type="slidenum">
              <a:rPr lang="en-US" altLang="zh-CN" b="0"/>
              <a:pPr/>
              <a:t>17</a:t>
            </a:fld>
            <a:endParaRPr lang="en-US" altLang="zh-CN" b="0"/>
          </a:p>
        </p:txBody>
      </p:sp>
      <p:sp>
        <p:nvSpPr>
          <p:cNvPr id="120834" name="Text Box 2">
            <a:extLst>
              <a:ext uri="{FF2B5EF4-FFF2-40B4-BE49-F238E27FC236}">
                <a16:creationId xmlns:a16="http://schemas.microsoft.com/office/drawing/2014/main" id="{71750C8A-2E53-4A4C-A8CD-69BDACF3B429}"/>
              </a:ext>
            </a:extLst>
          </p:cNvPr>
          <p:cNvSpPr txBox="1">
            <a:spLocks noChangeArrowheads="1"/>
          </p:cNvSpPr>
          <p:nvPr/>
        </p:nvSpPr>
        <p:spPr bwMode="auto">
          <a:xfrm>
            <a:off x="323850" y="333375"/>
            <a:ext cx="8066088"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600"/>
              <a:t>（</a:t>
            </a:r>
            <a:r>
              <a:rPr lang="en-US" altLang="zh-CN" sz="2600"/>
              <a:t>6</a:t>
            </a:r>
            <a:r>
              <a:rPr lang="zh-CN" altLang="en-US" sz="2600"/>
              <a:t>）</a:t>
            </a:r>
            <a:r>
              <a:rPr lang="en-US" altLang="zh-CN" sz="2600">
                <a:solidFill>
                  <a:srgbClr val="FFFF00"/>
                </a:solidFill>
              </a:rPr>
              <a:t>OE</a:t>
            </a:r>
            <a:r>
              <a:rPr lang="zh-CN" altLang="en-US" sz="2600"/>
              <a:t>：输出允许控制端，</a:t>
            </a:r>
            <a:r>
              <a:rPr lang="en-US" altLang="zh-CN" sz="2600"/>
              <a:t>OE=1</a:t>
            </a:r>
            <a:r>
              <a:rPr lang="zh-CN" altLang="en-US" sz="2600"/>
              <a:t>时，输出转换后的数字量，</a:t>
            </a:r>
            <a:r>
              <a:rPr lang="en-US" altLang="zh-CN" sz="2600"/>
              <a:t>OE=0</a:t>
            </a:r>
            <a:r>
              <a:rPr lang="zh-CN" altLang="en-US" sz="2600"/>
              <a:t>时，数据输出为高阻态。</a:t>
            </a:r>
          </a:p>
          <a:p>
            <a:pPr eaLnBrk="1" hangingPunct="1">
              <a:spcBef>
                <a:spcPct val="50000"/>
              </a:spcBef>
              <a:buClrTx/>
              <a:buSzTx/>
              <a:buFontTx/>
              <a:buNone/>
            </a:pPr>
            <a:r>
              <a:rPr lang="zh-CN" altLang="en-US" sz="2600"/>
              <a:t>（</a:t>
            </a:r>
            <a:r>
              <a:rPr lang="en-US" altLang="zh-CN" sz="2600"/>
              <a:t>7</a:t>
            </a:r>
            <a:r>
              <a:rPr lang="zh-CN" altLang="en-US" sz="2600"/>
              <a:t>）</a:t>
            </a:r>
            <a:r>
              <a:rPr lang="en-US" altLang="zh-CN" sz="2600"/>
              <a:t>CLK</a:t>
            </a:r>
            <a:r>
              <a:rPr lang="zh-CN" altLang="en-US" sz="2600"/>
              <a:t>：时钟信号，最高允许为</a:t>
            </a:r>
            <a:r>
              <a:rPr lang="en-US" altLang="zh-CN" sz="2600"/>
              <a:t>640KHZ</a:t>
            </a:r>
            <a:r>
              <a:rPr lang="zh-CN" altLang="en-US" sz="2600"/>
              <a:t>。</a:t>
            </a:r>
          </a:p>
          <a:p>
            <a:pPr eaLnBrk="1" hangingPunct="1">
              <a:spcBef>
                <a:spcPct val="50000"/>
              </a:spcBef>
              <a:buClrTx/>
              <a:buSzTx/>
              <a:buFontTx/>
              <a:buNone/>
            </a:pPr>
            <a:r>
              <a:rPr lang="zh-CN" altLang="en-US" sz="2600"/>
              <a:t>（</a:t>
            </a:r>
            <a:r>
              <a:rPr lang="en-US" altLang="zh-CN" sz="2600"/>
              <a:t>8</a:t>
            </a:r>
            <a:r>
              <a:rPr lang="zh-CN" altLang="en-US" sz="2600"/>
              <a:t>）</a:t>
            </a:r>
            <a:r>
              <a:rPr lang="en-US" altLang="zh-CN" sz="2600"/>
              <a:t>ADDA-ADDC</a:t>
            </a:r>
            <a:r>
              <a:rPr lang="zh-CN" altLang="en-US" sz="2600"/>
              <a:t>：地址通道选择端。</a:t>
            </a:r>
          </a:p>
        </p:txBody>
      </p:sp>
      <p:sp>
        <p:nvSpPr>
          <p:cNvPr id="120835" name="Text Box 3">
            <a:extLst>
              <a:ext uri="{FF2B5EF4-FFF2-40B4-BE49-F238E27FC236}">
                <a16:creationId xmlns:a16="http://schemas.microsoft.com/office/drawing/2014/main" id="{FADBB578-27EE-4C09-B2DC-481255A71133}"/>
              </a:ext>
            </a:extLst>
          </p:cNvPr>
          <p:cNvSpPr txBox="1">
            <a:spLocks noChangeArrowheads="1"/>
          </p:cNvSpPr>
          <p:nvPr/>
        </p:nvSpPr>
        <p:spPr bwMode="auto">
          <a:xfrm>
            <a:off x="323850" y="2492375"/>
            <a:ext cx="8077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t>3</a:t>
            </a:r>
            <a:r>
              <a:rPr lang="zh-CN" altLang="en-US" sz="2800"/>
              <a:t>、</a:t>
            </a:r>
            <a:r>
              <a:rPr lang="en-US" altLang="zh-CN" sz="2800"/>
              <a:t>ADC0809</a:t>
            </a:r>
            <a:r>
              <a:rPr lang="zh-CN" altLang="en-US" sz="2800"/>
              <a:t>时序及工作过程</a:t>
            </a:r>
          </a:p>
        </p:txBody>
      </p:sp>
      <p:sp>
        <p:nvSpPr>
          <p:cNvPr id="120836" name="Text Box 4">
            <a:extLst>
              <a:ext uri="{FF2B5EF4-FFF2-40B4-BE49-F238E27FC236}">
                <a16:creationId xmlns:a16="http://schemas.microsoft.com/office/drawing/2014/main" id="{138E4465-4469-4417-A90F-4FAB436EE85A}"/>
              </a:ext>
            </a:extLst>
          </p:cNvPr>
          <p:cNvSpPr txBox="1">
            <a:spLocks noChangeArrowheads="1"/>
          </p:cNvSpPr>
          <p:nvPr/>
        </p:nvSpPr>
        <p:spPr bwMode="auto">
          <a:xfrm>
            <a:off x="539750" y="2997200"/>
            <a:ext cx="7913688" cy="318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10000"/>
              </a:spcBef>
              <a:buClrTx/>
              <a:buSzTx/>
              <a:buFontTx/>
              <a:buNone/>
            </a:pPr>
            <a:r>
              <a:rPr lang="en-US" altLang="zh-CN" sz="2600"/>
              <a:t>        </a:t>
            </a:r>
            <a:r>
              <a:rPr lang="zh-CN" altLang="en-US" sz="2600"/>
              <a:t>在</a:t>
            </a:r>
            <a:r>
              <a:rPr lang="en-US" altLang="zh-CN" sz="2600"/>
              <a:t>ALE</a:t>
            </a:r>
            <a:r>
              <a:rPr lang="zh-CN" altLang="en-US" sz="2600"/>
              <a:t>引脚信号的上升沿，地址被锁存到译码器。在</a:t>
            </a:r>
            <a:r>
              <a:rPr lang="en-US" altLang="zh-CN" sz="2600"/>
              <a:t>START(</a:t>
            </a:r>
            <a:r>
              <a:rPr lang="zh-CN" altLang="en-US" sz="2600"/>
              <a:t>启动）引脚出现一个正脉冲时，依靠其上升沿复位</a:t>
            </a:r>
            <a:r>
              <a:rPr lang="en-US" altLang="zh-CN" sz="2600"/>
              <a:t>ADC0809</a:t>
            </a:r>
            <a:r>
              <a:rPr lang="zh-CN" altLang="en-US" sz="2600"/>
              <a:t>，下降沿启动</a:t>
            </a:r>
            <a:r>
              <a:rPr lang="en-US" altLang="zh-CN" sz="2600"/>
              <a:t>A/D</a:t>
            </a:r>
            <a:r>
              <a:rPr lang="zh-CN" altLang="en-US" sz="2600"/>
              <a:t>转换。转换期间，</a:t>
            </a:r>
            <a:r>
              <a:rPr lang="en-US" altLang="zh-CN" sz="2600"/>
              <a:t>EOC</a:t>
            </a:r>
            <a:r>
              <a:rPr lang="zh-CN" altLang="en-US" sz="2600"/>
              <a:t>（转换结束）为</a:t>
            </a:r>
            <a:r>
              <a:rPr lang="en-US" altLang="zh-CN" sz="2600"/>
              <a:t>0</a:t>
            </a:r>
            <a:r>
              <a:rPr lang="zh-CN" altLang="en-US" sz="2600"/>
              <a:t>，转换结束时，</a:t>
            </a:r>
            <a:r>
              <a:rPr lang="en-US" altLang="zh-CN" sz="2600"/>
              <a:t>EOC</a:t>
            </a:r>
            <a:r>
              <a:rPr lang="zh-CN" altLang="en-US" sz="2600"/>
              <a:t>变为</a:t>
            </a:r>
            <a:r>
              <a:rPr lang="en-US" altLang="zh-CN" sz="2600"/>
              <a:t>1</a:t>
            </a:r>
            <a:r>
              <a:rPr lang="zh-CN" altLang="en-US" sz="2600"/>
              <a:t>。转换结束后，在</a:t>
            </a:r>
            <a:r>
              <a:rPr lang="en-US" altLang="zh-CN" sz="2600"/>
              <a:t>OE</a:t>
            </a:r>
            <a:r>
              <a:rPr lang="zh-CN" altLang="en-US" sz="2600"/>
              <a:t>引脚加一个正脉冲，转换后的数字量从三态输出锁存器输出。</a:t>
            </a:r>
          </a:p>
        </p:txBody>
      </p:sp>
      <p:sp>
        <p:nvSpPr>
          <p:cNvPr id="2" name="文本框 1">
            <a:extLst>
              <a:ext uri="{FF2B5EF4-FFF2-40B4-BE49-F238E27FC236}">
                <a16:creationId xmlns:a16="http://schemas.microsoft.com/office/drawing/2014/main" id="{6CA929FD-8338-4930-BE5E-13EAB9B299DC}"/>
              </a:ext>
            </a:extLst>
          </p:cNvPr>
          <p:cNvSpPr txBox="1"/>
          <p:nvPr/>
        </p:nvSpPr>
        <p:spPr>
          <a:xfrm>
            <a:off x="1187450" y="1635125"/>
            <a:ext cx="7416800" cy="892175"/>
          </a:xfrm>
          <a:prstGeom prst="rect">
            <a:avLst/>
          </a:prstGeom>
          <a:solidFill>
            <a:srgbClr val="FFCC00"/>
          </a:solidFill>
        </p:spPr>
        <p:txBody>
          <a:bodyPr>
            <a:spAutoFit/>
          </a:bodyPr>
          <a:lstStyle/>
          <a:p>
            <a:pPr eaLnBrk="1" hangingPunct="1">
              <a:defRPr/>
            </a:pPr>
            <a:r>
              <a:rPr lang="en-US" altLang="zh-CN" sz="2600" dirty="0">
                <a:solidFill>
                  <a:srgbClr val="000000"/>
                </a:solidFill>
                <a:effectLst>
                  <a:outerShdw blurRad="38100" dist="38100" dir="2700000" algn="tl">
                    <a:srgbClr val="000000">
                      <a:alpha val="43137"/>
                    </a:srgbClr>
                  </a:outerShdw>
                </a:effectLst>
              </a:rPr>
              <a:t>ADDA</a:t>
            </a:r>
            <a:r>
              <a:rPr lang="zh-CN" altLang="en-US" sz="2600" dirty="0">
                <a:solidFill>
                  <a:srgbClr val="000000"/>
                </a:solidFill>
                <a:effectLst>
                  <a:outerShdw blurRad="38100" dist="38100" dir="2700000" algn="tl">
                    <a:srgbClr val="000000">
                      <a:alpha val="43137"/>
                    </a:srgbClr>
                  </a:outerShdw>
                </a:effectLst>
              </a:rPr>
              <a:t>、</a:t>
            </a:r>
            <a:r>
              <a:rPr lang="en-US" altLang="zh-CN" sz="2600" dirty="0">
                <a:solidFill>
                  <a:srgbClr val="000000"/>
                </a:solidFill>
                <a:effectLst>
                  <a:outerShdw blurRad="38100" dist="38100" dir="2700000" algn="tl">
                    <a:srgbClr val="000000">
                      <a:alpha val="43137"/>
                    </a:srgbClr>
                  </a:outerShdw>
                </a:effectLst>
              </a:rPr>
              <a:t>ADDB</a:t>
            </a:r>
            <a:r>
              <a:rPr lang="zh-CN" altLang="en-US" sz="2600" dirty="0">
                <a:solidFill>
                  <a:srgbClr val="000000"/>
                </a:solidFill>
                <a:effectLst>
                  <a:outerShdw blurRad="38100" dist="38100" dir="2700000" algn="tl">
                    <a:srgbClr val="000000">
                      <a:alpha val="43137"/>
                    </a:srgbClr>
                  </a:outerShdw>
                </a:effectLst>
              </a:rPr>
              <a:t>、</a:t>
            </a:r>
            <a:r>
              <a:rPr lang="en-US" altLang="zh-CN" sz="2600" dirty="0">
                <a:solidFill>
                  <a:srgbClr val="000000"/>
                </a:solidFill>
                <a:effectLst>
                  <a:outerShdw blurRad="38100" dist="38100" dir="2700000" algn="tl">
                    <a:srgbClr val="000000">
                      <a:alpha val="43137"/>
                    </a:srgbClr>
                  </a:outerShdw>
                </a:effectLst>
              </a:rPr>
              <a:t>ADDC</a:t>
            </a:r>
            <a:r>
              <a:rPr lang="zh-CN" altLang="en-US" sz="2600" dirty="0">
                <a:solidFill>
                  <a:srgbClr val="000000"/>
                </a:solidFill>
                <a:effectLst>
                  <a:outerShdw blurRad="38100" dist="38100" dir="2700000" algn="tl">
                    <a:srgbClr val="000000">
                      <a:alpha val="43137"/>
                    </a:srgbClr>
                  </a:outerShdw>
                </a:effectLst>
              </a:rPr>
              <a:t>端口的电平为</a:t>
            </a:r>
            <a:r>
              <a:rPr lang="en-US" altLang="zh-CN" sz="2600" dirty="0">
                <a:solidFill>
                  <a:srgbClr val="000000"/>
                </a:solidFill>
                <a:effectLst>
                  <a:outerShdw blurRad="38100" dist="38100" dir="2700000" algn="tl">
                    <a:srgbClr val="000000">
                      <a:alpha val="43137"/>
                    </a:srgbClr>
                  </a:outerShdw>
                </a:effectLst>
              </a:rPr>
              <a:t>000</a:t>
            </a:r>
            <a:r>
              <a:rPr lang="zh-CN" altLang="en-US" sz="2600" dirty="0">
                <a:solidFill>
                  <a:srgbClr val="000000"/>
                </a:solidFill>
                <a:effectLst>
                  <a:outerShdw blurRad="38100" dist="38100" dir="2700000" algn="tl">
                    <a:srgbClr val="000000">
                      <a:alpha val="43137"/>
                    </a:srgbClr>
                  </a:outerShdw>
                </a:effectLst>
              </a:rPr>
              <a:t>时，</a:t>
            </a:r>
            <a:r>
              <a:rPr lang="en-US" altLang="zh-CN" sz="2600" dirty="0">
                <a:solidFill>
                  <a:srgbClr val="000000"/>
                </a:solidFill>
                <a:effectLst>
                  <a:outerShdw blurRad="38100" dist="38100" dir="2700000" algn="tl">
                    <a:srgbClr val="000000">
                      <a:alpha val="43137"/>
                    </a:srgbClr>
                  </a:outerShdw>
                </a:effectLst>
              </a:rPr>
              <a:t>IN0</a:t>
            </a:r>
            <a:r>
              <a:rPr lang="zh-CN" altLang="en-US" sz="2600" dirty="0">
                <a:solidFill>
                  <a:srgbClr val="000000"/>
                </a:solidFill>
                <a:effectLst>
                  <a:outerShdw blurRad="38100" dist="38100" dir="2700000" algn="tl">
                    <a:srgbClr val="000000">
                      <a:alpha val="43137"/>
                    </a:srgbClr>
                  </a:outerShdw>
                </a:effectLst>
              </a:rPr>
              <a:t>通道选通；为</a:t>
            </a:r>
            <a:r>
              <a:rPr lang="en-US" altLang="zh-CN" sz="2600" dirty="0">
                <a:solidFill>
                  <a:srgbClr val="000000"/>
                </a:solidFill>
                <a:effectLst>
                  <a:outerShdw blurRad="38100" dist="38100" dir="2700000" algn="tl">
                    <a:srgbClr val="000000">
                      <a:alpha val="43137"/>
                    </a:srgbClr>
                  </a:outerShdw>
                </a:effectLst>
              </a:rPr>
              <a:t>001</a:t>
            </a:r>
            <a:r>
              <a:rPr lang="zh-CN" altLang="en-US" sz="2600" dirty="0">
                <a:solidFill>
                  <a:srgbClr val="000000"/>
                </a:solidFill>
                <a:effectLst>
                  <a:outerShdw blurRad="38100" dist="38100" dir="2700000" algn="tl">
                    <a:srgbClr val="000000">
                      <a:alpha val="43137"/>
                    </a:srgbClr>
                  </a:outerShdw>
                </a:effectLst>
              </a:rPr>
              <a:t>时，</a:t>
            </a:r>
            <a:r>
              <a:rPr lang="en-US" altLang="zh-CN" sz="2600" dirty="0">
                <a:solidFill>
                  <a:srgbClr val="000000"/>
                </a:solidFill>
                <a:effectLst>
                  <a:outerShdw blurRad="38100" dist="38100" dir="2700000" algn="tl">
                    <a:srgbClr val="000000">
                      <a:alpha val="43137"/>
                    </a:srgbClr>
                  </a:outerShdw>
                </a:effectLst>
              </a:rPr>
              <a:t>IN1</a:t>
            </a:r>
            <a:r>
              <a:rPr lang="zh-CN" altLang="en-US" sz="2600" dirty="0">
                <a:solidFill>
                  <a:srgbClr val="000000"/>
                </a:solidFill>
                <a:effectLst>
                  <a:outerShdw blurRad="38100" dist="38100" dir="2700000" algn="tl">
                    <a:srgbClr val="000000">
                      <a:alpha val="43137"/>
                    </a:srgbClr>
                  </a:outerShdw>
                </a:effectLst>
              </a:rPr>
              <a:t>通道选通；其余类推。</a:t>
            </a:r>
          </a:p>
        </p:txBody>
      </p:sp>
    </p:spTree>
  </p:cSld>
  <p:clrMapOvr>
    <a:masterClrMapping/>
  </p:clrMapOvr>
  <p:transition>
    <p:circl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 calcmode="lin" valueType="num">
                                      <p:cBhvr additive="base">
                                        <p:cTn id="7" dur="500" fill="hold"/>
                                        <p:tgtEl>
                                          <p:spTgt spid="120834"/>
                                        </p:tgtEl>
                                        <p:attrNameLst>
                                          <p:attrName>ppt_x</p:attrName>
                                        </p:attrNameLst>
                                      </p:cBhvr>
                                      <p:tavLst>
                                        <p:tav tm="0">
                                          <p:val>
                                            <p:strVal val="0-#ppt_w/2"/>
                                          </p:val>
                                        </p:tav>
                                        <p:tav tm="100000">
                                          <p:val>
                                            <p:strVal val="#ppt_x"/>
                                          </p:val>
                                        </p:tav>
                                      </p:tavLst>
                                    </p:anim>
                                    <p:anim calcmode="lin" valueType="num">
                                      <p:cBhvr additive="base">
                                        <p:cTn id="8" dur="500" fill="hold"/>
                                        <p:tgtEl>
                                          <p:spTgt spid="1208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inVertical)">
                                      <p:cBhvr>
                                        <p:cTn id="13" dur="5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20835"/>
                                        </p:tgtEl>
                                        <p:attrNameLst>
                                          <p:attrName>style.visibility</p:attrName>
                                        </p:attrNameLst>
                                      </p:cBhvr>
                                      <p:to>
                                        <p:strVal val="visible"/>
                                      </p:to>
                                    </p:set>
                                    <p:animEffect transition="in" filter="box(in)">
                                      <p:cBhvr>
                                        <p:cTn id="18" dur="500"/>
                                        <p:tgtEl>
                                          <p:spTgt spid="12083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20836"/>
                                        </p:tgtEl>
                                        <p:attrNameLst>
                                          <p:attrName>style.visibility</p:attrName>
                                        </p:attrNameLst>
                                      </p:cBhvr>
                                      <p:to>
                                        <p:strVal val="visible"/>
                                      </p:to>
                                    </p:set>
                                    <p:animEffect transition="in" filter="checkerboard(across)">
                                      <p:cBhvr>
                                        <p:cTn id="23" dur="5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autoUpdateAnimBg="0"/>
      <p:bldP spid="120835" grpId="0" autoUpdateAnimBg="0"/>
      <p:bldP spid="120836" grpId="0" autoUpdateAnimBg="0"/>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灯片编号占位符 5">
            <a:extLst>
              <a:ext uri="{FF2B5EF4-FFF2-40B4-BE49-F238E27FC236}">
                <a16:creationId xmlns:a16="http://schemas.microsoft.com/office/drawing/2014/main" id="{16B0DD16-E131-46FB-AA65-ED5018E14BC3}"/>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7A7461DC-3296-4E2F-A96E-01EFB267C2A2}" type="slidenum">
              <a:rPr lang="en-US" altLang="zh-CN" b="0"/>
              <a:pPr/>
              <a:t>18</a:t>
            </a:fld>
            <a:endParaRPr lang="en-US" altLang="zh-CN" b="0"/>
          </a:p>
        </p:txBody>
      </p:sp>
      <p:grpSp>
        <p:nvGrpSpPr>
          <p:cNvPr id="121858" name="Group 2">
            <a:extLst>
              <a:ext uri="{FF2B5EF4-FFF2-40B4-BE49-F238E27FC236}">
                <a16:creationId xmlns:a16="http://schemas.microsoft.com/office/drawing/2014/main" id="{0ACA510D-622D-476B-B904-6AFFDD473039}"/>
              </a:ext>
            </a:extLst>
          </p:cNvPr>
          <p:cNvGrpSpPr>
            <a:grpSpLocks/>
          </p:cNvGrpSpPr>
          <p:nvPr/>
        </p:nvGrpSpPr>
        <p:grpSpPr bwMode="auto">
          <a:xfrm>
            <a:off x="171450" y="533400"/>
            <a:ext cx="8382000" cy="671513"/>
            <a:chOff x="0" y="336"/>
            <a:chExt cx="5280" cy="423"/>
          </a:xfrm>
        </p:grpSpPr>
        <p:sp>
          <p:nvSpPr>
            <p:cNvPr id="47183" name="Line 3">
              <a:extLst>
                <a:ext uri="{FF2B5EF4-FFF2-40B4-BE49-F238E27FC236}">
                  <a16:creationId xmlns:a16="http://schemas.microsoft.com/office/drawing/2014/main" id="{A096EBD2-BCA0-4023-9317-00EA7465F64D}"/>
                </a:ext>
              </a:extLst>
            </p:cNvPr>
            <p:cNvSpPr>
              <a:spLocks noChangeShapeType="1"/>
            </p:cNvSpPr>
            <p:nvPr/>
          </p:nvSpPr>
          <p:spPr bwMode="auto">
            <a:xfrm>
              <a:off x="624" y="624"/>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47184" name="Group 4">
              <a:extLst>
                <a:ext uri="{FF2B5EF4-FFF2-40B4-BE49-F238E27FC236}">
                  <a16:creationId xmlns:a16="http://schemas.microsoft.com/office/drawing/2014/main" id="{6ED594A9-93CE-4014-BFF1-17DF0FC05376}"/>
                </a:ext>
              </a:extLst>
            </p:cNvPr>
            <p:cNvGrpSpPr>
              <a:grpSpLocks/>
            </p:cNvGrpSpPr>
            <p:nvPr/>
          </p:nvGrpSpPr>
          <p:grpSpPr bwMode="auto">
            <a:xfrm>
              <a:off x="912" y="336"/>
              <a:ext cx="1872" cy="288"/>
              <a:chOff x="912" y="336"/>
              <a:chExt cx="1872" cy="288"/>
            </a:xfrm>
          </p:grpSpPr>
          <p:grpSp>
            <p:nvGrpSpPr>
              <p:cNvPr id="47207" name="Group 5">
                <a:extLst>
                  <a:ext uri="{FF2B5EF4-FFF2-40B4-BE49-F238E27FC236}">
                    <a16:creationId xmlns:a16="http://schemas.microsoft.com/office/drawing/2014/main" id="{0A134A0D-F6ED-414F-988D-2C007FA8E202}"/>
                  </a:ext>
                </a:extLst>
              </p:cNvPr>
              <p:cNvGrpSpPr>
                <a:grpSpLocks/>
              </p:cNvGrpSpPr>
              <p:nvPr/>
            </p:nvGrpSpPr>
            <p:grpSpPr bwMode="auto">
              <a:xfrm>
                <a:off x="912" y="336"/>
                <a:ext cx="624" cy="288"/>
                <a:chOff x="912" y="336"/>
                <a:chExt cx="624" cy="288"/>
              </a:xfrm>
            </p:grpSpPr>
            <p:sp>
              <p:nvSpPr>
                <p:cNvPr id="47218" name="Line 6">
                  <a:extLst>
                    <a:ext uri="{FF2B5EF4-FFF2-40B4-BE49-F238E27FC236}">
                      <a16:creationId xmlns:a16="http://schemas.microsoft.com/office/drawing/2014/main" id="{3737D22B-01DA-43DE-B33F-A2103360EE11}"/>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9" name="Line 7">
                  <a:extLst>
                    <a:ext uri="{FF2B5EF4-FFF2-40B4-BE49-F238E27FC236}">
                      <a16:creationId xmlns:a16="http://schemas.microsoft.com/office/drawing/2014/main" id="{E9E32E15-4225-476C-8FA2-C2B17CF4ADFF}"/>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20" name="Line 8">
                  <a:extLst>
                    <a:ext uri="{FF2B5EF4-FFF2-40B4-BE49-F238E27FC236}">
                      <a16:creationId xmlns:a16="http://schemas.microsoft.com/office/drawing/2014/main" id="{FE58429B-E153-4FB5-A9C6-0FD821C73908}"/>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21" name="Line 9">
                  <a:extLst>
                    <a:ext uri="{FF2B5EF4-FFF2-40B4-BE49-F238E27FC236}">
                      <a16:creationId xmlns:a16="http://schemas.microsoft.com/office/drawing/2014/main" id="{BA23C0BB-EE35-447B-B628-FB904E05D2B5}"/>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nvGrpSpPr>
              <p:cNvPr id="47208" name="Group 10">
                <a:extLst>
                  <a:ext uri="{FF2B5EF4-FFF2-40B4-BE49-F238E27FC236}">
                    <a16:creationId xmlns:a16="http://schemas.microsoft.com/office/drawing/2014/main" id="{B0BD32EB-816D-4E75-A77B-252C3C7C0F68}"/>
                  </a:ext>
                </a:extLst>
              </p:cNvPr>
              <p:cNvGrpSpPr>
                <a:grpSpLocks/>
              </p:cNvGrpSpPr>
              <p:nvPr/>
            </p:nvGrpSpPr>
            <p:grpSpPr bwMode="auto">
              <a:xfrm>
                <a:off x="1536" y="336"/>
                <a:ext cx="624" cy="288"/>
                <a:chOff x="912" y="336"/>
                <a:chExt cx="624" cy="288"/>
              </a:xfrm>
            </p:grpSpPr>
            <p:sp>
              <p:nvSpPr>
                <p:cNvPr id="47214" name="Line 11">
                  <a:extLst>
                    <a:ext uri="{FF2B5EF4-FFF2-40B4-BE49-F238E27FC236}">
                      <a16:creationId xmlns:a16="http://schemas.microsoft.com/office/drawing/2014/main" id="{E263B8B8-7084-4750-B475-D29E252B1462}"/>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5" name="Line 12">
                  <a:extLst>
                    <a:ext uri="{FF2B5EF4-FFF2-40B4-BE49-F238E27FC236}">
                      <a16:creationId xmlns:a16="http://schemas.microsoft.com/office/drawing/2014/main" id="{F9D4F04E-7A72-48D8-9C59-5B21ADBFB215}"/>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6" name="Line 13">
                  <a:extLst>
                    <a:ext uri="{FF2B5EF4-FFF2-40B4-BE49-F238E27FC236}">
                      <a16:creationId xmlns:a16="http://schemas.microsoft.com/office/drawing/2014/main" id="{9EAD7DA9-65AE-480C-A7B7-F2E691711AE7}"/>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7" name="Line 14">
                  <a:extLst>
                    <a:ext uri="{FF2B5EF4-FFF2-40B4-BE49-F238E27FC236}">
                      <a16:creationId xmlns:a16="http://schemas.microsoft.com/office/drawing/2014/main" id="{9C51B65A-1656-44C7-8850-D67339DF7EE4}"/>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nvGrpSpPr>
              <p:cNvPr id="47209" name="Group 15">
                <a:extLst>
                  <a:ext uri="{FF2B5EF4-FFF2-40B4-BE49-F238E27FC236}">
                    <a16:creationId xmlns:a16="http://schemas.microsoft.com/office/drawing/2014/main" id="{59918DC2-F0C5-4188-9D38-CB01E32478EF}"/>
                  </a:ext>
                </a:extLst>
              </p:cNvPr>
              <p:cNvGrpSpPr>
                <a:grpSpLocks/>
              </p:cNvGrpSpPr>
              <p:nvPr/>
            </p:nvGrpSpPr>
            <p:grpSpPr bwMode="auto">
              <a:xfrm>
                <a:off x="2160" y="336"/>
                <a:ext cx="624" cy="288"/>
                <a:chOff x="912" y="336"/>
                <a:chExt cx="624" cy="288"/>
              </a:xfrm>
            </p:grpSpPr>
            <p:sp>
              <p:nvSpPr>
                <p:cNvPr id="47210" name="Line 16">
                  <a:extLst>
                    <a:ext uri="{FF2B5EF4-FFF2-40B4-BE49-F238E27FC236}">
                      <a16:creationId xmlns:a16="http://schemas.microsoft.com/office/drawing/2014/main" id="{824BBCD8-5B91-46BD-9735-DB4DB8CFD216}"/>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1" name="Line 17">
                  <a:extLst>
                    <a:ext uri="{FF2B5EF4-FFF2-40B4-BE49-F238E27FC236}">
                      <a16:creationId xmlns:a16="http://schemas.microsoft.com/office/drawing/2014/main" id="{C4D1539A-187E-4708-93B3-EDB1FA1AAC89}"/>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2" name="Line 18">
                  <a:extLst>
                    <a:ext uri="{FF2B5EF4-FFF2-40B4-BE49-F238E27FC236}">
                      <a16:creationId xmlns:a16="http://schemas.microsoft.com/office/drawing/2014/main" id="{FA7BD87E-7836-4597-952E-C8EDE53314C6}"/>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13" name="Line 19">
                  <a:extLst>
                    <a:ext uri="{FF2B5EF4-FFF2-40B4-BE49-F238E27FC236}">
                      <a16:creationId xmlns:a16="http://schemas.microsoft.com/office/drawing/2014/main" id="{ED6E7871-2E9C-49DC-B8C0-6396CCBA1A15}"/>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grpSp>
          <p:nvGrpSpPr>
            <p:cNvPr id="47185" name="Group 20">
              <a:extLst>
                <a:ext uri="{FF2B5EF4-FFF2-40B4-BE49-F238E27FC236}">
                  <a16:creationId xmlns:a16="http://schemas.microsoft.com/office/drawing/2014/main" id="{C2E21178-7B98-425F-9E35-77E46D1F5B83}"/>
                </a:ext>
              </a:extLst>
            </p:cNvPr>
            <p:cNvGrpSpPr>
              <a:grpSpLocks/>
            </p:cNvGrpSpPr>
            <p:nvPr/>
          </p:nvGrpSpPr>
          <p:grpSpPr bwMode="auto">
            <a:xfrm>
              <a:off x="2784" y="336"/>
              <a:ext cx="1872" cy="288"/>
              <a:chOff x="912" y="336"/>
              <a:chExt cx="1872" cy="288"/>
            </a:xfrm>
          </p:grpSpPr>
          <p:grpSp>
            <p:nvGrpSpPr>
              <p:cNvPr id="47192" name="Group 21">
                <a:extLst>
                  <a:ext uri="{FF2B5EF4-FFF2-40B4-BE49-F238E27FC236}">
                    <a16:creationId xmlns:a16="http://schemas.microsoft.com/office/drawing/2014/main" id="{D58C68EF-7E27-4638-977C-76D197EF36CE}"/>
                  </a:ext>
                </a:extLst>
              </p:cNvPr>
              <p:cNvGrpSpPr>
                <a:grpSpLocks/>
              </p:cNvGrpSpPr>
              <p:nvPr/>
            </p:nvGrpSpPr>
            <p:grpSpPr bwMode="auto">
              <a:xfrm>
                <a:off x="912" y="336"/>
                <a:ext cx="624" cy="288"/>
                <a:chOff x="912" y="336"/>
                <a:chExt cx="624" cy="288"/>
              </a:xfrm>
            </p:grpSpPr>
            <p:sp>
              <p:nvSpPr>
                <p:cNvPr id="47203" name="Line 22">
                  <a:extLst>
                    <a:ext uri="{FF2B5EF4-FFF2-40B4-BE49-F238E27FC236}">
                      <a16:creationId xmlns:a16="http://schemas.microsoft.com/office/drawing/2014/main" id="{06082FD6-C984-4E14-BCE1-FFD296BE85FA}"/>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04" name="Line 23">
                  <a:extLst>
                    <a:ext uri="{FF2B5EF4-FFF2-40B4-BE49-F238E27FC236}">
                      <a16:creationId xmlns:a16="http://schemas.microsoft.com/office/drawing/2014/main" id="{EE311E0E-2C94-41C5-87D2-6FE49C44EF4C}"/>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05" name="Line 24">
                  <a:extLst>
                    <a:ext uri="{FF2B5EF4-FFF2-40B4-BE49-F238E27FC236}">
                      <a16:creationId xmlns:a16="http://schemas.microsoft.com/office/drawing/2014/main" id="{3CBA7331-E32E-412F-A806-A784FAB13EDB}"/>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06" name="Line 25">
                  <a:extLst>
                    <a:ext uri="{FF2B5EF4-FFF2-40B4-BE49-F238E27FC236}">
                      <a16:creationId xmlns:a16="http://schemas.microsoft.com/office/drawing/2014/main" id="{266C567C-A8F3-486E-8907-D1FD8F7AA270}"/>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nvGrpSpPr>
              <p:cNvPr id="47193" name="Group 26">
                <a:extLst>
                  <a:ext uri="{FF2B5EF4-FFF2-40B4-BE49-F238E27FC236}">
                    <a16:creationId xmlns:a16="http://schemas.microsoft.com/office/drawing/2014/main" id="{3CDB8FD3-256C-4B23-B82C-50380A143108}"/>
                  </a:ext>
                </a:extLst>
              </p:cNvPr>
              <p:cNvGrpSpPr>
                <a:grpSpLocks/>
              </p:cNvGrpSpPr>
              <p:nvPr/>
            </p:nvGrpSpPr>
            <p:grpSpPr bwMode="auto">
              <a:xfrm>
                <a:off x="1536" y="336"/>
                <a:ext cx="624" cy="288"/>
                <a:chOff x="912" y="336"/>
                <a:chExt cx="624" cy="288"/>
              </a:xfrm>
            </p:grpSpPr>
            <p:sp>
              <p:nvSpPr>
                <p:cNvPr id="47199" name="Line 27">
                  <a:extLst>
                    <a:ext uri="{FF2B5EF4-FFF2-40B4-BE49-F238E27FC236}">
                      <a16:creationId xmlns:a16="http://schemas.microsoft.com/office/drawing/2014/main" id="{157D8279-1E5D-4182-8D41-0D8CD9CBEA2A}"/>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00" name="Line 28">
                  <a:extLst>
                    <a:ext uri="{FF2B5EF4-FFF2-40B4-BE49-F238E27FC236}">
                      <a16:creationId xmlns:a16="http://schemas.microsoft.com/office/drawing/2014/main" id="{75151690-DA18-4A6E-B9C6-703A2E461187}"/>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01" name="Line 29">
                  <a:extLst>
                    <a:ext uri="{FF2B5EF4-FFF2-40B4-BE49-F238E27FC236}">
                      <a16:creationId xmlns:a16="http://schemas.microsoft.com/office/drawing/2014/main" id="{14D677AB-59FE-4817-B7E7-63272AFA3907}"/>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202" name="Line 30">
                  <a:extLst>
                    <a:ext uri="{FF2B5EF4-FFF2-40B4-BE49-F238E27FC236}">
                      <a16:creationId xmlns:a16="http://schemas.microsoft.com/office/drawing/2014/main" id="{7D3F181C-E289-4675-9769-1C606F22EA9D}"/>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nvGrpSpPr>
              <p:cNvPr id="47194" name="Group 31">
                <a:extLst>
                  <a:ext uri="{FF2B5EF4-FFF2-40B4-BE49-F238E27FC236}">
                    <a16:creationId xmlns:a16="http://schemas.microsoft.com/office/drawing/2014/main" id="{9F6553C2-83D6-4E98-AE88-E073F1E1042E}"/>
                  </a:ext>
                </a:extLst>
              </p:cNvPr>
              <p:cNvGrpSpPr>
                <a:grpSpLocks/>
              </p:cNvGrpSpPr>
              <p:nvPr/>
            </p:nvGrpSpPr>
            <p:grpSpPr bwMode="auto">
              <a:xfrm>
                <a:off x="2160" y="336"/>
                <a:ext cx="624" cy="288"/>
                <a:chOff x="912" y="336"/>
                <a:chExt cx="624" cy="288"/>
              </a:xfrm>
            </p:grpSpPr>
            <p:sp>
              <p:nvSpPr>
                <p:cNvPr id="47195" name="Line 32">
                  <a:extLst>
                    <a:ext uri="{FF2B5EF4-FFF2-40B4-BE49-F238E27FC236}">
                      <a16:creationId xmlns:a16="http://schemas.microsoft.com/office/drawing/2014/main" id="{76BAFD61-9476-460D-9F1F-3A50FBC9936B}"/>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96" name="Line 33">
                  <a:extLst>
                    <a:ext uri="{FF2B5EF4-FFF2-40B4-BE49-F238E27FC236}">
                      <a16:creationId xmlns:a16="http://schemas.microsoft.com/office/drawing/2014/main" id="{718B9627-5775-4774-B2D2-15BC7FC13339}"/>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97" name="Line 34">
                  <a:extLst>
                    <a:ext uri="{FF2B5EF4-FFF2-40B4-BE49-F238E27FC236}">
                      <a16:creationId xmlns:a16="http://schemas.microsoft.com/office/drawing/2014/main" id="{291D1492-EA2A-4EC2-BFA1-A9667575AF18}"/>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98" name="Line 35">
                  <a:extLst>
                    <a:ext uri="{FF2B5EF4-FFF2-40B4-BE49-F238E27FC236}">
                      <a16:creationId xmlns:a16="http://schemas.microsoft.com/office/drawing/2014/main" id="{9815AE8E-508F-4624-B31C-F63CB401138F}"/>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grpSp>
          <p:nvGrpSpPr>
            <p:cNvPr id="47186" name="Group 36">
              <a:extLst>
                <a:ext uri="{FF2B5EF4-FFF2-40B4-BE49-F238E27FC236}">
                  <a16:creationId xmlns:a16="http://schemas.microsoft.com/office/drawing/2014/main" id="{BD3A3657-CB84-4D92-8388-41C0513EC526}"/>
                </a:ext>
              </a:extLst>
            </p:cNvPr>
            <p:cNvGrpSpPr>
              <a:grpSpLocks/>
            </p:cNvGrpSpPr>
            <p:nvPr/>
          </p:nvGrpSpPr>
          <p:grpSpPr bwMode="auto">
            <a:xfrm>
              <a:off x="4656" y="336"/>
              <a:ext cx="624" cy="288"/>
              <a:chOff x="912" y="336"/>
              <a:chExt cx="624" cy="288"/>
            </a:xfrm>
          </p:grpSpPr>
          <p:sp>
            <p:nvSpPr>
              <p:cNvPr id="47188" name="Line 37">
                <a:extLst>
                  <a:ext uri="{FF2B5EF4-FFF2-40B4-BE49-F238E27FC236}">
                    <a16:creationId xmlns:a16="http://schemas.microsoft.com/office/drawing/2014/main" id="{69E62686-3F29-4677-B850-C997AC52CB5D}"/>
                  </a:ext>
                </a:extLst>
              </p:cNvPr>
              <p:cNvSpPr>
                <a:spLocks noChangeShapeType="1"/>
              </p:cNvSpPr>
              <p:nvPr/>
            </p:nvSpPr>
            <p:spPr bwMode="auto">
              <a:xfrm flipV="1">
                <a:off x="912"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89" name="Line 38">
                <a:extLst>
                  <a:ext uri="{FF2B5EF4-FFF2-40B4-BE49-F238E27FC236}">
                    <a16:creationId xmlns:a16="http://schemas.microsoft.com/office/drawing/2014/main" id="{14C9C096-8364-448C-8EB2-0150B8B72012}"/>
                  </a:ext>
                </a:extLst>
              </p:cNvPr>
              <p:cNvSpPr>
                <a:spLocks noChangeShapeType="1"/>
              </p:cNvSpPr>
              <p:nvPr/>
            </p:nvSpPr>
            <p:spPr bwMode="auto">
              <a:xfrm>
                <a:off x="912" y="33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90" name="Line 39">
                <a:extLst>
                  <a:ext uri="{FF2B5EF4-FFF2-40B4-BE49-F238E27FC236}">
                    <a16:creationId xmlns:a16="http://schemas.microsoft.com/office/drawing/2014/main" id="{E8230E83-9986-4DB4-A560-A77A9B9F60FF}"/>
                  </a:ext>
                </a:extLst>
              </p:cNvPr>
              <p:cNvSpPr>
                <a:spLocks noChangeShapeType="1"/>
              </p:cNvSpPr>
              <p:nvPr/>
            </p:nvSpPr>
            <p:spPr bwMode="auto">
              <a:xfrm>
                <a:off x="1200" y="336"/>
                <a:ext cx="0"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91" name="Line 40">
                <a:extLst>
                  <a:ext uri="{FF2B5EF4-FFF2-40B4-BE49-F238E27FC236}">
                    <a16:creationId xmlns:a16="http://schemas.microsoft.com/office/drawing/2014/main" id="{5846C59D-C1CF-4EFE-8298-92CE8F4EB1F3}"/>
                  </a:ext>
                </a:extLst>
              </p:cNvPr>
              <p:cNvSpPr>
                <a:spLocks noChangeShapeType="1"/>
              </p:cNvSpPr>
              <p:nvPr/>
            </p:nvSpPr>
            <p:spPr bwMode="auto">
              <a:xfrm>
                <a:off x="1188" y="624"/>
                <a:ext cx="3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47187" name="Text Box 41">
              <a:extLst>
                <a:ext uri="{FF2B5EF4-FFF2-40B4-BE49-F238E27FC236}">
                  <a16:creationId xmlns:a16="http://schemas.microsoft.com/office/drawing/2014/main" id="{23C96411-6152-4047-BE88-398C7F69BBDD}"/>
                </a:ext>
              </a:extLst>
            </p:cNvPr>
            <p:cNvSpPr txBox="1">
              <a:spLocks noChangeArrowheads="1"/>
            </p:cNvSpPr>
            <p:nvPr/>
          </p:nvSpPr>
          <p:spPr bwMode="auto">
            <a:xfrm>
              <a:off x="0" y="432"/>
              <a:ext cx="13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800">
                  <a:latin typeface="Courier New" panose="02070309020205020404" pitchFamily="49" charset="0"/>
                </a:rPr>
                <a:t>CLK</a:t>
              </a:r>
            </a:p>
          </p:txBody>
        </p:sp>
      </p:grpSp>
      <p:grpSp>
        <p:nvGrpSpPr>
          <p:cNvPr id="121898" name="Group 42">
            <a:extLst>
              <a:ext uri="{FF2B5EF4-FFF2-40B4-BE49-F238E27FC236}">
                <a16:creationId xmlns:a16="http://schemas.microsoft.com/office/drawing/2014/main" id="{371D0EA5-E605-4DFC-8973-40307DF8F343}"/>
              </a:ext>
            </a:extLst>
          </p:cNvPr>
          <p:cNvGrpSpPr>
            <a:grpSpLocks/>
          </p:cNvGrpSpPr>
          <p:nvPr/>
        </p:nvGrpSpPr>
        <p:grpSpPr bwMode="auto">
          <a:xfrm>
            <a:off x="228600" y="2133600"/>
            <a:ext cx="8229600" cy="457200"/>
            <a:chOff x="144" y="1488"/>
            <a:chExt cx="5184" cy="288"/>
          </a:xfrm>
        </p:grpSpPr>
        <p:sp>
          <p:nvSpPr>
            <p:cNvPr id="47172" name="Line 43">
              <a:extLst>
                <a:ext uri="{FF2B5EF4-FFF2-40B4-BE49-F238E27FC236}">
                  <a16:creationId xmlns:a16="http://schemas.microsoft.com/office/drawing/2014/main" id="{E57BC643-5D65-4F44-8601-1C36A9232438}"/>
                </a:ext>
              </a:extLst>
            </p:cNvPr>
            <p:cNvSpPr>
              <a:spLocks noChangeShapeType="1"/>
            </p:cNvSpPr>
            <p:nvPr/>
          </p:nvSpPr>
          <p:spPr bwMode="auto">
            <a:xfrm>
              <a:off x="1008" y="1536"/>
              <a:ext cx="24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3" name="Line 44">
              <a:extLst>
                <a:ext uri="{FF2B5EF4-FFF2-40B4-BE49-F238E27FC236}">
                  <a16:creationId xmlns:a16="http://schemas.microsoft.com/office/drawing/2014/main" id="{65C8A3AB-3D83-4FFD-BB6D-7875A05933B1}"/>
                </a:ext>
              </a:extLst>
            </p:cNvPr>
            <p:cNvSpPr>
              <a:spLocks noChangeShapeType="1"/>
            </p:cNvSpPr>
            <p:nvPr/>
          </p:nvSpPr>
          <p:spPr bwMode="auto">
            <a:xfrm>
              <a:off x="1008" y="1776"/>
              <a:ext cx="24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4" name="Line 45">
              <a:extLst>
                <a:ext uri="{FF2B5EF4-FFF2-40B4-BE49-F238E27FC236}">
                  <a16:creationId xmlns:a16="http://schemas.microsoft.com/office/drawing/2014/main" id="{7F9A8BA3-3160-4C14-BEA9-5F536821297E}"/>
                </a:ext>
              </a:extLst>
            </p:cNvPr>
            <p:cNvSpPr>
              <a:spLocks noChangeShapeType="1"/>
            </p:cNvSpPr>
            <p:nvPr/>
          </p:nvSpPr>
          <p:spPr bwMode="auto">
            <a:xfrm>
              <a:off x="1248" y="1536"/>
              <a:ext cx="192"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5" name="Line 46">
              <a:extLst>
                <a:ext uri="{FF2B5EF4-FFF2-40B4-BE49-F238E27FC236}">
                  <a16:creationId xmlns:a16="http://schemas.microsoft.com/office/drawing/2014/main" id="{A2671E66-71B8-4A43-9C7E-3155B745E184}"/>
                </a:ext>
              </a:extLst>
            </p:cNvPr>
            <p:cNvSpPr>
              <a:spLocks noChangeShapeType="1"/>
            </p:cNvSpPr>
            <p:nvPr/>
          </p:nvSpPr>
          <p:spPr bwMode="auto">
            <a:xfrm flipV="1">
              <a:off x="1212" y="1536"/>
              <a:ext cx="192"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6" name="Line 47">
              <a:extLst>
                <a:ext uri="{FF2B5EF4-FFF2-40B4-BE49-F238E27FC236}">
                  <a16:creationId xmlns:a16="http://schemas.microsoft.com/office/drawing/2014/main" id="{B014F830-174C-466A-A4EE-6B7AE87FEAE9}"/>
                </a:ext>
              </a:extLst>
            </p:cNvPr>
            <p:cNvSpPr>
              <a:spLocks noChangeShapeType="1"/>
            </p:cNvSpPr>
            <p:nvPr/>
          </p:nvSpPr>
          <p:spPr bwMode="auto">
            <a:xfrm>
              <a:off x="1392" y="1536"/>
              <a:ext cx="336"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7" name="Line 48">
              <a:extLst>
                <a:ext uri="{FF2B5EF4-FFF2-40B4-BE49-F238E27FC236}">
                  <a16:creationId xmlns:a16="http://schemas.microsoft.com/office/drawing/2014/main" id="{E619752F-6182-4C15-AAB2-F075DFFE50E1}"/>
                </a:ext>
              </a:extLst>
            </p:cNvPr>
            <p:cNvSpPr>
              <a:spLocks noChangeShapeType="1"/>
            </p:cNvSpPr>
            <p:nvPr/>
          </p:nvSpPr>
          <p:spPr bwMode="auto">
            <a:xfrm>
              <a:off x="1440" y="177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8" name="Line 49">
              <a:extLst>
                <a:ext uri="{FF2B5EF4-FFF2-40B4-BE49-F238E27FC236}">
                  <a16:creationId xmlns:a16="http://schemas.microsoft.com/office/drawing/2014/main" id="{63180CEC-4E4A-467E-BEE0-5BFCB5355347}"/>
                </a:ext>
              </a:extLst>
            </p:cNvPr>
            <p:cNvSpPr>
              <a:spLocks noChangeShapeType="1"/>
            </p:cNvSpPr>
            <p:nvPr/>
          </p:nvSpPr>
          <p:spPr bwMode="auto">
            <a:xfrm>
              <a:off x="1728" y="1536"/>
              <a:ext cx="240"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9" name="Line 50">
              <a:extLst>
                <a:ext uri="{FF2B5EF4-FFF2-40B4-BE49-F238E27FC236}">
                  <a16:creationId xmlns:a16="http://schemas.microsoft.com/office/drawing/2014/main" id="{158710E0-4064-4143-B485-B1ED783FBFBA}"/>
                </a:ext>
              </a:extLst>
            </p:cNvPr>
            <p:cNvSpPr>
              <a:spLocks noChangeShapeType="1"/>
            </p:cNvSpPr>
            <p:nvPr/>
          </p:nvSpPr>
          <p:spPr bwMode="auto">
            <a:xfrm flipV="1">
              <a:off x="1728" y="1536"/>
              <a:ext cx="240"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80" name="Line 51">
              <a:extLst>
                <a:ext uri="{FF2B5EF4-FFF2-40B4-BE49-F238E27FC236}">
                  <a16:creationId xmlns:a16="http://schemas.microsoft.com/office/drawing/2014/main" id="{07BC8A1B-CB23-49CC-BB48-78ABF25D8528}"/>
                </a:ext>
              </a:extLst>
            </p:cNvPr>
            <p:cNvSpPr>
              <a:spLocks noChangeShapeType="1"/>
            </p:cNvSpPr>
            <p:nvPr/>
          </p:nvSpPr>
          <p:spPr bwMode="auto">
            <a:xfrm>
              <a:off x="1968" y="1536"/>
              <a:ext cx="336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81" name="Line 52">
              <a:extLst>
                <a:ext uri="{FF2B5EF4-FFF2-40B4-BE49-F238E27FC236}">
                  <a16:creationId xmlns:a16="http://schemas.microsoft.com/office/drawing/2014/main" id="{1A23AB57-1686-4E8A-8901-70DC0CF78FF3}"/>
                </a:ext>
              </a:extLst>
            </p:cNvPr>
            <p:cNvSpPr>
              <a:spLocks noChangeShapeType="1"/>
            </p:cNvSpPr>
            <p:nvPr/>
          </p:nvSpPr>
          <p:spPr bwMode="auto">
            <a:xfrm>
              <a:off x="1968" y="1776"/>
              <a:ext cx="336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82" name="Text Box 53">
              <a:extLst>
                <a:ext uri="{FF2B5EF4-FFF2-40B4-BE49-F238E27FC236}">
                  <a16:creationId xmlns:a16="http://schemas.microsoft.com/office/drawing/2014/main" id="{52CD7835-1630-4EB7-B54F-1B1663135447}"/>
                </a:ext>
              </a:extLst>
            </p:cNvPr>
            <p:cNvSpPr txBox="1">
              <a:spLocks noChangeArrowheads="1"/>
            </p:cNvSpPr>
            <p:nvPr/>
          </p:nvSpPr>
          <p:spPr bwMode="auto">
            <a:xfrm>
              <a:off x="144" y="1488"/>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ADDA-C</a:t>
              </a:r>
            </a:p>
          </p:txBody>
        </p:sp>
      </p:grpSp>
      <p:grpSp>
        <p:nvGrpSpPr>
          <p:cNvPr id="121910" name="Group 54">
            <a:extLst>
              <a:ext uri="{FF2B5EF4-FFF2-40B4-BE49-F238E27FC236}">
                <a16:creationId xmlns:a16="http://schemas.microsoft.com/office/drawing/2014/main" id="{41DD2EEB-558B-4C4D-92F5-31EC455D05FD}"/>
              </a:ext>
            </a:extLst>
          </p:cNvPr>
          <p:cNvGrpSpPr>
            <a:grpSpLocks/>
          </p:cNvGrpSpPr>
          <p:nvPr/>
        </p:nvGrpSpPr>
        <p:grpSpPr bwMode="auto">
          <a:xfrm>
            <a:off x="381000" y="2971800"/>
            <a:ext cx="7924800" cy="457200"/>
            <a:chOff x="288" y="1584"/>
            <a:chExt cx="4992" cy="288"/>
          </a:xfrm>
        </p:grpSpPr>
        <p:sp>
          <p:nvSpPr>
            <p:cNvPr id="47166" name="Line 55">
              <a:extLst>
                <a:ext uri="{FF2B5EF4-FFF2-40B4-BE49-F238E27FC236}">
                  <a16:creationId xmlns:a16="http://schemas.microsoft.com/office/drawing/2014/main" id="{6CB8DDE9-7B6F-4BE9-95A9-3B77D1E551FE}"/>
                </a:ext>
              </a:extLst>
            </p:cNvPr>
            <p:cNvSpPr>
              <a:spLocks noChangeShapeType="1"/>
            </p:cNvSpPr>
            <p:nvPr/>
          </p:nvSpPr>
          <p:spPr bwMode="auto">
            <a:xfrm>
              <a:off x="912" y="1824"/>
              <a:ext cx="48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7" name="Line 56">
              <a:extLst>
                <a:ext uri="{FF2B5EF4-FFF2-40B4-BE49-F238E27FC236}">
                  <a16:creationId xmlns:a16="http://schemas.microsoft.com/office/drawing/2014/main" id="{CD28A16D-7A01-44C6-AA87-8813C5621111}"/>
                </a:ext>
              </a:extLst>
            </p:cNvPr>
            <p:cNvSpPr>
              <a:spLocks noChangeShapeType="1"/>
            </p:cNvSpPr>
            <p:nvPr/>
          </p:nvSpPr>
          <p:spPr bwMode="auto">
            <a:xfrm flipV="1">
              <a:off x="1392" y="1584"/>
              <a:ext cx="144"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8" name="Line 57">
              <a:extLst>
                <a:ext uri="{FF2B5EF4-FFF2-40B4-BE49-F238E27FC236}">
                  <a16:creationId xmlns:a16="http://schemas.microsoft.com/office/drawing/2014/main" id="{3046F394-0923-476B-A6B3-A77D93656A78}"/>
                </a:ext>
              </a:extLst>
            </p:cNvPr>
            <p:cNvSpPr>
              <a:spLocks noChangeShapeType="1"/>
            </p:cNvSpPr>
            <p:nvPr/>
          </p:nvSpPr>
          <p:spPr bwMode="auto">
            <a:xfrm>
              <a:off x="1536" y="1584"/>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9" name="Line 58">
              <a:extLst>
                <a:ext uri="{FF2B5EF4-FFF2-40B4-BE49-F238E27FC236}">
                  <a16:creationId xmlns:a16="http://schemas.microsoft.com/office/drawing/2014/main" id="{FD53DD65-1177-45F7-92B0-FAC87224521E}"/>
                </a:ext>
              </a:extLst>
            </p:cNvPr>
            <p:cNvSpPr>
              <a:spLocks noChangeShapeType="1"/>
            </p:cNvSpPr>
            <p:nvPr/>
          </p:nvSpPr>
          <p:spPr bwMode="auto">
            <a:xfrm>
              <a:off x="1800" y="1584"/>
              <a:ext cx="144"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0" name="Line 59">
              <a:extLst>
                <a:ext uri="{FF2B5EF4-FFF2-40B4-BE49-F238E27FC236}">
                  <a16:creationId xmlns:a16="http://schemas.microsoft.com/office/drawing/2014/main" id="{39A357FA-2A97-459B-9B14-CC534257C3B9}"/>
                </a:ext>
              </a:extLst>
            </p:cNvPr>
            <p:cNvSpPr>
              <a:spLocks noChangeShapeType="1"/>
            </p:cNvSpPr>
            <p:nvPr/>
          </p:nvSpPr>
          <p:spPr bwMode="auto">
            <a:xfrm>
              <a:off x="1920" y="1824"/>
              <a:ext cx="336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71" name="Text Box 60">
              <a:extLst>
                <a:ext uri="{FF2B5EF4-FFF2-40B4-BE49-F238E27FC236}">
                  <a16:creationId xmlns:a16="http://schemas.microsoft.com/office/drawing/2014/main" id="{3B1B6068-3061-487A-966F-2DBCED0DC5C7}"/>
                </a:ext>
              </a:extLst>
            </p:cNvPr>
            <p:cNvSpPr txBox="1">
              <a:spLocks noChangeArrowheads="1"/>
            </p:cNvSpPr>
            <p:nvPr/>
          </p:nvSpPr>
          <p:spPr bwMode="auto">
            <a:xfrm>
              <a:off x="288" y="1584"/>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ALE</a:t>
              </a:r>
            </a:p>
          </p:txBody>
        </p:sp>
      </p:grpSp>
      <p:grpSp>
        <p:nvGrpSpPr>
          <p:cNvPr id="121917" name="Group 61">
            <a:extLst>
              <a:ext uri="{FF2B5EF4-FFF2-40B4-BE49-F238E27FC236}">
                <a16:creationId xmlns:a16="http://schemas.microsoft.com/office/drawing/2014/main" id="{D0CF8D94-D30D-4F4D-B1FE-806E8FD538BA}"/>
              </a:ext>
            </a:extLst>
          </p:cNvPr>
          <p:cNvGrpSpPr>
            <a:grpSpLocks/>
          </p:cNvGrpSpPr>
          <p:nvPr/>
        </p:nvGrpSpPr>
        <p:grpSpPr bwMode="auto">
          <a:xfrm>
            <a:off x="228600" y="1295400"/>
            <a:ext cx="8001000" cy="457200"/>
            <a:chOff x="144" y="960"/>
            <a:chExt cx="5040" cy="288"/>
          </a:xfrm>
        </p:grpSpPr>
        <p:sp>
          <p:nvSpPr>
            <p:cNvPr id="47155" name="Line 62">
              <a:extLst>
                <a:ext uri="{FF2B5EF4-FFF2-40B4-BE49-F238E27FC236}">
                  <a16:creationId xmlns:a16="http://schemas.microsoft.com/office/drawing/2014/main" id="{D1C18A2A-A758-4F7D-8D8A-2693F67DF4B4}"/>
                </a:ext>
              </a:extLst>
            </p:cNvPr>
            <p:cNvSpPr>
              <a:spLocks noChangeShapeType="1"/>
            </p:cNvSpPr>
            <p:nvPr/>
          </p:nvSpPr>
          <p:spPr bwMode="auto">
            <a:xfrm>
              <a:off x="948" y="1008"/>
              <a:ext cx="24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6" name="Line 63">
              <a:extLst>
                <a:ext uri="{FF2B5EF4-FFF2-40B4-BE49-F238E27FC236}">
                  <a16:creationId xmlns:a16="http://schemas.microsoft.com/office/drawing/2014/main" id="{6BCE8CA5-7DFA-4842-8CC0-17BF965811EF}"/>
                </a:ext>
              </a:extLst>
            </p:cNvPr>
            <p:cNvSpPr>
              <a:spLocks noChangeShapeType="1"/>
            </p:cNvSpPr>
            <p:nvPr/>
          </p:nvSpPr>
          <p:spPr bwMode="auto">
            <a:xfrm>
              <a:off x="948" y="1248"/>
              <a:ext cx="24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7" name="Line 64">
              <a:extLst>
                <a:ext uri="{FF2B5EF4-FFF2-40B4-BE49-F238E27FC236}">
                  <a16:creationId xmlns:a16="http://schemas.microsoft.com/office/drawing/2014/main" id="{6F39D9DE-F4BD-42EC-B518-E9C949C82356}"/>
                </a:ext>
              </a:extLst>
            </p:cNvPr>
            <p:cNvSpPr>
              <a:spLocks noChangeShapeType="1"/>
            </p:cNvSpPr>
            <p:nvPr/>
          </p:nvSpPr>
          <p:spPr bwMode="auto">
            <a:xfrm>
              <a:off x="1188" y="1008"/>
              <a:ext cx="192"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8" name="Line 65">
              <a:extLst>
                <a:ext uri="{FF2B5EF4-FFF2-40B4-BE49-F238E27FC236}">
                  <a16:creationId xmlns:a16="http://schemas.microsoft.com/office/drawing/2014/main" id="{132AB473-41B1-4763-9567-C528C12AED70}"/>
                </a:ext>
              </a:extLst>
            </p:cNvPr>
            <p:cNvSpPr>
              <a:spLocks noChangeShapeType="1"/>
            </p:cNvSpPr>
            <p:nvPr/>
          </p:nvSpPr>
          <p:spPr bwMode="auto">
            <a:xfrm flipV="1">
              <a:off x="1152" y="1008"/>
              <a:ext cx="192"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9" name="Line 66">
              <a:extLst>
                <a:ext uri="{FF2B5EF4-FFF2-40B4-BE49-F238E27FC236}">
                  <a16:creationId xmlns:a16="http://schemas.microsoft.com/office/drawing/2014/main" id="{5D17A2A8-1F14-4A9C-9D6C-B478A3ECE7D6}"/>
                </a:ext>
              </a:extLst>
            </p:cNvPr>
            <p:cNvSpPr>
              <a:spLocks noChangeShapeType="1"/>
            </p:cNvSpPr>
            <p:nvPr/>
          </p:nvSpPr>
          <p:spPr bwMode="auto">
            <a:xfrm>
              <a:off x="1344" y="1008"/>
              <a:ext cx="316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0" name="Line 67">
              <a:extLst>
                <a:ext uri="{FF2B5EF4-FFF2-40B4-BE49-F238E27FC236}">
                  <a16:creationId xmlns:a16="http://schemas.microsoft.com/office/drawing/2014/main" id="{A1BB4B23-8DB8-48F5-B38E-F21442DAD61B}"/>
                </a:ext>
              </a:extLst>
            </p:cNvPr>
            <p:cNvSpPr>
              <a:spLocks noChangeShapeType="1"/>
            </p:cNvSpPr>
            <p:nvPr/>
          </p:nvSpPr>
          <p:spPr bwMode="auto">
            <a:xfrm>
              <a:off x="1356" y="1248"/>
              <a:ext cx="3156"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1" name="Text Box 68">
              <a:extLst>
                <a:ext uri="{FF2B5EF4-FFF2-40B4-BE49-F238E27FC236}">
                  <a16:creationId xmlns:a16="http://schemas.microsoft.com/office/drawing/2014/main" id="{874D23F3-4968-4714-A2E9-CB48D43207BC}"/>
                </a:ext>
              </a:extLst>
            </p:cNvPr>
            <p:cNvSpPr txBox="1">
              <a:spLocks noChangeArrowheads="1"/>
            </p:cNvSpPr>
            <p:nvPr/>
          </p:nvSpPr>
          <p:spPr bwMode="auto">
            <a:xfrm>
              <a:off x="144" y="960"/>
              <a:ext cx="9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latin typeface="Courier New" panose="02070309020205020404" pitchFamily="49" charset="0"/>
                </a:rPr>
                <a:t>模拟输入</a:t>
              </a:r>
            </a:p>
          </p:txBody>
        </p:sp>
        <p:sp>
          <p:nvSpPr>
            <p:cNvPr id="47162" name="Line 69">
              <a:extLst>
                <a:ext uri="{FF2B5EF4-FFF2-40B4-BE49-F238E27FC236}">
                  <a16:creationId xmlns:a16="http://schemas.microsoft.com/office/drawing/2014/main" id="{A7AF6970-62FF-40C3-AAEE-8FDDF446A140}"/>
                </a:ext>
              </a:extLst>
            </p:cNvPr>
            <p:cNvSpPr>
              <a:spLocks noChangeShapeType="1"/>
            </p:cNvSpPr>
            <p:nvPr/>
          </p:nvSpPr>
          <p:spPr bwMode="auto">
            <a:xfrm>
              <a:off x="4512" y="1008"/>
              <a:ext cx="240"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3" name="Line 70">
              <a:extLst>
                <a:ext uri="{FF2B5EF4-FFF2-40B4-BE49-F238E27FC236}">
                  <a16:creationId xmlns:a16="http://schemas.microsoft.com/office/drawing/2014/main" id="{B8DB358E-7EC6-4578-888E-45A16D661D9C}"/>
                </a:ext>
              </a:extLst>
            </p:cNvPr>
            <p:cNvSpPr>
              <a:spLocks noChangeShapeType="1"/>
            </p:cNvSpPr>
            <p:nvPr/>
          </p:nvSpPr>
          <p:spPr bwMode="auto">
            <a:xfrm flipV="1">
              <a:off x="4512" y="1008"/>
              <a:ext cx="240"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4" name="Line 71">
              <a:extLst>
                <a:ext uri="{FF2B5EF4-FFF2-40B4-BE49-F238E27FC236}">
                  <a16:creationId xmlns:a16="http://schemas.microsoft.com/office/drawing/2014/main" id="{7230B349-5B5A-4B17-98FD-818650B0F2C3}"/>
                </a:ext>
              </a:extLst>
            </p:cNvPr>
            <p:cNvSpPr>
              <a:spLocks noChangeShapeType="1"/>
            </p:cNvSpPr>
            <p:nvPr/>
          </p:nvSpPr>
          <p:spPr bwMode="auto">
            <a:xfrm>
              <a:off x="4752" y="1008"/>
              <a:ext cx="432"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65" name="Line 72">
              <a:extLst>
                <a:ext uri="{FF2B5EF4-FFF2-40B4-BE49-F238E27FC236}">
                  <a16:creationId xmlns:a16="http://schemas.microsoft.com/office/drawing/2014/main" id="{B97F1C07-0251-4EA7-9A82-20950D316FFF}"/>
                </a:ext>
              </a:extLst>
            </p:cNvPr>
            <p:cNvSpPr>
              <a:spLocks noChangeShapeType="1"/>
            </p:cNvSpPr>
            <p:nvPr/>
          </p:nvSpPr>
          <p:spPr bwMode="auto">
            <a:xfrm>
              <a:off x="4752" y="1248"/>
              <a:ext cx="432"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grpSp>
        <p:nvGrpSpPr>
          <p:cNvPr id="121929" name="Group 73">
            <a:extLst>
              <a:ext uri="{FF2B5EF4-FFF2-40B4-BE49-F238E27FC236}">
                <a16:creationId xmlns:a16="http://schemas.microsoft.com/office/drawing/2014/main" id="{BEA91BD4-19E8-4C77-B58D-F704B2A55AF4}"/>
              </a:ext>
            </a:extLst>
          </p:cNvPr>
          <p:cNvGrpSpPr>
            <a:grpSpLocks/>
          </p:cNvGrpSpPr>
          <p:nvPr/>
        </p:nvGrpSpPr>
        <p:grpSpPr bwMode="auto">
          <a:xfrm>
            <a:off x="152400" y="3657600"/>
            <a:ext cx="8267700" cy="457200"/>
            <a:chOff x="144" y="2496"/>
            <a:chExt cx="5208" cy="288"/>
          </a:xfrm>
        </p:grpSpPr>
        <p:sp>
          <p:nvSpPr>
            <p:cNvPr id="47149" name="Line 74">
              <a:extLst>
                <a:ext uri="{FF2B5EF4-FFF2-40B4-BE49-F238E27FC236}">
                  <a16:creationId xmlns:a16="http://schemas.microsoft.com/office/drawing/2014/main" id="{1A23DD82-BEA9-4EA2-8503-F3E6C26A27F4}"/>
                </a:ext>
              </a:extLst>
            </p:cNvPr>
            <p:cNvSpPr>
              <a:spLocks noChangeShapeType="1"/>
            </p:cNvSpPr>
            <p:nvPr/>
          </p:nvSpPr>
          <p:spPr bwMode="auto">
            <a:xfrm>
              <a:off x="984" y="2736"/>
              <a:ext cx="48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0" name="Line 75">
              <a:extLst>
                <a:ext uri="{FF2B5EF4-FFF2-40B4-BE49-F238E27FC236}">
                  <a16:creationId xmlns:a16="http://schemas.microsoft.com/office/drawing/2014/main" id="{7F9416EC-8CF9-49E6-89CB-C055C39FA552}"/>
                </a:ext>
              </a:extLst>
            </p:cNvPr>
            <p:cNvSpPr>
              <a:spLocks noChangeShapeType="1"/>
            </p:cNvSpPr>
            <p:nvPr/>
          </p:nvSpPr>
          <p:spPr bwMode="auto">
            <a:xfrm flipV="1">
              <a:off x="1464" y="2496"/>
              <a:ext cx="144"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1" name="Line 76">
              <a:extLst>
                <a:ext uri="{FF2B5EF4-FFF2-40B4-BE49-F238E27FC236}">
                  <a16:creationId xmlns:a16="http://schemas.microsoft.com/office/drawing/2014/main" id="{E2C0D005-D8FF-49BF-85D9-498A56D98D37}"/>
                </a:ext>
              </a:extLst>
            </p:cNvPr>
            <p:cNvSpPr>
              <a:spLocks noChangeShapeType="1"/>
            </p:cNvSpPr>
            <p:nvPr/>
          </p:nvSpPr>
          <p:spPr bwMode="auto">
            <a:xfrm>
              <a:off x="1608" y="2496"/>
              <a:ext cx="28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2" name="Line 77">
              <a:extLst>
                <a:ext uri="{FF2B5EF4-FFF2-40B4-BE49-F238E27FC236}">
                  <a16:creationId xmlns:a16="http://schemas.microsoft.com/office/drawing/2014/main" id="{3F5359DB-7653-4584-904A-C54790559835}"/>
                </a:ext>
              </a:extLst>
            </p:cNvPr>
            <p:cNvSpPr>
              <a:spLocks noChangeShapeType="1"/>
            </p:cNvSpPr>
            <p:nvPr/>
          </p:nvSpPr>
          <p:spPr bwMode="auto">
            <a:xfrm>
              <a:off x="1872" y="2496"/>
              <a:ext cx="144"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3" name="Line 78">
              <a:extLst>
                <a:ext uri="{FF2B5EF4-FFF2-40B4-BE49-F238E27FC236}">
                  <a16:creationId xmlns:a16="http://schemas.microsoft.com/office/drawing/2014/main" id="{49408180-4097-4494-9CDC-C36961DBAF8A}"/>
                </a:ext>
              </a:extLst>
            </p:cNvPr>
            <p:cNvSpPr>
              <a:spLocks noChangeShapeType="1"/>
            </p:cNvSpPr>
            <p:nvPr/>
          </p:nvSpPr>
          <p:spPr bwMode="auto">
            <a:xfrm>
              <a:off x="1992" y="2736"/>
              <a:ext cx="336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54" name="Text Box 79">
              <a:extLst>
                <a:ext uri="{FF2B5EF4-FFF2-40B4-BE49-F238E27FC236}">
                  <a16:creationId xmlns:a16="http://schemas.microsoft.com/office/drawing/2014/main" id="{7B5B86F3-7410-4397-A847-6462EFF2A1D9}"/>
                </a:ext>
              </a:extLst>
            </p:cNvPr>
            <p:cNvSpPr txBox="1">
              <a:spLocks noChangeArrowheads="1"/>
            </p:cNvSpPr>
            <p:nvPr/>
          </p:nvSpPr>
          <p:spPr bwMode="auto">
            <a:xfrm>
              <a:off x="144" y="2496"/>
              <a:ext cx="86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START</a:t>
              </a:r>
            </a:p>
          </p:txBody>
        </p:sp>
      </p:grpSp>
      <p:sp>
        <p:nvSpPr>
          <p:cNvPr id="121936" name="Line 80">
            <a:extLst>
              <a:ext uri="{FF2B5EF4-FFF2-40B4-BE49-F238E27FC236}">
                <a16:creationId xmlns:a16="http://schemas.microsoft.com/office/drawing/2014/main" id="{3FB0C69F-CC28-4842-B443-8DC7BFC03931}"/>
              </a:ext>
            </a:extLst>
          </p:cNvPr>
          <p:cNvSpPr>
            <a:spLocks noChangeShapeType="1"/>
          </p:cNvSpPr>
          <p:nvPr/>
        </p:nvSpPr>
        <p:spPr bwMode="auto">
          <a:xfrm>
            <a:off x="3086100" y="1143000"/>
            <a:ext cx="0" cy="4267200"/>
          </a:xfrm>
          <a:prstGeom prst="line">
            <a:avLst/>
          </a:prstGeom>
          <a:noFill/>
          <a:ln w="3175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121937" name="Group 81">
            <a:extLst>
              <a:ext uri="{FF2B5EF4-FFF2-40B4-BE49-F238E27FC236}">
                <a16:creationId xmlns:a16="http://schemas.microsoft.com/office/drawing/2014/main" id="{5F93E827-0153-4181-81E4-68A1C55A5F80}"/>
              </a:ext>
            </a:extLst>
          </p:cNvPr>
          <p:cNvGrpSpPr>
            <a:grpSpLocks/>
          </p:cNvGrpSpPr>
          <p:nvPr/>
        </p:nvGrpSpPr>
        <p:grpSpPr bwMode="auto">
          <a:xfrm>
            <a:off x="304800" y="4114800"/>
            <a:ext cx="8077200" cy="762000"/>
            <a:chOff x="240" y="2928"/>
            <a:chExt cx="5088" cy="480"/>
          </a:xfrm>
        </p:grpSpPr>
        <p:sp>
          <p:nvSpPr>
            <p:cNvPr id="47143" name="Line 82">
              <a:extLst>
                <a:ext uri="{FF2B5EF4-FFF2-40B4-BE49-F238E27FC236}">
                  <a16:creationId xmlns:a16="http://schemas.microsoft.com/office/drawing/2014/main" id="{794021D7-F632-474D-8FE1-06E75DA005FF}"/>
                </a:ext>
              </a:extLst>
            </p:cNvPr>
            <p:cNvSpPr>
              <a:spLocks noChangeShapeType="1"/>
            </p:cNvSpPr>
            <p:nvPr/>
          </p:nvSpPr>
          <p:spPr bwMode="auto">
            <a:xfrm>
              <a:off x="960" y="3120"/>
              <a:ext cx="124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4" name="Line 83">
              <a:extLst>
                <a:ext uri="{FF2B5EF4-FFF2-40B4-BE49-F238E27FC236}">
                  <a16:creationId xmlns:a16="http://schemas.microsoft.com/office/drawing/2014/main" id="{40B10132-74CA-484F-94BA-8BE3BA2A68E2}"/>
                </a:ext>
              </a:extLst>
            </p:cNvPr>
            <p:cNvSpPr>
              <a:spLocks noChangeShapeType="1"/>
            </p:cNvSpPr>
            <p:nvPr/>
          </p:nvSpPr>
          <p:spPr bwMode="auto">
            <a:xfrm>
              <a:off x="2208" y="3120"/>
              <a:ext cx="192"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5" name="Line 84">
              <a:extLst>
                <a:ext uri="{FF2B5EF4-FFF2-40B4-BE49-F238E27FC236}">
                  <a16:creationId xmlns:a16="http://schemas.microsoft.com/office/drawing/2014/main" id="{C66A2F55-DA61-45C0-8FDE-AC917896EEBB}"/>
                </a:ext>
              </a:extLst>
            </p:cNvPr>
            <p:cNvSpPr>
              <a:spLocks noChangeShapeType="1"/>
            </p:cNvSpPr>
            <p:nvPr/>
          </p:nvSpPr>
          <p:spPr bwMode="auto">
            <a:xfrm>
              <a:off x="2400" y="3408"/>
              <a:ext cx="1392"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6" name="Line 85">
              <a:extLst>
                <a:ext uri="{FF2B5EF4-FFF2-40B4-BE49-F238E27FC236}">
                  <a16:creationId xmlns:a16="http://schemas.microsoft.com/office/drawing/2014/main" id="{62D79ABF-541B-4C18-B012-1C11B41CD3AE}"/>
                </a:ext>
              </a:extLst>
            </p:cNvPr>
            <p:cNvSpPr>
              <a:spLocks noChangeShapeType="1"/>
            </p:cNvSpPr>
            <p:nvPr/>
          </p:nvSpPr>
          <p:spPr bwMode="auto">
            <a:xfrm flipV="1">
              <a:off x="3756" y="3120"/>
              <a:ext cx="228"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7" name="Line 86">
              <a:extLst>
                <a:ext uri="{FF2B5EF4-FFF2-40B4-BE49-F238E27FC236}">
                  <a16:creationId xmlns:a16="http://schemas.microsoft.com/office/drawing/2014/main" id="{EB4ACF3C-51C8-417E-A6A5-70B0D28527DB}"/>
                </a:ext>
              </a:extLst>
            </p:cNvPr>
            <p:cNvSpPr>
              <a:spLocks noChangeShapeType="1"/>
            </p:cNvSpPr>
            <p:nvPr/>
          </p:nvSpPr>
          <p:spPr bwMode="auto">
            <a:xfrm>
              <a:off x="3984" y="3120"/>
              <a:ext cx="1344"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8" name="Text Box 87">
              <a:extLst>
                <a:ext uri="{FF2B5EF4-FFF2-40B4-BE49-F238E27FC236}">
                  <a16:creationId xmlns:a16="http://schemas.microsoft.com/office/drawing/2014/main" id="{3B3EB6FE-C04A-470C-AACF-D5DA5DA6A56B}"/>
                </a:ext>
              </a:extLst>
            </p:cNvPr>
            <p:cNvSpPr txBox="1">
              <a:spLocks noChangeArrowheads="1"/>
            </p:cNvSpPr>
            <p:nvPr/>
          </p:nvSpPr>
          <p:spPr bwMode="auto">
            <a:xfrm>
              <a:off x="240" y="2928"/>
              <a:ext cx="96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Courier New" panose="02070309020205020404" pitchFamily="49" charset="0"/>
                </a:rPr>
                <a:t>EOC</a:t>
              </a:r>
            </a:p>
          </p:txBody>
        </p:sp>
      </p:grpSp>
      <p:sp>
        <p:nvSpPr>
          <p:cNvPr id="121944" name="Line 88">
            <a:extLst>
              <a:ext uri="{FF2B5EF4-FFF2-40B4-BE49-F238E27FC236}">
                <a16:creationId xmlns:a16="http://schemas.microsoft.com/office/drawing/2014/main" id="{6F382C88-3589-4AD4-A26B-893C75839E78}"/>
              </a:ext>
            </a:extLst>
          </p:cNvPr>
          <p:cNvSpPr>
            <a:spLocks noChangeShapeType="1"/>
          </p:cNvSpPr>
          <p:nvPr/>
        </p:nvSpPr>
        <p:spPr bwMode="auto">
          <a:xfrm>
            <a:off x="6324600" y="4267200"/>
            <a:ext cx="0" cy="1143000"/>
          </a:xfrm>
          <a:prstGeom prst="line">
            <a:avLst/>
          </a:prstGeom>
          <a:noFill/>
          <a:ln w="3175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nvGrpSpPr>
          <p:cNvPr id="121945" name="Group 89">
            <a:extLst>
              <a:ext uri="{FF2B5EF4-FFF2-40B4-BE49-F238E27FC236}">
                <a16:creationId xmlns:a16="http://schemas.microsoft.com/office/drawing/2014/main" id="{41DF943D-DECB-4FCD-A34F-8726D896BB20}"/>
              </a:ext>
            </a:extLst>
          </p:cNvPr>
          <p:cNvGrpSpPr>
            <a:grpSpLocks/>
          </p:cNvGrpSpPr>
          <p:nvPr/>
        </p:nvGrpSpPr>
        <p:grpSpPr bwMode="auto">
          <a:xfrm>
            <a:off x="304800" y="5029200"/>
            <a:ext cx="8305800" cy="533400"/>
            <a:chOff x="288" y="3552"/>
            <a:chExt cx="5232" cy="336"/>
          </a:xfrm>
        </p:grpSpPr>
        <p:sp>
          <p:nvSpPr>
            <p:cNvPr id="47137" name="Line 90">
              <a:extLst>
                <a:ext uri="{FF2B5EF4-FFF2-40B4-BE49-F238E27FC236}">
                  <a16:creationId xmlns:a16="http://schemas.microsoft.com/office/drawing/2014/main" id="{DCED52EA-B228-4C9F-9AC6-10195E4F3551}"/>
                </a:ext>
              </a:extLst>
            </p:cNvPr>
            <p:cNvSpPr>
              <a:spLocks noChangeShapeType="1"/>
            </p:cNvSpPr>
            <p:nvPr/>
          </p:nvSpPr>
          <p:spPr bwMode="auto">
            <a:xfrm>
              <a:off x="864" y="3840"/>
              <a:ext cx="3312"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8" name="Line 91">
              <a:extLst>
                <a:ext uri="{FF2B5EF4-FFF2-40B4-BE49-F238E27FC236}">
                  <a16:creationId xmlns:a16="http://schemas.microsoft.com/office/drawing/2014/main" id="{0B604DAF-5C30-4F0A-9967-1D3AD23D70B6}"/>
                </a:ext>
              </a:extLst>
            </p:cNvPr>
            <p:cNvSpPr>
              <a:spLocks noChangeShapeType="1"/>
            </p:cNvSpPr>
            <p:nvPr/>
          </p:nvSpPr>
          <p:spPr bwMode="auto">
            <a:xfrm flipV="1">
              <a:off x="4176" y="3552"/>
              <a:ext cx="192"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9" name="Line 92">
              <a:extLst>
                <a:ext uri="{FF2B5EF4-FFF2-40B4-BE49-F238E27FC236}">
                  <a16:creationId xmlns:a16="http://schemas.microsoft.com/office/drawing/2014/main" id="{1DAD7A01-5149-4E5C-B5C3-E5DADA2EE4FC}"/>
                </a:ext>
              </a:extLst>
            </p:cNvPr>
            <p:cNvSpPr>
              <a:spLocks noChangeShapeType="1"/>
            </p:cNvSpPr>
            <p:nvPr/>
          </p:nvSpPr>
          <p:spPr bwMode="auto">
            <a:xfrm>
              <a:off x="4368" y="3552"/>
              <a:ext cx="48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0" name="Line 93">
              <a:extLst>
                <a:ext uri="{FF2B5EF4-FFF2-40B4-BE49-F238E27FC236}">
                  <a16:creationId xmlns:a16="http://schemas.microsoft.com/office/drawing/2014/main" id="{CE6108FE-95AF-4EC5-902A-434E17037FC9}"/>
                </a:ext>
              </a:extLst>
            </p:cNvPr>
            <p:cNvSpPr>
              <a:spLocks noChangeShapeType="1"/>
            </p:cNvSpPr>
            <p:nvPr/>
          </p:nvSpPr>
          <p:spPr bwMode="auto">
            <a:xfrm>
              <a:off x="4848" y="3552"/>
              <a:ext cx="144" cy="288"/>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1" name="Line 94">
              <a:extLst>
                <a:ext uri="{FF2B5EF4-FFF2-40B4-BE49-F238E27FC236}">
                  <a16:creationId xmlns:a16="http://schemas.microsoft.com/office/drawing/2014/main" id="{9C002CDB-6E05-465E-80D2-62FFB50EF4B9}"/>
                </a:ext>
              </a:extLst>
            </p:cNvPr>
            <p:cNvSpPr>
              <a:spLocks noChangeShapeType="1"/>
            </p:cNvSpPr>
            <p:nvPr/>
          </p:nvSpPr>
          <p:spPr bwMode="auto">
            <a:xfrm>
              <a:off x="4992" y="3840"/>
              <a:ext cx="528"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42" name="Text Box 95">
              <a:extLst>
                <a:ext uri="{FF2B5EF4-FFF2-40B4-BE49-F238E27FC236}">
                  <a16:creationId xmlns:a16="http://schemas.microsoft.com/office/drawing/2014/main" id="{BF2867CB-B291-414D-A7D5-E64EE09956AD}"/>
                </a:ext>
              </a:extLst>
            </p:cNvPr>
            <p:cNvSpPr txBox="1">
              <a:spLocks noChangeArrowheads="1"/>
            </p:cNvSpPr>
            <p:nvPr/>
          </p:nvSpPr>
          <p:spPr bwMode="auto">
            <a:xfrm>
              <a:off x="288" y="3600"/>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OE</a:t>
              </a:r>
            </a:p>
          </p:txBody>
        </p:sp>
      </p:grpSp>
      <p:grpSp>
        <p:nvGrpSpPr>
          <p:cNvPr id="121952" name="Group 96">
            <a:extLst>
              <a:ext uri="{FF2B5EF4-FFF2-40B4-BE49-F238E27FC236}">
                <a16:creationId xmlns:a16="http://schemas.microsoft.com/office/drawing/2014/main" id="{BF96937D-FBCF-4C62-9338-88E161408624}"/>
              </a:ext>
            </a:extLst>
          </p:cNvPr>
          <p:cNvGrpSpPr>
            <a:grpSpLocks/>
          </p:cNvGrpSpPr>
          <p:nvPr/>
        </p:nvGrpSpPr>
        <p:grpSpPr bwMode="auto">
          <a:xfrm>
            <a:off x="-76200" y="5715000"/>
            <a:ext cx="8686800" cy="685800"/>
            <a:chOff x="0" y="3408"/>
            <a:chExt cx="5472" cy="432"/>
          </a:xfrm>
        </p:grpSpPr>
        <p:sp>
          <p:nvSpPr>
            <p:cNvPr id="47129" name="Line 97">
              <a:extLst>
                <a:ext uri="{FF2B5EF4-FFF2-40B4-BE49-F238E27FC236}">
                  <a16:creationId xmlns:a16="http://schemas.microsoft.com/office/drawing/2014/main" id="{2C02AEA3-F223-433D-B909-F855E2244649}"/>
                </a:ext>
              </a:extLst>
            </p:cNvPr>
            <p:cNvSpPr>
              <a:spLocks noChangeShapeType="1"/>
            </p:cNvSpPr>
            <p:nvPr/>
          </p:nvSpPr>
          <p:spPr bwMode="auto">
            <a:xfrm flipV="1">
              <a:off x="912" y="3648"/>
              <a:ext cx="3504" cy="0"/>
            </a:xfrm>
            <a:prstGeom prst="line">
              <a:avLst/>
            </a:prstGeom>
            <a:noFill/>
            <a:ln w="31750">
              <a:solidFill>
                <a:schemeClr val="tx2"/>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0" name="Line 98">
              <a:extLst>
                <a:ext uri="{FF2B5EF4-FFF2-40B4-BE49-F238E27FC236}">
                  <a16:creationId xmlns:a16="http://schemas.microsoft.com/office/drawing/2014/main" id="{1FF5CD03-5C88-4779-BB46-65DA1DB9D514}"/>
                </a:ext>
              </a:extLst>
            </p:cNvPr>
            <p:cNvSpPr>
              <a:spLocks noChangeShapeType="1"/>
            </p:cNvSpPr>
            <p:nvPr/>
          </p:nvSpPr>
          <p:spPr bwMode="auto">
            <a:xfrm flipV="1">
              <a:off x="4416" y="3408"/>
              <a:ext cx="144"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1" name="Line 99">
              <a:extLst>
                <a:ext uri="{FF2B5EF4-FFF2-40B4-BE49-F238E27FC236}">
                  <a16:creationId xmlns:a16="http://schemas.microsoft.com/office/drawing/2014/main" id="{9749819D-AD70-4846-8D99-BB0F81E6FCE1}"/>
                </a:ext>
              </a:extLst>
            </p:cNvPr>
            <p:cNvSpPr>
              <a:spLocks noChangeShapeType="1"/>
            </p:cNvSpPr>
            <p:nvPr/>
          </p:nvSpPr>
          <p:spPr bwMode="auto">
            <a:xfrm>
              <a:off x="4416" y="3648"/>
              <a:ext cx="144" cy="192"/>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2" name="Line 100">
              <a:extLst>
                <a:ext uri="{FF2B5EF4-FFF2-40B4-BE49-F238E27FC236}">
                  <a16:creationId xmlns:a16="http://schemas.microsoft.com/office/drawing/2014/main" id="{95036BE3-C0E8-4097-8FA3-61FF4A344DAA}"/>
                </a:ext>
              </a:extLst>
            </p:cNvPr>
            <p:cNvSpPr>
              <a:spLocks noChangeShapeType="1"/>
            </p:cNvSpPr>
            <p:nvPr/>
          </p:nvSpPr>
          <p:spPr bwMode="auto">
            <a:xfrm>
              <a:off x="4560" y="3408"/>
              <a:ext cx="720"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3" name="Line 101">
              <a:extLst>
                <a:ext uri="{FF2B5EF4-FFF2-40B4-BE49-F238E27FC236}">
                  <a16:creationId xmlns:a16="http://schemas.microsoft.com/office/drawing/2014/main" id="{C033E559-70FD-486B-A806-DEC0E480388E}"/>
                </a:ext>
              </a:extLst>
            </p:cNvPr>
            <p:cNvSpPr>
              <a:spLocks noChangeShapeType="1"/>
            </p:cNvSpPr>
            <p:nvPr/>
          </p:nvSpPr>
          <p:spPr bwMode="auto">
            <a:xfrm>
              <a:off x="4560" y="3840"/>
              <a:ext cx="672" cy="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4" name="Line 102">
              <a:extLst>
                <a:ext uri="{FF2B5EF4-FFF2-40B4-BE49-F238E27FC236}">
                  <a16:creationId xmlns:a16="http://schemas.microsoft.com/office/drawing/2014/main" id="{B9DE16BB-DB24-45BB-883A-839D79EF0A38}"/>
                </a:ext>
              </a:extLst>
            </p:cNvPr>
            <p:cNvSpPr>
              <a:spLocks noChangeShapeType="1"/>
            </p:cNvSpPr>
            <p:nvPr/>
          </p:nvSpPr>
          <p:spPr bwMode="auto">
            <a:xfrm>
              <a:off x="5280" y="3408"/>
              <a:ext cx="192" cy="192"/>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5" name="Line 103">
              <a:extLst>
                <a:ext uri="{FF2B5EF4-FFF2-40B4-BE49-F238E27FC236}">
                  <a16:creationId xmlns:a16="http://schemas.microsoft.com/office/drawing/2014/main" id="{A17A151F-21CA-4415-8C9D-0A394F55718C}"/>
                </a:ext>
              </a:extLst>
            </p:cNvPr>
            <p:cNvSpPr>
              <a:spLocks noChangeShapeType="1"/>
            </p:cNvSpPr>
            <p:nvPr/>
          </p:nvSpPr>
          <p:spPr bwMode="auto">
            <a:xfrm flipV="1">
              <a:off x="5232" y="3600"/>
              <a:ext cx="240" cy="240"/>
            </a:xfrm>
            <a:prstGeom prst="line">
              <a:avLst/>
            </a:prstGeom>
            <a:noFill/>
            <a:ln w="31750">
              <a:solidFill>
                <a:schemeClr val="tx2"/>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36" name="Text Box 104">
              <a:extLst>
                <a:ext uri="{FF2B5EF4-FFF2-40B4-BE49-F238E27FC236}">
                  <a16:creationId xmlns:a16="http://schemas.microsoft.com/office/drawing/2014/main" id="{F2CBED24-49FD-43D6-9EE5-FEAA953A3685}"/>
                </a:ext>
              </a:extLst>
            </p:cNvPr>
            <p:cNvSpPr txBox="1">
              <a:spLocks noChangeArrowheads="1"/>
            </p:cNvSpPr>
            <p:nvPr/>
          </p:nvSpPr>
          <p:spPr bwMode="auto">
            <a:xfrm>
              <a:off x="0" y="3408"/>
              <a:ext cx="1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400"/>
                <a:t>数字输出</a:t>
              </a:r>
            </a:p>
          </p:txBody>
        </p:sp>
      </p:grpSp>
      <p:sp>
        <p:nvSpPr>
          <p:cNvPr id="121961" name="Text Box 105">
            <a:extLst>
              <a:ext uri="{FF2B5EF4-FFF2-40B4-BE49-F238E27FC236}">
                <a16:creationId xmlns:a16="http://schemas.microsoft.com/office/drawing/2014/main" id="{6D084BC3-4FEA-4F06-980C-B7231DE3496E}"/>
              </a:ext>
            </a:extLst>
          </p:cNvPr>
          <p:cNvSpPr txBox="1">
            <a:spLocks noChangeArrowheads="1"/>
          </p:cNvSpPr>
          <p:nvPr/>
        </p:nvSpPr>
        <p:spPr bwMode="auto">
          <a:xfrm>
            <a:off x="8458200" y="1295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1</a:t>
            </a:r>
          </a:p>
        </p:txBody>
      </p:sp>
      <p:grpSp>
        <p:nvGrpSpPr>
          <p:cNvPr id="121962" name="Group 106">
            <a:extLst>
              <a:ext uri="{FF2B5EF4-FFF2-40B4-BE49-F238E27FC236}">
                <a16:creationId xmlns:a16="http://schemas.microsoft.com/office/drawing/2014/main" id="{3B319DB9-336B-4143-A97B-18B9183E036E}"/>
              </a:ext>
            </a:extLst>
          </p:cNvPr>
          <p:cNvGrpSpPr>
            <a:grpSpLocks/>
          </p:cNvGrpSpPr>
          <p:nvPr/>
        </p:nvGrpSpPr>
        <p:grpSpPr bwMode="auto">
          <a:xfrm>
            <a:off x="3124200" y="4800600"/>
            <a:ext cx="3124200" cy="579438"/>
            <a:chOff x="1968" y="3072"/>
            <a:chExt cx="1968" cy="365"/>
          </a:xfrm>
        </p:grpSpPr>
        <p:sp>
          <p:nvSpPr>
            <p:cNvPr id="47126" name="Text Box 107">
              <a:extLst>
                <a:ext uri="{FF2B5EF4-FFF2-40B4-BE49-F238E27FC236}">
                  <a16:creationId xmlns:a16="http://schemas.microsoft.com/office/drawing/2014/main" id="{540C20BD-3083-4A30-81AE-FF51BD76F07E}"/>
                </a:ext>
              </a:extLst>
            </p:cNvPr>
            <p:cNvSpPr txBox="1">
              <a:spLocks noChangeArrowheads="1"/>
            </p:cNvSpPr>
            <p:nvPr/>
          </p:nvSpPr>
          <p:spPr bwMode="auto">
            <a:xfrm>
              <a:off x="2736" y="3072"/>
              <a:ext cx="43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latin typeface="Courier New" panose="02070309020205020404" pitchFamily="49" charset="0"/>
                </a:rPr>
                <a:t>t</a:t>
              </a:r>
              <a:r>
                <a:rPr lang="en-US" altLang="zh-CN" baseline="-25000">
                  <a:solidFill>
                    <a:schemeClr val="tx2"/>
                  </a:solidFill>
                  <a:latin typeface="Courier New" panose="02070309020205020404" pitchFamily="49" charset="0"/>
                </a:rPr>
                <a:t>c</a:t>
              </a:r>
            </a:p>
          </p:txBody>
        </p:sp>
        <p:sp>
          <p:nvSpPr>
            <p:cNvPr id="47127" name="Line 108">
              <a:extLst>
                <a:ext uri="{FF2B5EF4-FFF2-40B4-BE49-F238E27FC236}">
                  <a16:creationId xmlns:a16="http://schemas.microsoft.com/office/drawing/2014/main" id="{B0F3E23B-4BB4-48AE-9994-BEBA85064783}"/>
                </a:ext>
              </a:extLst>
            </p:cNvPr>
            <p:cNvSpPr>
              <a:spLocks noChangeShapeType="1"/>
            </p:cNvSpPr>
            <p:nvPr/>
          </p:nvSpPr>
          <p:spPr bwMode="auto">
            <a:xfrm>
              <a:off x="3072" y="3264"/>
              <a:ext cx="864" cy="0"/>
            </a:xfrm>
            <a:prstGeom prst="line">
              <a:avLst/>
            </a:prstGeom>
            <a:noFill/>
            <a:ln w="3175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47128" name="Line 109">
              <a:extLst>
                <a:ext uri="{FF2B5EF4-FFF2-40B4-BE49-F238E27FC236}">
                  <a16:creationId xmlns:a16="http://schemas.microsoft.com/office/drawing/2014/main" id="{7719FF70-E665-4681-AF42-EED241775CB9}"/>
                </a:ext>
              </a:extLst>
            </p:cNvPr>
            <p:cNvSpPr>
              <a:spLocks noChangeShapeType="1"/>
            </p:cNvSpPr>
            <p:nvPr/>
          </p:nvSpPr>
          <p:spPr bwMode="auto">
            <a:xfrm flipH="1">
              <a:off x="1968" y="3264"/>
              <a:ext cx="816" cy="0"/>
            </a:xfrm>
            <a:prstGeom prst="line">
              <a:avLst/>
            </a:prstGeom>
            <a:noFill/>
            <a:ln w="31750">
              <a:solidFill>
                <a:schemeClr val="tx2"/>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pSp>
      <p:sp>
        <p:nvSpPr>
          <p:cNvPr id="121966" name="Text Box 110">
            <a:extLst>
              <a:ext uri="{FF2B5EF4-FFF2-40B4-BE49-F238E27FC236}">
                <a16:creationId xmlns:a16="http://schemas.microsoft.com/office/drawing/2014/main" id="{D7EDEF36-6195-4840-BE63-D28C4354B04D}"/>
              </a:ext>
            </a:extLst>
          </p:cNvPr>
          <p:cNvSpPr txBox="1">
            <a:spLocks noChangeArrowheads="1"/>
          </p:cNvSpPr>
          <p:nvPr/>
        </p:nvSpPr>
        <p:spPr bwMode="auto">
          <a:xfrm>
            <a:off x="8686800" y="5791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7</a:t>
            </a:r>
          </a:p>
        </p:txBody>
      </p:sp>
      <p:sp>
        <p:nvSpPr>
          <p:cNvPr id="121967" name="Text Box 111">
            <a:extLst>
              <a:ext uri="{FF2B5EF4-FFF2-40B4-BE49-F238E27FC236}">
                <a16:creationId xmlns:a16="http://schemas.microsoft.com/office/drawing/2014/main" id="{76CB7CF1-6924-464B-B725-5B2BAE5FB597}"/>
              </a:ext>
            </a:extLst>
          </p:cNvPr>
          <p:cNvSpPr txBox="1">
            <a:spLocks noChangeArrowheads="1"/>
          </p:cNvSpPr>
          <p:nvPr/>
        </p:nvSpPr>
        <p:spPr bwMode="auto">
          <a:xfrm>
            <a:off x="8686800" y="5105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6</a:t>
            </a:r>
          </a:p>
        </p:txBody>
      </p:sp>
      <p:sp>
        <p:nvSpPr>
          <p:cNvPr id="121968" name="Text Box 112">
            <a:extLst>
              <a:ext uri="{FF2B5EF4-FFF2-40B4-BE49-F238E27FC236}">
                <a16:creationId xmlns:a16="http://schemas.microsoft.com/office/drawing/2014/main" id="{19F26710-BB2B-4C5F-9E43-DCD71B4F073B}"/>
              </a:ext>
            </a:extLst>
          </p:cNvPr>
          <p:cNvSpPr txBox="1">
            <a:spLocks noChangeArrowheads="1"/>
          </p:cNvSpPr>
          <p:nvPr/>
        </p:nvSpPr>
        <p:spPr bwMode="auto">
          <a:xfrm>
            <a:off x="8591550" y="42672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5</a:t>
            </a:r>
          </a:p>
        </p:txBody>
      </p:sp>
      <p:sp>
        <p:nvSpPr>
          <p:cNvPr id="121969" name="Text Box 113">
            <a:extLst>
              <a:ext uri="{FF2B5EF4-FFF2-40B4-BE49-F238E27FC236}">
                <a16:creationId xmlns:a16="http://schemas.microsoft.com/office/drawing/2014/main" id="{9FB61EB8-2EBB-435A-AC02-3954F930B9B5}"/>
              </a:ext>
            </a:extLst>
          </p:cNvPr>
          <p:cNvSpPr txBox="1">
            <a:spLocks noChangeArrowheads="1"/>
          </p:cNvSpPr>
          <p:nvPr/>
        </p:nvSpPr>
        <p:spPr bwMode="auto">
          <a:xfrm>
            <a:off x="8572500" y="36576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4</a:t>
            </a:r>
          </a:p>
        </p:txBody>
      </p:sp>
      <p:sp>
        <p:nvSpPr>
          <p:cNvPr id="121970" name="Text Box 114">
            <a:extLst>
              <a:ext uri="{FF2B5EF4-FFF2-40B4-BE49-F238E27FC236}">
                <a16:creationId xmlns:a16="http://schemas.microsoft.com/office/drawing/2014/main" id="{829F338E-6B3D-4C88-913D-CCBB0F1281D7}"/>
              </a:ext>
            </a:extLst>
          </p:cNvPr>
          <p:cNvSpPr txBox="1">
            <a:spLocks noChangeArrowheads="1"/>
          </p:cNvSpPr>
          <p:nvPr/>
        </p:nvSpPr>
        <p:spPr bwMode="auto">
          <a:xfrm>
            <a:off x="8382000" y="30480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3</a:t>
            </a:r>
          </a:p>
        </p:txBody>
      </p:sp>
      <p:sp>
        <p:nvSpPr>
          <p:cNvPr id="121971" name="Text Box 115">
            <a:extLst>
              <a:ext uri="{FF2B5EF4-FFF2-40B4-BE49-F238E27FC236}">
                <a16:creationId xmlns:a16="http://schemas.microsoft.com/office/drawing/2014/main" id="{EC9D7720-68FF-4D01-9CFF-682A3F31C24A}"/>
              </a:ext>
            </a:extLst>
          </p:cNvPr>
          <p:cNvSpPr txBox="1">
            <a:spLocks noChangeArrowheads="1"/>
          </p:cNvSpPr>
          <p:nvPr/>
        </p:nvSpPr>
        <p:spPr bwMode="auto">
          <a:xfrm>
            <a:off x="8458200" y="2057400"/>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sz="2400"/>
              <a:t>2</a:t>
            </a:r>
          </a:p>
        </p:txBody>
      </p:sp>
      <p:sp>
        <p:nvSpPr>
          <p:cNvPr id="121972" name="AutoShape 116">
            <a:extLst>
              <a:ext uri="{FF2B5EF4-FFF2-40B4-BE49-F238E27FC236}">
                <a16:creationId xmlns:a16="http://schemas.microsoft.com/office/drawing/2014/main" id="{3523750E-7F74-4E7A-AFDC-294494813660}"/>
              </a:ext>
            </a:extLst>
          </p:cNvPr>
          <p:cNvSpPr>
            <a:spLocks noChangeArrowheads="1"/>
          </p:cNvSpPr>
          <p:nvPr/>
        </p:nvSpPr>
        <p:spPr bwMode="auto">
          <a:xfrm>
            <a:off x="4343400" y="3886200"/>
            <a:ext cx="1905000" cy="533399"/>
          </a:xfrm>
          <a:prstGeom prst="wedgeRoundRectCallout">
            <a:avLst>
              <a:gd name="adj1" fmla="val -29250"/>
              <a:gd name="adj2" fmla="val 128241"/>
              <a:gd name="adj3" fmla="val 16667"/>
            </a:avLst>
          </a:prstGeom>
          <a:solidFill>
            <a:srgbClr val="FFCC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2800">
                <a:solidFill>
                  <a:srgbClr val="000000"/>
                </a:solidFill>
              </a:rPr>
              <a:t>转换速度</a:t>
            </a:r>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21858"/>
                                        </p:tgtEl>
                                        <p:attrNameLst>
                                          <p:attrName>style.visibility</p:attrName>
                                        </p:attrNameLst>
                                      </p:cBhvr>
                                      <p:to>
                                        <p:strVal val="visible"/>
                                      </p:to>
                                    </p:set>
                                    <p:animEffect transition="in" filter="box(in)">
                                      <p:cBhvr>
                                        <p:cTn id="7" dur="500"/>
                                        <p:tgtEl>
                                          <p:spTgt spid="1218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21917"/>
                                        </p:tgtEl>
                                        <p:attrNameLst>
                                          <p:attrName>style.visibility</p:attrName>
                                        </p:attrNameLst>
                                      </p:cBhvr>
                                      <p:to>
                                        <p:strVal val="visible"/>
                                      </p:to>
                                    </p:set>
                                    <p:animEffect transition="in" filter="box(in)">
                                      <p:cBhvr>
                                        <p:cTn id="12" dur="500"/>
                                        <p:tgtEl>
                                          <p:spTgt spid="1219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21961"/>
                                        </p:tgtEl>
                                        <p:attrNameLst>
                                          <p:attrName>style.visibility</p:attrName>
                                        </p:attrNameLst>
                                      </p:cBhvr>
                                      <p:to>
                                        <p:strVal val="visible"/>
                                      </p:to>
                                    </p:set>
                                    <p:anim calcmode="lin" valueType="num">
                                      <p:cBhvr additive="base">
                                        <p:cTn id="17" dur="500" fill="hold"/>
                                        <p:tgtEl>
                                          <p:spTgt spid="121961"/>
                                        </p:tgtEl>
                                        <p:attrNameLst>
                                          <p:attrName>ppt_x</p:attrName>
                                        </p:attrNameLst>
                                      </p:cBhvr>
                                      <p:tavLst>
                                        <p:tav tm="0">
                                          <p:val>
                                            <p:strVal val="1+#ppt_w/2"/>
                                          </p:val>
                                        </p:tav>
                                        <p:tav tm="100000">
                                          <p:val>
                                            <p:strVal val="#ppt_x"/>
                                          </p:val>
                                        </p:tav>
                                      </p:tavLst>
                                    </p:anim>
                                    <p:anim calcmode="lin" valueType="num">
                                      <p:cBhvr additive="base">
                                        <p:cTn id="18" dur="500" fill="hold"/>
                                        <p:tgtEl>
                                          <p:spTgt spid="121961"/>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21898"/>
                                        </p:tgtEl>
                                        <p:attrNameLst>
                                          <p:attrName>style.visibility</p:attrName>
                                        </p:attrNameLst>
                                      </p:cBhvr>
                                      <p:to>
                                        <p:strVal val="visible"/>
                                      </p:to>
                                    </p:set>
                                    <p:animEffect transition="in" filter="checkerboard(across)">
                                      <p:cBhvr>
                                        <p:cTn id="23" dur="500"/>
                                        <p:tgtEl>
                                          <p:spTgt spid="12189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121971"/>
                                        </p:tgtEl>
                                        <p:attrNameLst>
                                          <p:attrName>style.visibility</p:attrName>
                                        </p:attrNameLst>
                                      </p:cBhvr>
                                      <p:to>
                                        <p:strVal val="visible"/>
                                      </p:to>
                                    </p:set>
                                    <p:animEffect transition="in" filter="box(in)">
                                      <p:cBhvr>
                                        <p:cTn id="28" dur="500"/>
                                        <p:tgtEl>
                                          <p:spTgt spid="12197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6" presetClass="entr" presetSubtype="42" fill="hold" nodeType="clickEffect">
                                  <p:stCondLst>
                                    <p:cond delay="0"/>
                                  </p:stCondLst>
                                  <p:childTnLst>
                                    <p:set>
                                      <p:cBhvr>
                                        <p:cTn id="32" dur="1" fill="hold">
                                          <p:stCondLst>
                                            <p:cond delay="0"/>
                                          </p:stCondLst>
                                        </p:cTn>
                                        <p:tgtEl>
                                          <p:spTgt spid="121910"/>
                                        </p:tgtEl>
                                        <p:attrNameLst>
                                          <p:attrName>style.visibility</p:attrName>
                                        </p:attrNameLst>
                                      </p:cBhvr>
                                      <p:to>
                                        <p:strVal val="visible"/>
                                      </p:to>
                                    </p:set>
                                    <p:animEffect transition="in" filter="barn(outHorizontal)">
                                      <p:cBhvr>
                                        <p:cTn id="33" dur="500"/>
                                        <p:tgtEl>
                                          <p:spTgt spid="12191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21970"/>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121929"/>
                                        </p:tgtEl>
                                        <p:attrNameLst>
                                          <p:attrName>style.visibility</p:attrName>
                                        </p:attrNameLst>
                                      </p:cBhvr>
                                      <p:to>
                                        <p:strVal val="visible"/>
                                      </p:to>
                                    </p:set>
                                    <p:animEffect transition="in" filter="barn(outHorizontal)">
                                      <p:cBhvr>
                                        <p:cTn id="42" dur="500"/>
                                        <p:tgtEl>
                                          <p:spTgt spid="12192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12196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121936"/>
                                        </p:tgtEl>
                                        <p:attrNameLst>
                                          <p:attrName>style.visibility</p:attrName>
                                        </p:attrNameLst>
                                      </p:cBhvr>
                                      <p:to>
                                        <p:strVal val="visible"/>
                                      </p:to>
                                    </p:set>
                                    <p:animEffect transition="in" filter="wipe(up)">
                                      <p:cBhvr>
                                        <p:cTn id="51" dur="500"/>
                                        <p:tgtEl>
                                          <p:spTgt spid="12193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121937"/>
                                        </p:tgtEl>
                                        <p:attrNameLst>
                                          <p:attrName>style.visibility</p:attrName>
                                        </p:attrNameLst>
                                      </p:cBhvr>
                                      <p:to>
                                        <p:strVal val="visible"/>
                                      </p:to>
                                    </p:set>
                                    <p:animEffect transition="in" filter="wipe(left)">
                                      <p:cBhvr>
                                        <p:cTn id="56" dur="500"/>
                                        <p:tgtEl>
                                          <p:spTgt spid="12193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1" fill="hold" nodeType="clickEffect">
                                  <p:stCondLst>
                                    <p:cond delay="0"/>
                                  </p:stCondLst>
                                  <p:childTnLst>
                                    <p:set>
                                      <p:cBhvr>
                                        <p:cTn id="60" dur="1" fill="hold">
                                          <p:stCondLst>
                                            <p:cond delay="0"/>
                                          </p:stCondLst>
                                        </p:cTn>
                                        <p:tgtEl>
                                          <p:spTgt spid="121944"/>
                                        </p:tgtEl>
                                        <p:attrNameLst>
                                          <p:attrName>style.visibility</p:attrName>
                                        </p:attrNameLst>
                                      </p:cBhvr>
                                      <p:to>
                                        <p:strVal val="visible"/>
                                      </p:to>
                                    </p:set>
                                    <p:animEffect transition="in" filter="wipe(up)">
                                      <p:cBhvr>
                                        <p:cTn id="61" dur="500"/>
                                        <p:tgtEl>
                                          <p:spTgt spid="12194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16" fill="hold" nodeType="clickEffect">
                                  <p:stCondLst>
                                    <p:cond delay="0"/>
                                  </p:stCondLst>
                                  <p:childTnLst>
                                    <p:set>
                                      <p:cBhvr>
                                        <p:cTn id="65" dur="1" fill="hold">
                                          <p:stCondLst>
                                            <p:cond delay="0"/>
                                          </p:stCondLst>
                                        </p:cTn>
                                        <p:tgtEl>
                                          <p:spTgt spid="121962"/>
                                        </p:tgtEl>
                                        <p:attrNameLst>
                                          <p:attrName>style.visibility</p:attrName>
                                        </p:attrNameLst>
                                      </p:cBhvr>
                                      <p:to>
                                        <p:strVal val="visible"/>
                                      </p:to>
                                    </p:set>
                                    <p:animEffect transition="in" filter="box(in)">
                                      <p:cBhvr>
                                        <p:cTn id="66" dur="500"/>
                                        <p:tgtEl>
                                          <p:spTgt spid="12196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121968"/>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121972"/>
                                        </p:tgtEl>
                                        <p:attrNameLst>
                                          <p:attrName>style.visibility</p:attrName>
                                        </p:attrNameLst>
                                      </p:cBhvr>
                                      <p:to>
                                        <p:strVal val="visible"/>
                                      </p:to>
                                    </p:set>
                                  </p:childTnLst>
                                  <p:subTnLst>
                                    <p:set>
                                      <p:cBhvr override="childStyle">
                                        <p:cTn dur="1" fill="hold" display="0" masterRel="nextClick" afterEffect="1"/>
                                        <p:tgtEl>
                                          <p:spTgt spid="121972"/>
                                        </p:tgtEl>
                                        <p:attrNameLst>
                                          <p:attrName>style.visibility</p:attrName>
                                        </p:attrNameLst>
                                      </p:cBhvr>
                                      <p:to>
                                        <p:strVal val="hidden"/>
                                      </p:to>
                                    </p:set>
                                  </p:sub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1" fill="hold" nodeType="clickEffect">
                                  <p:stCondLst>
                                    <p:cond delay="0"/>
                                  </p:stCondLst>
                                  <p:childTnLst>
                                    <p:set>
                                      <p:cBhvr>
                                        <p:cTn id="78" dur="1" fill="hold">
                                          <p:stCondLst>
                                            <p:cond delay="0"/>
                                          </p:stCondLst>
                                        </p:cTn>
                                        <p:tgtEl>
                                          <p:spTgt spid="121945"/>
                                        </p:tgtEl>
                                        <p:attrNameLst>
                                          <p:attrName>style.visibility</p:attrName>
                                        </p:attrNameLst>
                                      </p:cBhvr>
                                      <p:to>
                                        <p:strVal val="visible"/>
                                      </p:to>
                                    </p:set>
                                    <p:animEffect transition="in" filter="wipe(up)">
                                      <p:cBhvr>
                                        <p:cTn id="79" dur="500"/>
                                        <p:tgtEl>
                                          <p:spTgt spid="121945"/>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121967"/>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7" presetClass="entr" presetSubtype="10" fill="hold" nodeType="clickEffect">
                                  <p:stCondLst>
                                    <p:cond delay="0"/>
                                  </p:stCondLst>
                                  <p:childTnLst>
                                    <p:set>
                                      <p:cBhvr>
                                        <p:cTn id="87" dur="1" fill="hold">
                                          <p:stCondLst>
                                            <p:cond delay="0"/>
                                          </p:stCondLst>
                                        </p:cTn>
                                        <p:tgtEl>
                                          <p:spTgt spid="121952"/>
                                        </p:tgtEl>
                                        <p:attrNameLst>
                                          <p:attrName>style.visibility</p:attrName>
                                        </p:attrNameLst>
                                      </p:cBhvr>
                                      <p:to>
                                        <p:strVal val="visible"/>
                                      </p:to>
                                    </p:set>
                                    <p:anim calcmode="lin" valueType="num">
                                      <p:cBhvr>
                                        <p:cTn id="88" dur="500" fill="hold"/>
                                        <p:tgtEl>
                                          <p:spTgt spid="121952"/>
                                        </p:tgtEl>
                                        <p:attrNameLst>
                                          <p:attrName>ppt_w</p:attrName>
                                        </p:attrNameLst>
                                      </p:cBhvr>
                                      <p:tavLst>
                                        <p:tav tm="0">
                                          <p:val>
                                            <p:fltVal val="0"/>
                                          </p:val>
                                        </p:tav>
                                        <p:tav tm="100000">
                                          <p:val>
                                            <p:strVal val="#ppt_w"/>
                                          </p:val>
                                        </p:tav>
                                      </p:tavLst>
                                    </p:anim>
                                    <p:anim calcmode="lin" valueType="num">
                                      <p:cBhvr>
                                        <p:cTn id="89" dur="500" fill="hold"/>
                                        <p:tgtEl>
                                          <p:spTgt spid="121952"/>
                                        </p:tgtEl>
                                        <p:attrNameLst>
                                          <p:attrName>ppt_h</p:attrName>
                                        </p:attrNameLst>
                                      </p:cBhvr>
                                      <p:tavLst>
                                        <p:tav tm="0">
                                          <p:val>
                                            <p:strVal val="#ppt_h"/>
                                          </p:val>
                                        </p:tav>
                                        <p:tav tm="100000">
                                          <p:val>
                                            <p:strVal val="#ppt_h"/>
                                          </p:val>
                                        </p:tav>
                                      </p:tavLst>
                                    </p:anim>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1219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961" grpId="0" autoUpdateAnimBg="0"/>
      <p:bldP spid="121966" grpId="0" autoUpdateAnimBg="0"/>
      <p:bldP spid="121967" grpId="0" autoUpdateAnimBg="0"/>
      <p:bldP spid="121968" grpId="0" autoUpdateAnimBg="0"/>
      <p:bldP spid="121969" grpId="0" autoUpdateAnimBg="0"/>
      <p:bldP spid="121970" grpId="0" autoUpdateAnimBg="0"/>
      <p:bldP spid="121971" grpId="0" autoUpdateAnimBg="0"/>
      <p:bldP spid="12197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a:extLst>
              <a:ext uri="{FF2B5EF4-FFF2-40B4-BE49-F238E27FC236}">
                <a16:creationId xmlns:a16="http://schemas.microsoft.com/office/drawing/2014/main" id="{4818206D-FBFE-4F06-A2B7-B3995A307030}"/>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52FEEB9E-6BF3-4843-A99C-9C2A42F6A3E1}" type="slidenum">
              <a:rPr lang="en-US" altLang="zh-CN" b="0"/>
              <a:pPr/>
              <a:t>19</a:t>
            </a:fld>
            <a:endParaRPr lang="en-US" altLang="zh-CN" b="0"/>
          </a:p>
        </p:txBody>
      </p:sp>
      <p:sp>
        <p:nvSpPr>
          <p:cNvPr id="48131" name="Text Box 6">
            <a:extLst>
              <a:ext uri="{FF2B5EF4-FFF2-40B4-BE49-F238E27FC236}">
                <a16:creationId xmlns:a16="http://schemas.microsoft.com/office/drawing/2014/main" id="{B6F4BBAF-BD4F-4E22-A48F-B836BF86424D}"/>
              </a:ext>
            </a:extLst>
          </p:cNvPr>
          <p:cNvSpPr txBox="1">
            <a:spLocks noChangeArrowheads="1"/>
          </p:cNvSpPr>
          <p:nvPr/>
        </p:nvSpPr>
        <p:spPr bwMode="auto">
          <a:xfrm>
            <a:off x="395288" y="404813"/>
            <a:ext cx="8496300" cy="554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35000"/>
              </a:lnSpc>
              <a:spcBef>
                <a:spcPct val="5000"/>
              </a:spcBef>
              <a:buClrTx/>
              <a:buSzTx/>
              <a:buFontTx/>
              <a:buNone/>
            </a:pPr>
            <a:r>
              <a:rPr lang="en-US" altLang="zh-CN" sz="2600" u="sng">
                <a:solidFill>
                  <a:srgbClr val="FFFF00"/>
                </a:solidFill>
              </a:rPr>
              <a:t>ADC0809</a:t>
            </a:r>
            <a:r>
              <a:rPr lang="zh-CN" altLang="en-US" sz="2600" u="sng">
                <a:solidFill>
                  <a:srgbClr val="FFFF00"/>
                </a:solidFill>
              </a:rPr>
              <a:t>的工作过程：</a:t>
            </a:r>
          </a:p>
          <a:p>
            <a:pPr eaLnBrk="1" hangingPunct="1">
              <a:lnSpc>
                <a:spcPct val="135000"/>
              </a:lnSpc>
              <a:spcBef>
                <a:spcPct val="5000"/>
              </a:spcBef>
              <a:buClrTx/>
              <a:buSzTx/>
              <a:buFontTx/>
              <a:buNone/>
            </a:pPr>
            <a:r>
              <a:rPr lang="zh-CN" altLang="en-US" sz="2600"/>
              <a:t>（</a:t>
            </a:r>
            <a:r>
              <a:rPr lang="en-US" altLang="zh-CN" sz="2600"/>
              <a:t>1</a:t>
            </a:r>
            <a:r>
              <a:rPr lang="zh-CN" altLang="en-US" sz="2600"/>
              <a:t>）送通道号地址到</a:t>
            </a:r>
            <a:r>
              <a:rPr lang="en-US" altLang="zh-CN" sz="2600"/>
              <a:t>ADDA</a:t>
            </a:r>
            <a:r>
              <a:rPr lang="zh-CN" altLang="en-US" sz="2600"/>
              <a:t>、</a:t>
            </a:r>
            <a:r>
              <a:rPr lang="en-US" altLang="zh-CN" sz="2600"/>
              <a:t>ADDB</a:t>
            </a:r>
            <a:r>
              <a:rPr lang="zh-CN" altLang="en-US" sz="2600"/>
              <a:t>、</a:t>
            </a:r>
            <a:r>
              <a:rPr lang="en-US" altLang="zh-CN" sz="2600"/>
              <a:t>ADDC</a:t>
            </a:r>
            <a:r>
              <a:rPr lang="zh-CN" altLang="en-US" sz="2600"/>
              <a:t>，由</a:t>
            </a:r>
            <a:r>
              <a:rPr lang="en-US" altLang="zh-CN" sz="2600"/>
              <a:t>ALE</a:t>
            </a:r>
            <a:r>
              <a:rPr lang="zh-CN" altLang="en-US" sz="2600"/>
              <a:t>信号（正脉冲）锁存通道地址，经译码后选中一个通道；</a:t>
            </a:r>
          </a:p>
          <a:p>
            <a:pPr eaLnBrk="1" hangingPunct="1">
              <a:lnSpc>
                <a:spcPct val="135000"/>
              </a:lnSpc>
              <a:spcBef>
                <a:spcPct val="5000"/>
              </a:spcBef>
              <a:buClrTx/>
              <a:buSzTx/>
              <a:buFontTx/>
              <a:buNone/>
            </a:pPr>
            <a:r>
              <a:rPr lang="zh-CN" altLang="en-US" sz="2600"/>
              <a:t>（</a:t>
            </a:r>
            <a:r>
              <a:rPr lang="en-US" altLang="zh-CN" sz="2600"/>
              <a:t>2</a:t>
            </a:r>
            <a:r>
              <a:rPr lang="zh-CN" altLang="en-US" sz="2600"/>
              <a:t>）给</a:t>
            </a:r>
            <a:r>
              <a:rPr lang="en-US" altLang="zh-CN" sz="2600"/>
              <a:t>START</a:t>
            </a:r>
            <a:r>
              <a:rPr lang="zh-CN" altLang="en-US" sz="2600"/>
              <a:t>引脚输入正脉冲，启动</a:t>
            </a:r>
            <a:r>
              <a:rPr lang="en-US" altLang="zh-CN" sz="2600"/>
              <a:t>A/D</a:t>
            </a:r>
            <a:r>
              <a:rPr lang="zh-CN" altLang="en-US" sz="2600"/>
              <a:t>转换，</a:t>
            </a:r>
            <a:r>
              <a:rPr lang="en-US" altLang="zh-CN" sz="2600"/>
              <a:t>EOC</a:t>
            </a:r>
            <a:r>
              <a:rPr lang="zh-CN" altLang="en-US" sz="2600"/>
              <a:t>同时输出低电平；</a:t>
            </a:r>
          </a:p>
          <a:p>
            <a:pPr eaLnBrk="1" hangingPunct="1">
              <a:lnSpc>
                <a:spcPct val="135000"/>
              </a:lnSpc>
              <a:spcBef>
                <a:spcPct val="5000"/>
              </a:spcBef>
              <a:buClrTx/>
              <a:buSzTx/>
              <a:buFontTx/>
              <a:buNone/>
            </a:pPr>
            <a:r>
              <a:rPr lang="zh-CN" altLang="en-US" sz="2600"/>
              <a:t>（</a:t>
            </a:r>
            <a:r>
              <a:rPr lang="en-US" altLang="zh-CN" sz="2600"/>
              <a:t>3</a:t>
            </a:r>
            <a:r>
              <a:rPr lang="zh-CN" altLang="en-US" sz="2600"/>
              <a:t>）</a:t>
            </a:r>
            <a:r>
              <a:rPr lang="en-US" altLang="zh-CN" sz="2600"/>
              <a:t>A/D</a:t>
            </a:r>
            <a:r>
              <a:rPr lang="zh-CN" altLang="en-US" sz="2600"/>
              <a:t>转换结束时，</a:t>
            </a:r>
            <a:r>
              <a:rPr lang="en-US" altLang="zh-CN" sz="2600"/>
              <a:t>EOC</a:t>
            </a:r>
            <a:r>
              <a:rPr lang="zh-CN" altLang="en-US" sz="2600"/>
              <a:t>输出高电平，可采用中断方式请求</a:t>
            </a:r>
            <a:r>
              <a:rPr lang="en-US" altLang="zh-CN" sz="2600"/>
              <a:t>CPU</a:t>
            </a:r>
            <a:r>
              <a:rPr lang="zh-CN" altLang="en-US" sz="2600"/>
              <a:t>读取数据（或采用程序查询方式读取转换的数据）；</a:t>
            </a:r>
          </a:p>
          <a:p>
            <a:pPr eaLnBrk="1" hangingPunct="1">
              <a:lnSpc>
                <a:spcPct val="135000"/>
              </a:lnSpc>
              <a:spcBef>
                <a:spcPct val="5000"/>
              </a:spcBef>
              <a:buClrTx/>
              <a:buSzTx/>
              <a:buFontTx/>
              <a:buNone/>
            </a:pPr>
            <a:r>
              <a:rPr lang="zh-CN" altLang="en-US" sz="2600"/>
              <a:t>（</a:t>
            </a:r>
            <a:r>
              <a:rPr lang="en-US" altLang="zh-CN" sz="2600"/>
              <a:t>4</a:t>
            </a:r>
            <a:r>
              <a:rPr lang="zh-CN" altLang="en-US" sz="2600"/>
              <a:t>）</a:t>
            </a:r>
            <a:r>
              <a:rPr lang="en-US" altLang="zh-CN" sz="2600"/>
              <a:t>EOC=1</a:t>
            </a:r>
            <a:r>
              <a:rPr lang="zh-CN" altLang="en-US" sz="2600"/>
              <a:t>时，发出控制命令使输出允许端</a:t>
            </a:r>
            <a:r>
              <a:rPr lang="en-US" altLang="zh-CN" sz="2600"/>
              <a:t>OE=1</a:t>
            </a:r>
            <a:r>
              <a:rPr lang="zh-CN" altLang="en-US" sz="2600"/>
              <a:t>，</a:t>
            </a:r>
            <a:r>
              <a:rPr lang="en-US" altLang="zh-CN" sz="2600"/>
              <a:t>ADC0809</a:t>
            </a:r>
            <a:r>
              <a:rPr lang="zh-CN" altLang="en-US" sz="2600"/>
              <a:t>输出此次转换结果，</a:t>
            </a:r>
            <a:r>
              <a:rPr lang="en-US" altLang="zh-CN" sz="2600"/>
              <a:t>CPU</a:t>
            </a:r>
            <a:r>
              <a:rPr lang="zh-CN" altLang="en-US" sz="2600"/>
              <a:t>可在数据线上读取。</a:t>
            </a:r>
          </a:p>
        </p:txBody>
      </p:sp>
    </p:spTree>
  </p:cSld>
  <p:clrMapOvr>
    <a:masterClrMapping/>
  </p:clrMapOvr>
  <p:transition>
    <p:wheel spokes="8"/>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a:extLst>
              <a:ext uri="{FF2B5EF4-FFF2-40B4-BE49-F238E27FC236}">
                <a16:creationId xmlns:a16="http://schemas.microsoft.com/office/drawing/2014/main" id="{E4E8D59E-C5D5-4D03-9D30-76280DECE6AE}"/>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66146566-3F38-4D8F-A9DA-C497317EFC61}" type="slidenum">
              <a:rPr lang="en-US" altLang="zh-CN" b="0"/>
              <a:pPr/>
              <a:t>20</a:t>
            </a:fld>
            <a:endParaRPr lang="en-US" altLang="zh-CN" b="0"/>
          </a:p>
        </p:txBody>
      </p:sp>
      <p:sp>
        <p:nvSpPr>
          <p:cNvPr id="123907" name="Text Box 3">
            <a:extLst>
              <a:ext uri="{FF2B5EF4-FFF2-40B4-BE49-F238E27FC236}">
                <a16:creationId xmlns:a16="http://schemas.microsoft.com/office/drawing/2014/main" id="{8F2A0B4C-2D28-4AF5-BBA8-3DE8568CB2CB}"/>
              </a:ext>
            </a:extLst>
          </p:cNvPr>
          <p:cNvSpPr txBox="1">
            <a:spLocks noChangeArrowheads="1"/>
          </p:cNvSpPr>
          <p:nvPr/>
        </p:nvSpPr>
        <p:spPr bwMode="auto">
          <a:xfrm>
            <a:off x="611188" y="2060575"/>
            <a:ext cx="7921625" cy="379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eaLnBrk="1" hangingPunct="1">
              <a:lnSpc>
                <a:spcPct val="140000"/>
              </a:lnSpc>
              <a:spcBef>
                <a:spcPct val="20000"/>
              </a:spcBef>
              <a:buClr>
                <a:schemeClr val="hlink"/>
              </a:buClr>
              <a:buSzPct val="90000"/>
              <a:buFont typeface="Wingdings" panose="05000000000000000000" pitchFamily="2" charset="2"/>
              <a:buNone/>
              <a:defRPr/>
            </a:pPr>
            <a:r>
              <a:rPr lang="en-US" altLang="zh-CN" sz="3200">
                <a:solidFill>
                  <a:srgbClr val="FFFFFF"/>
                </a:solidFill>
                <a:effectLst>
                  <a:outerShdw blurRad="38100" dist="38100" dir="2700000" algn="tl">
                    <a:srgbClr val="000000"/>
                  </a:outerShdw>
                </a:effectLst>
              </a:rPr>
              <a:t>     CPU</a:t>
            </a:r>
            <a:r>
              <a:rPr lang="zh-CN" altLang="en-US" sz="3200">
                <a:solidFill>
                  <a:srgbClr val="FFFFFF"/>
                </a:solidFill>
                <a:effectLst>
                  <a:outerShdw blurRad="38100" dist="38100" dir="2700000" algn="tl">
                    <a:srgbClr val="000000"/>
                  </a:outerShdw>
                </a:effectLst>
              </a:rPr>
              <a:t>一般可以采用</a:t>
            </a:r>
            <a:r>
              <a:rPr lang="en-US" altLang="zh-CN" sz="3200" u="sng">
                <a:solidFill>
                  <a:srgbClr val="FFFF00"/>
                </a:solidFill>
                <a:effectLst>
                  <a:outerShdw blurRad="38100" dist="38100" dir="2700000" algn="tl">
                    <a:srgbClr val="000000"/>
                  </a:outerShdw>
                </a:effectLst>
              </a:rPr>
              <a:t>3</a:t>
            </a:r>
            <a:r>
              <a:rPr lang="zh-CN" altLang="en-US" sz="3200" u="sng">
                <a:solidFill>
                  <a:srgbClr val="FFFF00"/>
                </a:solidFill>
                <a:effectLst>
                  <a:outerShdw blurRad="38100" dist="38100" dir="2700000" algn="tl">
                    <a:srgbClr val="000000"/>
                  </a:outerShdw>
                </a:effectLst>
              </a:rPr>
              <a:t>种方式</a:t>
            </a:r>
            <a:r>
              <a:rPr lang="zh-CN" altLang="en-US" sz="3200">
                <a:solidFill>
                  <a:srgbClr val="FFFFFF"/>
                </a:solidFill>
                <a:effectLst>
                  <a:outerShdw blurRad="38100" dist="38100" dir="2700000" algn="tl">
                    <a:srgbClr val="000000"/>
                  </a:outerShdw>
                </a:effectLst>
              </a:rPr>
              <a:t>和</a:t>
            </a:r>
            <a:r>
              <a:rPr lang="en-US" altLang="zh-CN" sz="3200">
                <a:solidFill>
                  <a:srgbClr val="FFFFFF"/>
                </a:solidFill>
                <a:effectLst>
                  <a:outerShdw blurRad="38100" dist="38100" dir="2700000" algn="tl">
                    <a:srgbClr val="000000"/>
                  </a:outerShdw>
                </a:effectLst>
              </a:rPr>
              <a:t>A/D</a:t>
            </a:r>
            <a:r>
              <a:rPr lang="zh-CN" altLang="en-US" sz="3200">
                <a:solidFill>
                  <a:srgbClr val="FFFFFF"/>
                </a:solidFill>
                <a:effectLst>
                  <a:outerShdw blurRad="38100" dist="38100" dir="2700000" algn="tl">
                    <a:srgbClr val="000000"/>
                  </a:outerShdw>
                </a:effectLst>
              </a:rPr>
              <a:t>转换器进行联络来实现对转换数据的读取。</a:t>
            </a:r>
          </a:p>
          <a:p>
            <a:pPr lvl="2" eaLnBrk="1" hangingPunct="1">
              <a:lnSpc>
                <a:spcPct val="140000"/>
              </a:lnSpc>
              <a:spcBef>
                <a:spcPct val="20000"/>
              </a:spcBef>
              <a:buClr>
                <a:schemeClr val="hlink"/>
              </a:buClr>
              <a:buSzPct val="90000"/>
              <a:buFont typeface="Wingdings" panose="05000000000000000000" pitchFamily="2" charset="2"/>
              <a:buNone/>
              <a:defRPr/>
            </a:pPr>
            <a:r>
              <a:rPr lang="zh-CN" altLang="en-US" sz="3200">
                <a:solidFill>
                  <a:srgbClr val="FFFFFF"/>
                </a:solidFill>
                <a:effectLst>
                  <a:outerShdw blurRad="38100" dist="38100" dir="2700000" algn="tl">
                    <a:srgbClr val="000000"/>
                  </a:outerShdw>
                </a:effectLst>
              </a:rPr>
              <a:t>第一种是</a:t>
            </a:r>
            <a:r>
              <a:rPr lang="zh-CN" altLang="en-US" sz="3200">
                <a:solidFill>
                  <a:srgbClr val="FFFF00"/>
                </a:solidFill>
                <a:effectLst>
                  <a:outerShdw blurRad="38100" dist="38100" dir="2700000" algn="tl">
                    <a:srgbClr val="000000"/>
                  </a:outerShdw>
                </a:effectLst>
              </a:rPr>
              <a:t>程序查询方式</a:t>
            </a:r>
            <a:r>
              <a:rPr lang="zh-CN" altLang="en-US" sz="3200">
                <a:solidFill>
                  <a:srgbClr val="FFFFFF"/>
                </a:solidFill>
                <a:effectLst>
                  <a:outerShdw blurRad="38100" dist="38100" dir="2700000" algn="tl">
                    <a:srgbClr val="000000"/>
                  </a:outerShdw>
                </a:effectLst>
              </a:rPr>
              <a:t>。</a:t>
            </a:r>
          </a:p>
          <a:p>
            <a:pPr lvl="2" eaLnBrk="1" hangingPunct="1">
              <a:lnSpc>
                <a:spcPct val="140000"/>
              </a:lnSpc>
              <a:spcBef>
                <a:spcPct val="20000"/>
              </a:spcBef>
              <a:buClr>
                <a:schemeClr val="hlink"/>
              </a:buClr>
              <a:buSzPct val="90000"/>
              <a:buFont typeface="Wingdings" panose="05000000000000000000" pitchFamily="2" charset="2"/>
              <a:buNone/>
              <a:defRPr/>
            </a:pPr>
            <a:r>
              <a:rPr lang="zh-CN" altLang="en-US" sz="3200">
                <a:solidFill>
                  <a:srgbClr val="FFFFFF"/>
                </a:solidFill>
                <a:effectLst>
                  <a:outerShdw blurRad="38100" dist="38100" dir="2700000" algn="tl">
                    <a:srgbClr val="000000"/>
                  </a:outerShdw>
                </a:effectLst>
              </a:rPr>
              <a:t>第二种是</a:t>
            </a:r>
            <a:r>
              <a:rPr lang="zh-CN" altLang="en-US" sz="3200">
                <a:solidFill>
                  <a:srgbClr val="FFFF00"/>
                </a:solidFill>
                <a:effectLst>
                  <a:outerShdw blurRad="38100" dist="38100" dir="2700000" algn="tl">
                    <a:srgbClr val="000000"/>
                  </a:outerShdw>
                </a:effectLst>
              </a:rPr>
              <a:t>中断方式</a:t>
            </a:r>
            <a:r>
              <a:rPr lang="zh-CN" altLang="en-US" sz="3200">
                <a:solidFill>
                  <a:srgbClr val="FFFFFF"/>
                </a:solidFill>
                <a:effectLst>
                  <a:outerShdw blurRad="38100" dist="38100" dir="2700000" algn="tl">
                    <a:srgbClr val="000000"/>
                  </a:outerShdw>
                </a:effectLst>
              </a:rPr>
              <a:t>。</a:t>
            </a:r>
          </a:p>
          <a:p>
            <a:pPr lvl="2" eaLnBrk="1" hangingPunct="1">
              <a:lnSpc>
                <a:spcPct val="140000"/>
              </a:lnSpc>
              <a:spcBef>
                <a:spcPct val="20000"/>
              </a:spcBef>
              <a:buClr>
                <a:schemeClr val="hlink"/>
              </a:buClr>
              <a:buSzPct val="90000"/>
              <a:buFont typeface="Wingdings" panose="05000000000000000000" pitchFamily="2" charset="2"/>
              <a:buNone/>
              <a:defRPr/>
            </a:pPr>
            <a:r>
              <a:rPr lang="zh-CN" altLang="en-US" sz="3200">
                <a:solidFill>
                  <a:srgbClr val="FFFFFF"/>
                </a:solidFill>
                <a:effectLst>
                  <a:outerShdw blurRad="38100" dist="38100" dir="2700000" algn="tl">
                    <a:srgbClr val="000000"/>
                  </a:outerShdw>
                </a:effectLst>
              </a:rPr>
              <a:t>第三种是</a:t>
            </a:r>
            <a:r>
              <a:rPr lang="zh-CN" altLang="en-US" sz="3200">
                <a:solidFill>
                  <a:srgbClr val="FFFF00"/>
                </a:solidFill>
                <a:effectLst>
                  <a:outerShdw blurRad="38100" dist="38100" dir="2700000" algn="tl">
                    <a:srgbClr val="000000"/>
                  </a:outerShdw>
                </a:effectLst>
              </a:rPr>
              <a:t>固定的延迟程序方式</a:t>
            </a:r>
            <a:r>
              <a:rPr lang="zh-CN" altLang="en-US" sz="3200">
                <a:solidFill>
                  <a:srgbClr val="FFFFFF"/>
                </a:solidFill>
                <a:effectLst>
                  <a:outerShdw blurRad="38100" dist="38100" dir="2700000" algn="tl">
                    <a:srgbClr val="000000"/>
                  </a:outerShdw>
                </a:effectLst>
              </a:rPr>
              <a:t>。</a:t>
            </a:r>
          </a:p>
        </p:txBody>
      </p:sp>
      <p:sp>
        <p:nvSpPr>
          <p:cNvPr id="123909" name="Text Box 5">
            <a:extLst>
              <a:ext uri="{FF2B5EF4-FFF2-40B4-BE49-F238E27FC236}">
                <a16:creationId xmlns:a16="http://schemas.microsoft.com/office/drawing/2014/main" id="{BA5052BA-CB5B-4A10-A8E5-3DC58FEF5D7E}"/>
              </a:ext>
            </a:extLst>
          </p:cNvPr>
          <p:cNvSpPr txBox="1">
            <a:spLocks noChangeArrowheads="1"/>
          </p:cNvSpPr>
          <p:nvPr/>
        </p:nvSpPr>
        <p:spPr bwMode="auto">
          <a:xfrm>
            <a:off x="468313" y="476250"/>
            <a:ext cx="8424862"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eaLnBrk="1" hangingPunct="1">
              <a:lnSpc>
                <a:spcPct val="150000"/>
              </a:lnSpc>
              <a:spcBef>
                <a:spcPct val="20000"/>
              </a:spcBef>
              <a:buClr>
                <a:schemeClr val="hlink"/>
              </a:buClr>
              <a:buSzPct val="90000"/>
              <a:buFont typeface="Wingdings" panose="05000000000000000000" pitchFamily="2" charset="2"/>
              <a:buNone/>
              <a:defRPr/>
            </a:pPr>
            <a:r>
              <a:rPr lang="en-US" altLang="zh-CN" sz="3200">
                <a:solidFill>
                  <a:srgbClr val="FFFFFF"/>
                </a:solidFill>
                <a:effectLst>
                  <a:outerShdw blurRad="38100" dist="38100" dir="2700000" algn="tl">
                    <a:srgbClr val="000000"/>
                  </a:outerShdw>
                </a:effectLst>
              </a:rPr>
              <a:t>       A/D</a:t>
            </a:r>
            <a:r>
              <a:rPr lang="zh-CN" altLang="en-US" sz="3200">
                <a:solidFill>
                  <a:srgbClr val="FFFFFF"/>
                </a:solidFill>
                <a:effectLst>
                  <a:outerShdw blurRad="38100" dist="38100" dir="2700000" algn="tl">
                    <a:srgbClr val="000000"/>
                  </a:outerShdw>
                </a:effectLst>
              </a:rPr>
              <a:t>转换结束时，</a:t>
            </a:r>
            <a:r>
              <a:rPr lang="en-US" altLang="zh-CN" sz="3200">
                <a:solidFill>
                  <a:srgbClr val="FFFFFF"/>
                </a:solidFill>
                <a:effectLst>
                  <a:outerShdw blurRad="38100" dist="38100" dir="2700000" algn="tl">
                    <a:srgbClr val="000000"/>
                  </a:outerShdw>
                </a:effectLst>
              </a:rPr>
              <a:t>A/D</a:t>
            </a:r>
            <a:r>
              <a:rPr lang="zh-CN" altLang="en-US" sz="3200">
                <a:solidFill>
                  <a:srgbClr val="FFFFFF"/>
                </a:solidFill>
                <a:effectLst>
                  <a:outerShdw blurRad="38100" dist="38100" dir="2700000" algn="tl">
                    <a:srgbClr val="000000"/>
                  </a:outerShdw>
                </a:effectLst>
              </a:rPr>
              <a:t>转换芯片会输出转换结束信号，通知</a:t>
            </a:r>
            <a:r>
              <a:rPr lang="en-US" altLang="zh-CN" sz="3200">
                <a:solidFill>
                  <a:srgbClr val="FFFFFF"/>
                </a:solidFill>
                <a:effectLst>
                  <a:outerShdw blurRad="38100" dist="38100" dir="2700000" algn="tl">
                    <a:srgbClr val="000000"/>
                  </a:outerShdw>
                </a:effectLst>
              </a:rPr>
              <a:t>CPU</a:t>
            </a:r>
            <a:r>
              <a:rPr lang="zh-CN" altLang="en-US" sz="3200">
                <a:solidFill>
                  <a:srgbClr val="FFFFFF"/>
                </a:solidFill>
                <a:effectLst>
                  <a:outerShdw blurRad="38100" dist="38100" dir="2700000" algn="tl">
                    <a:srgbClr val="000000"/>
                  </a:outerShdw>
                </a:effectLst>
              </a:rPr>
              <a:t>读取转换数据。	</a:t>
            </a:r>
            <a:endParaRPr lang="zh-CN" altLang="en-US" sz="3200" b="0"/>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3907"/>
                                        </p:tgtEl>
                                        <p:attrNameLst>
                                          <p:attrName>style.visibility</p:attrName>
                                        </p:attrNameLst>
                                      </p:cBhvr>
                                      <p:to>
                                        <p:strVal val="visible"/>
                                      </p:to>
                                    </p:set>
                                    <p:animEffect transition="in" filter="box(in)">
                                      <p:cBhvr>
                                        <p:cTn id="7" dur="500"/>
                                        <p:tgtEl>
                                          <p:spTgt spid="1239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239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autoUpdateAnimBg="0"/>
      <p:bldP spid="12390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591E6E2-ECC9-4477-99F9-1BCE90304972}"/>
              </a:ext>
            </a:extLst>
          </p:cNvPr>
          <p:cNvSpPr>
            <a:spLocks noGrp="1"/>
          </p:cNvSpPr>
          <p:nvPr>
            <p:ph type="sldNum" sz="quarter" idx="12"/>
          </p:nvPr>
        </p:nvSpPr>
        <p:spPr/>
        <p:txBody>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fld id="{9D6C125F-A882-423D-9D3C-045AD14B049B}" type="slidenum">
              <a:rPr lang="en-US" altLang="zh-CN" b="0"/>
              <a:pPr/>
              <a:t>21</a:t>
            </a:fld>
            <a:endParaRPr lang="en-US" altLang="zh-CN" b="0"/>
          </a:p>
        </p:txBody>
      </p:sp>
      <p:sp>
        <p:nvSpPr>
          <p:cNvPr id="50179" name="Text Box 2">
            <a:extLst>
              <a:ext uri="{FF2B5EF4-FFF2-40B4-BE49-F238E27FC236}">
                <a16:creationId xmlns:a16="http://schemas.microsoft.com/office/drawing/2014/main" id="{1D91CCE6-29FA-44A2-92A5-8CF788885FA3}"/>
              </a:ext>
            </a:extLst>
          </p:cNvPr>
          <p:cNvSpPr txBox="1">
            <a:spLocks noChangeArrowheads="1"/>
          </p:cNvSpPr>
          <p:nvPr/>
        </p:nvSpPr>
        <p:spPr bwMode="auto">
          <a:xfrm>
            <a:off x="395288" y="476250"/>
            <a:ext cx="7696200" cy="58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en-US" altLang="zh-CN"/>
              <a:t>ADC0809</a:t>
            </a:r>
            <a:r>
              <a:rPr lang="zh-CN" altLang="en-US"/>
              <a:t>应用接口及编程</a:t>
            </a:r>
          </a:p>
        </p:txBody>
      </p:sp>
      <p:sp>
        <p:nvSpPr>
          <p:cNvPr id="50180" name="Text Box 4">
            <a:extLst>
              <a:ext uri="{FF2B5EF4-FFF2-40B4-BE49-F238E27FC236}">
                <a16:creationId xmlns:a16="http://schemas.microsoft.com/office/drawing/2014/main" id="{F083E181-1000-4AAE-B8B7-402C08C658D3}"/>
              </a:ext>
            </a:extLst>
          </p:cNvPr>
          <p:cNvSpPr txBox="1">
            <a:spLocks noChangeArrowheads="1"/>
          </p:cNvSpPr>
          <p:nvPr/>
        </p:nvSpPr>
        <p:spPr bwMode="auto">
          <a:xfrm>
            <a:off x="611188" y="1196975"/>
            <a:ext cx="79200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buClrTx/>
              <a:buSzTx/>
              <a:buFontTx/>
              <a:buNone/>
            </a:pPr>
            <a:r>
              <a:rPr lang="en-US" altLang="zh-CN" sz="2800"/>
              <a:t>ADC0809</a:t>
            </a:r>
            <a:r>
              <a:rPr lang="zh-CN" altLang="en-US" sz="2800"/>
              <a:t>直接与与微处理器连接接口电路</a:t>
            </a:r>
          </a:p>
        </p:txBody>
      </p:sp>
      <p:sp>
        <p:nvSpPr>
          <p:cNvPr id="50181" name="Text Box 5">
            <a:extLst>
              <a:ext uri="{FF2B5EF4-FFF2-40B4-BE49-F238E27FC236}">
                <a16:creationId xmlns:a16="http://schemas.microsoft.com/office/drawing/2014/main" id="{D0ED05DB-48C6-49C0-BF12-8D50DDB2B2F9}"/>
              </a:ext>
            </a:extLst>
          </p:cNvPr>
          <p:cNvSpPr txBox="1">
            <a:spLocks noChangeArrowheads="1"/>
          </p:cNvSpPr>
          <p:nvPr/>
        </p:nvSpPr>
        <p:spPr bwMode="auto">
          <a:xfrm>
            <a:off x="539750" y="1700213"/>
            <a:ext cx="8135938" cy="4506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2"/>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3"/>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4"/>
              </a:buBlip>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0"/>
              </a:spcBef>
              <a:buClrTx/>
              <a:buSzTx/>
              <a:buFontTx/>
              <a:buNone/>
            </a:pPr>
            <a:r>
              <a:rPr lang="zh-CN" altLang="en-US" sz="2800"/>
              <a:t>模拟通道选择方法：</a:t>
            </a:r>
          </a:p>
          <a:p>
            <a:pPr eaLnBrk="1" hangingPunct="1">
              <a:lnSpc>
                <a:spcPct val="115000"/>
              </a:lnSpc>
              <a:spcBef>
                <a:spcPct val="0"/>
              </a:spcBef>
              <a:buClrTx/>
              <a:buSzTx/>
              <a:buFontTx/>
              <a:buNone/>
            </a:pPr>
            <a:r>
              <a:rPr lang="zh-CN" altLang="en-US" sz="2800"/>
              <a:t>（</a:t>
            </a:r>
            <a:r>
              <a:rPr lang="en-US" altLang="zh-CN" sz="2800"/>
              <a:t>1</a:t>
            </a:r>
            <a:r>
              <a:rPr lang="zh-CN" altLang="en-US" sz="2800"/>
              <a:t>）</a:t>
            </a:r>
            <a:r>
              <a:rPr lang="zh-CN" altLang="en-US" sz="2800">
                <a:hlinkClick r:id="rId5" action="ppaction://hlinksldjump"/>
              </a:rPr>
              <a:t>数据总线选择方法</a:t>
            </a:r>
            <a:endParaRPr lang="zh-CN" altLang="en-US" sz="2800"/>
          </a:p>
          <a:p>
            <a:pPr eaLnBrk="1" hangingPunct="1">
              <a:lnSpc>
                <a:spcPct val="115000"/>
              </a:lnSpc>
              <a:spcBef>
                <a:spcPct val="0"/>
              </a:spcBef>
              <a:buClrTx/>
              <a:buSzTx/>
              <a:buFontTx/>
              <a:buNone/>
            </a:pPr>
            <a:r>
              <a:rPr lang="zh-CN" altLang="en-US" sz="2800"/>
              <a:t>      </a:t>
            </a:r>
            <a:r>
              <a:rPr lang="en-US" altLang="zh-CN" sz="2800"/>
              <a:t>CPU</a:t>
            </a:r>
            <a:r>
              <a:rPr lang="zh-CN" altLang="en-US" sz="2800"/>
              <a:t>的低三位数据线</a:t>
            </a:r>
            <a:r>
              <a:rPr lang="en-US" altLang="zh-CN" sz="2800"/>
              <a:t>D0-D2</a:t>
            </a:r>
            <a:r>
              <a:rPr lang="zh-CN" altLang="en-US" sz="2800"/>
              <a:t>连接通道选择输入端</a:t>
            </a:r>
            <a:r>
              <a:rPr lang="en-US" altLang="zh-CN" sz="2800"/>
              <a:t>A</a:t>
            </a:r>
            <a:r>
              <a:rPr lang="zh-CN" altLang="en-US" sz="2800"/>
              <a:t>、</a:t>
            </a:r>
            <a:r>
              <a:rPr lang="en-US" altLang="zh-CN" sz="2800"/>
              <a:t>B</a:t>
            </a:r>
            <a:r>
              <a:rPr lang="zh-CN" altLang="en-US" sz="2800"/>
              <a:t>、</a:t>
            </a:r>
            <a:r>
              <a:rPr lang="en-US" altLang="zh-CN" sz="2800"/>
              <a:t>C</a:t>
            </a:r>
            <a:r>
              <a:rPr lang="zh-CN" altLang="en-US" sz="2800"/>
              <a:t>，</a:t>
            </a:r>
            <a:r>
              <a:rPr lang="en-US" altLang="zh-CN" sz="2800"/>
              <a:t>CPU</a:t>
            </a:r>
            <a:r>
              <a:rPr lang="zh-CN" altLang="en-US" sz="2800"/>
              <a:t>通过数据线将通道地址编码写入通道地址线</a:t>
            </a:r>
            <a:r>
              <a:rPr lang="en-US" altLang="zh-CN" sz="2800"/>
              <a:t>A</a:t>
            </a:r>
            <a:r>
              <a:rPr lang="zh-CN" altLang="en-US" sz="2800"/>
              <a:t>、</a:t>
            </a:r>
            <a:r>
              <a:rPr lang="en-US" altLang="zh-CN" sz="2800"/>
              <a:t>B</a:t>
            </a:r>
            <a:r>
              <a:rPr lang="zh-CN" altLang="en-US" sz="2800"/>
              <a:t>、</a:t>
            </a:r>
            <a:r>
              <a:rPr lang="en-US" altLang="zh-CN" sz="2800"/>
              <a:t>C;</a:t>
            </a:r>
          </a:p>
          <a:p>
            <a:pPr eaLnBrk="1" hangingPunct="1">
              <a:lnSpc>
                <a:spcPct val="115000"/>
              </a:lnSpc>
              <a:spcBef>
                <a:spcPct val="0"/>
              </a:spcBef>
              <a:buClrTx/>
              <a:buSzTx/>
              <a:buFontTx/>
              <a:buNone/>
            </a:pPr>
            <a:r>
              <a:rPr lang="zh-CN" altLang="en-US" sz="2800"/>
              <a:t>（</a:t>
            </a:r>
            <a:r>
              <a:rPr lang="en-US" altLang="zh-CN" sz="2800"/>
              <a:t>2</a:t>
            </a:r>
            <a:r>
              <a:rPr lang="zh-CN" altLang="en-US" sz="2800"/>
              <a:t>）</a:t>
            </a:r>
            <a:r>
              <a:rPr lang="zh-CN" altLang="en-US" sz="2800">
                <a:hlinkClick r:id="rId6" action="ppaction://hlinksldjump"/>
              </a:rPr>
              <a:t>地址总线选择方法</a:t>
            </a:r>
            <a:endParaRPr lang="zh-CN" altLang="en-US" sz="2800"/>
          </a:p>
          <a:p>
            <a:pPr eaLnBrk="1" hangingPunct="1">
              <a:lnSpc>
                <a:spcPct val="115000"/>
              </a:lnSpc>
              <a:spcBef>
                <a:spcPct val="0"/>
              </a:spcBef>
              <a:buClrTx/>
              <a:buSzTx/>
              <a:buFontTx/>
              <a:buNone/>
            </a:pPr>
            <a:r>
              <a:rPr lang="zh-CN" altLang="en-US" sz="2800"/>
              <a:t>     </a:t>
            </a:r>
            <a:r>
              <a:rPr lang="en-US" altLang="zh-CN" sz="2800"/>
              <a:t>CPU</a:t>
            </a:r>
            <a:r>
              <a:rPr lang="zh-CN" altLang="en-US" sz="2800"/>
              <a:t>的低三位地址</a:t>
            </a:r>
            <a:r>
              <a:rPr lang="en-US" altLang="zh-CN" sz="2800"/>
              <a:t>A0-A2</a:t>
            </a:r>
            <a:r>
              <a:rPr lang="zh-CN" altLang="en-US" sz="2800"/>
              <a:t>连接通道选择输入端</a:t>
            </a:r>
            <a:r>
              <a:rPr lang="en-US" altLang="zh-CN" sz="2800"/>
              <a:t>A</a:t>
            </a:r>
            <a:r>
              <a:rPr lang="zh-CN" altLang="en-US" sz="2800"/>
              <a:t>、</a:t>
            </a:r>
            <a:r>
              <a:rPr lang="en-US" altLang="zh-CN" sz="2800"/>
              <a:t>B</a:t>
            </a:r>
            <a:r>
              <a:rPr lang="zh-CN" altLang="en-US" sz="2800"/>
              <a:t>、</a:t>
            </a:r>
            <a:r>
              <a:rPr lang="en-US" altLang="zh-CN" sz="2800"/>
              <a:t>C</a:t>
            </a:r>
            <a:r>
              <a:rPr lang="zh-CN" altLang="en-US" sz="2800"/>
              <a:t>，</a:t>
            </a:r>
            <a:r>
              <a:rPr lang="en-US" altLang="zh-CN" sz="2800"/>
              <a:t>CPU</a:t>
            </a:r>
            <a:r>
              <a:rPr lang="zh-CN" altLang="en-US" sz="2800"/>
              <a:t>通过执行一条写指令，由指令中的地址线</a:t>
            </a:r>
            <a:r>
              <a:rPr lang="en-US" altLang="zh-CN" sz="2800"/>
              <a:t>A0-A2</a:t>
            </a:r>
            <a:r>
              <a:rPr lang="zh-CN" altLang="en-US" sz="2800"/>
              <a:t>控制通道地址</a:t>
            </a:r>
            <a:r>
              <a:rPr lang="en-US" altLang="zh-CN" sz="2800"/>
              <a:t>A</a:t>
            </a:r>
            <a:r>
              <a:rPr lang="zh-CN" altLang="en-US" sz="2800"/>
              <a:t>、</a:t>
            </a:r>
            <a:r>
              <a:rPr lang="en-US" altLang="zh-CN" sz="2800"/>
              <a:t>B</a:t>
            </a:r>
            <a:r>
              <a:rPr lang="zh-CN" altLang="en-US" sz="2800"/>
              <a:t>、</a:t>
            </a:r>
            <a:r>
              <a:rPr lang="en-US" altLang="zh-CN" sz="2800"/>
              <a:t>C</a:t>
            </a:r>
            <a:r>
              <a:rPr lang="zh-CN" altLang="en-US" sz="2800"/>
              <a:t>。</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id="{623C1011-63FF-4769-95E3-D239BB9DBC41}"/>
              </a:ext>
            </a:extLst>
          </p:cNvPr>
          <p:cNvSpPr txBox="1">
            <a:spLocks noChangeArrowheads="1"/>
          </p:cNvSpPr>
          <p:nvPr/>
        </p:nvSpPr>
        <p:spPr bwMode="auto">
          <a:xfrm>
            <a:off x="611188" y="333375"/>
            <a:ext cx="81676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800" dirty="0">
                <a:latin typeface="Verdana" panose="020B0604030504040204" pitchFamily="34" charset="0"/>
              </a:rPr>
              <a:t>实例</a:t>
            </a:r>
            <a:r>
              <a:rPr lang="en-US" altLang="zh-CN" sz="2800" dirty="0">
                <a:latin typeface="Verdana" panose="020B0604030504040204" pitchFamily="34" charset="0"/>
              </a:rPr>
              <a:t>8</a:t>
            </a:r>
            <a:r>
              <a:rPr lang="zh-CN" altLang="en-US" sz="2800" dirty="0">
                <a:latin typeface="Verdana" panose="020B0604030504040204" pitchFamily="34" charset="0"/>
              </a:rPr>
              <a:t>：</a:t>
            </a:r>
            <a:r>
              <a:rPr lang="zh-CN" altLang="en-US" sz="2800" dirty="0">
                <a:latin typeface="Times New Roman" panose="02020603050405020304" pitchFamily="18" charset="0"/>
              </a:rPr>
              <a:t>采用</a:t>
            </a:r>
            <a:r>
              <a:rPr lang="en-US" altLang="zh-CN" sz="2800" dirty="0">
                <a:latin typeface="Times New Roman" panose="02020603050405020304" pitchFamily="18" charset="0"/>
              </a:rPr>
              <a:t>ADC0809</a:t>
            </a:r>
            <a:r>
              <a:rPr lang="zh-CN" altLang="en-US" sz="2800" dirty="0">
                <a:latin typeface="Times New Roman" panose="02020603050405020304" pitchFamily="18" charset="0"/>
              </a:rPr>
              <a:t>设计数据采集电路，将</a:t>
            </a:r>
            <a:r>
              <a:rPr lang="en-US" altLang="zh-CN" sz="2800" dirty="0">
                <a:latin typeface="Times New Roman" panose="02020603050405020304" pitchFamily="18" charset="0"/>
              </a:rPr>
              <a:t>IN7</a:t>
            </a:r>
            <a:r>
              <a:rPr lang="zh-CN" altLang="en-US" sz="2800" dirty="0">
                <a:latin typeface="Times New Roman" panose="02020603050405020304" pitchFamily="18" charset="0"/>
              </a:rPr>
              <a:t>通道输入的模拟量信号进行测量，</a:t>
            </a:r>
            <a:r>
              <a:rPr lang="zh-CN" altLang="en-US" sz="2800" dirty="0">
                <a:latin typeface="Verdana" panose="020B0604030504040204" pitchFamily="34" charset="0"/>
              </a:rPr>
              <a:t>结果以十六进制显示。</a:t>
            </a:r>
          </a:p>
        </p:txBody>
      </p:sp>
      <p:pic>
        <p:nvPicPr>
          <p:cNvPr id="51203" name="Picture 3">
            <a:extLst>
              <a:ext uri="{FF2B5EF4-FFF2-40B4-BE49-F238E27FC236}">
                <a16:creationId xmlns:a16="http://schemas.microsoft.com/office/drawing/2014/main" id="{0AC8B9D0-75DC-464D-9063-9A87BAB34C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1252" t="7657" r="6956" b="10869"/>
          <a:stretch>
            <a:fillRect/>
          </a:stretch>
        </p:blipFill>
        <p:spPr bwMode="auto">
          <a:xfrm>
            <a:off x="1035050" y="1714500"/>
            <a:ext cx="7083425"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146" name="Text Box 2">
            <a:extLst>
              <a:ext uri="{FF2B5EF4-FFF2-40B4-BE49-F238E27FC236}">
                <a16:creationId xmlns:a16="http://schemas.microsoft.com/office/drawing/2014/main" id="{A33B7E24-F929-4FC8-A3C2-564487318E4D}"/>
              </a:ext>
            </a:extLst>
          </p:cNvPr>
          <p:cNvSpPr txBox="1">
            <a:spLocks noChangeArrowheads="1"/>
          </p:cNvSpPr>
          <p:nvPr/>
        </p:nvSpPr>
        <p:spPr bwMode="auto">
          <a:xfrm>
            <a:off x="339725" y="5087938"/>
            <a:ext cx="8556625" cy="149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ClrTx/>
              <a:buSzTx/>
              <a:buFont typeface="Wingdings" panose="05000000000000000000" pitchFamily="2" charset="2"/>
              <a:buChar char="Ø"/>
            </a:pPr>
            <a:r>
              <a:rPr kumimoji="1" lang="zh-CN" altLang="en-US" sz="2800">
                <a:latin typeface="Times New Roman" panose="02020603050405020304" pitchFamily="18" charset="0"/>
              </a:rPr>
              <a:t>模拟通道地址，经</a:t>
            </a:r>
            <a:r>
              <a:rPr kumimoji="1" lang="en-US" altLang="zh-CN" sz="2800">
                <a:latin typeface="Times New Roman" panose="02020603050405020304" pitchFamily="18" charset="0"/>
              </a:rPr>
              <a:t>373</a:t>
            </a:r>
            <a:r>
              <a:rPr kumimoji="1" lang="zh-CN" altLang="en-US" sz="2800">
                <a:latin typeface="Times New Roman" panose="02020603050405020304" pitchFamily="18" charset="0"/>
              </a:rPr>
              <a:t>对低</a:t>
            </a:r>
            <a:r>
              <a:rPr kumimoji="1" lang="en-US" altLang="zh-CN" sz="2800">
                <a:latin typeface="Times New Roman" panose="02020603050405020304" pitchFamily="18" charset="0"/>
              </a:rPr>
              <a:t>8</a:t>
            </a:r>
            <a:r>
              <a:rPr kumimoji="1" lang="zh-CN" altLang="en-US" sz="2800">
                <a:latin typeface="Times New Roman" panose="02020603050405020304" pitchFamily="18" charset="0"/>
              </a:rPr>
              <a:t>位地址进行锁存：</a:t>
            </a:r>
          </a:p>
          <a:p>
            <a:pPr eaLnBrk="1" hangingPunct="1">
              <a:spcBef>
                <a:spcPct val="25000"/>
              </a:spcBef>
              <a:buClrTx/>
              <a:buSzTx/>
              <a:buFont typeface="Wingdings" panose="05000000000000000000" pitchFamily="2" charset="2"/>
              <a:buNone/>
            </a:pPr>
            <a:r>
              <a:rPr kumimoji="1" lang="en-US" altLang="zh-CN" sz="2800">
                <a:latin typeface="Times New Roman" panose="02020603050405020304" pitchFamily="18" charset="0"/>
              </a:rPr>
              <a:t>     IN0</a:t>
            </a:r>
            <a:r>
              <a:rPr kumimoji="1" lang="zh-CN" altLang="en-US" sz="2800">
                <a:latin typeface="Times New Roman" panose="02020603050405020304" pitchFamily="18" charset="0"/>
              </a:rPr>
              <a:t>的</a:t>
            </a:r>
            <a:r>
              <a:rPr kumimoji="1" lang="zh-CN" altLang="en-US" sz="2800">
                <a:solidFill>
                  <a:srgbClr val="FFFF00"/>
                </a:solidFill>
                <a:latin typeface="Times New Roman" panose="02020603050405020304" pitchFamily="18" charset="0"/>
              </a:rPr>
              <a:t>低</a:t>
            </a:r>
            <a:r>
              <a:rPr kumimoji="1" lang="en-US" altLang="zh-CN" sz="2800">
                <a:solidFill>
                  <a:srgbClr val="FFFF00"/>
                </a:solidFill>
                <a:latin typeface="Times New Roman" panose="02020603050405020304" pitchFamily="18" charset="0"/>
              </a:rPr>
              <a:t>8</a:t>
            </a:r>
            <a:r>
              <a:rPr kumimoji="1" lang="zh-CN" altLang="en-US" sz="2800">
                <a:solidFill>
                  <a:srgbClr val="FFFF00"/>
                </a:solidFill>
                <a:latin typeface="Times New Roman" panose="02020603050405020304" pitchFamily="18" charset="0"/>
              </a:rPr>
              <a:t>位地址</a:t>
            </a:r>
            <a:r>
              <a:rPr kumimoji="1" lang="zh-CN" altLang="en-US" sz="2800">
                <a:latin typeface="Times New Roman" panose="02020603050405020304" pitchFamily="18" charset="0"/>
              </a:rPr>
              <a:t>为</a:t>
            </a:r>
            <a:r>
              <a:rPr kumimoji="1" lang="en-US" altLang="zh-CN" sz="2800">
                <a:latin typeface="Times New Roman" panose="02020603050405020304" pitchFamily="18" charset="0"/>
              </a:rPr>
              <a:t>1111 1000B (</a:t>
            </a:r>
            <a:r>
              <a:rPr kumimoji="1" lang="en-US" altLang="zh-CN" sz="2800">
                <a:solidFill>
                  <a:srgbClr val="FFFF00"/>
                </a:solidFill>
                <a:latin typeface="Times New Roman" panose="02020603050405020304" pitchFamily="18" charset="0"/>
              </a:rPr>
              <a:t>0xf8</a:t>
            </a:r>
            <a:r>
              <a:rPr kumimoji="1" lang="en-US" altLang="zh-CN" sz="2800">
                <a:latin typeface="Times New Roman" panose="02020603050405020304" pitchFamily="18" charset="0"/>
              </a:rPr>
              <a:t>)</a:t>
            </a:r>
            <a:r>
              <a:rPr kumimoji="1" lang="zh-CN" altLang="en-US" sz="2800">
                <a:latin typeface="Times New Roman" panose="02020603050405020304" pitchFamily="18" charset="0"/>
              </a:rPr>
              <a:t>，</a:t>
            </a:r>
            <a:r>
              <a:rPr kumimoji="1" lang="en-US" altLang="zh-CN" sz="2800">
                <a:latin typeface="Times New Roman" panose="02020603050405020304" pitchFamily="18" charset="0"/>
              </a:rPr>
              <a:t>IN1</a:t>
            </a:r>
            <a:r>
              <a:rPr kumimoji="1" lang="zh-CN" altLang="en-US" sz="2800">
                <a:latin typeface="Times New Roman" panose="02020603050405020304" pitchFamily="18" charset="0"/>
              </a:rPr>
              <a:t>为</a:t>
            </a:r>
            <a:r>
              <a:rPr kumimoji="1" lang="en-US" altLang="zh-CN" sz="2800">
                <a:solidFill>
                  <a:srgbClr val="FFFF00"/>
                </a:solidFill>
                <a:latin typeface="Times New Roman" panose="02020603050405020304" pitchFamily="18" charset="0"/>
              </a:rPr>
              <a:t>0xf9</a:t>
            </a:r>
            <a:r>
              <a:rPr kumimoji="1" lang="zh-CN" altLang="en-US" sz="2800">
                <a:latin typeface="Times New Roman" panose="02020603050405020304" pitchFamily="18" charset="0"/>
              </a:rPr>
              <a:t>，</a:t>
            </a:r>
            <a:r>
              <a:rPr kumimoji="1" lang="en-US" altLang="en-US" sz="2800">
                <a:latin typeface="Times New Roman" panose="02020603050405020304" pitchFamily="18" charset="0"/>
              </a:rPr>
              <a:t>……</a:t>
            </a:r>
            <a:r>
              <a:rPr kumimoji="1" lang="zh-CN" altLang="en-US" sz="2800">
                <a:latin typeface="Times New Roman" panose="02020603050405020304" pitchFamily="18" charset="0"/>
              </a:rPr>
              <a:t>，</a:t>
            </a:r>
            <a:r>
              <a:rPr kumimoji="1" lang="en-US" altLang="zh-CN" sz="2800">
                <a:latin typeface="Times New Roman" panose="02020603050405020304" pitchFamily="18" charset="0"/>
              </a:rPr>
              <a:t>IN7</a:t>
            </a:r>
            <a:r>
              <a:rPr kumimoji="1" lang="zh-CN" altLang="en-US" sz="2800">
                <a:latin typeface="Times New Roman" panose="02020603050405020304" pitchFamily="18" charset="0"/>
              </a:rPr>
              <a:t>为</a:t>
            </a:r>
            <a:r>
              <a:rPr kumimoji="1" lang="en-US" altLang="zh-CN" sz="2800">
                <a:solidFill>
                  <a:srgbClr val="FFFF00"/>
                </a:solidFill>
                <a:latin typeface="Times New Roman" panose="02020603050405020304" pitchFamily="18" charset="0"/>
              </a:rPr>
              <a:t>0xff</a:t>
            </a:r>
            <a:r>
              <a:rPr kumimoji="1" lang="zh-CN" altLang="en-US" sz="2800">
                <a:latin typeface="Times New Roman" panose="02020603050405020304" pitchFamily="18" charset="0"/>
              </a:rPr>
              <a:t>。</a:t>
            </a:r>
          </a:p>
        </p:txBody>
      </p:sp>
      <p:pic>
        <p:nvPicPr>
          <p:cNvPr id="53251" name="Picture 3">
            <a:extLst>
              <a:ext uri="{FF2B5EF4-FFF2-40B4-BE49-F238E27FC236}">
                <a16:creationId xmlns:a16="http://schemas.microsoft.com/office/drawing/2014/main" id="{7E13EADD-B1B8-4E0E-A008-26829B4B09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1252" t="7657" r="6956" b="10869"/>
          <a:stretch>
            <a:fillRect/>
          </a:stretch>
        </p:blipFill>
        <p:spPr bwMode="auto">
          <a:xfrm>
            <a:off x="2209800" y="941388"/>
            <a:ext cx="6661150" cy="41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2" name="Rectangle 5">
            <a:extLst>
              <a:ext uri="{FF2B5EF4-FFF2-40B4-BE49-F238E27FC236}">
                <a16:creationId xmlns:a16="http://schemas.microsoft.com/office/drawing/2014/main" id="{11F75049-CA58-4A2A-8D56-1103BD81BCBB}"/>
              </a:ext>
            </a:extLst>
          </p:cNvPr>
          <p:cNvSpPr>
            <a:spLocks noChangeArrowheads="1"/>
          </p:cNvSpPr>
          <p:nvPr/>
        </p:nvSpPr>
        <p:spPr bwMode="auto">
          <a:xfrm>
            <a:off x="339725" y="484188"/>
            <a:ext cx="171767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a:solidFill>
                  <a:srgbClr val="FFFF00"/>
                </a:solidFill>
                <a:latin typeface="Times New Roman" panose="02020603050405020304" pitchFamily="18" charset="0"/>
              </a:rPr>
              <a:t>电路分析 </a:t>
            </a:r>
          </a:p>
        </p:txBody>
      </p:sp>
      <p:sp>
        <p:nvSpPr>
          <p:cNvPr id="1158152" name="Rectangle 8">
            <a:extLst>
              <a:ext uri="{FF2B5EF4-FFF2-40B4-BE49-F238E27FC236}">
                <a16:creationId xmlns:a16="http://schemas.microsoft.com/office/drawing/2014/main" id="{CB16FAB6-E498-4CCA-AE4B-2750F029A113}"/>
              </a:ext>
            </a:extLst>
          </p:cNvPr>
          <p:cNvSpPr>
            <a:spLocks noChangeArrowheads="1"/>
          </p:cNvSpPr>
          <p:nvPr/>
        </p:nvSpPr>
        <p:spPr bwMode="auto">
          <a:xfrm>
            <a:off x="204788" y="1268413"/>
            <a:ext cx="1987550" cy="954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a:latin typeface="Times New Roman" panose="02020603050405020304" pitchFamily="18" charset="0"/>
              </a:rPr>
              <a:t>采用总线连</a:t>
            </a:r>
          </a:p>
          <a:p>
            <a:pPr eaLnBrk="1" hangingPunct="1">
              <a:spcBef>
                <a:spcPct val="0"/>
              </a:spcBef>
              <a:buClrTx/>
              <a:buSzTx/>
              <a:buFontTx/>
              <a:buNone/>
            </a:pPr>
            <a:r>
              <a:rPr kumimoji="1" lang="zh-CN" altLang="en-US" sz="2800">
                <a:latin typeface="Times New Roman" panose="02020603050405020304" pitchFamily="18" charset="0"/>
              </a:rPr>
              <a:t>接方式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8152"/>
                                        </p:tgtEl>
                                        <p:attrNameLst>
                                          <p:attrName>style.visibility</p:attrName>
                                        </p:attrNameLst>
                                      </p:cBhvr>
                                      <p:to>
                                        <p:strVal val="visible"/>
                                      </p:to>
                                    </p:set>
                                    <p:animEffect transition="in" filter="blinds(horizontal)">
                                      <p:cBhvr>
                                        <p:cTn id="7" dur="500"/>
                                        <p:tgtEl>
                                          <p:spTgt spid="11581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8146"/>
                                        </p:tgtEl>
                                        <p:attrNameLst>
                                          <p:attrName>style.visibility</p:attrName>
                                        </p:attrNameLst>
                                      </p:cBhvr>
                                      <p:to>
                                        <p:strVal val="visible"/>
                                      </p:to>
                                    </p:set>
                                    <p:animEffect transition="in" filter="blinds(horizontal)">
                                      <p:cBhvr>
                                        <p:cTn id="12" dur="500"/>
                                        <p:tgtEl>
                                          <p:spTgt spid="1158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8146" grpId="0"/>
      <p:bldP spid="115815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8" name="Picture 3">
            <a:extLst>
              <a:ext uri="{FF2B5EF4-FFF2-40B4-BE49-F238E27FC236}">
                <a16:creationId xmlns:a16="http://schemas.microsoft.com/office/drawing/2014/main" id="{6EB1271E-A986-4A8D-ABB7-BAC3F2B50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252" t="7657" r="6956" b="10869"/>
          <a:stretch>
            <a:fillRect/>
          </a:stretch>
        </p:blipFill>
        <p:spPr bwMode="auto">
          <a:xfrm>
            <a:off x="2003425" y="176213"/>
            <a:ext cx="6291263" cy="391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299" name="Rectangle 5">
            <a:extLst>
              <a:ext uri="{FF2B5EF4-FFF2-40B4-BE49-F238E27FC236}">
                <a16:creationId xmlns:a16="http://schemas.microsoft.com/office/drawing/2014/main" id="{9A03CD68-BCEE-4D30-872F-DA3A0B8D64DF}"/>
              </a:ext>
            </a:extLst>
          </p:cNvPr>
          <p:cNvSpPr>
            <a:spLocks noChangeArrowheads="1"/>
          </p:cNvSpPr>
          <p:nvPr/>
        </p:nvSpPr>
        <p:spPr bwMode="auto">
          <a:xfrm>
            <a:off x="404813" y="420688"/>
            <a:ext cx="17176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a:solidFill>
                  <a:srgbClr val="FFFF00"/>
                </a:solidFill>
                <a:latin typeface="Times New Roman" panose="02020603050405020304" pitchFamily="18" charset="0"/>
              </a:rPr>
              <a:t>电路分析 </a:t>
            </a:r>
          </a:p>
        </p:txBody>
      </p:sp>
      <p:sp>
        <p:nvSpPr>
          <p:cNvPr id="1479682" name="Text Box 2">
            <a:extLst>
              <a:ext uri="{FF2B5EF4-FFF2-40B4-BE49-F238E27FC236}">
                <a16:creationId xmlns:a16="http://schemas.microsoft.com/office/drawing/2014/main" id="{BB750F87-525E-43AF-BDE6-D3B6A4AF41C7}"/>
              </a:ext>
            </a:extLst>
          </p:cNvPr>
          <p:cNvSpPr txBox="1">
            <a:spLocks noChangeArrowheads="1"/>
          </p:cNvSpPr>
          <p:nvPr/>
        </p:nvSpPr>
        <p:spPr bwMode="auto">
          <a:xfrm>
            <a:off x="530225" y="4111625"/>
            <a:ext cx="8218488"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25000"/>
              </a:spcBef>
              <a:buClrTx/>
              <a:buSzTx/>
              <a:buFont typeface="Wingdings" panose="05000000000000000000" pitchFamily="2" charset="2"/>
              <a:buChar char="Ø"/>
            </a:pPr>
            <a:r>
              <a:rPr kumimoji="1" lang="zh-CN" altLang="en-US" sz="2400">
                <a:latin typeface="Times New Roman" panose="02020603050405020304" pitchFamily="18" charset="0"/>
              </a:rPr>
              <a:t>由</a:t>
            </a:r>
            <a:r>
              <a:rPr kumimoji="1" lang="en-US" altLang="zh-CN" sz="2400">
                <a:latin typeface="Times New Roman" panose="02020603050405020304" pitchFamily="18" charset="0"/>
              </a:rPr>
              <a:t>P2.0</a:t>
            </a:r>
            <a:r>
              <a:rPr kumimoji="1" lang="zh-CN" altLang="en-US" sz="2400">
                <a:latin typeface="Times New Roman" panose="02020603050405020304" pitchFamily="18" charset="0"/>
              </a:rPr>
              <a:t>形成高</a:t>
            </a:r>
            <a:r>
              <a:rPr kumimoji="1" lang="en-US" altLang="zh-CN" sz="2400">
                <a:latin typeface="Times New Roman" panose="02020603050405020304" pitchFamily="18" charset="0"/>
              </a:rPr>
              <a:t>8</a:t>
            </a:r>
            <a:r>
              <a:rPr kumimoji="1" lang="zh-CN" altLang="en-US" sz="2400">
                <a:latin typeface="Times New Roman" panose="02020603050405020304" pitchFamily="18" charset="0"/>
              </a:rPr>
              <a:t>位地址（</a:t>
            </a:r>
            <a:r>
              <a:rPr kumimoji="1" lang="en-US" altLang="zh-CN" sz="2400">
                <a:latin typeface="Times New Roman" panose="02020603050405020304" pitchFamily="18" charset="0"/>
              </a:rPr>
              <a:t>0xfe</a:t>
            </a:r>
            <a:r>
              <a:rPr kumimoji="1" lang="zh-CN" altLang="en-US" sz="2400">
                <a:latin typeface="Times New Roman" panose="02020603050405020304" pitchFamily="18" charset="0"/>
              </a:rPr>
              <a:t>），与</a:t>
            </a:r>
            <a:r>
              <a:rPr kumimoji="1" lang="en-US" altLang="zh-CN" sz="2400">
                <a:latin typeface="Times New Roman" panose="02020603050405020304" pitchFamily="18" charset="0"/>
              </a:rPr>
              <a:t>/WR</a:t>
            </a:r>
            <a:r>
              <a:rPr kumimoji="1" lang="zh-CN" altLang="en-US" sz="2400">
                <a:latin typeface="Times New Roman" panose="02020603050405020304" pitchFamily="18" charset="0"/>
              </a:rPr>
              <a:t>信号合成</a:t>
            </a:r>
            <a:r>
              <a:rPr kumimoji="1" lang="en-US" altLang="zh-CN" sz="2400">
                <a:latin typeface="Times New Roman" panose="02020603050405020304" pitchFamily="18" charset="0"/>
              </a:rPr>
              <a:t>START/ALE</a:t>
            </a:r>
            <a:r>
              <a:rPr kumimoji="1" lang="zh-CN" altLang="en-US" sz="2400">
                <a:latin typeface="Times New Roman" panose="02020603050405020304" pitchFamily="18" charset="0"/>
              </a:rPr>
              <a:t>正脉冲启动</a:t>
            </a:r>
            <a:r>
              <a:rPr kumimoji="1" lang="en-US" altLang="zh-CN" sz="2400">
                <a:latin typeface="Times New Roman" panose="02020603050405020304" pitchFamily="18" charset="0"/>
              </a:rPr>
              <a:t>ADC</a:t>
            </a:r>
            <a:r>
              <a:rPr kumimoji="1" lang="zh-CN" altLang="en-US" sz="2400">
                <a:latin typeface="Times New Roman" panose="02020603050405020304" pitchFamily="18" charset="0"/>
              </a:rPr>
              <a:t>，与</a:t>
            </a:r>
            <a:r>
              <a:rPr kumimoji="1" lang="en-US" altLang="zh-CN" sz="2400">
                <a:latin typeface="Times New Roman" panose="02020603050405020304" pitchFamily="18" charset="0"/>
              </a:rPr>
              <a:t>/RD</a:t>
            </a:r>
            <a:r>
              <a:rPr kumimoji="1" lang="zh-CN" altLang="en-US" sz="2400">
                <a:latin typeface="Times New Roman" panose="02020603050405020304" pitchFamily="18" charset="0"/>
              </a:rPr>
              <a:t>信号合成</a:t>
            </a:r>
            <a:r>
              <a:rPr kumimoji="1" lang="en-US" altLang="zh-CN" sz="2400">
                <a:latin typeface="Times New Roman" panose="02020603050405020304" pitchFamily="18" charset="0"/>
              </a:rPr>
              <a:t>OE</a:t>
            </a:r>
            <a:r>
              <a:rPr kumimoji="1" lang="zh-CN" altLang="en-US" sz="2400">
                <a:latin typeface="Times New Roman" panose="02020603050405020304" pitchFamily="18" charset="0"/>
              </a:rPr>
              <a:t>正脉冲输出转换数据；</a:t>
            </a:r>
          </a:p>
        </p:txBody>
      </p:sp>
      <p:sp>
        <p:nvSpPr>
          <p:cNvPr id="1479688" name="Text Box 8">
            <a:extLst>
              <a:ext uri="{FF2B5EF4-FFF2-40B4-BE49-F238E27FC236}">
                <a16:creationId xmlns:a16="http://schemas.microsoft.com/office/drawing/2014/main" id="{E600EB89-A03D-48ED-AFB5-A12637DEDDA1}"/>
              </a:ext>
            </a:extLst>
          </p:cNvPr>
          <p:cNvSpPr txBox="1">
            <a:spLocks noChangeArrowheads="1"/>
          </p:cNvSpPr>
          <p:nvPr/>
        </p:nvSpPr>
        <p:spPr bwMode="auto">
          <a:xfrm>
            <a:off x="495300" y="5270500"/>
            <a:ext cx="8302625" cy="164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65113" indent="-265113">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9pPr>
          </a:lstStyle>
          <a:p>
            <a:pPr eaLnBrk="1" hangingPunct="1">
              <a:buClrTx/>
              <a:buSzTx/>
              <a:buFont typeface="Wingdings" panose="05000000000000000000" pitchFamily="2" charset="2"/>
              <a:buChar char="Ø"/>
            </a:pPr>
            <a:r>
              <a:rPr kumimoji="1" lang="zh-CN" altLang="en-US" sz="2400">
                <a:latin typeface="Times New Roman" panose="02020603050405020304" pitchFamily="18" charset="0"/>
              </a:rPr>
              <a:t>启动某通道</a:t>
            </a:r>
            <a:r>
              <a:rPr kumimoji="1" lang="en-US" altLang="zh-CN" sz="2400">
                <a:latin typeface="Times New Roman" panose="02020603050405020304" pitchFamily="18" charset="0"/>
              </a:rPr>
              <a:t>AD</a:t>
            </a:r>
            <a:r>
              <a:rPr kumimoji="1" lang="zh-CN" altLang="en-US" sz="2400">
                <a:latin typeface="Times New Roman" panose="02020603050405020304" pitchFamily="18" charset="0"/>
              </a:rPr>
              <a:t>转换命令的地址为：</a:t>
            </a:r>
            <a:r>
              <a:rPr kumimoji="1" lang="en-US" altLang="zh-CN" sz="2400">
                <a:latin typeface="Times New Roman" panose="02020603050405020304" pitchFamily="18" charset="0"/>
              </a:rPr>
              <a:t>0xfef8</a:t>
            </a:r>
            <a:r>
              <a:rPr kumimoji="1" lang="zh-CN" altLang="en-US" sz="2400">
                <a:latin typeface="Times New Roman" panose="02020603050405020304" pitchFamily="18" charset="0"/>
              </a:rPr>
              <a:t>，</a:t>
            </a:r>
            <a:r>
              <a:rPr kumimoji="1" lang="en-US" altLang="en-US" sz="2400">
                <a:latin typeface="Times New Roman" panose="02020603050405020304" pitchFamily="18" charset="0"/>
              </a:rPr>
              <a:t>……</a:t>
            </a:r>
            <a:r>
              <a:rPr kumimoji="1" lang="en-US" altLang="zh-CN" sz="2400">
                <a:latin typeface="Times New Roman" panose="02020603050405020304" pitchFamily="18" charset="0"/>
              </a:rPr>
              <a:t>0xfeff</a:t>
            </a:r>
            <a:r>
              <a:rPr kumimoji="1" lang="zh-CN" altLang="en-US" sz="2400">
                <a:latin typeface="Times New Roman" panose="02020603050405020304" pitchFamily="18" charset="0"/>
              </a:rPr>
              <a:t>，数据不限；</a:t>
            </a:r>
          </a:p>
          <a:p>
            <a:pPr eaLnBrk="1" hangingPunct="1">
              <a:buClrTx/>
              <a:buSzTx/>
              <a:buFont typeface="Wingdings" panose="05000000000000000000" pitchFamily="2" charset="2"/>
              <a:buChar char="Ø"/>
            </a:pPr>
            <a:r>
              <a:rPr kumimoji="1" lang="zh-CN" altLang="en-US" sz="2400">
                <a:latin typeface="Times New Roman" panose="02020603050405020304" pitchFamily="18" charset="0"/>
              </a:rPr>
              <a:t>读取</a:t>
            </a:r>
            <a:r>
              <a:rPr kumimoji="1" lang="en-US" altLang="zh-CN" sz="2400">
                <a:latin typeface="Times New Roman" panose="02020603050405020304" pitchFamily="18" charset="0"/>
              </a:rPr>
              <a:t>AD</a:t>
            </a:r>
            <a:r>
              <a:rPr kumimoji="1" lang="zh-CN" altLang="en-US" sz="2400">
                <a:latin typeface="Times New Roman" panose="02020603050405020304" pitchFamily="18" charset="0"/>
              </a:rPr>
              <a:t>转换结果命令的地址为：高</a:t>
            </a:r>
            <a:r>
              <a:rPr kumimoji="1" lang="en-US" altLang="zh-CN" sz="2400">
                <a:latin typeface="Times New Roman" panose="02020603050405020304" pitchFamily="18" charset="0"/>
              </a:rPr>
              <a:t>8</a:t>
            </a:r>
            <a:r>
              <a:rPr kumimoji="1" lang="zh-CN" altLang="en-US" sz="2400">
                <a:latin typeface="Times New Roman" panose="02020603050405020304" pitchFamily="18" charset="0"/>
              </a:rPr>
              <a:t>位为</a:t>
            </a:r>
            <a:r>
              <a:rPr kumimoji="1" lang="en-US" altLang="zh-CN" sz="2400">
                <a:latin typeface="Times New Roman" panose="02020603050405020304" pitchFamily="18" charset="0"/>
              </a:rPr>
              <a:t>0xfe</a:t>
            </a:r>
            <a:r>
              <a:rPr kumimoji="1" lang="zh-CN" altLang="en-US" sz="2400">
                <a:latin typeface="Times New Roman" panose="02020603050405020304" pitchFamily="18" charset="0"/>
              </a:rPr>
              <a:t>，低</a:t>
            </a:r>
            <a:r>
              <a:rPr kumimoji="1" lang="en-US" altLang="zh-CN" sz="2400">
                <a:latin typeface="Times New Roman" panose="02020603050405020304" pitchFamily="18" charset="0"/>
              </a:rPr>
              <a:t>8</a:t>
            </a:r>
            <a:r>
              <a:rPr kumimoji="1" lang="zh-CN" altLang="en-US" sz="2400">
                <a:latin typeface="Times New Roman" panose="02020603050405020304" pitchFamily="18" charset="0"/>
              </a:rPr>
              <a:t>位地址和数据不限。</a:t>
            </a:r>
          </a:p>
        </p:txBody>
      </p:sp>
      <p:sp>
        <p:nvSpPr>
          <p:cNvPr id="55302" name="Rectangle 10">
            <a:extLst>
              <a:ext uri="{FF2B5EF4-FFF2-40B4-BE49-F238E27FC236}">
                <a16:creationId xmlns:a16="http://schemas.microsoft.com/office/drawing/2014/main" id="{FCC6AAF6-3291-415A-ACE7-EB64B3EC3ECA}"/>
              </a:ext>
            </a:extLst>
          </p:cNvPr>
          <p:cNvSpPr>
            <a:spLocks noChangeArrowheads="1"/>
          </p:cNvSpPr>
          <p:nvPr/>
        </p:nvSpPr>
        <p:spPr bwMode="auto">
          <a:xfrm>
            <a:off x="400050" y="1125538"/>
            <a:ext cx="1603375"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hlink"/>
              </a:buClr>
              <a:buSzPct val="90000"/>
              <a:buFont typeface="Wingdings" panose="05000000000000000000" pitchFamily="2" charset="2"/>
              <a:buBlip>
                <a:blip r:embed="rId4"/>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5"/>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6"/>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en-US" altLang="zh-CN" sz="2800">
                <a:solidFill>
                  <a:srgbClr val="FFFF00"/>
                </a:solidFill>
                <a:latin typeface="Times New Roman" panose="02020603050405020304" pitchFamily="18" charset="0"/>
              </a:rPr>
              <a:t>74HC02:</a:t>
            </a:r>
          </a:p>
          <a:p>
            <a:pPr eaLnBrk="1" hangingPunct="1">
              <a:spcBef>
                <a:spcPct val="0"/>
              </a:spcBef>
              <a:buClrTx/>
              <a:buSzTx/>
              <a:buFontTx/>
              <a:buNone/>
            </a:pPr>
            <a:r>
              <a:rPr kumimoji="1" lang="en-US" altLang="zh-CN" sz="2800">
                <a:latin typeface="Times New Roman" panose="02020603050405020304" pitchFamily="18" charset="0"/>
              </a:rPr>
              <a:t>2</a:t>
            </a:r>
            <a:r>
              <a:rPr kumimoji="1" lang="zh-CN" altLang="en-US" sz="2800">
                <a:latin typeface="Times New Roman" panose="02020603050405020304" pitchFamily="18" charset="0"/>
              </a:rPr>
              <a:t>输入或非门</a:t>
            </a:r>
            <a:endParaRPr kumimoji="1" lang="en-US" altLang="zh-CN" sz="280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79682"/>
                                        </p:tgtEl>
                                        <p:attrNameLst>
                                          <p:attrName>style.visibility</p:attrName>
                                        </p:attrNameLst>
                                      </p:cBhvr>
                                      <p:to>
                                        <p:strVal val="visible"/>
                                      </p:to>
                                    </p:set>
                                    <p:animEffect transition="in" filter="blinds(horizontal)">
                                      <p:cBhvr>
                                        <p:cTn id="7" dur="500"/>
                                        <p:tgtEl>
                                          <p:spTgt spid="1479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79688">
                                            <p:txEl>
                                              <p:pRg st="0" end="0"/>
                                            </p:txEl>
                                          </p:spTgt>
                                        </p:tgtEl>
                                        <p:attrNameLst>
                                          <p:attrName>style.visibility</p:attrName>
                                        </p:attrNameLst>
                                      </p:cBhvr>
                                      <p:to>
                                        <p:strVal val="visible"/>
                                      </p:to>
                                    </p:set>
                                    <p:animEffect transition="in" filter="blinds(horizontal)">
                                      <p:cBhvr>
                                        <p:cTn id="12" dur="500"/>
                                        <p:tgtEl>
                                          <p:spTgt spid="147968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79688">
                                            <p:txEl>
                                              <p:pRg st="1" end="1"/>
                                            </p:txEl>
                                          </p:spTgt>
                                        </p:tgtEl>
                                        <p:attrNameLst>
                                          <p:attrName>style.visibility</p:attrName>
                                        </p:attrNameLst>
                                      </p:cBhvr>
                                      <p:to>
                                        <p:strVal val="visible"/>
                                      </p:to>
                                    </p:set>
                                    <p:animEffect transition="in" filter="blinds(horizontal)">
                                      <p:cBhvr>
                                        <p:cTn id="17" dur="500"/>
                                        <p:tgtEl>
                                          <p:spTgt spid="14796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968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714" name="Text Box 2">
            <a:extLst>
              <a:ext uri="{FF2B5EF4-FFF2-40B4-BE49-F238E27FC236}">
                <a16:creationId xmlns:a16="http://schemas.microsoft.com/office/drawing/2014/main" id="{A86ABD0E-0E50-4017-9E3D-21B1D913DABA}"/>
              </a:ext>
            </a:extLst>
          </p:cNvPr>
          <p:cNvSpPr txBox="1">
            <a:spLocks noChangeArrowheads="1"/>
          </p:cNvSpPr>
          <p:nvPr/>
        </p:nvSpPr>
        <p:spPr bwMode="auto">
          <a:xfrm>
            <a:off x="473075" y="5097463"/>
            <a:ext cx="8426450" cy="1471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buClrTx/>
              <a:buSzTx/>
              <a:buFont typeface="Wingdings" panose="05000000000000000000" pitchFamily="2" charset="2"/>
              <a:buChar char="Ø"/>
            </a:pPr>
            <a:r>
              <a:rPr kumimoji="1" lang="en-US" altLang="zh-CN" sz="2800">
                <a:latin typeface="Times New Roman" panose="02020603050405020304" pitchFamily="18" charset="0"/>
              </a:rPr>
              <a:t>EOC</a:t>
            </a:r>
            <a:r>
              <a:rPr kumimoji="1" lang="zh-CN" altLang="en-US" sz="2800">
                <a:latin typeface="Times New Roman" panose="02020603050405020304" pitchFamily="18" charset="0"/>
              </a:rPr>
              <a:t>信号经非门接</a:t>
            </a:r>
            <a:r>
              <a:rPr kumimoji="1" lang="en-US" altLang="zh-CN" sz="2800">
                <a:latin typeface="Times New Roman" panose="02020603050405020304" pitchFamily="18" charset="0"/>
              </a:rPr>
              <a:t>P3.3</a:t>
            </a:r>
            <a:r>
              <a:rPr kumimoji="1" lang="zh-CN" altLang="en-US" sz="2800">
                <a:latin typeface="Times New Roman" panose="02020603050405020304" pitchFamily="18" charset="0"/>
              </a:rPr>
              <a:t>可形成一正脉冲信号（查询转换结束标志） ；</a:t>
            </a:r>
          </a:p>
          <a:p>
            <a:pPr eaLnBrk="1" hangingPunct="1">
              <a:buClrTx/>
              <a:buSzTx/>
              <a:buFont typeface="Wingdings" panose="05000000000000000000" pitchFamily="2" charset="2"/>
              <a:buChar char="Ø"/>
            </a:pPr>
            <a:r>
              <a:rPr kumimoji="1" lang="en-US" altLang="zh-CN" sz="2800">
                <a:latin typeface="Times New Roman" panose="02020603050405020304" pitchFamily="18" charset="0"/>
              </a:rPr>
              <a:t>AD</a:t>
            </a:r>
            <a:r>
              <a:rPr kumimoji="1" lang="zh-CN" altLang="en-US" sz="2800">
                <a:latin typeface="Times New Roman" panose="02020603050405020304" pitchFamily="18" charset="0"/>
              </a:rPr>
              <a:t>转换的时钟由虚拟信号发生器提供，频率</a:t>
            </a:r>
            <a:r>
              <a:rPr kumimoji="1" lang="en-US" altLang="zh-CN" sz="2800">
                <a:latin typeface="Times New Roman" panose="02020603050405020304" pitchFamily="18" charset="0"/>
              </a:rPr>
              <a:t>5kHz</a:t>
            </a:r>
            <a:r>
              <a:rPr kumimoji="1" lang="zh-CN" altLang="en-US" sz="2800">
                <a:latin typeface="Times New Roman" panose="02020603050405020304" pitchFamily="18" charset="0"/>
              </a:rPr>
              <a:t>；</a:t>
            </a:r>
          </a:p>
        </p:txBody>
      </p:sp>
      <p:pic>
        <p:nvPicPr>
          <p:cNvPr id="57347" name="Picture 3">
            <a:extLst>
              <a:ext uri="{FF2B5EF4-FFF2-40B4-BE49-F238E27FC236}">
                <a16:creationId xmlns:a16="http://schemas.microsoft.com/office/drawing/2014/main" id="{CFB3911B-097D-40BC-9305-DE2EC3AA06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1252" t="7657" r="6956" b="10869"/>
          <a:stretch>
            <a:fillRect/>
          </a:stretch>
        </p:blipFill>
        <p:spPr bwMode="auto">
          <a:xfrm>
            <a:off x="1908175" y="698500"/>
            <a:ext cx="6161088" cy="383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67718" name="Picture 6">
            <a:extLst>
              <a:ext uri="{FF2B5EF4-FFF2-40B4-BE49-F238E27FC236}">
                <a16:creationId xmlns:a16="http://schemas.microsoft.com/office/drawing/2014/main" id="{6263B5D0-721E-47A4-AE9E-C311090D25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6013" y="606425"/>
            <a:ext cx="3548062"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9" name="Rectangle 7">
            <a:extLst>
              <a:ext uri="{FF2B5EF4-FFF2-40B4-BE49-F238E27FC236}">
                <a16:creationId xmlns:a16="http://schemas.microsoft.com/office/drawing/2014/main" id="{102D729B-CD0B-4238-BD6C-7165FC64C5F3}"/>
              </a:ext>
            </a:extLst>
          </p:cNvPr>
          <p:cNvSpPr>
            <a:spLocks noChangeArrowheads="1"/>
          </p:cNvSpPr>
          <p:nvPr/>
        </p:nvSpPr>
        <p:spPr bwMode="auto">
          <a:xfrm>
            <a:off x="323850" y="436563"/>
            <a:ext cx="17160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kumimoji="1" lang="zh-CN" altLang="en-US" sz="2800">
                <a:solidFill>
                  <a:srgbClr val="FFFF00"/>
                </a:solidFill>
                <a:latin typeface="Times New Roman" panose="02020603050405020304" pitchFamily="18" charset="0"/>
              </a:rPr>
              <a:t>电路分析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67714">
                                            <p:txEl>
                                              <p:pRg st="0" end="0"/>
                                            </p:txEl>
                                          </p:spTgt>
                                        </p:tgtEl>
                                        <p:attrNameLst>
                                          <p:attrName>style.visibility</p:attrName>
                                        </p:attrNameLst>
                                      </p:cBhvr>
                                      <p:to>
                                        <p:strVal val="visible"/>
                                      </p:to>
                                    </p:set>
                                    <p:animEffect transition="in" filter="blinds(horizontal)">
                                      <p:cBhvr>
                                        <p:cTn id="7" dur="500"/>
                                        <p:tgtEl>
                                          <p:spTgt spid="12677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267714">
                                            <p:txEl>
                                              <p:pRg st="1" end="1"/>
                                            </p:txEl>
                                          </p:spTgt>
                                        </p:tgtEl>
                                        <p:attrNameLst>
                                          <p:attrName>style.visibility</p:attrName>
                                        </p:attrNameLst>
                                      </p:cBhvr>
                                      <p:to>
                                        <p:strVal val="visible"/>
                                      </p:to>
                                    </p:set>
                                    <p:animEffect transition="in" filter="blinds(horizontal)">
                                      <p:cBhvr>
                                        <p:cTn id="12" dur="500"/>
                                        <p:tgtEl>
                                          <p:spTgt spid="126771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67718"/>
                                        </p:tgtEl>
                                        <p:attrNameLst>
                                          <p:attrName>style.visibility</p:attrName>
                                        </p:attrNameLst>
                                      </p:cBhvr>
                                      <p:to>
                                        <p:strVal val="visible"/>
                                      </p:to>
                                    </p:set>
                                    <p:animEffect transition="in" filter="blinds(horizontal)">
                                      <p:cBhvr>
                                        <p:cTn id="17" dur="500"/>
                                        <p:tgtEl>
                                          <p:spTgt spid="1267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64A6B585-24E7-4631-B1FE-90EAAD12DED4}"/>
              </a:ext>
            </a:extLst>
          </p:cNvPr>
          <p:cNvSpPr txBox="1">
            <a:spLocks noChangeArrowheads="1"/>
          </p:cNvSpPr>
          <p:nvPr/>
        </p:nvSpPr>
        <p:spPr bwMode="auto">
          <a:xfrm>
            <a:off x="684213" y="620713"/>
            <a:ext cx="3095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90000"/>
              <a:buFont typeface="Wingdings" panose="05000000000000000000" pitchFamily="2" charset="2"/>
              <a:buBlip>
                <a:blip r:embed="rId3"/>
              </a:buBlip>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90000"/>
              <a:buFont typeface="Wingdings" panose="05000000000000000000" pitchFamily="2" charset="2"/>
              <a:buBlip>
                <a:blip r:embed="rId4"/>
              </a:buBlip>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90000"/>
              <a:buFont typeface="Wingdings" panose="05000000000000000000" pitchFamily="2" charset="2"/>
              <a:buBlip>
                <a:blip r:embed="rId5"/>
              </a:buBlip>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SzTx/>
              <a:buFontTx/>
              <a:buNone/>
            </a:pPr>
            <a:r>
              <a:rPr lang="zh-CN" altLang="en-US" sz="2800">
                <a:latin typeface="Verdana" panose="020B0604030504040204" pitchFamily="34" charset="0"/>
              </a:rPr>
              <a:t>实例</a:t>
            </a:r>
            <a:r>
              <a:rPr lang="en-US" altLang="zh-CN" sz="2800">
                <a:latin typeface="Verdana" panose="020B0604030504040204" pitchFamily="34" charset="0"/>
              </a:rPr>
              <a:t>8</a:t>
            </a:r>
            <a:r>
              <a:rPr lang="zh-CN" altLang="en-US" sz="2800">
                <a:latin typeface="Verdana" panose="020B0604030504040204" pitchFamily="34" charset="0"/>
              </a:rPr>
              <a:t>参考程序</a:t>
            </a:r>
          </a:p>
        </p:txBody>
      </p:sp>
      <p:pic>
        <p:nvPicPr>
          <p:cNvPr id="59395" name="Picture 4">
            <a:extLst>
              <a:ext uri="{FF2B5EF4-FFF2-40B4-BE49-F238E27FC236}">
                <a16:creationId xmlns:a16="http://schemas.microsoft.com/office/drawing/2014/main" id="{51E28EAC-E684-4E0C-B2E2-EE468B6D6C8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1326" t="21416" r="1106" b="36104"/>
          <a:stretch>
            <a:fillRect/>
          </a:stretch>
        </p:blipFill>
        <p:spPr bwMode="auto">
          <a:xfrm>
            <a:off x="684213" y="1577975"/>
            <a:ext cx="8035925" cy="39385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theme/theme1.xml><?xml version="1.0" encoding="utf-8"?>
<a:theme xmlns:a="http://schemas.openxmlformats.org/drawingml/2006/main" name="Beam">
  <a:themeElements>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fontScheme name="Beam">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Beam 1">
        <a:dk1>
          <a:srgbClr val="1A006C"/>
        </a:dk1>
        <a:lt1>
          <a:srgbClr val="FFFFFF"/>
        </a:lt1>
        <a:dk2>
          <a:srgbClr val="000066"/>
        </a:dk2>
        <a:lt2>
          <a:srgbClr val="CCCCFF"/>
        </a:lt2>
        <a:accent1>
          <a:srgbClr val="0099CC"/>
        </a:accent1>
        <a:accent2>
          <a:srgbClr val="6600CC"/>
        </a:accent2>
        <a:accent3>
          <a:srgbClr val="AAAAB8"/>
        </a:accent3>
        <a:accent4>
          <a:srgbClr val="DADADA"/>
        </a:accent4>
        <a:accent5>
          <a:srgbClr val="AACAE2"/>
        </a:accent5>
        <a:accent6>
          <a:srgbClr val="5C00B9"/>
        </a:accent6>
        <a:hlink>
          <a:srgbClr val="9999FF"/>
        </a:hlink>
        <a:folHlink>
          <a:srgbClr val="33CCCC"/>
        </a:folHlink>
      </a:clrScheme>
      <a:clrMap bg1="dk2" tx1="lt1" bg2="dk1" tx2="lt2" accent1="accent1" accent2="accent2" accent3="accent3" accent4="accent4" accent5="accent5" accent6="accent6" hlink="hlink" folHlink="folHlink"/>
    </a:extraClrScheme>
    <a:extraClrScheme>
      <a:clrScheme name="Beam 2">
        <a:dk1>
          <a:srgbClr val="000080"/>
        </a:dk1>
        <a:lt1>
          <a:srgbClr val="FFFFFF"/>
        </a:lt1>
        <a:dk2>
          <a:srgbClr val="000099"/>
        </a:dk2>
        <a:lt2>
          <a:srgbClr val="FFFFFF"/>
        </a:lt2>
        <a:accent1>
          <a:srgbClr val="3366FF"/>
        </a:accent1>
        <a:accent2>
          <a:srgbClr val="7B46D0"/>
        </a:accent2>
        <a:accent3>
          <a:srgbClr val="AAAACA"/>
        </a:accent3>
        <a:accent4>
          <a:srgbClr val="DADADA"/>
        </a:accent4>
        <a:accent5>
          <a:srgbClr val="ADB8FF"/>
        </a:accent5>
        <a:accent6>
          <a:srgbClr val="6F3FBC"/>
        </a:accent6>
        <a:hlink>
          <a:srgbClr val="86D1EC"/>
        </a:hlink>
        <a:folHlink>
          <a:srgbClr val="45C984"/>
        </a:folHlink>
      </a:clrScheme>
      <a:clrMap bg1="dk2" tx1="lt1" bg2="dk1" tx2="lt2" accent1="accent1" accent2="accent2" accent3="accent3" accent4="accent4" accent5="accent5" accent6="accent6" hlink="hlink" folHlink="folHlink"/>
    </a:extraClrScheme>
    <a:extraClrScheme>
      <a:clrScheme name="Beam 3">
        <a:dk1>
          <a:srgbClr val="3F4873"/>
        </a:dk1>
        <a:lt1>
          <a:srgbClr val="FFFFFF"/>
        </a:lt1>
        <a:dk2>
          <a:srgbClr val="4F598D"/>
        </a:dk2>
        <a:lt2>
          <a:srgbClr val="CCECFF"/>
        </a:lt2>
        <a:accent1>
          <a:srgbClr val="0099CC"/>
        </a:accent1>
        <a:accent2>
          <a:srgbClr val="4C8470"/>
        </a:accent2>
        <a:accent3>
          <a:srgbClr val="B2B5C5"/>
        </a:accent3>
        <a:accent4>
          <a:srgbClr val="DADADA"/>
        </a:accent4>
        <a:accent5>
          <a:srgbClr val="AACAE2"/>
        </a:accent5>
        <a:accent6>
          <a:srgbClr val="447765"/>
        </a:accent6>
        <a:hlink>
          <a:srgbClr val="99CC00"/>
        </a:hlink>
        <a:folHlink>
          <a:srgbClr val="96A4C8"/>
        </a:folHlink>
      </a:clrScheme>
      <a:clrMap bg1="dk2" tx1="lt1" bg2="dk1" tx2="lt2" accent1="accent1" accent2="accent2" accent3="accent3" accent4="accent4" accent5="accent5" accent6="accent6" hlink="hlink" folHlink="folHlink"/>
    </a:extraClrScheme>
    <a:extraClrScheme>
      <a:clrScheme name="Beam 4">
        <a:dk1>
          <a:srgbClr val="006E6B"/>
        </a:dk1>
        <a:lt1>
          <a:srgbClr val="FFFFFF"/>
        </a:lt1>
        <a:dk2>
          <a:srgbClr val="008080"/>
        </a:dk2>
        <a:lt2>
          <a:srgbClr val="E2EFCD"/>
        </a:lt2>
        <a:accent1>
          <a:srgbClr val="33CCCC"/>
        </a:accent1>
        <a:accent2>
          <a:srgbClr val="6352B8"/>
        </a:accent2>
        <a:accent3>
          <a:srgbClr val="AAC0C0"/>
        </a:accent3>
        <a:accent4>
          <a:srgbClr val="DADADA"/>
        </a:accent4>
        <a:accent5>
          <a:srgbClr val="ADE2E2"/>
        </a:accent5>
        <a:accent6>
          <a:srgbClr val="5949A6"/>
        </a:accent6>
        <a:hlink>
          <a:srgbClr val="CCFFFF"/>
        </a:hlink>
        <a:folHlink>
          <a:srgbClr val="99CCFF"/>
        </a:folHlink>
      </a:clrScheme>
      <a:clrMap bg1="dk2" tx1="lt1" bg2="dk1" tx2="lt2" accent1="accent1" accent2="accent2" accent3="accent3" accent4="accent4" accent5="accent5" accent6="accent6" hlink="hlink" folHlink="folHlink"/>
    </a:extraClrScheme>
    <a:extraClrScheme>
      <a:clrScheme name="Beam 5">
        <a:dk1>
          <a:srgbClr val="48562C"/>
        </a:dk1>
        <a:lt1>
          <a:srgbClr val="FFFFFF"/>
        </a:lt1>
        <a:dk2>
          <a:srgbClr val="546434"/>
        </a:dk2>
        <a:lt2>
          <a:srgbClr val="FFFFCC"/>
        </a:lt2>
        <a:accent1>
          <a:srgbClr val="7B8A6E"/>
        </a:accent1>
        <a:accent2>
          <a:srgbClr val="527C3A"/>
        </a:accent2>
        <a:accent3>
          <a:srgbClr val="B3B8AE"/>
        </a:accent3>
        <a:accent4>
          <a:srgbClr val="DADADA"/>
        </a:accent4>
        <a:accent5>
          <a:srgbClr val="BFC4BA"/>
        </a:accent5>
        <a:accent6>
          <a:srgbClr val="497034"/>
        </a:accent6>
        <a:hlink>
          <a:srgbClr val="55B55E"/>
        </a:hlink>
        <a:folHlink>
          <a:srgbClr val="85B3B1"/>
        </a:folHlink>
      </a:clrScheme>
      <a:clrMap bg1="dk2" tx1="lt1" bg2="dk1" tx2="lt2" accent1="accent1" accent2="accent2" accent3="accent3" accent4="accent4" accent5="accent5" accent6="accent6" hlink="hlink" folHlink="folHlink"/>
    </a:extraClrScheme>
    <a:extraClrScheme>
      <a:clrScheme name="Beam 6">
        <a:dk1>
          <a:srgbClr val="96B29E"/>
        </a:dk1>
        <a:lt1>
          <a:srgbClr val="FFFFFF"/>
        </a:lt1>
        <a:dk2>
          <a:srgbClr val="A5BDAC"/>
        </a:dk2>
        <a:lt2>
          <a:srgbClr val="FFFFCC"/>
        </a:lt2>
        <a:accent1>
          <a:srgbClr val="4E8880"/>
        </a:accent1>
        <a:accent2>
          <a:srgbClr val="2F71B9"/>
        </a:accent2>
        <a:accent3>
          <a:srgbClr val="CFDBD2"/>
        </a:accent3>
        <a:accent4>
          <a:srgbClr val="DADADA"/>
        </a:accent4>
        <a:accent5>
          <a:srgbClr val="B2C3C0"/>
        </a:accent5>
        <a:accent6>
          <a:srgbClr val="2A66A7"/>
        </a:accent6>
        <a:hlink>
          <a:srgbClr val="9DC0E7"/>
        </a:hlink>
        <a:folHlink>
          <a:srgbClr val="54CA89"/>
        </a:folHlink>
      </a:clrScheme>
      <a:clrMap bg1="dk2" tx1="lt1" bg2="dk1" tx2="lt2" accent1="accent1" accent2="accent2" accent3="accent3" accent4="accent4" accent5="accent5" accent6="accent6" hlink="hlink" folHlink="folHlink"/>
    </a:extraClrScheme>
    <a:extraClrScheme>
      <a:clrScheme name="Beam 7">
        <a:dk1>
          <a:srgbClr val="D49C00"/>
        </a:dk1>
        <a:lt1>
          <a:srgbClr val="FFFFFF"/>
        </a:lt1>
        <a:dk2>
          <a:srgbClr val="CC9900"/>
        </a:dk2>
        <a:lt2>
          <a:srgbClr val="CEBD40"/>
        </a:lt2>
        <a:accent1>
          <a:srgbClr val="CC6600"/>
        </a:accent1>
        <a:accent2>
          <a:srgbClr val="808000"/>
        </a:accent2>
        <a:accent3>
          <a:srgbClr val="E2CAAA"/>
        </a:accent3>
        <a:accent4>
          <a:srgbClr val="DADADA"/>
        </a:accent4>
        <a:accent5>
          <a:srgbClr val="E2B8AA"/>
        </a:accent5>
        <a:accent6>
          <a:srgbClr val="737300"/>
        </a:accent6>
        <a:hlink>
          <a:srgbClr val="FF9900"/>
        </a:hlink>
        <a:folHlink>
          <a:srgbClr val="FFFF99"/>
        </a:folHlink>
      </a:clrScheme>
      <a:clrMap bg1="dk2" tx1="lt1" bg2="dk1" tx2="lt2" accent1="accent1" accent2="accent2" accent3="accent3" accent4="accent4" accent5="accent5" accent6="accent6" hlink="hlink" folHlink="folHlink"/>
    </a:extraClrScheme>
    <a:extraClrScheme>
      <a:clrScheme name="Beam 8">
        <a:dk1>
          <a:srgbClr val="881700"/>
        </a:dk1>
        <a:lt1>
          <a:srgbClr val="FAF9E6"/>
        </a:lt1>
        <a:dk2>
          <a:srgbClr val="990000"/>
        </a:dk2>
        <a:lt2>
          <a:srgbClr val="EADC78"/>
        </a:lt2>
        <a:accent1>
          <a:srgbClr val="FF6600"/>
        </a:accent1>
        <a:accent2>
          <a:srgbClr val="B86D52"/>
        </a:accent2>
        <a:accent3>
          <a:srgbClr val="CAAAAA"/>
        </a:accent3>
        <a:accent4>
          <a:srgbClr val="D6D5C4"/>
        </a:accent4>
        <a:accent5>
          <a:srgbClr val="FFB8AA"/>
        </a:accent5>
        <a:accent6>
          <a:srgbClr val="A66249"/>
        </a:accent6>
        <a:hlink>
          <a:srgbClr val="D78D15"/>
        </a:hlink>
        <a:folHlink>
          <a:srgbClr val="C6B37E"/>
        </a:folHlink>
      </a:clrScheme>
      <a:clrMap bg1="dk2" tx1="lt1" bg2="dk1" tx2="lt2" accent1="accent1" accent2="accent2" accent3="accent3" accent4="accent4" accent5="accent5" accent6="accent6" hlink="hlink" folHlink="folHlink"/>
    </a:extraClrScheme>
    <a:extraClrScheme>
      <a:clrScheme name="Beam 9">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5CC98"/>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3383</TotalTime>
  <Words>2069</Words>
  <Application>Microsoft Office PowerPoint</Application>
  <PresentationFormat>全屏显示(4:3)</PresentationFormat>
  <Paragraphs>206</Paragraphs>
  <Slides>26</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26</vt:i4>
      </vt:variant>
    </vt:vector>
  </HeadingPairs>
  <TitlesOfParts>
    <vt:vector size="34" baseType="lpstr">
      <vt:lpstr>黑体</vt:lpstr>
      <vt:lpstr>宋体</vt:lpstr>
      <vt:lpstr>Arial</vt:lpstr>
      <vt:lpstr>Courier New</vt:lpstr>
      <vt:lpstr>Times New Roman</vt:lpstr>
      <vt:lpstr>Verdana</vt:lpstr>
      <vt:lpstr>Wingdings</vt:lpstr>
      <vt:lpstr>Beam</vt:lpstr>
      <vt:lpstr>PowerPoint 演示文稿</vt:lpstr>
      <vt:lpstr>PowerPoint 演示文稿</vt:lpstr>
      <vt:lpstr>PowerPoint 演示文稿</vt:lpstr>
      <vt:lpstr>导入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A/D转换器的外部特性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TSINGHUA UNIV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微型计算机与外设的接口及相关芯片</dc:title>
  <dc:creator>ZHAO YANNAN</dc:creator>
  <cp:lastModifiedBy>admin</cp:lastModifiedBy>
  <cp:revision>342</cp:revision>
  <dcterms:created xsi:type="dcterms:W3CDTF">2001-03-23T13:16:30Z</dcterms:created>
  <dcterms:modified xsi:type="dcterms:W3CDTF">2025-05-11T10:08:40Z</dcterms:modified>
</cp:coreProperties>
</file>