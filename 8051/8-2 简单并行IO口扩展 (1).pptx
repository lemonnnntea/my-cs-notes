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</p:sldMasterIdLst>
  <p:notesMasterIdLst>
    <p:notesMasterId r:id="rId23"/>
  </p:notesMasterIdLst>
  <p:sldIdLst>
    <p:sldId id="1073" r:id="rId2"/>
    <p:sldId id="1074" r:id="rId3"/>
    <p:sldId id="1352" r:id="rId4"/>
    <p:sldId id="1378" r:id="rId5"/>
    <p:sldId id="1077" r:id="rId6"/>
    <p:sldId id="1078" r:id="rId7"/>
    <p:sldId id="1353" r:id="rId8"/>
    <p:sldId id="1081" r:id="rId9"/>
    <p:sldId id="1379" r:id="rId10"/>
    <p:sldId id="1206" r:id="rId11"/>
    <p:sldId id="1211" r:id="rId12"/>
    <p:sldId id="1087" r:id="rId13"/>
    <p:sldId id="1380" r:id="rId14"/>
    <p:sldId id="1088" r:id="rId15"/>
    <p:sldId id="1089" r:id="rId16"/>
    <p:sldId id="1090" r:id="rId17"/>
    <p:sldId id="1091" r:id="rId18"/>
    <p:sldId id="1092" r:id="rId19"/>
    <p:sldId id="1093" r:id="rId20"/>
    <p:sldId id="1094" r:id="rId21"/>
    <p:sldId id="1095" r:id="rId2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00FF"/>
    <a:srgbClr val="0066FF"/>
    <a:srgbClr val="CC3300"/>
    <a:srgbClr val="CCFFFF"/>
    <a:srgbClr val="FF9999"/>
    <a:srgbClr val="FF7C80"/>
    <a:srgbClr val="008080"/>
    <a:srgbClr val="0099FF"/>
    <a:srgbClr val="00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 autoAdjust="0"/>
    <p:restoredTop sz="94366" autoAdjust="0"/>
  </p:normalViewPr>
  <p:slideViewPr>
    <p:cSldViewPr snapToGrid="0">
      <p:cViewPr varScale="1">
        <p:scale>
          <a:sx n="63" d="100"/>
          <a:sy n="63" d="100"/>
        </p:scale>
        <p:origin x="656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3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791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FBC5BC69-C578-4605-9BCC-A149175F794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770D313C-DCC1-4733-A489-D530F38423D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C93ED7F3-4A59-4808-BCC8-02DBD13BEA2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7" name="Rectangle 5">
            <a:extLst>
              <a:ext uri="{FF2B5EF4-FFF2-40B4-BE49-F238E27FC236}">
                <a16:creationId xmlns:a16="http://schemas.microsoft.com/office/drawing/2014/main" id="{4F3967FC-8409-4F11-A7A2-5231DA69AC1E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59398" name="Rectangle 6">
            <a:extLst>
              <a:ext uri="{FF2B5EF4-FFF2-40B4-BE49-F238E27FC236}">
                <a16:creationId xmlns:a16="http://schemas.microsoft.com/office/drawing/2014/main" id="{7503501F-B5E0-4235-A192-8B21F7F7EA4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9399" name="Rectangle 7">
            <a:extLst>
              <a:ext uri="{FF2B5EF4-FFF2-40B4-BE49-F238E27FC236}">
                <a16:creationId xmlns:a16="http://schemas.microsoft.com/office/drawing/2014/main" id="{DD26B3AD-DB9A-4527-BABA-E40FDE0CFB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63ED8C2D-B256-439A-9E46-8E9A0E8F1261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78D9AE20-6FE3-4CFE-9016-4C8502568E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E28EB2E2-54DD-47D0-912F-CEB3CAAE41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C3D5A32-53F6-49E4-A66B-91A05B3390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EEBFB7CE-9AD2-4692-8C7C-85EADAC05A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23C9DE2B-98BF-4C65-B5A1-B39EE05050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F3BEE537-26A2-4403-B50E-37C1A67A78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15EB5F12-4086-479E-A511-A54D3F4AE6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DDA12459-D2D0-49D7-B2E1-DE8E2104E2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017BB0D3-97E1-4AE9-8254-8BE0005051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F977AC71-938A-4EC8-B6AF-47CB19E1DE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BC54B10-B579-4B6F-B424-59865BCB09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585EBC58-2329-47D6-908B-C2E5F09BD7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0C7683F8-AB9A-482A-B9B6-E34C1C1B0D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0078FADE-EDCE-4F2E-BF3D-EA64208A47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31F7D248-3D10-4568-8993-700AA75133C0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DAAAADBE-7763-4A2A-ABA4-D2ED9DEA88BE}" type="slidenum">
              <a:rPr lang="zh-CN" altLang="en-US"/>
              <a:pPr algn="r" eaLnBrk="1" hangingPunct="1">
                <a:spcBef>
                  <a:spcPct val="0"/>
                </a:spcBef>
              </a:pPr>
              <a:t>8</a:t>
            </a:fld>
            <a:endParaRPr lang="en-US" altLang="zh-CN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69C8B233-FC42-4881-98DF-F267944C54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0415A6A6-46E2-438A-9881-86699AFC78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参见，单片机中级教程，</a:t>
            </a:r>
            <a:r>
              <a:rPr lang="en-US" altLang="zh-CN"/>
              <a:t>P.162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8DA4393A-136C-42ED-B5E7-617812DC46A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8B687FB-E743-46C7-A28C-065196015E39}" type="slidenum">
              <a:rPr lang="zh-CN" altLang="en-US"/>
              <a:pPr algn="r" eaLnBrk="1" hangingPunct="1">
                <a:spcBef>
                  <a:spcPct val="0"/>
                </a:spcBef>
              </a:pPr>
              <a:t>9</a:t>
            </a:fld>
            <a:endParaRPr lang="en-US" altLang="zh-CN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61F33737-1417-4922-AEA6-D354FCC1542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FB085AE0-7EE8-4E24-9F4F-1597EE5759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参见，单片机中级教程，</a:t>
            </a:r>
            <a:r>
              <a:rPr lang="en-US" altLang="zh-CN"/>
              <a:t>P.162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3E6FACE7-C9BD-48C9-BAA6-7E4AD3E79067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7F31F98-AB59-4AC0-ADFC-E2B1C66BBB3B}" type="slidenum">
              <a:rPr lang="zh-CN" altLang="en-US"/>
              <a:pPr algn="r" eaLnBrk="1" hangingPunct="1">
                <a:spcBef>
                  <a:spcPct val="0"/>
                </a:spcBef>
              </a:pPr>
              <a:t>10</a:t>
            </a:fld>
            <a:endParaRPr lang="en-US" altLang="zh-CN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C2E8FD92-AC76-40C0-ACED-56B6834A5C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1BC868A8-840B-43F4-A0C9-6434874BC6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参见，陈建铎，单片机原理及应用，</a:t>
            </a:r>
            <a:r>
              <a:rPr lang="en-US" altLang="zh-CN"/>
              <a:t>P.150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6B5D8B5C-A544-41D8-B81B-80E7F1C9A96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D092B284-A7A0-46F1-B80A-917799036192}" type="slidenum">
              <a:rPr lang="zh-CN" altLang="en-US"/>
              <a:pPr algn="r" eaLnBrk="1" hangingPunct="1">
                <a:spcBef>
                  <a:spcPct val="0"/>
                </a:spcBef>
              </a:pPr>
              <a:t>11</a:t>
            </a:fld>
            <a:endParaRPr lang="en-US" altLang="zh-CN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F898214C-FA0E-4457-A7FC-9D1C20F5D6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F5589193-6139-46C3-88D4-B26EF0B7E2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参见，陈建铎，单片机原理及应用，</a:t>
            </a:r>
            <a:r>
              <a:rPr lang="en-US" altLang="zh-CN"/>
              <a:t>P.150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C73C6584-93A8-4614-9C3A-DC1F2ADF8EA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B24FBE36-C6D9-4DAE-BFAE-584A751338CC}" type="slidenum">
              <a:rPr lang="zh-CN" altLang="en-US"/>
              <a:pPr algn="r" eaLnBrk="1" hangingPunct="1">
                <a:spcBef>
                  <a:spcPct val="0"/>
                </a:spcBef>
              </a:pPr>
              <a:t>12</a:t>
            </a:fld>
            <a:endParaRPr lang="en-US" altLang="zh-CN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99D63D01-3DBB-4DA0-A531-6CC8F2DEC8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F9C68041-18A5-4CD8-B092-367D7F6739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参见，陈建铎，单片机原理及应用，</a:t>
            </a:r>
            <a:r>
              <a:rPr lang="en-US" altLang="zh-CN"/>
              <a:t>P.150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051FA12D-7B51-4604-8423-756D96155687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5F5A52AB-8C34-44B9-8F11-CC8052FA140A}" type="slidenum">
              <a:rPr lang="zh-CN" altLang="en-US"/>
              <a:pPr algn="r" eaLnBrk="1" hangingPunct="1">
                <a:spcBef>
                  <a:spcPct val="0"/>
                </a:spcBef>
              </a:pPr>
              <a:t>13</a:t>
            </a:fld>
            <a:endParaRPr lang="en-US" altLang="zh-CN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DF5999C8-65E5-4B98-93DA-76D9BA4C3B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90B058D6-1F0F-4AAB-ABBD-4D278F0B6E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参见，陈建铎，单片机原理及应用，</a:t>
            </a:r>
            <a:r>
              <a:rPr lang="en-US" altLang="zh-CN"/>
              <a:t>P.150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71C18A99-2180-422F-ACCF-7E3EA57037F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C2A4AB1-CBD4-4B17-BD4A-5B627A8C960E}" type="slidenum">
              <a:rPr lang="zh-CN" altLang="en-US"/>
              <a:pPr algn="r" eaLnBrk="1" hangingPunct="1">
                <a:spcBef>
                  <a:spcPct val="0"/>
                </a:spcBef>
              </a:pPr>
              <a:t>14</a:t>
            </a:fld>
            <a:endParaRPr lang="en-US" altLang="zh-CN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17CE67D5-304C-475E-A928-D7B16AFE89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CFE62F0E-2386-4513-88DE-DB256EBE59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参见，陈建铎，单片机原理及应用，</a:t>
            </a:r>
            <a:r>
              <a:rPr lang="en-US" altLang="zh-CN"/>
              <a:t>P.150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82A6784C-E582-4355-A0FD-9D364E5BC3A9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692FBEF-4CF3-42D4-AE2E-1991F4E43F0C}" type="slidenum">
              <a:rPr lang="zh-CN" altLang="en-US"/>
              <a:pPr algn="r" eaLnBrk="1" hangingPunct="1">
                <a:spcBef>
                  <a:spcPct val="0"/>
                </a:spcBef>
              </a:pPr>
              <a:t>15</a:t>
            </a:fld>
            <a:endParaRPr lang="en-US" altLang="zh-CN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824B17AA-B927-49E0-BD2C-C13475EC65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9CE0B262-45DB-422F-9EB7-934F2523E4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参见，陈建铎，单片机原理及应用，</a:t>
            </a:r>
            <a:r>
              <a:rPr lang="en-US" altLang="zh-CN"/>
              <a:t>P.150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7A270A49-A10D-4AEB-B921-B48477B015F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3A75524-7FFF-467F-9C87-9AFFB639CA0B}" type="slidenum">
              <a:rPr lang="zh-CN" altLang="en-US"/>
              <a:pPr algn="r" eaLnBrk="1" hangingPunct="1">
                <a:spcBef>
                  <a:spcPct val="0"/>
                </a:spcBef>
              </a:pPr>
              <a:t>16</a:t>
            </a:fld>
            <a:endParaRPr lang="en-US" altLang="zh-CN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F40E4B9B-326C-4193-84D0-A1292C90BF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E3C2CCD6-B63B-4040-8EC9-BE0442B40A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参见，希望图书创作室，</a:t>
            </a:r>
            <a:r>
              <a:rPr lang="en-US" altLang="zh-CN"/>
              <a:t>P.12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5C70E77E-26B3-41FB-AAA6-36461C3C1FCD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4B7A504-A8E1-44C6-8A4C-01F32A1A5CDC}" type="slidenum">
              <a:rPr lang="zh-CN" altLang="en-US"/>
              <a:pPr algn="r" eaLnBrk="1" hangingPunct="1">
                <a:spcBef>
                  <a:spcPct val="0"/>
                </a:spcBef>
              </a:pPr>
              <a:t>17</a:t>
            </a:fld>
            <a:endParaRPr lang="en-US" altLang="zh-CN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7F3DA8E0-565A-4960-BBAB-7754A7EC67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F31FF1D5-CD04-458E-B84B-136500AEE1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参见，单片机初级教程，</a:t>
            </a:r>
            <a:r>
              <a:rPr lang="en-US" altLang="zh-CN"/>
              <a:t>p174</a:t>
            </a: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676E9ECC-3C4B-47E9-BCDC-D37F6E38E52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D37DB7BD-34FC-496E-B946-40FC9DB603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C44D614D-FF5C-42F6-A94A-08D5E32FE7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063DEE1C-CC99-43EB-BBAB-F744C01E17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61154C88-88C2-4760-9A3F-EC4FA87EA4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2629E7B5-F9CE-4122-8588-813DC63266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7D268A5F-9AAF-49E1-9016-3EDE6A1C907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8C313832-E5EC-4EC0-AEF1-44DA5BEBEB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491796-B727-4FD5-9A9F-413AEC9526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3010894-46B6-42C3-AC66-EF06E6F576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39A52D-6466-405F-9E54-D95BA4541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F171CB-0F81-4D3E-84DA-8911CC8D4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DA65EC-F8C8-40FF-BCBB-86A7CCC10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C74C0-B555-4D56-AE51-6BE5311D1F46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52586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CA7A94-54FE-44C3-B953-CA1D201C2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3EBA43-5442-477A-B736-1659F6AFD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0269BC-D60E-4FC1-91B5-02C95BF2F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35A016-8675-4E3D-8BA1-A37686035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EA65DC-D7A8-48C0-B947-90C3FBF10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B2EA56-87F2-47E8-B833-5A92E43075E5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54801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31C200-E999-45E4-AE84-7441F2DA8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60CDB20-A41F-4ABC-AD36-A108491B4D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6B859A-74B4-4A88-A6F1-71B148258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28743A-380B-4D2B-9619-A609D581D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B29FE7-6738-4ABB-BF6E-0137D6C71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AC744-71D1-48E9-8B28-1E97777C9354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6849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C14449-305D-4CC5-BB27-E75D0F644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E5E4A5-C4C3-43DA-A91C-D51BC6046C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DF58994-7254-4379-8ECC-6784D07666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100C66C-0B5B-4EF1-909E-579C5FE7C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D6A955E-698F-4493-8635-1BA25B3DC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C24742-7909-4450-9465-F401187AB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51C7A-1426-4C7D-9E51-D2F6ABD1448E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87365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9BD760-2309-45CC-9BA4-6E908E385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DB26954-B389-495C-9684-FDD2F6D8B5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159695B-157C-4BF3-855A-19A664436A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E3AABBF-748B-4B46-BF8E-318B1DA47A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020BC1A-4FC6-49E6-AAA8-89DC95A61E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FD1DD31-3721-4D08-8C52-2A7EEDD64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A8C2D7F-045A-4901-BC47-3D1CD5C9D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70C6BD8-83CF-4DC3-8BDA-3D2D06BED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7CF93-7A73-4A08-97E3-0976BB421F6B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0108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7124A0-E649-48B1-9BAD-CF94FB630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8B27292-5741-4792-9197-1737DC1DB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9919BED-0C7C-4456-93E6-DDA687667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5AE6077-F52B-45B6-A1B4-48C759F08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59FEB-AB14-4DC2-8408-0C346AB01FA0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46550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F3B4104-1D02-4B2F-8D17-C041DEC7A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BFAA01A-6B48-44A9-A972-1EE30064A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B135C5-4639-46BC-BBF6-EE74B9131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067DA-EE15-4336-9D99-9DEB5E04CE60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21957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E57649-2241-4CE8-99FB-687812E2F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389CFC-0E8A-4CB9-AA6D-99BC6F824F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8DEAC34-FF9E-40A0-9E0C-519C0F7242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7645C49-7A78-4145-8893-C7996BBA5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9A16BD6-D2D5-4C14-9348-2FC976D0D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8203082-9F7B-4F19-B3F9-4CC342559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4A79A-A448-4637-A6C6-655E4E3152CA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05882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34340C-E96B-4617-AD81-0356A616F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42ECBC4-DA82-4A55-9EB2-100493CBA6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F07BCE6-B1BE-47B2-99AF-A8C6B58E07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A8656BF-863C-412E-9687-FC028E0DF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443DAFF-D0BB-42CB-9828-53B6AB4C2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5721857-4FC1-4949-B197-54A7CFA25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B1222-73B7-4E7A-A0B5-34A5C238C125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48089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4C0C3C-B230-4D78-AA8E-386D7B1E1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A0BFF19-04A2-4127-9DD2-C7D5B445E8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97019D-67E9-421C-AE8D-EF05EECA6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9299CE-DE7C-4D04-B2D8-EC62DB3D8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651838-340A-46DA-A91C-D54D5B7EE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18BE2-3262-4253-80BD-04B73B5250FA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70148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37B944A-2E2C-4B8F-B85A-ADAE37E856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D6E7752-4DA8-4E0F-85C6-442555A44D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C8FB52-0197-4BCE-A210-C40156EAD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F123DE-BB45-465E-B701-73F95E45F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1440E4-F929-447D-B043-1836D3211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8A97A-A3C6-4C1B-AE81-B60EDAD9FDC9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85694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B0C4D8E-DAE8-470E-A045-2B5686E22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6BB746-36EB-4D57-8144-2976C78417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3EDF99-D2B2-4F3B-9F0B-A31D862283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D89F58-9C63-4415-8E62-B20733312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C08E1B-1BEF-4E29-A0E2-FE3B81EBAB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B8A97A-A3C6-4C1B-AE81-B60EDAD9FDC9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61387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9263C0AD-A318-421E-A010-A5C3E3C5C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8025" y="438150"/>
            <a:ext cx="30924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None/>
            </a:pPr>
            <a:r>
              <a:rPr lang="zh-CN" altLang="en-US" sz="16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第</a:t>
            </a:r>
            <a:r>
              <a:rPr lang="en-US" altLang="zh-CN" sz="16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r>
              <a:rPr lang="zh-CN" altLang="en-US" sz="16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章  单片机接口技术</a:t>
            </a:r>
          </a:p>
        </p:txBody>
      </p:sp>
      <p:sp>
        <p:nvSpPr>
          <p:cNvPr id="1065988" name="Text Box 6">
            <a:extLst>
              <a:ext uri="{FF2B5EF4-FFF2-40B4-BE49-F238E27FC236}">
                <a16:creationId xmlns:a16="http://schemas.microsoft.com/office/drawing/2014/main" id="{7FD2080A-6087-4B51-82AA-93764C0A3D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0126" y="1755892"/>
            <a:ext cx="6296450" cy="2806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10000"/>
              </a:spcBef>
              <a:buFontTx/>
              <a:buNone/>
            </a:pPr>
            <a:r>
              <a:rPr kumimoji="0" lang="en-US" altLang="zh-CN" sz="2800" b="1" dirty="0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r>
              <a:rPr kumimoji="0" lang="zh-CN" altLang="zh-CN" sz="2800" b="1" dirty="0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.2</a:t>
            </a:r>
            <a:r>
              <a:rPr kumimoji="0" lang="en-US" altLang="zh-CN" sz="2800" b="1" dirty="0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kumimoji="0" lang="zh-CN" altLang="en-US" sz="2800" b="1" dirty="0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简单并行</a:t>
            </a:r>
            <a:r>
              <a:rPr kumimoji="0" lang="en-US" altLang="zh-CN" sz="2800" b="1" dirty="0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I/O</a:t>
            </a:r>
            <a:r>
              <a:rPr kumimoji="0" lang="zh-CN" altLang="en-US" sz="2800" b="1" dirty="0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口扩展</a:t>
            </a:r>
          </a:p>
          <a:p>
            <a:pPr algn="just" eaLnBrk="1" hangingPunct="1">
              <a:lnSpc>
                <a:spcPct val="150000"/>
              </a:lnSpc>
              <a:spcBef>
                <a:spcPct val="10000"/>
              </a:spcBef>
              <a:buFontTx/>
              <a:buNone/>
            </a:pPr>
            <a:r>
              <a:rPr kumimoji="0" lang="en-US" altLang="zh-CN" sz="2800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kumimoji="0" lang="en-US" altLang="zh-CN" sz="280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8.2.1 </a:t>
            </a:r>
            <a:r>
              <a:rPr kumimoji="0" lang="zh-CN" altLang="en-US" sz="280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访问扩展端口的软件方法</a:t>
            </a:r>
          </a:p>
          <a:p>
            <a:pPr algn="just" eaLnBrk="1" hangingPunct="1">
              <a:lnSpc>
                <a:spcPct val="150000"/>
              </a:lnSpc>
              <a:spcBef>
                <a:spcPct val="10000"/>
              </a:spcBef>
              <a:buFontTx/>
              <a:buNone/>
            </a:pPr>
            <a:r>
              <a:rPr kumimoji="0"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kumimoji="0"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8.2.2 </a:t>
            </a:r>
            <a:r>
              <a:rPr kumimoji="0"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简单并行输出接口的扩展 </a:t>
            </a:r>
          </a:p>
          <a:p>
            <a:pPr algn="just" eaLnBrk="1" hangingPunct="1">
              <a:lnSpc>
                <a:spcPct val="150000"/>
              </a:lnSpc>
              <a:spcBef>
                <a:spcPct val="10000"/>
              </a:spcBef>
              <a:buFontTx/>
              <a:buNone/>
            </a:pPr>
            <a:r>
              <a:rPr kumimoji="0"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8.2.2 </a:t>
            </a:r>
            <a:r>
              <a:rPr kumimoji="0"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简单并行输入接口的扩展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000" fill="hold"/>
                                        <p:tgtEl>
                                          <p:spTgt spid="10659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5">
            <a:extLst>
              <a:ext uri="{FF2B5EF4-FFF2-40B4-BE49-F238E27FC236}">
                <a16:creationId xmlns:a16="http://schemas.microsoft.com/office/drawing/2014/main" id="{CD5E521C-93BC-4AB3-9C43-9C3C392D23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zh-CN" sz="1800">
              <a:latin typeface="Calibri" panose="020F0502020204030204" pitchFamily="34" charset="0"/>
            </a:endParaRPr>
          </a:p>
        </p:txBody>
      </p:sp>
      <p:sp>
        <p:nvSpPr>
          <p:cNvPr id="1067012" name="Rectangle 5">
            <a:extLst>
              <a:ext uri="{FF2B5EF4-FFF2-40B4-BE49-F238E27FC236}">
                <a16:creationId xmlns:a16="http://schemas.microsoft.com/office/drawing/2014/main" id="{BA45B379-97E2-4162-9DBF-B64E7E7E77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125" y="2587625"/>
            <a:ext cx="6791325" cy="2505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30000"/>
              </a:spcBef>
              <a:buFontTx/>
              <a:buNone/>
            </a:pPr>
            <a:r>
              <a:rPr kumimoji="0" lang="en-US" altLang="zh-CN" sz="28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  <a:r>
              <a:rPr kumimoji="0" lang="zh-CN" altLang="en-US" sz="28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口扩展可有</a:t>
            </a:r>
            <a:r>
              <a:rPr kumimoji="0" lang="en-US" altLang="zh-CN" sz="28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kumimoji="0" lang="zh-CN" altLang="en-US" sz="28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种办法</a:t>
            </a:r>
            <a:r>
              <a:rPr kumimoji="0"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</a:p>
          <a:p>
            <a:pPr eaLnBrk="1" hangingPunct="1">
              <a:spcBef>
                <a:spcPct val="30000"/>
              </a:spcBef>
              <a:buFontTx/>
              <a:buNone/>
            </a:pPr>
            <a:r>
              <a:rPr kumimoji="0"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①采用锁存或缓冲芯片的</a:t>
            </a:r>
            <a:r>
              <a:rPr kumimoji="0" lang="zh-CN" altLang="en-US" sz="28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简单并行扩展</a:t>
            </a:r>
            <a:r>
              <a:rPr kumimoji="0"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</a:p>
          <a:p>
            <a:pPr eaLnBrk="1" hangingPunct="1">
              <a:spcBef>
                <a:spcPct val="10000"/>
              </a:spcBef>
              <a:buFontTx/>
              <a:buNone/>
            </a:pPr>
            <a:r>
              <a:rPr kumimoji="0"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②采用串口方式</a:t>
            </a:r>
            <a:r>
              <a:rPr kumimoji="0"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kumimoji="0"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kumimoji="0" lang="zh-CN" altLang="en-US" sz="28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串并转换扩展</a:t>
            </a:r>
            <a:r>
              <a:rPr kumimoji="0"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</a:p>
          <a:p>
            <a:pPr eaLnBrk="1" hangingPunct="1">
              <a:spcBef>
                <a:spcPct val="10000"/>
              </a:spcBef>
              <a:buFontTx/>
              <a:buNone/>
            </a:pPr>
            <a:r>
              <a:rPr kumimoji="0"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③采用可编程控制功能芯片的</a:t>
            </a:r>
            <a:r>
              <a:rPr kumimoji="0" lang="zh-CN" altLang="en-US" sz="28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并行扩展；</a:t>
            </a:r>
            <a:endParaRPr kumimoji="0" lang="en-US" altLang="zh-CN" sz="2800" b="1" dirty="0">
              <a:solidFill>
                <a:srgbClr val="FF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ct val="10000"/>
              </a:spcBef>
              <a:buNone/>
            </a:pPr>
            <a:r>
              <a:rPr kumimoji="0"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④采用通用串并转换器芯片的</a:t>
            </a:r>
            <a:r>
              <a:rPr kumimoji="0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并行扩展</a:t>
            </a:r>
            <a:r>
              <a:rPr kumimoji="0"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。 </a:t>
            </a:r>
            <a:endParaRPr kumimoji="0" lang="en-US" altLang="zh-C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124" name="Rectangle 2">
            <a:extLst>
              <a:ext uri="{FF2B5EF4-FFF2-40B4-BE49-F238E27FC236}">
                <a16:creationId xmlns:a16="http://schemas.microsoft.com/office/drawing/2014/main" id="{6C3E357E-E35B-40D3-8E32-E86244C642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8025" y="438150"/>
            <a:ext cx="30924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zh-CN" alt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第</a:t>
            </a:r>
            <a:r>
              <a:rPr lang="en-US" altLang="zh-CN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r>
              <a:rPr lang="zh-CN" alt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章  单片机接口技术</a:t>
            </a:r>
          </a:p>
        </p:txBody>
      </p:sp>
      <p:sp>
        <p:nvSpPr>
          <p:cNvPr id="5125" name="Text Box 12">
            <a:extLst>
              <a:ext uri="{FF2B5EF4-FFF2-40B4-BE49-F238E27FC236}">
                <a16:creationId xmlns:a16="http://schemas.microsoft.com/office/drawing/2014/main" id="{4018BD71-A5D2-4083-9CD2-BF975DC6D2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025" y="988665"/>
            <a:ext cx="747395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P0</a:t>
            </a:r>
            <a:r>
              <a:rPr kumimoji="0"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kumimoji="0"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P2</a:t>
            </a:r>
            <a:r>
              <a:rPr kumimoji="0"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口作为地址</a:t>
            </a:r>
            <a:r>
              <a:rPr kumimoji="0"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kumimoji="0"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数据总线后，留给用户使用的</a:t>
            </a:r>
            <a:r>
              <a:rPr kumimoji="0"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  <a:r>
              <a:rPr kumimoji="0"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口只有</a:t>
            </a:r>
            <a:r>
              <a:rPr kumimoji="0"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P1</a:t>
            </a:r>
            <a:r>
              <a:rPr kumimoji="0"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口和部分</a:t>
            </a:r>
            <a:r>
              <a:rPr kumimoji="0"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P3</a:t>
            </a:r>
            <a:r>
              <a:rPr kumimoji="0"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口，通常需要扩展</a:t>
            </a:r>
            <a:r>
              <a:rPr kumimoji="0"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  <a:r>
              <a:rPr kumimoji="0"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口数量。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67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70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5">
            <a:extLst>
              <a:ext uri="{FF2B5EF4-FFF2-40B4-BE49-F238E27FC236}">
                <a16:creationId xmlns:a16="http://schemas.microsoft.com/office/drawing/2014/main" id="{292DBBA6-820A-4892-BBF5-10CAA629ED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zh-CN" sz="1800">
              <a:latin typeface="Calibri" panose="020F0502020204030204" pitchFamily="34" charset="0"/>
            </a:endParaRPr>
          </a:p>
        </p:txBody>
      </p:sp>
      <p:sp>
        <p:nvSpPr>
          <p:cNvPr id="7171" name="Rectangle 4">
            <a:extLst>
              <a:ext uri="{FF2B5EF4-FFF2-40B4-BE49-F238E27FC236}">
                <a16:creationId xmlns:a16="http://schemas.microsoft.com/office/drawing/2014/main" id="{8121CA27-2ED8-48FD-AD8D-F0FB8602C7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813" y="387387"/>
            <a:ext cx="786288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10000"/>
              </a:spcBef>
              <a:buFontTx/>
              <a:buNone/>
            </a:pPr>
            <a:r>
              <a:rPr kumimoji="0" lang="en-US" altLang="zh-CN" sz="28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8.2.1 </a:t>
            </a:r>
            <a:r>
              <a:rPr kumimoji="0" lang="zh-CN" altLang="en-US" sz="28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访问扩展端口的软件方法</a:t>
            </a:r>
          </a:p>
        </p:txBody>
      </p:sp>
      <p:sp>
        <p:nvSpPr>
          <p:cNvPr id="7172" name="Rectangle 2">
            <a:extLst>
              <a:ext uri="{FF2B5EF4-FFF2-40B4-BE49-F238E27FC236}">
                <a16:creationId xmlns:a16="http://schemas.microsoft.com/office/drawing/2014/main" id="{6FA24DA8-F209-48FB-82AA-3F4992D466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8025" y="438150"/>
            <a:ext cx="30924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None/>
            </a:pPr>
            <a:r>
              <a:rPr lang="zh-CN" alt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第</a:t>
            </a:r>
            <a:r>
              <a:rPr lang="en-US" altLang="zh-CN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r>
              <a:rPr lang="zh-CN" alt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章  单片机接口技术</a:t>
            </a:r>
          </a:p>
        </p:txBody>
      </p:sp>
      <p:pic>
        <p:nvPicPr>
          <p:cNvPr id="1458188" name="Picture 12">
            <a:extLst>
              <a:ext uri="{FF2B5EF4-FFF2-40B4-BE49-F238E27FC236}">
                <a16:creationId xmlns:a16="http://schemas.microsoft.com/office/drawing/2014/main" id="{99A62DB1-D878-4640-B6F9-144E7C83EE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494136"/>
              </a:clrFrom>
              <a:clrTo>
                <a:srgbClr val="49413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57" t="14755" r="22116" b="46469"/>
          <a:stretch>
            <a:fillRect/>
          </a:stretch>
        </p:blipFill>
        <p:spPr bwMode="auto">
          <a:xfrm>
            <a:off x="277813" y="2421556"/>
            <a:ext cx="4294187" cy="23066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F715EC4-D7E0-4B51-AD65-F6590C9D80B8}"/>
              </a:ext>
            </a:extLst>
          </p:cNvPr>
          <p:cNvSpPr/>
          <p:nvPr/>
        </p:nvSpPr>
        <p:spPr>
          <a:xfrm>
            <a:off x="277813" y="1065917"/>
            <a:ext cx="85979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zh-CN" altLang="zh-CN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采用</a:t>
            </a:r>
            <a:r>
              <a:rPr lang="en-US" altLang="zh-CN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51</a:t>
            </a:r>
            <a:r>
              <a:rPr lang="zh-CN" altLang="zh-CN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单片机片外总线的实质是将单片机的</a:t>
            </a:r>
            <a:r>
              <a:rPr lang="en-US" altLang="zh-CN" sz="2400" b="1" kern="1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64KB</a:t>
            </a:r>
            <a:r>
              <a:rPr lang="zh-CN" altLang="zh-CN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片外</a:t>
            </a:r>
            <a:r>
              <a:rPr lang="en-US" altLang="zh-CN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RAM</a:t>
            </a:r>
            <a:r>
              <a:rPr lang="zh-CN" altLang="zh-CN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作为扩展端口和外接存储器的公用地址空间，统一编址。</a:t>
            </a:r>
            <a:r>
              <a:rPr lang="zh-CN" altLang="zh-CN" sz="2400" b="1" kern="100" dirty="0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单片机对扩展端口的访问其实就是对片外</a:t>
            </a:r>
            <a:r>
              <a:rPr lang="en-US" altLang="zh-CN" sz="2400" b="1" kern="100" dirty="0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RAM</a:t>
            </a:r>
            <a:r>
              <a:rPr lang="zh-CN" altLang="zh-CN" sz="2400" b="1" kern="100" dirty="0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地址的访问</a:t>
            </a:r>
            <a:r>
              <a:rPr lang="zh-CN" altLang="zh-CN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</a:rPr>
              <a:t>。</a:t>
            </a:r>
          </a:p>
        </p:txBody>
      </p:sp>
      <p:pic>
        <p:nvPicPr>
          <p:cNvPr id="12" name="Picture 12">
            <a:extLst>
              <a:ext uri="{FF2B5EF4-FFF2-40B4-BE49-F238E27FC236}">
                <a16:creationId xmlns:a16="http://schemas.microsoft.com/office/drawing/2014/main" id="{534DE857-0CAD-494F-9B5E-4DB53221B0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494136"/>
              </a:clrFrom>
              <a:clrTo>
                <a:srgbClr val="49413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57" t="52704" r="22116" b="8504"/>
          <a:stretch>
            <a:fillRect/>
          </a:stretch>
        </p:blipFill>
        <p:spPr bwMode="auto">
          <a:xfrm>
            <a:off x="4572000" y="2421556"/>
            <a:ext cx="4303713" cy="2311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3F03FFD2-F805-4E1D-9C6B-E5B8EC937663}"/>
              </a:ext>
            </a:extLst>
          </p:cNvPr>
          <p:cNvSpPr/>
          <p:nvPr/>
        </p:nvSpPr>
        <p:spPr>
          <a:xfrm>
            <a:off x="222250" y="4728194"/>
            <a:ext cx="8699500" cy="1570037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zh-CN" altLang="zh-CN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当单片机进行</a:t>
            </a:r>
            <a:r>
              <a:rPr lang="en-US" altLang="zh-CN" sz="2400" b="1" kern="1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xdata</a:t>
            </a:r>
            <a:r>
              <a:rPr lang="zh-CN" altLang="zh-CN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存储区内变量的读</a:t>
            </a:r>
            <a:r>
              <a:rPr lang="en-US" altLang="zh-CN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zh-CN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写操作时，单片机若干引脚上将出现</a:t>
            </a:r>
            <a:r>
              <a:rPr lang="zh-CN" altLang="en-US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上</a:t>
            </a:r>
            <a:r>
              <a:rPr lang="zh-CN" altLang="zh-CN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图所示的时序变化，其中图（</a:t>
            </a:r>
            <a:r>
              <a:rPr lang="en-US" altLang="zh-CN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zh-CN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）对应于变量读操作，图（</a:t>
            </a:r>
            <a:r>
              <a:rPr lang="en-US" altLang="zh-CN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zh-CN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）对应于变量写操作，理解这些时序对端口扩展电路的设计非常重要。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8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58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5">
            <a:extLst>
              <a:ext uri="{FF2B5EF4-FFF2-40B4-BE49-F238E27FC236}">
                <a16:creationId xmlns:a16="http://schemas.microsoft.com/office/drawing/2014/main" id="{149C5605-0D99-4D3F-A82C-AE3D743BBD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zh-CN" sz="1800">
              <a:latin typeface="Calibri" panose="020F0502020204030204" pitchFamily="34" charset="0"/>
            </a:endParaRP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E789F664-656C-4C7A-BE74-1776BE6B9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8025" y="438150"/>
            <a:ext cx="30924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None/>
            </a:pPr>
            <a:r>
              <a:rPr lang="zh-CN" altLang="en-US" sz="16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第</a:t>
            </a:r>
            <a:r>
              <a:rPr lang="en-US" altLang="zh-CN" sz="16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r>
              <a:rPr lang="zh-CN" altLang="en-US" sz="16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章  单片机接口技术</a:t>
            </a:r>
          </a:p>
        </p:txBody>
      </p:sp>
      <p:pic>
        <p:nvPicPr>
          <p:cNvPr id="1458188" name="Picture 12">
            <a:extLst>
              <a:ext uri="{FF2B5EF4-FFF2-40B4-BE49-F238E27FC236}">
                <a16:creationId xmlns:a16="http://schemas.microsoft.com/office/drawing/2014/main" id="{3EE895EB-DAE1-4C98-A0F9-843C6AB160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494136"/>
              </a:clrFrom>
              <a:clrTo>
                <a:srgbClr val="49413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57" t="14755" r="22116" b="46469"/>
          <a:stretch>
            <a:fillRect/>
          </a:stretch>
        </p:blipFill>
        <p:spPr bwMode="auto">
          <a:xfrm>
            <a:off x="325438" y="1074738"/>
            <a:ext cx="4294187" cy="23066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id="{5739B341-A373-46E8-BF32-99E4B0B74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494136"/>
              </a:clrFrom>
              <a:clrTo>
                <a:srgbClr val="49413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57" t="52704" r="22116" b="8504"/>
          <a:stretch>
            <a:fillRect/>
          </a:stretch>
        </p:blipFill>
        <p:spPr bwMode="auto">
          <a:xfrm>
            <a:off x="4619625" y="1074738"/>
            <a:ext cx="4302125" cy="2311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48036363-6F77-4099-B7F3-3781EBC3EF8D}"/>
              </a:ext>
            </a:extLst>
          </p:cNvPr>
          <p:cNvSpPr/>
          <p:nvPr/>
        </p:nvSpPr>
        <p:spPr>
          <a:xfrm>
            <a:off x="222250" y="3503032"/>
            <a:ext cx="8699500" cy="2741135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ts val="3000"/>
              </a:lnSpc>
              <a:spcAft>
                <a:spcPts val="0"/>
              </a:spcAft>
              <a:defRPr/>
            </a:pPr>
            <a:r>
              <a:rPr lang="zh-CN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在</a:t>
            </a: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S1</a:t>
            </a:r>
            <a:r>
              <a:rPr lang="zh-CN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～</a:t>
            </a: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S3</a:t>
            </a:r>
            <a:r>
              <a:rPr lang="zh-CN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期间，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主要进行</a:t>
            </a: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P0</a:t>
            </a:r>
            <a:r>
              <a:rPr lang="zh-CN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口的低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位地址锁存过程，而</a:t>
            </a: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S4</a:t>
            </a:r>
            <a:r>
              <a:rPr lang="zh-CN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～</a:t>
            </a: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S6</a:t>
            </a:r>
            <a:r>
              <a:rPr lang="zh-CN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期间则是将扩展端口中的数据读入到单片机中，或将单片机中的数据写入扩展端口中的过程。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>
              <a:lnSpc>
                <a:spcPts val="3000"/>
              </a:lnSpc>
              <a:spcAft>
                <a:spcPts val="0"/>
              </a:spcAft>
              <a:defRPr/>
            </a:pPr>
            <a:r>
              <a:rPr lang="zh-CN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在变量读操作的</a:t>
            </a: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S4P1</a:t>
            </a:r>
            <a:r>
              <a:rPr lang="zh-CN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～</a:t>
            </a: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S6P2</a:t>
            </a:r>
            <a:r>
              <a:rPr lang="zh-CN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期间出现了一次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/RD</a:t>
            </a:r>
            <a:r>
              <a:rPr lang="zh-CN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负脉冲信号，而在同期的变量写操作期间则出现了一次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WR</a:t>
            </a:r>
            <a:r>
              <a:rPr lang="zh-CN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负脉冲信号。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/RD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WR</a:t>
            </a:r>
            <a:r>
              <a:rPr lang="zh-CN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信号都有外部相应引脚，即</a:t>
            </a: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P3.7</a:t>
            </a:r>
            <a:r>
              <a:rPr lang="zh-CN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/RD</a:t>
            </a:r>
            <a:r>
              <a:rPr lang="zh-CN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P3.6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WR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），</a:t>
            </a:r>
            <a:r>
              <a:rPr lang="zh-CN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它们是片外控制总线的组成部分。</a:t>
            </a:r>
            <a:endParaRPr lang="zh-CN" altLang="zh-CN" sz="2400" b="1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8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58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5">
            <a:extLst>
              <a:ext uri="{FF2B5EF4-FFF2-40B4-BE49-F238E27FC236}">
                <a16:creationId xmlns:a16="http://schemas.microsoft.com/office/drawing/2014/main" id="{14C5D4AA-DE73-458B-9F43-B0F70513DC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zh-CN" sz="1800">
              <a:latin typeface="Calibri" panose="020F0502020204030204" pitchFamily="34" charset="0"/>
            </a:endParaRPr>
          </a:p>
        </p:txBody>
      </p:sp>
      <p:sp>
        <p:nvSpPr>
          <p:cNvPr id="11267" name="Rectangle 5">
            <a:extLst>
              <a:ext uri="{FF2B5EF4-FFF2-40B4-BE49-F238E27FC236}">
                <a16:creationId xmlns:a16="http://schemas.microsoft.com/office/drawing/2014/main" id="{4C3CC4CC-13B1-40CB-A4F3-12F5CD8B2A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85775"/>
            <a:ext cx="8313738" cy="2148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en-US" altLang="zh-CN" sz="2800" b="1" dirty="0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C51</a:t>
            </a:r>
            <a:r>
              <a:rPr lang="zh-CN" altLang="zh-CN" sz="2800" b="1" dirty="0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语言</a:t>
            </a:r>
            <a:r>
              <a:rPr lang="zh-CN" altLang="en-US" sz="2800" b="1" dirty="0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对</a:t>
            </a:r>
            <a:r>
              <a:rPr lang="zh-CN" altLang="zh-CN" sz="2800" b="1" dirty="0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片外</a:t>
            </a:r>
            <a:r>
              <a:rPr lang="en-US" altLang="zh-CN" sz="2800" b="1" dirty="0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RAM</a:t>
            </a:r>
            <a:r>
              <a:rPr lang="zh-CN" altLang="zh-CN" sz="2800" b="1" dirty="0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绝对地址的访问</a:t>
            </a:r>
            <a:r>
              <a:rPr lang="zh-CN" altLang="en-US" sz="2800" b="1" dirty="0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方法：</a:t>
            </a:r>
            <a:endParaRPr lang="zh-CN" altLang="zh-CN" sz="2800" b="1" dirty="0">
              <a:solidFill>
                <a:srgbClr val="0066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buFontTx/>
              <a:buNone/>
            </a:pPr>
            <a:r>
              <a:rPr lang="zh-CN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方法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采用宏定义文件</a:t>
            </a: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absacc.h</a:t>
            </a:r>
            <a:r>
              <a:rPr lang="zh-CN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定义绝对地址变量</a:t>
            </a:r>
          </a:p>
          <a:p>
            <a:pPr>
              <a:buFontTx/>
              <a:buNone/>
            </a:pPr>
            <a:r>
              <a:rPr lang="zh-CN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宏定义文件</a:t>
            </a: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absacc.h</a:t>
            </a:r>
            <a:r>
              <a:rPr lang="zh-CN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中包含绝对地址访问的函数原型，为了以字节形式对</a:t>
            </a: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xdata</a:t>
            </a:r>
            <a:r>
              <a:rPr lang="zh-CN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存储空间寻址，需要在程序开始处添加语句：</a:t>
            </a:r>
          </a:p>
        </p:txBody>
      </p:sp>
      <p:sp>
        <p:nvSpPr>
          <p:cNvPr id="1070087" name="Rectangle 8">
            <a:extLst>
              <a:ext uri="{FF2B5EF4-FFF2-40B4-BE49-F238E27FC236}">
                <a16:creationId xmlns:a16="http://schemas.microsoft.com/office/drawing/2014/main" id="{D597D704-59D2-4037-8AE9-68ACD7AA53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375" y="3796448"/>
            <a:ext cx="72723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例如，对占用片外</a:t>
            </a:r>
            <a:r>
              <a:rPr kumimoji="0"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RAM 1000H</a:t>
            </a:r>
            <a:r>
              <a:rPr kumimoji="0"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的端口进行读写操作：</a:t>
            </a:r>
          </a:p>
        </p:txBody>
      </p:sp>
      <p:sp>
        <p:nvSpPr>
          <p:cNvPr id="11269" name="Rectangle 4">
            <a:extLst>
              <a:ext uri="{FF2B5EF4-FFF2-40B4-BE49-F238E27FC236}">
                <a16:creationId xmlns:a16="http://schemas.microsoft.com/office/drawing/2014/main" id="{EA438EA0-3050-4636-AD21-41FD8E6CA8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131" y="2692178"/>
            <a:ext cx="7629738" cy="93196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79388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buFontTx/>
              <a:buNone/>
            </a:pPr>
            <a:r>
              <a:rPr lang="en-US" altLang="zh-CN" sz="20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#include &lt;</a:t>
            </a:r>
            <a:r>
              <a:rPr lang="en-US" altLang="zh-CN" sz="2000" b="1" dirty="0" err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absacc.h</a:t>
            </a:r>
            <a:r>
              <a:rPr lang="en-US" altLang="zh-CN" sz="20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&gt;              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//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含有宏定义的包含语句</a:t>
            </a:r>
          </a:p>
          <a:p>
            <a:pPr lvl="1" eaLnBrk="1" hangingPunct="1">
              <a:buFontTx/>
              <a:buNone/>
            </a:pPr>
            <a:r>
              <a:rPr lang="en-US" altLang="zh-CN" sz="20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#define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变量名 </a:t>
            </a:r>
            <a:r>
              <a:rPr lang="en-US" altLang="zh-CN" sz="20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XBYTE [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地址常数</a:t>
            </a:r>
            <a:r>
              <a:rPr lang="en-US" altLang="zh-CN" sz="20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] 	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//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地址定义语句</a:t>
            </a:r>
          </a:p>
        </p:txBody>
      </p:sp>
      <p:pic>
        <p:nvPicPr>
          <p:cNvPr id="11271" name="图片 1">
            <a:extLst>
              <a:ext uri="{FF2B5EF4-FFF2-40B4-BE49-F238E27FC236}">
                <a16:creationId xmlns:a16="http://schemas.microsoft.com/office/drawing/2014/main" id="{EAE38839-C442-49B7-BDF1-54E517CBCB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375" y="4425950"/>
            <a:ext cx="8053388" cy="200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70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008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5">
            <a:extLst>
              <a:ext uri="{FF2B5EF4-FFF2-40B4-BE49-F238E27FC236}">
                <a16:creationId xmlns:a16="http://schemas.microsoft.com/office/drawing/2014/main" id="{0CB440B9-D678-4C10-A481-6DEC94D744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zh-CN" sz="1800">
              <a:latin typeface="Calibri" panose="020F0502020204030204" pitchFamily="34" charset="0"/>
            </a:endParaRPr>
          </a:p>
        </p:txBody>
      </p:sp>
      <p:sp>
        <p:nvSpPr>
          <p:cNvPr id="13315" name="矩形 4">
            <a:extLst>
              <a:ext uri="{FF2B5EF4-FFF2-40B4-BE49-F238E27FC236}">
                <a16:creationId xmlns:a16="http://schemas.microsoft.com/office/drawing/2014/main" id="{F6C138AE-67D5-4DFC-A047-73811F39CE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475" y="942975"/>
            <a:ext cx="7712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方法</a:t>
            </a:r>
            <a:r>
              <a:rPr kumimoji="0" lang="en-US" altLang="zh-CN"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kumimoji="0"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：利用</a:t>
            </a:r>
            <a:r>
              <a:rPr kumimoji="0" lang="en-US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xdata</a:t>
            </a:r>
            <a:r>
              <a:rPr kumimoji="0"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型指针变量对外设端口进行操作</a:t>
            </a:r>
          </a:p>
        </p:txBody>
      </p:sp>
      <p:sp>
        <p:nvSpPr>
          <p:cNvPr id="1071108" name="Rectangle 1">
            <a:extLst>
              <a:ext uri="{FF2B5EF4-FFF2-40B4-BE49-F238E27FC236}">
                <a16:creationId xmlns:a16="http://schemas.microsoft.com/office/drawing/2014/main" id="{9655F2ED-C8A6-4C43-BF84-5F120AC1BE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888" y="2166938"/>
            <a:ext cx="6448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276225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例如，针对上述举例，程序设计如下：</a:t>
            </a:r>
            <a:endParaRPr kumimoji="0"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3317" name="Rectangle 2">
            <a:extLst>
              <a:ext uri="{FF2B5EF4-FFF2-40B4-BE49-F238E27FC236}">
                <a16:creationId xmlns:a16="http://schemas.microsoft.com/office/drawing/2014/main" id="{E9A138D3-7144-405A-A7A4-C26ED98120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8025" y="438150"/>
            <a:ext cx="30924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None/>
            </a:pPr>
            <a:r>
              <a:rPr lang="zh-CN" alt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第</a:t>
            </a:r>
            <a:r>
              <a:rPr lang="en-US" altLang="zh-CN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r>
              <a:rPr lang="zh-CN" alt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章  单片机接口技术</a:t>
            </a:r>
          </a:p>
        </p:txBody>
      </p:sp>
      <p:sp>
        <p:nvSpPr>
          <p:cNvPr id="13318" name="Rectangle 4">
            <a:extLst>
              <a:ext uri="{FF2B5EF4-FFF2-40B4-BE49-F238E27FC236}">
                <a16:creationId xmlns:a16="http://schemas.microsoft.com/office/drawing/2014/main" id="{2EC79C4B-1677-4D49-9D91-F72619DDA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737" y="1541463"/>
            <a:ext cx="7858125" cy="3873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79388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数据类型  </a:t>
            </a:r>
            <a:r>
              <a:rPr lang="en-US" altLang="zh-CN" sz="2400" b="1" dirty="0" err="1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xdata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* [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存储类型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2] 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变量名 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[=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地址常数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]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</a:p>
        </p:txBody>
      </p:sp>
      <p:pic>
        <p:nvPicPr>
          <p:cNvPr id="13319" name="图片 1">
            <a:extLst>
              <a:ext uri="{FF2B5EF4-FFF2-40B4-BE49-F238E27FC236}">
                <a16:creationId xmlns:a16="http://schemas.microsoft.com/office/drawing/2014/main" id="{2FBA15F5-8437-4BC8-9819-23CEB9AA4F4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30"/>
          <a:stretch/>
        </p:blipFill>
        <p:spPr bwMode="auto">
          <a:xfrm>
            <a:off x="820737" y="2862263"/>
            <a:ext cx="7735463" cy="2343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71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110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5">
            <a:extLst>
              <a:ext uri="{FF2B5EF4-FFF2-40B4-BE49-F238E27FC236}">
                <a16:creationId xmlns:a16="http://schemas.microsoft.com/office/drawing/2014/main" id="{D49DA04E-6B50-4014-B4F1-58A77270A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zh-CN" sz="1800">
              <a:latin typeface="Calibri" panose="020F0502020204030204" pitchFamily="34" charset="0"/>
            </a:endParaRPr>
          </a:p>
        </p:txBody>
      </p:sp>
      <p:sp>
        <p:nvSpPr>
          <p:cNvPr id="15363" name="矩形 4">
            <a:extLst>
              <a:ext uri="{FF2B5EF4-FFF2-40B4-BE49-F238E27FC236}">
                <a16:creationId xmlns:a16="http://schemas.microsoft.com/office/drawing/2014/main" id="{B74C5BB0-52F4-4BAC-8437-3842B081C1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" y="1212850"/>
            <a:ext cx="7712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方法</a:t>
            </a:r>
            <a:r>
              <a:rPr kumimoji="0" lang="fr-FR" altLang="zh-CN"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kumimoji="0" lang="zh-CN" altLang="fr-FR"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：</a:t>
            </a:r>
            <a:r>
              <a:rPr kumimoji="0" lang="zh-CN" altLang="fr-FR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采用</a:t>
            </a:r>
            <a:r>
              <a:rPr kumimoji="0" lang="fr-FR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_at_</a:t>
            </a:r>
            <a:r>
              <a:rPr kumimoji="0" lang="zh-CN" altLang="fr-FR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关键字访问片外</a:t>
            </a:r>
            <a:r>
              <a:rPr kumimoji="0" lang="fr-FR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RAM</a:t>
            </a:r>
            <a:r>
              <a:rPr kumimoji="0" lang="zh-CN" altLang="fr-FR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绝对地址</a:t>
            </a:r>
            <a:endParaRPr kumimoji="0" lang="zh-CN" altLang="en-US" sz="2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60228" name="Rectangle 1">
            <a:extLst>
              <a:ext uri="{FF2B5EF4-FFF2-40B4-BE49-F238E27FC236}">
                <a16:creationId xmlns:a16="http://schemas.microsoft.com/office/drawing/2014/main" id="{82965FFD-2C7B-4523-82D7-5562ABDFB5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" y="1803400"/>
            <a:ext cx="8074025" cy="1293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5000"/>
              </a:spcBef>
              <a:buFontTx/>
              <a:buNone/>
            </a:pPr>
            <a:r>
              <a:rPr kumimoji="0"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使用</a:t>
            </a:r>
            <a:r>
              <a:rPr kumimoji="0" lang="fr-FR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_at_</a:t>
            </a:r>
            <a:r>
              <a:rPr kumimoji="0" lang="zh-CN" altLang="fr-FR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可对指定存储器空间的</a:t>
            </a:r>
            <a:r>
              <a:rPr kumimoji="0" lang="zh-CN" altLang="fr-FR" sz="2400" b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绝对地址定位</a:t>
            </a:r>
            <a:r>
              <a:rPr kumimoji="0" lang="zh-CN" altLang="fr-FR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，但使用</a:t>
            </a:r>
            <a:r>
              <a:rPr kumimoji="0" lang="fr-FR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_at_</a:t>
            </a:r>
            <a:r>
              <a:rPr kumimoji="0" lang="zh-CN" altLang="fr-FR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定义的变量只能为全局变量。</a:t>
            </a:r>
          </a:p>
          <a:p>
            <a:pPr eaLnBrk="1" hangingPunct="1">
              <a:spcBef>
                <a:spcPct val="25000"/>
              </a:spcBef>
              <a:buFontTx/>
              <a:buNone/>
            </a:pPr>
            <a:r>
              <a:rPr kumimoji="0" lang="zh-CN" altLang="fr-FR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例如：</a:t>
            </a:r>
          </a:p>
        </p:txBody>
      </p:sp>
      <p:sp>
        <p:nvSpPr>
          <p:cNvPr id="15365" name="Rectangle 2">
            <a:extLst>
              <a:ext uri="{FF2B5EF4-FFF2-40B4-BE49-F238E27FC236}">
                <a16:creationId xmlns:a16="http://schemas.microsoft.com/office/drawing/2014/main" id="{F1990899-C38E-4067-BFB9-51B1879D9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8025" y="438150"/>
            <a:ext cx="30924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zh-CN" alt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第</a:t>
            </a:r>
            <a:r>
              <a:rPr lang="en-US" altLang="zh-CN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r>
              <a:rPr lang="zh-CN" alt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章  单片机接口技术</a:t>
            </a:r>
          </a:p>
        </p:txBody>
      </p:sp>
      <p:pic>
        <p:nvPicPr>
          <p:cNvPr id="15366" name="图片 1">
            <a:extLst>
              <a:ext uri="{FF2B5EF4-FFF2-40B4-BE49-F238E27FC236}">
                <a16:creationId xmlns:a16="http://schemas.microsoft.com/office/drawing/2014/main" id="{51D82408-D649-4C44-92F4-8039A4EED4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3287713"/>
            <a:ext cx="7899400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02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602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02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602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B0FDD072-7D93-4C27-A320-CDA460EC18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8025" y="438150"/>
            <a:ext cx="30924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None/>
            </a:pPr>
            <a:r>
              <a:rPr lang="zh-CN" alt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第</a:t>
            </a:r>
            <a:r>
              <a:rPr lang="en-US" altLang="zh-CN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r>
              <a:rPr lang="zh-CN" alt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章  单片机接口技术</a:t>
            </a:r>
          </a:p>
        </p:txBody>
      </p:sp>
      <p:sp>
        <p:nvSpPr>
          <p:cNvPr id="17411" name="矩形 1">
            <a:extLst>
              <a:ext uri="{FF2B5EF4-FFF2-40B4-BE49-F238E27FC236}">
                <a16:creationId xmlns:a16="http://schemas.microsoft.com/office/drawing/2014/main" id="{C12572D7-46B0-4525-AE32-D700DB1241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888" y="958850"/>
            <a:ext cx="542007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800" b="1" dirty="0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8.2.2 </a:t>
            </a:r>
            <a:r>
              <a:rPr kumimoji="0" lang="zh-CN" altLang="en-US" sz="2800" b="1" dirty="0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简单并行输出接口的扩展</a:t>
            </a:r>
            <a:r>
              <a:rPr kumimoji="0"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lang="zh-CN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id="{6FC99556-4821-4122-9BD4-4A92A7D671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275" y="1630363"/>
            <a:ext cx="7964488" cy="3865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在单片机的并行接口扩展中，常采用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TTL</a:t>
            </a:r>
            <a:r>
              <a:rPr lang="zh-CN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CMOS</a:t>
            </a:r>
            <a:r>
              <a:rPr lang="zh-CN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锁存器、缓冲器构成简单扩展接口，这类扩展电路的特点是电路口线少、利用率高。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根据接口芯片的功能可以实现输出扩展或输入扩展两种类型，选择芯片的原则是“</a:t>
            </a:r>
            <a:r>
              <a:rPr lang="zh-CN" altLang="zh-CN" sz="2400" b="1" dirty="0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输入三态，输出锁存</a:t>
            </a:r>
            <a:r>
              <a:rPr lang="zh-CN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”，即扩展输入端的芯片应具有三态门功能，以使信号可控选通；扩展输出端的芯片则要具有锁存功能，以使输出端可与前级信号隔离。</a:t>
            </a:r>
            <a:endParaRPr kumimoji="0"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56FD2DD5-E879-4EC9-A997-9D39418CFD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081088"/>
            <a:ext cx="784383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3525" indent="-263525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</a:rPr>
              <a:t>简单并行扩展常用接口芯片</a:t>
            </a:r>
            <a:r>
              <a:rPr kumimoji="0"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</a:rPr>
              <a:t>: 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kumimoji="0"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</a:rPr>
              <a:t>74LS 273</a:t>
            </a:r>
            <a:r>
              <a:rPr kumimoji="0"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</a:rPr>
              <a:t>、</a:t>
            </a:r>
            <a:r>
              <a:rPr kumimoji="0"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</a:rPr>
              <a:t>377 </a:t>
            </a:r>
            <a:r>
              <a:rPr kumimoji="0"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</a:rPr>
              <a:t>、</a:t>
            </a:r>
            <a:r>
              <a:rPr kumimoji="0"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</a:rPr>
              <a:t>244</a:t>
            </a:r>
            <a:r>
              <a:rPr kumimoji="0"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</a:rPr>
              <a:t>、</a:t>
            </a:r>
            <a:r>
              <a:rPr kumimoji="0"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</a:rPr>
              <a:t>373</a:t>
            </a:r>
            <a:r>
              <a:rPr kumimoji="0"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</a:rPr>
              <a:t>等 </a:t>
            </a:r>
          </a:p>
        </p:txBody>
      </p:sp>
      <p:pic>
        <p:nvPicPr>
          <p:cNvPr id="19459" name="Picture 3">
            <a:extLst>
              <a:ext uri="{FF2B5EF4-FFF2-40B4-BE49-F238E27FC236}">
                <a16:creationId xmlns:a16="http://schemas.microsoft.com/office/drawing/2014/main" id="{878D4B33-A3F9-4CEF-9911-73E08001D9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E0E0D0"/>
              </a:clrFrom>
              <a:clrTo>
                <a:srgbClr val="E0E0D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93" t="22792" r="2838" b="32687"/>
          <a:stretch>
            <a:fillRect/>
          </a:stretch>
        </p:blipFill>
        <p:spPr bwMode="auto">
          <a:xfrm>
            <a:off x="838200" y="2136775"/>
            <a:ext cx="7729538" cy="2652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0" name="Rectangle 2">
            <a:extLst>
              <a:ext uri="{FF2B5EF4-FFF2-40B4-BE49-F238E27FC236}">
                <a16:creationId xmlns:a16="http://schemas.microsoft.com/office/drawing/2014/main" id="{40A5829E-15FC-4E6D-A8E7-256428AD75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8025" y="438150"/>
            <a:ext cx="30924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zh-CN" alt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第</a:t>
            </a:r>
            <a:r>
              <a:rPr lang="en-US" altLang="zh-CN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r>
              <a:rPr lang="zh-CN" alt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章  单片机接口技术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9">
            <a:extLst>
              <a:ext uri="{FF2B5EF4-FFF2-40B4-BE49-F238E27FC236}">
                <a16:creationId xmlns:a16="http://schemas.microsoft.com/office/drawing/2014/main" id="{9F0DBFAE-A821-43EF-9B0A-622120E175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E0E0D0"/>
              </a:clrFrom>
              <a:clrTo>
                <a:srgbClr val="E0E0D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41" t="23833" r="33698" b="16687"/>
          <a:stretch>
            <a:fillRect/>
          </a:stretch>
        </p:blipFill>
        <p:spPr bwMode="auto">
          <a:xfrm>
            <a:off x="870110" y="1632744"/>
            <a:ext cx="1511300" cy="189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7" name="Text Box 10">
            <a:extLst>
              <a:ext uri="{FF2B5EF4-FFF2-40B4-BE49-F238E27FC236}">
                <a16:creationId xmlns:a16="http://schemas.microsoft.com/office/drawing/2014/main" id="{0B7C3A6F-B52D-4E9C-9BFE-D84F99D6D8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038" y="931863"/>
            <a:ext cx="65865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00000"/>
              </a:spcBef>
              <a:buFontTx/>
              <a:buNone/>
            </a:pPr>
            <a:r>
              <a:rPr kumimoji="0" lang="en-US" altLang="zh-CN" sz="2400" b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</a:rPr>
              <a:t>74LS273</a:t>
            </a:r>
            <a:r>
              <a:rPr kumimoji="0"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</a:rPr>
              <a:t>用于扩展并行</a:t>
            </a:r>
            <a:r>
              <a:rPr kumimoji="0" lang="zh-CN" altLang="en-US" sz="2400" b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</a:rPr>
              <a:t>输出口</a:t>
            </a:r>
          </a:p>
        </p:txBody>
      </p:sp>
      <p:sp>
        <p:nvSpPr>
          <p:cNvPr id="1238025" name="Text Box 3">
            <a:extLst>
              <a:ext uri="{FF2B5EF4-FFF2-40B4-BE49-F238E27FC236}">
                <a16:creationId xmlns:a16="http://schemas.microsoft.com/office/drawing/2014/main" id="{EF544531-8571-4A09-A3B9-EC0878550D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4108450"/>
            <a:ext cx="607218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4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原理</a:t>
            </a:r>
            <a:r>
              <a:rPr kumimoji="0"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kumimoji="0"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/MR</a:t>
            </a:r>
            <a:r>
              <a:rPr kumimoji="0"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端为高电平时，</a:t>
            </a:r>
            <a:r>
              <a:rPr kumimoji="0"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  <a:r>
              <a:rPr kumimoji="0"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端信号在</a:t>
            </a:r>
            <a:r>
              <a:rPr kumimoji="0"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CP</a:t>
            </a:r>
            <a:r>
              <a:rPr kumimoji="0"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端负脉冲作用下锁存到</a:t>
            </a:r>
            <a:r>
              <a:rPr kumimoji="0"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Q</a:t>
            </a:r>
            <a:r>
              <a:rPr kumimoji="0"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端，此后</a:t>
            </a:r>
            <a:r>
              <a:rPr kumimoji="0"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  <a:r>
              <a:rPr kumimoji="0"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与</a:t>
            </a:r>
            <a:r>
              <a:rPr kumimoji="0"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Q</a:t>
            </a:r>
            <a:r>
              <a:rPr kumimoji="0"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隔离。</a:t>
            </a:r>
          </a:p>
        </p:txBody>
      </p:sp>
      <p:sp>
        <p:nvSpPr>
          <p:cNvPr id="1238026" name="Text Box 3">
            <a:extLst>
              <a:ext uri="{FF2B5EF4-FFF2-40B4-BE49-F238E27FC236}">
                <a16:creationId xmlns:a16="http://schemas.microsoft.com/office/drawing/2014/main" id="{D42A2B58-114A-424B-A147-14585938B8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8190" y="5293519"/>
            <a:ext cx="8291512" cy="84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4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用法</a:t>
            </a:r>
            <a:r>
              <a:rPr kumimoji="0"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</a:p>
          <a:p>
            <a:pPr eaLnBrk="1" hangingPunct="1">
              <a:spcBef>
                <a:spcPct val="5000"/>
              </a:spcBef>
              <a:buFontTx/>
              <a:buNone/>
            </a:pPr>
            <a:r>
              <a:rPr kumimoji="0"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kumimoji="0"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MR→Vcc</a:t>
            </a:r>
            <a:r>
              <a:rPr kumimoji="0"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kumimoji="0"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CP</a:t>
            </a:r>
            <a:r>
              <a:rPr kumimoji="0"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→负脉冲源，</a:t>
            </a:r>
            <a:r>
              <a:rPr kumimoji="0"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kumimoji="0"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→接</a:t>
            </a:r>
            <a:r>
              <a:rPr kumimoji="0"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P0</a:t>
            </a:r>
            <a:r>
              <a:rPr kumimoji="0"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kumimoji="0"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Q</a:t>
            </a:r>
            <a:r>
              <a:rPr kumimoji="0" lang="en-US" altLang="zh-CN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kumimoji="0"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→外设输入端</a:t>
            </a:r>
          </a:p>
        </p:txBody>
      </p:sp>
      <p:pic>
        <p:nvPicPr>
          <p:cNvPr id="21510" name="Picture 11">
            <a:extLst>
              <a:ext uri="{FF2B5EF4-FFF2-40B4-BE49-F238E27FC236}">
                <a16:creationId xmlns:a16="http://schemas.microsoft.com/office/drawing/2014/main" id="{5B13402B-D4CE-412D-98FC-559725C5A0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0320" y="1537494"/>
            <a:ext cx="5935979" cy="1935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1" name="Rectangle 2">
            <a:extLst>
              <a:ext uri="{FF2B5EF4-FFF2-40B4-BE49-F238E27FC236}">
                <a16:creationId xmlns:a16="http://schemas.microsoft.com/office/drawing/2014/main" id="{A2974455-11D3-4236-819A-E0018E349A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8025" y="438150"/>
            <a:ext cx="30924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None/>
            </a:pPr>
            <a:r>
              <a:rPr lang="zh-CN" alt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第</a:t>
            </a:r>
            <a:r>
              <a:rPr lang="en-US" altLang="zh-CN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r>
              <a:rPr lang="zh-CN" alt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章  单片机接口技术</a:t>
            </a:r>
          </a:p>
        </p:txBody>
      </p:sp>
      <p:sp>
        <p:nvSpPr>
          <p:cNvPr id="1238029" name="Rectangle 13">
            <a:extLst>
              <a:ext uri="{FF2B5EF4-FFF2-40B4-BE49-F238E27FC236}">
                <a16:creationId xmlns:a16="http://schemas.microsoft.com/office/drawing/2014/main" id="{844044E4-11C6-41A7-AC67-02679B481A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125" y="3671888"/>
            <a:ext cx="71326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组成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个带清零功能和负边沿触发的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D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触发器 </a:t>
            </a:r>
          </a:p>
        </p:txBody>
      </p:sp>
      <p:pic>
        <p:nvPicPr>
          <p:cNvPr id="1238030" name="Picture 14" descr="090101094191521">
            <a:extLst>
              <a:ext uri="{FF2B5EF4-FFF2-40B4-BE49-F238E27FC236}">
                <a16:creationId xmlns:a16="http://schemas.microsoft.com/office/drawing/2014/main" id="{50E422CA-8D7C-4A75-BF54-618CA90402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92" t="71635" r="35944" b="-679"/>
          <a:stretch>
            <a:fillRect/>
          </a:stretch>
        </p:blipFill>
        <p:spPr bwMode="auto">
          <a:xfrm>
            <a:off x="7013098" y="3429000"/>
            <a:ext cx="1993900" cy="1935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376C0AC5-6BC7-486D-991B-A5CB0D6D1F60}"/>
              </a:ext>
            </a:extLst>
          </p:cNvPr>
          <p:cNvSpPr txBox="1"/>
          <p:nvPr/>
        </p:nvSpPr>
        <p:spPr>
          <a:xfrm>
            <a:off x="2441576" y="1925786"/>
            <a:ext cx="355600" cy="21544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CLK</a:t>
            </a:r>
            <a:endParaRPr lang="zh-CN" altLang="en-US" sz="14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0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380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38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38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38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8025" grpId="0"/>
      <p:bldP spid="123802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>
            <a:extLst>
              <a:ext uri="{FF2B5EF4-FFF2-40B4-BE49-F238E27FC236}">
                <a16:creationId xmlns:a16="http://schemas.microsoft.com/office/drawing/2014/main" id="{18C6E4F4-0D4A-4141-90E8-BAA02C30EC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713" y="380065"/>
            <a:ext cx="8139112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实例</a:t>
            </a:r>
            <a:r>
              <a:rPr kumimoji="0"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1 </a:t>
            </a:r>
            <a:r>
              <a:rPr kumimoji="0"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扩展并行输出口</a:t>
            </a:r>
            <a:endParaRPr kumimoji="0" lang="en-US" altLang="zh-CN" sz="24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利用两片</a:t>
            </a:r>
            <a:r>
              <a:rPr kumimoji="0"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74LS273</a:t>
            </a:r>
            <a:r>
              <a:rPr kumimoji="0"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，使</a:t>
            </a:r>
            <a:r>
              <a:rPr kumimoji="0"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P0</a:t>
            </a:r>
            <a:r>
              <a:rPr kumimoji="0"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口扩展成</a:t>
            </a:r>
            <a:r>
              <a:rPr kumimoji="0"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16</a:t>
            </a:r>
            <a:r>
              <a:rPr kumimoji="0"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位并行输出口，且使其外接</a:t>
            </a:r>
            <a:r>
              <a:rPr kumimoji="0"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LED</a:t>
            </a:r>
            <a:r>
              <a:rPr kumimoji="0"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按</a:t>
            </a:r>
            <a:r>
              <a:rPr kumimoji="0"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1010 1010 0000 1111</a:t>
            </a:r>
            <a:r>
              <a:rPr kumimoji="0"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的规律发光。</a:t>
            </a:r>
          </a:p>
        </p:txBody>
      </p:sp>
      <p:grpSp>
        <p:nvGrpSpPr>
          <p:cNvPr id="23555" name="Group 3">
            <a:extLst>
              <a:ext uri="{FF2B5EF4-FFF2-40B4-BE49-F238E27FC236}">
                <a16:creationId xmlns:a16="http://schemas.microsoft.com/office/drawing/2014/main" id="{734B8D53-1EBD-45FE-BFAC-723B57416C3A}"/>
              </a:ext>
            </a:extLst>
          </p:cNvPr>
          <p:cNvGrpSpPr>
            <a:grpSpLocks/>
          </p:cNvGrpSpPr>
          <p:nvPr/>
        </p:nvGrpSpPr>
        <p:grpSpPr bwMode="auto">
          <a:xfrm>
            <a:off x="1690688" y="1903095"/>
            <a:ext cx="6000750" cy="4572000"/>
            <a:chOff x="766" y="1105"/>
            <a:chExt cx="4035" cy="2938"/>
          </a:xfrm>
        </p:grpSpPr>
        <p:pic>
          <p:nvPicPr>
            <p:cNvPr id="23558" name="Picture 4" descr="11">
              <a:extLst>
                <a:ext uri="{FF2B5EF4-FFF2-40B4-BE49-F238E27FC236}">
                  <a16:creationId xmlns:a16="http://schemas.microsoft.com/office/drawing/2014/main" id="{2AE3802B-2EBB-45B7-B9C3-079763A09C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325" t="10150" r="9708" b="9111"/>
            <a:stretch>
              <a:fillRect/>
            </a:stretch>
          </p:blipFill>
          <p:spPr bwMode="auto">
            <a:xfrm>
              <a:off x="766" y="1105"/>
              <a:ext cx="4035" cy="2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559" name="Rectangle 5">
              <a:extLst>
                <a:ext uri="{FF2B5EF4-FFF2-40B4-BE49-F238E27FC236}">
                  <a16:creationId xmlns:a16="http://schemas.microsoft.com/office/drawing/2014/main" id="{7C21546F-4C5B-403A-A71B-90C1EDC1E9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2" y="1169"/>
              <a:ext cx="853" cy="8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3560" name="Rectangle 6">
              <a:extLst>
                <a:ext uri="{FF2B5EF4-FFF2-40B4-BE49-F238E27FC236}">
                  <a16:creationId xmlns:a16="http://schemas.microsoft.com/office/drawing/2014/main" id="{09EA757D-37DE-425E-B7C0-5F0272528C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2" y="2441"/>
              <a:ext cx="289" cy="2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3561" name="Rectangle 7">
              <a:extLst>
                <a:ext uri="{FF2B5EF4-FFF2-40B4-BE49-F238E27FC236}">
                  <a16:creationId xmlns:a16="http://schemas.microsoft.com/office/drawing/2014/main" id="{92CEA065-29BA-45FE-A532-952E8408C7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2" y="2075"/>
              <a:ext cx="239" cy="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3562" name="Rectangle 8">
              <a:extLst>
                <a:ext uri="{FF2B5EF4-FFF2-40B4-BE49-F238E27FC236}">
                  <a16:creationId xmlns:a16="http://schemas.microsoft.com/office/drawing/2014/main" id="{960BECC2-24D6-4945-AAD5-F9E2D01CBE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2125"/>
              <a:ext cx="239" cy="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3563" name="Rectangle 9">
              <a:extLst>
                <a:ext uri="{FF2B5EF4-FFF2-40B4-BE49-F238E27FC236}">
                  <a16:creationId xmlns:a16="http://schemas.microsoft.com/office/drawing/2014/main" id="{788FEA56-BAF8-4F86-8632-764C1C44C9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4" y="2177"/>
              <a:ext cx="239" cy="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3564" name="Rectangle 10">
              <a:extLst>
                <a:ext uri="{FF2B5EF4-FFF2-40B4-BE49-F238E27FC236}">
                  <a16:creationId xmlns:a16="http://schemas.microsoft.com/office/drawing/2014/main" id="{C63D3EB0-E673-4656-B407-4062D0576D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8" y="2229"/>
              <a:ext cx="239" cy="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3565" name="Rectangle 11">
              <a:extLst>
                <a:ext uri="{FF2B5EF4-FFF2-40B4-BE49-F238E27FC236}">
                  <a16:creationId xmlns:a16="http://schemas.microsoft.com/office/drawing/2014/main" id="{9F2DA5F3-EFDE-4EA9-8257-7B60655F11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2281"/>
              <a:ext cx="239" cy="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3566" name="Rectangle 12">
              <a:extLst>
                <a:ext uri="{FF2B5EF4-FFF2-40B4-BE49-F238E27FC236}">
                  <a16:creationId xmlns:a16="http://schemas.microsoft.com/office/drawing/2014/main" id="{FD5EA01D-C14C-4FF0-9761-FB5F8AF5EF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2331"/>
              <a:ext cx="239" cy="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3567" name="Rectangle 13">
              <a:extLst>
                <a:ext uri="{FF2B5EF4-FFF2-40B4-BE49-F238E27FC236}">
                  <a16:creationId xmlns:a16="http://schemas.microsoft.com/office/drawing/2014/main" id="{6D9CCDB1-8031-495F-8596-F61BF2D987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4" y="2381"/>
              <a:ext cx="239" cy="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3568" name="Rectangle 14">
              <a:extLst>
                <a:ext uri="{FF2B5EF4-FFF2-40B4-BE49-F238E27FC236}">
                  <a16:creationId xmlns:a16="http://schemas.microsoft.com/office/drawing/2014/main" id="{A9891236-8485-4AD9-812B-12EB629835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4" y="2435"/>
              <a:ext cx="239" cy="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3569" name="Rectangle 15">
              <a:extLst>
                <a:ext uri="{FF2B5EF4-FFF2-40B4-BE49-F238E27FC236}">
                  <a16:creationId xmlns:a16="http://schemas.microsoft.com/office/drawing/2014/main" id="{434DBA17-354F-4251-BB9B-B5F1F9FCD8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0" y="1999"/>
              <a:ext cx="199" cy="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3570" name="Rectangle 16">
              <a:extLst>
                <a:ext uri="{FF2B5EF4-FFF2-40B4-BE49-F238E27FC236}">
                  <a16:creationId xmlns:a16="http://schemas.microsoft.com/office/drawing/2014/main" id="{E89DAB62-B1CD-4040-93A2-839A66639C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0" y="2689"/>
              <a:ext cx="239" cy="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3571" name="Rectangle 17">
              <a:extLst>
                <a:ext uri="{FF2B5EF4-FFF2-40B4-BE49-F238E27FC236}">
                  <a16:creationId xmlns:a16="http://schemas.microsoft.com/office/drawing/2014/main" id="{ED44148A-2DA5-4872-878C-E9EE0F5FAE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8" y="1947"/>
              <a:ext cx="239" cy="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</p:grpSp>
      <p:sp>
        <p:nvSpPr>
          <p:cNvPr id="1248276" name="Text Box 4">
            <a:extLst>
              <a:ext uri="{FF2B5EF4-FFF2-40B4-BE49-F238E27FC236}">
                <a16:creationId xmlns:a16="http://schemas.microsoft.com/office/drawing/2014/main" id="{5D8A5DC1-3D2E-49AF-B06C-5FA66E8532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713" y="4573588"/>
            <a:ext cx="3270250" cy="9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与通用</a:t>
            </a:r>
            <a:r>
              <a:rPr kumimoji="0"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  <a:r>
              <a:rPr kumimoji="0"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口方式相比</a:t>
            </a:r>
            <a:r>
              <a:rPr kumimoji="0"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</a:p>
          <a:p>
            <a:pPr eaLnBrk="1" hangingPunct="1">
              <a:buFontTx/>
              <a:buNone/>
            </a:pPr>
            <a:r>
              <a:rPr kumimoji="0"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P0</a:t>
            </a:r>
            <a:r>
              <a:rPr kumimoji="0"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口无需上拉电阻。</a:t>
            </a:r>
          </a:p>
        </p:txBody>
      </p:sp>
      <p:sp>
        <p:nvSpPr>
          <p:cNvPr id="23557" name="Rectangle 2">
            <a:extLst>
              <a:ext uri="{FF2B5EF4-FFF2-40B4-BE49-F238E27FC236}">
                <a16:creationId xmlns:a16="http://schemas.microsoft.com/office/drawing/2014/main" id="{01DFA84D-BD68-4865-A3B6-22C34C7DCB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8025" y="438150"/>
            <a:ext cx="30924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zh-CN" alt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第</a:t>
            </a:r>
            <a:r>
              <a:rPr lang="en-US" altLang="zh-CN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r>
              <a:rPr lang="zh-CN" alt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章  单片机接口技术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48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827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02" name="Group 3">
            <a:extLst>
              <a:ext uri="{FF2B5EF4-FFF2-40B4-BE49-F238E27FC236}">
                <a16:creationId xmlns:a16="http://schemas.microsoft.com/office/drawing/2014/main" id="{47F0FC31-9E9A-44E0-93BB-06F080D76CEC}"/>
              </a:ext>
            </a:extLst>
          </p:cNvPr>
          <p:cNvGrpSpPr>
            <a:grpSpLocks/>
          </p:cNvGrpSpPr>
          <p:nvPr/>
        </p:nvGrpSpPr>
        <p:grpSpPr bwMode="auto">
          <a:xfrm>
            <a:off x="2003425" y="2830513"/>
            <a:ext cx="5435600" cy="3736975"/>
            <a:chOff x="766" y="1105"/>
            <a:chExt cx="4035" cy="2938"/>
          </a:xfrm>
        </p:grpSpPr>
        <p:pic>
          <p:nvPicPr>
            <p:cNvPr id="25605" name="Picture 4" descr="11">
              <a:extLst>
                <a:ext uri="{FF2B5EF4-FFF2-40B4-BE49-F238E27FC236}">
                  <a16:creationId xmlns:a16="http://schemas.microsoft.com/office/drawing/2014/main" id="{615CD36F-653D-484B-A5A7-40F9E38B41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325" t="10150" r="9708" b="9111"/>
            <a:stretch>
              <a:fillRect/>
            </a:stretch>
          </p:blipFill>
          <p:spPr bwMode="auto">
            <a:xfrm>
              <a:off x="766" y="1105"/>
              <a:ext cx="4035" cy="2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606" name="Rectangle 5">
              <a:extLst>
                <a:ext uri="{FF2B5EF4-FFF2-40B4-BE49-F238E27FC236}">
                  <a16:creationId xmlns:a16="http://schemas.microsoft.com/office/drawing/2014/main" id="{AEBF65AE-7E98-4ABA-82DC-8475AD94CA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2" y="1169"/>
              <a:ext cx="853" cy="8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5607" name="Rectangle 6">
              <a:extLst>
                <a:ext uri="{FF2B5EF4-FFF2-40B4-BE49-F238E27FC236}">
                  <a16:creationId xmlns:a16="http://schemas.microsoft.com/office/drawing/2014/main" id="{4A1182B7-8738-42CA-A5F3-A9F074CDC9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2" y="2441"/>
              <a:ext cx="289" cy="2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5608" name="Rectangle 7">
              <a:extLst>
                <a:ext uri="{FF2B5EF4-FFF2-40B4-BE49-F238E27FC236}">
                  <a16:creationId xmlns:a16="http://schemas.microsoft.com/office/drawing/2014/main" id="{EA3666A8-D6BF-4596-81B6-76A7940E6D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2" y="2075"/>
              <a:ext cx="239" cy="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5609" name="Rectangle 8">
              <a:extLst>
                <a:ext uri="{FF2B5EF4-FFF2-40B4-BE49-F238E27FC236}">
                  <a16:creationId xmlns:a16="http://schemas.microsoft.com/office/drawing/2014/main" id="{057DB2B1-E9E0-4714-8405-3F5831A6F3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2125"/>
              <a:ext cx="239" cy="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5610" name="Rectangle 9">
              <a:extLst>
                <a:ext uri="{FF2B5EF4-FFF2-40B4-BE49-F238E27FC236}">
                  <a16:creationId xmlns:a16="http://schemas.microsoft.com/office/drawing/2014/main" id="{6773C838-DD89-427B-967E-2331CE49C1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4" y="2177"/>
              <a:ext cx="239" cy="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5611" name="Rectangle 10">
              <a:extLst>
                <a:ext uri="{FF2B5EF4-FFF2-40B4-BE49-F238E27FC236}">
                  <a16:creationId xmlns:a16="http://schemas.microsoft.com/office/drawing/2014/main" id="{171C0BC4-86F0-4759-B319-91D41CB265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8" y="2229"/>
              <a:ext cx="239" cy="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5612" name="Rectangle 11">
              <a:extLst>
                <a:ext uri="{FF2B5EF4-FFF2-40B4-BE49-F238E27FC236}">
                  <a16:creationId xmlns:a16="http://schemas.microsoft.com/office/drawing/2014/main" id="{3D9226CD-0313-4160-861C-BD1989EC7F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2281"/>
              <a:ext cx="239" cy="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5613" name="Rectangle 12">
              <a:extLst>
                <a:ext uri="{FF2B5EF4-FFF2-40B4-BE49-F238E27FC236}">
                  <a16:creationId xmlns:a16="http://schemas.microsoft.com/office/drawing/2014/main" id="{EEA2E275-D778-43E0-A6C5-906A7ABD9A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2331"/>
              <a:ext cx="239" cy="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5614" name="Rectangle 13">
              <a:extLst>
                <a:ext uri="{FF2B5EF4-FFF2-40B4-BE49-F238E27FC236}">
                  <a16:creationId xmlns:a16="http://schemas.microsoft.com/office/drawing/2014/main" id="{C5318509-A723-4866-84EB-125E514243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4" y="2381"/>
              <a:ext cx="239" cy="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5615" name="Rectangle 14">
              <a:extLst>
                <a:ext uri="{FF2B5EF4-FFF2-40B4-BE49-F238E27FC236}">
                  <a16:creationId xmlns:a16="http://schemas.microsoft.com/office/drawing/2014/main" id="{26255FEC-5440-4F21-8380-0C044EDC03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4" y="2435"/>
              <a:ext cx="239" cy="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5616" name="Rectangle 15">
              <a:extLst>
                <a:ext uri="{FF2B5EF4-FFF2-40B4-BE49-F238E27FC236}">
                  <a16:creationId xmlns:a16="http://schemas.microsoft.com/office/drawing/2014/main" id="{C72A65B0-3249-4760-8B5C-A562203DDD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0" y="1999"/>
              <a:ext cx="199" cy="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5617" name="Rectangle 16">
              <a:extLst>
                <a:ext uri="{FF2B5EF4-FFF2-40B4-BE49-F238E27FC236}">
                  <a16:creationId xmlns:a16="http://schemas.microsoft.com/office/drawing/2014/main" id="{08A56621-F71D-46FC-AD18-BC6096881C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0" y="2689"/>
              <a:ext cx="239" cy="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5618" name="Rectangle 17">
              <a:extLst>
                <a:ext uri="{FF2B5EF4-FFF2-40B4-BE49-F238E27FC236}">
                  <a16:creationId xmlns:a16="http://schemas.microsoft.com/office/drawing/2014/main" id="{B6BED58B-3EEE-4370-9E46-9D436E0954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8" y="1947"/>
              <a:ext cx="239" cy="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</p:grpSp>
      <p:sp>
        <p:nvSpPr>
          <p:cNvPr id="25603" name="Text Box 4">
            <a:extLst>
              <a:ext uri="{FF2B5EF4-FFF2-40B4-BE49-F238E27FC236}">
                <a16:creationId xmlns:a16="http://schemas.microsoft.com/office/drawing/2014/main" id="{1EB895A8-32B8-499B-B66A-09F90F4E95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185" y="819109"/>
            <a:ext cx="8316913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分析</a:t>
            </a:r>
            <a:r>
              <a:rPr kumimoji="0"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要使两片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74273</a:t>
            </a:r>
            <a:r>
              <a:rPr lang="zh-CN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锁存输出不同的数据，只要给每片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74273</a:t>
            </a:r>
            <a:r>
              <a:rPr lang="zh-CN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CLK</a:t>
            </a:r>
            <a:r>
              <a:rPr lang="zh-CN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端施加由不同地址信息与</a:t>
            </a:r>
            <a:r>
              <a:rPr lang="zh-CN" altLang="zh-CN" sz="2400" dirty="0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负脉冲</a:t>
            </a:r>
            <a:r>
              <a:rPr lang="zh-CN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合成的时钟信号即可。</a:t>
            </a:r>
            <a:endParaRPr lang="en-US" altLang="zh-CN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做法：使用两片或门电路，在或门输入端各接一根地址线和一根公用的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/WR</a:t>
            </a:r>
            <a:r>
              <a:rPr lang="zh-CN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信号线，或门的输出端分别接到两片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74273</a:t>
            </a:r>
            <a:r>
              <a:rPr lang="zh-CN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CLK</a:t>
            </a:r>
            <a:r>
              <a:rPr lang="zh-CN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端。</a:t>
            </a:r>
            <a:endParaRPr kumimoji="0" lang="zh-CN" alt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5604" name="Rectangle 2">
            <a:extLst>
              <a:ext uri="{FF2B5EF4-FFF2-40B4-BE49-F238E27FC236}">
                <a16:creationId xmlns:a16="http://schemas.microsoft.com/office/drawing/2014/main" id="{03DBF11D-6131-41F5-BF22-1A5CF88B79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8025" y="438150"/>
            <a:ext cx="30924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None/>
            </a:pPr>
            <a:r>
              <a:rPr lang="zh-CN" altLang="en-US" sz="16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第</a:t>
            </a:r>
            <a:r>
              <a:rPr lang="en-US" altLang="zh-CN" sz="16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r>
              <a:rPr lang="zh-CN" altLang="en-US" sz="16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章  单片机接口技术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50" name="Group 3">
            <a:extLst>
              <a:ext uri="{FF2B5EF4-FFF2-40B4-BE49-F238E27FC236}">
                <a16:creationId xmlns:a16="http://schemas.microsoft.com/office/drawing/2014/main" id="{B32E8FB9-D557-44A6-89BF-9FE10020D191}"/>
              </a:ext>
            </a:extLst>
          </p:cNvPr>
          <p:cNvGrpSpPr>
            <a:grpSpLocks/>
          </p:cNvGrpSpPr>
          <p:nvPr/>
        </p:nvGrpSpPr>
        <p:grpSpPr bwMode="auto">
          <a:xfrm>
            <a:off x="2589213" y="1628775"/>
            <a:ext cx="5969000" cy="4435475"/>
            <a:chOff x="766" y="1105"/>
            <a:chExt cx="4035" cy="2938"/>
          </a:xfrm>
        </p:grpSpPr>
        <p:pic>
          <p:nvPicPr>
            <p:cNvPr id="27656" name="Picture 4" descr="11">
              <a:extLst>
                <a:ext uri="{FF2B5EF4-FFF2-40B4-BE49-F238E27FC236}">
                  <a16:creationId xmlns:a16="http://schemas.microsoft.com/office/drawing/2014/main" id="{D645CDAE-CB51-4BE5-9A2D-04D9720421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325" t="10150" r="9708" b="9111"/>
            <a:stretch>
              <a:fillRect/>
            </a:stretch>
          </p:blipFill>
          <p:spPr bwMode="auto">
            <a:xfrm>
              <a:off x="766" y="1105"/>
              <a:ext cx="4035" cy="2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657" name="Rectangle 5">
              <a:extLst>
                <a:ext uri="{FF2B5EF4-FFF2-40B4-BE49-F238E27FC236}">
                  <a16:creationId xmlns:a16="http://schemas.microsoft.com/office/drawing/2014/main" id="{80AF1738-D12F-4D28-91DB-2BB1AF60F1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2" y="1169"/>
              <a:ext cx="853" cy="8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7658" name="Rectangle 6">
              <a:extLst>
                <a:ext uri="{FF2B5EF4-FFF2-40B4-BE49-F238E27FC236}">
                  <a16:creationId xmlns:a16="http://schemas.microsoft.com/office/drawing/2014/main" id="{F8696DE1-5503-48F0-A3A7-A7FADA00C6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2" y="2441"/>
              <a:ext cx="289" cy="2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7659" name="Rectangle 7">
              <a:extLst>
                <a:ext uri="{FF2B5EF4-FFF2-40B4-BE49-F238E27FC236}">
                  <a16:creationId xmlns:a16="http://schemas.microsoft.com/office/drawing/2014/main" id="{9F9166D6-2168-423F-9C5D-3864E6653A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2" y="2075"/>
              <a:ext cx="239" cy="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7660" name="Rectangle 8">
              <a:extLst>
                <a:ext uri="{FF2B5EF4-FFF2-40B4-BE49-F238E27FC236}">
                  <a16:creationId xmlns:a16="http://schemas.microsoft.com/office/drawing/2014/main" id="{3E7EF25B-8362-4349-9AB2-4A1FBD618D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2125"/>
              <a:ext cx="239" cy="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7661" name="Rectangle 9">
              <a:extLst>
                <a:ext uri="{FF2B5EF4-FFF2-40B4-BE49-F238E27FC236}">
                  <a16:creationId xmlns:a16="http://schemas.microsoft.com/office/drawing/2014/main" id="{8B2C8AFF-0657-4398-B237-872A3C2123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4" y="2177"/>
              <a:ext cx="239" cy="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7662" name="Rectangle 10">
              <a:extLst>
                <a:ext uri="{FF2B5EF4-FFF2-40B4-BE49-F238E27FC236}">
                  <a16:creationId xmlns:a16="http://schemas.microsoft.com/office/drawing/2014/main" id="{02050992-5C9D-4B85-AFBA-8C3D1A05E9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8" y="2229"/>
              <a:ext cx="239" cy="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7663" name="Rectangle 11">
              <a:extLst>
                <a:ext uri="{FF2B5EF4-FFF2-40B4-BE49-F238E27FC236}">
                  <a16:creationId xmlns:a16="http://schemas.microsoft.com/office/drawing/2014/main" id="{E35DC535-04B5-4267-913B-7935F419A5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2281"/>
              <a:ext cx="239" cy="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7664" name="Rectangle 12">
              <a:extLst>
                <a:ext uri="{FF2B5EF4-FFF2-40B4-BE49-F238E27FC236}">
                  <a16:creationId xmlns:a16="http://schemas.microsoft.com/office/drawing/2014/main" id="{E061ECCE-31DE-4793-8954-47DAD28AFD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2331"/>
              <a:ext cx="239" cy="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7665" name="Rectangle 13">
              <a:extLst>
                <a:ext uri="{FF2B5EF4-FFF2-40B4-BE49-F238E27FC236}">
                  <a16:creationId xmlns:a16="http://schemas.microsoft.com/office/drawing/2014/main" id="{5699B64C-A543-4897-B972-A8746E1A73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4" y="2381"/>
              <a:ext cx="239" cy="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7666" name="Rectangle 14">
              <a:extLst>
                <a:ext uri="{FF2B5EF4-FFF2-40B4-BE49-F238E27FC236}">
                  <a16:creationId xmlns:a16="http://schemas.microsoft.com/office/drawing/2014/main" id="{DD952FA3-6B54-4942-9185-6968FE90D3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4" y="2435"/>
              <a:ext cx="239" cy="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7667" name="Rectangle 15">
              <a:extLst>
                <a:ext uri="{FF2B5EF4-FFF2-40B4-BE49-F238E27FC236}">
                  <a16:creationId xmlns:a16="http://schemas.microsoft.com/office/drawing/2014/main" id="{B9D6CB7F-2898-4AFB-B916-DBC126F5E2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0" y="1999"/>
              <a:ext cx="199" cy="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7668" name="Rectangle 16">
              <a:extLst>
                <a:ext uri="{FF2B5EF4-FFF2-40B4-BE49-F238E27FC236}">
                  <a16:creationId xmlns:a16="http://schemas.microsoft.com/office/drawing/2014/main" id="{484C8582-A150-4412-B601-0F3ECCC119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0" y="2689"/>
              <a:ext cx="239" cy="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27669" name="Rectangle 17">
              <a:extLst>
                <a:ext uri="{FF2B5EF4-FFF2-40B4-BE49-F238E27FC236}">
                  <a16:creationId xmlns:a16="http://schemas.microsoft.com/office/drawing/2014/main" id="{83B73F48-B44A-411C-874C-CF69C7E665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8" y="1947"/>
              <a:ext cx="239" cy="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</p:grpSp>
      <p:sp>
        <p:nvSpPr>
          <p:cNvPr id="27651" name="Text Box 4">
            <a:extLst>
              <a:ext uri="{FF2B5EF4-FFF2-40B4-BE49-F238E27FC236}">
                <a16:creationId xmlns:a16="http://schemas.microsoft.com/office/drawing/2014/main" id="{AE48CFB5-546F-4934-AD84-916D3A1A33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763" y="805326"/>
            <a:ext cx="809466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分析：两个</a:t>
            </a:r>
            <a:r>
              <a:rPr kumimoji="0"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273</a:t>
            </a:r>
            <a:r>
              <a:rPr kumimoji="0"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锁存不同</a:t>
            </a:r>
            <a:r>
              <a:rPr kumimoji="0"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P0</a:t>
            </a:r>
            <a:r>
              <a:rPr kumimoji="0"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数据的关键是，</a:t>
            </a:r>
            <a:r>
              <a:rPr kumimoji="0"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CLK</a:t>
            </a:r>
            <a:r>
              <a:rPr kumimoji="0"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端信号应为</a:t>
            </a:r>
            <a:r>
              <a:rPr kumimoji="0" lang="zh-CN" altLang="en-US" sz="24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包含不同地址信息的锁存脉冲</a:t>
            </a:r>
            <a:r>
              <a:rPr kumimoji="0"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  <p:sp>
        <p:nvSpPr>
          <p:cNvPr id="27652" name="Rectangle 2">
            <a:extLst>
              <a:ext uri="{FF2B5EF4-FFF2-40B4-BE49-F238E27FC236}">
                <a16:creationId xmlns:a16="http://schemas.microsoft.com/office/drawing/2014/main" id="{7462C5DD-793D-4489-9392-72B5644B8A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8025" y="438150"/>
            <a:ext cx="30924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zh-CN" altLang="en-US" sz="1600"/>
              <a:t>第</a:t>
            </a:r>
            <a:r>
              <a:rPr lang="en-US" altLang="zh-CN" sz="1600"/>
              <a:t>8</a:t>
            </a:r>
            <a:r>
              <a:rPr lang="zh-CN" altLang="en-US" sz="1600"/>
              <a:t>章  单片机接口技术</a:t>
            </a:r>
          </a:p>
        </p:txBody>
      </p:sp>
      <p:grpSp>
        <p:nvGrpSpPr>
          <p:cNvPr id="1086495" name="Group 31">
            <a:extLst>
              <a:ext uri="{FF2B5EF4-FFF2-40B4-BE49-F238E27FC236}">
                <a16:creationId xmlns:a16="http://schemas.microsoft.com/office/drawing/2014/main" id="{E4DC3175-B3F2-4908-8718-00A2FEC5113E}"/>
              </a:ext>
            </a:extLst>
          </p:cNvPr>
          <p:cNvGrpSpPr>
            <a:grpSpLocks/>
          </p:cNvGrpSpPr>
          <p:nvPr/>
        </p:nvGrpSpPr>
        <p:grpSpPr bwMode="auto">
          <a:xfrm>
            <a:off x="512763" y="3738563"/>
            <a:ext cx="4284662" cy="2457450"/>
            <a:chOff x="282" y="2369"/>
            <a:chExt cx="2699" cy="1548"/>
          </a:xfrm>
        </p:grpSpPr>
        <p:pic>
          <p:nvPicPr>
            <p:cNvPr id="27654" name="Picture 28">
              <a:extLst>
                <a:ext uri="{FF2B5EF4-FFF2-40B4-BE49-F238E27FC236}">
                  <a16:creationId xmlns:a16="http://schemas.microsoft.com/office/drawing/2014/main" id="{AA1EC027-4DD6-407F-A494-FD73E5F055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057" t="52660" r="22116" b="11739"/>
            <a:stretch>
              <a:fillRect/>
            </a:stretch>
          </p:blipFill>
          <p:spPr bwMode="auto">
            <a:xfrm>
              <a:off x="282" y="2587"/>
              <a:ext cx="2699" cy="133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7655" name="Text Box 30">
              <a:extLst>
                <a:ext uri="{FF2B5EF4-FFF2-40B4-BE49-F238E27FC236}">
                  <a16:creationId xmlns:a16="http://schemas.microsoft.com/office/drawing/2014/main" id="{38A2012A-0888-426E-B5A7-35C2871CFF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" y="2369"/>
              <a:ext cx="1087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zh-CN" altLang="en-US" sz="1600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86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8" descr="11">
            <a:extLst>
              <a:ext uri="{FF2B5EF4-FFF2-40B4-BE49-F238E27FC236}">
                <a16:creationId xmlns:a16="http://schemas.microsoft.com/office/drawing/2014/main" id="{08B26BAB-6FB1-4E05-9B0B-AB23265904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07" t="12320" r="39394" b="29909"/>
          <a:stretch>
            <a:fillRect/>
          </a:stretch>
        </p:blipFill>
        <p:spPr bwMode="auto">
          <a:xfrm>
            <a:off x="300038" y="1479550"/>
            <a:ext cx="3692842" cy="5138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4953" name="Rectangle 9">
            <a:extLst>
              <a:ext uri="{FF2B5EF4-FFF2-40B4-BE49-F238E27FC236}">
                <a16:creationId xmlns:a16="http://schemas.microsoft.com/office/drawing/2014/main" id="{B093AA0C-8FA5-4A33-8DAF-3F22DDA626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8713" y="1589088"/>
            <a:ext cx="1641475" cy="15636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29700" name="Text Box 11">
            <a:extLst>
              <a:ext uri="{FF2B5EF4-FFF2-40B4-BE49-F238E27FC236}">
                <a16:creationId xmlns:a16="http://schemas.microsoft.com/office/drawing/2014/main" id="{C48E9A5A-992B-4005-B51F-B64D3B99A6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713" y="920750"/>
            <a:ext cx="8242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如何将</a:t>
            </a:r>
            <a:r>
              <a:rPr kumimoji="0"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WR</a:t>
            </a:r>
            <a:r>
              <a:rPr kumimoji="0"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信号与地址信号合成为所需的</a:t>
            </a:r>
            <a:r>
              <a:rPr kumimoji="0"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CLK</a:t>
            </a:r>
            <a:r>
              <a:rPr kumimoji="0"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信号？</a:t>
            </a:r>
          </a:p>
        </p:txBody>
      </p:sp>
      <p:sp>
        <p:nvSpPr>
          <p:cNvPr id="1088517" name="Rectangle 5">
            <a:extLst>
              <a:ext uri="{FF2B5EF4-FFF2-40B4-BE49-F238E27FC236}">
                <a16:creationId xmlns:a16="http://schemas.microsoft.com/office/drawing/2014/main" id="{61CC2B07-1D71-4F4A-BA10-39C2021C0A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6225" y="2601913"/>
            <a:ext cx="4859338" cy="904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kumimoji="0"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U2</a:t>
            </a:r>
            <a:r>
              <a:rPr kumimoji="0"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选通，</a:t>
            </a:r>
            <a:r>
              <a:rPr kumimoji="0"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U3</a:t>
            </a:r>
            <a:r>
              <a:rPr kumimoji="0"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不选通的地址</a:t>
            </a:r>
            <a:r>
              <a:rPr kumimoji="0"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 eaLnBrk="1" hangingPunct="1">
              <a:buFontTx/>
              <a:buNone/>
            </a:pPr>
            <a:r>
              <a:rPr kumimoji="0"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</a:t>
            </a:r>
            <a:r>
              <a:rPr kumimoji="0" lang="en-US" altLang="zh-CN" sz="24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01</a:t>
            </a:r>
            <a:r>
              <a:rPr kumimoji="0"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xx </a:t>
            </a:r>
            <a:r>
              <a:rPr kumimoji="0"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xxxx</a:t>
            </a:r>
            <a:r>
              <a:rPr kumimoji="0"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kumimoji="0"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xxxx</a:t>
            </a:r>
            <a:r>
              <a:rPr kumimoji="0"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kumimoji="0"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xxxx</a:t>
            </a:r>
            <a:r>
              <a:rPr kumimoji="0"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</a:t>
            </a:r>
            <a:r>
              <a:rPr kumimoji="0"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0x7fff</a:t>
            </a:r>
            <a:r>
              <a:rPr kumimoji="0"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</a:t>
            </a:r>
          </a:p>
        </p:txBody>
      </p:sp>
      <p:sp>
        <p:nvSpPr>
          <p:cNvPr id="1088518" name="Rectangle 6">
            <a:extLst>
              <a:ext uri="{FF2B5EF4-FFF2-40B4-BE49-F238E27FC236}">
                <a16:creationId xmlns:a16="http://schemas.microsoft.com/office/drawing/2014/main" id="{9F159269-3A3D-4E1D-BFBA-97F5A4F5E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0675" y="3579813"/>
            <a:ext cx="486710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U2</a:t>
            </a:r>
            <a:r>
              <a:rPr kumimoji="0"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不选通，</a:t>
            </a:r>
            <a:r>
              <a:rPr kumimoji="0" lang="en-US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U3</a:t>
            </a:r>
            <a:r>
              <a:rPr kumimoji="0"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选通的地址</a:t>
            </a:r>
            <a:r>
              <a:rPr kumimoji="0" lang="en-US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</a:t>
            </a:r>
            <a:r>
              <a:rPr kumimoji="0" lang="en-US" altLang="zh-CN" sz="2400" b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</a:t>
            </a:r>
            <a:r>
              <a:rPr kumimoji="0" lang="en-US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xx xxxx xxxx xxxx</a:t>
            </a:r>
            <a:r>
              <a:rPr kumimoji="0"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</a:t>
            </a:r>
            <a:r>
              <a:rPr kumimoji="0" lang="en-US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0xbfff</a:t>
            </a:r>
            <a:r>
              <a:rPr kumimoji="0"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</a:t>
            </a:r>
          </a:p>
        </p:txBody>
      </p:sp>
      <p:sp>
        <p:nvSpPr>
          <p:cNvPr id="586757" name="Text Box 5">
            <a:extLst>
              <a:ext uri="{FF2B5EF4-FFF2-40B4-BE49-F238E27FC236}">
                <a16:creationId xmlns:a16="http://schemas.microsoft.com/office/drawing/2014/main" id="{F7DEFEBE-41C8-43D2-979F-12438AEDFE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6588" y="1524000"/>
            <a:ext cx="5699125" cy="904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kumimoji="0"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或门一端为</a:t>
            </a:r>
            <a:r>
              <a:rPr kumimoji="0" lang="en-US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r>
              <a:rPr kumimoji="0"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时，相当于给或门 “解锁”；</a:t>
            </a:r>
          </a:p>
          <a:p>
            <a:pPr eaLnBrk="1" hangingPunct="1">
              <a:buFontTx/>
              <a:buNone/>
            </a:pPr>
            <a:r>
              <a:rPr kumimoji="0"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或门一端为</a:t>
            </a:r>
            <a:r>
              <a:rPr kumimoji="0" lang="en-US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kumimoji="0"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时，相当于给或门 “加锁”。</a:t>
            </a:r>
          </a:p>
        </p:txBody>
      </p:sp>
      <p:sp>
        <p:nvSpPr>
          <p:cNvPr id="29704" name="Line 8">
            <a:extLst>
              <a:ext uri="{FF2B5EF4-FFF2-40B4-BE49-F238E27FC236}">
                <a16:creationId xmlns:a16="http://schemas.microsoft.com/office/drawing/2014/main" id="{A56B5076-4FAE-4F16-92FC-5D233167A012}"/>
              </a:ext>
            </a:extLst>
          </p:cNvPr>
          <p:cNvSpPr>
            <a:spLocks noChangeShapeType="1"/>
          </p:cNvSpPr>
          <p:nvPr/>
        </p:nvSpPr>
        <p:spPr bwMode="auto">
          <a:xfrm>
            <a:off x="1382713" y="987425"/>
            <a:ext cx="434975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05" name="Rectangle 2">
            <a:extLst>
              <a:ext uri="{FF2B5EF4-FFF2-40B4-BE49-F238E27FC236}">
                <a16:creationId xmlns:a16="http://schemas.microsoft.com/office/drawing/2014/main" id="{AE9034EE-6B63-4209-9E85-9B113E23EA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8025" y="438150"/>
            <a:ext cx="30924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None/>
            </a:pPr>
            <a:r>
              <a:rPr lang="zh-CN" alt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第</a:t>
            </a:r>
            <a:r>
              <a:rPr lang="en-US" altLang="zh-CN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r>
              <a:rPr lang="zh-CN" alt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章  单片机接口技术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F479C638-296D-4072-B381-224BD234AF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240159"/>
            <a:ext cx="30924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★ 地址分析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5949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4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86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88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88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4953" grpId="0" animBg="1"/>
      <p:bldP spid="1088517" grpId="0"/>
      <p:bldP spid="1088518" grpId="0"/>
      <p:bldP spid="58675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2CFC68BA-35FA-4E21-B3AC-2B810CCCAC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825" y="862013"/>
            <a:ext cx="2146300" cy="19748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pic>
        <p:nvPicPr>
          <p:cNvPr id="31747" name="Picture 3">
            <a:extLst>
              <a:ext uri="{FF2B5EF4-FFF2-40B4-BE49-F238E27FC236}">
                <a16:creationId xmlns:a16="http://schemas.microsoft.com/office/drawing/2014/main" id="{CD487371-29E1-4FFB-82BC-61CA46DA5E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77" t="10083" r="8047" b="8521"/>
          <a:stretch>
            <a:fillRect/>
          </a:stretch>
        </p:blipFill>
        <p:spPr bwMode="auto">
          <a:xfrm>
            <a:off x="2332038" y="1063625"/>
            <a:ext cx="6045200" cy="4491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48" name="Picture 4">
            <a:extLst>
              <a:ext uri="{FF2B5EF4-FFF2-40B4-BE49-F238E27FC236}">
                <a16:creationId xmlns:a16="http://schemas.microsoft.com/office/drawing/2014/main" id="{1B14E7CE-021C-456F-918D-1B26A1C36A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26" t="19833" r="46419" b="43562"/>
          <a:stretch>
            <a:fillRect/>
          </a:stretch>
        </p:blipFill>
        <p:spPr bwMode="auto">
          <a:xfrm>
            <a:off x="304800" y="3686949"/>
            <a:ext cx="4054475" cy="2789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9" name="Text Box 5">
            <a:extLst>
              <a:ext uri="{FF2B5EF4-FFF2-40B4-BE49-F238E27FC236}">
                <a16:creationId xmlns:a16="http://schemas.microsoft.com/office/drawing/2014/main" id="{7CF83D4F-9C63-4EDA-B618-6D5C02CCA8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015" y="547321"/>
            <a:ext cx="24476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实例</a:t>
            </a:r>
            <a:r>
              <a:rPr kumimoji="0"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kumimoji="0"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运行效果</a:t>
            </a:r>
          </a:p>
        </p:txBody>
      </p:sp>
      <p:sp>
        <p:nvSpPr>
          <p:cNvPr id="31750" name="Rectangle 2">
            <a:extLst>
              <a:ext uri="{FF2B5EF4-FFF2-40B4-BE49-F238E27FC236}">
                <a16:creationId xmlns:a16="http://schemas.microsoft.com/office/drawing/2014/main" id="{F3B36417-DE6D-454D-B82A-2BD43163EC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8025" y="438150"/>
            <a:ext cx="30924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None/>
            </a:pPr>
            <a:r>
              <a:rPr lang="zh-CN" alt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第</a:t>
            </a:r>
            <a:r>
              <a:rPr lang="en-US" altLang="zh-CN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r>
              <a:rPr lang="zh-CN" alt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章  单片机接口技术</a:t>
            </a: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2627" name="Group 19">
            <a:extLst>
              <a:ext uri="{FF2B5EF4-FFF2-40B4-BE49-F238E27FC236}">
                <a16:creationId xmlns:a16="http://schemas.microsoft.com/office/drawing/2014/main" id="{238E7C10-2C21-4667-B195-02775AB03A3E}"/>
              </a:ext>
            </a:extLst>
          </p:cNvPr>
          <p:cNvGrpSpPr>
            <a:grpSpLocks/>
          </p:cNvGrpSpPr>
          <p:nvPr/>
        </p:nvGrpSpPr>
        <p:grpSpPr bwMode="auto">
          <a:xfrm>
            <a:off x="496888" y="5345116"/>
            <a:ext cx="8037512" cy="1027113"/>
            <a:chOff x="543" y="3379"/>
            <a:chExt cx="4677" cy="647"/>
          </a:xfrm>
        </p:grpSpPr>
        <p:sp>
          <p:nvSpPr>
            <p:cNvPr id="33801" name="Text Box 4">
              <a:extLst>
                <a:ext uri="{FF2B5EF4-FFF2-40B4-BE49-F238E27FC236}">
                  <a16:creationId xmlns:a16="http://schemas.microsoft.com/office/drawing/2014/main" id="{9E17307C-0176-4174-BE89-F6C0EBC171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3" y="3379"/>
              <a:ext cx="4677" cy="6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5000"/>
                </a:lnSpc>
                <a:spcBef>
                  <a:spcPct val="40000"/>
                </a:spcBef>
                <a:buFontTx/>
                <a:buNone/>
              </a:pPr>
              <a:r>
                <a:rPr kumimoji="0" lang="zh-CN" altLang="en-US" sz="2400" b="1" dirty="0">
                  <a:solidFill>
                    <a:srgbClr val="FF33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Verdana" panose="020B0604030504040204" pitchFamily="34" charset="0"/>
                </a:rPr>
                <a:t>接线</a:t>
              </a:r>
              <a:r>
                <a:rPr kumimoji="0" lang="zh-CN" altLang="en-US" sz="2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Verdana" panose="020B0604030504040204" pitchFamily="34" charset="0"/>
                </a:rPr>
                <a:t>：</a:t>
              </a:r>
              <a:r>
                <a:rPr kumimoji="0" lang="en-US" altLang="zh-CN" sz="2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Verdana" panose="020B0604030504040204" pitchFamily="34" charset="0"/>
                </a:rPr>
                <a:t>A1-A4</a:t>
              </a:r>
              <a:r>
                <a:rPr kumimoji="0" lang="zh-CN" altLang="en-US" sz="2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Verdana" panose="020B0604030504040204" pitchFamily="34" charset="0"/>
                </a:rPr>
                <a:t>接外设输入端； </a:t>
              </a:r>
              <a:r>
                <a:rPr kumimoji="0" lang="en-US" altLang="zh-CN" sz="2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Verdana" panose="020B0604030504040204" pitchFamily="34" charset="0"/>
                </a:rPr>
                <a:t>Y1-Y4</a:t>
              </a:r>
              <a:r>
                <a:rPr kumimoji="0" lang="zh-CN" altLang="en-US" sz="2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Verdana" panose="020B0604030504040204" pitchFamily="34" charset="0"/>
                </a:rPr>
                <a:t>接单片机</a:t>
              </a:r>
              <a:r>
                <a:rPr kumimoji="0" lang="en-US" altLang="zh-CN" sz="2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Verdana" panose="020B0604030504040204" pitchFamily="34" charset="0"/>
                </a:rPr>
                <a:t>I/O</a:t>
              </a:r>
              <a:r>
                <a:rPr kumimoji="0" lang="zh-CN" altLang="en-US" sz="2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Verdana" panose="020B0604030504040204" pitchFamily="34" charset="0"/>
                </a:rPr>
                <a:t>口； </a:t>
              </a:r>
              <a:r>
                <a:rPr kumimoji="0" lang="en-US" altLang="zh-CN" sz="2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Verdana" panose="020B0604030504040204" pitchFamily="34" charset="0"/>
                </a:rPr>
                <a:t>1G</a:t>
              </a:r>
              <a:r>
                <a:rPr kumimoji="0" lang="zh-CN" altLang="en-US" sz="2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Verdana" panose="020B0604030504040204" pitchFamily="34" charset="0"/>
                </a:rPr>
                <a:t>接控制端</a:t>
              </a:r>
            </a:p>
          </p:txBody>
        </p:sp>
        <p:sp>
          <p:nvSpPr>
            <p:cNvPr id="33802" name="Line 9">
              <a:extLst>
                <a:ext uri="{FF2B5EF4-FFF2-40B4-BE49-F238E27FC236}">
                  <a16:creationId xmlns:a16="http://schemas.microsoft.com/office/drawing/2014/main" id="{ED0D3342-97B2-4053-B1BD-39F3C4832F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9" y="3506"/>
              <a:ext cx="20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pic>
        <p:nvPicPr>
          <p:cNvPr id="1092628" name="Picture 20" descr="74244">
            <a:extLst>
              <a:ext uri="{FF2B5EF4-FFF2-40B4-BE49-F238E27FC236}">
                <a16:creationId xmlns:a16="http://schemas.microsoft.com/office/drawing/2014/main" id="{D7247993-2397-48E1-A9FF-851724B788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35" t="34607" r="36606" b="34001"/>
          <a:stretch>
            <a:fillRect/>
          </a:stretch>
        </p:blipFill>
        <p:spPr bwMode="auto">
          <a:xfrm>
            <a:off x="1076325" y="1781175"/>
            <a:ext cx="4008438" cy="218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6" name="Rectangle 21">
            <a:extLst>
              <a:ext uri="{FF2B5EF4-FFF2-40B4-BE49-F238E27FC236}">
                <a16:creationId xmlns:a16="http://schemas.microsoft.com/office/drawing/2014/main" id="{5361CDE5-16AC-4354-8F18-F789AD503D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725" y="1147895"/>
            <a:ext cx="76120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74LS244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74LS245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等用于扩展并行输入口 </a:t>
            </a:r>
          </a:p>
        </p:txBody>
      </p:sp>
      <p:sp>
        <p:nvSpPr>
          <p:cNvPr id="1092630" name="Text Box 22">
            <a:extLst>
              <a:ext uri="{FF2B5EF4-FFF2-40B4-BE49-F238E27FC236}">
                <a16:creationId xmlns:a16="http://schemas.microsoft.com/office/drawing/2014/main" id="{97D51012-4813-4072-8D96-ABDBB644F6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888" y="4157663"/>
            <a:ext cx="832008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原理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：每组由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个选通端或控制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只三态门。当选通信号为低电平时，三态门导通，数据从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端流向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端。当选通信号为高电平时，三态门截止，输入和输出之间呈高阻态。 </a:t>
            </a:r>
          </a:p>
        </p:txBody>
      </p:sp>
      <p:sp>
        <p:nvSpPr>
          <p:cNvPr id="33798" name="Rectangle 24">
            <a:extLst>
              <a:ext uri="{FF2B5EF4-FFF2-40B4-BE49-F238E27FC236}">
                <a16:creationId xmlns:a16="http://schemas.microsoft.com/office/drawing/2014/main" id="{72A57956-1D63-4156-9D35-7EA4DB879C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pic>
        <p:nvPicPr>
          <p:cNvPr id="1092633" name="Picture 25">
            <a:extLst>
              <a:ext uri="{FF2B5EF4-FFF2-40B4-BE49-F238E27FC236}">
                <a16:creationId xmlns:a16="http://schemas.microsoft.com/office/drawing/2014/main" id="{50A3207E-B419-47A5-8AC5-D5FCC76185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clrChange>
              <a:clrFrom>
                <a:srgbClr val="E0E0D0"/>
              </a:clrFrom>
              <a:clrTo>
                <a:srgbClr val="E0E0D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06" t="22392" r="28032" b="7532"/>
          <a:stretch>
            <a:fillRect/>
          </a:stretch>
        </p:blipFill>
        <p:spPr bwMode="auto">
          <a:xfrm>
            <a:off x="5264150" y="2159000"/>
            <a:ext cx="1760538" cy="172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3800" name="Rectangle 10">
            <a:extLst>
              <a:ext uri="{FF2B5EF4-FFF2-40B4-BE49-F238E27FC236}">
                <a16:creationId xmlns:a16="http://schemas.microsoft.com/office/drawing/2014/main" id="{E6F3B7AA-0F96-48B7-A311-2DAD8F41FA2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93725" y="451039"/>
            <a:ext cx="642143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8.2.3  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简单并行输入接口的扩展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92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92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92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92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2630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 descr="22">
            <a:extLst>
              <a:ext uri="{FF2B5EF4-FFF2-40B4-BE49-F238E27FC236}">
                <a16:creationId xmlns:a16="http://schemas.microsoft.com/office/drawing/2014/main" id="{800D88E9-65F5-4AC2-8E9B-64EFEDDFAB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274" t="20146" r="30367" b="38387"/>
          <a:stretch>
            <a:fillRect/>
          </a:stretch>
        </p:blipFill>
        <p:spPr bwMode="auto">
          <a:xfrm>
            <a:off x="531242" y="172720"/>
            <a:ext cx="3892985" cy="4129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94659" name="Text Box 3">
            <a:extLst>
              <a:ext uri="{FF2B5EF4-FFF2-40B4-BE49-F238E27FC236}">
                <a16:creationId xmlns:a16="http://schemas.microsoft.com/office/drawing/2014/main" id="{EA6A5816-6F82-4ACC-AA9F-E435E6D5DD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4613" y="4446588"/>
            <a:ext cx="72151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kumimoji="0" lang="en-US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</a:rPr>
              <a:t>U3</a:t>
            </a:r>
            <a:r>
              <a:rPr kumimoji="0"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</a:rPr>
              <a:t>口地址</a:t>
            </a:r>
            <a:r>
              <a:rPr kumimoji="0" lang="en-US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</a:rPr>
              <a:t>: </a:t>
            </a:r>
            <a:r>
              <a:rPr kumimoji="0" lang="en-US" altLang="zh-CN" sz="2400" b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</a:rPr>
              <a:t>0</a:t>
            </a:r>
            <a:r>
              <a:rPr kumimoji="0" lang="en-US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</a:rPr>
              <a:t>xxx xxxx xxxx xxxx</a:t>
            </a:r>
            <a:r>
              <a:rPr kumimoji="0"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</a:rPr>
              <a:t>（</a:t>
            </a:r>
            <a:r>
              <a:rPr kumimoji="0" lang="en-US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</a:rPr>
              <a:t>0x7fff</a:t>
            </a:r>
            <a:r>
              <a:rPr kumimoji="0"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</a:rPr>
              <a:t>）</a:t>
            </a:r>
          </a:p>
        </p:txBody>
      </p:sp>
      <p:sp>
        <p:nvSpPr>
          <p:cNvPr id="35844" name="Text Box 6">
            <a:extLst>
              <a:ext uri="{FF2B5EF4-FFF2-40B4-BE49-F238E27FC236}">
                <a16:creationId xmlns:a16="http://schemas.microsoft.com/office/drawing/2014/main" id="{E4286D6E-89FE-42E7-BE99-87E086897F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6763" y="1125538"/>
            <a:ext cx="434657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00000"/>
              </a:spcBef>
              <a:buFontTx/>
              <a:buNone/>
            </a:pPr>
            <a:r>
              <a:rPr kumimoji="0" lang="zh-CN" altLang="en-US" sz="2400" b="1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</a:rPr>
              <a:t>举例</a:t>
            </a:r>
            <a:r>
              <a:rPr kumimoji="0"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</a:rPr>
              <a:t>：若左图为总线方式电路，试分析</a:t>
            </a:r>
            <a:r>
              <a:rPr kumimoji="0" lang="en-US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</a:rPr>
              <a:t>244</a:t>
            </a:r>
            <a:r>
              <a:rPr kumimoji="0"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</a:rPr>
              <a:t>的端口地址</a:t>
            </a:r>
          </a:p>
        </p:txBody>
      </p:sp>
      <p:sp>
        <p:nvSpPr>
          <p:cNvPr id="35845" name="Rectangle 2">
            <a:extLst>
              <a:ext uri="{FF2B5EF4-FFF2-40B4-BE49-F238E27FC236}">
                <a16:creationId xmlns:a16="http://schemas.microsoft.com/office/drawing/2014/main" id="{FA98A93E-C96B-4F8F-BA0B-7239D16974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8025" y="438150"/>
            <a:ext cx="30924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None/>
            </a:pPr>
            <a:r>
              <a:rPr lang="zh-CN" altLang="en-US" sz="16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第</a:t>
            </a:r>
            <a:r>
              <a:rPr lang="en-US" altLang="zh-CN" sz="16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r>
              <a:rPr lang="zh-CN" altLang="en-US" sz="16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章  单片机接口技术</a:t>
            </a:r>
          </a:p>
        </p:txBody>
      </p:sp>
      <p:sp>
        <p:nvSpPr>
          <p:cNvPr id="1094665" name="Text Box 9">
            <a:extLst>
              <a:ext uri="{FF2B5EF4-FFF2-40B4-BE49-F238E27FC236}">
                <a16:creationId xmlns:a16="http://schemas.microsoft.com/office/drawing/2014/main" id="{6C715E0D-D799-4D77-A5DF-46B9FC6C4D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625" y="4970463"/>
            <a:ext cx="8334375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汇编指令：      </a:t>
            </a:r>
            <a:r>
              <a:rPr lang="en-US" altLang="zh-CN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MOVX A,@DPTR     ;DPTR=7FFFH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C51</a:t>
            </a:r>
            <a:r>
              <a:rPr lang="zh-CN" alt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语句：      </a:t>
            </a:r>
            <a:r>
              <a:rPr lang="en-US" altLang="zh-CN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PORT = U3;                // #define U3 XBYTE [0x7fff]</a:t>
            </a:r>
          </a:p>
        </p:txBody>
      </p:sp>
      <p:grpSp>
        <p:nvGrpSpPr>
          <p:cNvPr id="1094667" name="Group 11">
            <a:extLst>
              <a:ext uri="{FF2B5EF4-FFF2-40B4-BE49-F238E27FC236}">
                <a16:creationId xmlns:a16="http://schemas.microsoft.com/office/drawing/2014/main" id="{967BAA37-5F89-4905-9D77-D165A695DB60}"/>
              </a:ext>
            </a:extLst>
          </p:cNvPr>
          <p:cNvGrpSpPr>
            <a:grpSpLocks/>
          </p:cNvGrpSpPr>
          <p:nvPr/>
        </p:nvGrpSpPr>
        <p:grpSpPr bwMode="auto">
          <a:xfrm>
            <a:off x="4727575" y="2233613"/>
            <a:ext cx="3765550" cy="2227262"/>
            <a:chOff x="2978" y="1407"/>
            <a:chExt cx="2372" cy="1403"/>
          </a:xfrm>
        </p:grpSpPr>
        <p:pic>
          <p:nvPicPr>
            <p:cNvPr id="35848" name="Picture 8">
              <a:extLst>
                <a:ext uri="{FF2B5EF4-FFF2-40B4-BE49-F238E27FC236}">
                  <a16:creationId xmlns:a16="http://schemas.microsoft.com/office/drawing/2014/main" id="{BBAC87DD-258A-4456-9F0A-6576E1D164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057" t="14755" r="22116" b="48880"/>
            <a:stretch>
              <a:fillRect/>
            </a:stretch>
          </p:blipFill>
          <p:spPr bwMode="auto">
            <a:xfrm>
              <a:off x="2978" y="1407"/>
              <a:ext cx="2372" cy="11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5849" name="Rectangle 10">
              <a:extLst>
                <a:ext uri="{FF2B5EF4-FFF2-40B4-BE49-F238E27FC236}">
                  <a16:creationId xmlns:a16="http://schemas.microsoft.com/office/drawing/2014/main" id="{4B04DC6C-EA04-4260-A025-63EB47ABF1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3" y="2598"/>
              <a:ext cx="101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600"/>
                <a:t>读外扩端口时序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94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94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94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4659" grpId="0"/>
      <p:bldP spid="109466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5">
            <a:extLst>
              <a:ext uri="{FF2B5EF4-FFF2-40B4-BE49-F238E27FC236}">
                <a16:creationId xmlns:a16="http://schemas.microsoft.com/office/drawing/2014/main" id="{155CA26F-A807-4BC6-955B-82C0CC5F26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zh-CN" sz="1800">
              <a:latin typeface="Calibri" panose="020F0502020204030204" pitchFamily="34" charset="0"/>
            </a:endParaRPr>
          </a:p>
        </p:txBody>
      </p:sp>
      <p:sp>
        <p:nvSpPr>
          <p:cNvPr id="37892" name="Rectangle 1">
            <a:extLst>
              <a:ext uri="{FF2B5EF4-FFF2-40B4-BE49-F238E27FC236}">
                <a16:creationId xmlns:a16="http://schemas.microsoft.com/office/drawing/2014/main" id="{1303C61F-6379-421B-B274-8B9A644296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5" y="900024"/>
            <a:ext cx="8402638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实例</a:t>
            </a:r>
            <a:r>
              <a:rPr kumimoji="0"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kumimoji="0"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：分析如下端口扩展原理，编程实现键控</a:t>
            </a:r>
            <a:r>
              <a:rPr kumimoji="0"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LED</a:t>
            </a:r>
            <a:r>
              <a:rPr kumimoji="0"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功能，即启动后先置黑屏，随后根据按键动作点亮相应</a:t>
            </a:r>
            <a:r>
              <a:rPr kumimoji="0"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LED</a:t>
            </a:r>
            <a:r>
              <a:rPr kumimoji="0"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（保持亮灯状态，直至新的按键压下为止）。</a:t>
            </a:r>
          </a:p>
        </p:txBody>
      </p:sp>
      <p:pic>
        <p:nvPicPr>
          <p:cNvPr id="37893" name="Picture 5" descr="pic">
            <a:extLst>
              <a:ext uri="{FF2B5EF4-FFF2-40B4-BE49-F238E27FC236}">
                <a16:creationId xmlns:a16="http://schemas.microsoft.com/office/drawing/2014/main" id="{57DB7A97-643D-499E-8FEE-F8C3BEC3E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9" t="7979" r="15016" b="13593"/>
          <a:stretch>
            <a:fillRect/>
          </a:stretch>
        </p:blipFill>
        <p:spPr bwMode="auto">
          <a:xfrm>
            <a:off x="1493838" y="1984375"/>
            <a:ext cx="5894387" cy="450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4" name="Rectangle 2">
            <a:extLst>
              <a:ext uri="{FF2B5EF4-FFF2-40B4-BE49-F238E27FC236}">
                <a16:creationId xmlns:a16="http://schemas.microsoft.com/office/drawing/2014/main" id="{5530A614-C88C-41E4-A7D0-BF05D071D6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8025" y="438150"/>
            <a:ext cx="30924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zh-CN" altLang="en-US" sz="1600"/>
              <a:t>第</a:t>
            </a:r>
            <a:r>
              <a:rPr lang="en-US" altLang="zh-CN" sz="1600"/>
              <a:t>8</a:t>
            </a:r>
            <a:r>
              <a:rPr lang="zh-CN" altLang="en-US" sz="1600"/>
              <a:t>章  单片机接口技术</a:t>
            </a:r>
          </a:p>
        </p:txBody>
      </p:sp>
    </p:spTree>
  </p:cSld>
  <p:clrMapOvr>
    <a:masterClrMapping/>
  </p:clrMapOvr>
  <p:transition>
    <p:wipe dir="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5">
            <a:extLst>
              <a:ext uri="{FF2B5EF4-FFF2-40B4-BE49-F238E27FC236}">
                <a16:creationId xmlns:a16="http://schemas.microsoft.com/office/drawing/2014/main" id="{220616E3-CB6C-4D02-B285-31936D232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zh-CN" sz="1800">
              <a:latin typeface="Calibri" panose="020F0502020204030204" pitchFamily="34" charset="0"/>
            </a:endParaRPr>
          </a:p>
        </p:txBody>
      </p:sp>
      <p:sp>
        <p:nvSpPr>
          <p:cNvPr id="39939" name="Rectangle 4">
            <a:extLst>
              <a:ext uri="{FF2B5EF4-FFF2-40B4-BE49-F238E27FC236}">
                <a16:creationId xmlns:a16="http://schemas.microsoft.com/office/drawing/2014/main" id="{02B932AC-9F66-493A-BC44-FE95FA7AD4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225" y="925513"/>
            <a:ext cx="14221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电路分析</a:t>
            </a:r>
          </a:p>
        </p:txBody>
      </p:sp>
      <p:pic>
        <p:nvPicPr>
          <p:cNvPr id="39940" name="Picture 5" descr="pic">
            <a:extLst>
              <a:ext uri="{FF2B5EF4-FFF2-40B4-BE49-F238E27FC236}">
                <a16:creationId xmlns:a16="http://schemas.microsoft.com/office/drawing/2014/main" id="{EDA84499-C69B-4831-B28F-222B838086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27" t="19049" r="43057" b="17619"/>
          <a:stretch>
            <a:fillRect/>
          </a:stretch>
        </p:blipFill>
        <p:spPr bwMode="auto">
          <a:xfrm>
            <a:off x="5649913" y="701040"/>
            <a:ext cx="2986087" cy="4636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1" name="Text Box 6">
            <a:extLst>
              <a:ext uri="{FF2B5EF4-FFF2-40B4-BE49-F238E27FC236}">
                <a16:creationId xmlns:a16="http://schemas.microsoft.com/office/drawing/2014/main" id="{8CCB7070-1104-450E-BF82-58B04D8E3A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225" y="1365250"/>
            <a:ext cx="4545013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芯片</a:t>
            </a:r>
            <a:r>
              <a:rPr kumimoji="0" lang="en-US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273</a:t>
            </a:r>
            <a:r>
              <a:rPr kumimoji="0"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和</a:t>
            </a:r>
            <a:r>
              <a:rPr kumimoji="0" lang="en-US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244</a:t>
            </a:r>
            <a:r>
              <a:rPr kumimoji="0"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的片选均由</a:t>
            </a:r>
            <a:r>
              <a:rPr kumimoji="0" lang="en-US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P2.0</a:t>
            </a:r>
            <a:r>
              <a:rPr kumimoji="0"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实现，故访问地址均为：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xxxx xxx</a:t>
            </a:r>
            <a:r>
              <a:rPr kumimoji="0" lang="en-US" altLang="zh-CN" sz="2400" b="1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r>
              <a:rPr kumimoji="0" lang="en-US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xxxx xxxx (0xfeff)</a:t>
            </a:r>
          </a:p>
        </p:txBody>
      </p:sp>
      <p:sp>
        <p:nvSpPr>
          <p:cNvPr id="1097734" name="Text Box 8">
            <a:extLst>
              <a:ext uri="{FF2B5EF4-FFF2-40B4-BE49-F238E27FC236}">
                <a16:creationId xmlns:a16="http://schemas.microsoft.com/office/drawing/2014/main" id="{A29FE55D-3E04-45F8-ADE4-15D29723B8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3" y="4021138"/>
            <a:ext cx="564991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400" b="1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读操作</a:t>
            </a:r>
            <a:r>
              <a:rPr kumimoji="0"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：</a:t>
            </a:r>
            <a:r>
              <a:rPr kumimoji="0" lang="en-US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/RD</a:t>
            </a:r>
            <a:r>
              <a:rPr kumimoji="0"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负脉冲，</a:t>
            </a:r>
            <a:r>
              <a:rPr kumimoji="0" lang="en-US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/WR =1</a:t>
            </a:r>
            <a:r>
              <a:rPr kumimoji="0"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，故</a:t>
            </a:r>
            <a:r>
              <a:rPr kumimoji="0" lang="en-US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U1:B=</a:t>
            </a:r>
            <a:r>
              <a:rPr kumimoji="0"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负脉冲，</a:t>
            </a:r>
            <a:r>
              <a:rPr kumimoji="0" lang="en-US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U1:A=1</a:t>
            </a:r>
            <a:r>
              <a:rPr kumimoji="0"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，芯片</a:t>
            </a:r>
            <a:r>
              <a:rPr kumimoji="0" lang="en-US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244</a:t>
            </a:r>
            <a:r>
              <a:rPr kumimoji="0"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被选中。</a:t>
            </a:r>
          </a:p>
        </p:txBody>
      </p:sp>
      <p:sp>
        <p:nvSpPr>
          <p:cNvPr id="1097735" name="Text Box 8">
            <a:extLst>
              <a:ext uri="{FF2B5EF4-FFF2-40B4-BE49-F238E27FC236}">
                <a16:creationId xmlns:a16="http://schemas.microsoft.com/office/drawing/2014/main" id="{B0B6352F-4005-4048-98AC-03FBB1DDDF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050" y="4991100"/>
            <a:ext cx="585787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400" b="1"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写操作</a:t>
            </a:r>
            <a:r>
              <a:rPr kumimoji="0"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： </a:t>
            </a:r>
            <a:r>
              <a:rPr kumimoji="0" lang="en-US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/RD =1</a:t>
            </a:r>
            <a:r>
              <a:rPr kumimoji="0"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</a:t>
            </a:r>
            <a:r>
              <a:rPr kumimoji="0" lang="en-US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/WR</a:t>
            </a:r>
            <a:r>
              <a:rPr kumimoji="0"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负脉冲，故</a:t>
            </a:r>
            <a:r>
              <a:rPr kumimoji="0" lang="en-US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U1:B=1</a:t>
            </a:r>
            <a:r>
              <a:rPr kumimoji="0"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</a:t>
            </a:r>
            <a:r>
              <a:rPr kumimoji="0" lang="en-US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U1:A=</a:t>
            </a:r>
            <a:r>
              <a:rPr kumimoji="0"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负脉冲，芯片</a:t>
            </a:r>
            <a:r>
              <a:rPr kumimoji="0" lang="en-US" altLang="zh-CN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273</a:t>
            </a:r>
            <a:r>
              <a:rPr kumimoji="0"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被选中。</a:t>
            </a:r>
          </a:p>
        </p:txBody>
      </p:sp>
      <p:sp>
        <p:nvSpPr>
          <p:cNvPr id="39944" name="Rectangle 2">
            <a:extLst>
              <a:ext uri="{FF2B5EF4-FFF2-40B4-BE49-F238E27FC236}">
                <a16:creationId xmlns:a16="http://schemas.microsoft.com/office/drawing/2014/main" id="{AC16AE8C-3AC2-42B0-8565-F00F27F09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8025" y="438150"/>
            <a:ext cx="30924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None/>
            </a:pPr>
            <a:r>
              <a:rPr lang="zh-CN" alt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第</a:t>
            </a:r>
            <a:r>
              <a:rPr lang="en-US" altLang="zh-CN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r>
              <a:rPr lang="zh-CN" alt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章  单片机接口技术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F7A4DCA1-14D5-44D0-A288-08238A6898B1}"/>
              </a:ext>
            </a:extLst>
          </p:cNvPr>
          <p:cNvCxnSpPr/>
          <p:nvPr/>
        </p:nvCxnSpPr>
        <p:spPr>
          <a:xfrm>
            <a:off x="6522720" y="4632960"/>
            <a:ext cx="97536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F0D00707-3ACA-41C8-AD62-0234C20C7277}"/>
              </a:ext>
            </a:extLst>
          </p:cNvPr>
          <p:cNvCxnSpPr/>
          <p:nvPr/>
        </p:nvCxnSpPr>
        <p:spPr>
          <a:xfrm>
            <a:off x="6522720" y="5120640"/>
            <a:ext cx="97536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18196926-2C3D-42E7-9E77-DFEFCF2B7211}"/>
              </a:ext>
            </a:extLst>
          </p:cNvPr>
          <p:cNvCxnSpPr>
            <a:cxnSpLocks/>
          </p:cNvCxnSpPr>
          <p:nvPr/>
        </p:nvCxnSpPr>
        <p:spPr>
          <a:xfrm flipV="1">
            <a:off x="6502400" y="1965414"/>
            <a:ext cx="0" cy="315522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ED7A9C9A-59F9-4CD7-9EE7-5402090E0E40}"/>
              </a:ext>
            </a:extLst>
          </p:cNvPr>
          <p:cNvCxnSpPr>
            <a:cxnSpLocks/>
          </p:cNvCxnSpPr>
          <p:nvPr/>
        </p:nvCxnSpPr>
        <p:spPr>
          <a:xfrm>
            <a:off x="6105524" y="1965414"/>
            <a:ext cx="396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6B128054-C244-4D84-8F46-6340DA33178B}"/>
              </a:ext>
            </a:extLst>
          </p:cNvPr>
          <p:cNvCxnSpPr/>
          <p:nvPr/>
        </p:nvCxnSpPr>
        <p:spPr>
          <a:xfrm>
            <a:off x="6746716" y="4395996"/>
            <a:ext cx="792000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F050A952-E273-425A-9405-E14255CE8BC8}"/>
              </a:ext>
            </a:extLst>
          </p:cNvPr>
          <p:cNvCxnSpPr/>
          <p:nvPr/>
        </p:nvCxnSpPr>
        <p:spPr>
          <a:xfrm>
            <a:off x="6105524" y="3522707"/>
            <a:ext cx="648000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2047D012-C79D-41A1-AAC2-7BAAF2E83027}"/>
              </a:ext>
            </a:extLst>
          </p:cNvPr>
          <p:cNvCxnSpPr/>
          <p:nvPr/>
        </p:nvCxnSpPr>
        <p:spPr>
          <a:xfrm>
            <a:off x="6746716" y="3543027"/>
            <a:ext cx="6808" cy="852969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A2B4C326-57FD-4B11-8E20-1F3E8FB28453}"/>
              </a:ext>
            </a:extLst>
          </p:cNvPr>
          <p:cNvCxnSpPr/>
          <p:nvPr/>
        </p:nvCxnSpPr>
        <p:spPr>
          <a:xfrm>
            <a:off x="6685760" y="4913095"/>
            <a:ext cx="792000" cy="0"/>
          </a:xfrm>
          <a:prstGeom prst="line">
            <a:avLst/>
          </a:prstGeom>
          <a:ln w="28575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681559A1-5907-41A7-8EAC-2DDF42888F96}"/>
              </a:ext>
            </a:extLst>
          </p:cNvPr>
          <p:cNvCxnSpPr/>
          <p:nvPr/>
        </p:nvCxnSpPr>
        <p:spPr>
          <a:xfrm>
            <a:off x="6677276" y="3651348"/>
            <a:ext cx="0" cy="1260000"/>
          </a:xfrm>
          <a:prstGeom prst="line">
            <a:avLst/>
          </a:prstGeom>
          <a:ln w="28575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04EAB4E8-9FDC-485E-AE28-97B8E3523436}"/>
              </a:ext>
            </a:extLst>
          </p:cNvPr>
          <p:cNvCxnSpPr/>
          <p:nvPr/>
        </p:nvCxnSpPr>
        <p:spPr>
          <a:xfrm>
            <a:off x="6098716" y="3631028"/>
            <a:ext cx="576000" cy="0"/>
          </a:xfrm>
          <a:prstGeom prst="line">
            <a:avLst/>
          </a:prstGeom>
          <a:ln w="28575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EA7F268B-5A83-4C6D-A74E-4D4E5B118EDE}"/>
              </a:ext>
            </a:extLst>
          </p:cNvPr>
          <p:cNvSpPr txBox="1"/>
          <p:nvPr/>
        </p:nvSpPr>
        <p:spPr>
          <a:xfrm>
            <a:off x="5263357" y="1716663"/>
            <a:ext cx="548640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P2.0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EC59E30-A6F9-4E03-974E-C6D6B956E6EB}"/>
              </a:ext>
            </a:extLst>
          </p:cNvPr>
          <p:cNvSpPr txBox="1"/>
          <p:nvPr/>
        </p:nvSpPr>
        <p:spPr>
          <a:xfrm>
            <a:off x="6796864" y="4204455"/>
            <a:ext cx="548640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/WR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956CFC8-8156-4021-8251-E59FAB99D44E}"/>
              </a:ext>
            </a:extLst>
          </p:cNvPr>
          <p:cNvSpPr txBox="1"/>
          <p:nvPr/>
        </p:nvSpPr>
        <p:spPr>
          <a:xfrm>
            <a:off x="6785610" y="4699010"/>
            <a:ext cx="548640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/RD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A0663FA-1B0E-423D-8C89-CDD459454EA2}"/>
              </a:ext>
            </a:extLst>
          </p:cNvPr>
          <p:cNvSpPr txBox="1"/>
          <p:nvPr/>
        </p:nvSpPr>
        <p:spPr>
          <a:xfrm>
            <a:off x="1551939" y="2499569"/>
            <a:ext cx="1250792" cy="46166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共用地址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97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97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7734" grpId="0"/>
      <p:bldP spid="109773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5">
            <a:extLst>
              <a:ext uri="{FF2B5EF4-FFF2-40B4-BE49-F238E27FC236}">
                <a16:creationId xmlns:a16="http://schemas.microsoft.com/office/drawing/2014/main" id="{6614388C-32E6-4319-A2BE-CDAE93208E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zh-CN" sz="1800">
              <a:latin typeface="Calibri" panose="020F0502020204030204" pitchFamily="34" charset="0"/>
            </a:endParaRPr>
          </a:p>
        </p:txBody>
      </p:sp>
      <p:sp>
        <p:nvSpPr>
          <p:cNvPr id="41987" name="Text Box 5">
            <a:extLst>
              <a:ext uri="{FF2B5EF4-FFF2-40B4-BE49-F238E27FC236}">
                <a16:creationId xmlns:a16="http://schemas.microsoft.com/office/drawing/2014/main" id="{85F9FB2B-4674-4DF9-B552-257EC4FAE7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638" y="1179513"/>
            <a:ext cx="3352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400"/>
              <a:t>实例</a:t>
            </a:r>
            <a:r>
              <a:rPr kumimoji="0" lang="en-US" altLang="zh-CN" sz="2400"/>
              <a:t>2</a:t>
            </a:r>
            <a:r>
              <a:rPr kumimoji="0" lang="zh-CN" altLang="en-US" sz="2400"/>
              <a:t>程序</a:t>
            </a:r>
          </a:p>
        </p:txBody>
      </p:sp>
      <p:sp>
        <p:nvSpPr>
          <p:cNvPr id="41988" name="Rectangle 2">
            <a:extLst>
              <a:ext uri="{FF2B5EF4-FFF2-40B4-BE49-F238E27FC236}">
                <a16:creationId xmlns:a16="http://schemas.microsoft.com/office/drawing/2014/main" id="{C073C3FA-0511-40C4-9BCE-BAB77F41C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8025" y="438150"/>
            <a:ext cx="30924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None/>
            </a:pPr>
            <a:r>
              <a:rPr lang="zh-CN" alt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第</a:t>
            </a:r>
            <a:r>
              <a:rPr lang="en-US" altLang="zh-CN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r>
              <a:rPr lang="zh-CN" alt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章  单片机接口技术</a:t>
            </a:r>
          </a:p>
        </p:txBody>
      </p:sp>
      <p:pic>
        <p:nvPicPr>
          <p:cNvPr id="41989" name="Picture 7">
            <a:extLst>
              <a:ext uri="{FF2B5EF4-FFF2-40B4-BE49-F238E27FC236}">
                <a16:creationId xmlns:a16="http://schemas.microsoft.com/office/drawing/2014/main" id="{36042CBC-17F5-45ED-BF44-84F204B86B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43" t="13985" r="-197" b="27628"/>
          <a:stretch>
            <a:fillRect/>
          </a:stretch>
        </p:blipFill>
        <p:spPr bwMode="auto">
          <a:xfrm>
            <a:off x="831850" y="1641475"/>
            <a:ext cx="7383463" cy="407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wipe dir="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5">
            <a:extLst>
              <a:ext uri="{FF2B5EF4-FFF2-40B4-BE49-F238E27FC236}">
                <a16:creationId xmlns:a16="http://schemas.microsoft.com/office/drawing/2014/main" id="{CC8EA81C-40E8-4648-A8C8-A548D722D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zh-CN" sz="1800">
              <a:latin typeface="Calibri" panose="020F0502020204030204" pitchFamily="34" charset="0"/>
            </a:endParaRPr>
          </a:p>
        </p:txBody>
      </p:sp>
      <p:sp>
        <p:nvSpPr>
          <p:cNvPr id="44035" name="Text Box 5">
            <a:extLst>
              <a:ext uri="{FF2B5EF4-FFF2-40B4-BE49-F238E27FC236}">
                <a16:creationId xmlns:a16="http://schemas.microsoft.com/office/drawing/2014/main" id="{A752A342-E52B-4C87-B7C3-598AD2F3E7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98" y="611187"/>
            <a:ext cx="32337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实例</a:t>
            </a:r>
            <a:r>
              <a:rPr kumimoji="0"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kumimoji="0"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仿真运行</a:t>
            </a:r>
          </a:p>
        </p:txBody>
      </p:sp>
      <p:sp>
        <p:nvSpPr>
          <p:cNvPr id="44036" name="Rectangle 2">
            <a:extLst>
              <a:ext uri="{FF2B5EF4-FFF2-40B4-BE49-F238E27FC236}">
                <a16:creationId xmlns:a16="http://schemas.microsoft.com/office/drawing/2014/main" id="{B9700CFE-E982-4594-9BF4-A141A66F7E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8025" y="438150"/>
            <a:ext cx="30924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  <a:buNone/>
            </a:pPr>
            <a:r>
              <a:rPr lang="zh-CN" alt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第</a:t>
            </a:r>
            <a:r>
              <a:rPr lang="en-US" altLang="zh-CN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r>
              <a:rPr lang="zh-CN" altLang="en-US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章  单片机接口技术</a:t>
            </a:r>
          </a:p>
        </p:txBody>
      </p:sp>
      <p:pic>
        <p:nvPicPr>
          <p:cNvPr id="44037" name="图片 1">
            <a:extLst>
              <a:ext uri="{FF2B5EF4-FFF2-40B4-BE49-F238E27FC236}">
                <a16:creationId xmlns:a16="http://schemas.microsoft.com/office/drawing/2014/main" id="{9CEA6420-2B36-42E8-B8D3-13DB6EBC41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8413" y="1322388"/>
            <a:ext cx="5835650" cy="46958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0049CD94-43CC-4D6F-B11E-DB97F1CE2525}"/>
              </a:ext>
            </a:extLst>
          </p:cNvPr>
          <p:cNvSpPr/>
          <p:nvPr/>
        </p:nvSpPr>
        <p:spPr>
          <a:xfrm>
            <a:off x="431800" y="6013450"/>
            <a:ext cx="7508875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zh-CN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仿真结果表明，扩展后的端口可实现题意要求的功能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>
    <p:wipe dir="d"/>
  </p:transition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18858</TotalTime>
  <Words>1484</Words>
  <Application>Microsoft Office PowerPoint</Application>
  <PresentationFormat>全屏显示(4:3)</PresentationFormat>
  <Paragraphs>115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1" baseType="lpstr">
      <vt:lpstr>等线</vt:lpstr>
      <vt:lpstr>等线 Light</vt:lpstr>
      <vt:lpstr>楷体</vt:lpstr>
      <vt:lpstr>宋体</vt:lpstr>
      <vt:lpstr>Arial</vt:lpstr>
      <vt:lpstr>Calibri</vt:lpstr>
      <vt:lpstr>Times New Roman</vt:lpstr>
      <vt:lpstr>Verdana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</dc:title>
  <dc:creator>User</dc:creator>
  <cp:lastModifiedBy>admin</cp:lastModifiedBy>
  <cp:revision>2925</cp:revision>
  <dcterms:created xsi:type="dcterms:W3CDTF">2008-12-23T04:22:10Z</dcterms:created>
  <dcterms:modified xsi:type="dcterms:W3CDTF">2024-05-16T12:50:48Z</dcterms:modified>
</cp:coreProperties>
</file>