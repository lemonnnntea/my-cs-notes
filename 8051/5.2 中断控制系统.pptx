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487" r:id="rId2"/>
    <p:sldId id="329" r:id="rId3"/>
    <p:sldId id="425" r:id="rId4"/>
    <p:sldId id="320" r:id="rId5"/>
    <p:sldId id="335" r:id="rId6"/>
    <p:sldId id="336" r:id="rId7"/>
    <p:sldId id="426" r:id="rId8"/>
    <p:sldId id="494" r:id="rId9"/>
    <p:sldId id="495" r:id="rId10"/>
    <p:sldId id="496" r:id="rId11"/>
    <p:sldId id="404" r:id="rId12"/>
    <p:sldId id="497" r:id="rId13"/>
    <p:sldId id="498" r:id="rId14"/>
    <p:sldId id="337" r:id="rId15"/>
    <p:sldId id="429" r:id="rId16"/>
    <p:sldId id="430" r:id="rId17"/>
    <p:sldId id="436" r:id="rId18"/>
    <p:sldId id="437" r:id="rId19"/>
    <p:sldId id="432" r:id="rId20"/>
    <p:sldId id="438" r:id="rId21"/>
    <p:sldId id="427" r:id="rId22"/>
    <p:sldId id="433" r:id="rId23"/>
    <p:sldId id="428" r:id="rId24"/>
    <p:sldId id="353" r:id="rId25"/>
    <p:sldId id="359" r:id="rId26"/>
    <p:sldId id="499" r:id="rId27"/>
    <p:sldId id="413" r:id="rId28"/>
    <p:sldId id="403" r:id="rId29"/>
    <p:sldId id="363" r:id="rId30"/>
    <p:sldId id="367" r:id="rId31"/>
  </p:sldIdLst>
  <p:sldSz cx="9144000" cy="6858000" type="screen4x3"/>
  <p:notesSz cx="6858000" cy="9144000"/>
  <p:custDataLst>
    <p:tags r:id="rId34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0000FF"/>
    <a:srgbClr val="6600CC"/>
    <a:srgbClr val="FFFF00"/>
    <a:srgbClr val="99FFCC"/>
    <a:srgbClr val="99CCFF"/>
    <a:srgbClr val="CC3399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549" autoAdjust="0"/>
  </p:normalViewPr>
  <p:slideViewPr>
    <p:cSldViewPr>
      <p:cViewPr varScale="1">
        <p:scale>
          <a:sx n="80" d="100"/>
          <a:sy n="80" d="100"/>
        </p:scale>
        <p:origin x="170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8118"/>
    </p:cViewPr>
  </p:sorterViewPr>
  <p:notesViewPr>
    <p:cSldViewPr>
      <p:cViewPr varScale="1">
        <p:scale>
          <a:sx n="54" d="100"/>
          <a:sy n="54" d="100"/>
        </p:scale>
        <p:origin x="-1902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7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7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F0276C0B-FE56-46F6-926A-50AC63AD627B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27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11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11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3C64055-C5E7-45F2-908A-AF0C52CD756E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0DCD43A-FDC7-4F2A-BD5F-878380906026}" type="slidenum">
              <a:rPr lang="zh-CN" altLang="en-US">
                <a:latin typeface="Times New Roman" panose="02020603050405020304" pitchFamily="18" charset="0"/>
              </a:rPr>
              <a:t>1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8B97E8A-9522-4A18-A560-5C5D08D56894}" type="slidenum">
              <a:rPr lang="en-US" altLang="zh-CN"/>
              <a:t>7</a:t>
            </a:fld>
            <a:endParaRPr lang="en-US" altLang="zh-CN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9F89D66-0B34-40DF-80AC-E7932570A535}" type="slidenum">
              <a:rPr lang="zh-CN" altLang="en-US">
                <a:latin typeface="Times New Roman" panose="02020603050405020304" pitchFamily="18" charset="0"/>
              </a:rPr>
              <a:t>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F856A66-ED65-4459-B5C6-C81FF4E89011}" type="slidenum">
              <a:rPr lang="zh-CN" altLang="en-US">
                <a:latin typeface="Times New Roman" panose="02020603050405020304" pitchFamily="18" charset="0"/>
              </a:rPr>
              <a:t>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CFD58D1-50B4-4BA2-B3E0-18DDBD5FA764}" type="slidenum">
              <a:rPr lang="zh-CN" altLang="en-US">
                <a:latin typeface="Times New Roman" panose="02020603050405020304" pitchFamily="18" charset="0"/>
              </a:rPr>
              <a:t>10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0DCD43A-FDC7-4F2A-BD5F-878380906026}" type="slidenum">
              <a:rPr lang="zh-CN" altLang="en-US">
                <a:latin typeface="Times New Roman" panose="02020603050405020304" pitchFamily="18" charset="0"/>
              </a:rPr>
              <a:t>12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B36F14E-9C60-48CE-AB80-F299AAF5EC57}" type="slidenum">
              <a:rPr lang="en-US" altLang="zh-CN"/>
              <a:t>19</a:t>
            </a:fld>
            <a:endParaRPr lang="en-US" altLang="zh-CN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50000"/>
              </a:spcBef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ea typeface="创艺简黑体" pitchFamily="2" charset="-122"/>
                <a:sym typeface="Wingdings 2" pitchFamily="18" charset="2"/>
              </a:rPr>
              <a:t>TI:CPU</a:t>
            </a:r>
            <a:r>
              <a:rPr lang="zh-CN" altLang="en-US" sz="2400" dirty="0">
                <a:ea typeface="创艺简黑体" pitchFamily="2" charset="-122"/>
                <a:sym typeface="Wingdings 2" pitchFamily="18" charset="2"/>
              </a:rPr>
              <a:t>将一个数据写入发送缓冲器</a:t>
            </a:r>
            <a:r>
              <a:rPr lang="en-US" altLang="zh-CN" sz="2400" dirty="0">
                <a:ea typeface="创艺简黑体" pitchFamily="2" charset="-122"/>
                <a:sym typeface="Wingdings 2" pitchFamily="18" charset="2"/>
              </a:rPr>
              <a:t>SBUF</a:t>
            </a:r>
            <a:r>
              <a:rPr lang="zh-CN" altLang="en-US" sz="2400" dirty="0">
                <a:ea typeface="创艺简黑体" pitchFamily="2" charset="-122"/>
                <a:sym typeface="Wingdings 2" pitchFamily="18" charset="2"/>
              </a:rPr>
              <a:t>时，就启动发送，每发送完一个串行帧，硬件置位</a:t>
            </a:r>
            <a:r>
              <a:rPr lang="en-US" altLang="zh-CN" sz="2400" dirty="0">
                <a:ea typeface="创艺简黑体" pitchFamily="2" charset="-122"/>
                <a:sym typeface="Wingdings 2" pitchFamily="18" charset="2"/>
              </a:rPr>
              <a:t>TI</a:t>
            </a:r>
            <a:r>
              <a:rPr lang="zh-CN" altLang="en-US" sz="2400" dirty="0">
                <a:ea typeface="创艺简黑体" pitchFamily="2" charset="-122"/>
                <a:sym typeface="Wingdings 2" pitchFamily="18" charset="2"/>
              </a:rPr>
              <a:t>。但</a:t>
            </a:r>
            <a:r>
              <a:rPr lang="en-US" altLang="zh-CN" sz="2400" dirty="0">
                <a:ea typeface="创艺简黑体" pitchFamily="2" charset="-122"/>
                <a:sym typeface="Wingdings 2" pitchFamily="18" charset="2"/>
              </a:rPr>
              <a:t>CPU</a:t>
            </a:r>
            <a:r>
              <a:rPr lang="zh-CN" altLang="en-US" sz="2400" dirty="0">
                <a:ea typeface="创艺简黑体" pitchFamily="2" charset="-122"/>
                <a:sym typeface="Wingdings 2" pitchFamily="18" charset="2"/>
              </a:rPr>
              <a:t>响应中断时，并不清除</a:t>
            </a:r>
            <a:r>
              <a:rPr lang="en-US" altLang="zh-CN" sz="2400" dirty="0">
                <a:ea typeface="创艺简黑体" pitchFamily="2" charset="-122"/>
                <a:sym typeface="Wingdings 2" pitchFamily="18" charset="2"/>
              </a:rPr>
              <a:t>TI</a:t>
            </a:r>
            <a:r>
              <a:rPr lang="zh-CN" altLang="en-US" sz="2400" dirty="0">
                <a:ea typeface="创艺简黑体" pitchFamily="2" charset="-122"/>
                <a:sym typeface="Wingdings 2" pitchFamily="18" charset="2"/>
              </a:rPr>
              <a:t>，必须由软件清除。</a:t>
            </a:r>
          </a:p>
          <a:p>
            <a:pPr eaLnBrk="1" hangingPunct="1"/>
            <a:r>
              <a:rPr lang="en-US" altLang="zh-CN" dirty="0"/>
              <a:t>RI:</a:t>
            </a:r>
            <a:r>
              <a:rPr lang="en-US" altLang="zh-CN" sz="2400" dirty="0">
                <a:ea typeface="创艺简黑体" pitchFamily="2" charset="-122"/>
                <a:sym typeface="Wingdings 2" pitchFamily="18" charset="2"/>
              </a:rPr>
              <a:t> </a:t>
            </a:r>
            <a:r>
              <a:rPr lang="zh-CN" altLang="en-US" sz="2400" dirty="0">
                <a:ea typeface="创艺简黑体" pitchFamily="2" charset="-122"/>
                <a:sym typeface="Wingdings 2" pitchFamily="18" charset="2"/>
              </a:rPr>
              <a:t>在串行口允许接收时，每接收完一个串行帧，硬件置位</a:t>
            </a:r>
            <a:r>
              <a:rPr lang="en-US" altLang="zh-CN" sz="2400" dirty="0">
                <a:ea typeface="创艺简黑体" pitchFamily="2" charset="-122"/>
                <a:sym typeface="Wingdings 2" pitchFamily="18" charset="2"/>
              </a:rPr>
              <a:t>RI</a:t>
            </a:r>
            <a:r>
              <a:rPr lang="zh-CN" altLang="en-US" sz="2400" dirty="0">
                <a:ea typeface="创艺简黑体" pitchFamily="2" charset="-122"/>
                <a:sym typeface="Wingdings 2" pitchFamily="18" charset="2"/>
              </a:rPr>
              <a:t>。同样</a:t>
            </a:r>
            <a:r>
              <a:rPr lang="en-US" altLang="zh-CN" sz="2400" dirty="0">
                <a:ea typeface="创艺简黑体" pitchFamily="2" charset="-122"/>
                <a:sym typeface="Wingdings 2" pitchFamily="18" charset="2"/>
              </a:rPr>
              <a:t>CPU</a:t>
            </a:r>
            <a:r>
              <a:rPr lang="zh-CN" altLang="en-US" sz="2400" dirty="0">
                <a:ea typeface="创艺简黑体" pitchFamily="2" charset="-122"/>
                <a:sym typeface="Wingdings 2" pitchFamily="18" charset="2"/>
              </a:rPr>
              <a:t>响应中断时不会清除</a:t>
            </a:r>
            <a:r>
              <a:rPr lang="en-US" altLang="zh-CN" sz="2400" dirty="0">
                <a:ea typeface="创艺简黑体" pitchFamily="2" charset="-122"/>
                <a:sym typeface="Wingdings 2" pitchFamily="18" charset="2"/>
              </a:rPr>
              <a:t>RI</a:t>
            </a:r>
            <a:r>
              <a:rPr lang="zh-CN" altLang="en-US" sz="2400" dirty="0">
                <a:ea typeface="创艺简黑体" pitchFamily="2" charset="-122"/>
                <a:sym typeface="Wingdings 2" pitchFamily="18" charset="2"/>
              </a:rPr>
              <a:t>，必须由软件清除。</a:t>
            </a:r>
            <a:endParaRPr lang="zh-CN" altLang="en-US" sz="2400" dirty="0">
              <a:solidFill>
                <a:schemeClr val="hlink"/>
              </a:solidFill>
              <a:ea typeface="创艺简黑体" pitchFamily="2" charset="-122"/>
              <a:sym typeface="Wingdings 2" pitchFamily="18" charset="2"/>
            </a:endParaRP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0DFC37F-60D5-4374-9EF4-D89020F2FCE6}" type="slidenum">
              <a:rPr lang="en-US" altLang="zh-CN"/>
              <a:t>21</a:t>
            </a:fld>
            <a:endParaRPr lang="en-US" altLang="zh-CN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提出问题：假如执行主程序时，不想被所有中断源或部分中断源打断，程序员如何管理中断？</a:t>
            </a:r>
            <a:r>
              <a:rPr lang="en-US" altLang="zh-CN"/>
              <a:t>——</a:t>
            </a:r>
            <a:r>
              <a:rPr lang="zh-CN" altLang="en-US"/>
              <a:t>中断关闭或开放（中断允许）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359E048-027B-41F7-A4F8-7827E3D8C04A}" type="slidenum">
              <a:rPr lang="en-US" altLang="zh-CN"/>
              <a:t>23</a:t>
            </a:fld>
            <a:endParaRPr lang="en-US" altLang="zh-CN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提出问题：如果有两个或</a:t>
            </a:r>
            <a:r>
              <a:rPr lang="en-US" altLang="zh-CN"/>
              <a:t>3</a:t>
            </a:r>
            <a:r>
              <a:rPr lang="zh-CN" altLang="en-US"/>
              <a:t>个中断源同时申请中断，</a:t>
            </a:r>
            <a:r>
              <a:rPr lang="en-US" altLang="zh-CN"/>
              <a:t>CPU</a:t>
            </a:r>
            <a:r>
              <a:rPr lang="zh-CN" altLang="en-US"/>
              <a:t>如何处理？</a:t>
            </a:r>
            <a:r>
              <a:rPr lang="en-US" altLang="zh-CN"/>
              <a:t>——</a:t>
            </a:r>
            <a:r>
              <a:rPr lang="zh-CN" altLang="en-US"/>
              <a:t>中断优先级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1700213"/>
            <a:ext cx="9009063" cy="1052512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71550" y="836613"/>
            <a:ext cx="7772400" cy="14620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B319FBD-5BFB-4492-A426-0E19AFE72FC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7092EB-DE1D-47A6-86C9-6C88D69BDBF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FC8BB-961F-4E75-8118-C3DB6928B9D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7213CB-8AA3-480B-A13B-CB154B1E09F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5D8A22-1B58-4DC0-BC35-E31EB1C0306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D5CF37-5285-498E-93CD-E17014A6221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C6EA78-2B60-465D-AF63-3E5F604691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B37596-ED9B-4F6A-B4B7-7AFDD31CC2D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4588A5-6B4D-42B6-8F71-AE8076E7A1B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8A2F6A-49B2-41FF-AEE2-5DB7DB26C82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532135-A7DC-4AFE-A223-695598BC3EC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4AFADB-E7FC-4F39-B033-F252002587A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254000" y="44132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636588" y="441325"/>
            <a:ext cx="328612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377825" y="8636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747713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254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598488" y="3333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279400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defRPr kumimoji="0"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kumimoji="0" sz="1400" b="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fld id="{8AC83B7E-670B-437C-9935-5E6E0326C20C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38" name="Rectangle 14"/>
          <p:cNvSpPr>
            <a:spLocks noChangeArrowheads="1"/>
          </p:cNvSpPr>
          <p:nvPr userDrawn="1"/>
        </p:nvSpPr>
        <p:spPr bwMode="gray">
          <a:xfrm rot="5400000">
            <a:off x="-1870868" y="3823494"/>
            <a:ext cx="5033962" cy="698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.png"/><Relationship Id="rId4" Type="http://schemas.openxmlformats.org/officeDocument/2006/relationships/image" Target="../media/image2.wmf"/><Relationship Id="rId9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4" name="Text Box 2"/>
          <p:cNvSpPr txBox="1">
            <a:spLocks noChangeArrowheads="1"/>
          </p:cNvSpPr>
          <p:nvPr/>
        </p:nvSpPr>
        <p:spPr bwMode="auto">
          <a:xfrm>
            <a:off x="2051050" y="1412875"/>
            <a:ext cx="5256213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5.1 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中断的概念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5.2 </a:t>
            </a:r>
            <a:r>
              <a:rPr kumimoji="0" lang="zh-CN" altLang="en-US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中断控制系统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  </a:t>
            </a:r>
            <a:r>
              <a:rPr kumimoji="0"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5.2.1 </a:t>
            </a:r>
            <a:r>
              <a:rPr kumimoji="0" lang="zh-CN" altLang="en-US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中断系统的结构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  5.2.2 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中断控制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5.3 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中断处理过程</a:t>
            </a:r>
            <a:endParaRPr kumimoji="0"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5.4 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中断的编程及应用举例</a:t>
            </a:r>
          </a:p>
        </p:txBody>
      </p:sp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6213475" y="385763"/>
            <a:ext cx="26146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第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章 单片机的中断系统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8939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2"/>
          <p:cNvSpPr txBox="1">
            <a:spLocks noChangeArrowheads="1"/>
          </p:cNvSpPr>
          <p:nvPr/>
        </p:nvSpPr>
        <p:spPr bwMode="auto">
          <a:xfrm>
            <a:off x="755650" y="1628775"/>
            <a:ext cx="8001000" cy="2125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5000"/>
              </a:lnSpc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中断源是指在计算机系统中向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发出中断请求的来源（即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引起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中断的设备和事件）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 </a:t>
            </a:r>
          </a:p>
        </p:txBody>
      </p:sp>
      <p:sp>
        <p:nvSpPr>
          <p:cNvPr id="9219" name="Rectangle 4"/>
          <p:cNvSpPr>
            <a:spLocks noRot="1" noChangeArrowheads="1"/>
          </p:cNvSpPr>
          <p:nvPr/>
        </p:nvSpPr>
        <p:spPr bwMode="auto">
          <a:xfrm>
            <a:off x="755650" y="260350"/>
            <a:ext cx="7378700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zh-CN" sz="36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en-US" altLang="zh-CN" sz="3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MCS-51</a:t>
            </a:r>
            <a:r>
              <a:rPr kumimoji="0" lang="zh-CN" altLang="en-US" sz="3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的中断系统</a:t>
            </a:r>
            <a:r>
              <a:rPr kumimoji="0" lang="en-US" altLang="zh-CN" sz="3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kumimoji="0" lang="zh-CN" altLang="en-US" sz="3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中断源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7" name="Text Box 3"/>
          <p:cNvSpPr txBox="1">
            <a:spLocks noChangeArrowheads="1"/>
          </p:cNvSpPr>
          <p:nvPr/>
        </p:nvSpPr>
        <p:spPr bwMode="auto">
          <a:xfrm>
            <a:off x="1012702" y="1268908"/>
            <a:ext cx="6553200" cy="780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  <a:defRPr/>
            </a:pPr>
            <a:r>
              <a:rPr kumimoji="0"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一、</a:t>
            </a:r>
            <a:r>
              <a:rPr kumimoji="0"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8051</a:t>
            </a:r>
            <a:r>
              <a:rPr kumimoji="0"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单片机的</a:t>
            </a:r>
            <a:r>
              <a:rPr kumimoji="0"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5</a:t>
            </a:r>
            <a:r>
              <a:rPr kumimoji="0"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个中断源</a:t>
            </a:r>
          </a:p>
        </p:txBody>
      </p:sp>
      <p:grpSp>
        <p:nvGrpSpPr>
          <p:cNvPr id="205866" name="Group 42"/>
          <p:cNvGrpSpPr/>
          <p:nvPr/>
        </p:nvGrpSpPr>
        <p:grpSpPr bwMode="auto">
          <a:xfrm>
            <a:off x="1012702" y="2373867"/>
            <a:ext cx="7705725" cy="1168400"/>
            <a:chOff x="657" y="890"/>
            <a:chExt cx="4854" cy="736"/>
          </a:xfrm>
        </p:grpSpPr>
        <p:sp>
          <p:nvSpPr>
            <p:cNvPr id="205861" name="Rectangle 37"/>
            <p:cNvSpPr>
              <a:spLocks noChangeArrowheads="1"/>
            </p:cNvSpPr>
            <p:nvPr/>
          </p:nvSpPr>
          <p:spPr bwMode="auto">
            <a:xfrm>
              <a:off x="657" y="890"/>
              <a:ext cx="4854" cy="7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lang="zh-CN" altLang="en-US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外部中断源：</a:t>
              </a:r>
              <a:r>
                <a:rPr lang="zh-CN" altLang="en-US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外部中断</a:t>
              </a:r>
              <a:r>
                <a:rPr lang="en-US" altLang="zh-CN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0</a:t>
              </a:r>
              <a:r>
                <a:rPr lang="zh-CN" altLang="en-US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（</a:t>
              </a:r>
              <a:r>
                <a:rPr lang="en-US" altLang="zh-CN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INT0 </a:t>
              </a:r>
              <a:r>
                <a:rPr lang="zh-CN" altLang="en-US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）</a:t>
              </a:r>
            </a:p>
            <a:p>
              <a:pPr algn="l">
                <a:defRPr/>
              </a:pPr>
              <a:r>
                <a:rPr lang="zh-CN" altLang="en-US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            外部中断</a:t>
              </a:r>
              <a:r>
                <a:rPr lang="en-US" altLang="zh-CN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1</a:t>
              </a:r>
              <a:r>
                <a:rPr lang="zh-CN" altLang="en-US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（</a:t>
              </a:r>
              <a:r>
                <a:rPr lang="en-US" altLang="zh-CN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INT1 </a:t>
              </a:r>
              <a:r>
                <a:rPr lang="zh-CN" altLang="en-US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）</a:t>
              </a:r>
            </a:p>
          </p:txBody>
        </p:sp>
        <p:sp>
          <p:nvSpPr>
            <p:cNvPr id="205863" name="Line 39"/>
            <p:cNvSpPr>
              <a:spLocks noChangeShapeType="1"/>
            </p:cNvSpPr>
            <p:nvPr/>
          </p:nvSpPr>
          <p:spPr bwMode="auto">
            <a:xfrm>
              <a:off x="3308" y="919"/>
              <a:ext cx="499" cy="0"/>
            </a:xfrm>
            <a:prstGeom prst="line">
              <a:avLst/>
            </a:prstGeom>
            <a:noFill/>
            <a:ln w="31750" cap="sq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5864" name="Line 40"/>
            <p:cNvSpPr>
              <a:spLocks noChangeShapeType="1"/>
            </p:cNvSpPr>
            <p:nvPr/>
          </p:nvSpPr>
          <p:spPr bwMode="auto">
            <a:xfrm>
              <a:off x="3308" y="1328"/>
              <a:ext cx="499" cy="0"/>
            </a:xfrm>
            <a:prstGeom prst="line">
              <a:avLst/>
            </a:prstGeom>
            <a:noFill/>
            <a:ln w="31750" cap="sq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205865" name="Rectangle 41"/>
          <p:cNvSpPr>
            <a:spLocks noChangeArrowheads="1"/>
          </p:cNvSpPr>
          <p:nvPr/>
        </p:nvSpPr>
        <p:spPr bwMode="auto">
          <a:xfrm>
            <a:off x="1043364" y="4077577"/>
            <a:ext cx="7201044" cy="181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内部中断源：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定时</a:t>
            </a:r>
            <a:r>
              <a:rPr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计数中断</a:t>
            </a:r>
            <a:r>
              <a:rPr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T0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  <a:p>
            <a:pPr algn="l">
              <a:defRPr/>
            </a:pP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        定时</a:t>
            </a:r>
            <a:r>
              <a:rPr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计数中断</a:t>
            </a:r>
            <a:r>
              <a:rPr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T1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  <a:p>
            <a:pPr algn="l">
              <a:defRPr/>
            </a:pP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        串行中断（</a:t>
            </a:r>
            <a:r>
              <a:rPr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RX/TX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129324" y="389129"/>
            <a:ext cx="6553200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  <a:defRPr/>
            </a:pPr>
            <a:r>
              <a:rPr kumimoji="0" lang="en-US" altLang="zh-CN" sz="3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5.2.1 </a:t>
            </a:r>
            <a:r>
              <a:rPr kumimoji="0" lang="zh-CN" altLang="en-US" sz="3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中断系统的结构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05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ldLvl="0" animBg="1"/>
      <p:bldP spid="20586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1433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14340" name="Rectangle 6"/>
          <p:cNvSpPr>
            <a:spLocks noChangeArrowheads="1"/>
          </p:cNvSpPr>
          <p:nvPr/>
        </p:nvSpPr>
        <p:spPr bwMode="auto">
          <a:xfrm>
            <a:off x="0" y="188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85000" name="Rectangle 8"/>
          <p:cNvSpPr>
            <a:spLocks noChangeArrowheads="1"/>
          </p:cNvSpPr>
          <p:nvPr/>
        </p:nvSpPr>
        <p:spPr bwMode="auto">
          <a:xfrm>
            <a:off x="4479635" y="370445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defRPr/>
            </a:pPr>
            <a:endParaRPr lang="zh-CN" altLang="zh-CN" sz="3000" b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342" name="Rectangle 10"/>
          <p:cNvSpPr>
            <a:spLocks noChangeArrowheads="1"/>
          </p:cNvSpPr>
          <p:nvPr/>
        </p:nvSpPr>
        <p:spPr bwMode="auto">
          <a:xfrm>
            <a:off x="0" y="188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14343" name="Rectangle 11"/>
          <p:cNvSpPr>
            <a:spLocks noChangeArrowheads="1"/>
          </p:cNvSpPr>
          <p:nvPr/>
        </p:nvSpPr>
        <p:spPr bwMode="auto">
          <a:xfrm>
            <a:off x="4479635" y="369016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3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5013" name="Text Box 21"/>
          <p:cNvSpPr txBox="1">
            <a:spLocks noChangeArrowheads="1"/>
          </p:cNvSpPr>
          <p:nvPr/>
        </p:nvSpPr>
        <p:spPr bwMode="auto">
          <a:xfrm>
            <a:off x="395288" y="3933825"/>
            <a:ext cx="37084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3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</a:p>
        </p:txBody>
      </p:sp>
      <p:sp>
        <p:nvSpPr>
          <p:cNvPr id="85031" name="Rectangle 39"/>
          <p:cNvSpPr>
            <a:spLocks noChangeArrowheads="1"/>
          </p:cNvSpPr>
          <p:nvPr/>
        </p:nvSpPr>
        <p:spPr bwMode="auto">
          <a:xfrm>
            <a:off x="1042988" y="333375"/>
            <a:ext cx="44656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lang="zh-CN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外部中断源</a:t>
            </a:r>
          </a:p>
        </p:txBody>
      </p:sp>
      <p:grpSp>
        <p:nvGrpSpPr>
          <p:cNvPr id="85036" name="Group 44"/>
          <p:cNvGrpSpPr/>
          <p:nvPr/>
        </p:nvGrpSpPr>
        <p:grpSpPr bwMode="auto">
          <a:xfrm>
            <a:off x="577031" y="1991831"/>
            <a:ext cx="8064500" cy="554038"/>
            <a:chOff x="362" y="890"/>
            <a:chExt cx="5080" cy="349"/>
          </a:xfrm>
        </p:grpSpPr>
        <p:sp>
          <p:nvSpPr>
            <p:cNvPr id="84999" name="Text Box 7"/>
            <p:cNvSpPr txBox="1">
              <a:spLocks noChangeArrowheads="1"/>
            </p:cNvSpPr>
            <p:nvPr/>
          </p:nvSpPr>
          <p:spPr bwMode="auto">
            <a:xfrm>
              <a:off x="362" y="890"/>
              <a:ext cx="508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800100" indent="-342900"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257300" indent="-342900"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indent="-342900"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171700" indent="-342900"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rgbClr val="CC3399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3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外部中断</a:t>
              </a:r>
              <a:r>
                <a:rPr lang="en-US" altLang="zh-CN" sz="3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zh-CN" altLang="en-US" sz="3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3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INT</a:t>
              </a:r>
              <a:r>
                <a:rPr lang="en-US" altLang="zh-CN" sz="3000" baseline="-25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en-US" altLang="zh-CN" sz="3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3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）：</a:t>
              </a:r>
              <a:r>
                <a:rPr lang="zh-CN" alt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来自引脚</a:t>
              </a:r>
              <a:r>
                <a:rPr lang="en-US" altLang="zh-CN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3000" baseline="-25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3.2</a:t>
              </a:r>
              <a:endParaRPr lang="en-US" alt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5032" name="Line 40"/>
            <p:cNvSpPr>
              <a:spLocks noChangeShapeType="1"/>
            </p:cNvSpPr>
            <p:nvPr/>
          </p:nvSpPr>
          <p:spPr bwMode="auto">
            <a:xfrm>
              <a:off x="1882" y="935"/>
              <a:ext cx="408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3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85035" name="Group 43"/>
          <p:cNvGrpSpPr/>
          <p:nvPr/>
        </p:nvGrpSpPr>
        <p:grpSpPr bwMode="auto">
          <a:xfrm>
            <a:off x="577031" y="2647358"/>
            <a:ext cx="8064500" cy="554038"/>
            <a:chOff x="340" y="1440"/>
            <a:chExt cx="5080" cy="349"/>
          </a:xfrm>
        </p:grpSpPr>
        <p:sp>
          <p:nvSpPr>
            <p:cNvPr id="85033" name="Text Box 41"/>
            <p:cNvSpPr txBox="1">
              <a:spLocks noChangeArrowheads="1"/>
            </p:cNvSpPr>
            <p:nvPr/>
          </p:nvSpPr>
          <p:spPr bwMode="auto">
            <a:xfrm>
              <a:off x="340" y="1440"/>
              <a:ext cx="508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lang="en-US" altLang="zh-CN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3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外部中断</a:t>
              </a:r>
              <a:r>
                <a:rPr lang="en-US" altLang="zh-CN" sz="3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3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3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INT</a:t>
              </a:r>
              <a:r>
                <a:rPr lang="en-US" altLang="zh-CN" sz="3000" baseline="-25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3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3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）：</a:t>
              </a:r>
              <a:r>
                <a:rPr lang="zh-CN" alt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来自引脚</a:t>
              </a:r>
              <a:r>
                <a:rPr lang="en-US" altLang="zh-CN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3000" baseline="-25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3.3</a:t>
              </a:r>
              <a:endParaRPr lang="en-US" alt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5034" name="Line 42"/>
            <p:cNvSpPr>
              <a:spLocks noChangeShapeType="1"/>
            </p:cNvSpPr>
            <p:nvPr/>
          </p:nvSpPr>
          <p:spPr bwMode="auto">
            <a:xfrm>
              <a:off x="1855" y="1496"/>
              <a:ext cx="408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3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85038" name="Text Box 46"/>
          <p:cNvSpPr txBox="1">
            <a:spLocks noChangeArrowheads="1"/>
          </p:cNvSpPr>
          <p:nvPr/>
        </p:nvSpPr>
        <p:spPr bwMode="auto">
          <a:xfrm>
            <a:off x="792857" y="3358630"/>
            <a:ext cx="8064500" cy="2907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ts val="6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外部中断两种触发方式：</a:t>
            </a:r>
          </a:p>
          <a:p>
            <a:pPr marL="457200" indent="-457200" algn="l">
              <a:spcBef>
                <a:spcPts val="600"/>
              </a:spcBef>
              <a:buClr>
                <a:srgbClr val="CC3399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电平触发方式（低电平有效）</a:t>
            </a:r>
          </a:p>
          <a:p>
            <a:pPr marL="457200" indent="-457200" algn="l">
              <a:spcBef>
                <a:spcPts val="600"/>
              </a:spcBef>
              <a:buClr>
                <a:srgbClr val="CC3399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边沿触发方式（脉冲的下降沿有效，至少要维持一个机器周期）</a:t>
            </a:r>
          </a:p>
          <a:p>
            <a:pPr indent="0" algn="l">
              <a:spcBef>
                <a:spcPts val="600"/>
              </a:spcBef>
              <a:buClr>
                <a:srgbClr val="CC3399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#INT0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#INT1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引脚上有低电平或下降沿时，产生中断请求。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92857" y="960438"/>
            <a:ext cx="78486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以单片机特定引脚上的电平或脉冲状态为中断事件。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5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5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5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5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5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5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5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5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50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50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31" grpId="0"/>
      <p:bldP spid="85038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188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4479925" y="3660775"/>
            <a:ext cx="184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3600" b="0">
              <a:latin typeface="Times New Roman" panose="02020603050405020304" pitchFamily="18" charset="0"/>
            </a:endParaRP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0" y="188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0" y="3967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102409" name="Rectangle 9"/>
          <p:cNvSpPr>
            <a:spLocks noChangeArrowheads="1"/>
          </p:cNvSpPr>
          <p:nvPr/>
        </p:nvSpPr>
        <p:spPr bwMode="auto">
          <a:xfrm>
            <a:off x="1042988" y="333375"/>
            <a:ext cx="44656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lang="zh-CN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内部中断源</a:t>
            </a:r>
          </a:p>
        </p:txBody>
      </p:sp>
      <p:sp>
        <p:nvSpPr>
          <p:cNvPr id="102411" name="Text Box 11"/>
          <p:cNvSpPr txBox="1">
            <a:spLocks noChangeArrowheads="1"/>
          </p:cNvSpPr>
          <p:nvPr/>
        </p:nvSpPr>
        <p:spPr bwMode="auto">
          <a:xfrm>
            <a:off x="611188" y="1412875"/>
            <a:ext cx="8064500" cy="306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  <a:buClr>
                <a:srgbClr val="CC3399"/>
              </a:buClr>
              <a:buFont typeface="楷体_GB2312" pitchFamily="49" charset="-122"/>
              <a:buChar char="▲"/>
              <a:defRPr/>
            </a:pP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定时</a:t>
            </a:r>
            <a:r>
              <a:rPr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30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计数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中断</a:t>
            </a:r>
            <a:r>
              <a:rPr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T0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）：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内部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定时脉冲或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T0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引脚上接收的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外部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计数脉冲作用下，加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计数的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定时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计数发生器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溢出时，产生中断请求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algn="l">
              <a:lnSpc>
                <a:spcPct val="130000"/>
              </a:lnSpc>
              <a:buClr>
                <a:srgbClr val="CC3399"/>
              </a:buClr>
              <a:buFont typeface="楷体_GB2312" pitchFamily="49" charset="-122"/>
              <a:buChar char="▲"/>
              <a:defRPr/>
            </a:pP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定时</a:t>
            </a:r>
            <a:r>
              <a:rPr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计数中断</a:t>
            </a:r>
            <a:r>
              <a:rPr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T1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）：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定时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计数发生溢出时，产生中断请求。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（同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T0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中断）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9" grpId="0" build="p"/>
      <p:bldP spid="10241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0" y="188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4479925" y="3660775"/>
            <a:ext cx="184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3600" b="0">
              <a:latin typeface="Times New Roman" panose="02020603050405020304" pitchFamily="18" charset="0"/>
            </a:endParaRP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0" y="188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0" y="3967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395288" y="3933825"/>
            <a:ext cx="3708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0"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103434" name="Text Box 10"/>
          <p:cNvSpPr txBox="1">
            <a:spLocks noChangeArrowheads="1"/>
          </p:cNvSpPr>
          <p:nvPr/>
        </p:nvSpPr>
        <p:spPr bwMode="auto">
          <a:xfrm>
            <a:off x="827088" y="549275"/>
            <a:ext cx="7993062" cy="3109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  <a:buClr>
                <a:srgbClr val="CC3399"/>
              </a:buClr>
              <a:buFont typeface="楷体_GB2312" pitchFamily="49" charset="-122"/>
              <a:buChar char="▲"/>
              <a:defRPr/>
            </a:pPr>
            <a:r>
              <a:rPr lang="zh-CN" altLang="en-US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串行中断：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为完成串行数据传送而设置。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30000"/>
              </a:lnSpc>
              <a:buClr>
                <a:srgbClr val="CC3399"/>
              </a:buClr>
              <a:buFont typeface="楷体_GB2312" pitchFamily="49" charset="-122"/>
              <a:buChar char="▲"/>
              <a:defRPr/>
            </a:pP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在串行口进行发送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接收数据时，</a:t>
            </a:r>
            <a:r>
              <a:rPr kumimoji="0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每发送完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一组串行数据时，串行口控制寄存器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SCON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中的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TI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中断标志位置“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1”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，每</a:t>
            </a:r>
            <a:r>
              <a:rPr kumimoji="0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接收完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一组串行数据则使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RI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置“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1”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，并都</a:t>
            </a:r>
            <a:r>
              <a:rPr kumimoji="0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自动向</a:t>
            </a:r>
            <a:r>
              <a:rPr kumimoji="0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CPU</a:t>
            </a:r>
            <a:r>
              <a:rPr kumimoji="0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发出串行口中断请求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 </a:t>
            </a:r>
          </a:p>
        </p:txBody>
      </p:sp>
      <p:sp>
        <p:nvSpPr>
          <p:cNvPr id="103435" name="Text Box 11"/>
          <p:cNvSpPr txBox="1">
            <a:spLocks noChangeArrowheads="1"/>
          </p:cNvSpPr>
          <p:nvPr/>
        </p:nvSpPr>
        <p:spPr bwMode="auto">
          <a:xfrm>
            <a:off x="827088" y="3883342"/>
            <a:ext cx="8065392" cy="1930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>
                <a:srgbClr val="CC3399"/>
              </a:buClr>
              <a:buFont typeface="楷体_GB2312" pitchFamily="49" charset="-122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说明：外部中断源中断请求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需设置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，而内部中断源中断请求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不需设置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自动产生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34" grpId="0"/>
      <p:bldP spid="10343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719137" y="11113"/>
            <a:ext cx="8066087" cy="11969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二、</a:t>
            </a:r>
            <a:r>
              <a:rPr lang="en-US" altLang="zh-CN" sz="3200" b="1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MCS-51</a:t>
            </a:r>
            <a:r>
              <a:rPr lang="zh-CN" altLang="en-US" sz="3200" b="1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的中断请求标志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单片机如何得知中断信号出现？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zh-CN" altLang="en-US" sz="3200" b="1" dirty="0">
              <a:solidFill>
                <a:schemeClr val="hlin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6875" name="Text Box 27"/>
          <p:cNvSpPr txBox="1">
            <a:spLocks noChangeArrowheads="1"/>
          </p:cNvSpPr>
          <p:nvPr/>
        </p:nvSpPr>
        <p:spPr bwMode="auto">
          <a:xfrm>
            <a:off x="927100" y="5238750"/>
            <a:ext cx="7993063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Clr>
                <a:srgbClr val="FF3300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每一个中断源都有相应的中断标志位；</a:t>
            </a:r>
          </a:p>
          <a:p>
            <a:pPr algn="l">
              <a:buClr>
                <a:srgbClr val="FF3300"/>
              </a:buClr>
              <a:buFont typeface="Wingdings" panose="05000000000000000000" pitchFamily="2" charset="2"/>
              <a:buChar char="§"/>
              <a:defRPr/>
            </a:pP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某一个中断源申请中断，相应中断标志位置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pic>
        <p:nvPicPr>
          <p:cNvPr id="36" name="Picture 10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0" t="28586" r="19704" b="24510"/>
          <a:stretch>
            <a:fillRect/>
          </a:stretch>
        </p:blipFill>
        <p:spPr bwMode="auto">
          <a:xfrm>
            <a:off x="611188" y="1252538"/>
            <a:ext cx="8281987" cy="3897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Text Box 12"/>
          <p:cNvSpPr txBox="1">
            <a:spLocks noChangeArrowheads="1"/>
          </p:cNvSpPr>
          <p:nvPr/>
        </p:nvSpPr>
        <p:spPr bwMode="auto">
          <a:xfrm>
            <a:off x="719137" y="5322252"/>
            <a:ext cx="7945437" cy="107696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CPU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通过定期查看中断请求标志位是否为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，便可知道有无中断请求。 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921A847-DFE0-489F-8776-9466C9C60745}"/>
              </a:ext>
            </a:extLst>
          </p:cNvPr>
          <p:cNvSpPr/>
          <p:nvPr/>
        </p:nvSpPr>
        <p:spPr bwMode="auto">
          <a:xfrm>
            <a:off x="7236296" y="1844824"/>
            <a:ext cx="1152128" cy="3168352"/>
          </a:xfrm>
          <a:prstGeom prst="roundRect">
            <a:avLst/>
          </a:prstGeom>
          <a:noFill/>
          <a:ln w="38100" cap="sq" cmpd="sng" algn="ctr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8" grpId="1" animBg="1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6213475" y="385763"/>
            <a:ext cx="26146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第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章 单片机的中断系统 </a:t>
            </a:r>
          </a:p>
        </p:txBody>
      </p:sp>
      <p:sp>
        <p:nvSpPr>
          <p:cNvPr id="18435" name="Rectangle 43"/>
          <p:cNvSpPr>
            <a:spLocks noChangeArrowheads="1"/>
          </p:cNvSpPr>
          <p:nvPr/>
        </p:nvSpPr>
        <p:spPr bwMode="auto">
          <a:xfrm>
            <a:off x="470430" y="239247"/>
            <a:ext cx="59017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中断请求标志的置“</a:t>
            </a: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”原理 </a:t>
            </a:r>
          </a:p>
        </p:txBody>
      </p:sp>
      <p:grpSp>
        <p:nvGrpSpPr>
          <p:cNvPr id="1281071" name="Group 47"/>
          <p:cNvGrpSpPr/>
          <p:nvPr/>
        </p:nvGrpSpPr>
        <p:grpSpPr bwMode="auto">
          <a:xfrm>
            <a:off x="485775" y="1035050"/>
            <a:ext cx="5486400" cy="457200"/>
            <a:chOff x="262" y="685"/>
            <a:chExt cx="3456" cy="288"/>
          </a:xfrm>
        </p:grpSpPr>
        <p:graphicFrame>
          <p:nvGraphicFramePr>
            <p:cNvPr id="18463" name="Object 8"/>
            <p:cNvGraphicFramePr>
              <a:graphicFrameLocks noChangeAspect="1"/>
            </p:cNvGraphicFramePr>
            <p:nvPr/>
          </p:nvGraphicFramePr>
          <p:xfrm>
            <a:off x="2741" y="704"/>
            <a:ext cx="42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355600" imgH="215900" progId="Equation.3">
                    <p:embed/>
                  </p:oleObj>
                </mc:Choice>
                <mc:Fallback>
                  <p:oleObj name="公式" r:id="rId3" imgW="355600" imgH="2159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1" y="704"/>
                          <a:ext cx="424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4" name="Rectangle 44"/>
            <p:cNvSpPr>
              <a:spLocks noChangeArrowheads="1"/>
            </p:cNvSpPr>
            <p:nvPr/>
          </p:nvSpPr>
          <p:spPr bwMode="auto">
            <a:xfrm>
              <a:off x="262" y="685"/>
              <a:ext cx="34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1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、外部中断源（          和          ）</a:t>
              </a:r>
            </a:p>
          </p:txBody>
        </p:sp>
        <p:graphicFrame>
          <p:nvGraphicFramePr>
            <p:cNvPr id="18465" name="Object 45"/>
            <p:cNvGraphicFramePr>
              <a:graphicFrameLocks noChangeAspect="1"/>
            </p:cNvGraphicFramePr>
            <p:nvPr/>
          </p:nvGraphicFramePr>
          <p:xfrm>
            <a:off x="2065" y="703"/>
            <a:ext cx="442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81000" imgH="215900" progId="Equation.3">
                    <p:embed/>
                  </p:oleObj>
                </mc:Choice>
                <mc:Fallback>
                  <p:oleObj name="公式" r:id="rId5" imgW="381000" imgH="2159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5" y="703"/>
                          <a:ext cx="442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81070" name="Rectangle 46"/>
          <p:cNvSpPr>
            <a:spLocks noChangeArrowheads="1"/>
          </p:cNvSpPr>
          <p:nvPr/>
        </p:nvSpPr>
        <p:spPr bwMode="auto">
          <a:xfrm>
            <a:off x="485458" y="5391468"/>
            <a:ext cx="8567737" cy="1309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00000"/>
              </a:lnSpc>
              <a:spcBef>
                <a:spcPct val="15000"/>
              </a:spcBef>
              <a:buFontTx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逻辑开关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IT0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IT1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用于选择触发信号类型：</a:t>
            </a:r>
          </a:p>
          <a:p>
            <a:pPr algn="l">
              <a:lnSpc>
                <a:spcPct val="100000"/>
              </a:lnSpc>
              <a:spcBef>
                <a:spcPct val="15000"/>
              </a:spcBef>
              <a:buFontTx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ITx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=0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→选择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电平触发（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低电平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经非门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</a:t>
            </a:r>
            <a:r>
              <a:rPr lang="en-US" altLang="zh-CN" sz="240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IEx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置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  <a:p>
            <a:pPr algn="l">
              <a:lnSpc>
                <a:spcPct val="100000"/>
              </a:lnSpc>
              <a:spcBef>
                <a:spcPct val="15000"/>
              </a:spcBef>
              <a:buFontTx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ITx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=1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→选择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脉冲触发（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负脉冲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经施密特触发器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</a:t>
            </a:r>
            <a:r>
              <a:rPr lang="en-US" altLang="zh-CN" sz="240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IEx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置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1)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281134" name="Group 110"/>
          <p:cNvGrpSpPr/>
          <p:nvPr/>
        </p:nvGrpSpPr>
        <p:grpSpPr bwMode="auto">
          <a:xfrm>
            <a:off x="2659063" y="1492250"/>
            <a:ext cx="3313112" cy="2901950"/>
            <a:chOff x="1865" y="1350"/>
            <a:chExt cx="2087" cy="1472"/>
          </a:xfrm>
        </p:grpSpPr>
        <p:pic>
          <p:nvPicPr>
            <p:cNvPr id="18460" name="Picture 42"/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016" t="27464" r="28592" b="21550"/>
            <a:stretch>
              <a:fillRect/>
            </a:stretch>
          </p:blipFill>
          <p:spPr bwMode="auto">
            <a:xfrm>
              <a:off x="2082" y="1350"/>
              <a:ext cx="1870" cy="1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461" name="AutoShape 53"/>
            <p:cNvSpPr>
              <a:spLocks noChangeArrowheads="1"/>
            </p:cNvSpPr>
            <p:nvPr/>
          </p:nvSpPr>
          <p:spPr bwMode="auto">
            <a:xfrm flipH="1">
              <a:off x="1878" y="2447"/>
              <a:ext cx="255" cy="112"/>
            </a:xfrm>
            <a:prstGeom prst="homePlate">
              <a:avLst>
                <a:gd name="adj" fmla="val 5692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anose="02020603050405020304" pitchFamily="18" charset="0"/>
                </a:rPr>
                <a:t>P3.3</a:t>
              </a:r>
            </a:p>
          </p:txBody>
        </p:sp>
        <p:sp>
          <p:nvSpPr>
            <p:cNvPr id="18462" name="AutoShape 54"/>
            <p:cNvSpPr>
              <a:spLocks noChangeArrowheads="1"/>
            </p:cNvSpPr>
            <p:nvPr/>
          </p:nvSpPr>
          <p:spPr bwMode="auto">
            <a:xfrm flipH="1">
              <a:off x="1865" y="1645"/>
              <a:ext cx="255" cy="112"/>
            </a:xfrm>
            <a:prstGeom prst="homePlate">
              <a:avLst>
                <a:gd name="adj" fmla="val 5692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anose="02020603050405020304" pitchFamily="18" charset="0"/>
                </a:rPr>
                <a:t>P3.2</a:t>
              </a:r>
            </a:p>
          </p:txBody>
        </p:sp>
      </p:grpSp>
      <p:grpSp>
        <p:nvGrpSpPr>
          <p:cNvPr id="1281133" name="Group 109"/>
          <p:cNvGrpSpPr/>
          <p:nvPr/>
        </p:nvGrpSpPr>
        <p:grpSpPr bwMode="auto">
          <a:xfrm>
            <a:off x="420688" y="1741229"/>
            <a:ext cx="1909762" cy="2305309"/>
            <a:chOff x="420" y="1638"/>
            <a:chExt cx="1020" cy="1025"/>
          </a:xfrm>
        </p:grpSpPr>
        <p:pic>
          <p:nvPicPr>
            <p:cNvPr id="18455" name="Picture 93"/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446" t="29094" r="45390" b="48322"/>
            <a:stretch>
              <a:fillRect/>
            </a:stretch>
          </p:blipFill>
          <p:spPr bwMode="auto">
            <a:xfrm>
              <a:off x="807" y="1714"/>
              <a:ext cx="633" cy="9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456" name="Rectangle 104"/>
            <p:cNvSpPr>
              <a:spLocks noChangeArrowheads="1"/>
            </p:cNvSpPr>
            <p:nvPr/>
          </p:nvSpPr>
          <p:spPr bwMode="auto">
            <a:xfrm>
              <a:off x="642" y="1638"/>
              <a:ext cx="688" cy="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1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电平信号</a:t>
              </a:r>
            </a:p>
          </p:txBody>
        </p:sp>
        <p:sp>
          <p:nvSpPr>
            <p:cNvPr id="18457" name="Rectangle 105"/>
            <p:cNvSpPr>
              <a:spLocks noChangeArrowheads="1"/>
            </p:cNvSpPr>
            <p:nvPr/>
          </p:nvSpPr>
          <p:spPr bwMode="auto">
            <a:xfrm>
              <a:off x="630" y="2078"/>
              <a:ext cx="688" cy="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脉冲信号</a:t>
              </a:r>
            </a:p>
          </p:txBody>
        </p:sp>
        <p:pic>
          <p:nvPicPr>
            <p:cNvPr id="18458" name="Picture 107"/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855" t="29094" r="45390" b="62146"/>
            <a:stretch>
              <a:fillRect/>
            </a:stretch>
          </p:blipFill>
          <p:spPr bwMode="auto">
            <a:xfrm flipH="1">
              <a:off x="506" y="1715"/>
              <a:ext cx="38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8459" name="Picture 108"/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446" t="37447" r="48564" b="48322"/>
            <a:stretch>
              <a:fillRect/>
            </a:stretch>
          </p:blipFill>
          <p:spPr bwMode="auto">
            <a:xfrm flipV="1">
              <a:off x="420" y="2070"/>
              <a:ext cx="453" cy="5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281138" name="Group 114"/>
          <p:cNvGrpSpPr/>
          <p:nvPr/>
        </p:nvGrpSpPr>
        <p:grpSpPr bwMode="auto">
          <a:xfrm>
            <a:off x="6027738" y="1565275"/>
            <a:ext cx="2968624" cy="2720975"/>
            <a:chOff x="3797" y="1438"/>
            <a:chExt cx="1712" cy="1262"/>
          </a:xfrm>
        </p:grpSpPr>
        <p:grpSp>
          <p:nvGrpSpPr>
            <p:cNvPr id="18444" name="Group 5"/>
            <p:cNvGrpSpPr/>
            <p:nvPr/>
          </p:nvGrpSpPr>
          <p:grpSpPr bwMode="auto">
            <a:xfrm>
              <a:off x="3797" y="1438"/>
              <a:ext cx="1712" cy="1218"/>
              <a:chOff x="1398" y="1753"/>
              <a:chExt cx="2467" cy="1941"/>
            </a:xfrm>
          </p:grpSpPr>
          <p:grpSp>
            <p:nvGrpSpPr>
              <p:cNvPr id="18446" name="Group 6"/>
              <p:cNvGrpSpPr/>
              <p:nvPr/>
            </p:nvGrpSpPr>
            <p:grpSpPr bwMode="auto">
              <a:xfrm>
                <a:off x="1398" y="1753"/>
                <a:ext cx="2467" cy="1941"/>
                <a:chOff x="1398" y="1753"/>
                <a:chExt cx="2467" cy="1941"/>
              </a:xfrm>
            </p:grpSpPr>
            <p:pic>
              <p:nvPicPr>
                <p:cNvPr id="18448" name="Picture 7"/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98" y="1753"/>
                  <a:ext cx="2467" cy="18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8449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942" y="2860"/>
                  <a:ext cx="206" cy="1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900">
                      <a:latin typeface="Times New Roman" panose="02020603050405020304" pitchFamily="18" charset="0"/>
                    </a:rPr>
                    <a:t>3</a:t>
                  </a:r>
                  <a:endParaRPr kumimoji="0" lang="en-US" altLang="zh-CN" sz="180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8450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992" y="3311"/>
                  <a:ext cx="206" cy="1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900">
                      <a:latin typeface="Times New Roman" panose="02020603050405020304" pitchFamily="18" charset="0"/>
                    </a:rPr>
                    <a:t>4</a:t>
                  </a:r>
                  <a:endParaRPr kumimoji="0" lang="en-US" altLang="zh-CN" sz="180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8451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123" y="3296"/>
                  <a:ext cx="206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900">
                      <a:latin typeface="Times New Roman" panose="02020603050405020304" pitchFamily="18" charset="0"/>
                    </a:rPr>
                    <a:t>1</a:t>
                  </a:r>
                  <a:endParaRPr kumimoji="0" lang="en-US" altLang="zh-CN" sz="180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845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137" y="2023"/>
                  <a:ext cx="206" cy="1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900">
                      <a:latin typeface="Times New Roman" panose="02020603050405020304" pitchFamily="18" charset="0"/>
                    </a:rPr>
                    <a:t>2</a:t>
                  </a:r>
                  <a:endParaRPr kumimoji="0" lang="en-US" altLang="zh-CN" sz="180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845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477" y="3543"/>
                  <a:ext cx="564" cy="1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zh-CN" altLang="en-US" sz="700">
                      <a:latin typeface="Times New Roman" panose="02020603050405020304" pitchFamily="18" charset="0"/>
                    </a:rPr>
                    <a:t>第二输入功能</a:t>
                  </a:r>
                  <a:endParaRPr kumimoji="0" lang="zh-CN" altLang="en-US" sz="240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8454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165" y="2678"/>
                  <a:ext cx="206" cy="1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200">
                      <a:latin typeface="Times New Roman" panose="02020603050405020304" pitchFamily="18" charset="0"/>
                    </a:rPr>
                    <a:t>V</a:t>
                  </a:r>
                  <a:endParaRPr kumimoji="0" lang="en-US" altLang="zh-CN" sz="2400">
                    <a:latin typeface="Verdana" panose="020B0604030504040204" pitchFamily="34" charset="0"/>
                  </a:endParaRPr>
                </a:p>
              </p:txBody>
            </p:sp>
          </p:grpSp>
          <p:sp>
            <p:nvSpPr>
              <p:cNvPr id="18447" name="Oval 14"/>
              <p:cNvSpPr>
                <a:spLocks noChangeArrowheads="1"/>
              </p:cNvSpPr>
              <p:nvPr/>
            </p:nvSpPr>
            <p:spPr bwMode="auto">
              <a:xfrm>
                <a:off x="3021" y="2884"/>
                <a:ext cx="56" cy="5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8445" name="Rectangle 112"/>
            <p:cNvSpPr>
              <a:spLocks noChangeArrowheads="1"/>
            </p:cNvSpPr>
            <p:nvPr/>
          </p:nvSpPr>
          <p:spPr bwMode="auto">
            <a:xfrm>
              <a:off x="4478" y="2549"/>
              <a:ext cx="429" cy="151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1281137" name="Picture 113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96" t="28416" r="19704" b="24510"/>
          <a:stretch>
            <a:fillRect/>
          </a:stretch>
        </p:blipFill>
        <p:spPr bwMode="auto">
          <a:xfrm>
            <a:off x="6477074" y="1727200"/>
            <a:ext cx="1911350" cy="275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椭圆 32"/>
          <p:cNvSpPr>
            <a:spLocks noChangeArrowheads="1"/>
          </p:cNvSpPr>
          <p:nvPr/>
        </p:nvSpPr>
        <p:spPr bwMode="auto">
          <a:xfrm>
            <a:off x="6732588" y="2133600"/>
            <a:ext cx="1584325" cy="438150"/>
          </a:xfrm>
          <a:prstGeom prst="ellipse">
            <a:avLst/>
          </a:prstGeom>
          <a:noFill/>
          <a:ln w="34925" cap="sq" algn="ctr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34" name="椭圆 33"/>
          <p:cNvSpPr>
            <a:spLocks noChangeArrowheads="1"/>
          </p:cNvSpPr>
          <p:nvPr/>
        </p:nvSpPr>
        <p:spPr bwMode="auto">
          <a:xfrm>
            <a:off x="6729413" y="2862263"/>
            <a:ext cx="1582737" cy="438150"/>
          </a:xfrm>
          <a:prstGeom prst="ellipse">
            <a:avLst/>
          </a:prstGeom>
          <a:noFill/>
          <a:ln w="34925" cap="sq" algn="ctr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539115" y="4315460"/>
            <a:ext cx="8258810" cy="977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  <a:spcBef>
                <a:spcPct val="15000"/>
              </a:spcBef>
              <a:buFontTx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当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#INT0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#INT1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接收到低电平或下降沿时，中断请求标志被置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“1”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AE5E0E-AB1E-47BD-8873-7AC8F32E69C7}"/>
              </a:ext>
            </a:extLst>
          </p:cNvPr>
          <p:cNvSpPr txBox="1"/>
          <p:nvPr/>
        </p:nvSpPr>
        <p:spPr>
          <a:xfrm>
            <a:off x="5580112" y="1063625"/>
            <a:ext cx="3217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0" dirty="0">
                <a:highlight>
                  <a:srgbClr val="FFFF00"/>
                </a:highlight>
              </a:rPr>
              <a:t> Interrupt Exterior</a:t>
            </a:r>
            <a:endParaRPr lang="zh-CN" altLang="en-US" sz="2400" dirty="0">
              <a:highlight>
                <a:srgbClr val="FFFF00"/>
              </a:highlight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1E0EDE-16F0-4650-AD18-E6E4581A815B}"/>
              </a:ext>
            </a:extLst>
          </p:cNvPr>
          <p:cNvSpPr txBox="1"/>
          <p:nvPr/>
        </p:nvSpPr>
        <p:spPr>
          <a:xfrm>
            <a:off x="4487862" y="1881083"/>
            <a:ext cx="726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IE0</a:t>
            </a:r>
            <a:endParaRPr lang="zh-CN" altLang="en-US" sz="2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5D23177-12CA-4D4A-8F22-DB61A092C849}"/>
              </a:ext>
            </a:extLst>
          </p:cNvPr>
          <p:cNvSpPr txBox="1"/>
          <p:nvPr/>
        </p:nvSpPr>
        <p:spPr>
          <a:xfrm>
            <a:off x="4487862" y="3511311"/>
            <a:ext cx="726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IE1</a:t>
            </a:r>
            <a:endParaRPr lang="zh-CN" altLang="en-US" sz="2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8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8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8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281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81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281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28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1281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" grpId="0"/>
      <p:bldP spid="4" grpId="0"/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6213475" y="385763"/>
            <a:ext cx="26146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第</a:t>
            </a:r>
            <a:r>
              <a:rPr lang="en-US" altLang="zh-CN" sz="16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</a:t>
            </a:r>
            <a:r>
              <a:rPr lang="zh-CN" altLang="en-US" sz="16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章 单片机的中断系统 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703263" y="520700"/>
            <a:ext cx="54864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、内部中断源（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T0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T1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315844" name="Rectangle 4"/>
          <p:cNvSpPr>
            <a:spLocks noChangeArrowheads="1"/>
          </p:cNvSpPr>
          <p:nvPr/>
        </p:nvSpPr>
        <p:spPr bwMode="auto">
          <a:xfrm>
            <a:off x="827088" y="4268788"/>
            <a:ext cx="7620000" cy="164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当控制信号有效时，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T0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或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T1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对脉冲信号进行计数。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当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T0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T1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被</a:t>
            </a:r>
            <a:r>
              <a:rPr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充满溢出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→向寄存器位</a:t>
            </a:r>
            <a:r>
              <a:rPr lang="en-US" altLang="zh-CN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TF0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TF1 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“进位” →置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pic>
        <p:nvPicPr>
          <p:cNvPr id="1315845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51" t="25111" r="18497" b="24843"/>
          <a:stretch>
            <a:fillRect/>
          </a:stretch>
        </p:blipFill>
        <p:spPr bwMode="auto">
          <a:xfrm>
            <a:off x="533847" y="1189672"/>
            <a:ext cx="5673725" cy="307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5847" name="Picture 7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96" t="28416" r="19704" b="24510"/>
          <a:stretch>
            <a:fillRect/>
          </a:stretch>
        </p:blipFill>
        <p:spPr bwMode="auto">
          <a:xfrm>
            <a:off x="6291263" y="1196975"/>
            <a:ext cx="2168525" cy="318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椭圆 7"/>
          <p:cNvSpPr>
            <a:spLocks noChangeArrowheads="1"/>
          </p:cNvSpPr>
          <p:nvPr/>
        </p:nvSpPr>
        <p:spPr bwMode="auto">
          <a:xfrm>
            <a:off x="6583363" y="2141538"/>
            <a:ext cx="1584325" cy="431800"/>
          </a:xfrm>
          <a:prstGeom prst="ellipse">
            <a:avLst/>
          </a:prstGeom>
          <a:noFill/>
          <a:ln w="34925" cap="sq" algn="ctr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9" name="椭圆 8"/>
          <p:cNvSpPr>
            <a:spLocks noChangeArrowheads="1"/>
          </p:cNvSpPr>
          <p:nvPr/>
        </p:nvSpPr>
        <p:spPr bwMode="auto">
          <a:xfrm>
            <a:off x="6583363" y="3005138"/>
            <a:ext cx="1584325" cy="431800"/>
          </a:xfrm>
          <a:prstGeom prst="ellipse">
            <a:avLst/>
          </a:prstGeom>
          <a:noFill/>
          <a:ln w="34925" cap="sq" algn="ctr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1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1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1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5844" grpId="0" bldLvl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5185" name="Group 65"/>
          <p:cNvGrpSpPr/>
          <p:nvPr/>
        </p:nvGrpSpPr>
        <p:grpSpPr bwMode="auto">
          <a:xfrm>
            <a:off x="1544638" y="1468438"/>
            <a:ext cx="4984750" cy="2911475"/>
            <a:chOff x="1406" y="931"/>
            <a:chExt cx="2770" cy="1834"/>
          </a:xfrm>
        </p:grpSpPr>
        <p:pic>
          <p:nvPicPr>
            <p:cNvPr id="20511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95" t="22917" r="21263" b="22110"/>
            <a:stretch>
              <a:fillRect/>
            </a:stretch>
          </p:blipFill>
          <p:spPr bwMode="auto">
            <a:xfrm>
              <a:off x="1406" y="931"/>
              <a:ext cx="2770" cy="1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512" name="Rectangle 60"/>
            <p:cNvSpPr>
              <a:spLocks noChangeArrowheads="1"/>
            </p:cNvSpPr>
            <p:nvPr/>
          </p:nvSpPr>
          <p:spPr bwMode="auto">
            <a:xfrm>
              <a:off x="2330" y="2432"/>
              <a:ext cx="300" cy="1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513" name="Line 61"/>
            <p:cNvSpPr>
              <a:spLocks noChangeShapeType="1"/>
            </p:cNvSpPr>
            <p:nvPr/>
          </p:nvSpPr>
          <p:spPr bwMode="auto">
            <a:xfrm flipH="1">
              <a:off x="2310" y="2490"/>
              <a:ext cx="3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6213475" y="385763"/>
            <a:ext cx="26146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单片机的中断系统 </a:t>
            </a:r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709613" y="552450"/>
            <a:ext cx="54864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、内部中断源（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TX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RX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285124" name="Rectangle 4"/>
          <p:cNvSpPr>
            <a:spLocks noChangeArrowheads="1"/>
          </p:cNvSpPr>
          <p:nvPr/>
        </p:nvSpPr>
        <p:spPr bwMode="auto">
          <a:xfrm>
            <a:off x="898525" y="4298950"/>
            <a:ext cx="7956550" cy="190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  <a:buFontTx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（发送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SBUF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中的数据→输出门→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TXD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端口）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ct val="30000"/>
              </a:spcBef>
              <a:buFontTx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发送控制器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寄存器位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置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；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ct val="30000"/>
              </a:spcBef>
              <a:buFontTx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RXD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引脚的数据→移位寄存器→接收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SBUF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ct val="30000"/>
              </a:spcBef>
              <a:buFontTx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接收控制器→寄存器位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置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</a:p>
        </p:txBody>
      </p:sp>
      <p:grpSp>
        <p:nvGrpSpPr>
          <p:cNvPr id="1285168" name="Group 48"/>
          <p:cNvGrpSpPr/>
          <p:nvPr/>
        </p:nvGrpSpPr>
        <p:grpSpPr bwMode="auto">
          <a:xfrm>
            <a:off x="827584" y="2903538"/>
            <a:ext cx="4459288" cy="1300162"/>
            <a:chOff x="781" y="1850"/>
            <a:chExt cx="2809" cy="819"/>
          </a:xfrm>
        </p:grpSpPr>
        <p:grpSp>
          <p:nvGrpSpPr>
            <p:cNvPr id="20501" name="Group 38"/>
            <p:cNvGrpSpPr/>
            <p:nvPr/>
          </p:nvGrpSpPr>
          <p:grpSpPr bwMode="auto">
            <a:xfrm>
              <a:off x="1562" y="1850"/>
              <a:ext cx="2028" cy="819"/>
              <a:chOff x="1562" y="1850"/>
              <a:chExt cx="2028" cy="819"/>
            </a:xfrm>
          </p:grpSpPr>
          <p:sp>
            <p:nvSpPr>
              <p:cNvPr id="20505" name="Line 39"/>
              <p:cNvSpPr>
                <a:spLocks noChangeShapeType="1"/>
              </p:cNvSpPr>
              <p:nvPr/>
            </p:nvSpPr>
            <p:spPr bwMode="auto">
              <a:xfrm>
                <a:off x="2579" y="1862"/>
                <a:ext cx="0" cy="39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6" name="Line 40"/>
              <p:cNvSpPr>
                <a:spLocks noChangeShapeType="1"/>
              </p:cNvSpPr>
              <p:nvPr/>
            </p:nvSpPr>
            <p:spPr bwMode="auto">
              <a:xfrm flipH="1">
                <a:off x="1562" y="2266"/>
                <a:ext cx="101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7" name="Line 41"/>
              <p:cNvSpPr>
                <a:spLocks noChangeShapeType="1"/>
              </p:cNvSpPr>
              <p:nvPr/>
            </p:nvSpPr>
            <p:spPr bwMode="auto">
              <a:xfrm>
                <a:off x="1562" y="2253"/>
                <a:ext cx="0" cy="409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8" name="Line 42"/>
              <p:cNvSpPr>
                <a:spLocks noChangeShapeType="1"/>
              </p:cNvSpPr>
              <p:nvPr/>
            </p:nvSpPr>
            <p:spPr bwMode="auto">
              <a:xfrm>
                <a:off x="1562" y="2669"/>
                <a:ext cx="202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9" name="Line 43"/>
              <p:cNvSpPr>
                <a:spLocks noChangeShapeType="1"/>
              </p:cNvSpPr>
              <p:nvPr/>
            </p:nvSpPr>
            <p:spPr bwMode="auto">
              <a:xfrm flipV="1">
                <a:off x="3590" y="1850"/>
                <a:ext cx="0" cy="819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0" name="Line 44"/>
              <p:cNvSpPr>
                <a:spLocks noChangeShapeType="1"/>
              </p:cNvSpPr>
              <p:nvPr/>
            </p:nvSpPr>
            <p:spPr bwMode="auto">
              <a:xfrm flipH="1">
                <a:off x="2573" y="1850"/>
                <a:ext cx="9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02" name="Group 45"/>
            <p:cNvGrpSpPr/>
            <p:nvPr/>
          </p:nvGrpSpPr>
          <p:grpSpPr bwMode="auto">
            <a:xfrm>
              <a:off x="781" y="2335"/>
              <a:ext cx="774" cy="268"/>
              <a:chOff x="781" y="2335"/>
              <a:chExt cx="774" cy="268"/>
            </a:xfrm>
          </p:grpSpPr>
          <p:sp>
            <p:nvSpPr>
              <p:cNvPr id="20503" name="Line 46"/>
              <p:cNvSpPr>
                <a:spLocks noChangeShapeType="1"/>
              </p:cNvSpPr>
              <p:nvPr/>
            </p:nvSpPr>
            <p:spPr bwMode="auto">
              <a:xfrm flipV="1">
                <a:off x="1056" y="2335"/>
                <a:ext cx="499" cy="12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4" name="Rectangle 47"/>
              <p:cNvSpPr>
                <a:spLocks noChangeArrowheads="1"/>
              </p:cNvSpPr>
              <p:nvPr/>
            </p:nvSpPr>
            <p:spPr bwMode="auto">
              <a:xfrm>
                <a:off x="781" y="2391"/>
                <a:ext cx="293" cy="2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RX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85179" name="Group 59"/>
          <p:cNvGrpSpPr/>
          <p:nvPr/>
        </p:nvGrpSpPr>
        <p:grpSpPr bwMode="auto">
          <a:xfrm>
            <a:off x="857747" y="1582738"/>
            <a:ext cx="4451350" cy="1258887"/>
            <a:chOff x="793" y="1005"/>
            <a:chExt cx="2804" cy="793"/>
          </a:xfrm>
        </p:grpSpPr>
        <p:grpSp>
          <p:nvGrpSpPr>
            <p:cNvPr id="20491" name="Group 49"/>
            <p:cNvGrpSpPr/>
            <p:nvPr/>
          </p:nvGrpSpPr>
          <p:grpSpPr bwMode="auto">
            <a:xfrm>
              <a:off x="1562" y="1005"/>
              <a:ext cx="2035" cy="793"/>
              <a:chOff x="1562" y="1005"/>
              <a:chExt cx="2035" cy="793"/>
            </a:xfrm>
          </p:grpSpPr>
          <p:sp>
            <p:nvSpPr>
              <p:cNvPr id="20495" name="Line 50"/>
              <p:cNvSpPr>
                <a:spLocks noChangeShapeType="1"/>
              </p:cNvSpPr>
              <p:nvPr/>
            </p:nvSpPr>
            <p:spPr bwMode="auto">
              <a:xfrm>
                <a:off x="1562" y="1005"/>
                <a:ext cx="0" cy="41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6" name="Line 51"/>
              <p:cNvSpPr>
                <a:spLocks noChangeShapeType="1"/>
              </p:cNvSpPr>
              <p:nvPr/>
            </p:nvSpPr>
            <p:spPr bwMode="auto">
              <a:xfrm>
                <a:off x="1568" y="1427"/>
                <a:ext cx="99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7" name="Line 52"/>
              <p:cNvSpPr>
                <a:spLocks noChangeShapeType="1"/>
              </p:cNvSpPr>
              <p:nvPr/>
            </p:nvSpPr>
            <p:spPr bwMode="auto">
              <a:xfrm>
                <a:off x="1568" y="1011"/>
                <a:ext cx="202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8" name="Line 53"/>
              <p:cNvSpPr>
                <a:spLocks noChangeShapeType="1"/>
              </p:cNvSpPr>
              <p:nvPr/>
            </p:nvSpPr>
            <p:spPr bwMode="auto">
              <a:xfrm>
                <a:off x="3597" y="1019"/>
                <a:ext cx="0" cy="76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9" name="Line 54"/>
              <p:cNvSpPr>
                <a:spLocks noChangeShapeType="1"/>
              </p:cNvSpPr>
              <p:nvPr/>
            </p:nvSpPr>
            <p:spPr bwMode="auto">
              <a:xfrm flipH="1">
                <a:off x="2573" y="1798"/>
                <a:ext cx="1024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0" name="Line 55"/>
              <p:cNvSpPr>
                <a:spLocks noChangeShapeType="1"/>
              </p:cNvSpPr>
              <p:nvPr/>
            </p:nvSpPr>
            <p:spPr bwMode="auto">
              <a:xfrm flipV="1">
                <a:off x="2573" y="1427"/>
                <a:ext cx="0" cy="359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492" name="Group 56"/>
            <p:cNvGrpSpPr/>
            <p:nvPr/>
          </p:nvGrpSpPr>
          <p:grpSpPr bwMode="auto">
            <a:xfrm>
              <a:off x="793" y="1350"/>
              <a:ext cx="781" cy="242"/>
              <a:chOff x="793" y="1350"/>
              <a:chExt cx="781" cy="242"/>
            </a:xfrm>
          </p:grpSpPr>
          <p:sp>
            <p:nvSpPr>
              <p:cNvPr id="20493" name="Line 57"/>
              <p:cNvSpPr>
                <a:spLocks noChangeShapeType="1"/>
              </p:cNvSpPr>
              <p:nvPr/>
            </p:nvSpPr>
            <p:spPr bwMode="auto">
              <a:xfrm flipV="1">
                <a:off x="1075" y="1350"/>
                <a:ext cx="499" cy="12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4" name="Rectangle 58"/>
              <p:cNvSpPr>
                <a:spLocks noChangeArrowheads="1"/>
              </p:cNvSpPr>
              <p:nvPr/>
            </p:nvSpPr>
            <p:spPr bwMode="auto">
              <a:xfrm>
                <a:off x="793" y="1380"/>
                <a:ext cx="286" cy="2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TX</a:t>
                </a:r>
                <a:endParaRPr lang="zh-CN" altLang="en-US" sz="16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285186" name="Rectangle 66"/>
          <p:cNvSpPr>
            <a:spLocks noChangeArrowheads="1"/>
          </p:cNvSpPr>
          <p:nvPr/>
        </p:nvSpPr>
        <p:spPr bwMode="auto">
          <a:xfrm>
            <a:off x="4589463" y="1006475"/>
            <a:ext cx="1327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（第</a:t>
            </a:r>
            <a:r>
              <a:rPr lang="en-US" altLang="zh-CN" sz="2000">
                <a:latin typeface="Times New Roman" panose="02020603050405020304" pitchFamily="18" charset="0"/>
              </a:rPr>
              <a:t>7</a:t>
            </a:r>
            <a:r>
              <a:rPr lang="zh-CN" altLang="en-US" sz="2000">
                <a:latin typeface="Times New Roman" panose="02020603050405020304" pitchFamily="18" charset="0"/>
              </a:rPr>
              <a:t>章）</a:t>
            </a:r>
          </a:p>
        </p:txBody>
      </p:sp>
      <p:pic>
        <p:nvPicPr>
          <p:cNvPr id="1285187" name="Picture 67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96" t="28416" r="19704" b="24510"/>
          <a:stretch>
            <a:fillRect/>
          </a:stretch>
        </p:blipFill>
        <p:spPr bwMode="auto">
          <a:xfrm>
            <a:off x="6429375" y="1076325"/>
            <a:ext cx="2238375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椭圆 1"/>
          <p:cNvSpPr>
            <a:spLocks noChangeArrowheads="1"/>
          </p:cNvSpPr>
          <p:nvPr/>
        </p:nvSpPr>
        <p:spPr bwMode="auto">
          <a:xfrm>
            <a:off x="6804025" y="3357563"/>
            <a:ext cx="1584325" cy="846137"/>
          </a:xfrm>
          <a:prstGeom prst="ellipse">
            <a:avLst/>
          </a:prstGeom>
          <a:noFill/>
          <a:ln w="34925" cap="sq" algn="ctr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5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8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85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8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8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8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8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8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85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5186" grpId="0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9" name="Text Box 3"/>
          <p:cNvSpPr txBox="1">
            <a:spLocks noChangeArrowheads="1"/>
          </p:cNvSpPr>
          <p:nvPr/>
        </p:nvSpPr>
        <p:spPr bwMode="auto">
          <a:xfrm>
            <a:off x="2339975" y="476250"/>
            <a:ext cx="4032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表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1  8051 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 断 源</a:t>
            </a:r>
          </a:p>
        </p:txBody>
      </p:sp>
      <p:pic>
        <p:nvPicPr>
          <p:cNvPr id="24579" name="Picture 4" descr="未标题-1拷贝"/>
          <p:cNvPicPr>
            <a:picLocks noChangeAspect="1" noChangeArrowheads="1"/>
          </p:cNvPicPr>
          <p:nvPr/>
        </p:nvPicPr>
        <p:blipFill>
          <a:blip r:embed="rId2">
            <a:lum bright="-12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540000">
            <a:off x="323849" y="1101825"/>
            <a:ext cx="8496300" cy="522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4" name="Text Box 2"/>
          <p:cNvSpPr txBox="1">
            <a:spLocks noChangeArrowheads="1"/>
          </p:cNvSpPr>
          <p:nvPr/>
        </p:nvSpPr>
        <p:spPr bwMode="auto">
          <a:xfrm>
            <a:off x="2051050" y="1412875"/>
            <a:ext cx="5256213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5.1 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中断的概念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5.2 </a:t>
            </a:r>
            <a:r>
              <a:rPr kumimoji="0" lang="zh-CN" altLang="en-US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中断控制系统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  5.2.1 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中断系统的结构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  5.2.2 </a:t>
            </a:r>
            <a:r>
              <a:rPr kumimoji="0"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中断控制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5.3 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中断处理过程</a:t>
            </a:r>
            <a:endParaRPr kumimoji="0"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5.4 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中断的编程及应用举例</a:t>
            </a:r>
          </a:p>
        </p:txBody>
      </p:sp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6213475" y="385763"/>
            <a:ext cx="26146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第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章 单片机的中断系统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8939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7584" y="1628800"/>
            <a:ext cx="770485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/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当执行主程序时，若不想被所有中断源或部分中断源打断，程序员如何管理中断？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 eaLnBrk="1" hangingPunct="1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 eaLnBrk="1" hangingPunct="1"/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如果有两个或多个中断源同时申请中断，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如何处理？</a:t>
            </a:r>
          </a:p>
          <a:p>
            <a:pPr algn="l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91680" y="2636912"/>
            <a:ext cx="568863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/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中断关闭或开放（中断允许）</a:t>
            </a:r>
          </a:p>
          <a:p>
            <a:pPr algn="l" eaLnBrk="1" hangingPunct="1"/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 eaLnBrk="1" hangingPunct="1">
              <a:spcBef>
                <a:spcPts val="0"/>
              </a:spcBef>
            </a:pP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 eaLnBrk="1" hangingPunct="1"/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中断优先级</a:t>
            </a:r>
          </a:p>
          <a:p>
            <a:pPr algn="l"/>
            <a:endParaRPr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55368" y="478413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问 题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376" y="3965027"/>
            <a:ext cx="2286000" cy="228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3" name="Text Box 5"/>
          <p:cNvSpPr txBox="1">
            <a:spLocks noChangeArrowheads="1"/>
          </p:cNvSpPr>
          <p:nvPr/>
        </p:nvSpPr>
        <p:spPr bwMode="auto">
          <a:xfrm>
            <a:off x="644734" y="2584182"/>
            <a:ext cx="8499265" cy="3596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buClr>
                <a:srgbClr val="CC3399"/>
              </a:buClr>
              <a:buFont typeface="楷体_GB2312" pitchFamily="49" charset="-122"/>
              <a:buChar char="▲"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定时器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计数器控制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寄存器（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TCON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</a:p>
          <a:p>
            <a:pPr algn="l">
              <a:lnSpc>
                <a:spcPct val="140000"/>
              </a:lnSpc>
              <a:spcBef>
                <a:spcPct val="0"/>
              </a:spcBef>
              <a:buClr>
                <a:srgbClr val="CC3399"/>
              </a:buClr>
              <a:buFont typeface="楷体_GB2312" pitchFamily="49" charset="-122"/>
              <a:buChar char="▲"/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串行口控制寄存器（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SCON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</a:p>
          <a:p>
            <a:pPr algn="l">
              <a:lnSpc>
                <a:spcPct val="140000"/>
              </a:lnSpc>
              <a:spcBef>
                <a:spcPct val="0"/>
              </a:spcBef>
              <a:buClr>
                <a:srgbClr val="CC3399"/>
              </a:buClr>
              <a:buFont typeface="楷体_GB2312" pitchFamily="49" charset="-122"/>
              <a:buChar char="▲"/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中断允许寄存器（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IE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</a:p>
          <a:p>
            <a:pPr algn="l">
              <a:lnSpc>
                <a:spcPct val="140000"/>
              </a:lnSpc>
              <a:spcBef>
                <a:spcPct val="0"/>
              </a:spcBef>
              <a:buClr>
                <a:srgbClr val="CC3399"/>
              </a:buClr>
              <a:buFont typeface="楷体_GB2312" pitchFamily="49" charset="-122"/>
              <a:buChar char="▲"/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中断优先级寄存器（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</a:p>
          <a:p>
            <a:pPr algn="l">
              <a:lnSpc>
                <a:spcPct val="140000"/>
              </a:lnSpc>
              <a:buClr>
                <a:srgbClr val="CC3399"/>
              </a:buClr>
              <a:buFont typeface="楷体_GB2312" pitchFamily="49" charset="-122"/>
              <a:buNone/>
              <a:defRPr/>
            </a:pP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454" name="Rectangle 6"/>
          <p:cNvSpPr>
            <a:spLocks noChangeArrowheads="1"/>
          </p:cNvSpPr>
          <p:nvPr/>
        </p:nvSpPr>
        <p:spPr bwMode="auto">
          <a:xfrm>
            <a:off x="2010482" y="404813"/>
            <a:ext cx="428970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5.2.2 </a:t>
            </a:r>
            <a:r>
              <a:rPr lang="zh-CN" altLang="en-US" sz="3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中断控制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648212" y="1268786"/>
            <a:ext cx="795623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用户对单片机中断系统的操作是通过控制寄存器实现的。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D3CAC46-50EB-4686-BF56-2A4957F2E4C1}"/>
              </a:ext>
            </a:extLst>
          </p:cNvPr>
          <p:cNvSpPr txBox="1"/>
          <p:nvPr/>
        </p:nvSpPr>
        <p:spPr>
          <a:xfrm>
            <a:off x="5255569" y="4043262"/>
            <a:ext cx="3744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nterrupt 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E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nable Register)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D253A5-C3EF-4B6E-9924-F452F048865E}"/>
              </a:ext>
            </a:extLst>
          </p:cNvPr>
          <p:cNvSpPr txBox="1"/>
          <p:nvPr/>
        </p:nvSpPr>
        <p:spPr>
          <a:xfrm>
            <a:off x="5399585" y="4745384"/>
            <a:ext cx="3744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(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nterrupt 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P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riority Register)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182FF04-A2CB-4EEB-87C9-3A76FCEBBD33}"/>
              </a:ext>
            </a:extLst>
          </p:cNvPr>
          <p:cNvSpPr txBox="1"/>
          <p:nvPr/>
        </p:nvSpPr>
        <p:spPr>
          <a:xfrm>
            <a:off x="5903641" y="3404974"/>
            <a:ext cx="3347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erial 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Con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trol Register)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7A4F04-5930-4DC4-AC94-E95420D4E48C}"/>
              </a:ext>
            </a:extLst>
          </p:cNvPr>
          <p:cNvSpPr txBox="1"/>
          <p:nvPr/>
        </p:nvSpPr>
        <p:spPr>
          <a:xfrm>
            <a:off x="6371083" y="2629170"/>
            <a:ext cx="30963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T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imer/Counter </a:t>
            </a:r>
          </a:p>
          <a:p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Con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trol Register)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4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4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4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4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4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4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3" grpId="0" build="p"/>
      <p:bldP spid="2" grpId="0"/>
      <p:bldP spid="3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3287142" y="1576388"/>
            <a:ext cx="720725" cy="647700"/>
          </a:xfrm>
          <a:prstGeom prst="rect">
            <a:avLst/>
          </a:prstGeom>
          <a:solidFill>
            <a:srgbClr val="FFFFCC">
              <a:alpha val="70979"/>
            </a:srgb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3283967" y="1658938"/>
            <a:ext cx="7937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>
                    <a:alpha val="65881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l" eaLnBrk="1" hangingPunct="1">
              <a:defRPr/>
            </a:pPr>
            <a:r>
              <a:rPr kumimoji="0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 IE0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3209354" y="1155700"/>
            <a:ext cx="10810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FF3300"/>
                </a:solidFill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TCON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3209354" y="4897438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l" eaLnBrk="1" hangingPunct="1">
              <a:defRPr/>
            </a:pPr>
            <a:r>
              <a:rPr kumimoji="0" lang="en-US" altLang="zh-CN" sz="2000" b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SCON</a:t>
            </a:r>
          </a:p>
        </p:txBody>
      </p:sp>
      <p:grpSp>
        <p:nvGrpSpPr>
          <p:cNvPr id="23558" name="Group 6"/>
          <p:cNvGrpSpPr/>
          <p:nvPr/>
        </p:nvGrpSpPr>
        <p:grpSpPr bwMode="auto">
          <a:xfrm>
            <a:off x="872554" y="1516063"/>
            <a:ext cx="2411413" cy="768350"/>
            <a:chOff x="0" y="709"/>
            <a:chExt cx="1519" cy="484"/>
          </a:xfrm>
        </p:grpSpPr>
        <p:sp>
          <p:nvSpPr>
            <p:cNvPr id="23728" name="Rectangle 7"/>
            <p:cNvSpPr>
              <a:spLocks noChangeArrowheads="1"/>
            </p:cNvSpPr>
            <p:nvPr/>
          </p:nvSpPr>
          <p:spPr bwMode="auto">
            <a:xfrm>
              <a:off x="1111" y="709"/>
              <a:ext cx="91" cy="136"/>
            </a:xfrm>
            <a:prstGeom prst="rect">
              <a:avLst/>
            </a:prstGeom>
            <a:solidFill>
              <a:srgbClr val="FF00FF">
                <a:alpha val="56862"/>
              </a:srgbClr>
            </a:solidFill>
            <a:ln w="190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800">
                <a:latin typeface="Comic Sans MS" panose="030F0702030302020204" pitchFamily="66" charset="0"/>
                <a:ea typeface="楷体_GB2312" pitchFamily="49" charset="-122"/>
              </a:endParaRPr>
            </a:p>
          </p:txBody>
        </p:sp>
        <p:sp>
          <p:nvSpPr>
            <p:cNvPr id="23729" name="Oval 8"/>
            <p:cNvSpPr>
              <a:spLocks noChangeArrowheads="1"/>
            </p:cNvSpPr>
            <p:nvPr/>
          </p:nvSpPr>
          <p:spPr bwMode="auto">
            <a:xfrm>
              <a:off x="1202" y="754"/>
              <a:ext cx="45" cy="46"/>
            </a:xfrm>
            <a:prstGeom prst="ellipse">
              <a:avLst/>
            </a:prstGeom>
            <a:solidFill>
              <a:srgbClr val="FF00FF">
                <a:alpha val="45882"/>
              </a:srgbClr>
            </a:solidFill>
            <a:ln w="19050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800">
                <a:latin typeface="Comic Sans MS" panose="030F0702030302020204" pitchFamily="66" charset="0"/>
                <a:ea typeface="楷体_GB2312" pitchFamily="49" charset="-122"/>
              </a:endParaRPr>
            </a:p>
          </p:txBody>
        </p:sp>
        <p:sp>
          <p:nvSpPr>
            <p:cNvPr id="23730" name="Rectangle 9"/>
            <p:cNvSpPr>
              <a:spLocks noChangeArrowheads="1"/>
            </p:cNvSpPr>
            <p:nvPr/>
          </p:nvSpPr>
          <p:spPr bwMode="auto">
            <a:xfrm>
              <a:off x="1020" y="890"/>
              <a:ext cx="226" cy="227"/>
            </a:xfrm>
            <a:prstGeom prst="rect">
              <a:avLst/>
            </a:prstGeom>
            <a:solidFill>
              <a:schemeClr val="accent1">
                <a:alpha val="65097"/>
              </a:schemeClr>
            </a:solidFill>
            <a:ln w="190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800">
                <a:latin typeface="Comic Sans MS" panose="030F0702030302020204" pitchFamily="66" charset="0"/>
                <a:ea typeface="楷体_GB2312" pitchFamily="49" charset="-122"/>
              </a:endParaRPr>
            </a:p>
          </p:txBody>
        </p:sp>
        <p:sp>
          <p:nvSpPr>
            <p:cNvPr id="23731" name="Line 10"/>
            <p:cNvSpPr>
              <a:spLocks noChangeShapeType="1"/>
            </p:cNvSpPr>
            <p:nvPr/>
          </p:nvSpPr>
          <p:spPr bwMode="auto">
            <a:xfrm>
              <a:off x="1066" y="935"/>
              <a:ext cx="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32" name="Line 11"/>
            <p:cNvSpPr>
              <a:spLocks noChangeShapeType="1"/>
            </p:cNvSpPr>
            <p:nvPr/>
          </p:nvSpPr>
          <p:spPr bwMode="auto">
            <a:xfrm>
              <a:off x="1156" y="935"/>
              <a:ext cx="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33" name="Line 12"/>
            <p:cNvSpPr>
              <a:spLocks noChangeShapeType="1"/>
            </p:cNvSpPr>
            <p:nvPr/>
          </p:nvSpPr>
          <p:spPr bwMode="auto">
            <a:xfrm>
              <a:off x="1156" y="1026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34" name="Line 13"/>
            <p:cNvSpPr>
              <a:spLocks noChangeShapeType="1"/>
            </p:cNvSpPr>
            <p:nvPr/>
          </p:nvSpPr>
          <p:spPr bwMode="auto">
            <a:xfrm>
              <a:off x="1156" y="1071"/>
              <a:ext cx="4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35" name="Line 14"/>
            <p:cNvSpPr>
              <a:spLocks noChangeShapeType="1"/>
            </p:cNvSpPr>
            <p:nvPr/>
          </p:nvSpPr>
          <p:spPr bwMode="auto">
            <a:xfrm>
              <a:off x="884" y="775"/>
              <a:ext cx="2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36" name="Line 15"/>
            <p:cNvSpPr>
              <a:spLocks noChangeShapeType="1"/>
            </p:cNvSpPr>
            <p:nvPr/>
          </p:nvSpPr>
          <p:spPr bwMode="auto">
            <a:xfrm>
              <a:off x="884" y="777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37" name="Line 16"/>
            <p:cNvSpPr>
              <a:spLocks noChangeShapeType="1"/>
            </p:cNvSpPr>
            <p:nvPr/>
          </p:nvSpPr>
          <p:spPr bwMode="auto">
            <a:xfrm>
              <a:off x="884" y="1026"/>
              <a:ext cx="1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38" name="Line 17"/>
            <p:cNvSpPr>
              <a:spLocks noChangeShapeType="1"/>
            </p:cNvSpPr>
            <p:nvPr/>
          </p:nvSpPr>
          <p:spPr bwMode="auto">
            <a:xfrm flipV="1">
              <a:off x="748" y="935"/>
              <a:ext cx="182" cy="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39" name="Line 18"/>
            <p:cNvSpPr>
              <a:spLocks noChangeShapeType="1"/>
            </p:cNvSpPr>
            <p:nvPr/>
          </p:nvSpPr>
          <p:spPr bwMode="auto">
            <a:xfrm>
              <a:off x="476" y="981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3740" name="Group 19"/>
            <p:cNvGrpSpPr/>
            <p:nvPr/>
          </p:nvGrpSpPr>
          <p:grpSpPr bwMode="auto">
            <a:xfrm>
              <a:off x="0" y="890"/>
              <a:ext cx="476" cy="212"/>
              <a:chOff x="113" y="845"/>
              <a:chExt cx="476" cy="212"/>
            </a:xfrm>
          </p:grpSpPr>
          <p:sp>
            <p:nvSpPr>
              <p:cNvPr id="23747" name="Text Box 20"/>
              <p:cNvSpPr txBox="1">
                <a:spLocks noChangeArrowheads="1"/>
              </p:cNvSpPr>
              <p:nvPr/>
            </p:nvSpPr>
            <p:spPr bwMode="auto">
              <a:xfrm>
                <a:off x="113" y="845"/>
                <a:ext cx="47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>
                    <a:latin typeface="Times New Roman" panose="02020603050405020304" pitchFamily="18" charset="0"/>
                    <a:ea typeface="创艺简黑体" pitchFamily="2" charset="-122"/>
                    <a:sym typeface="Wingdings 2" pitchFamily="18" charset="2"/>
                  </a:rPr>
                  <a:t>INT0</a:t>
                </a:r>
              </a:p>
            </p:txBody>
          </p:sp>
          <p:sp>
            <p:nvSpPr>
              <p:cNvPr id="23748" name="Line 21"/>
              <p:cNvSpPr>
                <a:spLocks noChangeShapeType="1"/>
              </p:cNvSpPr>
              <p:nvPr/>
            </p:nvSpPr>
            <p:spPr bwMode="auto">
              <a:xfrm>
                <a:off x="158" y="890"/>
                <a:ext cx="38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3741" name="Text Box 22"/>
            <p:cNvSpPr txBox="1">
              <a:spLocks noChangeArrowheads="1"/>
            </p:cNvSpPr>
            <p:nvPr/>
          </p:nvSpPr>
          <p:spPr bwMode="auto">
            <a:xfrm>
              <a:off x="385" y="709"/>
              <a:ext cx="5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>
                  <a:solidFill>
                    <a:schemeClr val="hlink"/>
                  </a:solidFill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IT0=0</a:t>
              </a:r>
            </a:p>
          </p:txBody>
        </p:sp>
        <p:sp>
          <p:nvSpPr>
            <p:cNvPr id="23742" name="Text Box 23"/>
            <p:cNvSpPr txBox="1">
              <a:spLocks noChangeArrowheads="1"/>
            </p:cNvSpPr>
            <p:nvPr/>
          </p:nvSpPr>
          <p:spPr bwMode="auto">
            <a:xfrm>
              <a:off x="385" y="981"/>
              <a:ext cx="5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>
                  <a:solidFill>
                    <a:schemeClr val="hlink"/>
                  </a:solidFill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IT0=1</a:t>
              </a:r>
            </a:p>
          </p:txBody>
        </p:sp>
        <p:sp>
          <p:nvSpPr>
            <p:cNvPr id="23743" name="Line 24"/>
            <p:cNvSpPr>
              <a:spLocks noChangeShapeType="1"/>
            </p:cNvSpPr>
            <p:nvPr/>
          </p:nvSpPr>
          <p:spPr bwMode="auto">
            <a:xfrm>
              <a:off x="1247" y="777"/>
              <a:ext cx="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44" name="Line 25"/>
            <p:cNvSpPr>
              <a:spLocks noChangeShapeType="1"/>
            </p:cNvSpPr>
            <p:nvPr/>
          </p:nvSpPr>
          <p:spPr bwMode="auto">
            <a:xfrm>
              <a:off x="1338" y="777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45" name="Line 26"/>
            <p:cNvSpPr>
              <a:spLocks noChangeShapeType="1"/>
            </p:cNvSpPr>
            <p:nvPr/>
          </p:nvSpPr>
          <p:spPr bwMode="auto">
            <a:xfrm flipH="1">
              <a:off x="1247" y="1047"/>
              <a:ext cx="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46" name="Line 27"/>
            <p:cNvSpPr>
              <a:spLocks noChangeShapeType="1"/>
            </p:cNvSpPr>
            <p:nvPr/>
          </p:nvSpPr>
          <p:spPr bwMode="auto">
            <a:xfrm>
              <a:off x="1338" y="935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3559" name="Group 28"/>
          <p:cNvGrpSpPr/>
          <p:nvPr/>
        </p:nvGrpSpPr>
        <p:grpSpPr bwMode="auto">
          <a:xfrm>
            <a:off x="872554" y="2882900"/>
            <a:ext cx="2411413" cy="777875"/>
            <a:chOff x="0" y="1344"/>
            <a:chExt cx="1519" cy="479"/>
          </a:xfrm>
        </p:grpSpPr>
        <p:sp>
          <p:nvSpPr>
            <p:cNvPr id="23707" name="Rectangle 29"/>
            <p:cNvSpPr>
              <a:spLocks noChangeArrowheads="1"/>
            </p:cNvSpPr>
            <p:nvPr/>
          </p:nvSpPr>
          <p:spPr bwMode="auto">
            <a:xfrm>
              <a:off x="1111" y="1344"/>
              <a:ext cx="91" cy="136"/>
            </a:xfrm>
            <a:prstGeom prst="rect">
              <a:avLst/>
            </a:prstGeom>
            <a:solidFill>
              <a:srgbClr val="FF00FF">
                <a:alpha val="56862"/>
              </a:srgbClr>
            </a:solidFill>
            <a:ln w="190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800">
                <a:latin typeface="Comic Sans MS" panose="030F0702030302020204" pitchFamily="66" charset="0"/>
                <a:ea typeface="楷体_GB2312" pitchFamily="49" charset="-122"/>
              </a:endParaRPr>
            </a:p>
          </p:txBody>
        </p:sp>
        <p:sp>
          <p:nvSpPr>
            <p:cNvPr id="23708" name="Oval 30"/>
            <p:cNvSpPr>
              <a:spLocks noChangeArrowheads="1"/>
            </p:cNvSpPr>
            <p:nvPr/>
          </p:nvSpPr>
          <p:spPr bwMode="auto">
            <a:xfrm>
              <a:off x="1202" y="1389"/>
              <a:ext cx="45" cy="46"/>
            </a:xfrm>
            <a:prstGeom prst="ellipse">
              <a:avLst/>
            </a:prstGeom>
            <a:solidFill>
              <a:srgbClr val="FF00FF">
                <a:alpha val="45882"/>
              </a:srgbClr>
            </a:solidFill>
            <a:ln w="19050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800">
                <a:latin typeface="Comic Sans MS" panose="030F0702030302020204" pitchFamily="66" charset="0"/>
                <a:ea typeface="楷体_GB2312" pitchFamily="49" charset="-122"/>
              </a:endParaRPr>
            </a:p>
          </p:txBody>
        </p:sp>
        <p:sp>
          <p:nvSpPr>
            <p:cNvPr id="23709" name="Rectangle 31"/>
            <p:cNvSpPr>
              <a:spLocks noChangeArrowheads="1"/>
            </p:cNvSpPr>
            <p:nvPr/>
          </p:nvSpPr>
          <p:spPr bwMode="auto">
            <a:xfrm>
              <a:off x="1020" y="1525"/>
              <a:ext cx="226" cy="227"/>
            </a:xfrm>
            <a:prstGeom prst="rect">
              <a:avLst/>
            </a:prstGeom>
            <a:solidFill>
              <a:schemeClr val="accent1">
                <a:alpha val="65097"/>
              </a:schemeClr>
            </a:solidFill>
            <a:ln w="190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800">
                <a:latin typeface="Comic Sans MS" panose="030F0702030302020204" pitchFamily="66" charset="0"/>
                <a:ea typeface="楷体_GB2312" pitchFamily="49" charset="-122"/>
              </a:endParaRPr>
            </a:p>
          </p:txBody>
        </p:sp>
        <p:sp>
          <p:nvSpPr>
            <p:cNvPr id="23710" name="Line 32"/>
            <p:cNvSpPr>
              <a:spLocks noChangeShapeType="1"/>
            </p:cNvSpPr>
            <p:nvPr/>
          </p:nvSpPr>
          <p:spPr bwMode="auto">
            <a:xfrm>
              <a:off x="1066" y="1570"/>
              <a:ext cx="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11" name="Line 33"/>
            <p:cNvSpPr>
              <a:spLocks noChangeShapeType="1"/>
            </p:cNvSpPr>
            <p:nvPr/>
          </p:nvSpPr>
          <p:spPr bwMode="auto">
            <a:xfrm>
              <a:off x="1156" y="1570"/>
              <a:ext cx="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12" name="Line 34"/>
            <p:cNvSpPr>
              <a:spLocks noChangeShapeType="1"/>
            </p:cNvSpPr>
            <p:nvPr/>
          </p:nvSpPr>
          <p:spPr bwMode="auto">
            <a:xfrm>
              <a:off x="1156" y="1661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13" name="Line 35"/>
            <p:cNvSpPr>
              <a:spLocks noChangeShapeType="1"/>
            </p:cNvSpPr>
            <p:nvPr/>
          </p:nvSpPr>
          <p:spPr bwMode="auto">
            <a:xfrm>
              <a:off x="1156" y="1706"/>
              <a:ext cx="4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14" name="Line 36"/>
            <p:cNvSpPr>
              <a:spLocks noChangeShapeType="1"/>
            </p:cNvSpPr>
            <p:nvPr/>
          </p:nvSpPr>
          <p:spPr bwMode="auto">
            <a:xfrm>
              <a:off x="884" y="1410"/>
              <a:ext cx="2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15" name="Line 37"/>
            <p:cNvSpPr>
              <a:spLocks noChangeShapeType="1"/>
            </p:cNvSpPr>
            <p:nvPr/>
          </p:nvSpPr>
          <p:spPr bwMode="auto">
            <a:xfrm>
              <a:off x="884" y="1412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16" name="Line 38"/>
            <p:cNvSpPr>
              <a:spLocks noChangeShapeType="1"/>
            </p:cNvSpPr>
            <p:nvPr/>
          </p:nvSpPr>
          <p:spPr bwMode="auto">
            <a:xfrm>
              <a:off x="884" y="1661"/>
              <a:ext cx="1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17" name="Line 39"/>
            <p:cNvSpPr>
              <a:spLocks noChangeShapeType="1"/>
            </p:cNvSpPr>
            <p:nvPr/>
          </p:nvSpPr>
          <p:spPr bwMode="auto">
            <a:xfrm flipV="1">
              <a:off x="748" y="1570"/>
              <a:ext cx="182" cy="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18" name="Line 40"/>
            <p:cNvSpPr>
              <a:spLocks noChangeShapeType="1"/>
            </p:cNvSpPr>
            <p:nvPr/>
          </p:nvSpPr>
          <p:spPr bwMode="auto">
            <a:xfrm>
              <a:off x="476" y="1616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3719" name="Group 41"/>
            <p:cNvGrpSpPr/>
            <p:nvPr/>
          </p:nvGrpSpPr>
          <p:grpSpPr bwMode="auto">
            <a:xfrm>
              <a:off x="0" y="1525"/>
              <a:ext cx="476" cy="207"/>
              <a:chOff x="113" y="845"/>
              <a:chExt cx="476" cy="207"/>
            </a:xfrm>
          </p:grpSpPr>
          <p:sp>
            <p:nvSpPr>
              <p:cNvPr id="23726" name="Text Box 42"/>
              <p:cNvSpPr txBox="1">
                <a:spLocks noChangeArrowheads="1"/>
              </p:cNvSpPr>
              <p:nvPr/>
            </p:nvSpPr>
            <p:spPr bwMode="auto">
              <a:xfrm>
                <a:off x="113" y="845"/>
                <a:ext cx="476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>
                    <a:latin typeface="Times New Roman" panose="02020603050405020304" pitchFamily="18" charset="0"/>
                    <a:ea typeface="创艺简黑体" pitchFamily="2" charset="-122"/>
                    <a:sym typeface="Wingdings 2" pitchFamily="18" charset="2"/>
                  </a:rPr>
                  <a:t>INT1</a:t>
                </a:r>
              </a:p>
            </p:txBody>
          </p:sp>
          <p:sp>
            <p:nvSpPr>
              <p:cNvPr id="23727" name="Line 43"/>
              <p:cNvSpPr>
                <a:spLocks noChangeShapeType="1"/>
              </p:cNvSpPr>
              <p:nvPr/>
            </p:nvSpPr>
            <p:spPr bwMode="auto">
              <a:xfrm>
                <a:off x="158" y="890"/>
                <a:ext cx="38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3720" name="Text Box 44"/>
            <p:cNvSpPr txBox="1">
              <a:spLocks noChangeArrowheads="1"/>
            </p:cNvSpPr>
            <p:nvPr/>
          </p:nvSpPr>
          <p:spPr bwMode="auto">
            <a:xfrm>
              <a:off x="385" y="1344"/>
              <a:ext cx="545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>
                  <a:solidFill>
                    <a:schemeClr val="hlink"/>
                  </a:solidFill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IT1=0</a:t>
              </a:r>
            </a:p>
          </p:txBody>
        </p:sp>
        <p:sp>
          <p:nvSpPr>
            <p:cNvPr id="23721" name="Text Box 45"/>
            <p:cNvSpPr txBox="1">
              <a:spLocks noChangeArrowheads="1"/>
            </p:cNvSpPr>
            <p:nvPr/>
          </p:nvSpPr>
          <p:spPr bwMode="auto">
            <a:xfrm>
              <a:off x="385" y="1616"/>
              <a:ext cx="545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>
                  <a:solidFill>
                    <a:schemeClr val="hlink"/>
                  </a:solidFill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IT1=1</a:t>
              </a:r>
            </a:p>
          </p:txBody>
        </p:sp>
        <p:sp>
          <p:nvSpPr>
            <p:cNvPr id="23722" name="Line 46"/>
            <p:cNvSpPr>
              <a:spLocks noChangeShapeType="1"/>
            </p:cNvSpPr>
            <p:nvPr/>
          </p:nvSpPr>
          <p:spPr bwMode="auto">
            <a:xfrm>
              <a:off x="1247" y="1412"/>
              <a:ext cx="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23" name="Line 47"/>
            <p:cNvSpPr>
              <a:spLocks noChangeShapeType="1"/>
            </p:cNvSpPr>
            <p:nvPr/>
          </p:nvSpPr>
          <p:spPr bwMode="auto">
            <a:xfrm>
              <a:off x="1338" y="1412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24" name="Line 48"/>
            <p:cNvSpPr>
              <a:spLocks noChangeShapeType="1"/>
            </p:cNvSpPr>
            <p:nvPr/>
          </p:nvSpPr>
          <p:spPr bwMode="auto">
            <a:xfrm flipH="1">
              <a:off x="1247" y="1682"/>
              <a:ext cx="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725" name="Line 49"/>
            <p:cNvSpPr>
              <a:spLocks noChangeShapeType="1"/>
            </p:cNvSpPr>
            <p:nvPr/>
          </p:nvSpPr>
          <p:spPr bwMode="auto">
            <a:xfrm>
              <a:off x="1338" y="1570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3560" name="Rectangle 50"/>
          <p:cNvSpPr>
            <a:spLocks noChangeArrowheads="1"/>
          </p:cNvSpPr>
          <p:nvPr/>
        </p:nvSpPr>
        <p:spPr bwMode="auto">
          <a:xfrm>
            <a:off x="3283967" y="2235200"/>
            <a:ext cx="720725" cy="647700"/>
          </a:xfrm>
          <a:prstGeom prst="rect">
            <a:avLst/>
          </a:prstGeom>
          <a:solidFill>
            <a:srgbClr val="FFFFCC">
              <a:alpha val="70979"/>
            </a:srgb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3561" name="Rectangle 51"/>
          <p:cNvSpPr>
            <a:spLocks noChangeArrowheads="1"/>
          </p:cNvSpPr>
          <p:nvPr/>
        </p:nvSpPr>
        <p:spPr bwMode="auto">
          <a:xfrm>
            <a:off x="3283967" y="2882900"/>
            <a:ext cx="720725" cy="647700"/>
          </a:xfrm>
          <a:prstGeom prst="rect">
            <a:avLst/>
          </a:prstGeom>
          <a:solidFill>
            <a:srgbClr val="FFFFCC">
              <a:alpha val="70979"/>
            </a:srgb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3562" name="Rectangle 52"/>
          <p:cNvSpPr>
            <a:spLocks noChangeArrowheads="1"/>
          </p:cNvSpPr>
          <p:nvPr/>
        </p:nvSpPr>
        <p:spPr bwMode="auto">
          <a:xfrm>
            <a:off x="3283967" y="3532188"/>
            <a:ext cx="720725" cy="647700"/>
          </a:xfrm>
          <a:prstGeom prst="rect">
            <a:avLst/>
          </a:prstGeom>
          <a:solidFill>
            <a:srgbClr val="FFFFCC">
              <a:alpha val="70979"/>
            </a:srgb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17419" name="Text Box 53"/>
          <p:cNvSpPr txBox="1">
            <a:spLocks noChangeArrowheads="1"/>
          </p:cNvSpPr>
          <p:nvPr/>
        </p:nvSpPr>
        <p:spPr bwMode="auto">
          <a:xfrm>
            <a:off x="3283967" y="2379663"/>
            <a:ext cx="7937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>
                    <a:alpha val="65881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l" eaLnBrk="1" hangingPunct="1">
              <a:defRPr/>
            </a:pPr>
            <a:r>
              <a:rPr kumimoji="0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TF0</a:t>
            </a:r>
          </a:p>
        </p:txBody>
      </p:sp>
      <p:sp>
        <p:nvSpPr>
          <p:cNvPr id="17420" name="Rectangle 54"/>
          <p:cNvSpPr>
            <a:spLocks noChangeArrowheads="1"/>
          </p:cNvSpPr>
          <p:nvPr/>
        </p:nvSpPr>
        <p:spPr bwMode="auto">
          <a:xfrm>
            <a:off x="3283967" y="3027363"/>
            <a:ext cx="74136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l" eaLnBrk="1" hangingPunct="1">
              <a:defRPr/>
            </a:pPr>
            <a:r>
              <a:rPr kumimoji="0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 IE1</a:t>
            </a:r>
          </a:p>
        </p:txBody>
      </p:sp>
      <p:sp>
        <p:nvSpPr>
          <p:cNvPr id="17421" name="Rectangle 55"/>
          <p:cNvSpPr>
            <a:spLocks noChangeArrowheads="1"/>
          </p:cNvSpPr>
          <p:nvPr/>
        </p:nvSpPr>
        <p:spPr bwMode="auto">
          <a:xfrm>
            <a:off x="3283967" y="3675063"/>
            <a:ext cx="7318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l" eaLnBrk="1" hangingPunct="1">
              <a:defRPr/>
            </a:pPr>
            <a:r>
              <a:rPr kumimoji="0" lang="en-US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TF1</a:t>
            </a:r>
          </a:p>
        </p:txBody>
      </p:sp>
      <p:sp>
        <p:nvSpPr>
          <p:cNvPr id="23566" name="Line 56"/>
          <p:cNvSpPr>
            <a:spLocks noChangeShapeType="1"/>
          </p:cNvSpPr>
          <p:nvPr/>
        </p:nvSpPr>
        <p:spPr bwMode="auto">
          <a:xfrm>
            <a:off x="1628204" y="2595563"/>
            <a:ext cx="16557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67" name="Rectangle 57"/>
          <p:cNvSpPr>
            <a:spLocks noChangeArrowheads="1"/>
          </p:cNvSpPr>
          <p:nvPr/>
        </p:nvSpPr>
        <p:spPr bwMode="auto">
          <a:xfrm>
            <a:off x="1196404" y="2427288"/>
            <a:ext cx="420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T0</a:t>
            </a:r>
          </a:p>
        </p:txBody>
      </p:sp>
      <p:sp>
        <p:nvSpPr>
          <p:cNvPr id="23568" name="Line 58"/>
          <p:cNvSpPr>
            <a:spLocks noChangeShapeType="1"/>
          </p:cNvSpPr>
          <p:nvPr/>
        </p:nvSpPr>
        <p:spPr bwMode="auto">
          <a:xfrm>
            <a:off x="1628204" y="3890963"/>
            <a:ext cx="16557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69" name="Rectangle 59"/>
          <p:cNvSpPr>
            <a:spLocks noChangeArrowheads="1"/>
          </p:cNvSpPr>
          <p:nvPr/>
        </p:nvSpPr>
        <p:spPr bwMode="auto">
          <a:xfrm>
            <a:off x="1196404" y="3722688"/>
            <a:ext cx="420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T1</a:t>
            </a:r>
          </a:p>
        </p:txBody>
      </p:sp>
      <p:sp>
        <p:nvSpPr>
          <p:cNvPr id="17426" name="Rectangle 60"/>
          <p:cNvSpPr>
            <a:spLocks noChangeArrowheads="1"/>
          </p:cNvSpPr>
          <p:nvPr/>
        </p:nvSpPr>
        <p:spPr bwMode="auto">
          <a:xfrm>
            <a:off x="3283967" y="4098925"/>
            <a:ext cx="720725" cy="522288"/>
          </a:xfrm>
          <a:prstGeom prst="rect">
            <a:avLst/>
          </a:prstGeom>
          <a:solidFill>
            <a:srgbClr val="FFCCCC">
              <a:alpha val="79999"/>
            </a:srgb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zh-CN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27" name="Rectangle 61"/>
          <p:cNvSpPr>
            <a:spLocks noChangeArrowheads="1"/>
          </p:cNvSpPr>
          <p:nvPr/>
        </p:nvSpPr>
        <p:spPr bwMode="auto">
          <a:xfrm>
            <a:off x="3356992" y="4106863"/>
            <a:ext cx="574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l" eaLnBrk="1" hangingPunct="1">
              <a:defRPr/>
            </a:pPr>
            <a:r>
              <a:rPr kumimoji="0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TI</a:t>
            </a:r>
          </a:p>
        </p:txBody>
      </p:sp>
      <p:sp>
        <p:nvSpPr>
          <p:cNvPr id="23572" name="Rectangle 62"/>
          <p:cNvSpPr>
            <a:spLocks noChangeArrowheads="1"/>
          </p:cNvSpPr>
          <p:nvPr/>
        </p:nvSpPr>
        <p:spPr bwMode="auto">
          <a:xfrm>
            <a:off x="3283967" y="4540250"/>
            <a:ext cx="720725" cy="360363"/>
          </a:xfrm>
          <a:prstGeom prst="rect">
            <a:avLst/>
          </a:prstGeom>
          <a:solidFill>
            <a:srgbClr val="FFCCCC">
              <a:alpha val="79999"/>
            </a:srgb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17429" name="Rectangle 63"/>
          <p:cNvSpPr>
            <a:spLocks noChangeArrowheads="1"/>
          </p:cNvSpPr>
          <p:nvPr/>
        </p:nvSpPr>
        <p:spPr bwMode="auto">
          <a:xfrm>
            <a:off x="3356992" y="4467225"/>
            <a:ext cx="5270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l" eaLnBrk="1" hangingPunct="1">
              <a:defRPr/>
            </a:pPr>
            <a:r>
              <a:rPr kumimoji="0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RI</a:t>
            </a:r>
          </a:p>
        </p:txBody>
      </p:sp>
      <p:sp>
        <p:nvSpPr>
          <p:cNvPr id="23574" name="Line 64"/>
          <p:cNvSpPr>
            <a:spLocks noChangeShapeType="1"/>
          </p:cNvSpPr>
          <p:nvPr/>
        </p:nvSpPr>
        <p:spPr bwMode="auto">
          <a:xfrm>
            <a:off x="1772667" y="4395788"/>
            <a:ext cx="1511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75" name="Rectangle 65"/>
          <p:cNvSpPr>
            <a:spLocks noChangeArrowheads="1"/>
          </p:cNvSpPr>
          <p:nvPr/>
        </p:nvSpPr>
        <p:spPr bwMode="auto">
          <a:xfrm>
            <a:off x="1051942" y="4179888"/>
            <a:ext cx="7921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TXD</a:t>
            </a:r>
          </a:p>
        </p:txBody>
      </p:sp>
      <p:sp>
        <p:nvSpPr>
          <p:cNvPr id="23576" name="Line 66"/>
          <p:cNvSpPr>
            <a:spLocks noChangeShapeType="1"/>
          </p:cNvSpPr>
          <p:nvPr/>
        </p:nvSpPr>
        <p:spPr bwMode="auto">
          <a:xfrm>
            <a:off x="1772667" y="4756150"/>
            <a:ext cx="1511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77" name="Rectangle 67"/>
          <p:cNvSpPr>
            <a:spLocks noChangeArrowheads="1"/>
          </p:cNvSpPr>
          <p:nvPr/>
        </p:nvSpPr>
        <p:spPr bwMode="auto">
          <a:xfrm>
            <a:off x="1051942" y="4540250"/>
            <a:ext cx="7921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RXD</a:t>
            </a:r>
          </a:p>
        </p:txBody>
      </p:sp>
      <p:sp>
        <p:nvSpPr>
          <p:cNvPr id="23578" name="Rectangle 68"/>
          <p:cNvSpPr>
            <a:spLocks noChangeArrowheads="1"/>
          </p:cNvSpPr>
          <p:nvPr/>
        </p:nvSpPr>
        <p:spPr bwMode="auto">
          <a:xfrm>
            <a:off x="4149154" y="4324350"/>
            <a:ext cx="142875" cy="431800"/>
          </a:xfrm>
          <a:prstGeom prst="rect">
            <a:avLst/>
          </a:prstGeom>
          <a:solidFill>
            <a:srgbClr val="CC99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3579" name="Line 69"/>
          <p:cNvSpPr>
            <a:spLocks noChangeShapeType="1"/>
          </p:cNvSpPr>
          <p:nvPr/>
        </p:nvSpPr>
        <p:spPr bwMode="auto">
          <a:xfrm>
            <a:off x="4149154" y="4540250"/>
            <a:ext cx="142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80" name="Line 70"/>
          <p:cNvSpPr>
            <a:spLocks noChangeShapeType="1"/>
          </p:cNvSpPr>
          <p:nvPr/>
        </p:nvSpPr>
        <p:spPr bwMode="auto">
          <a:xfrm>
            <a:off x="4220592" y="44672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81" name="Line 71"/>
          <p:cNvSpPr>
            <a:spLocks noChangeShapeType="1"/>
          </p:cNvSpPr>
          <p:nvPr/>
        </p:nvSpPr>
        <p:spPr bwMode="auto">
          <a:xfrm>
            <a:off x="4004692" y="4467225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82" name="Line 72"/>
          <p:cNvSpPr>
            <a:spLocks noChangeShapeType="1"/>
          </p:cNvSpPr>
          <p:nvPr/>
        </p:nvSpPr>
        <p:spPr bwMode="auto">
          <a:xfrm>
            <a:off x="4004692" y="4611688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83" name="Rectangle 73"/>
          <p:cNvSpPr>
            <a:spLocks noChangeArrowheads="1"/>
          </p:cNvSpPr>
          <p:nvPr/>
        </p:nvSpPr>
        <p:spPr bwMode="auto">
          <a:xfrm>
            <a:off x="4365054" y="1587500"/>
            <a:ext cx="431800" cy="3455988"/>
          </a:xfrm>
          <a:prstGeom prst="rect">
            <a:avLst/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3584" name="Rectangle 74"/>
          <p:cNvSpPr>
            <a:spLocks noChangeArrowheads="1"/>
          </p:cNvSpPr>
          <p:nvPr/>
        </p:nvSpPr>
        <p:spPr bwMode="auto">
          <a:xfrm>
            <a:off x="4796854" y="1587500"/>
            <a:ext cx="431800" cy="3455988"/>
          </a:xfrm>
          <a:prstGeom prst="rect">
            <a:avLst/>
          </a:prstGeom>
          <a:solidFill>
            <a:srgbClr val="FFCCCC">
              <a:alpha val="43137"/>
            </a:srgb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3585" name="Line 75"/>
          <p:cNvSpPr>
            <a:spLocks noChangeShapeType="1"/>
          </p:cNvSpPr>
          <p:nvPr/>
        </p:nvSpPr>
        <p:spPr bwMode="auto">
          <a:xfrm>
            <a:off x="4292029" y="4540250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86" name="Line 76"/>
          <p:cNvSpPr>
            <a:spLocks noChangeShapeType="1"/>
          </p:cNvSpPr>
          <p:nvPr/>
        </p:nvSpPr>
        <p:spPr bwMode="auto">
          <a:xfrm>
            <a:off x="4652392" y="4540250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87" name="Line 77"/>
          <p:cNvSpPr>
            <a:spLocks noChangeShapeType="1"/>
          </p:cNvSpPr>
          <p:nvPr/>
        </p:nvSpPr>
        <p:spPr bwMode="auto">
          <a:xfrm>
            <a:off x="5084192" y="4540250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88" name="Line 78"/>
          <p:cNvSpPr>
            <a:spLocks noChangeShapeType="1"/>
          </p:cNvSpPr>
          <p:nvPr/>
        </p:nvSpPr>
        <p:spPr bwMode="auto">
          <a:xfrm flipV="1">
            <a:off x="4507929" y="4467225"/>
            <a:ext cx="144463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89" name="Line 79"/>
          <p:cNvSpPr>
            <a:spLocks noChangeShapeType="1"/>
          </p:cNvSpPr>
          <p:nvPr/>
        </p:nvSpPr>
        <p:spPr bwMode="auto">
          <a:xfrm flipV="1">
            <a:off x="4868292" y="4395788"/>
            <a:ext cx="21590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90" name="Line 80"/>
          <p:cNvSpPr>
            <a:spLocks noChangeShapeType="1"/>
          </p:cNvSpPr>
          <p:nvPr/>
        </p:nvSpPr>
        <p:spPr bwMode="auto">
          <a:xfrm>
            <a:off x="4292029" y="194786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91" name="Line 81"/>
          <p:cNvSpPr>
            <a:spLocks noChangeShapeType="1"/>
          </p:cNvSpPr>
          <p:nvPr/>
        </p:nvSpPr>
        <p:spPr bwMode="auto">
          <a:xfrm>
            <a:off x="4652392" y="194786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92" name="Line 82"/>
          <p:cNvSpPr>
            <a:spLocks noChangeShapeType="1"/>
          </p:cNvSpPr>
          <p:nvPr/>
        </p:nvSpPr>
        <p:spPr bwMode="auto">
          <a:xfrm>
            <a:off x="5084192" y="1947863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93" name="Line 83"/>
          <p:cNvSpPr>
            <a:spLocks noChangeShapeType="1"/>
          </p:cNvSpPr>
          <p:nvPr/>
        </p:nvSpPr>
        <p:spPr bwMode="auto">
          <a:xfrm flipV="1">
            <a:off x="4507929" y="1874838"/>
            <a:ext cx="144463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94" name="Line 84"/>
          <p:cNvSpPr>
            <a:spLocks noChangeShapeType="1"/>
          </p:cNvSpPr>
          <p:nvPr/>
        </p:nvSpPr>
        <p:spPr bwMode="auto">
          <a:xfrm flipV="1">
            <a:off x="4868292" y="1803400"/>
            <a:ext cx="21590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95" name="Line 85"/>
          <p:cNvSpPr>
            <a:spLocks noChangeShapeType="1"/>
          </p:cNvSpPr>
          <p:nvPr/>
        </p:nvSpPr>
        <p:spPr bwMode="auto">
          <a:xfrm>
            <a:off x="4292029" y="259556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96" name="Line 86"/>
          <p:cNvSpPr>
            <a:spLocks noChangeShapeType="1"/>
          </p:cNvSpPr>
          <p:nvPr/>
        </p:nvSpPr>
        <p:spPr bwMode="auto">
          <a:xfrm>
            <a:off x="4652392" y="259556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97" name="Line 87"/>
          <p:cNvSpPr>
            <a:spLocks noChangeShapeType="1"/>
          </p:cNvSpPr>
          <p:nvPr/>
        </p:nvSpPr>
        <p:spPr bwMode="auto">
          <a:xfrm>
            <a:off x="5084192" y="2595563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98" name="Line 88"/>
          <p:cNvSpPr>
            <a:spLocks noChangeShapeType="1"/>
          </p:cNvSpPr>
          <p:nvPr/>
        </p:nvSpPr>
        <p:spPr bwMode="auto">
          <a:xfrm flipV="1">
            <a:off x="4507929" y="2522538"/>
            <a:ext cx="144463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599" name="Line 89"/>
          <p:cNvSpPr>
            <a:spLocks noChangeShapeType="1"/>
          </p:cNvSpPr>
          <p:nvPr/>
        </p:nvSpPr>
        <p:spPr bwMode="auto">
          <a:xfrm flipV="1">
            <a:off x="4868292" y="2451100"/>
            <a:ext cx="21590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00" name="Line 90"/>
          <p:cNvSpPr>
            <a:spLocks noChangeShapeType="1"/>
          </p:cNvSpPr>
          <p:nvPr/>
        </p:nvSpPr>
        <p:spPr bwMode="auto">
          <a:xfrm>
            <a:off x="4292029" y="324326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01" name="Line 91"/>
          <p:cNvSpPr>
            <a:spLocks noChangeShapeType="1"/>
          </p:cNvSpPr>
          <p:nvPr/>
        </p:nvSpPr>
        <p:spPr bwMode="auto">
          <a:xfrm>
            <a:off x="4652392" y="324326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02" name="Line 92"/>
          <p:cNvSpPr>
            <a:spLocks noChangeShapeType="1"/>
          </p:cNvSpPr>
          <p:nvPr/>
        </p:nvSpPr>
        <p:spPr bwMode="auto">
          <a:xfrm>
            <a:off x="5084192" y="3243263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03" name="Line 93"/>
          <p:cNvSpPr>
            <a:spLocks noChangeShapeType="1"/>
          </p:cNvSpPr>
          <p:nvPr/>
        </p:nvSpPr>
        <p:spPr bwMode="auto">
          <a:xfrm flipV="1">
            <a:off x="4507929" y="3170238"/>
            <a:ext cx="144463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04" name="Line 94"/>
          <p:cNvSpPr>
            <a:spLocks noChangeShapeType="1"/>
          </p:cNvSpPr>
          <p:nvPr/>
        </p:nvSpPr>
        <p:spPr bwMode="auto">
          <a:xfrm flipV="1">
            <a:off x="4868292" y="3098800"/>
            <a:ext cx="21590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05" name="Line 95"/>
          <p:cNvSpPr>
            <a:spLocks noChangeShapeType="1"/>
          </p:cNvSpPr>
          <p:nvPr/>
        </p:nvSpPr>
        <p:spPr bwMode="auto">
          <a:xfrm>
            <a:off x="4292029" y="3892550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06" name="Line 96"/>
          <p:cNvSpPr>
            <a:spLocks noChangeShapeType="1"/>
          </p:cNvSpPr>
          <p:nvPr/>
        </p:nvSpPr>
        <p:spPr bwMode="auto">
          <a:xfrm>
            <a:off x="4652392" y="3892550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07" name="Line 97"/>
          <p:cNvSpPr>
            <a:spLocks noChangeShapeType="1"/>
          </p:cNvSpPr>
          <p:nvPr/>
        </p:nvSpPr>
        <p:spPr bwMode="auto">
          <a:xfrm>
            <a:off x="5084192" y="3892550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08" name="Line 98"/>
          <p:cNvSpPr>
            <a:spLocks noChangeShapeType="1"/>
          </p:cNvSpPr>
          <p:nvPr/>
        </p:nvSpPr>
        <p:spPr bwMode="auto">
          <a:xfrm flipV="1">
            <a:off x="4507929" y="3819525"/>
            <a:ext cx="144463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09" name="Line 99"/>
          <p:cNvSpPr>
            <a:spLocks noChangeShapeType="1"/>
          </p:cNvSpPr>
          <p:nvPr/>
        </p:nvSpPr>
        <p:spPr bwMode="auto">
          <a:xfrm flipV="1">
            <a:off x="4868292" y="3748088"/>
            <a:ext cx="21590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10" name="Line 100"/>
          <p:cNvSpPr>
            <a:spLocks noChangeShapeType="1"/>
          </p:cNvSpPr>
          <p:nvPr/>
        </p:nvSpPr>
        <p:spPr bwMode="auto">
          <a:xfrm flipH="1">
            <a:off x="4004692" y="1947863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11" name="Line 101"/>
          <p:cNvSpPr>
            <a:spLocks noChangeShapeType="1"/>
          </p:cNvSpPr>
          <p:nvPr/>
        </p:nvSpPr>
        <p:spPr bwMode="auto">
          <a:xfrm flipH="1">
            <a:off x="4004692" y="2595563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12" name="Line 102"/>
          <p:cNvSpPr>
            <a:spLocks noChangeShapeType="1"/>
          </p:cNvSpPr>
          <p:nvPr/>
        </p:nvSpPr>
        <p:spPr bwMode="auto">
          <a:xfrm flipH="1">
            <a:off x="4004692" y="3243263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13" name="Line 103"/>
          <p:cNvSpPr>
            <a:spLocks noChangeShapeType="1"/>
          </p:cNvSpPr>
          <p:nvPr/>
        </p:nvSpPr>
        <p:spPr bwMode="auto">
          <a:xfrm flipH="1">
            <a:off x="4004692" y="3890963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14" name="Line 104"/>
          <p:cNvSpPr>
            <a:spLocks noChangeShapeType="1"/>
          </p:cNvSpPr>
          <p:nvPr/>
        </p:nvSpPr>
        <p:spPr bwMode="auto">
          <a:xfrm>
            <a:off x="5012754" y="1874838"/>
            <a:ext cx="0" cy="280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15" name="Text Box 105"/>
          <p:cNvSpPr txBox="1">
            <a:spLocks noChangeArrowheads="1"/>
          </p:cNvSpPr>
          <p:nvPr/>
        </p:nvSpPr>
        <p:spPr bwMode="auto">
          <a:xfrm>
            <a:off x="4365054" y="4540250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ES</a:t>
            </a:r>
          </a:p>
        </p:txBody>
      </p:sp>
      <p:sp>
        <p:nvSpPr>
          <p:cNvPr id="23616" name="Text Box 106"/>
          <p:cNvSpPr txBox="1">
            <a:spLocks noChangeArrowheads="1"/>
          </p:cNvSpPr>
          <p:nvPr/>
        </p:nvSpPr>
        <p:spPr bwMode="auto">
          <a:xfrm>
            <a:off x="4292029" y="2595563"/>
            <a:ext cx="5762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ET0</a:t>
            </a:r>
          </a:p>
        </p:txBody>
      </p:sp>
      <p:sp>
        <p:nvSpPr>
          <p:cNvPr id="23617" name="Text Box 107"/>
          <p:cNvSpPr txBox="1">
            <a:spLocks noChangeArrowheads="1"/>
          </p:cNvSpPr>
          <p:nvPr/>
        </p:nvSpPr>
        <p:spPr bwMode="auto">
          <a:xfrm>
            <a:off x="4292029" y="1947863"/>
            <a:ext cx="6477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EX0</a:t>
            </a:r>
          </a:p>
        </p:txBody>
      </p:sp>
      <p:sp>
        <p:nvSpPr>
          <p:cNvPr id="23618" name="Text Box 108"/>
          <p:cNvSpPr txBox="1">
            <a:spLocks noChangeArrowheads="1"/>
          </p:cNvSpPr>
          <p:nvPr/>
        </p:nvSpPr>
        <p:spPr bwMode="auto">
          <a:xfrm>
            <a:off x="4292029" y="3243263"/>
            <a:ext cx="5762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EX1</a:t>
            </a:r>
          </a:p>
        </p:txBody>
      </p:sp>
      <p:sp>
        <p:nvSpPr>
          <p:cNvPr id="23619" name="Text Box 109"/>
          <p:cNvSpPr txBox="1">
            <a:spLocks noChangeArrowheads="1"/>
          </p:cNvSpPr>
          <p:nvPr/>
        </p:nvSpPr>
        <p:spPr bwMode="auto">
          <a:xfrm>
            <a:off x="4292029" y="3890963"/>
            <a:ext cx="5762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ET1</a:t>
            </a:r>
          </a:p>
        </p:txBody>
      </p:sp>
      <p:sp>
        <p:nvSpPr>
          <p:cNvPr id="23620" name="Text Box 110"/>
          <p:cNvSpPr txBox="1">
            <a:spLocks noChangeArrowheads="1"/>
          </p:cNvSpPr>
          <p:nvPr/>
        </p:nvSpPr>
        <p:spPr bwMode="auto">
          <a:xfrm>
            <a:off x="4796854" y="4611688"/>
            <a:ext cx="5032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EA</a:t>
            </a:r>
          </a:p>
        </p:txBody>
      </p:sp>
      <p:sp>
        <p:nvSpPr>
          <p:cNvPr id="23621" name="Rectangle 111"/>
          <p:cNvSpPr>
            <a:spLocks noChangeArrowheads="1"/>
          </p:cNvSpPr>
          <p:nvPr/>
        </p:nvSpPr>
        <p:spPr bwMode="auto">
          <a:xfrm>
            <a:off x="5515992" y="1587500"/>
            <a:ext cx="863600" cy="647700"/>
          </a:xfrm>
          <a:prstGeom prst="rect">
            <a:avLst/>
          </a:prstGeom>
          <a:solidFill>
            <a:schemeClr val="accent1">
              <a:alpha val="70979"/>
            </a:scheme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3622" name="Line 112"/>
          <p:cNvSpPr>
            <a:spLocks noChangeShapeType="1"/>
          </p:cNvSpPr>
          <p:nvPr/>
        </p:nvSpPr>
        <p:spPr bwMode="auto">
          <a:xfrm>
            <a:off x="5515992" y="194786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23" name="Line 113"/>
          <p:cNvSpPr>
            <a:spLocks noChangeShapeType="1"/>
          </p:cNvSpPr>
          <p:nvPr/>
        </p:nvSpPr>
        <p:spPr bwMode="auto">
          <a:xfrm flipV="1">
            <a:off x="5947792" y="1658938"/>
            <a:ext cx="0" cy="1444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24" name="Line 114"/>
          <p:cNvSpPr>
            <a:spLocks noChangeShapeType="1"/>
          </p:cNvSpPr>
          <p:nvPr/>
        </p:nvSpPr>
        <p:spPr bwMode="auto">
          <a:xfrm>
            <a:off x="5947792" y="1658938"/>
            <a:ext cx="503237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25" name="Line 115"/>
          <p:cNvSpPr>
            <a:spLocks noChangeShapeType="1"/>
          </p:cNvSpPr>
          <p:nvPr/>
        </p:nvSpPr>
        <p:spPr bwMode="auto">
          <a:xfrm>
            <a:off x="5947792" y="201930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26" name="Line 116"/>
          <p:cNvSpPr>
            <a:spLocks noChangeShapeType="1"/>
          </p:cNvSpPr>
          <p:nvPr/>
        </p:nvSpPr>
        <p:spPr bwMode="auto">
          <a:xfrm>
            <a:off x="5947792" y="2163763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27" name="Line 117"/>
          <p:cNvSpPr>
            <a:spLocks noChangeShapeType="1"/>
          </p:cNvSpPr>
          <p:nvPr/>
        </p:nvSpPr>
        <p:spPr bwMode="auto">
          <a:xfrm>
            <a:off x="5731892" y="1947863"/>
            <a:ext cx="360362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28" name="Rectangle 118"/>
          <p:cNvSpPr>
            <a:spLocks noChangeArrowheads="1"/>
          </p:cNvSpPr>
          <p:nvPr/>
        </p:nvSpPr>
        <p:spPr bwMode="auto">
          <a:xfrm>
            <a:off x="5515992" y="2235200"/>
            <a:ext cx="863600" cy="647700"/>
          </a:xfrm>
          <a:prstGeom prst="rect">
            <a:avLst/>
          </a:prstGeom>
          <a:solidFill>
            <a:schemeClr val="accent1">
              <a:alpha val="70979"/>
            </a:scheme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3629" name="Line 119"/>
          <p:cNvSpPr>
            <a:spLocks noChangeShapeType="1"/>
          </p:cNvSpPr>
          <p:nvPr/>
        </p:nvSpPr>
        <p:spPr bwMode="auto">
          <a:xfrm>
            <a:off x="5515992" y="259556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30" name="Line 120"/>
          <p:cNvSpPr>
            <a:spLocks noChangeShapeType="1"/>
          </p:cNvSpPr>
          <p:nvPr/>
        </p:nvSpPr>
        <p:spPr bwMode="auto">
          <a:xfrm flipV="1">
            <a:off x="5947792" y="2306638"/>
            <a:ext cx="0" cy="1444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31" name="Line 121"/>
          <p:cNvSpPr>
            <a:spLocks noChangeShapeType="1"/>
          </p:cNvSpPr>
          <p:nvPr/>
        </p:nvSpPr>
        <p:spPr bwMode="auto">
          <a:xfrm>
            <a:off x="5947792" y="2306638"/>
            <a:ext cx="503237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32" name="Line 122"/>
          <p:cNvSpPr>
            <a:spLocks noChangeShapeType="1"/>
          </p:cNvSpPr>
          <p:nvPr/>
        </p:nvSpPr>
        <p:spPr bwMode="auto">
          <a:xfrm>
            <a:off x="5947792" y="266700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33" name="Line 123"/>
          <p:cNvSpPr>
            <a:spLocks noChangeShapeType="1"/>
          </p:cNvSpPr>
          <p:nvPr/>
        </p:nvSpPr>
        <p:spPr bwMode="auto">
          <a:xfrm>
            <a:off x="5947792" y="2811463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34" name="Line 124"/>
          <p:cNvSpPr>
            <a:spLocks noChangeShapeType="1"/>
          </p:cNvSpPr>
          <p:nvPr/>
        </p:nvSpPr>
        <p:spPr bwMode="auto">
          <a:xfrm>
            <a:off x="5731892" y="2595563"/>
            <a:ext cx="360362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35" name="Rectangle 125"/>
          <p:cNvSpPr>
            <a:spLocks noChangeArrowheads="1"/>
          </p:cNvSpPr>
          <p:nvPr/>
        </p:nvSpPr>
        <p:spPr bwMode="auto">
          <a:xfrm>
            <a:off x="5515992" y="2882900"/>
            <a:ext cx="863600" cy="647700"/>
          </a:xfrm>
          <a:prstGeom prst="rect">
            <a:avLst/>
          </a:prstGeom>
          <a:solidFill>
            <a:schemeClr val="accent1">
              <a:alpha val="70979"/>
            </a:scheme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3636" name="Line 126"/>
          <p:cNvSpPr>
            <a:spLocks noChangeShapeType="1"/>
          </p:cNvSpPr>
          <p:nvPr/>
        </p:nvSpPr>
        <p:spPr bwMode="auto">
          <a:xfrm>
            <a:off x="5515992" y="324326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37" name="Line 127"/>
          <p:cNvSpPr>
            <a:spLocks noChangeShapeType="1"/>
          </p:cNvSpPr>
          <p:nvPr/>
        </p:nvSpPr>
        <p:spPr bwMode="auto">
          <a:xfrm flipV="1">
            <a:off x="5947792" y="2954338"/>
            <a:ext cx="0" cy="1444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38" name="Line 128"/>
          <p:cNvSpPr>
            <a:spLocks noChangeShapeType="1"/>
          </p:cNvSpPr>
          <p:nvPr/>
        </p:nvSpPr>
        <p:spPr bwMode="auto">
          <a:xfrm>
            <a:off x="5947792" y="2954338"/>
            <a:ext cx="503237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39" name="Line 129"/>
          <p:cNvSpPr>
            <a:spLocks noChangeShapeType="1"/>
          </p:cNvSpPr>
          <p:nvPr/>
        </p:nvSpPr>
        <p:spPr bwMode="auto">
          <a:xfrm>
            <a:off x="5947792" y="331470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40" name="Line 130"/>
          <p:cNvSpPr>
            <a:spLocks noChangeShapeType="1"/>
          </p:cNvSpPr>
          <p:nvPr/>
        </p:nvSpPr>
        <p:spPr bwMode="auto">
          <a:xfrm>
            <a:off x="5947792" y="3459163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41" name="Line 131"/>
          <p:cNvSpPr>
            <a:spLocks noChangeShapeType="1"/>
          </p:cNvSpPr>
          <p:nvPr/>
        </p:nvSpPr>
        <p:spPr bwMode="auto">
          <a:xfrm>
            <a:off x="5731892" y="3243263"/>
            <a:ext cx="360362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42" name="Rectangle 132"/>
          <p:cNvSpPr>
            <a:spLocks noChangeArrowheads="1"/>
          </p:cNvSpPr>
          <p:nvPr/>
        </p:nvSpPr>
        <p:spPr bwMode="auto">
          <a:xfrm>
            <a:off x="5515992" y="3532188"/>
            <a:ext cx="863600" cy="647700"/>
          </a:xfrm>
          <a:prstGeom prst="rect">
            <a:avLst/>
          </a:prstGeom>
          <a:solidFill>
            <a:schemeClr val="accent1">
              <a:alpha val="70979"/>
            </a:scheme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3643" name="Line 133"/>
          <p:cNvSpPr>
            <a:spLocks noChangeShapeType="1"/>
          </p:cNvSpPr>
          <p:nvPr/>
        </p:nvSpPr>
        <p:spPr bwMode="auto">
          <a:xfrm>
            <a:off x="5515992" y="3892550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44" name="Line 134"/>
          <p:cNvSpPr>
            <a:spLocks noChangeShapeType="1"/>
          </p:cNvSpPr>
          <p:nvPr/>
        </p:nvSpPr>
        <p:spPr bwMode="auto">
          <a:xfrm flipV="1">
            <a:off x="5947792" y="3603625"/>
            <a:ext cx="0" cy="1444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45" name="Line 135"/>
          <p:cNvSpPr>
            <a:spLocks noChangeShapeType="1"/>
          </p:cNvSpPr>
          <p:nvPr/>
        </p:nvSpPr>
        <p:spPr bwMode="auto">
          <a:xfrm>
            <a:off x="5947792" y="3603625"/>
            <a:ext cx="503237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46" name="Line 136"/>
          <p:cNvSpPr>
            <a:spLocks noChangeShapeType="1"/>
          </p:cNvSpPr>
          <p:nvPr/>
        </p:nvSpPr>
        <p:spPr bwMode="auto">
          <a:xfrm>
            <a:off x="5947792" y="396398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47" name="Line 137"/>
          <p:cNvSpPr>
            <a:spLocks noChangeShapeType="1"/>
          </p:cNvSpPr>
          <p:nvPr/>
        </p:nvSpPr>
        <p:spPr bwMode="auto">
          <a:xfrm>
            <a:off x="5947792" y="4108450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48" name="Line 138"/>
          <p:cNvSpPr>
            <a:spLocks noChangeShapeType="1"/>
          </p:cNvSpPr>
          <p:nvPr/>
        </p:nvSpPr>
        <p:spPr bwMode="auto">
          <a:xfrm>
            <a:off x="5731892" y="3892550"/>
            <a:ext cx="360362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49" name="Rectangle 139"/>
          <p:cNvSpPr>
            <a:spLocks noChangeArrowheads="1"/>
          </p:cNvSpPr>
          <p:nvPr/>
        </p:nvSpPr>
        <p:spPr bwMode="auto">
          <a:xfrm>
            <a:off x="5515992" y="4179888"/>
            <a:ext cx="863600" cy="647700"/>
          </a:xfrm>
          <a:prstGeom prst="rect">
            <a:avLst/>
          </a:prstGeom>
          <a:solidFill>
            <a:schemeClr val="accent1">
              <a:alpha val="70979"/>
            </a:scheme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3650" name="Line 140"/>
          <p:cNvSpPr>
            <a:spLocks noChangeShapeType="1"/>
          </p:cNvSpPr>
          <p:nvPr/>
        </p:nvSpPr>
        <p:spPr bwMode="auto">
          <a:xfrm>
            <a:off x="5515992" y="4540250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51" name="Line 141"/>
          <p:cNvSpPr>
            <a:spLocks noChangeShapeType="1"/>
          </p:cNvSpPr>
          <p:nvPr/>
        </p:nvSpPr>
        <p:spPr bwMode="auto">
          <a:xfrm flipV="1">
            <a:off x="5947792" y="4251325"/>
            <a:ext cx="0" cy="1444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52" name="Line 142"/>
          <p:cNvSpPr>
            <a:spLocks noChangeShapeType="1"/>
          </p:cNvSpPr>
          <p:nvPr/>
        </p:nvSpPr>
        <p:spPr bwMode="auto">
          <a:xfrm>
            <a:off x="5947792" y="4251325"/>
            <a:ext cx="503237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53" name="Line 143"/>
          <p:cNvSpPr>
            <a:spLocks noChangeShapeType="1"/>
          </p:cNvSpPr>
          <p:nvPr/>
        </p:nvSpPr>
        <p:spPr bwMode="auto">
          <a:xfrm>
            <a:off x="5947792" y="4611688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54" name="Line 144"/>
          <p:cNvSpPr>
            <a:spLocks noChangeShapeType="1"/>
          </p:cNvSpPr>
          <p:nvPr/>
        </p:nvSpPr>
        <p:spPr bwMode="auto">
          <a:xfrm>
            <a:off x="5947792" y="4756150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55" name="Line 145"/>
          <p:cNvSpPr>
            <a:spLocks noChangeShapeType="1"/>
          </p:cNvSpPr>
          <p:nvPr/>
        </p:nvSpPr>
        <p:spPr bwMode="auto">
          <a:xfrm>
            <a:off x="5731892" y="4540250"/>
            <a:ext cx="360362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56" name="Rectangle 146"/>
          <p:cNvSpPr>
            <a:spLocks noChangeArrowheads="1"/>
          </p:cNvSpPr>
          <p:nvPr/>
        </p:nvSpPr>
        <p:spPr bwMode="auto">
          <a:xfrm>
            <a:off x="7532117" y="1195388"/>
            <a:ext cx="792162" cy="2263775"/>
          </a:xfrm>
          <a:prstGeom prst="rect">
            <a:avLst/>
          </a:prstGeom>
          <a:solidFill>
            <a:srgbClr val="CCFFCC">
              <a:alpha val="21960"/>
            </a:srgb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3657" name="AutoShape 147"/>
          <p:cNvSpPr>
            <a:spLocks noChangeArrowheads="1"/>
          </p:cNvSpPr>
          <p:nvPr/>
        </p:nvSpPr>
        <p:spPr bwMode="auto">
          <a:xfrm>
            <a:off x="7605142" y="1347788"/>
            <a:ext cx="647700" cy="1463675"/>
          </a:xfrm>
          <a:prstGeom prst="downArrow">
            <a:avLst>
              <a:gd name="adj1" fmla="val 50000"/>
              <a:gd name="adj2" fmla="val 56495"/>
            </a:avLst>
          </a:prstGeom>
          <a:solidFill>
            <a:srgbClr val="FF00FF">
              <a:alpha val="43137"/>
            </a:srgb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3658" name="Text Box 148"/>
          <p:cNvSpPr txBox="1">
            <a:spLocks noChangeArrowheads="1"/>
          </p:cNvSpPr>
          <p:nvPr/>
        </p:nvSpPr>
        <p:spPr bwMode="auto">
          <a:xfrm>
            <a:off x="7719442" y="1423988"/>
            <a:ext cx="458787" cy="1512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18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自然优先级</a:t>
            </a:r>
          </a:p>
        </p:txBody>
      </p:sp>
      <p:sp>
        <p:nvSpPr>
          <p:cNvPr id="23659" name="Text Box 149"/>
          <p:cNvSpPr txBox="1">
            <a:spLocks noChangeArrowheads="1"/>
          </p:cNvSpPr>
          <p:nvPr/>
        </p:nvSpPr>
        <p:spPr bwMode="auto">
          <a:xfrm>
            <a:off x="7567042" y="2795588"/>
            <a:ext cx="7921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18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矢量地址</a:t>
            </a:r>
          </a:p>
        </p:txBody>
      </p:sp>
      <p:sp>
        <p:nvSpPr>
          <p:cNvPr id="23660" name="AutoShape 150"/>
          <p:cNvSpPr>
            <a:spLocks noChangeArrowheads="1"/>
          </p:cNvSpPr>
          <p:nvPr/>
        </p:nvSpPr>
        <p:spPr bwMode="auto">
          <a:xfrm>
            <a:off x="8324279" y="2955925"/>
            <a:ext cx="433388" cy="360363"/>
          </a:xfrm>
          <a:prstGeom prst="rightArrow">
            <a:avLst>
              <a:gd name="adj1" fmla="val 49778"/>
              <a:gd name="adj2" fmla="val 49782"/>
            </a:avLst>
          </a:prstGeom>
          <a:noFill/>
          <a:ln w="9525" algn="ctr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3661" name="Line 151"/>
          <p:cNvSpPr>
            <a:spLocks noChangeShapeType="1"/>
          </p:cNvSpPr>
          <p:nvPr/>
        </p:nvSpPr>
        <p:spPr bwMode="auto">
          <a:xfrm>
            <a:off x="8324279" y="1443038"/>
            <a:ext cx="4333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62" name="Text Box 152"/>
          <p:cNvSpPr txBox="1">
            <a:spLocks noChangeArrowheads="1"/>
          </p:cNvSpPr>
          <p:nvPr/>
        </p:nvSpPr>
        <p:spPr bwMode="auto">
          <a:xfrm>
            <a:off x="8619554" y="1468438"/>
            <a:ext cx="488950" cy="165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高级中断请求</a:t>
            </a:r>
          </a:p>
        </p:txBody>
      </p:sp>
      <p:sp>
        <p:nvSpPr>
          <p:cNvPr id="23663" name="Rectangle 153"/>
          <p:cNvSpPr>
            <a:spLocks noChangeArrowheads="1"/>
          </p:cNvSpPr>
          <p:nvPr/>
        </p:nvSpPr>
        <p:spPr bwMode="auto">
          <a:xfrm>
            <a:off x="7532117" y="3676650"/>
            <a:ext cx="792162" cy="2211388"/>
          </a:xfrm>
          <a:prstGeom prst="rect">
            <a:avLst/>
          </a:prstGeom>
          <a:solidFill>
            <a:srgbClr val="CCFFFF">
              <a:alpha val="21960"/>
            </a:srgb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3664" name="AutoShape 154"/>
          <p:cNvSpPr>
            <a:spLocks noChangeArrowheads="1"/>
          </p:cNvSpPr>
          <p:nvPr/>
        </p:nvSpPr>
        <p:spPr bwMode="auto">
          <a:xfrm>
            <a:off x="7605142" y="3786188"/>
            <a:ext cx="647700" cy="1543050"/>
          </a:xfrm>
          <a:prstGeom prst="downArrow">
            <a:avLst>
              <a:gd name="adj1" fmla="val 50000"/>
              <a:gd name="adj2" fmla="val 59559"/>
            </a:avLst>
          </a:prstGeom>
          <a:solidFill>
            <a:srgbClr val="FF00FF">
              <a:alpha val="43137"/>
            </a:srgbClr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3665" name="Text Box 155"/>
          <p:cNvSpPr txBox="1">
            <a:spLocks noChangeArrowheads="1"/>
          </p:cNvSpPr>
          <p:nvPr/>
        </p:nvSpPr>
        <p:spPr bwMode="auto">
          <a:xfrm>
            <a:off x="7722617" y="3819525"/>
            <a:ext cx="458787" cy="151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18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自然优先级</a:t>
            </a:r>
          </a:p>
        </p:txBody>
      </p:sp>
      <p:sp>
        <p:nvSpPr>
          <p:cNvPr id="23666" name="Text Box 156"/>
          <p:cNvSpPr txBox="1">
            <a:spLocks noChangeArrowheads="1"/>
          </p:cNvSpPr>
          <p:nvPr/>
        </p:nvSpPr>
        <p:spPr bwMode="auto">
          <a:xfrm>
            <a:off x="7628954" y="5278438"/>
            <a:ext cx="7921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18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矢量地址</a:t>
            </a:r>
          </a:p>
        </p:txBody>
      </p:sp>
      <p:sp>
        <p:nvSpPr>
          <p:cNvPr id="23667" name="AutoShape 157"/>
          <p:cNvSpPr>
            <a:spLocks noChangeArrowheads="1"/>
          </p:cNvSpPr>
          <p:nvPr/>
        </p:nvSpPr>
        <p:spPr bwMode="auto">
          <a:xfrm>
            <a:off x="8324279" y="5476875"/>
            <a:ext cx="433388" cy="360363"/>
          </a:xfrm>
          <a:prstGeom prst="rightArrow">
            <a:avLst>
              <a:gd name="adj1" fmla="val 49778"/>
              <a:gd name="adj2" fmla="val 49782"/>
            </a:avLst>
          </a:prstGeom>
          <a:noFill/>
          <a:ln w="9525" algn="ctr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3668" name="Line 158"/>
          <p:cNvSpPr>
            <a:spLocks noChangeShapeType="1"/>
          </p:cNvSpPr>
          <p:nvPr/>
        </p:nvSpPr>
        <p:spPr bwMode="auto">
          <a:xfrm>
            <a:off x="8324279" y="3963988"/>
            <a:ext cx="4333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69" name="Text Box 159"/>
          <p:cNvSpPr txBox="1">
            <a:spLocks noChangeArrowheads="1"/>
          </p:cNvSpPr>
          <p:nvPr/>
        </p:nvSpPr>
        <p:spPr bwMode="auto">
          <a:xfrm>
            <a:off x="8619554" y="3983038"/>
            <a:ext cx="488950" cy="165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低级中断请求</a:t>
            </a:r>
          </a:p>
        </p:txBody>
      </p:sp>
      <p:sp>
        <p:nvSpPr>
          <p:cNvPr id="23670" name="Line 160"/>
          <p:cNvSpPr>
            <a:spLocks noChangeShapeType="1"/>
          </p:cNvSpPr>
          <p:nvPr/>
        </p:nvSpPr>
        <p:spPr bwMode="auto">
          <a:xfrm>
            <a:off x="7316217" y="1298575"/>
            <a:ext cx="2159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71" name="Line 161"/>
          <p:cNvSpPr>
            <a:spLocks noChangeShapeType="1"/>
          </p:cNvSpPr>
          <p:nvPr/>
        </p:nvSpPr>
        <p:spPr bwMode="auto">
          <a:xfrm flipH="1">
            <a:off x="6452617" y="1298575"/>
            <a:ext cx="863600" cy="3603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72" name="Line 162"/>
          <p:cNvSpPr>
            <a:spLocks noChangeShapeType="1"/>
          </p:cNvSpPr>
          <p:nvPr/>
        </p:nvSpPr>
        <p:spPr bwMode="auto">
          <a:xfrm>
            <a:off x="7316217" y="1587500"/>
            <a:ext cx="2159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73" name="Line 163"/>
          <p:cNvSpPr>
            <a:spLocks noChangeShapeType="1"/>
          </p:cNvSpPr>
          <p:nvPr/>
        </p:nvSpPr>
        <p:spPr bwMode="auto">
          <a:xfrm flipV="1">
            <a:off x="6452617" y="1587500"/>
            <a:ext cx="863600" cy="7191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74" name="Line 164"/>
          <p:cNvSpPr>
            <a:spLocks noChangeShapeType="1"/>
          </p:cNvSpPr>
          <p:nvPr/>
        </p:nvSpPr>
        <p:spPr bwMode="auto">
          <a:xfrm>
            <a:off x="7316217" y="1874838"/>
            <a:ext cx="2159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75" name="Line 165"/>
          <p:cNvSpPr>
            <a:spLocks noChangeShapeType="1"/>
          </p:cNvSpPr>
          <p:nvPr/>
        </p:nvSpPr>
        <p:spPr bwMode="auto">
          <a:xfrm flipV="1">
            <a:off x="6452617" y="1874838"/>
            <a:ext cx="863600" cy="10810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76" name="Line 166"/>
          <p:cNvSpPr>
            <a:spLocks noChangeShapeType="1"/>
          </p:cNvSpPr>
          <p:nvPr/>
        </p:nvSpPr>
        <p:spPr bwMode="auto">
          <a:xfrm>
            <a:off x="7316217" y="2163763"/>
            <a:ext cx="2159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77" name="Line 167"/>
          <p:cNvSpPr>
            <a:spLocks noChangeShapeType="1"/>
          </p:cNvSpPr>
          <p:nvPr/>
        </p:nvSpPr>
        <p:spPr bwMode="auto">
          <a:xfrm flipV="1">
            <a:off x="6452617" y="2163763"/>
            <a:ext cx="863600" cy="14398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78" name="Line 168"/>
          <p:cNvSpPr>
            <a:spLocks noChangeShapeType="1"/>
          </p:cNvSpPr>
          <p:nvPr/>
        </p:nvSpPr>
        <p:spPr bwMode="auto">
          <a:xfrm>
            <a:off x="7316217" y="2451100"/>
            <a:ext cx="2159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79" name="Line 169"/>
          <p:cNvSpPr>
            <a:spLocks noChangeShapeType="1"/>
          </p:cNvSpPr>
          <p:nvPr/>
        </p:nvSpPr>
        <p:spPr bwMode="auto">
          <a:xfrm flipV="1">
            <a:off x="6452617" y="2451100"/>
            <a:ext cx="863600" cy="18002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80" name="Line 170"/>
          <p:cNvSpPr>
            <a:spLocks noChangeShapeType="1"/>
          </p:cNvSpPr>
          <p:nvPr/>
        </p:nvSpPr>
        <p:spPr bwMode="auto">
          <a:xfrm>
            <a:off x="7316217" y="3819525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81" name="Line 171"/>
          <p:cNvSpPr>
            <a:spLocks noChangeShapeType="1"/>
          </p:cNvSpPr>
          <p:nvPr/>
        </p:nvSpPr>
        <p:spPr bwMode="auto">
          <a:xfrm>
            <a:off x="7316217" y="410686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82" name="Line 172"/>
          <p:cNvSpPr>
            <a:spLocks noChangeShapeType="1"/>
          </p:cNvSpPr>
          <p:nvPr/>
        </p:nvSpPr>
        <p:spPr bwMode="auto">
          <a:xfrm>
            <a:off x="7316217" y="4395788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83" name="Line 173"/>
          <p:cNvSpPr>
            <a:spLocks noChangeShapeType="1"/>
          </p:cNvSpPr>
          <p:nvPr/>
        </p:nvSpPr>
        <p:spPr bwMode="auto">
          <a:xfrm>
            <a:off x="7316217" y="4683125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84" name="Line 174"/>
          <p:cNvSpPr>
            <a:spLocks noChangeShapeType="1"/>
          </p:cNvSpPr>
          <p:nvPr/>
        </p:nvSpPr>
        <p:spPr bwMode="auto">
          <a:xfrm>
            <a:off x="7316217" y="4972050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85" name="Line 175"/>
          <p:cNvSpPr>
            <a:spLocks noChangeShapeType="1"/>
          </p:cNvSpPr>
          <p:nvPr/>
        </p:nvSpPr>
        <p:spPr bwMode="auto">
          <a:xfrm>
            <a:off x="6452617" y="2163763"/>
            <a:ext cx="863600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86" name="Line 176"/>
          <p:cNvSpPr>
            <a:spLocks noChangeShapeType="1"/>
          </p:cNvSpPr>
          <p:nvPr/>
        </p:nvSpPr>
        <p:spPr bwMode="auto">
          <a:xfrm>
            <a:off x="6452617" y="2811463"/>
            <a:ext cx="8636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87" name="Line 177"/>
          <p:cNvSpPr>
            <a:spLocks noChangeShapeType="1"/>
          </p:cNvSpPr>
          <p:nvPr/>
        </p:nvSpPr>
        <p:spPr bwMode="auto">
          <a:xfrm>
            <a:off x="6452617" y="3459163"/>
            <a:ext cx="86360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88" name="Line 178"/>
          <p:cNvSpPr>
            <a:spLocks noChangeShapeType="1"/>
          </p:cNvSpPr>
          <p:nvPr/>
        </p:nvSpPr>
        <p:spPr bwMode="auto">
          <a:xfrm>
            <a:off x="6452617" y="4106863"/>
            <a:ext cx="8636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89" name="Line 179"/>
          <p:cNvSpPr>
            <a:spLocks noChangeShapeType="1"/>
          </p:cNvSpPr>
          <p:nvPr/>
        </p:nvSpPr>
        <p:spPr bwMode="auto">
          <a:xfrm>
            <a:off x="6452617" y="4756150"/>
            <a:ext cx="8636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90" name="Line 180"/>
          <p:cNvSpPr>
            <a:spLocks noChangeShapeType="1"/>
          </p:cNvSpPr>
          <p:nvPr/>
        </p:nvSpPr>
        <p:spPr bwMode="auto">
          <a:xfrm>
            <a:off x="5300092" y="1947863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91" name="Line 181"/>
          <p:cNvSpPr>
            <a:spLocks noChangeShapeType="1"/>
          </p:cNvSpPr>
          <p:nvPr/>
        </p:nvSpPr>
        <p:spPr bwMode="auto">
          <a:xfrm>
            <a:off x="5300092" y="2595563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92" name="Line 182"/>
          <p:cNvSpPr>
            <a:spLocks noChangeShapeType="1"/>
          </p:cNvSpPr>
          <p:nvPr/>
        </p:nvSpPr>
        <p:spPr bwMode="auto">
          <a:xfrm>
            <a:off x="5300092" y="3243263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93" name="Line 183"/>
          <p:cNvSpPr>
            <a:spLocks noChangeShapeType="1"/>
          </p:cNvSpPr>
          <p:nvPr/>
        </p:nvSpPr>
        <p:spPr bwMode="auto">
          <a:xfrm>
            <a:off x="5228654" y="3890963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94" name="Line 184"/>
          <p:cNvSpPr>
            <a:spLocks noChangeShapeType="1"/>
          </p:cNvSpPr>
          <p:nvPr/>
        </p:nvSpPr>
        <p:spPr bwMode="auto">
          <a:xfrm>
            <a:off x="5228654" y="4540250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695" name="Text Box 185"/>
          <p:cNvSpPr txBox="1">
            <a:spLocks noChangeArrowheads="1"/>
          </p:cNvSpPr>
          <p:nvPr/>
        </p:nvSpPr>
        <p:spPr bwMode="auto">
          <a:xfrm>
            <a:off x="5444554" y="1587500"/>
            <a:ext cx="5762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PX0</a:t>
            </a:r>
          </a:p>
        </p:txBody>
      </p:sp>
      <p:sp>
        <p:nvSpPr>
          <p:cNvPr id="23696" name="Text Box 186"/>
          <p:cNvSpPr txBox="1">
            <a:spLocks noChangeArrowheads="1"/>
          </p:cNvSpPr>
          <p:nvPr/>
        </p:nvSpPr>
        <p:spPr bwMode="auto">
          <a:xfrm>
            <a:off x="5444554" y="2235200"/>
            <a:ext cx="5762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PT0</a:t>
            </a:r>
          </a:p>
        </p:txBody>
      </p:sp>
      <p:sp>
        <p:nvSpPr>
          <p:cNvPr id="23697" name="Text Box 187"/>
          <p:cNvSpPr txBox="1">
            <a:spLocks noChangeArrowheads="1"/>
          </p:cNvSpPr>
          <p:nvPr/>
        </p:nvSpPr>
        <p:spPr bwMode="auto">
          <a:xfrm>
            <a:off x="5444554" y="2882900"/>
            <a:ext cx="5762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PX1</a:t>
            </a:r>
          </a:p>
        </p:txBody>
      </p:sp>
      <p:sp>
        <p:nvSpPr>
          <p:cNvPr id="23698" name="Text Box 188"/>
          <p:cNvSpPr txBox="1">
            <a:spLocks noChangeArrowheads="1"/>
          </p:cNvSpPr>
          <p:nvPr/>
        </p:nvSpPr>
        <p:spPr bwMode="auto">
          <a:xfrm>
            <a:off x="5444554" y="3532188"/>
            <a:ext cx="5762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PT1</a:t>
            </a:r>
          </a:p>
        </p:txBody>
      </p:sp>
      <p:sp>
        <p:nvSpPr>
          <p:cNvPr id="23699" name="Text Box 189"/>
          <p:cNvSpPr txBox="1">
            <a:spLocks noChangeArrowheads="1"/>
          </p:cNvSpPr>
          <p:nvPr/>
        </p:nvSpPr>
        <p:spPr bwMode="auto">
          <a:xfrm>
            <a:off x="5517579" y="4179888"/>
            <a:ext cx="5032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PS</a:t>
            </a:r>
          </a:p>
        </p:txBody>
      </p:sp>
      <p:sp>
        <p:nvSpPr>
          <p:cNvPr id="23700" name="Text Box 190"/>
          <p:cNvSpPr txBox="1">
            <a:spLocks noChangeArrowheads="1"/>
          </p:cNvSpPr>
          <p:nvPr/>
        </p:nvSpPr>
        <p:spPr bwMode="auto">
          <a:xfrm>
            <a:off x="4580954" y="1155700"/>
            <a:ext cx="5032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FF3300"/>
                </a:solidFill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IE</a:t>
            </a:r>
          </a:p>
        </p:txBody>
      </p:sp>
      <p:sp>
        <p:nvSpPr>
          <p:cNvPr id="23701" name="Text Box 191"/>
          <p:cNvSpPr txBox="1">
            <a:spLocks noChangeArrowheads="1"/>
          </p:cNvSpPr>
          <p:nvPr/>
        </p:nvSpPr>
        <p:spPr bwMode="auto">
          <a:xfrm>
            <a:off x="5662042" y="1155700"/>
            <a:ext cx="5032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FF3300"/>
                </a:solidFill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IP</a:t>
            </a:r>
          </a:p>
        </p:txBody>
      </p:sp>
      <p:sp>
        <p:nvSpPr>
          <p:cNvPr id="23702" name="Rectangle 192"/>
          <p:cNvSpPr>
            <a:spLocks noChangeArrowheads="1"/>
          </p:cNvSpPr>
          <p:nvPr/>
        </p:nvSpPr>
        <p:spPr bwMode="auto">
          <a:xfrm>
            <a:off x="1505744" y="250826"/>
            <a:ext cx="6096000" cy="73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3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MCS-51</a:t>
            </a:r>
            <a:r>
              <a:rPr kumimoji="0" lang="zh-CN" altLang="en-US" sz="3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的中断系统的组成</a:t>
            </a:r>
          </a:p>
        </p:txBody>
      </p:sp>
      <p:sp>
        <p:nvSpPr>
          <p:cNvPr id="213185" name="AutoShape 193"/>
          <p:cNvSpPr>
            <a:spLocks noChangeArrowheads="1"/>
          </p:cNvSpPr>
          <p:nvPr/>
        </p:nvSpPr>
        <p:spPr bwMode="auto">
          <a:xfrm>
            <a:off x="1318642" y="5068888"/>
            <a:ext cx="1219200" cy="762000"/>
          </a:xfrm>
          <a:prstGeom prst="wedgeRoundRectCallout">
            <a:avLst>
              <a:gd name="adj1" fmla="val 103255"/>
              <a:gd name="adj2" fmla="val -182708"/>
              <a:gd name="adj3" fmla="val 16667"/>
            </a:avLst>
          </a:prstGeom>
          <a:solidFill>
            <a:srgbClr val="FFCC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kumimoji="0"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中断标志位</a:t>
            </a:r>
          </a:p>
        </p:txBody>
      </p:sp>
      <p:sp>
        <p:nvSpPr>
          <p:cNvPr id="213186" name="AutoShape 194"/>
          <p:cNvSpPr>
            <a:spLocks noChangeArrowheads="1"/>
          </p:cNvSpPr>
          <p:nvPr/>
        </p:nvSpPr>
        <p:spPr bwMode="auto">
          <a:xfrm>
            <a:off x="3909442" y="5113338"/>
            <a:ext cx="1219200" cy="762000"/>
          </a:xfrm>
          <a:prstGeom prst="wedgeRoundRectCallout">
            <a:avLst>
              <a:gd name="adj1" fmla="val -10806"/>
              <a:gd name="adj2" fmla="val -84792"/>
              <a:gd name="adj3" fmla="val 16667"/>
            </a:avLst>
          </a:prstGeom>
          <a:solidFill>
            <a:srgbClr val="FFCC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kumimoji="0"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中断源允许</a:t>
            </a:r>
          </a:p>
        </p:txBody>
      </p:sp>
      <p:sp>
        <p:nvSpPr>
          <p:cNvPr id="213187" name="AutoShape 195"/>
          <p:cNvSpPr>
            <a:spLocks noChangeArrowheads="1"/>
          </p:cNvSpPr>
          <p:nvPr/>
        </p:nvSpPr>
        <p:spPr bwMode="auto">
          <a:xfrm>
            <a:off x="5204842" y="5233988"/>
            <a:ext cx="1219200" cy="501650"/>
          </a:xfrm>
          <a:prstGeom prst="wedgeRoundRectCallout">
            <a:avLst>
              <a:gd name="adj1" fmla="val -58593"/>
              <a:gd name="adj2" fmla="val -119306"/>
              <a:gd name="adj3" fmla="val 16667"/>
            </a:avLst>
          </a:prstGeom>
          <a:solidFill>
            <a:srgbClr val="FFCC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kumimoji="0"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总允许</a:t>
            </a:r>
          </a:p>
        </p:txBody>
      </p:sp>
      <p:sp>
        <p:nvSpPr>
          <p:cNvPr id="213188" name="AutoShape 196"/>
          <p:cNvSpPr>
            <a:spLocks noChangeArrowheads="1"/>
          </p:cNvSpPr>
          <p:nvPr/>
        </p:nvSpPr>
        <p:spPr bwMode="auto">
          <a:xfrm>
            <a:off x="6576442" y="5087938"/>
            <a:ext cx="1066800" cy="768350"/>
          </a:xfrm>
          <a:prstGeom prst="wedgeRoundRectCallout">
            <a:avLst>
              <a:gd name="adj1" fmla="val -121130"/>
              <a:gd name="adj2" fmla="val -102894"/>
              <a:gd name="adj3" fmla="val 16667"/>
            </a:avLst>
          </a:prstGeom>
          <a:solidFill>
            <a:srgbClr val="FFCC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kumimoji="0"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中断优先级</a:t>
            </a:r>
          </a:p>
        </p:txBody>
      </p:sp>
      <p:grpSp>
        <p:nvGrpSpPr>
          <p:cNvPr id="197" name="Group 35">
            <a:extLst>
              <a:ext uri="{FF2B5EF4-FFF2-40B4-BE49-F238E27FC236}">
                <a16:creationId xmlns:a16="http://schemas.microsoft.com/office/drawing/2014/main" id="{4D22AC2B-E7A7-4326-B17C-51D559A73352}"/>
              </a:ext>
            </a:extLst>
          </p:cNvPr>
          <p:cNvGrpSpPr>
            <a:grpSpLocks/>
          </p:cNvGrpSpPr>
          <p:nvPr/>
        </p:nvGrpSpPr>
        <p:grpSpPr bwMode="auto">
          <a:xfrm>
            <a:off x="-227042" y="1847850"/>
            <a:ext cx="1300162" cy="3786187"/>
            <a:chOff x="153" y="1255"/>
            <a:chExt cx="819" cy="1786"/>
          </a:xfrm>
        </p:grpSpPr>
        <p:grpSp>
          <p:nvGrpSpPr>
            <p:cNvPr id="198" name="Group 36">
              <a:extLst>
                <a:ext uri="{FF2B5EF4-FFF2-40B4-BE49-F238E27FC236}">
                  <a16:creationId xmlns:a16="http://schemas.microsoft.com/office/drawing/2014/main" id="{1A42BEE3-DCFA-42A6-B707-2EEA58D370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" y="1354"/>
              <a:ext cx="739" cy="1559"/>
              <a:chOff x="542" y="1429"/>
              <a:chExt cx="739" cy="1559"/>
            </a:xfrm>
          </p:grpSpPr>
          <p:grpSp>
            <p:nvGrpSpPr>
              <p:cNvPr id="200" name="Group 37">
                <a:extLst>
                  <a:ext uri="{FF2B5EF4-FFF2-40B4-BE49-F238E27FC236}">
                    <a16:creationId xmlns:a16="http://schemas.microsoft.com/office/drawing/2014/main" id="{B59DB990-5987-407B-AA17-542901DF63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2" y="1724"/>
                <a:ext cx="739" cy="1264"/>
                <a:chOff x="542" y="1724"/>
                <a:chExt cx="739" cy="1264"/>
              </a:xfrm>
            </p:grpSpPr>
            <p:pic>
              <p:nvPicPr>
                <p:cNvPr id="203" name="Picture 38">
                  <a:extLst>
                    <a:ext uri="{FF2B5EF4-FFF2-40B4-BE49-F238E27FC236}">
                      <a16:creationId xmlns:a16="http://schemas.microsoft.com/office/drawing/2014/main" id="{D28913AA-95D3-4C62-A748-D770CA901E3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0090" t="25111" r="36569" b="59460"/>
                <a:stretch>
                  <a:fillRect/>
                </a:stretch>
              </p:blipFill>
              <p:spPr bwMode="auto">
                <a:xfrm>
                  <a:off x="563" y="1724"/>
                  <a:ext cx="631" cy="2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04" name="Picture 39">
                  <a:extLst>
                    <a:ext uri="{FF2B5EF4-FFF2-40B4-BE49-F238E27FC236}">
                      <a16:creationId xmlns:a16="http://schemas.microsoft.com/office/drawing/2014/main" id="{EE8A133A-B622-4FB0-B233-1858C31A5BF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8719" t="50119" r="36649" b="33345"/>
                <a:stretch>
                  <a:fillRect/>
                </a:stretch>
              </p:blipFill>
              <p:spPr bwMode="auto">
                <a:xfrm>
                  <a:off x="542" y="2223"/>
                  <a:ext cx="635" cy="21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05" name="Picture 40">
                  <a:extLst>
                    <a:ext uri="{FF2B5EF4-FFF2-40B4-BE49-F238E27FC236}">
                      <a16:creationId xmlns:a16="http://schemas.microsoft.com/office/drawing/2014/main" id="{BAA53F5E-4387-4D43-A392-118222CA605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0795" t="22917" r="21263" b="22110"/>
                <a:stretch>
                  <a:fillRect/>
                </a:stretch>
              </p:blipFill>
              <p:spPr bwMode="auto">
                <a:xfrm>
                  <a:off x="563" y="2513"/>
                  <a:ext cx="718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201" name="AutoShape 41">
                <a:extLst>
                  <a:ext uri="{FF2B5EF4-FFF2-40B4-BE49-F238E27FC236}">
                    <a16:creationId xmlns:a16="http://schemas.microsoft.com/office/drawing/2014/main" id="{21D00EAB-715F-4AE5-9045-0644D5D85F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733" y="2005"/>
                <a:ext cx="255" cy="112"/>
              </a:xfrm>
              <a:prstGeom prst="homePlate">
                <a:avLst>
                  <a:gd name="adj" fmla="val 5692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900"/>
                  <a:t>P3.3</a:t>
                </a:r>
              </a:p>
            </p:txBody>
          </p:sp>
          <p:sp>
            <p:nvSpPr>
              <p:cNvPr id="202" name="AutoShape 42">
                <a:extLst>
                  <a:ext uri="{FF2B5EF4-FFF2-40B4-BE49-F238E27FC236}">
                    <a16:creationId xmlns:a16="http://schemas.microsoft.com/office/drawing/2014/main" id="{34A2DBA1-A63C-4DFE-ACDD-9D7344F9C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740" y="1429"/>
                <a:ext cx="255" cy="112"/>
              </a:xfrm>
              <a:prstGeom prst="homePlate">
                <a:avLst>
                  <a:gd name="adj" fmla="val 5692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900"/>
                  <a:t>P3.2</a:t>
                </a:r>
              </a:p>
            </p:txBody>
          </p:sp>
        </p:grpSp>
        <p:sp>
          <p:nvSpPr>
            <p:cNvPr id="199" name="Rectangle 43">
              <a:extLst>
                <a:ext uri="{FF2B5EF4-FFF2-40B4-BE49-F238E27FC236}">
                  <a16:creationId xmlns:a16="http://schemas.microsoft.com/office/drawing/2014/main" id="{327733CE-A98C-4A35-BDB8-6F9E029D6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" y="1255"/>
              <a:ext cx="819" cy="1786"/>
            </a:xfrm>
            <a:prstGeom prst="rect">
              <a:avLst/>
            </a:prstGeom>
            <a:solidFill>
              <a:schemeClr val="accent1">
                <a:alpha val="18823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206" name="Rectangle 44">
            <a:extLst>
              <a:ext uri="{FF2B5EF4-FFF2-40B4-BE49-F238E27FC236}">
                <a16:creationId xmlns:a16="http://schemas.microsoft.com/office/drawing/2014/main" id="{C3F5F266-5FC8-453D-A34C-E976E7075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9880" y="1495425"/>
            <a:ext cx="996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/>
              <a:t>中断信号</a:t>
            </a:r>
          </a:p>
        </p:txBody>
      </p:sp>
      <p:sp>
        <p:nvSpPr>
          <p:cNvPr id="207" name="Rectangle 19">
            <a:extLst>
              <a:ext uri="{FF2B5EF4-FFF2-40B4-BE49-F238E27FC236}">
                <a16:creationId xmlns:a16="http://schemas.microsoft.com/office/drawing/2014/main" id="{B1E969E1-E099-4826-BEE2-5B1F95161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332" y="6116215"/>
            <a:ext cx="71818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/>
              <a:t>中断信号分别沿</a:t>
            </a:r>
            <a:r>
              <a:rPr lang="en-US" altLang="zh-CN" sz="2000" dirty="0"/>
              <a:t>5</a:t>
            </a:r>
            <a:r>
              <a:rPr lang="zh-CN" altLang="en-US" sz="2000" dirty="0"/>
              <a:t>条水平路径由左向右进行传送。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3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185" grpId="0" animBg="1" autoUpdateAnimBg="0"/>
      <p:bldP spid="213186" grpId="0" animBg="1" autoUpdateAnimBg="0"/>
      <p:bldP spid="213187" grpId="0" animBg="1" autoUpdateAnimBg="0"/>
      <p:bldP spid="213188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3"/>
          <p:cNvGrpSpPr/>
          <p:nvPr/>
        </p:nvGrpSpPr>
        <p:grpSpPr bwMode="auto">
          <a:xfrm>
            <a:off x="1835150" y="1557090"/>
            <a:ext cx="6553200" cy="466725"/>
            <a:chOff x="1156" y="1253"/>
            <a:chExt cx="3947" cy="294"/>
          </a:xfrm>
        </p:grpSpPr>
        <p:sp>
          <p:nvSpPr>
            <p:cNvPr id="214020" name="Text Box 4"/>
            <p:cNvSpPr txBox="1">
              <a:spLocks noChangeArrowheads="1"/>
            </p:cNvSpPr>
            <p:nvPr/>
          </p:nvSpPr>
          <p:spPr bwMode="auto">
            <a:xfrm>
              <a:off x="1156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TF1</a:t>
              </a:r>
            </a:p>
          </p:txBody>
        </p:sp>
        <p:sp>
          <p:nvSpPr>
            <p:cNvPr id="214021" name="Text Box 5"/>
            <p:cNvSpPr txBox="1">
              <a:spLocks noChangeArrowheads="1"/>
            </p:cNvSpPr>
            <p:nvPr/>
          </p:nvSpPr>
          <p:spPr bwMode="auto">
            <a:xfrm>
              <a:off x="1655" y="1253"/>
              <a:ext cx="453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 </a:t>
              </a:r>
            </a:p>
          </p:txBody>
        </p:sp>
        <p:sp>
          <p:nvSpPr>
            <p:cNvPr id="214022" name="Text Box 6"/>
            <p:cNvSpPr txBox="1">
              <a:spLocks noChangeArrowheads="1"/>
            </p:cNvSpPr>
            <p:nvPr/>
          </p:nvSpPr>
          <p:spPr bwMode="auto">
            <a:xfrm>
              <a:off x="2109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TF0</a:t>
              </a:r>
            </a:p>
          </p:txBody>
        </p:sp>
        <p:sp>
          <p:nvSpPr>
            <p:cNvPr id="214023" name="Text Box 7"/>
            <p:cNvSpPr txBox="1">
              <a:spLocks noChangeArrowheads="1"/>
            </p:cNvSpPr>
            <p:nvPr/>
          </p:nvSpPr>
          <p:spPr bwMode="auto">
            <a:xfrm>
              <a:off x="2608" y="1253"/>
              <a:ext cx="491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</a:t>
              </a:r>
            </a:p>
          </p:txBody>
        </p:sp>
        <p:sp>
          <p:nvSpPr>
            <p:cNvPr id="214024" name="Text Box 8"/>
            <p:cNvSpPr txBox="1">
              <a:spLocks noChangeArrowheads="1"/>
            </p:cNvSpPr>
            <p:nvPr/>
          </p:nvSpPr>
          <p:spPr bwMode="auto">
            <a:xfrm>
              <a:off x="3107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IE1</a:t>
              </a:r>
            </a:p>
          </p:txBody>
        </p:sp>
        <p:sp>
          <p:nvSpPr>
            <p:cNvPr id="214025" name="Text Box 9"/>
            <p:cNvSpPr txBox="1">
              <a:spLocks noChangeArrowheads="1"/>
            </p:cNvSpPr>
            <p:nvPr/>
          </p:nvSpPr>
          <p:spPr bwMode="auto">
            <a:xfrm>
              <a:off x="3606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IT1</a:t>
              </a:r>
            </a:p>
          </p:txBody>
        </p:sp>
        <p:sp>
          <p:nvSpPr>
            <p:cNvPr id="214026" name="Text Box 10"/>
            <p:cNvSpPr txBox="1">
              <a:spLocks noChangeArrowheads="1"/>
            </p:cNvSpPr>
            <p:nvPr/>
          </p:nvSpPr>
          <p:spPr bwMode="auto">
            <a:xfrm>
              <a:off x="4105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IE0</a:t>
              </a:r>
            </a:p>
          </p:txBody>
        </p:sp>
        <p:sp>
          <p:nvSpPr>
            <p:cNvPr id="214027" name="Text Box 11"/>
            <p:cNvSpPr txBox="1">
              <a:spLocks noChangeArrowheads="1"/>
            </p:cNvSpPr>
            <p:nvPr/>
          </p:nvSpPr>
          <p:spPr bwMode="auto">
            <a:xfrm>
              <a:off x="4604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IT0</a:t>
              </a:r>
            </a:p>
          </p:txBody>
        </p:sp>
      </p:grpSp>
      <p:sp>
        <p:nvSpPr>
          <p:cNvPr id="214028" name="Text Box 12"/>
          <p:cNvSpPr txBox="1">
            <a:spLocks noChangeArrowheads="1"/>
          </p:cNvSpPr>
          <p:nvPr/>
        </p:nvSpPr>
        <p:spPr bwMode="auto">
          <a:xfrm>
            <a:off x="539750" y="155709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TCON</a:t>
            </a:r>
          </a:p>
        </p:txBody>
      </p:sp>
      <p:sp>
        <p:nvSpPr>
          <p:cNvPr id="214029" name="AutoShape 13"/>
          <p:cNvSpPr>
            <a:spLocks noChangeArrowheads="1"/>
          </p:cNvSpPr>
          <p:nvPr/>
        </p:nvSpPr>
        <p:spPr bwMode="auto">
          <a:xfrm>
            <a:off x="312563" y="2441328"/>
            <a:ext cx="3561099" cy="3867992"/>
          </a:xfrm>
          <a:prstGeom prst="wedgeRoundRectCallout">
            <a:avLst>
              <a:gd name="adj1" fmla="val -2255"/>
              <a:gd name="adj2" fmla="val -63429"/>
              <a:gd name="adj3" fmla="val 16667"/>
            </a:avLst>
          </a:prstGeom>
          <a:solidFill>
            <a:srgbClr val="33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T1/T0</a:t>
            </a:r>
            <a:r>
              <a:rPr kumimoji="0"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溢出中断标志位</a:t>
            </a:r>
            <a:r>
              <a:rPr kumimoji="0"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T1/T0</a:t>
            </a:r>
            <a:r>
              <a:rPr kumimoji="0"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启动计数后，计满溢出由硬件置位</a:t>
            </a:r>
            <a:r>
              <a:rPr kumimoji="0" lang="en-US" altLang="zh-CN" sz="2400" dirty="0" err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TFx</a:t>
            </a:r>
            <a:r>
              <a:rPr kumimoji="0"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=1</a:t>
            </a:r>
            <a:r>
              <a:rPr kumimoji="0"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，向</a:t>
            </a:r>
            <a:r>
              <a:rPr kumimoji="0"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CPU</a:t>
            </a:r>
            <a:r>
              <a:rPr kumimoji="0"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请求中断，此标志一直保持到</a:t>
            </a:r>
            <a:r>
              <a:rPr kumimoji="0"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CPU</a:t>
            </a:r>
            <a:r>
              <a:rPr kumimoji="0"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响应中断后，才</a:t>
            </a:r>
            <a:r>
              <a:rPr kumimoji="0" lang="zh-CN" altLang="en-US" sz="2400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由硬件自动清</a:t>
            </a:r>
            <a:r>
              <a:rPr kumimoji="0" lang="en-US" altLang="zh-CN" sz="2400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0</a:t>
            </a:r>
            <a:r>
              <a:rPr kumimoji="0"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。也可用软件查询该标志，并由软件清</a:t>
            </a:r>
            <a:r>
              <a:rPr kumimoji="0"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0</a:t>
            </a:r>
            <a:r>
              <a:rPr kumimoji="0"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。</a:t>
            </a:r>
          </a:p>
        </p:txBody>
      </p:sp>
      <p:grpSp>
        <p:nvGrpSpPr>
          <p:cNvPr id="26629" name="Group 14"/>
          <p:cNvGrpSpPr/>
          <p:nvPr/>
        </p:nvGrpSpPr>
        <p:grpSpPr bwMode="auto">
          <a:xfrm>
            <a:off x="2063750" y="1176090"/>
            <a:ext cx="6180138" cy="457200"/>
            <a:chOff x="1248" y="1440"/>
            <a:chExt cx="3696" cy="288"/>
          </a:xfrm>
        </p:grpSpPr>
        <p:sp>
          <p:nvSpPr>
            <p:cNvPr id="214031" name="Text Box 15"/>
            <p:cNvSpPr txBox="1">
              <a:spLocks noChangeArrowheads="1"/>
            </p:cNvSpPr>
            <p:nvPr/>
          </p:nvSpPr>
          <p:spPr bwMode="auto">
            <a:xfrm>
              <a:off x="1248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14032" name="Text Box 16"/>
            <p:cNvSpPr txBox="1">
              <a:spLocks noChangeArrowheads="1"/>
            </p:cNvSpPr>
            <p:nvPr/>
          </p:nvSpPr>
          <p:spPr bwMode="auto">
            <a:xfrm>
              <a:off x="1680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 6</a:t>
              </a:r>
            </a:p>
          </p:txBody>
        </p:sp>
        <p:sp>
          <p:nvSpPr>
            <p:cNvPr id="214033" name="Text Box 17"/>
            <p:cNvSpPr txBox="1">
              <a:spLocks noChangeArrowheads="1"/>
            </p:cNvSpPr>
            <p:nvPr/>
          </p:nvSpPr>
          <p:spPr bwMode="auto">
            <a:xfrm>
              <a:off x="2160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 5</a:t>
              </a:r>
            </a:p>
          </p:txBody>
        </p:sp>
        <p:sp>
          <p:nvSpPr>
            <p:cNvPr id="214034" name="Text Box 18"/>
            <p:cNvSpPr txBox="1">
              <a:spLocks noChangeArrowheads="1"/>
            </p:cNvSpPr>
            <p:nvPr/>
          </p:nvSpPr>
          <p:spPr bwMode="auto">
            <a:xfrm>
              <a:off x="2640" y="1440"/>
              <a:ext cx="2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 4</a:t>
              </a:r>
            </a:p>
          </p:txBody>
        </p:sp>
        <p:sp>
          <p:nvSpPr>
            <p:cNvPr id="214035" name="Text Box 19"/>
            <p:cNvSpPr txBox="1">
              <a:spLocks noChangeArrowheads="1"/>
            </p:cNvSpPr>
            <p:nvPr/>
          </p:nvSpPr>
          <p:spPr bwMode="auto">
            <a:xfrm>
              <a:off x="3168" y="1440"/>
              <a:ext cx="2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 3</a:t>
              </a:r>
            </a:p>
          </p:txBody>
        </p:sp>
        <p:sp>
          <p:nvSpPr>
            <p:cNvPr id="214036" name="Text Box 20"/>
            <p:cNvSpPr txBox="1">
              <a:spLocks noChangeArrowheads="1"/>
            </p:cNvSpPr>
            <p:nvPr/>
          </p:nvSpPr>
          <p:spPr bwMode="auto">
            <a:xfrm>
              <a:off x="3696" y="1440"/>
              <a:ext cx="2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 2</a:t>
              </a:r>
            </a:p>
          </p:txBody>
        </p:sp>
        <p:sp>
          <p:nvSpPr>
            <p:cNvPr id="214037" name="Text Box 21"/>
            <p:cNvSpPr txBox="1">
              <a:spLocks noChangeArrowheads="1"/>
            </p:cNvSpPr>
            <p:nvPr/>
          </p:nvSpPr>
          <p:spPr bwMode="auto">
            <a:xfrm>
              <a:off x="4176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 1</a:t>
              </a:r>
            </a:p>
          </p:txBody>
        </p:sp>
        <p:sp>
          <p:nvSpPr>
            <p:cNvPr id="214038" name="Text Box 22"/>
            <p:cNvSpPr txBox="1">
              <a:spLocks noChangeArrowheads="1"/>
            </p:cNvSpPr>
            <p:nvPr/>
          </p:nvSpPr>
          <p:spPr bwMode="auto">
            <a:xfrm>
              <a:off x="4656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 0</a:t>
              </a:r>
            </a:p>
          </p:txBody>
        </p:sp>
      </p:grpSp>
      <p:sp>
        <p:nvSpPr>
          <p:cNvPr id="214040" name="Rectangle 24"/>
          <p:cNvSpPr>
            <a:spLocks noChangeArrowheads="1"/>
          </p:cNvSpPr>
          <p:nvPr/>
        </p:nvSpPr>
        <p:spPr bwMode="auto">
          <a:xfrm>
            <a:off x="539750" y="401521"/>
            <a:ext cx="7416800" cy="752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8394" bIns="98394" anchor="ctr">
            <a:spAutoFit/>
          </a:bodyPr>
          <a:lstStyle>
            <a:lvl1pPr indent="266700" algn="l">
              <a:spcBef>
                <a:spcPct val="0"/>
              </a:spcBef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定时器控制寄存器（</a:t>
            </a: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TCON</a:t>
            </a: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     </a:t>
            </a:r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3765131" y="56291"/>
            <a:ext cx="5270500" cy="519113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Clr>
                <a:srgbClr val="FF3300"/>
              </a:buClr>
              <a:buFont typeface="Wingdings" panose="05000000000000000000" pitchFamily="2" charset="2"/>
              <a:buChar char="§"/>
              <a:defRPr/>
            </a:pP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注意：该寄存器可以位寻址。</a:t>
            </a:r>
          </a:p>
        </p:txBody>
      </p:sp>
      <p:sp>
        <p:nvSpPr>
          <p:cNvPr id="24" name="AutoShape 12"/>
          <p:cNvSpPr>
            <a:spLocks noChangeArrowheads="1"/>
          </p:cNvSpPr>
          <p:nvPr/>
        </p:nvSpPr>
        <p:spPr bwMode="auto">
          <a:xfrm>
            <a:off x="3829503" y="2247787"/>
            <a:ext cx="3505200" cy="2261334"/>
          </a:xfrm>
          <a:prstGeom prst="wedgeRoundRectCallout">
            <a:avLst>
              <a:gd name="adj1" fmla="val -6964"/>
              <a:gd name="adj2" fmla="val -62191"/>
              <a:gd name="adj3" fmla="val 16667"/>
            </a:avLst>
          </a:prstGeom>
          <a:solidFill>
            <a:srgbClr val="CCFFCC"/>
          </a:solidFill>
          <a:ln w="12700" cap="sq">
            <a:solidFill>
              <a:srgbClr val="660066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36000"/>
          <a:lstStyle/>
          <a:p>
            <a:pPr algn="l" eaLnBrk="0" hangingPunct="0">
              <a:spcBef>
                <a:spcPct val="0"/>
              </a:spcBef>
              <a:defRPr/>
            </a:pPr>
            <a:r>
              <a:rPr kumimoji="0"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外部中断</a:t>
            </a:r>
            <a:r>
              <a:rPr kumimoji="0"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INT1/INT0</a:t>
            </a:r>
            <a:r>
              <a:rPr kumimoji="0"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中断标志位</a:t>
            </a:r>
            <a:r>
              <a:rPr kumimoji="0"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:</a:t>
            </a:r>
          </a:p>
          <a:p>
            <a:pPr algn="l" eaLnBrk="0" hangingPunct="0">
              <a:spcBef>
                <a:spcPct val="0"/>
              </a:spcBef>
              <a:defRPr/>
            </a:pPr>
            <a:r>
              <a:rPr kumimoji="0"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IE1</a:t>
            </a:r>
            <a:r>
              <a:rPr kumimoji="0"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＝</a:t>
            </a:r>
            <a:r>
              <a:rPr kumimoji="0"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1</a:t>
            </a:r>
            <a:r>
              <a:rPr kumimoji="0"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，外部中断</a:t>
            </a:r>
            <a:r>
              <a:rPr kumimoji="0"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1</a:t>
            </a:r>
            <a:r>
              <a:rPr kumimoji="0"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向</a:t>
            </a:r>
            <a:r>
              <a:rPr kumimoji="0"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CPU</a:t>
            </a:r>
            <a:r>
              <a:rPr kumimoji="0"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申请中断</a:t>
            </a:r>
            <a:endParaRPr kumimoji="0" lang="en-US" altLang="zh-CN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sym typeface="Wingdings 2" pitchFamily="18" charset="2"/>
            </a:endParaRPr>
          </a:p>
          <a:p>
            <a:pPr algn="l" eaLnBrk="0" hangingPunct="0">
              <a:spcBef>
                <a:spcPct val="0"/>
              </a:spcBef>
              <a:defRPr/>
            </a:pPr>
            <a:r>
              <a:rPr kumimoji="0"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IE0</a:t>
            </a:r>
            <a:r>
              <a:rPr kumimoji="0"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＝</a:t>
            </a:r>
            <a:r>
              <a:rPr kumimoji="0"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1</a:t>
            </a:r>
            <a:r>
              <a:rPr kumimoji="0"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，外部中断</a:t>
            </a:r>
            <a:r>
              <a:rPr kumimoji="0"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0</a:t>
            </a:r>
            <a:r>
              <a:rPr kumimoji="0"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向</a:t>
            </a:r>
            <a:r>
              <a:rPr kumimoji="0"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CPU</a:t>
            </a:r>
            <a:r>
              <a:rPr kumimoji="0"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申请中断</a:t>
            </a:r>
          </a:p>
          <a:p>
            <a:pPr algn="l" eaLnBrk="0" hangingPunct="0">
              <a:spcBef>
                <a:spcPct val="0"/>
              </a:spcBef>
              <a:defRPr/>
            </a:pPr>
            <a:endParaRPr kumimoji="0" lang="zh-CN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sym typeface="Wingdings 2" pitchFamily="18" charset="2"/>
            </a:endParaRPr>
          </a:p>
        </p:txBody>
      </p:sp>
      <p:sp>
        <p:nvSpPr>
          <p:cNvPr id="25" name="AutoShape 13"/>
          <p:cNvSpPr>
            <a:spLocks noChangeArrowheads="1"/>
          </p:cNvSpPr>
          <p:nvPr/>
        </p:nvSpPr>
        <p:spPr bwMode="auto">
          <a:xfrm>
            <a:off x="5270339" y="4375324"/>
            <a:ext cx="3873661" cy="1933996"/>
          </a:xfrm>
          <a:prstGeom prst="wedgeRoundRectCallout">
            <a:avLst>
              <a:gd name="adj1" fmla="val 20744"/>
              <a:gd name="adj2" fmla="val -166672"/>
              <a:gd name="adj3" fmla="val 16667"/>
            </a:avLst>
          </a:prstGeom>
          <a:solidFill>
            <a:srgbClr val="FFCC99"/>
          </a:solidFill>
          <a:ln w="12700" cap="sq">
            <a:solidFill>
              <a:srgbClr val="80008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 algn="l" eaLnBrk="0" hangingPunct="0">
              <a:spcBef>
                <a:spcPct val="0"/>
              </a:spcBef>
              <a:defRPr/>
            </a:pPr>
            <a:r>
              <a:rPr kumimoji="0"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 </a:t>
            </a:r>
            <a:r>
              <a:rPr kumimoji="0"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外部中断</a:t>
            </a:r>
            <a:r>
              <a:rPr kumimoji="0"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INT1/INT0</a:t>
            </a:r>
            <a:r>
              <a:rPr kumimoji="0"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触发方式控制位</a:t>
            </a:r>
            <a:r>
              <a:rPr kumimoji="0"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:</a:t>
            </a:r>
            <a:endParaRPr kumimoji="0" lang="zh-CN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sym typeface="Wingdings 2" pitchFamily="18" charset="2"/>
            </a:endParaRPr>
          </a:p>
          <a:p>
            <a:pPr algn="l" eaLnBrk="0" hangingPunct="0">
              <a:spcBef>
                <a:spcPct val="0"/>
              </a:spcBef>
              <a:buClr>
                <a:srgbClr val="3333FF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IT0=0</a:t>
            </a:r>
            <a:r>
              <a:rPr kumimoji="0"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，电平触发方式      </a:t>
            </a:r>
            <a:r>
              <a:rPr kumimoji="0" lang="zh-CN" altLang="en-US" sz="2200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（默认）</a:t>
            </a:r>
          </a:p>
          <a:p>
            <a:pPr algn="l" eaLnBrk="0" hangingPunct="0">
              <a:spcBef>
                <a:spcPct val="0"/>
              </a:spcBef>
              <a:buClr>
                <a:srgbClr val="3333FF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IT0=1,  </a:t>
            </a:r>
            <a:r>
              <a:rPr kumimoji="0"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下降沿触发方式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1806368" y="1509398"/>
            <a:ext cx="953862" cy="560869"/>
          </a:xfrm>
          <a:prstGeom prst="rect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3356135" y="1519428"/>
            <a:ext cx="953862" cy="560869"/>
          </a:xfrm>
          <a:prstGeom prst="rect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5056232" y="1509398"/>
            <a:ext cx="898398" cy="560869"/>
          </a:xfrm>
          <a:prstGeom prst="rect">
            <a:avLst/>
          </a:prstGeom>
          <a:noFill/>
          <a:ln w="38100" cap="sq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6700865" y="1519428"/>
            <a:ext cx="858996" cy="560869"/>
          </a:xfrm>
          <a:prstGeom prst="rect">
            <a:avLst/>
          </a:prstGeom>
          <a:noFill/>
          <a:ln w="38100" cap="sq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5889600" y="1519428"/>
            <a:ext cx="898398" cy="560869"/>
          </a:xfrm>
          <a:prstGeom prst="rect">
            <a:avLst/>
          </a:prstGeom>
          <a:noFill/>
          <a:ln w="38100" cap="sq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7534233" y="1504662"/>
            <a:ext cx="858996" cy="560869"/>
          </a:xfrm>
          <a:prstGeom prst="rect">
            <a:avLst/>
          </a:prstGeom>
          <a:noFill/>
          <a:ln w="38100" cap="sq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9" grpId="0" animBg="1" autoUpdateAnimBg="0"/>
      <p:bldP spid="23" grpId="0" animBg="1" autoUpdateAnimBg="0"/>
      <p:bldP spid="24" grpId="0" animBg="1" autoUpdateAnimBg="0"/>
      <p:bldP spid="25" grpId="0" animBg="1" autoUpdateAnimBg="0"/>
      <p:bldP spid="2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ChangeArrowheads="1"/>
          </p:cNvSpPr>
          <p:nvPr/>
        </p:nvSpPr>
        <p:spPr bwMode="auto">
          <a:xfrm>
            <a:off x="755576" y="1144111"/>
            <a:ext cx="7920037" cy="2047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计数溢出标志位</a:t>
            </a:r>
            <a:r>
              <a:rPr lang="en-US" altLang="zh-CN" sz="32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TFx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的使用有</a:t>
            </a: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两种情况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：</a:t>
            </a:r>
          </a:p>
          <a:p>
            <a:pPr marL="457200" indent="-457200" algn="l">
              <a:lnSpc>
                <a:spcPct val="150000"/>
              </a:lnSpc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采用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中断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方式时，作中断请求标志位来使用；</a:t>
            </a:r>
          </a:p>
          <a:p>
            <a:pPr marL="457200" indent="-457200" algn="l">
              <a:lnSpc>
                <a:spcPct val="150000"/>
              </a:lnSpc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采用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查询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方式时，作查询状态位来使用。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1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21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21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ChangeArrowheads="1"/>
          </p:cNvSpPr>
          <p:nvPr/>
        </p:nvSpPr>
        <p:spPr bwMode="auto">
          <a:xfrm>
            <a:off x="1116013" y="404813"/>
            <a:ext cx="76676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>
              <a:spcBef>
                <a:spcPct val="0"/>
              </a:spcBef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36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IE</a:t>
            </a:r>
            <a:r>
              <a:rPr lang="en-US" altLang="zh-CN" sz="3600" baseline="-300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36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36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IE</a:t>
            </a:r>
            <a:r>
              <a:rPr lang="en-US" altLang="zh-CN" sz="3600" baseline="-300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36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36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外中断请求标志位</a:t>
            </a:r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0" y="2852738"/>
            <a:ext cx="94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BD9593A-5BBE-4CF3-8851-E6AFE15B46D3}"/>
              </a:ext>
            </a:extLst>
          </p:cNvPr>
          <p:cNvGrpSpPr/>
          <p:nvPr/>
        </p:nvGrpSpPr>
        <p:grpSpPr>
          <a:xfrm>
            <a:off x="792162" y="2043906"/>
            <a:ext cx="7559675" cy="3008313"/>
            <a:chOff x="683568" y="2044155"/>
            <a:chExt cx="7559675" cy="3008313"/>
          </a:xfrm>
        </p:grpSpPr>
        <p:sp>
          <p:nvSpPr>
            <p:cNvPr id="222213" name="Rectangle 5"/>
            <p:cNvSpPr>
              <a:spLocks noChangeArrowheads="1"/>
            </p:cNvSpPr>
            <p:nvPr/>
          </p:nvSpPr>
          <p:spPr bwMode="auto">
            <a:xfrm>
              <a:off x="683568" y="2044155"/>
              <a:ext cx="7559675" cy="3008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>
                <a:lnSpc>
                  <a:spcPct val="130000"/>
                </a:lnSpc>
                <a:spcBef>
                  <a:spcPct val="0"/>
                </a:spcBef>
                <a:defRPr/>
              </a:pPr>
              <a:r>
                <a:rPr lang="zh-CN" alt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 当</a:t>
              </a:r>
              <a:r>
                <a:rPr lang="en-US" altLang="zh-CN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CPU</a:t>
              </a:r>
              <a:r>
                <a:rPr lang="zh-CN" alt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采样到</a:t>
              </a:r>
              <a:r>
                <a:rPr lang="en-US" altLang="zh-CN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INT</a:t>
              </a:r>
              <a:r>
                <a:rPr lang="en-US" altLang="zh-CN" sz="3000" baseline="-25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zh-CN" alt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（或</a:t>
              </a:r>
              <a:r>
                <a:rPr lang="en-US" altLang="zh-CN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INT</a:t>
              </a:r>
              <a:r>
                <a:rPr lang="en-US" altLang="zh-CN" sz="3000" baseline="-25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1 </a:t>
              </a:r>
              <a:r>
                <a:rPr lang="zh-CN" alt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）端出现</a:t>
              </a:r>
              <a:r>
                <a:rPr lang="zh-CN" altLang="en-US" sz="3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有效中断请求时</a:t>
              </a:r>
              <a:r>
                <a:rPr lang="zh-CN" alt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IE0</a:t>
              </a:r>
              <a:r>
                <a:rPr lang="zh-CN" alt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（或</a:t>
              </a:r>
              <a:r>
                <a:rPr lang="en-US" altLang="zh-CN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IE1</a:t>
              </a:r>
              <a:r>
                <a:rPr lang="zh-CN" alt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）位由硬件</a:t>
              </a:r>
              <a:r>
                <a:rPr lang="zh-CN" altLang="en-US" sz="3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置“</a:t>
              </a:r>
              <a:r>
                <a:rPr lang="en-US" altLang="zh-CN" sz="3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1”</a:t>
              </a:r>
              <a:r>
                <a:rPr lang="zh-CN" alt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。当</a:t>
              </a:r>
              <a:r>
                <a:rPr lang="zh-CN" altLang="en-US" sz="3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中断响应完成</a:t>
              </a:r>
              <a:r>
                <a:rPr lang="zh-CN" alt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转向中断服务程序时，由硬件把</a:t>
              </a:r>
              <a:r>
                <a:rPr lang="en-US" altLang="zh-CN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IE0</a:t>
              </a:r>
              <a:r>
                <a:rPr lang="zh-CN" alt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（或</a:t>
              </a:r>
              <a:r>
                <a:rPr lang="en-US" altLang="zh-CN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IE1</a:t>
              </a:r>
              <a:r>
                <a:rPr lang="zh-CN" alt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）</a:t>
              </a:r>
              <a:r>
                <a:rPr lang="zh-CN" altLang="en-US" sz="30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清零</a:t>
              </a:r>
              <a:r>
                <a:rPr lang="zh-CN" alt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。 </a:t>
              </a:r>
            </a:p>
            <a:p>
              <a:pPr algn="l">
                <a:lnSpc>
                  <a:spcPct val="130000"/>
                </a:lnSpc>
                <a:spcBef>
                  <a:spcPct val="0"/>
                </a:spcBef>
                <a:defRPr/>
              </a:pPr>
              <a:r>
                <a:rPr lang="zh-CN" altLang="en-US" sz="3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22214" name="Line 6"/>
            <p:cNvSpPr>
              <a:spLocks noChangeShapeType="1"/>
            </p:cNvSpPr>
            <p:nvPr/>
          </p:nvSpPr>
          <p:spPr bwMode="auto">
            <a:xfrm>
              <a:off x="3347145" y="2182268"/>
              <a:ext cx="684213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2215" name="Line 7"/>
            <p:cNvSpPr>
              <a:spLocks noChangeShapeType="1"/>
            </p:cNvSpPr>
            <p:nvPr/>
          </p:nvSpPr>
          <p:spPr bwMode="auto">
            <a:xfrm>
              <a:off x="4930751" y="2191793"/>
              <a:ext cx="61277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E19BA1F-A046-4F2A-94FC-934F274C6FE3}"/>
              </a:ext>
            </a:extLst>
          </p:cNvPr>
          <p:cNvSpPr txBox="1"/>
          <p:nvPr/>
        </p:nvSpPr>
        <p:spPr>
          <a:xfrm>
            <a:off x="1259632" y="1265078"/>
            <a:ext cx="63367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外部中断</a:t>
            </a:r>
            <a:r>
              <a:rPr lang="en-US" alt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——interrupt exterior</a:t>
            </a:r>
            <a:endParaRPr lang="zh-CN" alt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0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7" name="Text Box 3"/>
          <p:cNvSpPr txBox="1">
            <a:spLocks noChangeArrowheads="1"/>
          </p:cNvSpPr>
          <p:nvPr/>
        </p:nvSpPr>
        <p:spPr bwMode="auto">
          <a:xfrm>
            <a:off x="1814172" y="2405856"/>
            <a:ext cx="6627813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Clr>
                <a:srgbClr val="FF3300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 </a:t>
            </a:r>
            <a:r>
              <a:rPr kumimoji="0"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 TI 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(SCON.1)——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串行发送中断标志。</a:t>
            </a:r>
          </a:p>
          <a:p>
            <a:pPr algn="l">
              <a:buClr>
                <a:srgbClr val="FF3300"/>
              </a:buClr>
              <a:buFont typeface="Wingdings" panose="05000000000000000000" pitchFamily="2" charset="2"/>
              <a:buChar char="§"/>
              <a:defRPr/>
            </a:pPr>
            <a:r>
              <a:rPr kumimoji="0"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  </a:t>
            </a:r>
            <a:r>
              <a:rPr kumimoji="0"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RI 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(SCON.0)——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串行接收中断标志。</a:t>
            </a:r>
          </a:p>
        </p:txBody>
      </p:sp>
      <p:grpSp>
        <p:nvGrpSpPr>
          <p:cNvPr id="216068" name="Group 4"/>
          <p:cNvGrpSpPr/>
          <p:nvPr/>
        </p:nvGrpSpPr>
        <p:grpSpPr bwMode="auto">
          <a:xfrm>
            <a:off x="2046630" y="1647092"/>
            <a:ext cx="6265863" cy="466725"/>
            <a:chOff x="1156" y="1253"/>
            <a:chExt cx="3947" cy="294"/>
          </a:xfrm>
        </p:grpSpPr>
        <p:sp>
          <p:nvSpPr>
            <p:cNvPr id="216069" name="Text Box 5"/>
            <p:cNvSpPr txBox="1">
              <a:spLocks noChangeArrowheads="1"/>
            </p:cNvSpPr>
            <p:nvPr/>
          </p:nvSpPr>
          <p:spPr bwMode="auto">
            <a:xfrm>
              <a:off x="1156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 b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  </a:t>
              </a:r>
            </a:p>
          </p:txBody>
        </p:sp>
        <p:sp>
          <p:nvSpPr>
            <p:cNvPr id="216070" name="Text Box 6"/>
            <p:cNvSpPr txBox="1">
              <a:spLocks noChangeArrowheads="1"/>
            </p:cNvSpPr>
            <p:nvPr/>
          </p:nvSpPr>
          <p:spPr bwMode="auto">
            <a:xfrm>
              <a:off x="1655" y="1253"/>
              <a:ext cx="453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 b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 </a:t>
              </a:r>
            </a:p>
          </p:txBody>
        </p:sp>
        <p:sp>
          <p:nvSpPr>
            <p:cNvPr id="216071" name="Text Box 7"/>
            <p:cNvSpPr txBox="1">
              <a:spLocks noChangeArrowheads="1"/>
            </p:cNvSpPr>
            <p:nvPr/>
          </p:nvSpPr>
          <p:spPr bwMode="auto">
            <a:xfrm>
              <a:off x="2109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 b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 </a:t>
              </a:r>
            </a:p>
          </p:txBody>
        </p:sp>
        <p:sp>
          <p:nvSpPr>
            <p:cNvPr id="216072" name="Text Box 8"/>
            <p:cNvSpPr txBox="1">
              <a:spLocks noChangeArrowheads="1"/>
            </p:cNvSpPr>
            <p:nvPr/>
          </p:nvSpPr>
          <p:spPr bwMode="auto">
            <a:xfrm>
              <a:off x="2608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 b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</a:t>
              </a:r>
            </a:p>
          </p:txBody>
        </p:sp>
        <p:sp>
          <p:nvSpPr>
            <p:cNvPr id="216073" name="Text Box 9"/>
            <p:cNvSpPr txBox="1">
              <a:spLocks noChangeArrowheads="1"/>
            </p:cNvSpPr>
            <p:nvPr/>
          </p:nvSpPr>
          <p:spPr bwMode="auto">
            <a:xfrm>
              <a:off x="3107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 b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 </a:t>
              </a:r>
            </a:p>
          </p:txBody>
        </p:sp>
        <p:sp>
          <p:nvSpPr>
            <p:cNvPr id="216074" name="Text Box 10"/>
            <p:cNvSpPr txBox="1">
              <a:spLocks noChangeArrowheads="1"/>
            </p:cNvSpPr>
            <p:nvPr/>
          </p:nvSpPr>
          <p:spPr bwMode="auto">
            <a:xfrm>
              <a:off x="3606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 b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 </a:t>
              </a:r>
            </a:p>
          </p:txBody>
        </p:sp>
        <p:sp>
          <p:nvSpPr>
            <p:cNvPr id="216075" name="Text Box 11"/>
            <p:cNvSpPr txBox="1">
              <a:spLocks noChangeArrowheads="1"/>
            </p:cNvSpPr>
            <p:nvPr/>
          </p:nvSpPr>
          <p:spPr bwMode="auto">
            <a:xfrm>
              <a:off x="4105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 b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</a:t>
              </a: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TI</a:t>
              </a:r>
            </a:p>
          </p:txBody>
        </p:sp>
        <p:sp>
          <p:nvSpPr>
            <p:cNvPr id="216076" name="Text Box 12"/>
            <p:cNvSpPr txBox="1">
              <a:spLocks noChangeArrowheads="1"/>
            </p:cNvSpPr>
            <p:nvPr/>
          </p:nvSpPr>
          <p:spPr bwMode="auto">
            <a:xfrm>
              <a:off x="4604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RI</a:t>
              </a:r>
            </a:p>
          </p:txBody>
        </p:sp>
      </p:grpSp>
      <p:sp>
        <p:nvSpPr>
          <p:cNvPr id="216078" name="Text Box 14"/>
          <p:cNvSpPr txBox="1">
            <a:spLocks noChangeArrowheads="1"/>
          </p:cNvSpPr>
          <p:nvPr/>
        </p:nvSpPr>
        <p:spPr bwMode="auto">
          <a:xfrm>
            <a:off x="751230" y="1342292"/>
            <a:ext cx="11430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SCON</a:t>
            </a:r>
          </a:p>
          <a:p>
            <a:pPr algn="l">
              <a:defRPr/>
            </a:pPr>
            <a:r>
              <a:rPr kumimoji="0" lang="en-US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98H</a:t>
            </a:r>
          </a:p>
        </p:txBody>
      </p:sp>
      <p:grpSp>
        <p:nvGrpSpPr>
          <p:cNvPr id="30725" name="Group 15"/>
          <p:cNvGrpSpPr/>
          <p:nvPr/>
        </p:nvGrpSpPr>
        <p:grpSpPr bwMode="auto">
          <a:xfrm>
            <a:off x="2275230" y="1189892"/>
            <a:ext cx="5867400" cy="457200"/>
            <a:chOff x="1248" y="1440"/>
            <a:chExt cx="3696" cy="288"/>
          </a:xfrm>
        </p:grpSpPr>
        <p:sp>
          <p:nvSpPr>
            <p:cNvPr id="216080" name="Text Box 16"/>
            <p:cNvSpPr txBox="1">
              <a:spLocks noChangeArrowheads="1"/>
            </p:cNvSpPr>
            <p:nvPr/>
          </p:nvSpPr>
          <p:spPr bwMode="auto">
            <a:xfrm>
              <a:off x="1248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16081" name="Text Box 17"/>
            <p:cNvSpPr txBox="1">
              <a:spLocks noChangeArrowheads="1"/>
            </p:cNvSpPr>
            <p:nvPr/>
          </p:nvSpPr>
          <p:spPr bwMode="auto">
            <a:xfrm>
              <a:off x="1680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16082" name="Text Box 18"/>
            <p:cNvSpPr txBox="1">
              <a:spLocks noChangeArrowheads="1"/>
            </p:cNvSpPr>
            <p:nvPr/>
          </p:nvSpPr>
          <p:spPr bwMode="auto">
            <a:xfrm>
              <a:off x="2160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16083" name="Text Box 19"/>
            <p:cNvSpPr txBox="1">
              <a:spLocks noChangeArrowheads="1"/>
            </p:cNvSpPr>
            <p:nvPr/>
          </p:nvSpPr>
          <p:spPr bwMode="auto">
            <a:xfrm>
              <a:off x="2640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16084" name="Text Box 20"/>
            <p:cNvSpPr txBox="1">
              <a:spLocks noChangeArrowheads="1"/>
            </p:cNvSpPr>
            <p:nvPr/>
          </p:nvSpPr>
          <p:spPr bwMode="auto">
            <a:xfrm>
              <a:off x="3168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16085" name="Text Box 21"/>
            <p:cNvSpPr txBox="1">
              <a:spLocks noChangeArrowheads="1"/>
            </p:cNvSpPr>
            <p:nvPr/>
          </p:nvSpPr>
          <p:spPr bwMode="auto">
            <a:xfrm>
              <a:off x="3696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16086" name="Text Box 22"/>
            <p:cNvSpPr txBox="1">
              <a:spLocks noChangeArrowheads="1"/>
            </p:cNvSpPr>
            <p:nvPr/>
          </p:nvSpPr>
          <p:spPr bwMode="auto">
            <a:xfrm>
              <a:off x="4176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16087" name="Text Box 23"/>
            <p:cNvSpPr txBox="1">
              <a:spLocks noChangeArrowheads="1"/>
            </p:cNvSpPr>
            <p:nvPr/>
          </p:nvSpPr>
          <p:spPr bwMode="auto">
            <a:xfrm>
              <a:off x="4656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216088" name="Text Box 24"/>
          <p:cNvSpPr txBox="1">
            <a:spLocks noChangeArrowheads="1"/>
          </p:cNvSpPr>
          <p:nvPr/>
        </p:nvSpPr>
        <p:spPr bwMode="auto">
          <a:xfrm>
            <a:off x="751230" y="3715089"/>
            <a:ext cx="5270500" cy="51911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Clr>
                <a:srgbClr val="FF3300"/>
              </a:buClr>
              <a:buFont typeface="Wingdings" panose="05000000000000000000" pitchFamily="2" charset="2"/>
              <a:buChar char="§"/>
              <a:defRPr/>
            </a:pP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该寄存器可以位寻址。</a:t>
            </a:r>
          </a:p>
        </p:txBody>
      </p:sp>
      <p:sp>
        <p:nvSpPr>
          <p:cNvPr id="216091" name="Rectangle 27"/>
          <p:cNvSpPr>
            <a:spLocks noGrp="1" noChangeArrowheads="1"/>
          </p:cNvSpPr>
          <p:nvPr>
            <p:ph type="title"/>
          </p:nvPr>
        </p:nvSpPr>
        <p:spPr>
          <a:xfrm>
            <a:off x="971550" y="404813"/>
            <a:ext cx="6300788" cy="7683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2. SCON</a:t>
            </a:r>
            <a:r>
              <a:rPr lang="zh-CN" altLang="en-US" sz="36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寄存器</a:t>
            </a: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641350" y="4356979"/>
            <a:ext cx="7861300" cy="185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  <a:buFontTx/>
              <a:buNone/>
              <a:defRPr/>
            </a:pPr>
            <a:r>
              <a:rPr lang="en-US" altLang="zh-CN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【</a:t>
            </a:r>
            <a:r>
              <a:rPr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</a:t>
            </a:r>
            <a:r>
              <a:rPr lang="en-US" altLang="zh-CN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】</a:t>
            </a:r>
            <a:endParaRPr lang="en-US" altLang="zh-C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>
              <a:spcBef>
                <a:spcPct val="10000"/>
              </a:spcBef>
              <a:buFontTx/>
              <a:buNone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虽然是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个中断请求标志位，但在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SCON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之后经或门电路合成为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个信息，统一接受中断管理。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1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1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7" grpId="0" autoUpdateAnimBg="0"/>
      <p:bldP spid="216088" grpId="0" animBg="1" autoUpdateAnimBg="0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ChangeArrowheads="1"/>
          </p:cNvSpPr>
          <p:nvPr/>
        </p:nvSpPr>
        <p:spPr bwMode="auto">
          <a:xfrm>
            <a:off x="611188" y="1448241"/>
            <a:ext cx="8532812" cy="1786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>
              <a:spcBef>
                <a:spcPct val="0"/>
              </a:spcBef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"/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TI—</a:t>
            </a:r>
            <a:r>
              <a:rPr lang="zh-CN" altLang="en-US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串行口发送中断请求标志位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当发送完一帧串行数据后，由硬件置“</a:t>
            </a:r>
            <a:r>
              <a:rPr lang="en-US" alt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1”</a:t>
            </a:r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；在转向中断服务程序后，用</a:t>
            </a:r>
            <a:r>
              <a:rPr lang="zh-CN" altLang="en-US" sz="3000" u="sng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软件</a:t>
            </a:r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清“</a:t>
            </a:r>
            <a:r>
              <a:rPr lang="en-US" alt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0”</a:t>
            </a:r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 </a:t>
            </a:r>
          </a:p>
        </p:txBody>
      </p:sp>
      <p:sp>
        <p:nvSpPr>
          <p:cNvPr id="223235" name="Rectangle 3"/>
          <p:cNvSpPr>
            <a:spLocks noChangeArrowheads="1"/>
          </p:cNvSpPr>
          <p:nvPr/>
        </p:nvSpPr>
        <p:spPr bwMode="auto">
          <a:xfrm>
            <a:off x="611188" y="3429000"/>
            <a:ext cx="8604250" cy="2308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0"/>
              </a:spcBef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531495" algn="l"/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RI—</a:t>
            </a:r>
            <a:r>
              <a:rPr lang="zh-CN" altLang="en-US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串行口接收中断请求标志位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当接收完一帧串行数据后，由硬件置“</a:t>
            </a:r>
            <a:r>
              <a:rPr lang="en-US" alt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1”</a:t>
            </a:r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； 在转向中断服务程序后，用</a:t>
            </a:r>
            <a:r>
              <a:rPr lang="zh-CN" altLang="en-US" sz="3000" u="sng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软件</a:t>
            </a:r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清“</a:t>
            </a:r>
            <a:r>
              <a:rPr lang="en-US" alt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0”</a:t>
            </a:r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串行中断请求由</a:t>
            </a:r>
            <a:r>
              <a:rPr lang="en-US" altLang="zh-CN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TI</a:t>
            </a:r>
            <a:r>
              <a:rPr lang="zh-CN" altLang="en-US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RI</a:t>
            </a:r>
            <a:r>
              <a:rPr lang="zh-CN" altLang="en-US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sz="3000" u="sng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逻辑或</a:t>
            </a:r>
            <a:r>
              <a:rPr lang="zh-CN" altLang="en-US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得到。</a:t>
            </a:r>
          </a:p>
        </p:txBody>
      </p:sp>
      <p:sp>
        <p:nvSpPr>
          <p:cNvPr id="223236" name="Rectangle 4"/>
          <p:cNvSpPr>
            <a:spLocks noChangeArrowheads="1"/>
          </p:cNvSpPr>
          <p:nvPr/>
        </p:nvSpPr>
        <p:spPr bwMode="auto">
          <a:xfrm>
            <a:off x="971550" y="404813"/>
            <a:ext cx="70564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>
              <a:spcBef>
                <a:spcPct val="0"/>
              </a:spcBef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SCON</a:t>
            </a:r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中与中断有关的控制位共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4" grpId="0"/>
      <p:bldP spid="223235" grpId="0"/>
      <p:bldP spid="2232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543800" cy="7921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600" b="1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MCS-51</a:t>
            </a:r>
            <a:r>
              <a:rPr lang="zh-CN" altLang="en-US" sz="3600" b="1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的中断系统</a:t>
            </a:r>
            <a:r>
              <a:rPr lang="en-US" altLang="zh-CN" sz="3600" b="1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3600" b="1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中断允许</a:t>
            </a:r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900113" y="1268413"/>
            <a:ext cx="6781800" cy="32004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zh-CN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8900" name="Line 4"/>
          <p:cNvSpPr>
            <a:spLocks noChangeShapeType="1"/>
          </p:cNvSpPr>
          <p:nvPr/>
        </p:nvSpPr>
        <p:spPr bwMode="auto">
          <a:xfrm>
            <a:off x="6919913" y="2106613"/>
            <a:ext cx="0" cy="2133600"/>
          </a:xfrm>
          <a:prstGeom prst="line">
            <a:avLst/>
          </a:prstGeom>
          <a:noFill/>
          <a:ln w="76200" cap="sq">
            <a:solidFill>
              <a:srgbClr val="66CCFF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8901" name="Text Box 5"/>
          <p:cNvSpPr txBox="1">
            <a:spLocks noChangeArrowheads="1"/>
          </p:cNvSpPr>
          <p:nvPr/>
        </p:nvSpPr>
        <p:spPr bwMode="auto">
          <a:xfrm>
            <a:off x="6577013" y="1412875"/>
            <a:ext cx="914400" cy="469900"/>
          </a:xfrm>
          <a:prstGeom prst="rect">
            <a:avLst/>
          </a:prstGeom>
          <a:noFill/>
          <a:ln w="12700" cap="sq">
            <a:solidFill>
              <a:srgbClr val="CCEC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40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</a:p>
        </p:txBody>
      </p:sp>
      <p:sp>
        <p:nvSpPr>
          <p:cNvPr id="208902" name="Text Box 6"/>
          <p:cNvSpPr txBox="1">
            <a:spLocks noChangeArrowheads="1"/>
          </p:cNvSpPr>
          <p:nvPr/>
        </p:nvSpPr>
        <p:spPr bwMode="auto">
          <a:xfrm>
            <a:off x="6919913" y="2486025"/>
            <a:ext cx="6096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zh-CN" altLang="en-US" sz="180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主程序</a:t>
            </a:r>
          </a:p>
        </p:txBody>
      </p:sp>
      <p:sp>
        <p:nvSpPr>
          <p:cNvPr id="208903" name="Line 7"/>
          <p:cNvSpPr>
            <a:spLocks noChangeShapeType="1"/>
          </p:cNvSpPr>
          <p:nvPr/>
        </p:nvSpPr>
        <p:spPr bwMode="auto">
          <a:xfrm>
            <a:off x="2132013" y="2259013"/>
            <a:ext cx="4572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8904" name="Line 8"/>
          <p:cNvSpPr>
            <a:spLocks noChangeShapeType="1"/>
          </p:cNvSpPr>
          <p:nvPr/>
        </p:nvSpPr>
        <p:spPr bwMode="auto">
          <a:xfrm>
            <a:off x="2132013" y="2640013"/>
            <a:ext cx="4572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8905" name="Line 9"/>
          <p:cNvSpPr>
            <a:spLocks noChangeShapeType="1"/>
          </p:cNvSpPr>
          <p:nvPr/>
        </p:nvSpPr>
        <p:spPr bwMode="auto">
          <a:xfrm>
            <a:off x="2132013" y="3021013"/>
            <a:ext cx="4572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8906" name="Line 10"/>
          <p:cNvSpPr>
            <a:spLocks noChangeShapeType="1"/>
          </p:cNvSpPr>
          <p:nvPr/>
        </p:nvSpPr>
        <p:spPr bwMode="auto">
          <a:xfrm>
            <a:off x="2132013" y="3402013"/>
            <a:ext cx="4572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8907" name="Line 11"/>
          <p:cNvSpPr>
            <a:spLocks noChangeShapeType="1"/>
          </p:cNvSpPr>
          <p:nvPr/>
        </p:nvSpPr>
        <p:spPr bwMode="auto">
          <a:xfrm>
            <a:off x="2132013" y="3859213"/>
            <a:ext cx="4572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8908" name="Text Box 12"/>
          <p:cNvSpPr txBox="1">
            <a:spLocks noChangeArrowheads="1"/>
          </p:cNvSpPr>
          <p:nvPr/>
        </p:nvSpPr>
        <p:spPr bwMode="auto">
          <a:xfrm>
            <a:off x="1293813" y="2068513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INT0</a:t>
            </a:r>
          </a:p>
        </p:txBody>
      </p:sp>
      <p:sp>
        <p:nvSpPr>
          <p:cNvPr id="208909" name="Text Box 13"/>
          <p:cNvSpPr txBox="1">
            <a:spLocks noChangeArrowheads="1"/>
          </p:cNvSpPr>
          <p:nvPr/>
        </p:nvSpPr>
        <p:spPr bwMode="auto">
          <a:xfrm>
            <a:off x="1306513" y="2827338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INT1</a:t>
            </a:r>
          </a:p>
        </p:txBody>
      </p:sp>
      <p:sp>
        <p:nvSpPr>
          <p:cNvPr id="208910" name="Text Box 14"/>
          <p:cNvSpPr txBox="1">
            <a:spLocks noChangeArrowheads="1"/>
          </p:cNvSpPr>
          <p:nvPr/>
        </p:nvSpPr>
        <p:spPr bwMode="auto">
          <a:xfrm>
            <a:off x="1293813" y="2471738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T0</a:t>
            </a:r>
          </a:p>
        </p:txBody>
      </p:sp>
      <p:sp>
        <p:nvSpPr>
          <p:cNvPr id="208911" name="Text Box 15"/>
          <p:cNvSpPr txBox="1">
            <a:spLocks noChangeArrowheads="1"/>
          </p:cNvSpPr>
          <p:nvPr/>
        </p:nvSpPr>
        <p:spPr bwMode="auto">
          <a:xfrm>
            <a:off x="1293813" y="3208338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T1</a:t>
            </a:r>
          </a:p>
        </p:txBody>
      </p:sp>
      <p:sp>
        <p:nvSpPr>
          <p:cNvPr id="208912" name="Text Box 16"/>
          <p:cNvSpPr txBox="1">
            <a:spLocks noChangeArrowheads="1"/>
          </p:cNvSpPr>
          <p:nvPr/>
        </p:nvSpPr>
        <p:spPr bwMode="auto">
          <a:xfrm>
            <a:off x="1281113" y="3652838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串口</a:t>
            </a:r>
          </a:p>
        </p:txBody>
      </p:sp>
      <p:sp>
        <p:nvSpPr>
          <p:cNvPr id="208913" name="Text Box 17"/>
          <p:cNvSpPr txBox="1">
            <a:spLocks noChangeArrowheads="1"/>
          </p:cNvSpPr>
          <p:nvPr/>
        </p:nvSpPr>
        <p:spPr bwMode="auto">
          <a:xfrm>
            <a:off x="3122613" y="2030413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IE0</a:t>
            </a:r>
          </a:p>
        </p:txBody>
      </p:sp>
      <p:sp>
        <p:nvSpPr>
          <p:cNvPr id="208914" name="Text Box 18"/>
          <p:cNvSpPr txBox="1">
            <a:spLocks noChangeArrowheads="1"/>
          </p:cNvSpPr>
          <p:nvPr/>
        </p:nvSpPr>
        <p:spPr bwMode="auto">
          <a:xfrm>
            <a:off x="3122613" y="2395538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TF0</a:t>
            </a:r>
          </a:p>
        </p:txBody>
      </p:sp>
      <p:sp>
        <p:nvSpPr>
          <p:cNvPr id="208915" name="Text Box 19"/>
          <p:cNvSpPr txBox="1">
            <a:spLocks noChangeArrowheads="1"/>
          </p:cNvSpPr>
          <p:nvPr/>
        </p:nvSpPr>
        <p:spPr bwMode="auto">
          <a:xfrm>
            <a:off x="3122613" y="2776538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IE1</a:t>
            </a:r>
          </a:p>
        </p:txBody>
      </p:sp>
      <p:sp>
        <p:nvSpPr>
          <p:cNvPr id="208916" name="Text Box 20"/>
          <p:cNvSpPr txBox="1">
            <a:spLocks noChangeArrowheads="1"/>
          </p:cNvSpPr>
          <p:nvPr/>
        </p:nvSpPr>
        <p:spPr bwMode="auto">
          <a:xfrm>
            <a:off x="3122613" y="3157538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TF1</a:t>
            </a:r>
          </a:p>
        </p:txBody>
      </p:sp>
      <p:grpSp>
        <p:nvGrpSpPr>
          <p:cNvPr id="21525" name="Group 21"/>
          <p:cNvGrpSpPr/>
          <p:nvPr/>
        </p:nvGrpSpPr>
        <p:grpSpPr bwMode="auto">
          <a:xfrm>
            <a:off x="2970213" y="3554413"/>
            <a:ext cx="914400" cy="701675"/>
            <a:chOff x="2448" y="2784"/>
            <a:chExt cx="576" cy="442"/>
          </a:xfrm>
        </p:grpSpPr>
        <p:sp>
          <p:nvSpPr>
            <p:cNvPr id="208918" name="Text Box 22"/>
            <p:cNvSpPr txBox="1">
              <a:spLocks noChangeArrowheads="1"/>
            </p:cNvSpPr>
            <p:nvPr/>
          </p:nvSpPr>
          <p:spPr bwMode="auto">
            <a:xfrm>
              <a:off x="2544" y="2784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TI</a:t>
              </a:r>
            </a:p>
          </p:txBody>
        </p:sp>
        <p:sp>
          <p:nvSpPr>
            <p:cNvPr id="208919" name="Text Box 23"/>
            <p:cNvSpPr txBox="1">
              <a:spLocks noChangeArrowheads="1"/>
            </p:cNvSpPr>
            <p:nvPr/>
          </p:nvSpPr>
          <p:spPr bwMode="auto">
            <a:xfrm>
              <a:off x="2544" y="2976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RI</a:t>
              </a:r>
            </a:p>
          </p:txBody>
        </p:sp>
        <p:sp>
          <p:nvSpPr>
            <p:cNvPr id="208920" name="AutoShape 24"/>
            <p:cNvSpPr/>
            <p:nvPr/>
          </p:nvSpPr>
          <p:spPr bwMode="auto">
            <a:xfrm>
              <a:off x="2448" y="2880"/>
              <a:ext cx="48" cy="24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08921" name="Text Box 25"/>
          <p:cNvSpPr txBox="1">
            <a:spLocks noChangeArrowheads="1"/>
          </p:cNvSpPr>
          <p:nvPr/>
        </p:nvSpPr>
        <p:spPr bwMode="auto">
          <a:xfrm>
            <a:off x="1042988" y="1428750"/>
            <a:ext cx="1393825" cy="469900"/>
          </a:xfrm>
          <a:prstGeom prst="rect">
            <a:avLst/>
          </a:prstGeom>
          <a:noFill/>
          <a:ln w="12700" cap="sq">
            <a:solidFill>
              <a:srgbClr val="CCEC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zh-CN" altLang="en-US" sz="240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中断源</a:t>
            </a:r>
          </a:p>
        </p:txBody>
      </p:sp>
      <p:sp>
        <p:nvSpPr>
          <p:cNvPr id="208922" name="Text Box 26"/>
          <p:cNvSpPr txBox="1">
            <a:spLocks noChangeArrowheads="1"/>
          </p:cNvSpPr>
          <p:nvPr/>
        </p:nvSpPr>
        <p:spPr bwMode="auto">
          <a:xfrm>
            <a:off x="2627313" y="1428750"/>
            <a:ext cx="1790700" cy="469900"/>
          </a:xfrm>
          <a:prstGeom prst="rect">
            <a:avLst/>
          </a:prstGeom>
          <a:noFill/>
          <a:ln w="12700" cap="sq">
            <a:solidFill>
              <a:srgbClr val="CCEC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zh-CN" altLang="en-US" sz="240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中断标志位</a:t>
            </a:r>
          </a:p>
        </p:txBody>
      </p:sp>
      <p:sp>
        <p:nvSpPr>
          <p:cNvPr id="208923" name="Text Box 27"/>
          <p:cNvSpPr txBox="1">
            <a:spLocks noChangeArrowheads="1"/>
          </p:cNvSpPr>
          <p:nvPr/>
        </p:nvSpPr>
        <p:spPr bwMode="auto">
          <a:xfrm>
            <a:off x="611188" y="4581525"/>
            <a:ext cx="8208962" cy="175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Clr>
                <a:srgbClr val="FF3300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EA——</a:t>
            </a:r>
            <a:r>
              <a:rPr kumimoji="0"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中断总允许位，</a:t>
            </a:r>
            <a:r>
              <a:rPr kumimoji="0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EA=1</a:t>
            </a:r>
            <a:r>
              <a:rPr kumimoji="0"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开放所有中断，</a:t>
            </a:r>
            <a:r>
              <a:rPr kumimoji="0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EA=0</a:t>
            </a:r>
            <a:r>
              <a:rPr kumimoji="0"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，禁止所有中断；</a:t>
            </a:r>
          </a:p>
          <a:p>
            <a:pPr algn="l">
              <a:buClr>
                <a:srgbClr val="FF3300"/>
              </a:buClr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中断源有相应的中断允许位，</a:t>
            </a:r>
            <a:r>
              <a:rPr kumimoji="0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1-</a:t>
            </a:r>
            <a:r>
              <a:rPr kumimoji="0"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允许相应中断源的中断，</a:t>
            </a:r>
            <a:r>
              <a:rPr kumimoji="0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0-</a:t>
            </a:r>
            <a:r>
              <a:rPr kumimoji="0"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禁止相应中断源的中断。</a:t>
            </a:r>
          </a:p>
        </p:txBody>
      </p:sp>
      <p:sp>
        <p:nvSpPr>
          <p:cNvPr id="208924" name="Text Box 28"/>
          <p:cNvSpPr txBox="1">
            <a:spLocks noChangeArrowheads="1"/>
          </p:cNvSpPr>
          <p:nvPr/>
        </p:nvSpPr>
        <p:spPr bwMode="auto">
          <a:xfrm>
            <a:off x="4633913" y="1428750"/>
            <a:ext cx="1524000" cy="469900"/>
          </a:xfrm>
          <a:prstGeom prst="rect">
            <a:avLst/>
          </a:prstGeom>
          <a:noFill/>
          <a:ln w="12700" cap="sq">
            <a:solidFill>
              <a:srgbClr val="CCEC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zh-CN" altLang="en-US" sz="240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中断允许</a:t>
            </a:r>
          </a:p>
        </p:txBody>
      </p:sp>
      <p:grpSp>
        <p:nvGrpSpPr>
          <p:cNvPr id="21530" name="Group 29"/>
          <p:cNvGrpSpPr/>
          <p:nvPr/>
        </p:nvGrpSpPr>
        <p:grpSpPr bwMode="auto">
          <a:xfrm>
            <a:off x="4619625" y="2076450"/>
            <a:ext cx="1081088" cy="144463"/>
            <a:chOff x="3111" y="2135"/>
            <a:chExt cx="681" cy="91"/>
          </a:xfrm>
        </p:grpSpPr>
        <p:sp>
          <p:nvSpPr>
            <p:cNvPr id="208926" name="Line 30"/>
            <p:cNvSpPr>
              <a:spLocks noChangeShapeType="1"/>
            </p:cNvSpPr>
            <p:nvPr/>
          </p:nvSpPr>
          <p:spPr bwMode="auto">
            <a:xfrm>
              <a:off x="3111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27" name="Line 31"/>
            <p:cNvSpPr>
              <a:spLocks noChangeShapeType="1"/>
            </p:cNvSpPr>
            <p:nvPr/>
          </p:nvSpPr>
          <p:spPr bwMode="auto">
            <a:xfrm>
              <a:off x="3338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28" name="Line 32"/>
            <p:cNvSpPr>
              <a:spLocks noChangeShapeType="1"/>
            </p:cNvSpPr>
            <p:nvPr/>
          </p:nvSpPr>
          <p:spPr bwMode="auto">
            <a:xfrm>
              <a:off x="3610" y="222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29" name="Line 33"/>
            <p:cNvSpPr>
              <a:spLocks noChangeShapeType="1"/>
            </p:cNvSpPr>
            <p:nvPr/>
          </p:nvSpPr>
          <p:spPr bwMode="auto">
            <a:xfrm flipV="1">
              <a:off x="3247" y="2180"/>
              <a:ext cx="91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30" name="Line 34"/>
            <p:cNvSpPr>
              <a:spLocks noChangeShapeType="1"/>
            </p:cNvSpPr>
            <p:nvPr/>
          </p:nvSpPr>
          <p:spPr bwMode="auto">
            <a:xfrm flipV="1">
              <a:off x="3474" y="2135"/>
              <a:ext cx="136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08931" name="Text Box 35"/>
          <p:cNvSpPr txBox="1">
            <a:spLocks noChangeArrowheads="1"/>
          </p:cNvSpPr>
          <p:nvPr/>
        </p:nvSpPr>
        <p:spPr bwMode="auto">
          <a:xfrm>
            <a:off x="4024313" y="3706813"/>
            <a:ext cx="69532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ES</a:t>
            </a:r>
          </a:p>
        </p:txBody>
      </p:sp>
      <p:sp>
        <p:nvSpPr>
          <p:cNvPr id="208932" name="Text Box 36"/>
          <p:cNvSpPr txBox="1">
            <a:spLocks noChangeArrowheads="1"/>
          </p:cNvSpPr>
          <p:nvPr/>
        </p:nvSpPr>
        <p:spPr bwMode="auto">
          <a:xfrm>
            <a:off x="4024313" y="2436813"/>
            <a:ext cx="7683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ET0</a:t>
            </a:r>
          </a:p>
        </p:txBody>
      </p:sp>
      <p:sp>
        <p:nvSpPr>
          <p:cNvPr id="208933" name="Text Box 37"/>
          <p:cNvSpPr txBox="1">
            <a:spLocks noChangeArrowheads="1"/>
          </p:cNvSpPr>
          <p:nvPr/>
        </p:nvSpPr>
        <p:spPr bwMode="auto">
          <a:xfrm>
            <a:off x="4024313" y="2017713"/>
            <a:ext cx="839787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EX0</a:t>
            </a:r>
          </a:p>
        </p:txBody>
      </p:sp>
      <p:sp>
        <p:nvSpPr>
          <p:cNvPr id="208934" name="Text Box 38"/>
          <p:cNvSpPr txBox="1">
            <a:spLocks noChangeArrowheads="1"/>
          </p:cNvSpPr>
          <p:nvPr/>
        </p:nvSpPr>
        <p:spPr bwMode="auto">
          <a:xfrm>
            <a:off x="4024313" y="2830513"/>
            <a:ext cx="7683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EX1</a:t>
            </a:r>
          </a:p>
        </p:txBody>
      </p:sp>
      <p:sp>
        <p:nvSpPr>
          <p:cNvPr id="208935" name="Text Box 39"/>
          <p:cNvSpPr txBox="1">
            <a:spLocks noChangeArrowheads="1"/>
          </p:cNvSpPr>
          <p:nvPr/>
        </p:nvSpPr>
        <p:spPr bwMode="auto">
          <a:xfrm>
            <a:off x="4024313" y="3213100"/>
            <a:ext cx="757237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ET1</a:t>
            </a:r>
          </a:p>
        </p:txBody>
      </p:sp>
      <p:sp>
        <p:nvSpPr>
          <p:cNvPr id="208936" name="Text Box 40"/>
          <p:cNvSpPr txBox="1">
            <a:spLocks noChangeArrowheads="1"/>
          </p:cNvSpPr>
          <p:nvPr/>
        </p:nvSpPr>
        <p:spPr bwMode="auto">
          <a:xfrm>
            <a:off x="5319713" y="4011613"/>
            <a:ext cx="5032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EA</a:t>
            </a:r>
          </a:p>
        </p:txBody>
      </p:sp>
      <p:grpSp>
        <p:nvGrpSpPr>
          <p:cNvPr id="21537" name="Group 41"/>
          <p:cNvGrpSpPr/>
          <p:nvPr/>
        </p:nvGrpSpPr>
        <p:grpSpPr bwMode="auto">
          <a:xfrm>
            <a:off x="4619625" y="2492375"/>
            <a:ext cx="1081088" cy="144463"/>
            <a:chOff x="3111" y="2135"/>
            <a:chExt cx="681" cy="91"/>
          </a:xfrm>
        </p:grpSpPr>
        <p:sp>
          <p:nvSpPr>
            <p:cNvPr id="208938" name="Line 42"/>
            <p:cNvSpPr>
              <a:spLocks noChangeShapeType="1"/>
            </p:cNvSpPr>
            <p:nvPr/>
          </p:nvSpPr>
          <p:spPr bwMode="auto">
            <a:xfrm>
              <a:off x="3111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39" name="Line 43"/>
            <p:cNvSpPr>
              <a:spLocks noChangeShapeType="1"/>
            </p:cNvSpPr>
            <p:nvPr/>
          </p:nvSpPr>
          <p:spPr bwMode="auto">
            <a:xfrm>
              <a:off x="3338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40" name="Line 44"/>
            <p:cNvSpPr>
              <a:spLocks noChangeShapeType="1"/>
            </p:cNvSpPr>
            <p:nvPr/>
          </p:nvSpPr>
          <p:spPr bwMode="auto">
            <a:xfrm>
              <a:off x="3610" y="222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41" name="Line 45"/>
            <p:cNvSpPr>
              <a:spLocks noChangeShapeType="1"/>
            </p:cNvSpPr>
            <p:nvPr/>
          </p:nvSpPr>
          <p:spPr bwMode="auto">
            <a:xfrm flipV="1">
              <a:off x="3247" y="2180"/>
              <a:ext cx="91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42" name="Line 46"/>
            <p:cNvSpPr>
              <a:spLocks noChangeShapeType="1"/>
            </p:cNvSpPr>
            <p:nvPr/>
          </p:nvSpPr>
          <p:spPr bwMode="auto">
            <a:xfrm flipV="1">
              <a:off x="3474" y="2135"/>
              <a:ext cx="136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1538" name="Group 47"/>
          <p:cNvGrpSpPr/>
          <p:nvPr/>
        </p:nvGrpSpPr>
        <p:grpSpPr bwMode="auto">
          <a:xfrm>
            <a:off x="4633913" y="2868613"/>
            <a:ext cx="1081087" cy="144462"/>
            <a:chOff x="3111" y="2135"/>
            <a:chExt cx="681" cy="91"/>
          </a:xfrm>
        </p:grpSpPr>
        <p:sp>
          <p:nvSpPr>
            <p:cNvPr id="208944" name="Line 48"/>
            <p:cNvSpPr>
              <a:spLocks noChangeShapeType="1"/>
            </p:cNvSpPr>
            <p:nvPr/>
          </p:nvSpPr>
          <p:spPr bwMode="auto">
            <a:xfrm>
              <a:off x="3111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45" name="Line 49"/>
            <p:cNvSpPr>
              <a:spLocks noChangeShapeType="1"/>
            </p:cNvSpPr>
            <p:nvPr/>
          </p:nvSpPr>
          <p:spPr bwMode="auto">
            <a:xfrm>
              <a:off x="3338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46" name="Line 50"/>
            <p:cNvSpPr>
              <a:spLocks noChangeShapeType="1"/>
            </p:cNvSpPr>
            <p:nvPr/>
          </p:nvSpPr>
          <p:spPr bwMode="auto">
            <a:xfrm>
              <a:off x="3610" y="222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47" name="Line 51"/>
            <p:cNvSpPr>
              <a:spLocks noChangeShapeType="1"/>
            </p:cNvSpPr>
            <p:nvPr/>
          </p:nvSpPr>
          <p:spPr bwMode="auto">
            <a:xfrm flipV="1">
              <a:off x="3247" y="2180"/>
              <a:ext cx="91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48" name="Line 52"/>
            <p:cNvSpPr>
              <a:spLocks noChangeShapeType="1"/>
            </p:cNvSpPr>
            <p:nvPr/>
          </p:nvSpPr>
          <p:spPr bwMode="auto">
            <a:xfrm flipV="1">
              <a:off x="3474" y="2135"/>
              <a:ext cx="136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1539" name="Group 53"/>
          <p:cNvGrpSpPr/>
          <p:nvPr/>
        </p:nvGrpSpPr>
        <p:grpSpPr bwMode="auto">
          <a:xfrm>
            <a:off x="4633913" y="3249613"/>
            <a:ext cx="1081087" cy="144462"/>
            <a:chOff x="3111" y="2135"/>
            <a:chExt cx="681" cy="91"/>
          </a:xfrm>
        </p:grpSpPr>
        <p:sp>
          <p:nvSpPr>
            <p:cNvPr id="208950" name="Line 54"/>
            <p:cNvSpPr>
              <a:spLocks noChangeShapeType="1"/>
            </p:cNvSpPr>
            <p:nvPr/>
          </p:nvSpPr>
          <p:spPr bwMode="auto">
            <a:xfrm>
              <a:off x="3111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51" name="Line 55"/>
            <p:cNvSpPr>
              <a:spLocks noChangeShapeType="1"/>
            </p:cNvSpPr>
            <p:nvPr/>
          </p:nvSpPr>
          <p:spPr bwMode="auto">
            <a:xfrm>
              <a:off x="3338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52" name="Line 56"/>
            <p:cNvSpPr>
              <a:spLocks noChangeShapeType="1"/>
            </p:cNvSpPr>
            <p:nvPr/>
          </p:nvSpPr>
          <p:spPr bwMode="auto">
            <a:xfrm>
              <a:off x="3610" y="222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53" name="Line 57"/>
            <p:cNvSpPr>
              <a:spLocks noChangeShapeType="1"/>
            </p:cNvSpPr>
            <p:nvPr/>
          </p:nvSpPr>
          <p:spPr bwMode="auto">
            <a:xfrm flipV="1">
              <a:off x="3247" y="2180"/>
              <a:ext cx="91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54" name="Line 58"/>
            <p:cNvSpPr>
              <a:spLocks noChangeShapeType="1"/>
            </p:cNvSpPr>
            <p:nvPr/>
          </p:nvSpPr>
          <p:spPr bwMode="auto">
            <a:xfrm flipV="1">
              <a:off x="3474" y="2135"/>
              <a:ext cx="136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1540" name="Group 59"/>
          <p:cNvGrpSpPr/>
          <p:nvPr/>
        </p:nvGrpSpPr>
        <p:grpSpPr bwMode="auto">
          <a:xfrm>
            <a:off x="4633913" y="3714750"/>
            <a:ext cx="1081087" cy="144463"/>
            <a:chOff x="3111" y="2135"/>
            <a:chExt cx="681" cy="91"/>
          </a:xfrm>
        </p:grpSpPr>
        <p:sp>
          <p:nvSpPr>
            <p:cNvPr id="208956" name="Line 60"/>
            <p:cNvSpPr>
              <a:spLocks noChangeShapeType="1"/>
            </p:cNvSpPr>
            <p:nvPr/>
          </p:nvSpPr>
          <p:spPr bwMode="auto">
            <a:xfrm>
              <a:off x="3111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57" name="Line 61"/>
            <p:cNvSpPr>
              <a:spLocks noChangeShapeType="1"/>
            </p:cNvSpPr>
            <p:nvPr/>
          </p:nvSpPr>
          <p:spPr bwMode="auto">
            <a:xfrm>
              <a:off x="3338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58" name="Line 62"/>
            <p:cNvSpPr>
              <a:spLocks noChangeShapeType="1"/>
            </p:cNvSpPr>
            <p:nvPr/>
          </p:nvSpPr>
          <p:spPr bwMode="auto">
            <a:xfrm>
              <a:off x="3610" y="222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59" name="Line 63"/>
            <p:cNvSpPr>
              <a:spLocks noChangeShapeType="1"/>
            </p:cNvSpPr>
            <p:nvPr/>
          </p:nvSpPr>
          <p:spPr bwMode="auto">
            <a:xfrm flipV="1">
              <a:off x="3247" y="2180"/>
              <a:ext cx="91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60" name="Line 64"/>
            <p:cNvSpPr>
              <a:spLocks noChangeShapeType="1"/>
            </p:cNvSpPr>
            <p:nvPr/>
          </p:nvSpPr>
          <p:spPr bwMode="auto">
            <a:xfrm flipV="1">
              <a:off x="3474" y="2135"/>
              <a:ext cx="136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08961" name="Rectangle 65"/>
          <p:cNvSpPr>
            <a:spLocks noChangeArrowheads="1"/>
          </p:cNvSpPr>
          <p:nvPr/>
        </p:nvSpPr>
        <p:spPr bwMode="auto">
          <a:xfrm>
            <a:off x="3948113" y="1954213"/>
            <a:ext cx="1905000" cy="2438400"/>
          </a:xfrm>
          <a:prstGeom prst="rect">
            <a:avLst/>
          </a:prstGeom>
          <a:noFill/>
          <a:ln w="19050" cap="sq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zh-CN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08962" name="Group 66"/>
          <p:cNvGrpSpPr/>
          <p:nvPr/>
        </p:nvGrpSpPr>
        <p:grpSpPr bwMode="auto">
          <a:xfrm>
            <a:off x="5199063" y="1973263"/>
            <a:ext cx="230187" cy="1857375"/>
            <a:chOff x="3424" y="1552"/>
            <a:chExt cx="145" cy="1170"/>
          </a:xfrm>
        </p:grpSpPr>
        <p:grpSp>
          <p:nvGrpSpPr>
            <p:cNvPr id="21559" name="Group 67"/>
            <p:cNvGrpSpPr/>
            <p:nvPr/>
          </p:nvGrpSpPr>
          <p:grpSpPr bwMode="auto">
            <a:xfrm>
              <a:off x="3433" y="2060"/>
              <a:ext cx="136" cy="136"/>
              <a:chOff x="5148" y="300"/>
              <a:chExt cx="136" cy="136"/>
            </a:xfrm>
          </p:grpSpPr>
          <p:sp>
            <p:nvSpPr>
              <p:cNvPr id="208964" name="Rectangle 68"/>
              <p:cNvSpPr>
                <a:spLocks noChangeArrowheads="1"/>
              </p:cNvSpPr>
              <p:nvPr/>
            </p:nvSpPr>
            <p:spPr bwMode="auto">
              <a:xfrm>
                <a:off x="5148" y="300"/>
                <a:ext cx="136" cy="13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08965" name="Line 69"/>
              <p:cNvSpPr>
                <a:spLocks noChangeShapeType="1"/>
              </p:cNvSpPr>
              <p:nvPr/>
            </p:nvSpPr>
            <p:spPr bwMode="auto">
              <a:xfrm>
                <a:off x="5148" y="436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21560" name="Group 70"/>
            <p:cNvGrpSpPr/>
            <p:nvPr/>
          </p:nvGrpSpPr>
          <p:grpSpPr bwMode="auto">
            <a:xfrm>
              <a:off x="3424" y="1815"/>
              <a:ext cx="136" cy="136"/>
              <a:chOff x="5148" y="300"/>
              <a:chExt cx="136" cy="136"/>
            </a:xfrm>
          </p:grpSpPr>
          <p:sp>
            <p:nvSpPr>
              <p:cNvPr id="208967" name="Rectangle 71"/>
              <p:cNvSpPr>
                <a:spLocks noChangeArrowheads="1"/>
              </p:cNvSpPr>
              <p:nvPr/>
            </p:nvSpPr>
            <p:spPr bwMode="auto">
              <a:xfrm>
                <a:off x="5148" y="300"/>
                <a:ext cx="136" cy="13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08968" name="Line 72"/>
              <p:cNvSpPr>
                <a:spLocks noChangeShapeType="1"/>
              </p:cNvSpPr>
              <p:nvPr/>
            </p:nvSpPr>
            <p:spPr bwMode="auto">
              <a:xfrm>
                <a:off x="5148" y="436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21561" name="Group 73"/>
            <p:cNvGrpSpPr/>
            <p:nvPr/>
          </p:nvGrpSpPr>
          <p:grpSpPr bwMode="auto">
            <a:xfrm>
              <a:off x="3433" y="1552"/>
              <a:ext cx="136" cy="136"/>
              <a:chOff x="5148" y="300"/>
              <a:chExt cx="136" cy="136"/>
            </a:xfrm>
          </p:grpSpPr>
          <p:sp>
            <p:nvSpPr>
              <p:cNvPr id="208970" name="Rectangle 74"/>
              <p:cNvSpPr>
                <a:spLocks noChangeArrowheads="1"/>
              </p:cNvSpPr>
              <p:nvPr/>
            </p:nvSpPr>
            <p:spPr bwMode="auto">
              <a:xfrm>
                <a:off x="5148" y="300"/>
                <a:ext cx="136" cy="13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08971" name="Line 75"/>
              <p:cNvSpPr>
                <a:spLocks noChangeShapeType="1"/>
              </p:cNvSpPr>
              <p:nvPr/>
            </p:nvSpPr>
            <p:spPr bwMode="auto">
              <a:xfrm>
                <a:off x="5148" y="436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21562" name="Group 76"/>
            <p:cNvGrpSpPr/>
            <p:nvPr/>
          </p:nvGrpSpPr>
          <p:grpSpPr bwMode="auto">
            <a:xfrm>
              <a:off x="3424" y="2586"/>
              <a:ext cx="136" cy="136"/>
              <a:chOff x="5148" y="300"/>
              <a:chExt cx="136" cy="136"/>
            </a:xfrm>
          </p:grpSpPr>
          <p:sp>
            <p:nvSpPr>
              <p:cNvPr id="208973" name="Rectangle 77"/>
              <p:cNvSpPr>
                <a:spLocks noChangeArrowheads="1"/>
              </p:cNvSpPr>
              <p:nvPr/>
            </p:nvSpPr>
            <p:spPr bwMode="auto">
              <a:xfrm>
                <a:off x="5148" y="300"/>
                <a:ext cx="136" cy="13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08974" name="Line 78"/>
              <p:cNvSpPr>
                <a:spLocks noChangeShapeType="1"/>
              </p:cNvSpPr>
              <p:nvPr/>
            </p:nvSpPr>
            <p:spPr bwMode="auto">
              <a:xfrm>
                <a:off x="5148" y="436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21563" name="Group 79"/>
            <p:cNvGrpSpPr/>
            <p:nvPr/>
          </p:nvGrpSpPr>
          <p:grpSpPr bwMode="auto">
            <a:xfrm>
              <a:off x="3424" y="2296"/>
              <a:ext cx="136" cy="136"/>
              <a:chOff x="5148" y="300"/>
              <a:chExt cx="136" cy="136"/>
            </a:xfrm>
          </p:grpSpPr>
          <p:sp>
            <p:nvSpPr>
              <p:cNvPr id="208976" name="Rectangle 80"/>
              <p:cNvSpPr>
                <a:spLocks noChangeArrowheads="1"/>
              </p:cNvSpPr>
              <p:nvPr/>
            </p:nvSpPr>
            <p:spPr bwMode="auto">
              <a:xfrm>
                <a:off x="5148" y="300"/>
                <a:ext cx="136" cy="13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08977" name="Line 81"/>
              <p:cNvSpPr>
                <a:spLocks noChangeShapeType="1"/>
              </p:cNvSpPr>
              <p:nvPr/>
            </p:nvSpPr>
            <p:spPr bwMode="auto">
              <a:xfrm>
                <a:off x="5148" y="436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208978" name="Line 82"/>
          <p:cNvSpPr>
            <a:spLocks noChangeShapeType="1"/>
          </p:cNvSpPr>
          <p:nvPr/>
        </p:nvSpPr>
        <p:spPr bwMode="auto">
          <a:xfrm>
            <a:off x="5272088" y="1997075"/>
            <a:ext cx="0" cy="2368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08979" name="Group 83"/>
          <p:cNvGrpSpPr/>
          <p:nvPr/>
        </p:nvGrpSpPr>
        <p:grpSpPr bwMode="auto">
          <a:xfrm>
            <a:off x="4840288" y="2779713"/>
            <a:ext cx="215900" cy="215900"/>
            <a:chOff x="5148" y="300"/>
            <a:chExt cx="136" cy="136"/>
          </a:xfrm>
        </p:grpSpPr>
        <p:sp>
          <p:nvSpPr>
            <p:cNvPr id="208980" name="Rectangle 84"/>
            <p:cNvSpPr>
              <a:spLocks noChangeArrowheads="1"/>
            </p:cNvSpPr>
            <p:nvPr/>
          </p:nvSpPr>
          <p:spPr bwMode="auto">
            <a:xfrm>
              <a:off x="5148" y="300"/>
              <a:ext cx="136" cy="13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81" name="Line 85"/>
            <p:cNvSpPr>
              <a:spLocks noChangeShapeType="1"/>
            </p:cNvSpPr>
            <p:nvPr/>
          </p:nvSpPr>
          <p:spPr bwMode="auto">
            <a:xfrm>
              <a:off x="5148" y="436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08982" name="Group 86"/>
          <p:cNvGrpSpPr/>
          <p:nvPr/>
        </p:nvGrpSpPr>
        <p:grpSpPr bwMode="auto">
          <a:xfrm>
            <a:off x="4826000" y="2390775"/>
            <a:ext cx="215900" cy="215900"/>
            <a:chOff x="5148" y="300"/>
            <a:chExt cx="136" cy="136"/>
          </a:xfrm>
        </p:grpSpPr>
        <p:sp>
          <p:nvSpPr>
            <p:cNvPr id="208983" name="Rectangle 87"/>
            <p:cNvSpPr>
              <a:spLocks noChangeArrowheads="1"/>
            </p:cNvSpPr>
            <p:nvPr/>
          </p:nvSpPr>
          <p:spPr bwMode="auto">
            <a:xfrm>
              <a:off x="5148" y="300"/>
              <a:ext cx="136" cy="13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84" name="Line 88"/>
            <p:cNvSpPr>
              <a:spLocks noChangeShapeType="1"/>
            </p:cNvSpPr>
            <p:nvPr/>
          </p:nvSpPr>
          <p:spPr bwMode="auto">
            <a:xfrm>
              <a:off x="5148" y="436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08985" name="Group 89"/>
          <p:cNvGrpSpPr/>
          <p:nvPr/>
        </p:nvGrpSpPr>
        <p:grpSpPr bwMode="auto">
          <a:xfrm>
            <a:off x="4840288" y="1973263"/>
            <a:ext cx="215900" cy="215900"/>
            <a:chOff x="5148" y="300"/>
            <a:chExt cx="136" cy="136"/>
          </a:xfrm>
        </p:grpSpPr>
        <p:sp>
          <p:nvSpPr>
            <p:cNvPr id="208986" name="Rectangle 90"/>
            <p:cNvSpPr>
              <a:spLocks noChangeArrowheads="1"/>
            </p:cNvSpPr>
            <p:nvPr/>
          </p:nvSpPr>
          <p:spPr bwMode="auto">
            <a:xfrm>
              <a:off x="5148" y="300"/>
              <a:ext cx="136" cy="13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87" name="Line 91"/>
            <p:cNvSpPr>
              <a:spLocks noChangeShapeType="1"/>
            </p:cNvSpPr>
            <p:nvPr/>
          </p:nvSpPr>
          <p:spPr bwMode="auto">
            <a:xfrm>
              <a:off x="5148" y="436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08988" name="Group 92"/>
          <p:cNvGrpSpPr/>
          <p:nvPr/>
        </p:nvGrpSpPr>
        <p:grpSpPr bwMode="auto">
          <a:xfrm>
            <a:off x="4826000" y="3614738"/>
            <a:ext cx="215900" cy="215900"/>
            <a:chOff x="5148" y="300"/>
            <a:chExt cx="136" cy="136"/>
          </a:xfrm>
        </p:grpSpPr>
        <p:sp>
          <p:nvSpPr>
            <p:cNvPr id="208989" name="Rectangle 93"/>
            <p:cNvSpPr>
              <a:spLocks noChangeArrowheads="1"/>
            </p:cNvSpPr>
            <p:nvPr/>
          </p:nvSpPr>
          <p:spPr bwMode="auto">
            <a:xfrm>
              <a:off x="5148" y="300"/>
              <a:ext cx="136" cy="13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90" name="Line 94"/>
            <p:cNvSpPr>
              <a:spLocks noChangeShapeType="1"/>
            </p:cNvSpPr>
            <p:nvPr/>
          </p:nvSpPr>
          <p:spPr bwMode="auto">
            <a:xfrm>
              <a:off x="5148" y="436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08991" name="Group 95"/>
          <p:cNvGrpSpPr/>
          <p:nvPr/>
        </p:nvGrpSpPr>
        <p:grpSpPr bwMode="auto">
          <a:xfrm>
            <a:off x="4826000" y="3154363"/>
            <a:ext cx="215900" cy="215900"/>
            <a:chOff x="5148" y="300"/>
            <a:chExt cx="136" cy="136"/>
          </a:xfrm>
        </p:grpSpPr>
        <p:sp>
          <p:nvSpPr>
            <p:cNvPr id="208992" name="Rectangle 96"/>
            <p:cNvSpPr>
              <a:spLocks noChangeArrowheads="1"/>
            </p:cNvSpPr>
            <p:nvPr/>
          </p:nvSpPr>
          <p:spPr bwMode="auto">
            <a:xfrm>
              <a:off x="5148" y="300"/>
              <a:ext cx="136" cy="13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8993" name="Line 97"/>
            <p:cNvSpPr>
              <a:spLocks noChangeShapeType="1"/>
            </p:cNvSpPr>
            <p:nvPr/>
          </p:nvSpPr>
          <p:spPr bwMode="auto">
            <a:xfrm>
              <a:off x="5148" y="436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1004EA8-62F8-4C29-B346-74F6BD5F0D59}"/>
              </a:ext>
            </a:extLst>
          </p:cNvPr>
          <p:cNvSpPr txBox="1"/>
          <p:nvPr/>
        </p:nvSpPr>
        <p:spPr>
          <a:xfrm>
            <a:off x="2325418" y="5005685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0" dirty="0">
                <a:highlight>
                  <a:srgbClr val="FFFF00"/>
                </a:highlight>
              </a:rPr>
              <a:t>Enable All Interrupts</a:t>
            </a:r>
            <a:endParaRPr lang="zh-CN" altLang="en-US" sz="24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8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8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23" grpId="0" build="p" autoUpdateAnimBg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5" name="Text Box 3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685800" y="1400175"/>
            <a:ext cx="1066800" cy="97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  <a:defRPr/>
            </a:pPr>
            <a:r>
              <a:rPr kumimoji="0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   </a:t>
            </a:r>
            <a:r>
              <a:rPr kumimoji="0"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IE </a:t>
            </a:r>
          </a:p>
          <a:p>
            <a:pPr algn="l">
              <a:lnSpc>
                <a:spcPct val="120000"/>
              </a:lnSpc>
              <a:spcBef>
                <a:spcPct val="0"/>
              </a:spcBef>
              <a:defRPr/>
            </a:pPr>
            <a:r>
              <a:rPr kumimoji="0"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  A8H</a:t>
            </a:r>
            <a:r>
              <a:rPr kumimoji="0" lang="en-US" altLang="zh-CN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      </a:t>
            </a:r>
            <a:r>
              <a:rPr kumimoji="0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       </a:t>
            </a:r>
          </a:p>
        </p:txBody>
      </p:sp>
      <p:grpSp>
        <p:nvGrpSpPr>
          <p:cNvPr id="218116" name="Group 4"/>
          <p:cNvGrpSpPr/>
          <p:nvPr/>
        </p:nvGrpSpPr>
        <p:grpSpPr bwMode="auto">
          <a:xfrm>
            <a:off x="1828800" y="1628775"/>
            <a:ext cx="6265863" cy="466725"/>
            <a:chOff x="1156" y="1253"/>
            <a:chExt cx="3947" cy="294"/>
          </a:xfrm>
        </p:grpSpPr>
        <p:sp>
          <p:nvSpPr>
            <p:cNvPr id="218117" name="Text Box 5"/>
            <p:cNvSpPr txBox="1">
              <a:spLocks noChangeArrowheads="1"/>
            </p:cNvSpPr>
            <p:nvPr/>
          </p:nvSpPr>
          <p:spPr bwMode="auto">
            <a:xfrm>
              <a:off x="1156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 b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</a:t>
              </a: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EA</a:t>
              </a:r>
            </a:p>
          </p:txBody>
        </p:sp>
        <p:sp>
          <p:nvSpPr>
            <p:cNvPr id="218118" name="Text Box 6"/>
            <p:cNvSpPr txBox="1">
              <a:spLocks noChangeArrowheads="1"/>
            </p:cNvSpPr>
            <p:nvPr/>
          </p:nvSpPr>
          <p:spPr bwMode="auto">
            <a:xfrm>
              <a:off x="1655" y="1253"/>
              <a:ext cx="453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 b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 </a:t>
              </a:r>
            </a:p>
          </p:txBody>
        </p:sp>
        <p:sp>
          <p:nvSpPr>
            <p:cNvPr id="218119" name="Text Box 7"/>
            <p:cNvSpPr txBox="1">
              <a:spLocks noChangeArrowheads="1"/>
            </p:cNvSpPr>
            <p:nvPr/>
          </p:nvSpPr>
          <p:spPr bwMode="auto">
            <a:xfrm>
              <a:off x="2109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 b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 </a:t>
              </a:r>
            </a:p>
          </p:txBody>
        </p:sp>
        <p:sp>
          <p:nvSpPr>
            <p:cNvPr id="218120" name="Text Box 8"/>
            <p:cNvSpPr txBox="1">
              <a:spLocks noChangeArrowheads="1"/>
            </p:cNvSpPr>
            <p:nvPr/>
          </p:nvSpPr>
          <p:spPr bwMode="auto">
            <a:xfrm>
              <a:off x="2608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 b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</a:t>
              </a: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ES</a:t>
              </a:r>
            </a:p>
          </p:txBody>
        </p:sp>
        <p:sp>
          <p:nvSpPr>
            <p:cNvPr id="218121" name="Text Box 9"/>
            <p:cNvSpPr txBox="1">
              <a:spLocks noChangeArrowheads="1"/>
            </p:cNvSpPr>
            <p:nvPr/>
          </p:nvSpPr>
          <p:spPr bwMode="auto">
            <a:xfrm>
              <a:off x="3107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ET1</a:t>
              </a:r>
            </a:p>
          </p:txBody>
        </p:sp>
        <p:sp>
          <p:nvSpPr>
            <p:cNvPr id="218122" name="Text Box 10"/>
            <p:cNvSpPr txBox="1">
              <a:spLocks noChangeArrowheads="1"/>
            </p:cNvSpPr>
            <p:nvPr/>
          </p:nvSpPr>
          <p:spPr bwMode="auto">
            <a:xfrm>
              <a:off x="3606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EX1</a:t>
              </a:r>
            </a:p>
          </p:txBody>
        </p:sp>
        <p:sp>
          <p:nvSpPr>
            <p:cNvPr id="218123" name="Text Box 11"/>
            <p:cNvSpPr txBox="1">
              <a:spLocks noChangeArrowheads="1"/>
            </p:cNvSpPr>
            <p:nvPr/>
          </p:nvSpPr>
          <p:spPr bwMode="auto">
            <a:xfrm>
              <a:off x="4105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ET0</a:t>
              </a:r>
            </a:p>
          </p:txBody>
        </p:sp>
        <p:sp>
          <p:nvSpPr>
            <p:cNvPr id="218124" name="Text Box 12"/>
            <p:cNvSpPr txBox="1">
              <a:spLocks noChangeArrowheads="1"/>
            </p:cNvSpPr>
            <p:nvPr/>
          </p:nvSpPr>
          <p:spPr bwMode="auto">
            <a:xfrm>
              <a:off x="4604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EX0</a:t>
              </a:r>
            </a:p>
          </p:txBody>
        </p:sp>
      </p:grpSp>
      <p:sp>
        <p:nvSpPr>
          <p:cNvPr id="218126" name="Text Box 14"/>
          <p:cNvSpPr txBox="1">
            <a:spLocks noChangeArrowheads="1"/>
          </p:cNvSpPr>
          <p:nvPr/>
        </p:nvSpPr>
        <p:spPr bwMode="auto">
          <a:xfrm>
            <a:off x="1295400" y="54864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defRPr/>
            </a:pPr>
            <a:endParaRPr kumimoji="0" lang="zh-CN" altLang="zh-CN" sz="2400" b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8127" name="Text Box 15"/>
          <p:cNvSpPr txBox="1">
            <a:spLocks noChangeArrowheads="1"/>
          </p:cNvSpPr>
          <p:nvPr/>
        </p:nvSpPr>
        <p:spPr bwMode="auto">
          <a:xfrm>
            <a:off x="2133600" y="3011488"/>
            <a:ext cx="4495800" cy="2443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例：允许定时器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T0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中断：</a:t>
            </a:r>
          </a:p>
          <a:p>
            <a:pPr algn="l">
              <a:defRPr/>
            </a:pP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EA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  <a:p>
            <a:pPr algn="l">
              <a:defRPr/>
            </a:pP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ET0 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；     </a:t>
            </a:r>
          </a:p>
          <a:p>
            <a:pPr algn="l">
              <a:defRPr/>
            </a:pP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   或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IE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0x82;</a:t>
            </a:r>
          </a:p>
        </p:txBody>
      </p:sp>
      <p:grpSp>
        <p:nvGrpSpPr>
          <p:cNvPr id="32774" name="Group 16"/>
          <p:cNvGrpSpPr/>
          <p:nvPr/>
        </p:nvGrpSpPr>
        <p:grpSpPr bwMode="auto">
          <a:xfrm>
            <a:off x="2088976" y="1171575"/>
            <a:ext cx="5867400" cy="457200"/>
            <a:chOff x="1248" y="1440"/>
            <a:chExt cx="3696" cy="288"/>
          </a:xfrm>
        </p:grpSpPr>
        <p:sp>
          <p:nvSpPr>
            <p:cNvPr id="218129" name="Text Box 17"/>
            <p:cNvSpPr txBox="1">
              <a:spLocks noChangeArrowheads="1"/>
            </p:cNvSpPr>
            <p:nvPr/>
          </p:nvSpPr>
          <p:spPr bwMode="auto">
            <a:xfrm>
              <a:off x="1248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18130" name="Text Box 18"/>
            <p:cNvSpPr txBox="1">
              <a:spLocks noChangeArrowheads="1"/>
            </p:cNvSpPr>
            <p:nvPr/>
          </p:nvSpPr>
          <p:spPr bwMode="auto">
            <a:xfrm>
              <a:off x="1680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218131" name="Text Box 19"/>
            <p:cNvSpPr txBox="1">
              <a:spLocks noChangeArrowheads="1"/>
            </p:cNvSpPr>
            <p:nvPr/>
          </p:nvSpPr>
          <p:spPr bwMode="auto">
            <a:xfrm>
              <a:off x="2160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18132" name="Text Box 20"/>
            <p:cNvSpPr txBox="1">
              <a:spLocks noChangeArrowheads="1"/>
            </p:cNvSpPr>
            <p:nvPr/>
          </p:nvSpPr>
          <p:spPr bwMode="auto">
            <a:xfrm>
              <a:off x="2640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18133" name="Text Box 21"/>
            <p:cNvSpPr txBox="1">
              <a:spLocks noChangeArrowheads="1"/>
            </p:cNvSpPr>
            <p:nvPr/>
          </p:nvSpPr>
          <p:spPr bwMode="auto">
            <a:xfrm>
              <a:off x="3168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18134" name="Text Box 22"/>
            <p:cNvSpPr txBox="1">
              <a:spLocks noChangeArrowheads="1"/>
            </p:cNvSpPr>
            <p:nvPr/>
          </p:nvSpPr>
          <p:spPr bwMode="auto">
            <a:xfrm>
              <a:off x="3696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18135" name="Text Box 23"/>
            <p:cNvSpPr txBox="1">
              <a:spLocks noChangeArrowheads="1"/>
            </p:cNvSpPr>
            <p:nvPr/>
          </p:nvSpPr>
          <p:spPr bwMode="auto">
            <a:xfrm>
              <a:off x="4176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18136" name="Text Box 24"/>
            <p:cNvSpPr txBox="1">
              <a:spLocks noChangeArrowheads="1"/>
            </p:cNvSpPr>
            <p:nvPr/>
          </p:nvSpPr>
          <p:spPr bwMode="auto">
            <a:xfrm>
              <a:off x="4656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218139" name="Rectangle 27"/>
          <p:cNvSpPr>
            <a:spLocks noChangeArrowheads="1"/>
          </p:cNvSpPr>
          <p:nvPr/>
        </p:nvSpPr>
        <p:spPr bwMode="auto">
          <a:xfrm>
            <a:off x="827087" y="508000"/>
            <a:ext cx="47974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  <a:defRPr/>
            </a:pPr>
            <a:r>
              <a:rPr kumimoji="0" lang="en-US" altLang="zh-CN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kumimoji="0" lang="zh-CN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中断允许寄存器</a:t>
            </a:r>
            <a:r>
              <a:rPr kumimoji="0" lang="en-US" altLang="zh-CN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IE</a:t>
            </a: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855663" y="5641975"/>
            <a:ext cx="5270500" cy="519113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Clr>
                <a:srgbClr val="FF3300"/>
              </a:buClr>
              <a:buFont typeface="Wingdings" panose="05000000000000000000" pitchFamily="2" charset="2"/>
              <a:buChar char="§"/>
              <a:defRPr/>
            </a:pPr>
            <a:r>
              <a:rPr kumimoji="0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注意：该寄存器可以位寻址。</a:t>
            </a: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1608137" y="2130425"/>
            <a:ext cx="12319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FF3300"/>
                </a:solidFill>
                <a:latin typeface="Times New Roman" panose="02020603050405020304" pitchFamily="18" charset="0"/>
              </a:rPr>
              <a:t>中断允许总控制位</a:t>
            </a:r>
          </a:p>
        </p:txBody>
      </p:sp>
      <p:sp>
        <p:nvSpPr>
          <p:cNvPr id="26" name="Text Box 22"/>
          <p:cNvSpPr txBox="1">
            <a:spLocks noChangeArrowheads="1"/>
          </p:cNvSpPr>
          <p:nvPr/>
        </p:nvSpPr>
        <p:spPr bwMode="auto">
          <a:xfrm>
            <a:off x="3790950" y="2095500"/>
            <a:ext cx="1135063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3300"/>
                </a:solidFill>
                <a:latin typeface="Times New Roman" panose="02020603050405020304" pitchFamily="18" charset="0"/>
              </a:rPr>
              <a:t>TX/RX</a:t>
            </a:r>
            <a:r>
              <a:rPr lang="zh-CN" altLang="en-US" sz="1600">
                <a:solidFill>
                  <a:srgbClr val="FF3300"/>
                </a:solidFill>
                <a:latin typeface="Times New Roman" panose="02020603050405020304" pitchFamily="18" charset="0"/>
              </a:rPr>
              <a:t>的中断允许标志</a:t>
            </a:r>
          </a:p>
        </p:txBody>
      </p:sp>
      <p:sp>
        <p:nvSpPr>
          <p:cNvPr id="27" name="Text Box 21"/>
          <p:cNvSpPr txBox="1">
            <a:spLocks noChangeArrowheads="1"/>
          </p:cNvSpPr>
          <p:nvPr/>
        </p:nvSpPr>
        <p:spPr bwMode="auto">
          <a:xfrm>
            <a:off x="4878388" y="2085975"/>
            <a:ext cx="8890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3300"/>
                </a:solidFill>
                <a:latin typeface="Times New Roman" panose="02020603050405020304" pitchFamily="18" charset="0"/>
              </a:rPr>
              <a:t>T1</a:t>
            </a:r>
            <a:r>
              <a:rPr lang="zh-CN" altLang="en-US" sz="1600">
                <a:solidFill>
                  <a:srgbClr val="FF3300"/>
                </a:solidFill>
                <a:latin typeface="Times New Roman" panose="02020603050405020304" pitchFamily="18" charset="0"/>
              </a:rPr>
              <a:t>的中断允许标志</a:t>
            </a:r>
          </a:p>
        </p:txBody>
      </p:sp>
      <p:sp>
        <p:nvSpPr>
          <p:cNvPr id="28" name="Text Box 20"/>
          <p:cNvSpPr txBox="1">
            <a:spLocks noChangeArrowheads="1"/>
          </p:cNvSpPr>
          <p:nvPr/>
        </p:nvSpPr>
        <p:spPr bwMode="auto">
          <a:xfrm>
            <a:off x="5624513" y="2085975"/>
            <a:ext cx="96361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3300"/>
                </a:solidFill>
                <a:latin typeface="Times New Roman" panose="02020603050405020304" pitchFamily="18" charset="0"/>
              </a:rPr>
              <a:t>INT1</a:t>
            </a:r>
            <a:r>
              <a:rPr lang="zh-CN" altLang="en-US" sz="1600">
                <a:solidFill>
                  <a:srgbClr val="FF3300"/>
                </a:solidFill>
                <a:latin typeface="Times New Roman" panose="02020603050405020304" pitchFamily="18" charset="0"/>
              </a:rPr>
              <a:t>的中断允许标志</a:t>
            </a:r>
          </a:p>
        </p:txBody>
      </p:sp>
      <p:sp>
        <p:nvSpPr>
          <p:cNvPr id="29" name="Text Box 9"/>
          <p:cNvSpPr txBox="1">
            <a:spLocks noChangeArrowheads="1"/>
          </p:cNvSpPr>
          <p:nvPr/>
        </p:nvSpPr>
        <p:spPr bwMode="auto">
          <a:xfrm>
            <a:off x="6480175" y="2070100"/>
            <a:ext cx="91122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3300"/>
                </a:solidFill>
                <a:latin typeface="Times New Roman" panose="02020603050405020304" pitchFamily="18" charset="0"/>
              </a:rPr>
              <a:t>T0</a:t>
            </a:r>
            <a:r>
              <a:rPr lang="zh-CN" altLang="en-US" sz="1600">
                <a:solidFill>
                  <a:srgbClr val="FF3300"/>
                </a:solidFill>
                <a:latin typeface="Times New Roman" panose="02020603050405020304" pitchFamily="18" charset="0"/>
              </a:rPr>
              <a:t>的中断允许标志</a:t>
            </a:r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7302500" y="2070100"/>
            <a:ext cx="995363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3300"/>
                </a:solidFill>
                <a:latin typeface="Times New Roman" panose="02020603050405020304" pitchFamily="18" charset="0"/>
              </a:rPr>
              <a:t>INT0</a:t>
            </a:r>
            <a:r>
              <a:rPr lang="zh-CN" altLang="en-US" sz="1600">
                <a:solidFill>
                  <a:srgbClr val="FF3300"/>
                </a:solidFill>
                <a:latin typeface="Times New Roman" panose="02020603050405020304" pitchFamily="18" charset="0"/>
              </a:rPr>
              <a:t>的中断允许标志</a:t>
            </a: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4763" y="2843213"/>
            <a:ext cx="2230437" cy="904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00">
                    <a:alpha val="49019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  <a:defRPr/>
            </a:pPr>
            <a:r>
              <a:rPr lang="en-US" altLang="zh-CN" sz="240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=1</a:t>
            </a:r>
            <a:r>
              <a:rPr lang="zh-CN" altLang="en-US" sz="240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，允许中断</a:t>
            </a:r>
          </a:p>
          <a:p>
            <a:pPr algn="ctr" eaLnBrk="1" hangingPunct="1">
              <a:buClrTx/>
              <a:buSzTx/>
              <a:buFontTx/>
              <a:buNone/>
              <a:defRPr/>
            </a:pPr>
            <a:r>
              <a:rPr lang="en-US" altLang="zh-CN" sz="240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=0</a:t>
            </a:r>
            <a:r>
              <a:rPr lang="zh-CN" altLang="en-US" sz="240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，禁止中断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6218238" y="3294063"/>
            <a:ext cx="2960687" cy="301307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FF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2600" dirty="0">
                <a:solidFill>
                  <a:srgbClr val="0000FF"/>
                </a:solidFill>
                <a:latin typeface="Times New Roman" panose="02020603050405020304" pitchFamily="18" charset="0"/>
              </a:rPr>
              <a:t>注意</a:t>
            </a:r>
            <a:r>
              <a:rPr lang="en-US" altLang="zh-CN" sz="2600" dirty="0">
                <a:solidFill>
                  <a:srgbClr val="0000FF"/>
                </a:solidFill>
                <a:latin typeface="Times New Roman" panose="02020603050405020304" pitchFamily="18" charset="0"/>
              </a:rPr>
              <a:t>】</a:t>
            </a:r>
            <a:endParaRPr lang="zh-CN" altLang="en-US" sz="26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r>
              <a:rPr lang="zh-CN" altLang="en-US" sz="2600" dirty="0">
                <a:latin typeface="Times New Roman" panose="02020603050405020304" pitchFamily="18" charset="0"/>
              </a:rPr>
              <a:t>禁止中断并不能阻止中断请求标志值的硬件刷新；</a:t>
            </a:r>
          </a:p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r>
              <a:rPr lang="zh-CN" altLang="en-US" sz="2600" dirty="0">
                <a:latin typeface="Times New Roman" panose="02020603050405020304" pitchFamily="18" charset="0"/>
              </a:rPr>
              <a:t>单片机复位后，</a:t>
            </a:r>
            <a:r>
              <a:rPr lang="en-US" altLang="zh-CN" sz="2600" dirty="0">
                <a:latin typeface="Times New Roman" panose="02020603050405020304" pitchFamily="18" charset="0"/>
              </a:rPr>
              <a:t>IE</a:t>
            </a:r>
            <a:r>
              <a:rPr lang="zh-CN" altLang="en-US" sz="2600" dirty="0">
                <a:latin typeface="Times New Roman" panose="02020603050405020304" pitchFamily="18" charset="0"/>
              </a:rPr>
              <a:t>的初值为</a:t>
            </a:r>
            <a:r>
              <a:rPr lang="en-US" altLang="zh-CN" sz="2600" dirty="0">
                <a:latin typeface="Times New Roman" panose="02020603050405020304" pitchFamily="18" charset="0"/>
              </a:rPr>
              <a:t>0——</a:t>
            </a:r>
            <a:r>
              <a:rPr lang="zh-CN" altLang="en-US" sz="2600" dirty="0">
                <a:latin typeface="Times New Roman" panose="02020603050405020304" pitchFamily="18" charset="0"/>
              </a:rPr>
              <a:t>默认为整体禁止中断。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85800" y="116632"/>
            <a:ext cx="7774632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对中断系统所有中断以及某个中断源的开放和屏蔽是由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IE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控制的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21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18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18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18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18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5" grpId="0"/>
      <p:bldP spid="218127" grpId="0" build="p" autoUpdateAnimBg="0"/>
      <p:bldP spid="24" grpId="0" animBg="1" autoUpdateAnimBg="0"/>
      <p:bldP spid="25" grpId="0"/>
      <p:bldP spid="26" grpId="0"/>
      <p:bldP spid="27" grpId="0"/>
      <p:bldP spid="28" grpId="0"/>
      <p:bldP spid="29" grpId="0"/>
      <p:bldP spid="30" grpId="0"/>
      <p:bldP spid="31" grpId="0" animBg="1"/>
      <p:bldP spid="32" grpId="0" animBg="1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595313" y="113507"/>
            <a:ext cx="7543800" cy="8556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600" b="1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MCS-51</a:t>
            </a:r>
            <a:r>
              <a:rPr lang="zh-CN" altLang="en-US" sz="3600" b="1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的中断系统</a:t>
            </a:r>
            <a:r>
              <a:rPr lang="en-US" altLang="zh-CN" sz="3600" b="1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3600" b="1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中断优先级</a:t>
            </a:r>
          </a:p>
        </p:txBody>
      </p:sp>
      <p:sp>
        <p:nvSpPr>
          <p:cNvPr id="210947" name="Rectangle 3"/>
          <p:cNvSpPr>
            <a:spLocks noChangeArrowheads="1"/>
          </p:cNvSpPr>
          <p:nvPr/>
        </p:nvSpPr>
        <p:spPr bwMode="auto">
          <a:xfrm>
            <a:off x="468313" y="1196975"/>
            <a:ext cx="8229600" cy="31242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zh-CN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0948" name="Line 4"/>
          <p:cNvSpPr>
            <a:spLocks noChangeShapeType="1"/>
          </p:cNvSpPr>
          <p:nvPr/>
        </p:nvSpPr>
        <p:spPr bwMode="auto">
          <a:xfrm>
            <a:off x="8164513" y="1958975"/>
            <a:ext cx="0" cy="2133600"/>
          </a:xfrm>
          <a:prstGeom prst="line">
            <a:avLst/>
          </a:prstGeom>
          <a:noFill/>
          <a:ln w="76200" cap="sq">
            <a:solidFill>
              <a:srgbClr val="66CCFF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0949" name="Text Box 5"/>
          <p:cNvSpPr txBox="1">
            <a:spLocks noChangeArrowheads="1"/>
          </p:cNvSpPr>
          <p:nvPr/>
        </p:nvSpPr>
        <p:spPr bwMode="auto">
          <a:xfrm>
            <a:off x="7821613" y="1333500"/>
            <a:ext cx="723900" cy="409575"/>
          </a:xfrm>
          <a:prstGeom prst="rect">
            <a:avLst/>
          </a:prstGeom>
          <a:noFill/>
          <a:ln w="12700" cap="sq">
            <a:solidFill>
              <a:srgbClr val="CCEC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00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</a:p>
        </p:txBody>
      </p:sp>
      <p:sp>
        <p:nvSpPr>
          <p:cNvPr id="210950" name="Text Box 6"/>
          <p:cNvSpPr txBox="1">
            <a:spLocks noChangeArrowheads="1"/>
          </p:cNvSpPr>
          <p:nvPr/>
        </p:nvSpPr>
        <p:spPr bwMode="auto">
          <a:xfrm>
            <a:off x="8164513" y="2338388"/>
            <a:ext cx="6096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zh-CN" altLang="en-US" sz="24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主程序</a:t>
            </a:r>
          </a:p>
        </p:txBody>
      </p:sp>
      <p:sp>
        <p:nvSpPr>
          <p:cNvPr id="210951" name="Line 7"/>
          <p:cNvSpPr>
            <a:spLocks noChangeShapeType="1"/>
          </p:cNvSpPr>
          <p:nvPr/>
        </p:nvSpPr>
        <p:spPr bwMode="auto">
          <a:xfrm>
            <a:off x="2843213" y="2111375"/>
            <a:ext cx="4572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0952" name="Line 8"/>
          <p:cNvSpPr>
            <a:spLocks noChangeShapeType="1"/>
          </p:cNvSpPr>
          <p:nvPr/>
        </p:nvSpPr>
        <p:spPr bwMode="auto">
          <a:xfrm>
            <a:off x="2843213" y="2492375"/>
            <a:ext cx="4572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0953" name="Line 9"/>
          <p:cNvSpPr>
            <a:spLocks noChangeShapeType="1"/>
          </p:cNvSpPr>
          <p:nvPr/>
        </p:nvSpPr>
        <p:spPr bwMode="auto">
          <a:xfrm>
            <a:off x="2843213" y="2873375"/>
            <a:ext cx="4572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0954" name="Line 10"/>
          <p:cNvSpPr>
            <a:spLocks noChangeShapeType="1"/>
          </p:cNvSpPr>
          <p:nvPr/>
        </p:nvSpPr>
        <p:spPr bwMode="auto">
          <a:xfrm>
            <a:off x="2843213" y="3254375"/>
            <a:ext cx="4572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0955" name="Line 11"/>
          <p:cNvSpPr>
            <a:spLocks noChangeShapeType="1"/>
          </p:cNvSpPr>
          <p:nvPr/>
        </p:nvSpPr>
        <p:spPr bwMode="auto">
          <a:xfrm>
            <a:off x="2843213" y="3711575"/>
            <a:ext cx="4572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0956" name="Text Box 12"/>
          <p:cNvSpPr txBox="1">
            <a:spLocks noChangeArrowheads="1"/>
          </p:cNvSpPr>
          <p:nvPr/>
        </p:nvSpPr>
        <p:spPr bwMode="auto">
          <a:xfrm>
            <a:off x="2005013" y="1920875"/>
            <a:ext cx="9144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INT0</a:t>
            </a:r>
          </a:p>
        </p:txBody>
      </p:sp>
      <p:sp>
        <p:nvSpPr>
          <p:cNvPr id="210957" name="Text Box 13"/>
          <p:cNvSpPr txBox="1">
            <a:spLocks noChangeArrowheads="1"/>
          </p:cNvSpPr>
          <p:nvPr/>
        </p:nvSpPr>
        <p:spPr bwMode="auto">
          <a:xfrm>
            <a:off x="2017713" y="2679700"/>
            <a:ext cx="9144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INT1</a:t>
            </a:r>
          </a:p>
        </p:txBody>
      </p:sp>
      <p:sp>
        <p:nvSpPr>
          <p:cNvPr id="210958" name="Text Box 14"/>
          <p:cNvSpPr txBox="1">
            <a:spLocks noChangeArrowheads="1"/>
          </p:cNvSpPr>
          <p:nvPr/>
        </p:nvSpPr>
        <p:spPr bwMode="auto">
          <a:xfrm>
            <a:off x="2005013" y="2324100"/>
            <a:ext cx="9144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T0</a:t>
            </a:r>
          </a:p>
        </p:txBody>
      </p:sp>
      <p:sp>
        <p:nvSpPr>
          <p:cNvPr id="210959" name="Text Box 15"/>
          <p:cNvSpPr txBox="1">
            <a:spLocks noChangeArrowheads="1"/>
          </p:cNvSpPr>
          <p:nvPr/>
        </p:nvSpPr>
        <p:spPr bwMode="auto">
          <a:xfrm>
            <a:off x="2005013" y="3060700"/>
            <a:ext cx="9144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T1</a:t>
            </a:r>
          </a:p>
        </p:txBody>
      </p:sp>
      <p:sp>
        <p:nvSpPr>
          <p:cNvPr id="210960" name="Text Box 16"/>
          <p:cNvSpPr txBox="1">
            <a:spLocks noChangeArrowheads="1"/>
          </p:cNvSpPr>
          <p:nvPr/>
        </p:nvSpPr>
        <p:spPr bwMode="auto">
          <a:xfrm>
            <a:off x="1992313" y="3505200"/>
            <a:ext cx="9144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zh-CN" altLang="en-US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串口</a:t>
            </a:r>
          </a:p>
        </p:txBody>
      </p:sp>
      <p:sp>
        <p:nvSpPr>
          <p:cNvPr id="210961" name="Text Box 17"/>
          <p:cNvSpPr txBox="1">
            <a:spLocks noChangeArrowheads="1"/>
          </p:cNvSpPr>
          <p:nvPr/>
        </p:nvSpPr>
        <p:spPr bwMode="auto">
          <a:xfrm>
            <a:off x="3833813" y="1882775"/>
            <a:ext cx="7620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IE0</a:t>
            </a:r>
          </a:p>
        </p:txBody>
      </p:sp>
      <p:sp>
        <p:nvSpPr>
          <p:cNvPr id="210962" name="Text Box 18"/>
          <p:cNvSpPr txBox="1">
            <a:spLocks noChangeArrowheads="1"/>
          </p:cNvSpPr>
          <p:nvPr/>
        </p:nvSpPr>
        <p:spPr bwMode="auto">
          <a:xfrm>
            <a:off x="3833813" y="2247900"/>
            <a:ext cx="7620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TF0</a:t>
            </a:r>
          </a:p>
        </p:txBody>
      </p:sp>
      <p:sp>
        <p:nvSpPr>
          <p:cNvPr id="210963" name="Text Box 19"/>
          <p:cNvSpPr txBox="1">
            <a:spLocks noChangeArrowheads="1"/>
          </p:cNvSpPr>
          <p:nvPr/>
        </p:nvSpPr>
        <p:spPr bwMode="auto">
          <a:xfrm>
            <a:off x="3833813" y="2628900"/>
            <a:ext cx="7620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IE1</a:t>
            </a:r>
          </a:p>
        </p:txBody>
      </p:sp>
      <p:sp>
        <p:nvSpPr>
          <p:cNvPr id="210964" name="Text Box 20"/>
          <p:cNvSpPr txBox="1">
            <a:spLocks noChangeArrowheads="1"/>
          </p:cNvSpPr>
          <p:nvPr/>
        </p:nvSpPr>
        <p:spPr bwMode="auto">
          <a:xfrm>
            <a:off x="3833813" y="3009900"/>
            <a:ext cx="7620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TF1</a:t>
            </a:r>
          </a:p>
        </p:txBody>
      </p:sp>
      <p:grpSp>
        <p:nvGrpSpPr>
          <p:cNvPr id="22549" name="Group 21"/>
          <p:cNvGrpSpPr/>
          <p:nvPr/>
        </p:nvGrpSpPr>
        <p:grpSpPr bwMode="auto">
          <a:xfrm>
            <a:off x="3681413" y="3406775"/>
            <a:ext cx="914400" cy="731838"/>
            <a:chOff x="2448" y="2784"/>
            <a:chExt cx="576" cy="461"/>
          </a:xfrm>
        </p:grpSpPr>
        <p:sp>
          <p:nvSpPr>
            <p:cNvPr id="210966" name="Text Box 22"/>
            <p:cNvSpPr txBox="1">
              <a:spLocks noChangeArrowheads="1"/>
            </p:cNvSpPr>
            <p:nvPr/>
          </p:nvSpPr>
          <p:spPr bwMode="auto">
            <a:xfrm>
              <a:off x="2544" y="2784"/>
              <a:ext cx="48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2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TI</a:t>
              </a:r>
            </a:p>
          </p:txBody>
        </p:sp>
        <p:sp>
          <p:nvSpPr>
            <p:cNvPr id="210967" name="Text Box 23"/>
            <p:cNvSpPr txBox="1">
              <a:spLocks noChangeArrowheads="1"/>
            </p:cNvSpPr>
            <p:nvPr/>
          </p:nvSpPr>
          <p:spPr bwMode="auto">
            <a:xfrm>
              <a:off x="2544" y="2976"/>
              <a:ext cx="48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RI</a:t>
              </a:r>
            </a:p>
          </p:txBody>
        </p:sp>
        <p:sp>
          <p:nvSpPr>
            <p:cNvPr id="210968" name="AutoShape 24"/>
            <p:cNvSpPr/>
            <p:nvPr/>
          </p:nvSpPr>
          <p:spPr bwMode="auto">
            <a:xfrm>
              <a:off x="2448" y="2880"/>
              <a:ext cx="48" cy="24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10969" name="Text Box 25"/>
          <p:cNvSpPr txBox="1">
            <a:spLocks noChangeArrowheads="1"/>
          </p:cNvSpPr>
          <p:nvPr/>
        </p:nvSpPr>
        <p:spPr bwMode="auto">
          <a:xfrm>
            <a:off x="2081213" y="1349375"/>
            <a:ext cx="1066800" cy="379413"/>
          </a:xfrm>
          <a:prstGeom prst="rect">
            <a:avLst/>
          </a:prstGeom>
          <a:noFill/>
          <a:ln w="12700" cap="sq">
            <a:solidFill>
              <a:srgbClr val="CCEC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zh-CN" altLang="en-US" sz="180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中断源</a:t>
            </a:r>
          </a:p>
        </p:txBody>
      </p:sp>
      <p:sp>
        <p:nvSpPr>
          <p:cNvPr id="210970" name="Text Box 26"/>
          <p:cNvSpPr txBox="1">
            <a:spLocks noChangeArrowheads="1"/>
          </p:cNvSpPr>
          <p:nvPr/>
        </p:nvSpPr>
        <p:spPr bwMode="auto">
          <a:xfrm>
            <a:off x="3605213" y="1349375"/>
            <a:ext cx="1524000" cy="379413"/>
          </a:xfrm>
          <a:prstGeom prst="rect">
            <a:avLst/>
          </a:prstGeom>
          <a:noFill/>
          <a:ln w="12700" cap="sq">
            <a:solidFill>
              <a:srgbClr val="CCEC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zh-CN" altLang="en-US" sz="180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中断标志位</a:t>
            </a:r>
          </a:p>
        </p:txBody>
      </p:sp>
      <p:sp>
        <p:nvSpPr>
          <p:cNvPr id="210971" name="Text Box 27"/>
          <p:cNvSpPr txBox="1">
            <a:spLocks noChangeArrowheads="1"/>
          </p:cNvSpPr>
          <p:nvPr/>
        </p:nvSpPr>
        <p:spPr bwMode="auto">
          <a:xfrm>
            <a:off x="684213" y="4365625"/>
            <a:ext cx="7772400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单片机中有两个中断优先级，即高优先级中断和低优先级中断，前者优先权高于后者（在程序中设置，相应位</a:t>
            </a:r>
            <a:r>
              <a:rPr kumimoji="0"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=1</a:t>
            </a:r>
            <a:r>
              <a:rPr kumimoji="0"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，为高优先级）；</a:t>
            </a:r>
          </a:p>
          <a:p>
            <a:pPr algn="l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Char char="§"/>
              <a:defRPr/>
            </a:pPr>
            <a:r>
              <a:rPr kumimoji="0"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同一优先级别的中断源按照</a:t>
            </a:r>
            <a:r>
              <a:rPr kumimoji="0" lang="zh-CN" altLang="en-US" sz="2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自然优先级</a:t>
            </a:r>
            <a:r>
              <a:rPr kumimoji="0"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顺序确定优先级别（硬件形成，无法改变）。</a:t>
            </a:r>
          </a:p>
        </p:txBody>
      </p:sp>
      <p:sp>
        <p:nvSpPr>
          <p:cNvPr id="210972" name="Text Box 28"/>
          <p:cNvSpPr txBox="1">
            <a:spLocks noChangeArrowheads="1"/>
          </p:cNvSpPr>
          <p:nvPr/>
        </p:nvSpPr>
        <p:spPr bwMode="auto">
          <a:xfrm>
            <a:off x="5345113" y="1349375"/>
            <a:ext cx="1143000" cy="379413"/>
          </a:xfrm>
          <a:prstGeom prst="rect">
            <a:avLst/>
          </a:prstGeom>
          <a:noFill/>
          <a:ln w="12700" cap="sq">
            <a:solidFill>
              <a:srgbClr val="CCEC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zh-CN" altLang="en-US" sz="180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中断允许</a:t>
            </a:r>
          </a:p>
        </p:txBody>
      </p:sp>
      <p:grpSp>
        <p:nvGrpSpPr>
          <p:cNvPr id="22554" name="Group 29"/>
          <p:cNvGrpSpPr/>
          <p:nvPr/>
        </p:nvGrpSpPr>
        <p:grpSpPr bwMode="auto">
          <a:xfrm>
            <a:off x="5330825" y="1928813"/>
            <a:ext cx="1081088" cy="144462"/>
            <a:chOff x="3111" y="2135"/>
            <a:chExt cx="681" cy="91"/>
          </a:xfrm>
        </p:grpSpPr>
        <p:sp>
          <p:nvSpPr>
            <p:cNvPr id="210974" name="Line 30"/>
            <p:cNvSpPr>
              <a:spLocks noChangeShapeType="1"/>
            </p:cNvSpPr>
            <p:nvPr/>
          </p:nvSpPr>
          <p:spPr bwMode="auto">
            <a:xfrm>
              <a:off x="3111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0975" name="Line 31"/>
            <p:cNvSpPr>
              <a:spLocks noChangeShapeType="1"/>
            </p:cNvSpPr>
            <p:nvPr/>
          </p:nvSpPr>
          <p:spPr bwMode="auto">
            <a:xfrm>
              <a:off x="3338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0976" name="Line 32"/>
            <p:cNvSpPr>
              <a:spLocks noChangeShapeType="1"/>
            </p:cNvSpPr>
            <p:nvPr/>
          </p:nvSpPr>
          <p:spPr bwMode="auto">
            <a:xfrm>
              <a:off x="3610" y="222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0977" name="Line 33"/>
            <p:cNvSpPr>
              <a:spLocks noChangeShapeType="1"/>
            </p:cNvSpPr>
            <p:nvPr/>
          </p:nvSpPr>
          <p:spPr bwMode="auto">
            <a:xfrm flipV="1">
              <a:off x="3247" y="2180"/>
              <a:ext cx="91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0978" name="Line 34"/>
            <p:cNvSpPr>
              <a:spLocks noChangeShapeType="1"/>
            </p:cNvSpPr>
            <p:nvPr/>
          </p:nvSpPr>
          <p:spPr bwMode="auto">
            <a:xfrm flipV="1">
              <a:off x="3474" y="2135"/>
              <a:ext cx="136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10979" name="Line 35"/>
          <p:cNvSpPr>
            <a:spLocks noChangeShapeType="1"/>
          </p:cNvSpPr>
          <p:nvPr/>
        </p:nvSpPr>
        <p:spPr bwMode="auto">
          <a:xfrm>
            <a:off x="6051550" y="1800225"/>
            <a:ext cx="0" cy="2368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0980" name="Text Box 36"/>
          <p:cNvSpPr txBox="1">
            <a:spLocks noChangeArrowheads="1"/>
          </p:cNvSpPr>
          <p:nvPr/>
        </p:nvSpPr>
        <p:spPr bwMode="auto">
          <a:xfrm>
            <a:off x="4686300" y="3500438"/>
            <a:ext cx="566738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ES</a:t>
            </a:r>
          </a:p>
        </p:txBody>
      </p:sp>
      <p:sp>
        <p:nvSpPr>
          <p:cNvPr id="210981" name="Text Box 37"/>
          <p:cNvSpPr txBox="1">
            <a:spLocks noChangeArrowheads="1"/>
          </p:cNvSpPr>
          <p:nvPr/>
        </p:nvSpPr>
        <p:spPr bwMode="auto">
          <a:xfrm>
            <a:off x="4659313" y="2232025"/>
            <a:ext cx="75565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ET0</a:t>
            </a:r>
          </a:p>
        </p:txBody>
      </p:sp>
      <p:sp>
        <p:nvSpPr>
          <p:cNvPr id="210982" name="Text Box 38"/>
          <p:cNvSpPr txBox="1">
            <a:spLocks noChangeArrowheads="1"/>
          </p:cNvSpPr>
          <p:nvPr/>
        </p:nvSpPr>
        <p:spPr bwMode="auto">
          <a:xfrm>
            <a:off x="4659313" y="1841500"/>
            <a:ext cx="8493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EX0</a:t>
            </a:r>
          </a:p>
        </p:txBody>
      </p:sp>
      <p:sp>
        <p:nvSpPr>
          <p:cNvPr id="210983" name="Text Box 39"/>
          <p:cNvSpPr txBox="1">
            <a:spLocks noChangeArrowheads="1"/>
          </p:cNvSpPr>
          <p:nvPr/>
        </p:nvSpPr>
        <p:spPr bwMode="auto">
          <a:xfrm>
            <a:off x="4659313" y="2625725"/>
            <a:ext cx="75565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EX1</a:t>
            </a:r>
          </a:p>
        </p:txBody>
      </p:sp>
      <p:sp>
        <p:nvSpPr>
          <p:cNvPr id="210984" name="Text Box 40"/>
          <p:cNvSpPr txBox="1">
            <a:spLocks noChangeArrowheads="1"/>
          </p:cNvSpPr>
          <p:nvPr/>
        </p:nvSpPr>
        <p:spPr bwMode="auto">
          <a:xfrm>
            <a:off x="4672013" y="3041650"/>
            <a:ext cx="75565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ET1</a:t>
            </a:r>
          </a:p>
        </p:txBody>
      </p:sp>
      <p:sp>
        <p:nvSpPr>
          <p:cNvPr id="210985" name="Text Box 41"/>
          <p:cNvSpPr txBox="1">
            <a:spLocks noChangeArrowheads="1"/>
          </p:cNvSpPr>
          <p:nvPr/>
        </p:nvSpPr>
        <p:spPr bwMode="auto">
          <a:xfrm>
            <a:off x="6030913" y="3863975"/>
            <a:ext cx="5032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EA</a:t>
            </a:r>
          </a:p>
        </p:txBody>
      </p:sp>
      <p:grpSp>
        <p:nvGrpSpPr>
          <p:cNvPr id="22562" name="Group 42"/>
          <p:cNvGrpSpPr/>
          <p:nvPr/>
        </p:nvGrpSpPr>
        <p:grpSpPr bwMode="auto">
          <a:xfrm>
            <a:off x="5330825" y="2322513"/>
            <a:ext cx="1081088" cy="144462"/>
            <a:chOff x="3111" y="2135"/>
            <a:chExt cx="681" cy="91"/>
          </a:xfrm>
        </p:grpSpPr>
        <p:sp>
          <p:nvSpPr>
            <p:cNvPr id="210987" name="Line 43"/>
            <p:cNvSpPr>
              <a:spLocks noChangeShapeType="1"/>
            </p:cNvSpPr>
            <p:nvPr/>
          </p:nvSpPr>
          <p:spPr bwMode="auto">
            <a:xfrm>
              <a:off x="3111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0988" name="Line 44"/>
            <p:cNvSpPr>
              <a:spLocks noChangeShapeType="1"/>
            </p:cNvSpPr>
            <p:nvPr/>
          </p:nvSpPr>
          <p:spPr bwMode="auto">
            <a:xfrm>
              <a:off x="3338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0989" name="Line 45"/>
            <p:cNvSpPr>
              <a:spLocks noChangeShapeType="1"/>
            </p:cNvSpPr>
            <p:nvPr/>
          </p:nvSpPr>
          <p:spPr bwMode="auto">
            <a:xfrm>
              <a:off x="3610" y="222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0990" name="Line 46"/>
            <p:cNvSpPr>
              <a:spLocks noChangeShapeType="1"/>
            </p:cNvSpPr>
            <p:nvPr/>
          </p:nvSpPr>
          <p:spPr bwMode="auto">
            <a:xfrm flipV="1">
              <a:off x="3247" y="2180"/>
              <a:ext cx="91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0991" name="Line 47"/>
            <p:cNvSpPr>
              <a:spLocks noChangeShapeType="1"/>
            </p:cNvSpPr>
            <p:nvPr/>
          </p:nvSpPr>
          <p:spPr bwMode="auto">
            <a:xfrm flipV="1">
              <a:off x="3474" y="2135"/>
              <a:ext cx="136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2563" name="Group 48"/>
          <p:cNvGrpSpPr/>
          <p:nvPr/>
        </p:nvGrpSpPr>
        <p:grpSpPr bwMode="auto">
          <a:xfrm>
            <a:off x="5345113" y="2720975"/>
            <a:ext cx="1081087" cy="144463"/>
            <a:chOff x="3111" y="2135"/>
            <a:chExt cx="681" cy="91"/>
          </a:xfrm>
        </p:grpSpPr>
        <p:sp>
          <p:nvSpPr>
            <p:cNvPr id="210993" name="Line 49"/>
            <p:cNvSpPr>
              <a:spLocks noChangeShapeType="1"/>
            </p:cNvSpPr>
            <p:nvPr/>
          </p:nvSpPr>
          <p:spPr bwMode="auto">
            <a:xfrm>
              <a:off x="3111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0994" name="Line 50"/>
            <p:cNvSpPr>
              <a:spLocks noChangeShapeType="1"/>
            </p:cNvSpPr>
            <p:nvPr/>
          </p:nvSpPr>
          <p:spPr bwMode="auto">
            <a:xfrm>
              <a:off x="3338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0995" name="Line 51"/>
            <p:cNvSpPr>
              <a:spLocks noChangeShapeType="1"/>
            </p:cNvSpPr>
            <p:nvPr/>
          </p:nvSpPr>
          <p:spPr bwMode="auto">
            <a:xfrm>
              <a:off x="3610" y="222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0996" name="Line 52"/>
            <p:cNvSpPr>
              <a:spLocks noChangeShapeType="1"/>
            </p:cNvSpPr>
            <p:nvPr/>
          </p:nvSpPr>
          <p:spPr bwMode="auto">
            <a:xfrm flipV="1">
              <a:off x="3247" y="2180"/>
              <a:ext cx="91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0997" name="Line 53"/>
            <p:cNvSpPr>
              <a:spLocks noChangeShapeType="1"/>
            </p:cNvSpPr>
            <p:nvPr/>
          </p:nvSpPr>
          <p:spPr bwMode="auto">
            <a:xfrm flipV="1">
              <a:off x="3474" y="2135"/>
              <a:ext cx="136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2564" name="Group 54"/>
          <p:cNvGrpSpPr/>
          <p:nvPr/>
        </p:nvGrpSpPr>
        <p:grpSpPr bwMode="auto">
          <a:xfrm>
            <a:off x="5345113" y="3101975"/>
            <a:ext cx="1081087" cy="144463"/>
            <a:chOff x="3111" y="2135"/>
            <a:chExt cx="681" cy="91"/>
          </a:xfrm>
        </p:grpSpPr>
        <p:sp>
          <p:nvSpPr>
            <p:cNvPr id="210999" name="Line 55"/>
            <p:cNvSpPr>
              <a:spLocks noChangeShapeType="1"/>
            </p:cNvSpPr>
            <p:nvPr/>
          </p:nvSpPr>
          <p:spPr bwMode="auto">
            <a:xfrm>
              <a:off x="3111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1000" name="Line 56"/>
            <p:cNvSpPr>
              <a:spLocks noChangeShapeType="1"/>
            </p:cNvSpPr>
            <p:nvPr/>
          </p:nvSpPr>
          <p:spPr bwMode="auto">
            <a:xfrm>
              <a:off x="3338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1001" name="Line 57"/>
            <p:cNvSpPr>
              <a:spLocks noChangeShapeType="1"/>
            </p:cNvSpPr>
            <p:nvPr/>
          </p:nvSpPr>
          <p:spPr bwMode="auto">
            <a:xfrm>
              <a:off x="3610" y="222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1002" name="Line 58"/>
            <p:cNvSpPr>
              <a:spLocks noChangeShapeType="1"/>
            </p:cNvSpPr>
            <p:nvPr/>
          </p:nvSpPr>
          <p:spPr bwMode="auto">
            <a:xfrm flipV="1">
              <a:off x="3247" y="2180"/>
              <a:ext cx="91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1003" name="Line 59"/>
            <p:cNvSpPr>
              <a:spLocks noChangeShapeType="1"/>
            </p:cNvSpPr>
            <p:nvPr/>
          </p:nvSpPr>
          <p:spPr bwMode="auto">
            <a:xfrm flipV="1">
              <a:off x="3474" y="2135"/>
              <a:ext cx="136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2565" name="Group 60"/>
          <p:cNvGrpSpPr/>
          <p:nvPr/>
        </p:nvGrpSpPr>
        <p:grpSpPr bwMode="auto">
          <a:xfrm>
            <a:off x="5345113" y="3567113"/>
            <a:ext cx="1081087" cy="144462"/>
            <a:chOff x="3111" y="2135"/>
            <a:chExt cx="681" cy="91"/>
          </a:xfrm>
        </p:grpSpPr>
        <p:sp>
          <p:nvSpPr>
            <p:cNvPr id="211005" name="Line 61"/>
            <p:cNvSpPr>
              <a:spLocks noChangeShapeType="1"/>
            </p:cNvSpPr>
            <p:nvPr/>
          </p:nvSpPr>
          <p:spPr bwMode="auto">
            <a:xfrm>
              <a:off x="3111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1006" name="Line 62"/>
            <p:cNvSpPr>
              <a:spLocks noChangeShapeType="1"/>
            </p:cNvSpPr>
            <p:nvPr/>
          </p:nvSpPr>
          <p:spPr bwMode="auto">
            <a:xfrm>
              <a:off x="3338" y="222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1007" name="Line 63"/>
            <p:cNvSpPr>
              <a:spLocks noChangeShapeType="1"/>
            </p:cNvSpPr>
            <p:nvPr/>
          </p:nvSpPr>
          <p:spPr bwMode="auto">
            <a:xfrm>
              <a:off x="3610" y="222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1008" name="Line 64"/>
            <p:cNvSpPr>
              <a:spLocks noChangeShapeType="1"/>
            </p:cNvSpPr>
            <p:nvPr/>
          </p:nvSpPr>
          <p:spPr bwMode="auto">
            <a:xfrm flipV="1">
              <a:off x="3247" y="2180"/>
              <a:ext cx="91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1009" name="Line 65"/>
            <p:cNvSpPr>
              <a:spLocks noChangeShapeType="1"/>
            </p:cNvSpPr>
            <p:nvPr/>
          </p:nvSpPr>
          <p:spPr bwMode="auto">
            <a:xfrm flipV="1">
              <a:off x="3474" y="2135"/>
              <a:ext cx="136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11010" name="Text Box 66"/>
          <p:cNvSpPr txBox="1">
            <a:spLocks noChangeArrowheads="1"/>
          </p:cNvSpPr>
          <p:nvPr/>
        </p:nvSpPr>
        <p:spPr bwMode="auto">
          <a:xfrm>
            <a:off x="544513" y="1338263"/>
            <a:ext cx="1447800" cy="379412"/>
          </a:xfrm>
          <a:prstGeom prst="rect">
            <a:avLst/>
          </a:prstGeom>
          <a:noFill/>
          <a:ln w="12700" cap="sq">
            <a:solidFill>
              <a:srgbClr val="CCEC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zh-CN" altLang="en-US" sz="180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自然优先级</a:t>
            </a:r>
          </a:p>
        </p:txBody>
      </p:sp>
      <p:grpSp>
        <p:nvGrpSpPr>
          <p:cNvPr id="211011" name="Group 67"/>
          <p:cNvGrpSpPr/>
          <p:nvPr/>
        </p:nvGrpSpPr>
        <p:grpSpPr bwMode="auto">
          <a:xfrm>
            <a:off x="1077913" y="1806575"/>
            <a:ext cx="622300" cy="2286000"/>
            <a:chOff x="624" y="1776"/>
            <a:chExt cx="392" cy="1440"/>
          </a:xfrm>
        </p:grpSpPr>
        <p:sp>
          <p:nvSpPr>
            <p:cNvPr id="211012" name="Line 68"/>
            <p:cNvSpPr>
              <a:spLocks noChangeShapeType="1"/>
            </p:cNvSpPr>
            <p:nvPr/>
          </p:nvSpPr>
          <p:spPr bwMode="auto">
            <a:xfrm>
              <a:off x="768" y="2064"/>
              <a:ext cx="0" cy="912"/>
            </a:xfrm>
            <a:prstGeom prst="line">
              <a:avLst/>
            </a:prstGeom>
            <a:noFill/>
            <a:ln w="76200" cap="sq">
              <a:solidFill>
                <a:srgbClr val="0000FF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1013" name="Text Box 69"/>
            <p:cNvSpPr txBox="1">
              <a:spLocks noChangeArrowheads="1"/>
            </p:cNvSpPr>
            <p:nvPr/>
          </p:nvSpPr>
          <p:spPr bwMode="auto">
            <a:xfrm>
              <a:off x="632" y="1776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zh-CN" altLang="en-US" sz="2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高</a:t>
              </a:r>
            </a:p>
          </p:txBody>
        </p:sp>
        <p:sp>
          <p:nvSpPr>
            <p:cNvPr id="211014" name="Text Box 70"/>
            <p:cNvSpPr txBox="1">
              <a:spLocks noChangeArrowheads="1"/>
            </p:cNvSpPr>
            <p:nvPr/>
          </p:nvSpPr>
          <p:spPr bwMode="auto">
            <a:xfrm>
              <a:off x="624" y="2966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zh-CN" altLang="en-US" sz="2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低</a:t>
              </a:r>
            </a:p>
          </p:txBody>
        </p:sp>
      </p:grpSp>
      <p:sp>
        <p:nvSpPr>
          <p:cNvPr id="211015" name="Text Box 71"/>
          <p:cNvSpPr txBox="1">
            <a:spLocks noChangeArrowheads="1"/>
          </p:cNvSpPr>
          <p:nvPr/>
        </p:nvSpPr>
        <p:spPr bwMode="auto">
          <a:xfrm>
            <a:off x="6564313" y="1349375"/>
            <a:ext cx="1143000" cy="379413"/>
          </a:xfrm>
          <a:prstGeom prst="rect">
            <a:avLst/>
          </a:prstGeom>
          <a:noFill/>
          <a:ln w="12700" cap="sq">
            <a:solidFill>
              <a:srgbClr val="CCEC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zh-CN" altLang="en-US" sz="180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优先控制</a:t>
            </a:r>
          </a:p>
        </p:txBody>
      </p:sp>
      <p:sp>
        <p:nvSpPr>
          <p:cNvPr id="211016" name="Text Box 72"/>
          <p:cNvSpPr txBox="1">
            <a:spLocks noChangeArrowheads="1"/>
          </p:cNvSpPr>
          <p:nvPr/>
        </p:nvSpPr>
        <p:spPr bwMode="auto">
          <a:xfrm>
            <a:off x="6659563" y="3506788"/>
            <a:ext cx="60642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PS</a:t>
            </a:r>
          </a:p>
        </p:txBody>
      </p:sp>
      <p:sp>
        <p:nvSpPr>
          <p:cNvPr id="211017" name="Text Box 73"/>
          <p:cNvSpPr txBox="1">
            <a:spLocks noChangeArrowheads="1"/>
          </p:cNvSpPr>
          <p:nvPr/>
        </p:nvSpPr>
        <p:spPr bwMode="auto">
          <a:xfrm>
            <a:off x="6659563" y="2236788"/>
            <a:ext cx="80962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PT0</a:t>
            </a:r>
          </a:p>
        </p:txBody>
      </p:sp>
      <p:sp>
        <p:nvSpPr>
          <p:cNvPr id="211018" name="Text Box 74"/>
          <p:cNvSpPr txBox="1">
            <a:spLocks noChangeArrowheads="1"/>
          </p:cNvSpPr>
          <p:nvPr/>
        </p:nvSpPr>
        <p:spPr bwMode="auto">
          <a:xfrm>
            <a:off x="6659563" y="1874838"/>
            <a:ext cx="909637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PX0</a:t>
            </a:r>
          </a:p>
        </p:txBody>
      </p:sp>
      <p:sp>
        <p:nvSpPr>
          <p:cNvPr id="211019" name="Text Box 75"/>
          <p:cNvSpPr txBox="1">
            <a:spLocks noChangeArrowheads="1"/>
          </p:cNvSpPr>
          <p:nvPr/>
        </p:nvSpPr>
        <p:spPr bwMode="auto">
          <a:xfrm>
            <a:off x="6659563" y="2630488"/>
            <a:ext cx="80962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PX1</a:t>
            </a:r>
          </a:p>
        </p:txBody>
      </p:sp>
      <p:sp>
        <p:nvSpPr>
          <p:cNvPr id="211020" name="Text Box 76"/>
          <p:cNvSpPr txBox="1">
            <a:spLocks noChangeArrowheads="1"/>
          </p:cNvSpPr>
          <p:nvPr/>
        </p:nvSpPr>
        <p:spPr bwMode="auto">
          <a:xfrm>
            <a:off x="6672263" y="3074988"/>
            <a:ext cx="80962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0" lang="en-US" altLang="zh-CN" sz="220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PT1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0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0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0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0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1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1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71" grpId="0" build="p" autoUpdateAnimBg="0"/>
      <p:bldP spid="211010" grpId="0" animBg="1" autoUpdateAnimBg="0"/>
      <p:bldP spid="211015" grpId="0" animBg="1" autoUpdateAnimBg="0"/>
      <p:bldP spid="211016" grpId="0" autoUpdateAnimBg="0"/>
      <p:bldP spid="211017" grpId="0" autoUpdateAnimBg="0"/>
      <p:bldP spid="211018" grpId="0" autoUpdateAnimBg="0"/>
      <p:bldP spid="211019" grpId="0" autoUpdateAnimBg="0"/>
      <p:bldP spid="21102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7" name="Rectangle 5"/>
          <p:cNvSpPr>
            <a:spLocks noChangeArrowheads="1"/>
          </p:cNvSpPr>
          <p:nvPr/>
        </p:nvSpPr>
        <p:spPr bwMode="auto">
          <a:xfrm>
            <a:off x="611188" y="333375"/>
            <a:ext cx="7577137" cy="80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98394" bIns="98394" anchor="ctr">
            <a:sp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altLang="zh-CN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4.</a:t>
            </a:r>
            <a:r>
              <a:rPr lang="zh-CN" alt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中断优先级控制寄存器（</a:t>
            </a:r>
            <a:r>
              <a:rPr lang="en-US" altLang="zh-CN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574675" y="1139825"/>
            <a:ext cx="8569325" cy="1137047"/>
          </a:xfrm>
        </p:spPr>
        <p:txBody>
          <a:bodyPr/>
          <a:lstStyle/>
          <a:p>
            <a:pPr eaLnBrk="1" hangingPunct="1">
              <a:spcBef>
                <a:spcPts val="1200"/>
              </a:spcBef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MCS-51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中断系统有两个优先级：高级和低级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字节地址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sz="2800" b="1" u="sng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B8H </a:t>
            </a:r>
            <a:r>
              <a:rPr lang="zh-CN" altLang="en-US" sz="2800" b="1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可位寻址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1200"/>
              </a:spcBef>
              <a:defRPr/>
            </a:pPr>
            <a:endParaRPr lang="en-US" altLang="zh-CN" sz="2800" b="1" u="sng" dirty="0">
              <a:solidFill>
                <a:schemeClr val="hlin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1200"/>
              </a:spcBef>
              <a:defRPr/>
            </a:pP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" name="Group 3"/>
          <p:cNvGrpSpPr/>
          <p:nvPr/>
        </p:nvGrpSpPr>
        <p:grpSpPr bwMode="auto">
          <a:xfrm>
            <a:off x="1913940" y="2616597"/>
            <a:ext cx="6265863" cy="466725"/>
            <a:chOff x="1156" y="1253"/>
            <a:chExt cx="3947" cy="294"/>
          </a:xfrm>
        </p:grpSpPr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1156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 </a:t>
              </a:r>
            </a:p>
          </p:txBody>
        </p:sp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1655" y="1253"/>
              <a:ext cx="453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 </a:t>
              </a: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2109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 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2608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 PS</a:t>
              </a: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3107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PT1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3606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PX1</a:t>
              </a: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4105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PT0</a:t>
              </a: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4604" y="1253"/>
              <a:ext cx="499" cy="294"/>
            </a:xfrm>
            <a:prstGeom prst="rect">
              <a:avLst/>
            </a:prstGeom>
            <a:solidFill>
              <a:srgbClr val="FF99CC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创艺简黑体" pitchFamily="2" charset="-122"/>
                  <a:sym typeface="Wingdings 2" pitchFamily="18" charset="2"/>
                </a:rPr>
                <a:t>PX0</a:t>
              </a:r>
            </a:p>
          </p:txBody>
        </p:sp>
      </p:grpSp>
      <p:sp>
        <p:nvSpPr>
          <p:cNvPr id="13" name="Text Box 13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61415" y="2257822"/>
            <a:ext cx="1066800" cy="97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  <a:defRPr/>
            </a:pPr>
            <a:r>
              <a:rPr kumimoji="0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   </a:t>
            </a:r>
            <a:r>
              <a:rPr kumimoji="0"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IP </a:t>
            </a:r>
          </a:p>
          <a:p>
            <a:pPr algn="l">
              <a:lnSpc>
                <a:spcPct val="120000"/>
              </a:lnSpc>
              <a:spcBef>
                <a:spcPct val="0"/>
              </a:spcBef>
              <a:defRPr/>
            </a:pPr>
            <a:r>
              <a:rPr kumimoji="0"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  B8H</a:t>
            </a:r>
            <a:r>
              <a:rPr kumimoji="0" lang="en-US" altLang="zh-CN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      </a:t>
            </a:r>
            <a:r>
              <a:rPr kumimoji="0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创艺简黑体" pitchFamily="2" charset="-122"/>
                <a:sym typeface="Wingdings 2" pitchFamily="18" charset="2"/>
              </a:rPr>
              <a:t>       </a:t>
            </a:r>
          </a:p>
        </p:txBody>
      </p:sp>
      <p:grpSp>
        <p:nvGrpSpPr>
          <p:cNvPr id="14" name="Group 14"/>
          <p:cNvGrpSpPr/>
          <p:nvPr/>
        </p:nvGrpSpPr>
        <p:grpSpPr bwMode="auto">
          <a:xfrm>
            <a:off x="2129840" y="2184797"/>
            <a:ext cx="5867400" cy="457200"/>
            <a:chOff x="1248" y="1440"/>
            <a:chExt cx="3696" cy="288"/>
          </a:xfrm>
        </p:grpSpPr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1248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1680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2160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2640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3168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3696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4176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4656" y="14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kumimoji="0"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23" name="Text Box 2"/>
          <p:cNvSpPr txBox="1">
            <a:spLocks noChangeArrowheads="1"/>
          </p:cNvSpPr>
          <p:nvPr/>
        </p:nvSpPr>
        <p:spPr bwMode="auto">
          <a:xfrm>
            <a:off x="606244" y="3423047"/>
            <a:ext cx="7710171" cy="2322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 IP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为中断优先级寄存器，用户可用软件设定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/>
            </a:pP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 相应位为</a:t>
            </a:r>
            <a:r>
              <a:rPr kumimoji="0"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1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，对应的中断源被设置为</a:t>
            </a:r>
            <a:r>
              <a:rPr kumimoji="0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高优先级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，</a:t>
            </a:r>
            <a:endParaRPr kumimoji="0"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sym typeface="Wingdings 2" pitchFamily="18" charset="2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  <a:buClr>
                <a:srgbClr val="FF3300"/>
              </a:buClr>
              <a:defRPr/>
            </a:pP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  相应位为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0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，对应的中断源被设置为低优先级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/>
            </a:pP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ingdings 2" pitchFamily="18" charset="2"/>
              </a:rPr>
              <a:t> 系统复位时，均为低优先级</a:t>
            </a:r>
            <a:endParaRPr kumimoji="0"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80924" y="5846432"/>
            <a:ext cx="7774632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思考题：已知外部中断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和串行口中断为高级，其它为低级，则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IP=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0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08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8" grpId="0" build="p"/>
      <p:bldP spid="13" grpId="0"/>
      <p:bldP spid="23" grpId="0" build="p" autoUpdateAnimBg="0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Text Box 4"/>
          <p:cNvSpPr txBox="1">
            <a:spLocks noChangeArrowheads="1"/>
          </p:cNvSpPr>
          <p:nvPr/>
        </p:nvSpPr>
        <p:spPr bwMode="auto">
          <a:xfrm>
            <a:off x="827088" y="1130300"/>
            <a:ext cx="8137525" cy="4677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对同时发生多个中断申请时：</a:t>
            </a:r>
          </a:p>
          <a:p>
            <a:pPr algn="l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☞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不同优先级的中断同时申请</a:t>
            </a:r>
          </a:p>
          <a:p>
            <a:pPr algn="l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	——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先高后低</a:t>
            </a:r>
          </a:p>
          <a:p>
            <a:pPr algn="l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☞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相同优先级的中断同时申请</a:t>
            </a:r>
          </a:p>
          <a:p>
            <a:pPr lvl="1" algn="l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	——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按序执行</a:t>
            </a:r>
            <a:r>
              <a:rPr lang="zh-CN" altLang="en-US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（自然优先级顺序）</a:t>
            </a:r>
          </a:p>
          <a:p>
            <a:pPr algn="l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☞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正处理低优先级中断又接到高级别中断</a:t>
            </a:r>
          </a:p>
          <a:p>
            <a:pPr algn="l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	——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高打断低</a:t>
            </a:r>
          </a:p>
          <a:p>
            <a:pPr algn="l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☞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正处理高优先级中断又接到低级别中断</a:t>
            </a:r>
          </a:p>
          <a:p>
            <a:pPr algn="l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	——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高不理低</a:t>
            </a:r>
          </a:p>
        </p:txBody>
      </p:sp>
      <p:sp>
        <p:nvSpPr>
          <p:cNvPr id="133125" name="Text Box 5"/>
          <p:cNvSpPr txBox="1">
            <a:spLocks noChangeArrowheads="1"/>
          </p:cNvSpPr>
          <p:nvPr/>
        </p:nvSpPr>
        <p:spPr bwMode="auto">
          <a:xfrm>
            <a:off x="935038" y="404495"/>
            <a:ext cx="72739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zh-CN" altLang="en-US" sz="3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中断优先级原则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683568" y="5758422"/>
            <a:ext cx="82089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同级的中断请求不能打断正在运行的同级中断函数。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3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3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3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3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33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33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33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33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331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4" grpId="0" build="p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EA18CFE-B391-4170-9FD1-CA3C443FE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85174"/>
            <a:ext cx="8001000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32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中断标志汇总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3C98C0A-4904-4753-9BCB-C5E85EFA2EED}"/>
              </a:ext>
            </a:extLst>
          </p:cNvPr>
          <p:cNvGrpSpPr/>
          <p:nvPr/>
        </p:nvGrpSpPr>
        <p:grpSpPr>
          <a:xfrm>
            <a:off x="683568" y="1772816"/>
            <a:ext cx="8148637" cy="1928812"/>
            <a:chOff x="827584" y="1988840"/>
            <a:chExt cx="8148637" cy="1928812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E7942886-0827-4EAF-BE55-84B8D4D6116E}"/>
                </a:ext>
              </a:extLst>
            </p:cNvPr>
            <p:cNvGrpSpPr/>
            <p:nvPr/>
          </p:nvGrpSpPr>
          <p:grpSpPr>
            <a:xfrm>
              <a:off x="827584" y="1988840"/>
              <a:ext cx="8148637" cy="1928812"/>
              <a:chOff x="563563" y="1970088"/>
              <a:chExt cx="8148637" cy="1928812"/>
            </a:xfrm>
          </p:grpSpPr>
          <p:grpSp>
            <p:nvGrpSpPr>
              <p:cNvPr id="18" name="Group 5">
                <a:extLst>
                  <a:ext uri="{FF2B5EF4-FFF2-40B4-BE49-F238E27FC236}">
                    <a16:creationId xmlns:a16="http://schemas.microsoft.com/office/drawing/2014/main" id="{BC4E9AAC-EAA1-42BF-9162-9EA585530D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3563" y="1970088"/>
                <a:ext cx="8148637" cy="1928812"/>
                <a:chOff x="395" y="2653"/>
                <a:chExt cx="5133" cy="1215"/>
              </a:xfrm>
            </p:grpSpPr>
            <p:sp>
              <p:nvSpPr>
                <p:cNvPr id="21" name="Text Box 6">
                  <a:extLst>
                    <a:ext uri="{FF2B5EF4-FFF2-40B4-BE49-F238E27FC236}">
                      <a16:creationId xmlns:a16="http://schemas.microsoft.com/office/drawing/2014/main" id="{3301D7A0-AF48-41CB-BE3B-7DEEF4DD755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6" y="2655"/>
                  <a:ext cx="5127" cy="1203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zh-CN" altLang="en-US" sz="1400" dirty="0"/>
                    <a:t>中断源名称        中断请求标志       中断允许标志       中断优先标志      中断触发方式标志       中断号</a:t>
                  </a:r>
                </a:p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zh-CN" altLang="en-US" sz="1400" dirty="0"/>
                    <a:t>     </a:t>
                  </a:r>
                  <a:r>
                    <a:rPr lang="en-US" altLang="zh-CN" sz="1400" dirty="0"/>
                    <a:t>INT0                      IE0                         EX0                         PX0                         IT0                            0 </a:t>
                  </a:r>
                </a:p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400" dirty="0"/>
                    <a:t>     T0                          TF0                         ET0                         PT0                                                             1</a:t>
                  </a:r>
                </a:p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400" dirty="0"/>
                    <a:t>     INT1                      IE1                          EX1                        PX1                           IT1                            2</a:t>
                  </a:r>
                </a:p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400" dirty="0"/>
                    <a:t>     T1                          TF1                          ET1                        PT1                                                             3</a:t>
                  </a:r>
                </a:p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400" dirty="0"/>
                    <a:t>     TI/RI                      TI/RI                        ES                          PS                                                               4</a:t>
                  </a:r>
                </a:p>
              </p:txBody>
            </p:sp>
            <p:sp>
              <p:nvSpPr>
                <p:cNvPr id="22" name="Line 7">
                  <a:extLst>
                    <a:ext uri="{FF2B5EF4-FFF2-40B4-BE49-F238E27FC236}">
                      <a16:creationId xmlns:a16="http://schemas.microsoft.com/office/drawing/2014/main" id="{A49F754D-1EAB-4B64-B18E-7E8508A115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5" y="2857"/>
                  <a:ext cx="513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23" name="Line 8">
                  <a:extLst>
                    <a:ext uri="{FF2B5EF4-FFF2-40B4-BE49-F238E27FC236}">
                      <a16:creationId xmlns:a16="http://schemas.microsoft.com/office/drawing/2014/main" id="{087D838E-2B80-4361-8F36-AC9EB003FE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96" y="2665"/>
                  <a:ext cx="0" cy="1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" name="Line 9">
                  <a:extLst>
                    <a:ext uri="{FF2B5EF4-FFF2-40B4-BE49-F238E27FC236}">
                      <a16:creationId xmlns:a16="http://schemas.microsoft.com/office/drawing/2014/main" id="{462A4216-145A-4A6C-84EC-B8CA186EAC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04" y="2670"/>
                  <a:ext cx="0" cy="1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" name="Line 10">
                  <a:extLst>
                    <a:ext uri="{FF2B5EF4-FFF2-40B4-BE49-F238E27FC236}">
                      <a16:creationId xmlns:a16="http://schemas.microsoft.com/office/drawing/2014/main" id="{3DC709C6-6F9E-4EFE-976D-407CE1D00A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65" y="2653"/>
                  <a:ext cx="0" cy="1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" name="Line 11">
                  <a:extLst>
                    <a:ext uri="{FF2B5EF4-FFF2-40B4-BE49-F238E27FC236}">
                      <a16:creationId xmlns:a16="http://schemas.microsoft.com/office/drawing/2014/main" id="{B56F0A02-5429-472E-8EA3-C228D04F16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27" y="2676"/>
                  <a:ext cx="0" cy="1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" name="Line 12">
                  <a:extLst>
                    <a:ext uri="{FF2B5EF4-FFF2-40B4-BE49-F238E27FC236}">
                      <a16:creationId xmlns:a16="http://schemas.microsoft.com/office/drawing/2014/main" id="{5F435320-BE32-4E0E-A86F-B29FF29258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31" y="2665"/>
                  <a:ext cx="0" cy="1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Line 13">
                <a:extLst>
                  <a:ext uri="{FF2B5EF4-FFF2-40B4-BE49-F238E27FC236}">
                    <a16:creationId xmlns:a16="http://schemas.microsoft.com/office/drawing/2014/main" id="{B7B3EA94-8A17-4808-9196-050F5D17B8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4422" y="2346008"/>
                <a:ext cx="3600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14">
                <a:extLst>
                  <a:ext uri="{FF2B5EF4-FFF2-40B4-BE49-F238E27FC236}">
                    <a16:creationId xmlns:a16="http://schemas.microsoft.com/office/drawing/2014/main" id="{117944C4-3AE7-4768-9CD8-EBA35282BE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4422" y="2973070"/>
                <a:ext cx="3600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" name="Line 15">
              <a:extLst>
                <a:ext uri="{FF2B5EF4-FFF2-40B4-BE49-F238E27FC236}">
                  <a16:creationId xmlns:a16="http://schemas.microsoft.com/office/drawing/2014/main" id="{A27F61EF-D74F-42BD-BF21-CF223C258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0930" y="2779415"/>
              <a:ext cx="233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6">
              <a:extLst>
                <a:ext uri="{FF2B5EF4-FFF2-40B4-BE49-F238E27FC236}">
                  <a16:creationId xmlns:a16="http://schemas.microsoft.com/office/drawing/2014/main" id="{9670D094-2696-4CD0-82C6-D2994E59C1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41406" y="3425527"/>
              <a:ext cx="2333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7">
              <a:extLst>
                <a:ext uri="{FF2B5EF4-FFF2-40B4-BE49-F238E27FC236}">
                  <a16:creationId xmlns:a16="http://schemas.microsoft.com/office/drawing/2014/main" id="{FF80CDC3-DFC4-4F87-A5C5-05C88E32A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0931" y="3757315"/>
              <a:ext cx="2333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98983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1268413"/>
            <a:ext cx="7543800" cy="5114925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在中断服务程序编程时</a:t>
            </a:r>
            <a:r>
              <a:rPr lang="en-US" altLang="zh-C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3000" b="1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首先要对中断系统进行初始化</a:t>
            </a:r>
            <a:r>
              <a:rPr lang="en-US" altLang="zh-C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也就是对几个特殊功能寄存器的有关控制位进行赋值。</a:t>
            </a:r>
          </a:p>
          <a:p>
            <a:pPr algn="just" eaLnBrk="1" hangingPunct="1">
              <a:defRPr/>
            </a:pPr>
            <a:r>
              <a:rPr lang="zh-CN" altLang="en-US" sz="3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初始化的内容包括：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开总中断和相应中断源的中断；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设置所用中断源的优先级</a:t>
            </a:r>
            <a:r>
              <a:rPr lang="en-US" altLang="zh-C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(3)</a:t>
            </a:r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若是外部中断</a:t>
            </a:r>
            <a:r>
              <a:rPr lang="en-US" altLang="zh-C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则应规定是低电平触发还是下降沿触发。</a:t>
            </a:r>
          </a:p>
        </p:txBody>
      </p:sp>
      <p:sp>
        <p:nvSpPr>
          <p:cNvPr id="193540" name="Rectangle 4"/>
          <p:cNvSpPr>
            <a:spLocks noChangeArrowheads="1"/>
          </p:cNvSpPr>
          <p:nvPr/>
        </p:nvSpPr>
        <p:spPr bwMode="auto">
          <a:xfrm>
            <a:off x="539750" y="371359"/>
            <a:ext cx="3960813" cy="752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8394" bIns="98394" anchor="ctr">
            <a:sp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altLang="zh-CN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中断初始化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3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3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3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3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3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3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3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3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8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11188" y="538163"/>
            <a:ext cx="8278812" cy="4340225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：若规定外部中断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为电平触发方式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高优先级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试写出有关的初始化程序。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SETB   EA    ;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开中断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SETB   EX1   ;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允许外中断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SETB   PX1   ;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外中断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定为高优先级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CLR     IT1   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电平触发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endParaRPr lang="zh-CN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55650" y="1844675"/>
            <a:ext cx="3384550" cy="24622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defRPr/>
            </a:pP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defRPr/>
            </a:pP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defRPr/>
            </a:pP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2276" name="Text Box 4"/>
          <p:cNvSpPr txBox="1">
            <a:spLocks noChangeArrowheads="1"/>
          </p:cNvSpPr>
          <p:nvPr/>
        </p:nvSpPr>
        <p:spPr bwMode="auto">
          <a:xfrm>
            <a:off x="696383" y="1844824"/>
            <a:ext cx="3384550" cy="24431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720090" algn="l">
              <a:defRPr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EA=1;</a:t>
            </a:r>
          </a:p>
          <a:p>
            <a:pPr marL="720090" algn="l">
              <a:defRPr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EX1=1;</a:t>
            </a:r>
          </a:p>
          <a:p>
            <a:pPr marL="720090" algn="l">
              <a:defRPr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PX1=1;</a:t>
            </a:r>
          </a:p>
          <a:p>
            <a:pPr marL="720090" algn="l">
              <a:defRPr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IT1=0;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2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2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82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2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82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8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4" grpId="0" build="p"/>
      <p:bldP spid="18227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39939" name="Rectangle 7"/>
          <p:cNvSpPr>
            <a:spLocks noChangeArrowheads="1"/>
          </p:cNvSpPr>
          <p:nvPr/>
        </p:nvSpPr>
        <p:spPr bwMode="auto">
          <a:xfrm>
            <a:off x="457200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39940" name="Rectangle 10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80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137232" name="Rectangle 16"/>
          <p:cNvSpPr>
            <a:spLocks noChangeArrowheads="1"/>
          </p:cNvSpPr>
          <p:nvPr/>
        </p:nvSpPr>
        <p:spPr bwMode="auto">
          <a:xfrm>
            <a:off x="1045369" y="2942560"/>
            <a:ext cx="36528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则初始化程序为：</a:t>
            </a:r>
          </a:p>
        </p:txBody>
      </p:sp>
      <p:sp>
        <p:nvSpPr>
          <p:cNvPr id="137233" name="Rectangle 17"/>
          <p:cNvSpPr>
            <a:spLocks noChangeArrowheads="1"/>
          </p:cNvSpPr>
          <p:nvPr/>
        </p:nvSpPr>
        <p:spPr bwMode="auto">
          <a:xfrm>
            <a:off x="1386681" y="3690937"/>
            <a:ext cx="4713288" cy="1771650"/>
          </a:xfrm>
          <a:prstGeom prst="rect">
            <a:avLst/>
          </a:prstGeom>
          <a:solidFill>
            <a:srgbClr val="CCFFFF"/>
          </a:solidFill>
          <a:ln w="31750">
            <a:solidFill>
              <a:srgbClr val="6600CC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1600200" algn="l">
              <a:spcBef>
                <a:spcPct val="0"/>
              </a:spcBef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1728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1080135">
              <a:defRPr/>
            </a:pP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IP</a:t>
            </a:r>
            <a:r>
              <a:rPr lang="zh-CN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＝</a:t>
            </a: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0x04; </a:t>
            </a:r>
          </a:p>
          <a:p>
            <a:pPr indent="1080135">
              <a:defRPr/>
            </a:pP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TCON=0x01;</a:t>
            </a:r>
          </a:p>
          <a:p>
            <a:pPr indent="1080135" eaLnBrk="0" hangingPunct="0">
              <a:defRPr/>
            </a:pP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IE=0x85;</a:t>
            </a:r>
          </a:p>
        </p:txBody>
      </p:sp>
      <p:grpSp>
        <p:nvGrpSpPr>
          <p:cNvPr id="39943" name="Group 22"/>
          <p:cNvGrpSpPr/>
          <p:nvPr/>
        </p:nvGrpSpPr>
        <p:grpSpPr bwMode="auto">
          <a:xfrm>
            <a:off x="984250" y="557213"/>
            <a:ext cx="7175500" cy="2062162"/>
            <a:chOff x="657" y="793"/>
            <a:chExt cx="4520" cy="1299"/>
          </a:xfrm>
        </p:grpSpPr>
        <p:sp>
          <p:nvSpPr>
            <p:cNvPr id="137219" name="Rectangle 3"/>
            <p:cNvSpPr>
              <a:spLocks noChangeArrowheads="1"/>
            </p:cNvSpPr>
            <p:nvPr/>
          </p:nvSpPr>
          <p:spPr bwMode="auto">
            <a:xfrm>
              <a:off x="657" y="793"/>
              <a:ext cx="4520" cy="1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l">
                <a:spcBef>
                  <a:spcPct val="0"/>
                </a:spcBef>
                <a:defRPr/>
              </a:pPr>
              <a:r>
                <a:rPr lang="zh-CN" altLang="en-US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例</a:t>
              </a:r>
              <a:r>
                <a:rPr lang="en-US" altLang="zh-CN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：使用外部中断</a:t>
              </a:r>
              <a:r>
                <a:rPr lang="en-US" altLang="zh-CN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zh-CN" altLang="en-US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（</a:t>
              </a:r>
              <a:r>
                <a:rPr kumimoji="0" lang="en-US" altLang="zh-CN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INT0</a:t>
              </a:r>
              <a:r>
                <a:rPr lang="zh-CN" altLang="en-US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）和外部中断</a:t>
              </a:r>
              <a:r>
                <a:rPr lang="en-US" altLang="zh-CN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（</a:t>
              </a:r>
              <a:r>
                <a:rPr kumimoji="0" lang="en-US" altLang="zh-CN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INT1</a:t>
              </a:r>
              <a:r>
                <a:rPr lang="zh-CN" altLang="en-US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）， </a:t>
              </a:r>
              <a:r>
                <a:rPr kumimoji="0" lang="en-US" altLang="zh-CN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INT1</a:t>
              </a:r>
              <a:r>
                <a:rPr lang="zh-CN" altLang="en-US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为高优先级，电平触发方式， </a:t>
              </a:r>
              <a:r>
                <a:rPr kumimoji="0" lang="en-US" altLang="zh-CN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INT0</a:t>
              </a:r>
              <a:r>
                <a:rPr lang="zh-CN" altLang="en-US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为低优先级，下降沿触发方式。写出初始化程序段。</a:t>
              </a:r>
            </a:p>
          </p:txBody>
        </p:sp>
        <p:sp>
          <p:nvSpPr>
            <p:cNvPr id="137234" name="Line 18"/>
            <p:cNvSpPr>
              <a:spLocks noChangeShapeType="1"/>
            </p:cNvSpPr>
            <p:nvPr/>
          </p:nvSpPr>
          <p:spPr bwMode="auto">
            <a:xfrm>
              <a:off x="3266" y="878"/>
              <a:ext cx="59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7235" name="Line 19"/>
            <p:cNvSpPr>
              <a:spLocks noChangeShapeType="1"/>
            </p:cNvSpPr>
            <p:nvPr/>
          </p:nvSpPr>
          <p:spPr bwMode="auto">
            <a:xfrm>
              <a:off x="2509" y="1175"/>
              <a:ext cx="52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7236" name="Line 20"/>
            <p:cNvSpPr>
              <a:spLocks noChangeShapeType="1"/>
            </p:cNvSpPr>
            <p:nvPr/>
          </p:nvSpPr>
          <p:spPr bwMode="auto">
            <a:xfrm>
              <a:off x="2168" y="1468"/>
              <a:ext cx="454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7237" name="Line 21"/>
            <p:cNvSpPr>
              <a:spLocks noChangeShapeType="1"/>
            </p:cNvSpPr>
            <p:nvPr/>
          </p:nvSpPr>
          <p:spPr bwMode="auto">
            <a:xfrm>
              <a:off x="1329" y="1175"/>
              <a:ext cx="68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7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7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32" grpId="0"/>
      <p:bldP spid="1372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ChangeArrowheads="1"/>
          </p:cNvSpPr>
          <p:nvPr/>
        </p:nvSpPr>
        <p:spPr bwMode="auto">
          <a:xfrm>
            <a:off x="1619250" y="1412875"/>
            <a:ext cx="4968875" cy="3532188"/>
          </a:xfrm>
          <a:prstGeom prst="rect">
            <a:avLst/>
          </a:prstGeom>
          <a:solidFill>
            <a:srgbClr val="CCFFCC"/>
          </a:solidFill>
          <a:ln w="25400">
            <a:solidFill>
              <a:srgbClr val="6600CC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16002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1172845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1172845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117284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11728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1728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1728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1728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1728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1728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IP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＝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0x04;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TCON=0x01;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EA=1;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EX</a:t>
            </a:r>
            <a:r>
              <a:rPr lang="en-US" altLang="zh-CN" baseline="-30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=1;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EX</a:t>
            </a:r>
            <a:r>
              <a:rPr lang="en-US" altLang="zh-CN" baseline="-30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=1;</a:t>
            </a:r>
            <a:endParaRPr lang="en-US" altLang="zh-CN" baseline="-30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4819" name="Rectangle 5"/>
          <p:cNvSpPr>
            <a:spLocks noChangeArrowheads="1"/>
          </p:cNvSpPr>
          <p:nvPr/>
        </p:nvSpPr>
        <p:spPr bwMode="auto">
          <a:xfrm>
            <a:off x="1116013" y="568325"/>
            <a:ext cx="5461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或使用位操作指令如下：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82372f5-b022-4068-aadb-da5fd7c4bc66"/>
  <p:tag name="COMMONDATA" val="eyJoZGlkIjoiZDlhNzhkNzI3NzgzMjVmNTVjOTdmNzdiNmViZTJjM2M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楷体_GB2312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213</TotalTime>
  <Words>2266</Words>
  <Application>Microsoft Office PowerPoint</Application>
  <PresentationFormat>全屏显示(4:3)</PresentationFormat>
  <Paragraphs>387</Paragraphs>
  <Slides>30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3" baseType="lpstr">
      <vt:lpstr>黑体</vt:lpstr>
      <vt:lpstr>华文中宋</vt:lpstr>
      <vt:lpstr>楷体</vt:lpstr>
      <vt:lpstr>楷体_GB2312</vt:lpstr>
      <vt:lpstr>宋体</vt:lpstr>
      <vt:lpstr>Arial</vt:lpstr>
      <vt:lpstr>Comic Sans MS</vt:lpstr>
      <vt:lpstr>Tahoma</vt:lpstr>
      <vt:lpstr>Times New Roman</vt:lpstr>
      <vt:lpstr>Verdana</vt:lpstr>
      <vt:lpstr>Wingdings</vt:lpstr>
      <vt:lpstr>Blends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二、MCS-51的中断请求标志（单片机如何得知中断信号出现？）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SCON寄存器</vt:lpstr>
      <vt:lpstr>PowerPoint 演示文稿</vt:lpstr>
      <vt:lpstr> MCS-51的中断系统——中断允许</vt:lpstr>
      <vt:lpstr>PowerPoint 演示文稿</vt:lpstr>
      <vt:lpstr> MCS-51的中断系统——中断优先级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   MCS-51中断系统</dc:title>
  <dc:creator>autumn</dc:creator>
  <cp:lastModifiedBy>HEBUT</cp:lastModifiedBy>
  <cp:revision>290</cp:revision>
  <dcterms:created xsi:type="dcterms:W3CDTF">2005-05-25T12:30:00Z</dcterms:created>
  <dcterms:modified xsi:type="dcterms:W3CDTF">2025-03-24T03:58:46Z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FA181139A4DC44EFA75FFE68633B0B37</vt:lpwstr>
  </property>
  <property fmtid="{D5CDD505-2E9C-101B-9397-08002B2CF9AE}" pid="3" name="KSOProductBuildVer">
    <vt:lpwstr>2052-11.1.0.12358</vt:lpwstr>
  </property>
</Properties>
</file>