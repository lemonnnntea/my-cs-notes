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68" r:id="rId2"/>
    <p:sldId id="336" r:id="rId3"/>
    <p:sldId id="261" r:id="rId4"/>
    <p:sldId id="337" r:id="rId5"/>
    <p:sldId id="285" r:id="rId6"/>
    <p:sldId id="339" r:id="rId7"/>
    <p:sldId id="286" r:id="rId8"/>
    <p:sldId id="338" r:id="rId9"/>
    <p:sldId id="330" r:id="rId10"/>
    <p:sldId id="287" r:id="rId11"/>
    <p:sldId id="289" r:id="rId12"/>
    <p:sldId id="290" r:id="rId13"/>
    <p:sldId id="349" r:id="rId14"/>
    <p:sldId id="340" r:id="rId15"/>
    <p:sldId id="270" r:id="rId16"/>
  </p:sldIdLst>
  <p:sldSz cx="9144000" cy="6858000" type="screen4x3"/>
  <p:notesSz cx="6858000" cy="9144000"/>
  <p:custDataLst>
    <p:tags r:id="rId1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FF"/>
    <a:srgbClr val="0000FF"/>
    <a:srgbClr val="000066"/>
    <a:srgbClr val="66FFFF"/>
    <a:srgbClr val="6600CC"/>
    <a:srgbClr val="FF0000"/>
    <a:srgbClr val="FFC91D"/>
    <a:srgbClr val="0099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0" autoAdjust="0"/>
    <p:restoredTop sz="94574" autoAdjust="0"/>
  </p:normalViewPr>
  <p:slideViewPr>
    <p:cSldViewPr>
      <p:cViewPr varScale="1">
        <p:scale>
          <a:sx n="63" d="100"/>
          <a:sy n="63" d="100"/>
        </p:scale>
        <p:origin x="151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94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1FB1461-366F-4089-8A47-BE45ABDBA0DB}" type="datetimeFigureOut">
              <a:rPr lang="zh-CN" altLang="en-US"/>
              <a:t>2025/4/20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0F9C8D81-62A7-4A02-816E-053129DB066E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fld id="{591F46E3-B05F-4252-B43F-97C36B497C9F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5894068-81C4-4B21-9F05-3E5D655CC18A}" type="slidenum">
              <a:rPr lang="en-US" altLang="zh-CN">
                <a:cs typeface="Tahoma" panose="020B0604030504040204" pitchFamily="34" charset="0"/>
              </a:rPr>
              <a:t>1</a:t>
            </a:fld>
            <a:endParaRPr lang="en-US" altLang="zh-CN">
              <a:cs typeface="Tahoma" panose="020B0604030504040204" pitchFamily="34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 descr="CITTEXT"/>
          <p:cNvSpPr/>
          <p:nvPr userDrawn="1"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2147483646 h 3840"/>
              <a:gd name="T2" fmla="*/ 0 w 1824"/>
              <a:gd name="T3" fmla="*/ 0 h 3840"/>
              <a:gd name="T4" fmla="*/ 2147483646 w 1824"/>
              <a:gd name="T5" fmla="*/ 0 h 3840"/>
              <a:gd name="T6" fmla="*/ 2147483646 w 1824"/>
              <a:gd name="T7" fmla="*/ 2147483646 h 3840"/>
              <a:gd name="T8" fmla="*/ 0 w 1824"/>
              <a:gd name="T9" fmla="*/ 2147483646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3"/>
          <p:cNvSpPr>
            <a:spLocks noChangeArrowheads="1"/>
          </p:cNvSpPr>
          <p:nvPr userDrawn="1"/>
        </p:nvSpPr>
        <p:spPr bwMode="ltGray">
          <a:xfrm>
            <a:off x="1600200" y="0"/>
            <a:ext cx="754380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5" name="Picture 4" descr="CITBANND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6" r="5334" b="86667"/>
          <a:stretch>
            <a:fillRect/>
          </a:stretch>
        </p:blipFill>
        <p:spPr bwMode="auto">
          <a:xfrm>
            <a:off x="2514600" y="0"/>
            <a:ext cx="662940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1600200" y="381000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7" name="Text Box 11">
            <a:hlinkClick r:id="" action="ppaction://noaction" highlightClick="1"/>
          </p:cNvPr>
          <p:cNvSpPr txBox="1">
            <a:spLocks noChangeArrowheads="1"/>
          </p:cNvSpPr>
          <p:nvPr userDrawn="1"/>
        </p:nvSpPr>
        <p:spPr bwMode="auto">
          <a:xfrm>
            <a:off x="5364163" y="115888"/>
            <a:ext cx="37798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单片机原理与应用</a:t>
            </a:r>
          </a:p>
        </p:txBody>
      </p:sp>
      <p:sp>
        <p:nvSpPr>
          <p:cNvPr id="8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4213" y="765175"/>
            <a:ext cx="7772400" cy="11430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516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516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7" descr="CITTEXT"/>
          <p:cNvSpPr/>
          <p:nvPr userDrawn="1"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2147483646 h 3840"/>
              <a:gd name="T2" fmla="*/ 0 w 1824"/>
              <a:gd name="T3" fmla="*/ 0 h 3840"/>
              <a:gd name="T4" fmla="*/ 2147483646 w 1824"/>
              <a:gd name="T5" fmla="*/ 0 h 3840"/>
              <a:gd name="T6" fmla="*/ 2147483646 w 1824"/>
              <a:gd name="T7" fmla="*/ 2147483646 h 3840"/>
              <a:gd name="T8" fmla="*/ 0 w 1824"/>
              <a:gd name="T9" fmla="*/ 2147483646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1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 userDrawn="1"/>
        </p:nvSpPr>
        <p:spPr bwMode="ltGray">
          <a:xfrm>
            <a:off x="1600200" y="0"/>
            <a:ext cx="754380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1028" name="Picture 4" descr="CITBANND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6" r="5334" b="86667"/>
          <a:stretch>
            <a:fillRect/>
          </a:stretch>
        </p:blipFill>
        <p:spPr bwMode="auto">
          <a:xfrm>
            <a:off x="2514600" y="0"/>
            <a:ext cx="662940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5"/>
          <p:cNvSpPr>
            <a:spLocks noChangeArrowheads="1"/>
          </p:cNvSpPr>
          <p:nvPr userDrawn="1"/>
        </p:nvSpPr>
        <p:spPr bwMode="auto">
          <a:xfrm>
            <a:off x="1600200" y="381000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88" name="Text Box 16"/>
          <p:cNvSpPr txBox="1">
            <a:spLocks noChangeArrowheads="1"/>
          </p:cNvSpPr>
          <p:nvPr userDrawn="1"/>
        </p:nvSpPr>
        <p:spPr bwMode="auto">
          <a:xfrm>
            <a:off x="5364163" y="115888"/>
            <a:ext cx="37798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单片机原理与应用</a:t>
            </a:r>
          </a:p>
        </p:txBody>
      </p:sp>
      <p:sp>
        <p:nvSpPr>
          <p:cNvPr id="8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8" grpId="0"/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1619250" y="2205038"/>
            <a:ext cx="6911975" cy="2952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zh-CN" sz="36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7.1  </a:t>
            </a:r>
            <a:r>
              <a:rPr lang="zh-CN" altLang="en-US" sz="36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串行通信概述</a:t>
            </a:r>
          </a:p>
          <a:p>
            <a:pPr eaLnBrk="1" hangingPunct="1">
              <a:defRPr/>
            </a:pPr>
            <a:r>
              <a:rPr lang="en-US" altLang="zh-CN" sz="36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7.2  MCS-51</a:t>
            </a:r>
            <a:r>
              <a:rPr lang="zh-CN" altLang="en-US" sz="36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的串行口控制器</a:t>
            </a:r>
            <a:endParaRPr lang="en-US" altLang="zh-CN" sz="3600" dirty="0">
              <a:solidFill>
                <a:srgbClr val="66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defRPr/>
            </a:pPr>
            <a:r>
              <a:rPr lang="en-US" altLang="zh-CN" sz="36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7.3  </a:t>
            </a:r>
            <a:r>
              <a:rPr lang="zh-CN" altLang="en-US" sz="36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串行口工作方式及应用</a:t>
            </a:r>
            <a:endParaRPr lang="en-US" altLang="zh-CN" sz="3600" dirty="0">
              <a:solidFill>
                <a:srgbClr val="66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defRPr/>
            </a:pPr>
            <a:r>
              <a:rPr lang="en-US" altLang="zh-CN" sz="36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7.4  </a:t>
            </a:r>
            <a:r>
              <a:rPr lang="zh-CN" altLang="en-US" sz="3600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串行通信口的应用举例</a:t>
            </a:r>
            <a:endParaRPr lang="en-US" altLang="zh-CN" sz="3600" dirty="0">
              <a:solidFill>
                <a:srgbClr val="66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586" name="Rectangle 10"/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8286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itchFamily="2" charset="-122"/>
                <a:ea typeface="华文楷体" pitchFamily="2" charset="-122"/>
              </a:rPr>
              <a:t>第</a:t>
            </a:r>
            <a:r>
              <a:rPr lang="en-US" altLang="zh-CN" sz="4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itchFamily="2" charset="-122"/>
                <a:ea typeface="华文楷体" pitchFamily="2" charset="-122"/>
              </a:rPr>
              <a:t>7</a:t>
            </a:r>
            <a:r>
              <a:rPr lang="zh-CN" altLang="en-US" sz="4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itchFamily="2" charset="-122"/>
                <a:ea typeface="华文楷体" pitchFamily="2" charset="-122"/>
              </a:rPr>
              <a:t>章  单片机的串行口及应用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WordArt 4"/>
          <p:cNvSpPr>
            <a:spLocks noChangeArrowheads="1" noChangeShapeType="1" noTextEdit="1"/>
          </p:cNvSpPr>
          <p:nvPr/>
        </p:nvSpPr>
        <p:spPr bwMode="auto">
          <a:xfrm>
            <a:off x="1547664" y="981074"/>
            <a:ext cx="2405211" cy="61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12700">
                  <a:solidFill>
                    <a:srgbClr val="EAEAEA"/>
                  </a:solidFill>
                  <a:rou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隶书"/>
              </a:rPr>
              <a:t>知识要点：</a:t>
            </a:r>
          </a:p>
        </p:txBody>
      </p:sp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1835150" y="1989138"/>
            <a:ext cx="59769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串行通信与并行通信的区别；</a:t>
            </a:r>
          </a:p>
        </p:txBody>
      </p:sp>
      <p:sp>
        <p:nvSpPr>
          <p:cNvPr id="106502" name="Text Box 6"/>
          <p:cNvSpPr txBox="1">
            <a:spLocks noChangeArrowheads="1"/>
          </p:cNvSpPr>
          <p:nvPr/>
        </p:nvSpPr>
        <p:spPr bwMode="auto">
          <a:xfrm>
            <a:off x="1835150" y="2638425"/>
            <a:ext cx="5976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同步通信与异步通信的特点；</a:t>
            </a:r>
          </a:p>
        </p:txBody>
      </p:sp>
      <p:sp>
        <p:nvSpPr>
          <p:cNvPr id="106503" name="Text Box 7"/>
          <p:cNvSpPr txBox="1">
            <a:spLocks noChangeArrowheads="1"/>
          </p:cNvSpPr>
          <p:nvPr/>
        </p:nvSpPr>
        <p:spPr bwMode="auto">
          <a:xfrm>
            <a:off x="1835150" y="3271838"/>
            <a:ext cx="59769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MCS-51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串行口的结构及工作原理；</a:t>
            </a:r>
          </a:p>
        </p:txBody>
      </p:sp>
      <p:sp>
        <p:nvSpPr>
          <p:cNvPr id="106504" name="Text Box 8"/>
          <p:cNvSpPr txBox="1">
            <a:spLocks noChangeArrowheads="1"/>
          </p:cNvSpPr>
          <p:nvPr/>
        </p:nvSpPr>
        <p:spPr bwMode="auto">
          <a:xfrm>
            <a:off x="1835150" y="3917950"/>
            <a:ext cx="5976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MCS-51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串行口的工作方式及应用；</a:t>
            </a:r>
          </a:p>
        </p:txBody>
      </p:sp>
      <p:sp>
        <p:nvSpPr>
          <p:cNvPr id="106505" name="Oval 9"/>
          <p:cNvSpPr>
            <a:spLocks noChangeArrowheads="1"/>
          </p:cNvSpPr>
          <p:nvPr/>
        </p:nvSpPr>
        <p:spPr bwMode="auto">
          <a:xfrm>
            <a:off x="1619250" y="3227388"/>
            <a:ext cx="5832475" cy="1296987"/>
          </a:xfrm>
          <a:prstGeom prst="ellipse">
            <a:avLst/>
          </a:prstGeom>
          <a:noFill/>
          <a:ln w="31750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9" dur="20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1" grpId="0"/>
      <p:bldP spid="106502" grpId="0"/>
      <p:bldP spid="106503" grpId="0"/>
      <p:bldP spid="106504" grpId="0"/>
      <p:bldP spid="10650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76375" y="404813"/>
            <a:ext cx="5688013" cy="6492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7.1  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串行通信概述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450056" y="1279525"/>
            <a:ext cx="8135937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spcBef>
                <a:spcPct val="20000"/>
              </a:spcBef>
              <a:buClr>
                <a:schemeClr val="hlink"/>
              </a:buCl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1pPr>
            <a:lvl2pPr algn="ctr">
              <a:spcBef>
                <a:spcPct val="20000"/>
              </a:spcBef>
              <a:buClr>
                <a:schemeClr val="accent2"/>
              </a:buCl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2pPr>
            <a:lvl3pPr algn="ctr">
              <a:spcBef>
                <a:spcPct val="20000"/>
              </a:spcBef>
              <a:buClr>
                <a:schemeClr val="accent1"/>
              </a:buCl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3pPr>
            <a:lvl4pPr algn="ctr">
              <a:spcBef>
                <a:spcPct val="20000"/>
              </a:spcBef>
              <a:buClr>
                <a:schemeClr val="folHlink"/>
              </a:buCl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4pPr>
            <a:lvl5pPr algn="ctr">
              <a:spcBef>
                <a:spcPct val="20000"/>
              </a:spcBef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1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在计算机系统中，主机与外设之间及主机系统与主机系统之间的数据交换称为通信，分为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串行通信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并行通信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。</a:t>
            </a:r>
          </a:p>
        </p:txBody>
      </p:sp>
      <p:grpSp>
        <p:nvGrpSpPr>
          <p:cNvPr id="13348" name="Group 36"/>
          <p:cNvGrpSpPr/>
          <p:nvPr/>
        </p:nvGrpSpPr>
        <p:grpSpPr bwMode="auto">
          <a:xfrm>
            <a:off x="269875" y="3140968"/>
            <a:ext cx="8604250" cy="2378075"/>
            <a:chOff x="340" y="2659"/>
            <a:chExt cx="5420" cy="1498"/>
          </a:xfrm>
        </p:grpSpPr>
        <p:sp>
          <p:nvSpPr>
            <p:cNvPr id="18438" name="Rectangle 35"/>
            <p:cNvSpPr>
              <a:spLocks noChangeArrowheads="1"/>
            </p:cNvSpPr>
            <p:nvPr/>
          </p:nvSpPr>
          <p:spPr bwMode="auto">
            <a:xfrm>
              <a:off x="340" y="2704"/>
              <a:ext cx="5420" cy="14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1800"/>
            </a:p>
          </p:txBody>
        </p:sp>
        <p:grpSp>
          <p:nvGrpSpPr>
            <p:cNvPr id="18439" name="Group 24"/>
            <p:cNvGrpSpPr/>
            <p:nvPr/>
          </p:nvGrpSpPr>
          <p:grpSpPr bwMode="auto">
            <a:xfrm>
              <a:off x="3016" y="2659"/>
              <a:ext cx="2540" cy="1498"/>
              <a:chOff x="3072" y="1584"/>
              <a:chExt cx="1968" cy="1498"/>
            </a:xfrm>
          </p:grpSpPr>
          <p:sp>
            <p:nvSpPr>
              <p:cNvPr id="18451" name="Text Box 25"/>
              <p:cNvSpPr txBox="1">
                <a:spLocks noChangeArrowheads="1"/>
              </p:cNvSpPr>
              <p:nvPr/>
            </p:nvSpPr>
            <p:spPr bwMode="auto">
              <a:xfrm>
                <a:off x="3072" y="1733"/>
                <a:ext cx="624" cy="1024"/>
              </a:xfrm>
              <a:prstGeom prst="rect">
                <a:avLst/>
              </a:prstGeom>
              <a:noFill/>
              <a:ln w="28575">
                <a:solidFill>
                  <a:srgbClr val="000066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 altLang="zh-CN" sz="200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latin typeface="Tahoma" panose="020B0604030504040204" pitchFamily="34" charset="0"/>
                  </a:rPr>
                  <a:t> </a:t>
                </a:r>
                <a:r>
                  <a:rPr lang="zh-CN" altLang="en-US" sz="2000">
                    <a:latin typeface="Tahoma" panose="020B0604030504040204" pitchFamily="34" charset="0"/>
                  </a:rPr>
                  <a:t>计算机</a:t>
                </a:r>
                <a:r>
                  <a:rPr lang="en-US" altLang="zh-CN" sz="2000">
                    <a:latin typeface="Tahoma" panose="020B0604030504040204" pitchFamily="34" charset="0"/>
                  </a:rPr>
                  <a:t>1</a:t>
                </a:r>
              </a:p>
              <a:p>
                <a:pPr algn="r" eaLnBrk="1" hangingPunct="1">
                  <a:spcBef>
                    <a:spcPct val="50000"/>
                  </a:spcBef>
                </a:pPr>
                <a:r>
                  <a:rPr lang="en-US" altLang="zh-CN" sz="2000">
                    <a:latin typeface="Tahoma" panose="020B0604030504040204" pitchFamily="34" charset="0"/>
                  </a:rPr>
                  <a:t>               GND</a:t>
                </a:r>
              </a:p>
            </p:txBody>
          </p:sp>
          <p:sp>
            <p:nvSpPr>
              <p:cNvPr id="18452" name="Text Box 26"/>
              <p:cNvSpPr txBox="1">
                <a:spLocks noChangeArrowheads="1"/>
              </p:cNvSpPr>
              <p:nvPr/>
            </p:nvSpPr>
            <p:spPr bwMode="auto">
              <a:xfrm>
                <a:off x="4416" y="1738"/>
                <a:ext cx="624" cy="1024"/>
              </a:xfrm>
              <a:prstGeom prst="rect">
                <a:avLst/>
              </a:prstGeom>
              <a:noFill/>
              <a:ln w="28575">
                <a:solidFill>
                  <a:srgbClr val="000066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 altLang="zh-CN" sz="20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dirty="0">
                    <a:latin typeface="Tahoma" panose="020B0604030504040204" pitchFamily="34" charset="0"/>
                  </a:rPr>
                  <a:t> </a:t>
                </a:r>
                <a:r>
                  <a:rPr lang="zh-CN" altLang="en-US" sz="2000" dirty="0">
                    <a:latin typeface="Tahoma" panose="020B0604030504040204" pitchFamily="34" charset="0"/>
                  </a:rPr>
                  <a:t>计算机</a:t>
                </a:r>
                <a:r>
                  <a:rPr lang="en-US" altLang="zh-CN" sz="2000" dirty="0">
                    <a:latin typeface="Tahoma" panose="020B0604030504040204" pitchFamily="34" charset="0"/>
                  </a:rPr>
                  <a:t>2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dirty="0">
                    <a:latin typeface="Tahoma" panose="020B0604030504040204" pitchFamily="34" charset="0"/>
                  </a:rPr>
                  <a:t>               GND</a:t>
                </a:r>
              </a:p>
            </p:txBody>
          </p:sp>
          <p:sp>
            <p:nvSpPr>
              <p:cNvPr id="18453" name="Line 27"/>
              <p:cNvSpPr>
                <a:spLocks noChangeShapeType="1"/>
              </p:cNvSpPr>
              <p:nvPr/>
            </p:nvSpPr>
            <p:spPr bwMode="auto">
              <a:xfrm>
                <a:off x="3696" y="1829"/>
                <a:ext cx="7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454" name="Line 28"/>
              <p:cNvSpPr>
                <a:spLocks noChangeShapeType="1"/>
              </p:cNvSpPr>
              <p:nvPr/>
            </p:nvSpPr>
            <p:spPr bwMode="auto">
              <a:xfrm>
                <a:off x="3696" y="2064"/>
                <a:ext cx="7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455" name="Line 29"/>
              <p:cNvSpPr>
                <a:spLocks noChangeShapeType="1"/>
              </p:cNvSpPr>
              <p:nvPr/>
            </p:nvSpPr>
            <p:spPr bwMode="auto">
              <a:xfrm flipV="1">
                <a:off x="3696" y="2501"/>
                <a:ext cx="7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456" name="Line 30"/>
              <p:cNvSpPr>
                <a:spLocks noChangeShapeType="1"/>
              </p:cNvSpPr>
              <p:nvPr/>
            </p:nvSpPr>
            <p:spPr bwMode="auto">
              <a:xfrm>
                <a:off x="4032" y="2501"/>
                <a:ext cx="0" cy="14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457" name="Line 31"/>
              <p:cNvSpPr>
                <a:spLocks noChangeShapeType="1"/>
              </p:cNvSpPr>
              <p:nvPr/>
            </p:nvSpPr>
            <p:spPr bwMode="auto">
              <a:xfrm>
                <a:off x="3984" y="2645"/>
                <a:ext cx="96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458" name="Text Box 32"/>
              <p:cNvSpPr txBox="1">
                <a:spLocks noChangeArrowheads="1"/>
              </p:cNvSpPr>
              <p:nvPr/>
            </p:nvSpPr>
            <p:spPr bwMode="auto">
              <a:xfrm>
                <a:off x="3792" y="1584"/>
                <a:ext cx="62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>
                    <a:latin typeface="Tahoma" panose="020B0604030504040204" pitchFamily="34" charset="0"/>
                  </a:rPr>
                  <a:t>发送</a:t>
                </a:r>
              </a:p>
            </p:txBody>
          </p:sp>
          <p:sp>
            <p:nvSpPr>
              <p:cNvPr id="18459" name="Text Box 33"/>
              <p:cNvSpPr txBox="1">
                <a:spLocks noChangeArrowheads="1"/>
              </p:cNvSpPr>
              <p:nvPr/>
            </p:nvSpPr>
            <p:spPr bwMode="auto">
              <a:xfrm>
                <a:off x="3840" y="204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>
                    <a:latin typeface="Tahoma" panose="020B0604030504040204" pitchFamily="34" charset="0"/>
                  </a:rPr>
                  <a:t>接收</a:t>
                </a:r>
              </a:p>
            </p:txBody>
          </p:sp>
          <p:sp>
            <p:nvSpPr>
              <p:cNvPr id="18460" name="Text Box 34"/>
              <p:cNvSpPr txBox="1">
                <a:spLocks noChangeArrowheads="1"/>
              </p:cNvSpPr>
              <p:nvPr/>
            </p:nvSpPr>
            <p:spPr bwMode="auto">
              <a:xfrm>
                <a:off x="3696" y="2832"/>
                <a:ext cx="8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>
                    <a:latin typeface="Tahoma" panose="020B0604030504040204" pitchFamily="34" charset="0"/>
                  </a:rPr>
                  <a:t>串行通信</a:t>
                </a:r>
              </a:p>
            </p:txBody>
          </p:sp>
        </p:grpSp>
        <p:grpSp>
          <p:nvGrpSpPr>
            <p:cNvPr id="18440" name="Group 13"/>
            <p:cNvGrpSpPr/>
            <p:nvPr/>
          </p:nvGrpSpPr>
          <p:grpSpPr bwMode="auto">
            <a:xfrm>
              <a:off x="431" y="2750"/>
              <a:ext cx="2404" cy="1378"/>
              <a:chOff x="672" y="1704"/>
              <a:chExt cx="1968" cy="1378"/>
            </a:xfrm>
          </p:grpSpPr>
          <p:sp>
            <p:nvSpPr>
              <p:cNvPr id="18441" name="Text Box 14"/>
              <p:cNvSpPr txBox="1">
                <a:spLocks noChangeArrowheads="1"/>
              </p:cNvSpPr>
              <p:nvPr/>
            </p:nvSpPr>
            <p:spPr bwMode="auto">
              <a:xfrm>
                <a:off x="672" y="1704"/>
                <a:ext cx="624" cy="1024"/>
              </a:xfrm>
              <a:prstGeom prst="rect">
                <a:avLst/>
              </a:prstGeom>
              <a:noFill/>
              <a:ln w="28575">
                <a:solidFill>
                  <a:srgbClr val="000066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 altLang="zh-CN" sz="20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dirty="0">
                    <a:latin typeface="Tahoma" panose="020B0604030504040204" pitchFamily="34" charset="0"/>
                  </a:rPr>
                  <a:t> </a:t>
                </a:r>
                <a:r>
                  <a:rPr lang="zh-CN" altLang="en-US" sz="2000" dirty="0">
                    <a:latin typeface="Tahoma" panose="020B0604030504040204" pitchFamily="34" charset="0"/>
                  </a:rPr>
                  <a:t>计算机</a:t>
                </a:r>
                <a:r>
                  <a:rPr lang="en-US" altLang="zh-CN" sz="2000" dirty="0">
                    <a:latin typeface="Tahoma" panose="020B0604030504040204" pitchFamily="34" charset="0"/>
                  </a:rPr>
                  <a:t>1</a:t>
                </a:r>
              </a:p>
              <a:p>
                <a:pPr algn="r" eaLnBrk="1" hangingPunct="1">
                  <a:spcBef>
                    <a:spcPct val="50000"/>
                  </a:spcBef>
                </a:pPr>
                <a:r>
                  <a:rPr lang="en-US" altLang="zh-CN" sz="2000" dirty="0">
                    <a:latin typeface="Tahoma" panose="020B0604030504040204" pitchFamily="34" charset="0"/>
                  </a:rPr>
                  <a:t>               GND</a:t>
                </a:r>
              </a:p>
            </p:txBody>
          </p:sp>
          <p:sp>
            <p:nvSpPr>
              <p:cNvPr id="18442" name="Text Box 15"/>
              <p:cNvSpPr txBox="1">
                <a:spLocks noChangeArrowheads="1"/>
              </p:cNvSpPr>
              <p:nvPr/>
            </p:nvSpPr>
            <p:spPr bwMode="auto">
              <a:xfrm>
                <a:off x="2016" y="1709"/>
                <a:ext cx="624" cy="1024"/>
              </a:xfrm>
              <a:prstGeom prst="rect">
                <a:avLst/>
              </a:prstGeom>
              <a:noFill/>
              <a:ln w="28575">
                <a:solidFill>
                  <a:srgbClr val="000066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 altLang="zh-CN" sz="200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latin typeface="Tahoma" panose="020B0604030504040204" pitchFamily="34" charset="0"/>
                  </a:rPr>
                  <a:t> </a:t>
                </a:r>
                <a:r>
                  <a:rPr lang="zh-CN" altLang="en-US" sz="2000">
                    <a:latin typeface="Tahoma" panose="020B0604030504040204" pitchFamily="34" charset="0"/>
                  </a:rPr>
                  <a:t>计算机</a:t>
                </a:r>
                <a:r>
                  <a:rPr lang="en-US" altLang="zh-CN" sz="2000">
                    <a:latin typeface="Tahoma" panose="020B0604030504040204" pitchFamily="34" charset="0"/>
                  </a:rPr>
                  <a:t>2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latin typeface="Tahoma" panose="020B0604030504040204" pitchFamily="34" charset="0"/>
                  </a:rPr>
                  <a:t>               GND</a:t>
                </a:r>
              </a:p>
            </p:txBody>
          </p:sp>
          <p:sp>
            <p:nvSpPr>
              <p:cNvPr id="18443" name="Line 16"/>
              <p:cNvSpPr>
                <a:spLocks noChangeShapeType="1"/>
              </p:cNvSpPr>
              <p:nvPr/>
            </p:nvSpPr>
            <p:spPr bwMode="auto">
              <a:xfrm>
                <a:off x="1296" y="1800"/>
                <a:ext cx="7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444" name="Line 17"/>
              <p:cNvSpPr>
                <a:spLocks noChangeShapeType="1"/>
              </p:cNvSpPr>
              <p:nvPr/>
            </p:nvSpPr>
            <p:spPr bwMode="auto">
              <a:xfrm>
                <a:off x="1296" y="1896"/>
                <a:ext cx="7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445" name="Line 18"/>
              <p:cNvSpPr>
                <a:spLocks noChangeShapeType="1"/>
              </p:cNvSpPr>
              <p:nvPr/>
            </p:nvSpPr>
            <p:spPr bwMode="auto">
              <a:xfrm>
                <a:off x="1296" y="1992"/>
                <a:ext cx="7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446" name="Line 19"/>
              <p:cNvSpPr>
                <a:spLocks noChangeShapeType="1"/>
              </p:cNvSpPr>
              <p:nvPr/>
            </p:nvSpPr>
            <p:spPr bwMode="auto">
              <a:xfrm>
                <a:off x="1296" y="2280"/>
                <a:ext cx="7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447" name="Line 20"/>
              <p:cNvSpPr>
                <a:spLocks noChangeShapeType="1"/>
              </p:cNvSpPr>
              <p:nvPr/>
            </p:nvSpPr>
            <p:spPr bwMode="auto">
              <a:xfrm flipV="1">
                <a:off x="1296" y="2472"/>
                <a:ext cx="7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448" name="Line 21"/>
              <p:cNvSpPr>
                <a:spLocks noChangeShapeType="1"/>
              </p:cNvSpPr>
              <p:nvPr/>
            </p:nvSpPr>
            <p:spPr bwMode="auto">
              <a:xfrm>
                <a:off x="1632" y="2472"/>
                <a:ext cx="0" cy="14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449" name="Line 22"/>
              <p:cNvSpPr>
                <a:spLocks noChangeShapeType="1"/>
              </p:cNvSpPr>
              <p:nvPr/>
            </p:nvSpPr>
            <p:spPr bwMode="auto">
              <a:xfrm>
                <a:off x="1584" y="2616"/>
                <a:ext cx="96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450" name="Text Box 23"/>
              <p:cNvSpPr txBox="1">
                <a:spLocks noChangeArrowheads="1"/>
              </p:cNvSpPr>
              <p:nvPr/>
            </p:nvSpPr>
            <p:spPr bwMode="auto">
              <a:xfrm>
                <a:off x="1248" y="2832"/>
                <a:ext cx="8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>
                    <a:latin typeface="Tahoma" panose="020B0604030504040204" pitchFamily="34" charset="0"/>
                  </a:rPr>
                  <a:t>并行通信</a:t>
                </a:r>
              </a:p>
            </p:txBody>
          </p:sp>
        </p:grpSp>
      </p:grp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395536" y="332656"/>
            <a:ext cx="8135937" cy="597666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spcBef>
                <a:spcPct val="20000"/>
              </a:spcBef>
              <a:buClr>
                <a:schemeClr val="hlink"/>
              </a:buCl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1pPr>
            <a:lvl2pPr algn="ctr">
              <a:spcBef>
                <a:spcPct val="20000"/>
              </a:spcBef>
              <a:buClr>
                <a:schemeClr val="accent2"/>
              </a:buCl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2pPr>
            <a:lvl3pPr algn="ctr">
              <a:spcBef>
                <a:spcPct val="20000"/>
              </a:spcBef>
              <a:buClr>
                <a:schemeClr val="accent1"/>
              </a:buCl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3pPr>
            <a:lvl4pPr algn="ctr">
              <a:spcBef>
                <a:spcPct val="20000"/>
              </a:spcBef>
              <a:buClr>
                <a:schemeClr val="folHlink"/>
              </a:buCl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4pPr>
            <a:lvl5pPr algn="ctr">
              <a:spcBef>
                <a:spcPct val="20000"/>
              </a:spcBef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10000"/>
              </a:spcBef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）并行通信</a:t>
            </a: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定义：数据的各位</a:t>
            </a:r>
            <a:r>
              <a:rPr lang="zh-CN" altLang="en-US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同时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进行传送，需要多条数据线。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特点：速度快、数据线较多，成本高，用于短距离（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30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米）通信。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）串行通信</a:t>
            </a: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定义：数据一位一位</a:t>
            </a:r>
            <a:r>
              <a:rPr lang="zh-CN" altLang="en-US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串行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地顺序传送，最少只需一根传输线即可完成。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特点：线路简单，最多一对传输线，传送时数据格式有要求。可适用于长距离通信。</a:t>
            </a:r>
          </a:p>
          <a:p>
            <a:pPr algn="just" eaLnBrk="1" hangingPunct="1">
              <a:lnSpc>
                <a:spcPct val="110000"/>
              </a:lnSpc>
              <a:spcBef>
                <a:spcPct val="1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按照串行数据的时钟控制方式，串行通信可以分为</a:t>
            </a:r>
            <a:r>
              <a:rPr lang="zh-CN" altLang="en-US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同步通信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zh-CN" altLang="en-US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异步通信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两种。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468313" y="1703388"/>
            <a:ext cx="8077200" cy="4179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720000" eaLnBrk="1" hangingPunct="1">
              <a:lnSpc>
                <a:spcPct val="120000"/>
              </a:lnSpc>
              <a:spcBef>
                <a:spcPts val="0"/>
              </a:spcBef>
              <a:buClr>
                <a:schemeClr val="hlink"/>
              </a:buClr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同步通信按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数据块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传送。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indent="720000" eaLnBrk="1" hangingPunct="1">
              <a:lnSpc>
                <a:spcPct val="120000"/>
              </a:lnSpc>
              <a:spcBef>
                <a:spcPts val="0"/>
              </a:spcBef>
              <a:buClr>
                <a:schemeClr val="hlink"/>
              </a:buClr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将传送的字符顺序地连接起来，组成数据块，在数据块前面加上特殊的同步字符，作为数据块的起始符号，由收、发一致的同步时钟在发送端发出；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indent="720000" eaLnBrk="1" hangingPunct="1">
              <a:lnSpc>
                <a:spcPct val="120000"/>
              </a:lnSpc>
              <a:spcBef>
                <a:spcPts val="0"/>
              </a:spcBef>
              <a:buClr>
                <a:schemeClr val="hlink"/>
              </a:buClr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接收端接收到同步字符后，开始接收数据块，使收、发双方同步；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indent="720000" eaLnBrk="1" hangingPunct="1">
              <a:lnSpc>
                <a:spcPct val="120000"/>
              </a:lnSpc>
              <a:spcBef>
                <a:spcPts val="0"/>
              </a:spcBef>
              <a:buClr>
                <a:schemeClr val="hlink"/>
              </a:buClr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在数据块后面加上校验字符，用于校验通信中的错误。</a:t>
            </a:r>
          </a:p>
        </p:txBody>
      </p:sp>
      <p:sp>
        <p:nvSpPr>
          <p:cNvPr id="53255" name="Text Box 7"/>
          <p:cNvSpPr txBox="1">
            <a:spLocks noChangeArrowheads="1"/>
          </p:cNvSpPr>
          <p:nvPr/>
        </p:nvSpPr>
        <p:spPr bwMode="auto">
          <a:xfrm>
            <a:off x="684213" y="404813"/>
            <a:ext cx="55419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一、同步通信和异步通信</a:t>
            </a:r>
          </a:p>
        </p:txBody>
      </p:sp>
      <p:sp>
        <p:nvSpPr>
          <p:cNvPr id="6148" name="Text Box 8"/>
          <p:cNvSpPr txBox="1">
            <a:spLocks noChangeArrowheads="1"/>
          </p:cNvSpPr>
          <p:nvPr/>
        </p:nvSpPr>
        <p:spPr bwMode="auto">
          <a:xfrm>
            <a:off x="490015" y="1059537"/>
            <a:ext cx="29527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、同步通信 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/>
          <p:cNvPicPr>
            <a:picLocks noChangeAspect="1" noChangeArrowheads="1"/>
          </p:cNvPicPr>
          <p:nvPr/>
        </p:nvPicPr>
        <p:blipFill>
          <a:blip r:embed="rId2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96752"/>
            <a:ext cx="7740725" cy="2417986"/>
          </a:xfrm>
          <a:prstGeom prst="rect">
            <a:avLst/>
          </a:prstGeom>
          <a:noFill/>
          <a:ln w="22225">
            <a:solidFill>
              <a:srgbClr val="33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755650" y="332656"/>
            <a:ext cx="40386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、异步通信</a:t>
            </a: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723900" y="916856"/>
            <a:ext cx="7696200" cy="5741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  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以字符（或字节）为单位组成数据帧进行的传送，且靠插入的起始位和停止位进行同步的通信方式称为异步通信。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  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字符帧由发送端一帧一帧地发送，通过传输线被接收端一帧一帧地接收。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  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发送端和接收端由各自独立的时钟来控制数据的发送和接收。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  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字符帧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也叫数据帧，由</a:t>
            </a:r>
            <a:r>
              <a:rPr lang="zh-CN" altLang="en-US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起始位、数据位、奇偶校验位和停止位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等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4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部分组成，如图所示为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11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位的帧格式。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波特率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为每秒传送二进制数码的位数，单位为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b/s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，是异步通信的一个重要指标。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3029" y="3858434"/>
            <a:ext cx="8569449" cy="2677656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起始位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：位于数据帧开头，占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位，低电平，标志数据传送的开始。用于向接收端表示发送端开始发送一帧数据。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数据位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：要传输的数据信息，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5-8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位，由低位到高位依次传送。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可编程位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：占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位，用于校验串行发送数据的正确性，可根据需要采用奇校验、偶校验、或无校验。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停止位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：位于数据末尾，占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位，高电平，用于向接收端表示一帧数据已发送完毕。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31042" y="476672"/>
            <a:ext cx="8353425" cy="3240360"/>
            <a:chOff x="431042" y="476672"/>
            <a:chExt cx="8353425" cy="3240360"/>
          </a:xfrm>
        </p:grpSpPr>
        <p:pic>
          <p:nvPicPr>
            <p:cNvPr id="2" name="Picture 5"/>
            <p:cNvPicPr>
              <a:picLocks noChangeAspect="1" noChangeArrowheads="1"/>
            </p:cNvPicPr>
            <p:nvPr/>
          </p:nvPicPr>
          <p:blipFill>
            <a:blip r:embed="rId2">
              <a:lum bright="-36000" contrast="5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042" y="476672"/>
              <a:ext cx="8353425" cy="3240360"/>
            </a:xfrm>
            <a:prstGeom prst="rect">
              <a:avLst/>
            </a:prstGeom>
            <a:noFill/>
            <a:ln w="22225">
              <a:solidFill>
                <a:srgbClr val="3366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文本框 3"/>
            <p:cNvSpPr txBox="1"/>
            <p:nvPr/>
          </p:nvSpPr>
          <p:spPr>
            <a:xfrm>
              <a:off x="5508104" y="2636912"/>
              <a:ext cx="1368152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000" dirty="0"/>
                <a:t>可编程位</a:t>
              </a:r>
            </a:p>
          </p:txBody>
        </p:sp>
      </p:grp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323850" y="476250"/>
            <a:ext cx="8459788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9pPr>
          </a:lstStyle>
          <a:p>
            <a:pPr marL="0" indent="0" eaLnBrk="1" hangingPunct="1">
              <a:lnSpc>
                <a:spcPct val="115000"/>
              </a:lnSpc>
              <a:buNone/>
              <a:defRPr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如果要传送一大堆数据，同步方式只给这串数据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进行一次外包装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（即添加“头帧”、“尾帧”、“校验帧”），而异步方式在传送这串数据时则要对数据的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每一个字节分别加以包装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（即添加“头”位、“尾”位和校验）。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     </a:t>
            </a:r>
          </a:p>
        </p:txBody>
      </p:sp>
      <p:sp>
        <p:nvSpPr>
          <p:cNvPr id="100357" name="Rectangle 5"/>
          <p:cNvSpPr>
            <a:spLocks noChangeArrowheads="1"/>
          </p:cNvSpPr>
          <p:nvPr/>
        </p:nvSpPr>
        <p:spPr bwMode="auto">
          <a:xfrm>
            <a:off x="323850" y="2997200"/>
            <a:ext cx="8459787" cy="302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9pPr>
          </a:lstStyle>
          <a:p>
            <a:pPr marL="0" indent="0" eaLnBrk="1" hangingPunct="1">
              <a:lnSpc>
                <a:spcPct val="115000"/>
              </a:lnSpc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在相同的数据传输波特率下，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同步方式比异步方式的传送速度快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，但同步方式要求收发双方在整个事件传送过程中始终保持严格同步，这将增加硬件上的难度，而异步通信只要求每帧（字节）的传送中短时间保持同步即可，实现起来要容易得多。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6" grpId="0"/>
      <p:bldP spid="10035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684213" y="404813"/>
            <a:ext cx="58324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20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、串行通信的数据传送方向</a:t>
            </a:r>
          </a:p>
        </p:txBody>
      </p:sp>
      <p:sp>
        <p:nvSpPr>
          <p:cNvPr id="9219" name="Text Box 5"/>
          <p:cNvSpPr txBox="1">
            <a:spLocks noChangeArrowheads="1"/>
          </p:cNvSpPr>
          <p:nvPr/>
        </p:nvSpPr>
        <p:spPr bwMode="auto">
          <a:xfrm>
            <a:off x="381000" y="3124200"/>
            <a:ext cx="8583613" cy="306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defRPr/>
            </a:pPr>
            <a:r>
              <a:rPr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◆ 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单工方式</a:t>
            </a:r>
          </a:p>
          <a:p>
            <a:pPr algn="just" eaLnBrk="1" hangingPunct="1">
              <a:spcBef>
                <a:spcPct val="10000"/>
              </a:spcBef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单方向由发送端向接收端传送，不能反向传输。</a:t>
            </a:r>
            <a:endParaRPr lang="zh-CN" altLang="en-US" sz="2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10000"/>
              </a:spcBef>
              <a:defRPr/>
            </a:pP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◆ 半双工方式</a:t>
            </a:r>
          </a:p>
          <a:p>
            <a:pPr algn="just" eaLnBrk="1" hangingPunct="1">
              <a:spcBef>
                <a:spcPct val="10000"/>
              </a:spcBef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两个工作站之间通过传输线进行数据的交替双向传送。</a:t>
            </a:r>
            <a:endParaRPr lang="zh-CN" altLang="en-US" sz="2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10000"/>
              </a:spcBef>
              <a:defRPr/>
            </a:pP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◆ 全双工方式</a:t>
            </a:r>
          </a:p>
          <a:p>
            <a:pPr algn="just" eaLnBrk="1" hangingPunct="1">
              <a:spcBef>
                <a:spcPct val="10000"/>
              </a:spcBef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由两条传输线连接两个工作站，两站之间的数据可</a:t>
            </a:r>
            <a:r>
              <a:rPr lang="zh-CN" altLang="en-US" sz="2600" dirty="0">
                <a:solidFill>
                  <a:srgbClr val="99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同时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双向传送。</a:t>
            </a:r>
          </a:p>
        </p:txBody>
      </p:sp>
      <p:pic>
        <p:nvPicPr>
          <p:cNvPr id="22532" name="Picture 7"/>
          <p:cNvPicPr>
            <a:picLocks noChangeAspect="1" noChangeArrowheads="1"/>
          </p:cNvPicPr>
          <p:nvPr/>
        </p:nvPicPr>
        <p:blipFill>
          <a:blip r:embed="rId2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981075"/>
            <a:ext cx="7993062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684213" y="404813"/>
            <a:ext cx="63976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320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、串行通信的信号传输</a:t>
            </a:r>
          </a:p>
        </p:txBody>
      </p:sp>
      <p:pic>
        <p:nvPicPr>
          <p:cNvPr id="23555" name="Picture 9"/>
          <p:cNvPicPr>
            <a:picLocks noChangeAspect="1" noChangeArrowheads="1"/>
          </p:cNvPicPr>
          <p:nvPr/>
        </p:nvPicPr>
        <p:blipFill>
          <a:blip r:embed="rId2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81"/>
          <a:stretch>
            <a:fillRect/>
          </a:stretch>
        </p:blipFill>
        <p:spPr bwMode="auto">
          <a:xfrm>
            <a:off x="611188" y="1557338"/>
            <a:ext cx="8064500" cy="4268787"/>
          </a:xfrm>
          <a:prstGeom prst="rect">
            <a:avLst/>
          </a:prstGeom>
          <a:noFill/>
          <a:ln w="15875">
            <a:solidFill>
              <a:srgbClr val="33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44" name="Text Box 10"/>
          <p:cNvSpPr txBox="1">
            <a:spLocks noChangeArrowheads="1"/>
          </p:cNvSpPr>
          <p:nvPr/>
        </p:nvSpPr>
        <p:spPr bwMode="auto">
          <a:xfrm>
            <a:off x="684213" y="1014413"/>
            <a:ext cx="5111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通信线的连接方式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827088" y="260350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RS-232C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接口标准 </a:t>
            </a:r>
          </a:p>
        </p:txBody>
      </p:sp>
      <p:pic>
        <p:nvPicPr>
          <p:cNvPr id="24579" name="Picture 6"/>
          <p:cNvPicPr>
            <a:picLocks noChangeAspect="1" noChangeArrowheads="1"/>
          </p:cNvPicPr>
          <p:nvPr/>
        </p:nvPicPr>
        <p:blipFill>
          <a:blip r:embed="rId2">
            <a:grayscl/>
            <a:lum bright="-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77" r="55832" b="-433"/>
          <a:stretch>
            <a:fillRect/>
          </a:stretch>
        </p:blipFill>
        <p:spPr bwMode="auto">
          <a:xfrm>
            <a:off x="1547813" y="836613"/>
            <a:ext cx="2376487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7"/>
          <p:cNvPicPr>
            <a:picLocks noChangeAspect="1" noChangeArrowheads="1"/>
          </p:cNvPicPr>
          <p:nvPr/>
        </p:nvPicPr>
        <p:blipFill>
          <a:blip r:embed="rId2">
            <a:grayscl/>
            <a:lum bright="-100000"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27" t="25101" r="11682" b="33035"/>
          <a:stretch>
            <a:fillRect/>
          </a:stretch>
        </p:blipFill>
        <p:spPr bwMode="auto">
          <a:xfrm>
            <a:off x="5435600" y="1917700"/>
            <a:ext cx="1914525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Text Box 8"/>
          <p:cNvSpPr txBox="1">
            <a:spLocks noChangeArrowheads="1"/>
          </p:cNvSpPr>
          <p:nvPr/>
        </p:nvSpPr>
        <p:spPr bwMode="auto">
          <a:xfrm>
            <a:off x="2124075" y="5661025"/>
            <a:ext cx="5903913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 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针的连接器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 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针的连接器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图  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RS-232C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接口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7750" y="987425"/>
            <a:ext cx="726884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cs typeface="宋体" panose="02010600030101010101" pitchFamily="2" charset="-122"/>
              </a:rPr>
              <a:t>RS232</a:t>
            </a:r>
            <a:r>
              <a:rPr lang="zh-CN" altLang="en-US">
                <a:latin typeface="宋体" panose="02010600030101010101" pitchFamily="2" charset="-122"/>
                <a:cs typeface="宋体" panose="02010600030101010101" pitchFamily="2" charset="-122"/>
              </a:rPr>
              <a:t>电平标准：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cs typeface="宋体" panose="02010600030101010101" pitchFamily="2" charset="-122"/>
              </a:rPr>
              <a:t>逻辑1：-3V～-15V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cs typeface="宋体" panose="02010600030101010101" pitchFamily="2" charset="-122"/>
              </a:rPr>
              <a:t>逻辑0：+3V～+15V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43305" y="3140710"/>
            <a:ext cx="726884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cs typeface="宋体" panose="02010600030101010101" pitchFamily="2" charset="-122"/>
              </a:rPr>
              <a:t>TTL</a:t>
            </a:r>
            <a:r>
              <a:rPr lang="zh-CN" altLang="en-US">
                <a:latin typeface="宋体" panose="02010600030101010101" pitchFamily="2" charset="-122"/>
                <a:cs typeface="宋体" panose="02010600030101010101" pitchFamily="2" charset="-122"/>
              </a:rPr>
              <a:t>电平标准：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cs typeface="宋体" panose="02010600030101010101" pitchFamily="2" charset="-122"/>
              </a:rPr>
              <a:t>逻辑1：</a:t>
            </a:r>
            <a:r>
              <a:rPr lang="en-US" altLang="zh-CN">
                <a:latin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zh-CN" altLang="en-US">
                <a:latin typeface="宋体" panose="02010600030101010101" pitchFamily="2" charset="-122"/>
                <a:cs typeface="宋体" panose="02010600030101010101" pitchFamily="2" charset="-122"/>
              </a:rPr>
              <a:t>5V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cs typeface="宋体" panose="02010600030101010101" pitchFamily="2" charset="-122"/>
              </a:rPr>
              <a:t>逻辑0：</a:t>
            </a:r>
            <a:r>
              <a:rPr lang="en-US" altLang="zh-CN"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latin typeface="宋体" panose="02010600030101010101" pitchFamily="2" charset="-122"/>
                <a:cs typeface="宋体" panose="02010600030101010101" pitchFamily="2" charset="-122"/>
              </a:rPr>
              <a:t>V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755576" y="1124744"/>
            <a:ext cx="784887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说明：</a:t>
            </a: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PC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机使用的串口电平为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RS-232C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九针串口，单片机使用的电平是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TTL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电平，要想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PC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机与单片机通讯，需要对其进行电平极性转换。</a:t>
            </a: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   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主要的电平转换芯片有：</a:t>
            </a: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       MAX232,MAX202,HIN232,SIPEX320</a:t>
            </a:r>
            <a:endParaRPr lang="zh-CN" altLang="en-US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8" descr="GIF014">
            <a:hlinkClick r:id="rId2" action="ppaction://hlinksldjump"/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408738"/>
            <a:ext cx="76200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0"/>
            <a:ext cx="745172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randomBar dir="vert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c1134e7-55c9-4d36-b711-8dc3ae546e1e"/>
  <p:tag name="COMMONDATA" val="eyJoZGlkIjoiZDlhNzhkNzI3NzgzMjVmNTVjOTdmNzdiNmViZTJjM2MifQ=="/>
</p:tagLst>
</file>

<file path=ppt/theme/theme1.xml><?xml version="1.0" encoding="utf-8"?>
<a:theme xmlns:a="http://schemas.openxmlformats.org/drawingml/2006/main" name="CITRUS">
  <a:themeElements>
    <a:clrScheme name="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CITRUS">
      <a:majorFont>
        <a:latin typeface="Tahoma"/>
        <a:ea typeface="黑体"/>
        <a:cs typeface="Tahoma"/>
      </a:majorFont>
      <a:minorFont>
        <a:latin typeface="Tahoma"/>
        <a:ea typeface="宋体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869</Words>
  <Application>Microsoft Office PowerPoint</Application>
  <PresentationFormat>全屏显示(4:3)</PresentationFormat>
  <Paragraphs>77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黑体</vt:lpstr>
      <vt:lpstr>华文楷体</vt:lpstr>
      <vt:lpstr>楷体</vt:lpstr>
      <vt:lpstr>楷体_GB2312</vt:lpstr>
      <vt:lpstr>隶书</vt:lpstr>
      <vt:lpstr>宋体</vt:lpstr>
      <vt:lpstr>Arial</vt:lpstr>
      <vt:lpstr>Tahoma</vt:lpstr>
      <vt:lpstr>Times New Roman</vt:lpstr>
      <vt:lpstr>CITRUS</vt:lpstr>
      <vt:lpstr>第7章  单片机的串行口及应用</vt:lpstr>
      <vt:lpstr>PowerPoint 演示文稿</vt:lpstr>
      <vt:lpstr>7.1  串行通信概述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island</dc:creator>
  <cp:lastModifiedBy>admin</cp:lastModifiedBy>
  <cp:revision>244</cp:revision>
  <dcterms:created xsi:type="dcterms:W3CDTF">2010-01-21T07:14:00Z</dcterms:created>
  <dcterms:modified xsi:type="dcterms:W3CDTF">2025-04-20T03:15:03Z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A79FE379DB5440439C492C633A487BA4</vt:lpwstr>
  </property>
  <property fmtid="{D5CDD505-2E9C-101B-9397-08002B2CF9AE}" pid="3" name="KSOProductBuildVer">
    <vt:lpwstr>2052-11.1.0.12598</vt:lpwstr>
  </property>
</Properties>
</file>