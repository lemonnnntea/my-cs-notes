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8"/>
  </p:notesMasterIdLst>
  <p:sldIdLst>
    <p:sldId id="256" r:id="rId2"/>
    <p:sldId id="257" r:id="rId3"/>
    <p:sldId id="304" r:id="rId4"/>
    <p:sldId id="303" r:id="rId5"/>
    <p:sldId id="258" r:id="rId6"/>
    <p:sldId id="259" r:id="rId7"/>
    <p:sldId id="1222" r:id="rId8"/>
    <p:sldId id="1039" r:id="rId9"/>
    <p:sldId id="1038" r:id="rId10"/>
    <p:sldId id="1042" r:id="rId11"/>
    <p:sldId id="1040" r:id="rId12"/>
    <p:sldId id="1228" r:id="rId13"/>
    <p:sldId id="1043" r:id="rId14"/>
    <p:sldId id="1236" r:id="rId15"/>
    <p:sldId id="1229" r:id="rId16"/>
    <p:sldId id="1044" r:id="rId17"/>
    <p:sldId id="1046" r:id="rId18"/>
    <p:sldId id="1231" r:id="rId19"/>
    <p:sldId id="1232" r:id="rId20"/>
    <p:sldId id="1233" r:id="rId21"/>
    <p:sldId id="260" r:id="rId22"/>
    <p:sldId id="261" r:id="rId23"/>
    <p:sldId id="276" r:id="rId24"/>
    <p:sldId id="275" r:id="rId25"/>
    <p:sldId id="277" r:id="rId26"/>
    <p:sldId id="305" r:id="rId27"/>
    <p:sldId id="306" r:id="rId28"/>
    <p:sldId id="307" r:id="rId29"/>
    <p:sldId id="272" r:id="rId30"/>
    <p:sldId id="263" r:id="rId31"/>
    <p:sldId id="264" r:id="rId32"/>
    <p:sldId id="265" r:id="rId33"/>
    <p:sldId id="295" r:id="rId34"/>
    <p:sldId id="278" r:id="rId35"/>
    <p:sldId id="280" r:id="rId36"/>
    <p:sldId id="281" r:id="rId37"/>
    <p:sldId id="279" r:id="rId38"/>
    <p:sldId id="298" r:id="rId39"/>
    <p:sldId id="300" r:id="rId40"/>
    <p:sldId id="282" r:id="rId41"/>
    <p:sldId id="284" r:id="rId42"/>
    <p:sldId id="299" r:id="rId43"/>
    <p:sldId id="283" r:id="rId44"/>
    <p:sldId id="285" r:id="rId45"/>
    <p:sldId id="270" r:id="rId46"/>
    <p:sldId id="271" r:id="rId47"/>
    <p:sldId id="274" r:id="rId48"/>
    <p:sldId id="286" r:id="rId49"/>
    <p:sldId id="292" r:id="rId50"/>
    <p:sldId id="293" r:id="rId51"/>
    <p:sldId id="294" r:id="rId52"/>
    <p:sldId id="1237" r:id="rId53"/>
    <p:sldId id="1238" r:id="rId54"/>
    <p:sldId id="1239" r:id="rId55"/>
    <p:sldId id="1240" r:id="rId56"/>
    <p:sldId id="1241" r:id="rId57"/>
    <p:sldId id="1242" r:id="rId58"/>
    <p:sldId id="1243" r:id="rId59"/>
    <p:sldId id="1244" r:id="rId60"/>
    <p:sldId id="287" r:id="rId61"/>
    <p:sldId id="288" r:id="rId62"/>
    <p:sldId id="289" r:id="rId63"/>
    <p:sldId id="290" r:id="rId64"/>
    <p:sldId id="291" r:id="rId65"/>
    <p:sldId id="296" r:id="rId66"/>
    <p:sldId id="297" r:id="rId67"/>
  </p:sldIdLst>
  <p:sldSz cx="9144000" cy="6858000" type="screen4x3"/>
  <p:notesSz cx="6858000" cy="9144000"/>
  <p:custDataLst>
    <p:tags r:id="rId69"/>
  </p:custDataLst>
  <p:defaultTextStyle>
    <a:defPPr>
      <a:defRPr lang="zh-CN"/>
    </a:defPPr>
    <a:lvl1pPr algn="l" rtl="0" eaLnBrk="0" fontAlgn="base" hangingPunct="0">
      <a:spcBef>
        <a:spcPct val="0"/>
      </a:spcBef>
      <a:spcAft>
        <a:spcPct val="0"/>
      </a:spcAft>
      <a:defRPr sz="280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2800"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2800"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2800"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28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8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8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8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800"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FF00FF"/>
    <a:srgbClr val="0000FF"/>
    <a:srgbClr val="009900"/>
    <a:srgbClr val="FFFFCC"/>
    <a:srgbClr val="99FFCC"/>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73" autoAdjust="0"/>
    <p:restoredTop sz="94595" autoAdjust="0"/>
  </p:normalViewPr>
  <p:slideViewPr>
    <p:cSldViewPr>
      <p:cViewPr varScale="1">
        <p:scale>
          <a:sx n="63" d="100"/>
          <a:sy n="63" d="100"/>
        </p:scale>
        <p:origin x="1380" y="6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029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D5CE9936-D2DD-46D9-BCE1-95AD39600361}" type="datetimeFigureOut">
              <a:rPr lang="zh-CN" altLang="en-US"/>
              <a:t>2025/3/4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a:defRPr/>
            </a:pPr>
            <a:fld id="{E02B50B6-6DA0-42D9-8F12-8F1A727EAD46}"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1ED7B97D-6ABF-4F13-94B1-61C8E61874F9}"/>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2FEB8516-1BC2-4580-8396-F973C7FAD1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419242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D8B8764A-39FC-40D8-A6AF-6ADC138CAA1E}"/>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4358AEC6-F7D5-4BDB-BC37-EA3AF09145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8607109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8CDCEA5F-8849-4A4F-B620-E3DFF3271CB1}"/>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96E29F0D-CE76-4F6C-81C4-FFD2FA26AC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73F2C293-BA5D-4BA5-BA63-FF1BAE89DDB4}"/>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14495F8F-ED36-47DC-99EC-98A41E9A1D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092CC2F5-F91A-48D7-901C-B9DE333C361A}"/>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1019EC9C-6523-46D6-97A3-7E1B269CCA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5520696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6570FF99-F765-4F9D-BBDA-4428005EE717}"/>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4616B767-A673-4954-AD86-EEDA91C61C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6570FF99-F765-4F9D-BBDA-4428005EE717}"/>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4616B767-A673-4954-AD86-EEDA91C61C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8853349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61C363F6-CA45-437E-83BD-29E0D3B746EE}"/>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F1F8A77F-C1C9-46FA-81A3-5573FF3EEC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3BD96B85-D929-4121-A6C9-9BE849DF7E31}"/>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DC26D6A8-F973-4E50-825C-FECFE57F5C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3BD96B85-D929-4121-A6C9-9BE849DF7E31}"/>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DC26D6A8-F973-4E50-825C-FECFE57F5C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6145413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3BD96B85-D929-4121-A6C9-9BE849DF7E31}"/>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DC26D6A8-F973-4E50-825C-FECFE57F5C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0261430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3BD96B85-D929-4121-A6C9-9BE849DF7E31}"/>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DC26D6A8-F973-4E50-825C-FECFE57F5C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41521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048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2048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charset="0"/>
                <a:ea typeface="宋体" panose="02010600030101010101" pitchFamily="2" charset="-122"/>
              </a:defRPr>
            </a:lvl1pPr>
            <a:lvl2pPr marL="742950" indent="-285750">
              <a:spcBef>
                <a:spcPct val="30000"/>
              </a:spcBef>
              <a:defRPr sz="1200">
                <a:solidFill>
                  <a:schemeClr val="tx1"/>
                </a:solidFill>
                <a:latin typeface="Calibri" panose="020F0502020204030204" charset="0"/>
                <a:ea typeface="宋体" panose="02010600030101010101" pitchFamily="2" charset="-122"/>
              </a:defRPr>
            </a:lvl2pPr>
            <a:lvl3pPr marL="1143000" indent="-228600">
              <a:spcBef>
                <a:spcPct val="30000"/>
              </a:spcBef>
              <a:defRPr sz="1200">
                <a:solidFill>
                  <a:schemeClr val="tx1"/>
                </a:solidFill>
                <a:latin typeface="Calibri" panose="020F0502020204030204" charset="0"/>
                <a:ea typeface="宋体" panose="02010600030101010101" pitchFamily="2" charset="-122"/>
              </a:defRPr>
            </a:lvl3pPr>
            <a:lvl4pPr marL="1600200" indent="-228600">
              <a:spcBef>
                <a:spcPct val="30000"/>
              </a:spcBef>
              <a:defRPr sz="1200">
                <a:solidFill>
                  <a:schemeClr val="tx1"/>
                </a:solidFill>
                <a:latin typeface="Calibri" panose="020F0502020204030204" charset="0"/>
                <a:ea typeface="宋体" panose="02010600030101010101" pitchFamily="2" charset="-122"/>
              </a:defRPr>
            </a:lvl4pPr>
            <a:lvl5pPr marL="2057400" indent="-228600">
              <a:spcBef>
                <a:spcPct val="30000"/>
              </a:spcBef>
              <a:defRPr sz="1200">
                <a:solidFill>
                  <a:schemeClr val="tx1"/>
                </a:solidFill>
                <a:latin typeface="Calibri" panose="020F050202020403020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charset="0"/>
                <a:ea typeface="宋体" panose="02010600030101010101" pitchFamily="2" charset="-122"/>
              </a:defRPr>
            </a:lvl9pPr>
          </a:lstStyle>
          <a:p>
            <a:pPr>
              <a:spcBef>
                <a:spcPct val="0"/>
              </a:spcBef>
            </a:pPr>
            <a:fld id="{862F5793-424C-4776-B11A-8ADF6A9E1494}" type="slidenum">
              <a:rPr lang="zh-CN" altLang="en-US" smtClean="0">
                <a:latin typeface="Tahoma" panose="020B0604030504040204" pitchFamily="34" charset="0"/>
              </a:rPr>
              <a:t>30</a:t>
            </a:fld>
            <a:endParaRPr lang="zh-CN" altLang="en-US">
              <a:latin typeface="Tahoma" panose="020B060403050404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grpSp>
          <p:nvGrpSpPr>
            <p:cNvPr id="6" name="Group 6"/>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11276" name="Rectangle 12"/>
          <p:cNvSpPr>
            <a:spLocks noGrp="1" noChangeArrowheads="1"/>
          </p:cNvSpPr>
          <p:nvPr>
            <p:ph type="ctrTitle"/>
          </p:nvPr>
        </p:nvSpPr>
        <p:spPr>
          <a:xfrm>
            <a:off x="990600" y="1676400"/>
            <a:ext cx="7772400" cy="1462088"/>
          </a:xfrm>
        </p:spPr>
        <p:txBody>
          <a:bodyPr/>
          <a:lstStyle>
            <a:lvl1pPr>
              <a:defRPr/>
            </a:lvl1pPr>
          </a:lstStyle>
          <a:p>
            <a:pPr lvl="0"/>
            <a:r>
              <a:rPr lang="zh-CN" altLang="en-US" noProof="0"/>
              <a:t>单击此处编辑母版标题样式</a:t>
            </a:r>
          </a:p>
        </p:txBody>
      </p:sp>
      <p:sp>
        <p:nvSpPr>
          <p:cNvPr id="11277"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69573DB6-B18A-4989-8700-D373737EB56F}"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77C409BC-7729-4DAE-ABE1-26C35E7EA4EA}"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C10A5501-DB6E-438F-8373-3482124DEA9A}"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4D24C125-963A-4106-B96B-4AD6D2880B38}"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p:txBody>
          <a:bodyPr/>
          <a:lstStyle>
            <a:lvl1pPr>
              <a:defRPr/>
            </a:lvl1pPr>
          </a:lstStyle>
          <a:p>
            <a:pPr>
              <a:defRPr/>
            </a:pPr>
            <a:fld id="{5A7E123A-98B4-4048-9E99-F3B3C06108C5}"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pPr>
              <a:defRPr/>
            </a:pPr>
            <a:fld id="{CBC9F1F7-8AA7-4351-8534-02C4A823E5F4}"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pPr>
              <a:defRPr/>
            </a:pPr>
            <a:fld id="{B9C6F9F0-0A7A-4CAA-A013-3A72D38A9482}"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2AD9FBB6-F34C-42EF-AE1B-8EB41725202C}"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3E08E11F-FFE6-4949-9AD4-B37060F9208C}"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3D4EA949-777F-4BC8-8F19-DFCF8294E9B3}"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D37981C1-DEE9-41AE-BBBA-ACF42C30B2BC}"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a:effectLst/>
        </p:spPr>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a:effectLst/>
        </p:spPr>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a:effectLst/>
        </p:spPr>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sz="2800">
                <a:solidFill>
                  <a:schemeClr val="tx1"/>
                </a:solidFill>
                <a:latin typeface="Tahoma" panose="020B0604030504040204" pitchFamily="34" charset="0"/>
                <a:ea typeface="宋体" panose="02010600030101010101" pitchFamily="2" charset="-122"/>
              </a:defRPr>
            </a:lvl1pPr>
            <a:lvl2pPr marL="742950" indent="-285750" eaLnBrk="0" hangingPunct="0">
              <a:defRPr sz="2800">
                <a:solidFill>
                  <a:schemeClr val="tx1"/>
                </a:solidFill>
                <a:latin typeface="Tahoma" panose="020B0604030504040204" pitchFamily="34" charset="0"/>
                <a:ea typeface="宋体" panose="02010600030101010101" pitchFamily="2" charset="-122"/>
              </a:defRPr>
            </a:lvl2pPr>
            <a:lvl3pPr marL="1143000" indent="-228600" eaLnBrk="0" hangingPunct="0">
              <a:defRPr sz="2800">
                <a:solidFill>
                  <a:schemeClr val="tx1"/>
                </a:solidFill>
                <a:latin typeface="Tahoma" panose="020B0604030504040204" pitchFamily="34" charset="0"/>
                <a:ea typeface="宋体" panose="02010600030101010101" pitchFamily="2" charset="-122"/>
              </a:defRPr>
            </a:lvl3pPr>
            <a:lvl4pPr marL="1600200" indent="-228600" eaLnBrk="0" hangingPunct="0">
              <a:defRPr sz="2800">
                <a:solidFill>
                  <a:schemeClr val="tx1"/>
                </a:solidFill>
                <a:latin typeface="Tahoma" panose="020B0604030504040204" pitchFamily="34" charset="0"/>
                <a:ea typeface="宋体" panose="02010600030101010101" pitchFamily="2" charset="-122"/>
              </a:defRPr>
            </a:lvl4pPr>
            <a:lvl5pPr marL="2057400" indent="-228600" eaLnBrk="0" hangingPunct="0">
              <a:defRPr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33" name="Rectangle 9"/>
          <p:cNvSpPr>
            <a:spLocks noGrp="1" noChangeArrowheads="1"/>
          </p:cNvSpPr>
          <p:nvPr>
            <p:ph type="title"/>
          </p:nvPr>
        </p:nvSpPr>
        <p:spPr bwMode="auto">
          <a:xfrm>
            <a:off x="1150938" y="214313"/>
            <a:ext cx="7793037" cy="14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altLang="en-US"/>
              <a:t>单击此处编辑母版标题样式</a:t>
            </a:r>
          </a:p>
        </p:txBody>
      </p:sp>
      <p:sp>
        <p:nvSpPr>
          <p:cNvPr id="1034" name="Rectangle 10"/>
          <p:cNvSpPr>
            <a:spLocks noGrp="1" noChangeArrowheads="1"/>
          </p:cNvSpPr>
          <p:nvPr>
            <p:ph type="body" idx="1"/>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51" name="Rectangle 11"/>
          <p:cNvSpPr>
            <a:spLocks noGrp="1" noChangeArrowheads="1"/>
          </p:cNvSpPr>
          <p:nvPr>
            <p:ph type="dt" sz="half" idx="2"/>
          </p:nvPr>
        </p:nvSpPr>
        <p:spPr bwMode="auto">
          <a:xfrm>
            <a:off x="1162050" y="6243638"/>
            <a:ext cx="1905000" cy="457200"/>
          </a:xfrm>
          <a:prstGeom prst="rect">
            <a:avLst/>
          </a:prstGeom>
          <a:noFill/>
          <a:ln>
            <a:noFill/>
          </a:ln>
          <a:effectLst/>
        </p:spPr>
        <p:txBody>
          <a:bodyPr vert="horz" wrap="square" lIns="91440" tIns="45720" rIns="91440" bIns="45720" numCol="1" anchor="b" anchorCtr="0" compatLnSpc="1"/>
          <a:lstStyle>
            <a:lvl1pPr eaLnBrk="1" hangingPunct="1">
              <a:defRPr sz="1400"/>
            </a:lvl1pPr>
          </a:lstStyle>
          <a:p>
            <a:pPr>
              <a:defRPr/>
            </a:pPr>
            <a:endParaRPr lang="en-US" altLang="zh-CN"/>
          </a:p>
        </p:txBody>
      </p:sp>
      <p:sp>
        <p:nvSpPr>
          <p:cNvPr id="10252" name="Rectangle 12"/>
          <p:cNvSpPr>
            <a:spLocks noGrp="1" noChangeArrowheads="1"/>
          </p:cNvSpPr>
          <p:nvPr>
            <p:ph type="ftr" sz="quarter" idx="3"/>
          </p:nvPr>
        </p:nvSpPr>
        <p:spPr bwMode="auto">
          <a:xfrm>
            <a:off x="3657600" y="6243638"/>
            <a:ext cx="2895600" cy="457200"/>
          </a:xfrm>
          <a:prstGeom prst="rect">
            <a:avLst/>
          </a:prstGeom>
          <a:noFill/>
          <a:ln>
            <a:noFill/>
          </a:ln>
          <a:effectLst/>
        </p:spPr>
        <p:txBody>
          <a:bodyPr vert="horz" wrap="square" lIns="91440" tIns="45720" rIns="91440" bIns="45720" numCol="1" anchor="b" anchorCtr="0" compatLnSpc="1"/>
          <a:lstStyle>
            <a:lvl1pPr algn="ctr" eaLnBrk="1" hangingPunct="1">
              <a:defRPr sz="1400"/>
            </a:lvl1pPr>
          </a:lstStyle>
          <a:p>
            <a:pPr>
              <a:defRPr/>
            </a:pPr>
            <a:endParaRPr lang="en-US" altLang="zh-CN"/>
          </a:p>
        </p:txBody>
      </p:sp>
      <p:sp>
        <p:nvSpPr>
          <p:cNvPr id="10253" name="Rectangle 13"/>
          <p:cNvSpPr>
            <a:spLocks noGrp="1" noChangeArrowheads="1"/>
          </p:cNvSpPr>
          <p:nvPr>
            <p:ph type="sldNum" sz="quarter" idx="4"/>
          </p:nvPr>
        </p:nvSpPr>
        <p:spPr bwMode="auto">
          <a:xfrm>
            <a:off x="7042150" y="6243638"/>
            <a:ext cx="1905000" cy="457200"/>
          </a:xfrm>
          <a:prstGeom prst="rect">
            <a:avLst/>
          </a:prstGeom>
          <a:noFill/>
          <a:ln>
            <a:noFill/>
          </a:ln>
          <a:effectLst/>
        </p:spPr>
        <p:txBody>
          <a:bodyPr vert="horz" wrap="square" lIns="91440" tIns="45720" rIns="91440" bIns="45720" numCol="1" anchor="b" anchorCtr="0" compatLnSpc="1"/>
          <a:lstStyle>
            <a:lvl1pPr algn="r" eaLnBrk="1" hangingPunct="1">
              <a:defRPr sz="1400"/>
            </a:lvl1pPr>
          </a:lstStyle>
          <a:p>
            <a:pPr>
              <a:defRPr/>
            </a:pPr>
            <a:fld id="{300403A5-60FD-4934-8A49-81ECC9FEEE52}"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www.so.com/link?url=http://dict.youdao.com/search?q%3DIDE(integrated%20development%20environment)%26keyfrom%3Dhao360&amp;q=%E9%9B%86%E6%88%90%E5%BC%80%E5%8F%91%E7%8E%AF%E5%A2%83%E7%9A%84%E8%8B%B1%E6%96%87&amp;ts=1500675327&amp;t=ae42cfa8ad12317bd83b8fc81af7356"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5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5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5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p:cNvSpPr txBox="1">
            <a:spLocks noChangeArrowheads="1"/>
          </p:cNvSpPr>
          <p:nvPr/>
        </p:nvSpPr>
        <p:spPr bwMode="auto">
          <a:xfrm>
            <a:off x="1403350" y="1125538"/>
            <a:ext cx="6553200" cy="675640"/>
          </a:xfrm>
          <a:prstGeom prst="rect">
            <a:avLst/>
          </a:prstGeom>
          <a:noFill/>
          <a:ln>
            <a:noFill/>
          </a:ln>
          <a:effectLst/>
        </p:spPr>
        <p:txBody>
          <a:bodyPr>
            <a:spAutoFit/>
          </a:bodyPr>
          <a:lstStyle/>
          <a:p>
            <a:pPr eaLnBrk="1" hangingPunct="1">
              <a:spcBef>
                <a:spcPct val="50000"/>
              </a:spcBef>
              <a:defRPr/>
            </a:pPr>
            <a:r>
              <a:rPr lang="zh-CN" altLang="en-US" sz="3800" b="1" dirty="0">
                <a:solidFill>
                  <a:srgbClr val="FF0000"/>
                </a:solidFill>
                <a:effectLst>
                  <a:outerShdw blurRad="38100" dist="38100" dir="2700000" algn="tl">
                    <a:srgbClr val="C0C0C0"/>
                  </a:outerShdw>
                </a:effectLst>
                <a:latin typeface="楷体" panose="02010609060101010101" pitchFamily="49" charset="-122"/>
                <a:ea typeface="楷体" panose="02010609060101010101" pitchFamily="49" charset="-122"/>
              </a:rPr>
              <a:t>第</a:t>
            </a:r>
            <a:r>
              <a:rPr lang="en-US" altLang="zh-CN" sz="3800" b="1" dirty="0">
                <a:solidFill>
                  <a:srgbClr val="FF0000"/>
                </a:solidFill>
                <a:effectLst>
                  <a:outerShdw blurRad="38100" dist="38100" dir="2700000" algn="tl">
                    <a:srgbClr val="C0C0C0"/>
                  </a:outerShdw>
                </a:effectLst>
                <a:latin typeface="楷体" panose="02010609060101010101" pitchFamily="49" charset="-122"/>
                <a:ea typeface="楷体" panose="02010609060101010101" pitchFamily="49" charset="-122"/>
              </a:rPr>
              <a:t>3</a:t>
            </a:r>
            <a:r>
              <a:rPr lang="zh-CN" altLang="en-US" sz="3800" b="1" dirty="0">
                <a:solidFill>
                  <a:srgbClr val="FF0000"/>
                </a:solidFill>
                <a:effectLst>
                  <a:outerShdw blurRad="38100" dist="38100" dir="2700000" algn="tl">
                    <a:srgbClr val="C0C0C0"/>
                  </a:outerShdw>
                </a:effectLst>
                <a:latin typeface="楷体" panose="02010609060101010101" pitchFamily="49" charset="-122"/>
                <a:ea typeface="楷体" panose="02010609060101010101" pitchFamily="49" charset="-122"/>
              </a:rPr>
              <a:t>章 单片机的</a:t>
            </a:r>
            <a:r>
              <a:rPr lang="en-US" altLang="zh-CN" sz="3800" b="1" dirty="0">
                <a:solidFill>
                  <a:srgbClr val="FF0000"/>
                </a:solidFill>
                <a:effectLst>
                  <a:outerShdw blurRad="38100" dist="38100" dir="2700000" algn="tl">
                    <a:srgbClr val="C0C0C0"/>
                  </a:outerShdw>
                </a:effectLst>
                <a:latin typeface="楷体" panose="02010609060101010101" pitchFamily="49" charset="-122"/>
                <a:ea typeface="楷体" panose="02010609060101010101" pitchFamily="49" charset="-122"/>
              </a:rPr>
              <a:t>C51</a:t>
            </a:r>
            <a:r>
              <a:rPr lang="zh-CN" altLang="en-US" sz="3800" b="1" dirty="0">
                <a:solidFill>
                  <a:srgbClr val="FF0000"/>
                </a:solidFill>
                <a:effectLst>
                  <a:outerShdw blurRad="38100" dist="38100" dir="2700000" algn="tl">
                    <a:srgbClr val="C0C0C0"/>
                  </a:outerShdw>
                </a:effectLst>
                <a:latin typeface="楷体" panose="02010609060101010101" pitchFamily="49" charset="-122"/>
                <a:ea typeface="楷体" panose="02010609060101010101" pitchFamily="49" charset="-122"/>
              </a:rPr>
              <a:t>基础知识</a:t>
            </a:r>
          </a:p>
        </p:txBody>
      </p:sp>
      <p:sp>
        <p:nvSpPr>
          <p:cNvPr id="2053" name="Text Box 5"/>
          <p:cNvSpPr txBox="1">
            <a:spLocks noChangeArrowheads="1"/>
          </p:cNvSpPr>
          <p:nvPr/>
        </p:nvSpPr>
        <p:spPr bwMode="auto">
          <a:xfrm>
            <a:off x="1814513" y="2143125"/>
            <a:ext cx="6121400" cy="4443413"/>
          </a:xfrm>
          <a:prstGeom prst="rect">
            <a:avLst/>
          </a:prstGeom>
          <a:noFill/>
          <a:ln>
            <a:noFill/>
          </a:ln>
          <a:effectLst/>
        </p:spPr>
        <p:txBody>
          <a:bodyPr>
            <a:spAutoFit/>
          </a:bodyPr>
          <a:lstStyle/>
          <a:p>
            <a:pPr marL="457200" indent="-457200" eaLnBrk="1" hangingPunct="1">
              <a:spcBef>
                <a:spcPct val="30000"/>
              </a:spcBef>
              <a:buClr>
                <a:srgbClr val="C00000"/>
              </a:buClr>
              <a:buFont typeface="Wingdings" panose="05000000000000000000" pitchFamily="2" charset="2"/>
              <a:buChar char="p"/>
              <a:defRPr/>
            </a:pPr>
            <a:r>
              <a:rPr lang="en-US" altLang="zh-CN"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MCS-51</a:t>
            </a:r>
            <a:r>
              <a:rPr lang="zh-CN" altLang="en-US"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单片机的编程语言</a:t>
            </a:r>
            <a:endParaRPr lang="en-US" altLang="zh-CN"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marL="457200" indent="-457200" eaLnBrk="1" hangingPunct="1">
              <a:spcBef>
                <a:spcPct val="30000"/>
              </a:spcBef>
              <a:buClr>
                <a:srgbClr val="C00000"/>
              </a:buClr>
              <a:buFont typeface="Wingdings" panose="05000000000000000000" pitchFamily="2" charset="2"/>
              <a:buChar char="p"/>
              <a:defRPr/>
            </a:pPr>
            <a:r>
              <a:rPr lang="en-US" altLang="zh-CN"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C51</a:t>
            </a:r>
            <a:r>
              <a:rPr lang="zh-CN" altLang="en-US"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程序与标准</a:t>
            </a:r>
            <a:r>
              <a:rPr lang="en-US" altLang="zh-CN"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a:t>
            </a:r>
            <a:r>
              <a:rPr lang="zh-CN" altLang="en-US"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程序的区别</a:t>
            </a:r>
            <a:endParaRPr lang="en-US" altLang="zh-CN"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marL="457200" indent="-457200" eaLnBrk="1" hangingPunct="1">
              <a:spcBef>
                <a:spcPct val="30000"/>
              </a:spcBef>
              <a:buClr>
                <a:srgbClr val="C00000"/>
              </a:buClr>
              <a:buFont typeface="Wingdings" panose="05000000000000000000" pitchFamily="2" charset="2"/>
              <a:buChar char="p"/>
              <a:defRPr/>
            </a:pPr>
            <a:r>
              <a:rPr lang="en-US" altLang="zh-CN"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C51</a:t>
            </a:r>
            <a:r>
              <a:rPr lang="zh-CN" altLang="en-US"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的程序结构</a:t>
            </a:r>
          </a:p>
          <a:p>
            <a:pPr marL="457200" indent="-457200" eaLnBrk="1" hangingPunct="1">
              <a:spcBef>
                <a:spcPct val="30000"/>
              </a:spcBef>
              <a:buClr>
                <a:srgbClr val="C00000"/>
              </a:buClr>
              <a:buFont typeface="Wingdings" panose="05000000000000000000" pitchFamily="2" charset="2"/>
              <a:buChar char="p"/>
              <a:defRPr/>
            </a:pPr>
            <a:r>
              <a:rPr lang="en-US" altLang="zh-CN"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C51</a:t>
            </a:r>
            <a:r>
              <a:rPr lang="zh-CN" altLang="en-US"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的数据结构</a:t>
            </a:r>
            <a:endParaRPr lang="en-US" altLang="zh-CN"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marL="914400" lvl="1" indent="-457200" eaLnBrk="1" hangingPunct="1">
              <a:spcBef>
                <a:spcPct val="30000"/>
              </a:spcBef>
              <a:buClr>
                <a:srgbClr val="0000FF"/>
              </a:buClr>
              <a:buSzPct val="90000"/>
              <a:buFont typeface="Wingdings" panose="05000000000000000000" pitchFamily="2" charset="2"/>
              <a:buChar char="l"/>
              <a:defRPr/>
            </a:pPr>
            <a:r>
              <a:rPr lang="zh-CN" altLang="en-US" sz="26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存储种类</a:t>
            </a:r>
            <a:endParaRPr lang="en-US" altLang="zh-CN" sz="26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marL="914400" lvl="1" indent="-457200" eaLnBrk="1" hangingPunct="1">
              <a:spcBef>
                <a:spcPct val="30000"/>
              </a:spcBef>
              <a:buClr>
                <a:srgbClr val="0000FF"/>
              </a:buClr>
              <a:buSzPct val="90000"/>
              <a:buFont typeface="Wingdings" panose="05000000000000000000" pitchFamily="2" charset="2"/>
              <a:buChar char="l"/>
              <a:defRPr/>
            </a:pPr>
            <a:r>
              <a:rPr lang="zh-CN" altLang="en-US" sz="26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数据类型</a:t>
            </a:r>
            <a:endParaRPr lang="en-US" altLang="zh-CN" sz="26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marL="914400" lvl="1" indent="-457200" eaLnBrk="1" hangingPunct="1">
              <a:spcBef>
                <a:spcPct val="30000"/>
              </a:spcBef>
              <a:buClr>
                <a:srgbClr val="0000FF"/>
              </a:buClr>
              <a:buSzPct val="90000"/>
              <a:buFont typeface="Wingdings" panose="05000000000000000000" pitchFamily="2" charset="2"/>
              <a:buChar char="l"/>
              <a:defRPr/>
            </a:pPr>
            <a:r>
              <a:rPr lang="zh-CN" altLang="en-US" sz="26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存储类型</a:t>
            </a:r>
            <a:endParaRPr lang="en-US" altLang="zh-CN" sz="26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marL="457200" indent="-457200" eaLnBrk="1" hangingPunct="1">
              <a:spcBef>
                <a:spcPct val="30000"/>
              </a:spcBef>
              <a:buClr>
                <a:srgbClr val="C00000"/>
              </a:buClr>
              <a:buFont typeface="Wingdings" panose="05000000000000000000" pitchFamily="2" charset="2"/>
              <a:buChar char="p"/>
              <a:defRPr/>
            </a:pPr>
            <a:endParaRPr lang="zh-CN" altLang="en-US"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053">
                                            <p:txEl>
                                              <p:pRg st="0" end="0"/>
                                            </p:txEl>
                                          </p:spTgt>
                                        </p:tgtEl>
                                        <p:attrNameLst>
                                          <p:attrName>style.visibility</p:attrName>
                                        </p:attrNameLst>
                                      </p:cBhvr>
                                      <p:to>
                                        <p:strVal val="visible"/>
                                      </p:to>
                                    </p:set>
                                    <p:animEffect transition="in" filter="randombar(horizontal)">
                                      <p:cBhvr>
                                        <p:cTn id="7" dur="500"/>
                                        <p:tgtEl>
                                          <p:spTgt spid="20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053">
                                            <p:txEl>
                                              <p:pRg st="1" end="1"/>
                                            </p:txEl>
                                          </p:spTgt>
                                        </p:tgtEl>
                                        <p:attrNameLst>
                                          <p:attrName>style.visibility</p:attrName>
                                        </p:attrNameLst>
                                      </p:cBhvr>
                                      <p:to>
                                        <p:strVal val="visible"/>
                                      </p:to>
                                    </p:set>
                                    <p:animEffect transition="in" filter="randombar(horizontal)">
                                      <p:cBhvr>
                                        <p:cTn id="12" dur="500"/>
                                        <p:tgtEl>
                                          <p:spTgt spid="205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053">
                                            <p:txEl>
                                              <p:pRg st="2" end="2"/>
                                            </p:txEl>
                                          </p:spTgt>
                                        </p:tgtEl>
                                        <p:attrNameLst>
                                          <p:attrName>style.visibility</p:attrName>
                                        </p:attrNameLst>
                                      </p:cBhvr>
                                      <p:to>
                                        <p:strVal val="visible"/>
                                      </p:to>
                                    </p:set>
                                    <p:animEffect transition="in" filter="randombar(horizontal)">
                                      <p:cBhvr>
                                        <p:cTn id="17" dur="500"/>
                                        <p:tgtEl>
                                          <p:spTgt spid="205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053">
                                            <p:txEl>
                                              <p:pRg st="3" end="3"/>
                                            </p:txEl>
                                          </p:spTgt>
                                        </p:tgtEl>
                                        <p:attrNameLst>
                                          <p:attrName>style.visibility</p:attrName>
                                        </p:attrNameLst>
                                      </p:cBhvr>
                                      <p:to>
                                        <p:strVal val="visible"/>
                                      </p:to>
                                    </p:set>
                                    <p:animEffect transition="in" filter="randombar(horizontal)">
                                      <p:cBhvr>
                                        <p:cTn id="22" dur="500"/>
                                        <p:tgtEl>
                                          <p:spTgt spid="2053">
                                            <p:txEl>
                                              <p:pRg st="3" end="3"/>
                                            </p:txEl>
                                          </p:spTgt>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2053">
                                            <p:txEl>
                                              <p:pRg st="4" end="4"/>
                                            </p:txEl>
                                          </p:spTgt>
                                        </p:tgtEl>
                                        <p:attrNameLst>
                                          <p:attrName>style.visibility</p:attrName>
                                        </p:attrNameLst>
                                      </p:cBhvr>
                                      <p:to>
                                        <p:strVal val="visible"/>
                                      </p:to>
                                    </p:set>
                                    <p:animEffect transition="in" filter="randombar(horizontal)">
                                      <p:cBhvr>
                                        <p:cTn id="25" dur="500"/>
                                        <p:tgtEl>
                                          <p:spTgt spid="2053">
                                            <p:txEl>
                                              <p:pRg st="4" end="4"/>
                                            </p:txEl>
                                          </p:spTgt>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2053">
                                            <p:txEl>
                                              <p:pRg st="5" end="5"/>
                                            </p:txEl>
                                          </p:spTgt>
                                        </p:tgtEl>
                                        <p:attrNameLst>
                                          <p:attrName>style.visibility</p:attrName>
                                        </p:attrNameLst>
                                      </p:cBhvr>
                                      <p:to>
                                        <p:strVal val="visible"/>
                                      </p:to>
                                    </p:set>
                                    <p:animEffect transition="in" filter="randombar(horizontal)">
                                      <p:cBhvr>
                                        <p:cTn id="28" dur="500"/>
                                        <p:tgtEl>
                                          <p:spTgt spid="2053">
                                            <p:txEl>
                                              <p:pRg st="5" end="5"/>
                                            </p:txEl>
                                          </p:spTgt>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2053">
                                            <p:txEl>
                                              <p:pRg st="6" end="6"/>
                                            </p:txEl>
                                          </p:spTgt>
                                        </p:tgtEl>
                                        <p:attrNameLst>
                                          <p:attrName>style.visibility</p:attrName>
                                        </p:attrNameLst>
                                      </p:cBhvr>
                                      <p:to>
                                        <p:strVal val="visible"/>
                                      </p:to>
                                    </p:set>
                                    <p:animEffect transition="in" filter="randombar(horizontal)">
                                      <p:cBhvr>
                                        <p:cTn id="31" dur="500"/>
                                        <p:tgtEl>
                                          <p:spTgt spid="205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882651" y="244475"/>
            <a:ext cx="7793037" cy="808261"/>
          </a:xfrm>
        </p:spPr>
        <p:txBody>
          <a:bodyPr/>
          <a:lstStyle/>
          <a:p>
            <a:pPr algn="ctr" eaLnBrk="1" hangingPunct="1">
              <a:defRPr/>
            </a:pPr>
            <a:r>
              <a:rPr lang="en-US" altLang="zh-CN" sz="36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3.1 C51</a:t>
            </a:r>
            <a:r>
              <a:rPr lang="zh-CN" altLang="en-US" sz="36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语言概述</a:t>
            </a:r>
          </a:p>
        </p:txBody>
      </p:sp>
      <p:sp>
        <p:nvSpPr>
          <p:cNvPr id="13315" name="Rectangle 3"/>
          <p:cNvSpPr>
            <a:spLocks noGrp="1" noChangeArrowheads="1"/>
          </p:cNvSpPr>
          <p:nvPr>
            <p:ph type="body" idx="1"/>
          </p:nvPr>
        </p:nvSpPr>
        <p:spPr>
          <a:xfrm>
            <a:off x="684213" y="1268413"/>
            <a:ext cx="7991475" cy="576262"/>
          </a:xfrm>
        </p:spPr>
        <p:txBody>
          <a:bodyPr/>
          <a:lstStyle/>
          <a:p>
            <a:pPr eaLnBrk="1" hangingPunct="1">
              <a:lnSpc>
                <a:spcPct val="130000"/>
              </a:lnSpc>
              <a:defRPr/>
            </a:pPr>
            <a:r>
              <a:rPr lang="en-US" altLang="zh-CN" sz="2800" b="1" dirty="0">
                <a:effectLst>
                  <a:outerShdw blurRad="38100" dist="38100" dir="2700000" algn="tl">
                    <a:srgbClr val="000000">
                      <a:alpha val="43137"/>
                    </a:srgbClr>
                  </a:outerShdw>
                </a:effectLst>
                <a:latin typeface="Times New Roman" panose="02020603050405020304" pitchFamily="18" charset="0"/>
              </a:rPr>
              <a:t>51</a:t>
            </a:r>
            <a:r>
              <a:rPr lang="zh-CN" altLang="en-US" sz="2800" b="1" dirty="0">
                <a:effectLst>
                  <a:outerShdw blurRad="38100" dist="38100" dir="2700000" algn="tl">
                    <a:srgbClr val="000000">
                      <a:alpha val="43137"/>
                    </a:srgbClr>
                  </a:outerShdw>
                </a:effectLst>
                <a:latin typeface="Times New Roman" panose="02020603050405020304" pitchFamily="18" charset="0"/>
              </a:rPr>
              <a:t>单片机编程语言：</a:t>
            </a:r>
            <a:r>
              <a:rPr lang="en-US" altLang="zh-CN" sz="2800" b="1" dirty="0">
                <a:effectLst>
                  <a:outerShdw blurRad="38100" dist="38100" dir="2700000" algn="tl">
                    <a:srgbClr val="000000">
                      <a:alpha val="43137"/>
                    </a:srgbClr>
                  </a:outerShdw>
                </a:effectLst>
                <a:latin typeface="Times New Roman" panose="02020603050405020304" pitchFamily="18" charset="0"/>
              </a:rPr>
              <a:t>C51</a:t>
            </a:r>
            <a:r>
              <a:rPr lang="zh-CN" altLang="en-US" sz="2800" b="1" dirty="0">
                <a:effectLst>
                  <a:outerShdw blurRad="38100" dist="38100" dir="2700000" algn="tl">
                    <a:srgbClr val="000000">
                      <a:alpha val="43137"/>
                    </a:srgbClr>
                  </a:outerShdw>
                </a:effectLst>
                <a:latin typeface="Times New Roman" panose="02020603050405020304" pitchFamily="18" charset="0"/>
              </a:rPr>
              <a:t>语言、汇编语言。</a:t>
            </a:r>
          </a:p>
        </p:txBody>
      </p:sp>
      <p:sp>
        <p:nvSpPr>
          <p:cNvPr id="4" name="Rectangle 4"/>
          <p:cNvSpPr>
            <a:spLocks noChangeArrowheads="1"/>
          </p:cNvSpPr>
          <p:nvPr/>
        </p:nvSpPr>
        <p:spPr bwMode="auto">
          <a:xfrm>
            <a:off x="696913" y="1957388"/>
            <a:ext cx="7991475" cy="4278312"/>
          </a:xfrm>
          <a:prstGeom prst="rect">
            <a:avLst/>
          </a:prstGeom>
          <a:noFill/>
          <a:ln>
            <a:noFill/>
          </a:ln>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ts val="1200"/>
              </a:spcBef>
              <a:buFontTx/>
              <a:buNone/>
              <a:defRPr/>
            </a:pPr>
            <a:r>
              <a:rPr lang="zh-CN" altLang="zh-CN" sz="2800" b="1" dirty="0">
                <a:solidFill>
                  <a:srgbClr val="FF0000"/>
                </a:solidFill>
                <a:effectLst>
                  <a:outerShdw blurRad="38100" dist="38100" dir="2700000" algn="tl">
                    <a:srgbClr val="000000">
                      <a:alpha val="43137"/>
                    </a:srgbClr>
                  </a:outerShdw>
                </a:effectLst>
              </a:rPr>
              <a:t>汇编语言</a:t>
            </a:r>
            <a:r>
              <a:rPr lang="zh-CN" altLang="zh-CN" sz="2800" b="1" dirty="0">
                <a:effectLst>
                  <a:outerShdw blurRad="38100" dist="38100" dir="2700000" algn="tl">
                    <a:srgbClr val="000000">
                      <a:alpha val="43137"/>
                    </a:srgbClr>
                  </a:outerShdw>
                </a:effectLst>
              </a:rPr>
              <a:t>是一种面向机器的编程语言，能直接操作单片机的硬件系统，如存储器、</a:t>
            </a:r>
            <a:r>
              <a:rPr lang="en-US" altLang="zh-CN" sz="2800" b="1" dirty="0">
                <a:effectLst>
                  <a:outerShdw blurRad="38100" dist="38100" dir="2700000" algn="tl">
                    <a:srgbClr val="000000">
                      <a:alpha val="43137"/>
                    </a:srgbClr>
                  </a:outerShdw>
                </a:effectLst>
              </a:rPr>
              <a:t>I/O</a:t>
            </a:r>
            <a:r>
              <a:rPr lang="zh-CN" altLang="zh-CN" sz="2800" b="1" dirty="0">
                <a:effectLst>
                  <a:outerShdw blurRad="38100" dist="38100" dir="2700000" algn="tl">
                    <a:srgbClr val="000000">
                      <a:alpha val="43137"/>
                    </a:srgbClr>
                  </a:outerShdw>
                </a:effectLst>
              </a:rPr>
              <a:t>端口、定时</a:t>
            </a:r>
            <a:r>
              <a:rPr lang="en-US" altLang="zh-CN" sz="2800" b="1" dirty="0">
                <a:effectLst>
                  <a:outerShdw blurRad="38100" dist="38100" dir="2700000" algn="tl">
                    <a:srgbClr val="000000">
                      <a:alpha val="43137"/>
                    </a:srgbClr>
                  </a:outerShdw>
                </a:effectLst>
              </a:rPr>
              <a:t>/</a:t>
            </a:r>
            <a:r>
              <a:rPr lang="zh-CN" altLang="zh-CN" sz="2800" b="1" dirty="0">
                <a:effectLst>
                  <a:outerShdw blurRad="38100" dist="38100" dir="2700000" algn="tl">
                    <a:srgbClr val="000000">
                      <a:alpha val="43137"/>
                    </a:srgbClr>
                  </a:outerShdw>
                </a:effectLst>
              </a:rPr>
              <a:t>计数器等。</a:t>
            </a:r>
            <a:endParaRPr lang="en-US" altLang="zh-CN" sz="2800" b="1" dirty="0">
              <a:effectLst>
                <a:outerShdw blurRad="38100" dist="38100" dir="2700000" algn="tl">
                  <a:srgbClr val="000000">
                    <a:alpha val="43137"/>
                  </a:srgbClr>
                </a:outerShdw>
              </a:effectLst>
            </a:endParaRPr>
          </a:p>
          <a:p>
            <a:pPr eaLnBrk="1" hangingPunct="1">
              <a:spcBef>
                <a:spcPts val="1200"/>
              </a:spcBef>
              <a:buFontTx/>
              <a:buNone/>
              <a:defRPr/>
            </a:pPr>
            <a:r>
              <a:rPr lang="zh-CN" altLang="en-US" sz="2800" b="1" dirty="0">
                <a:solidFill>
                  <a:srgbClr val="FF0000"/>
                </a:solidFill>
                <a:effectLst>
                  <a:outerShdw blurRad="38100" dist="38100" dir="2700000" algn="tl">
                    <a:srgbClr val="000000">
                      <a:alpha val="43137"/>
                    </a:srgbClr>
                  </a:outerShdw>
                </a:effectLst>
              </a:rPr>
              <a:t>优点</a:t>
            </a:r>
            <a:r>
              <a:rPr lang="zh-CN" altLang="en-US" sz="2800" b="1" dirty="0">
                <a:effectLst>
                  <a:outerShdw blurRad="38100" dist="38100" dir="2700000" algn="tl">
                    <a:srgbClr val="000000">
                      <a:alpha val="43137"/>
                    </a:srgbClr>
                  </a:outerShdw>
                </a:effectLst>
              </a:rPr>
              <a:t>：</a:t>
            </a:r>
            <a:r>
              <a:rPr lang="zh-CN" altLang="zh-CN" sz="2800" b="1" dirty="0">
                <a:effectLst>
                  <a:outerShdw blurRad="38100" dist="38100" dir="2700000" algn="tl">
                    <a:srgbClr val="000000">
                      <a:alpha val="43137"/>
                    </a:srgbClr>
                  </a:outerShdw>
                </a:effectLst>
              </a:rPr>
              <a:t>指令效率高、执行速度快，在实时性要求较高的场合有着不可替代的作用。</a:t>
            </a:r>
            <a:endParaRPr lang="en-US" altLang="zh-CN" sz="2800" b="1" dirty="0">
              <a:effectLst>
                <a:outerShdw blurRad="38100" dist="38100" dir="2700000" algn="tl">
                  <a:srgbClr val="000000">
                    <a:alpha val="43137"/>
                  </a:srgbClr>
                </a:outerShdw>
              </a:effectLst>
            </a:endParaRPr>
          </a:p>
          <a:p>
            <a:pPr eaLnBrk="1" hangingPunct="1">
              <a:spcBef>
                <a:spcPts val="1200"/>
              </a:spcBef>
              <a:buFontTx/>
              <a:buNone/>
              <a:defRPr/>
            </a:pPr>
            <a:r>
              <a:rPr lang="zh-CN" altLang="en-US" sz="2800" b="1" dirty="0">
                <a:solidFill>
                  <a:srgbClr val="FF0000"/>
                </a:solidFill>
                <a:effectLst>
                  <a:outerShdw blurRad="38100" dist="38100" dir="2700000" algn="tl">
                    <a:srgbClr val="000000">
                      <a:alpha val="43137"/>
                    </a:srgbClr>
                  </a:outerShdw>
                </a:effectLst>
              </a:rPr>
              <a:t>缺点</a:t>
            </a:r>
            <a:r>
              <a:rPr lang="zh-CN" altLang="en-US" sz="2800" b="1" dirty="0">
                <a:effectLst>
                  <a:outerShdw blurRad="38100" dist="38100" dir="2700000" algn="tl">
                    <a:srgbClr val="000000">
                      <a:alpha val="43137"/>
                    </a:srgbClr>
                  </a:outerShdw>
                </a:effectLst>
              </a:rPr>
              <a:t>：</a:t>
            </a:r>
            <a:r>
              <a:rPr lang="zh-CN" altLang="zh-CN" sz="2800" b="1" dirty="0">
                <a:effectLst>
                  <a:outerShdw blurRad="38100" dist="38100" dir="2700000" algn="tl">
                    <a:srgbClr val="000000">
                      <a:alpha val="43137"/>
                    </a:srgbClr>
                  </a:outerShdw>
                </a:effectLst>
              </a:rPr>
              <a:t>汇编语言属于低级编程语言，程序可读性差，移植困难，而且编程时还必须具体组织、分配存储器资源和处理端口数据，因而编程工作量很大。</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arn(inVertical)">
                                      <p:cBhvr>
                                        <p:cTn id="7" dur="500"/>
                                        <p:tgtEl>
                                          <p:spTgt spid="13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827088" y="620713"/>
            <a:ext cx="7845425" cy="4505325"/>
          </a:xfrm>
          <a:prstGeom prst="rect">
            <a:avLst/>
          </a:prstGeom>
          <a:noFill/>
          <a:ln>
            <a:noFill/>
          </a:ln>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ts val="1200"/>
              </a:spcBef>
              <a:buFontTx/>
              <a:buNone/>
              <a:defRPr/>
            </a:pPr>
            <a:r>
              <a:rPr lang="en-US" altLang="zh-CN" sz="2600" b="1" dirty="0">
                <a:solidFill>
                  <a:srgbClr val="FF0000"/>
                </a:solidFill>
                <a:effectLst>
                  <a:outerShdw blurRad="38100" dist="38100" dir="2700000" algn="tl">
                    <a:srgbClr val="000000">
                      <a:alpha val="43137"/>
                    </a:srgbClr>
                  </a:outerShdw>
                </a:effectLst>
              </a:rPr>
              <a:t>C51</a:t>
            </a:r>
            <a:r>
              <a:rPr lang="zh-CN" altLang="zh-CN" sz="2600" b="1" dirty="0">
                <a:solidFill>
                  <a:srgbClr val="FF0000"/>
                </a:solidFill>
                <a:effectLst>
                  <a:outerShdw blurRad="38100" dist="38100" dir="2700000" algn="tl">
                    <a:srgbClr val="000000">
                      <a:alpha val="43137"/>
                    </a:srgbClr>
                  </a:outerShdw>
                </a:effectLst>
              </a:rPr>
              <a:t>语言</a:t>
            </a:r>
            <a:r>
              <a:rPr lang="zh-CN" altLang="zh-CN" sz="2600" b="1" dirty="0">
                <a:effectLst>
                  <a:outerShdw blurRad="38100" dist="38100" dir="2700000" algn="tl">
                    <a:srgbClr val="000000">
                      <a:alpha val="43137"/>
                    </a:srgbClr>
                  </a:outerShdw>
                </a:effectLst>
              </a:rPr>
              <a:t>是为</a:t>
            </a:r>
            <a:r>
              <a:rPr lang="en-US" altLang="zh-CN" sz="2600" b="1" dirty="0">
                <a:effectLst>
                  <a:outerShdw blurRad="38100" dist="38100" dir="2700000" algn="tl">
                    <a:srgbClr val="000000">
                      <a:alpha val="43137"/>
                    </a:srgbClr>
                  </a:outerShdw>
                </a:effectLst>
              </a:rPr>
              <a:t>51</a:t>
            </a:r>
            <a:r>
              <a:rPr lang="zh-CN" altLang="zh-CN" sz="2600" b="1" dirty="0">
                <a:effectLst>
                  <a:outerShdw blurRad="38100" dist="38100" dir="2700000" algn="tl">
                    <a:srgbClr val="000000">
                      <a:alpha val="43137"/>
                    </a:srgbClr>
                  </a:outerShdw>
                </a:effectLst>
              </a:rPr>
              <a:t>单片机设计的一种高级编程语言，属于标准</a:t>
            </a:r>
            <a:r>
              <a:rPr lang="en-US" altLang="zh-CN" sz="2600" b="1" dirty="0">
                <a:effectLst>
                  <a:outerShdw blurRad="38100" dist="38100" dir="2700000" algn="tl">
                    <a:srgbClr val="000000">
                      <a:alpha val="43137"/>
                    </a:srgbClr>
                  </a:outerShdw>
                </a:effectLst>
              </a:rPr>
              <a:t>C</a:t>
            </a:r>
            <a:r>
              <a:rPr lang="zh-CN" altLang="zh-CN" sz="2600" b="1" dirty="0">
                <a:effectLst>
                  <a:outerShdw blurRad="38100" dist="38100" dir="2700000" algn="tl">
                    <a:srgbClr val="000000">
                      <a:alpha val="43137"/>
                    </a:srgbClr>
                  </a:outerShdw>
                </a:effectLst>
              </a:rPr>
              <a:t>语言的一个子集</a:t>
            </a:r>
            <a:r>
              <a:rPr lang="zh-CN" altLang="en-US" sz="2600" b="1" dirty="0">
                <a:effectLst>
                  <a:outerShdw blurRad="38100" dist="38100" dir="2700000" algn="tl">
                    <a:srgbClr val="000000">
                      <a:alpha val="43137"/>
                    </a:srgbClr>
                  </a:outerShdw>
                </a:effectLst>
              </a:rPr>
              <a:t>。</a:t>
            </a:r>
            <a:endParaRPr lang="en-US" altLang="zh-CN" sz="2600" b="1" dirty="0">
              <a:effectLst>
                <a:outerShdw blurRad="38100" dist="38100" dir="2700000" algn="tl">
                  <a:srgbClr val="000000">
                    <a:alpha val="43137"/>
                  </a:srgbClr>
                </a:outerShdw>
              </a:effectLst>
            </a:endParaRPr>
          </a:p>
          <a:p>
            <a:pPr eaLnBrk="1" hangingPunct="1">
              <a:lnSpc>
                <a:spcPct val="130000"/>
              </a:lnSpc>
              <a:spcBef>
                <a:spcPts val="1200"/>
              </a:spcBef>
              <a:buFontTx/>
              <a:buNone/>
              <a:defRPr/>
            </a:pPr>
            <a:r>
              <a:rPr lang="zh-CN" altLang="en-US" sz="2600" b="1" dirty="0">
                <a:solidFill>
                  <a:srgbClr val="FF0000"/>
                </a:solidFill>
                <a:effectLst>
                  <a:outerShdw blurRad="38100" dist="38100" dir="2700000" algn="tl">
                    <a:srgbClr val="000000">
                      <a:alpha val="43137"/>
                    </a:srgbClr>
                  </a:outerShdw>
                </a:effectLst>
              </a:rPr>
              <a:t>优点</a:t>
            </a:r>
            <a:r>
              <a:rPr lang="zh-CN" altLang="en-US" sz="2600" b="1" dirty="0">
                <a:effectLst>
                  <a:outerShdw blurRad="38100" dist="38100" dir="2700000" algn="tl">
                    <a:srgbClr val="000000">
                      <a:alpha val="43137"/>
                    </a:srgbClr>
                  </a:outerShdw>
                </a:effectLst>
              </a:rPr>
              <a:t>：</a:t>
            </a:r>
            <a:r>
              <a:rPr lang="zh-CN" altLang="zh-CN" sz="2600" b="1" dirty="0">
                <a:effectLst>
                  <a:outerShdw blurRad="38100" dist="38100" dir="2700000" algn="tl">
                    <a:srgbClr val="000000">
                      <a:alpha val="43137"/>
                    </a:srgbClr>
                  </a:outerShdw>
                </a:effectLst>
              </a:rPr>
              <a:t>具有可读性强，易于调试维护，编程工作量小的特点。由于</a:t>
            </a:r>
            <a:r>
              <a:rPr lang="zh-CN" altLang="zh-CN" sz="2600" b="1" dirty="0">
                <a:solidFill>
                  <a:srgbClr val="0000FF"/>
                </a:solidFill>
                <a:effectLst>
                  <a:outerShdw blurRad="38100" dist="38100" dir="2700000" algn="tl">
                    <a:srgbClr val="000000">
                      <a:alpha val="43137"/>
                    </a:srgbClr>
                  </a:outerShdw>
                </a:effectLst>
              </a:rPr>
              <a:t>允许直接访问物理地址，能直接对硬件进行操作</a:t>
            </a:r>
            <a:r>
              <a:rPr lang="zh-CN" altLang="zh-CN" sz="2600" b="1" dirty="0">
                <a:effectLst>
                  <a:outerShdw blurRad="38100" dist="38100" dir="2700000" algn="tl">
                    <a:srgbClr val="000000">
                      <a:alpha val="43137"/>
                    </a:srgbClr>
                  </a:outerShdw>
                </a:effectLst>
              </a:rPr>
              <a:t>，可实现汇编语言的部分功能，因而兼有高级和低级语言的特点，适用范围广。目前</a:t>
            </a:r>
            <a:r>
              <a:rPr lang="en-US" altLang="zh-CN" sz="2600" b="1" dirty="0">
                <a:effectLst>
                  <a:outerShdw blurRad="38100" dist="38100" dir="2700000" algn="tl">
                    <a:srgbClr val="000000">
                      <a:alpha val="43137"/>
                    </a:srgbClr>
                  </a:outerShdw>
                </a:effectLst>
              </a:rPr>
              <a:t>C51</a:t>
            </a:r>
            <a:r>
              <a:rPr lang="zh-CN" altLang="zh-CN" sz="2600" b="1" dirty="0">
                <a:effectLst>
                  <a:outerShdw blurRad="38100" dist="38100" dir="2700000" algn="tl">
                    <a:srgbClr val="000000">
                      <a:alpha val="43137"/>
                    </a:srgbClr>
                  </a:outerShdw>
                </a:effectLst>
              </a:rPr>
              <a:t>语言已成为</a:t>
            </a:r>
            <a:r>
              <a:rPr lang="en-US" altLang="zh-CN" sz="2600" b="1" dirty="0">
                <a:effectLst>
                  <a:outerShdw blurRad="38100" dist="38100" dir="2700000" algn="tl">
                    <a:srgbClr val="000000">
                      <a:alpha val="43137"/>
                    </a:srgbClr>
                  </a:outerShdw>
                </a:effectLst>
              </a:rPr>
              <a:t>51</a:t>
            </a:r>
            <a:r>
              <a:rPr lang="zh-CN" altLang="zh-CN" sz="2600" b="1" dirty="0">
                <a:effectLst>
                  <a:outerShdw blurRad="38100" dist="38100" dir="2700000" algn="tl">
                    <a:srgbClr val="000000">
                      <a:alpha val="43137"/>
                    </a:srgbClr>
                  </a:outerShdw>
                </a:effectLst>
              </a:rPr>
              <a:t>单片机程序开发的主流编程方法。</a:t>
            </a:r>
            <a:endParaRPr lang="en-US" altLang="zh-CN" sz="2600" b="1" dirty="0">
              <a:effectLst>
                <a:outerShdw blurRad="38100" dist="38100" dir="2700000" algn="tl">
                  <a:srgbClr val="000000">
                    <a:alpha val="43137"/>
                  </a:srgbClr>
                </a:outerShdw>
              </a:effectLst>
            </a:endParaRPr>
          </a:p>
          <a:p>
            <a:pPr eaLnBrk="1" hangingPunct="1">
              <a:lnSpc>
                <a:spcPct val="130000"/>
              </a:lnSpc>
              <a:spcBef>
                <a:spcPts val="1200"/>
              </a:spcBef>
              <a:buFontTx/>
              <a:buNone/>
              <a:defRPr/>
            </a:pPr>
            <a:r>
              <a:rPr lang="zh-CN" altLang="en-US" sz="2600" b="1" dirty="0">
                <a:solidFill>
                  <a:srgbClr val="FF0000"/>
                </a:solidFill>
                <a:effectLst>
                  <a:outerShdw blurRad="38100" dist="38100" dir="2700000" algn="tl">
                    <a:srgbClr val="000000">
                      <a:alpha val="43137"/>
                    </a:srgbClr>
                  </a:outerShdw>
                </a:effectLst>
              </a:rPr>
              <a:t>缺点</a:t>
            </a:r>
            <a:r>
              <a:rPr lang="zh-CN" altLang="en-US" sz="2600" b="1" dirty="0">
                <a:effectLst>
                  <a:outerShdw blurRad="38100" dist="38100" dir="2700000" algn="tl">
                    <a:srgbClr val="000000">
                      <a:alpha val="43137"/>
                    </a:srgbClr>
                  </a:outerShdw>
                </a:effectLst>
              </a:rPr>
              <a:t>：执行效率不如汇编语言。</a:t>
            </a:r>
            <a:endParaRPr lang="zh-CN" altLang="zh-CN" sz="2600" b="1" dirty="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684213" y="1268413"/>
            <a:ext cx="7991475" cy="5329237"/>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eaLnBrk="1" hangingPunct="1">
              <a:lnSpc>
                <a:spcPct val="130000"/>
              </a:lnSpc>
              <a:defRPr/>
            </a:pPr>
            <a:r>
              <a:rPr lang="zh-CN" altLang="en-US" sz="2600" b="1" kern="0" dirty="0">
                <a:effectLst>
                  <a:outerShdw blurRad="38100" dist="38100" dir="2700000" algn="tl">
                    <a:srgbClr val="000000">
                      <a:alpha val="43137"/>
                    </a:srgbClr>
                  </a:outerShdw>
                </a:effectLst>
                <a:latin typeface="Times New Roman" panose="02020603050405020304" pitchFamily="18" charset="0"/>
              </a:rPr>
              <a:t>用汇编语言编写</a:t>
            </a:r>
            <a:r>
              <a:rPr lang="en-US" altLang="zh-CN" sz="2600" b="1" kern="0" dirty="0">
                <a:effectLst>
                  <a:outerShdw blurRad="38100" dist="38100" dir="2700000" algn="tl">
                    <a:srgbClr val="000000">
                      <a:alpha val="43137"/>
                    </a:srgbClr>
                  </a:outerShdw>
                </a:effectLst>
                <a:latin typeface="Times New Roman" panose="02020603050405020304" pitchFamily="18" charset="0"/>
              </a:rPr>
              <a:t>MCS–51</a:t>
            </a:r>
            <a:r>
              <a:rPr lang="zh-CN" altLang="en-US" sz="2600" b="1" kern="0" dirty="0">
                <a:effectLst>
                  <a:outerShdw blurRad="38100" dist="38100" dir="2700000" algn="tl">
                    <a:srgbClr val="000000">
                      <a:alpha val="43137"/>
                    </a:srgbClr>
                  </a:outerShdw>
                </a:effectLst>
                <a:latin typeface="Times New Roman" panose="02020603050405020304" pitchFamily="18" charset="0"/>
              </a:rPr>
              <a:t>单片机程序必须要</a:t>
            </a:r>
            <a:r>
              <a:rPr lang="zh-CN" altLang="en-US" sz="2600" b="1" kern="0"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考虑其存储器结构</a:t>
            </a:r>
            <a:r>
              <a:rPr lang="zh-CN" altLang="en-US" sz="2600" b="1" kern="0" dirty="0">
                <a:effectLst>
                  <a:outerShdw blurRad="38100" dist="38100" dir="2700000" algn="tl">
                    <a:srgbClr val="000000">
                      <a:alpha val="43137"/>
                    </a:srgbClr>
                  </a:outerShdw>
                </a:effectLst>
                <a:latin typeface="Times New Roman" panose="02020603050405020304" pitchFamily="18" charset="0"/>
              </a:rPr>
              <a:t>，尤其必须考虑其片内数据存储器与特殊功能寄存器的使用以及按实际地址处理端口数据。</a:t>
            </a:r>
          </a:p>
          <a:p>
            <a:pPr eaLnBrk="1" hangingPunct="1">
              <a:lnSpc>
                <a:spcPct val="130000"/>
              </a:lnSpc>
              <a:defRPr/>
            </a:pPr>
            <a:r>
              <a:rPr lang="zh-CN" altLang="en-US" sz="2600" b="1" kern="0" dirty="0">
                <a:effectLst>
                  <a:outerShdw blurRad="38100" dist="38100" dir="2700000" algn="tl">
                    <a:srgbClr val="000000">
                      <a:alpha val="43137"/>
                    </a:srgbClr>
                  </a:outerShdw>
                </a:effectLst>
                <a:latin typeface="Times New Roman" panose="02020603050405020304" pitchFamily="18" charset="0"/>
              </a:rPr>
              <a:t>用</a:t>
            </a:r>
            <a:r>
              <a:rPr lang="en-US" altLang="zh-CN" sz="2600" b="1" kern="0" dirty="0">
                <a:effectLst>
                  <a:outerShdw blurRad="38100" dist="38100" dir="2700000" algn="tl">
                    <a:srgbClr val="000000">
                      <a:alpha val="43137"/>
                    </a:srgbClr>
                  </a:outerShdw>
                </a:effectLst>
                <a:latin typeface="Times New Roman" panose="02020603050405020304" pitchFamily="18" charset="0"/>
              </a:rPr>
              <a:t>C51</a:t>
            </a:r>
            <a:r>
              <a:rPr lang="zh-CN" altLang="en-US" sz="2600" b="1" kern="0" dirty="0">
                <a:effectLst>
                  <a:outerShdw blurRad="38100" dist="38100" dir="2700000" algn="tl">
                    <a:srgbClr val="000000">
                      <a:alpha val="43137"/>
                    </a:srgbClr>
                  </a:outerShdw>
                </a:effectLst>
                <a:latin typeface="Times New Roman" panose="02020603050405020304" pitchFamily="18" charset="0"/>
              </a:rPr>
              <a:t>语言编写的</a:t>
            </a:r>
            <a:r>
              <a:rPr lang="en-US" altLang="zh-CN" sz="2600" b="1" kern="0" dirty="0">
                <a:effectLst>
                  <a:outerShdw blurRad="38100" dist="38100" dir="2700000" algn="tl">
                    <a:srgbClr val="000000">
                      <a:alpha val="43137"/>
                    </a:srgbClr>
                  </a:outerShdw>
                </a:effectLst>
                <a:latin typeface="Times New Roman" panose="02020603050405020304" pitchFamily="18" charset="0"/>
              </a:rPr>
              <a:t>MCS–51</a:t>
            </a:r>
            <a:r>
              <a:rPr lang="zh-CN" altLang="en-US" sz="2600" b="1" kern="0" dirty="0">
                <a:effectLst>
                  <a:outerShdw blurRad="38100" dist="38100" dir="2700000" algn="tl">
                    <a:srgbClr val="000000">
                      <a:alpha val="43137"/>
                    </a:srgbClr>
                  </a:outerShdw>
                </a:effectLst>
                <a:latin typeface="Times New Roman" panose="02020603050405020304" pitchFamily="18" charset="0"/>
              </a:rPr>
              <a:t>单片机应用程序，不用具体组织、分配存储器资源和处理端口数据，但在</a:t>
            </a:r>
            <a:r>
              <a:rPr lang="en-US" altLang="zh-CN" sz="2600" b="1" kern="0" dirty="0">
                <a:effectLst>
                  <a:outerShdw blurRad="38100" dist="38100" dir="2700000" algn="tl">
                    <a:srgbClr val="000000">
                      <a:alpha val="43137"/>
                    </a:srgbClr>
                  </a:outerShdw>
                </a:effectLst>
                <a:latin typeface="Times New Roman" panose="02020603050405020304" pitchFamily="18" charset="0"/>
              </a:rPr>
              <a:t>C51</a:t>
            </a:r>
            <a:r>
              <a:rPr lang="zh-CN" altLang="en-US" sz="2600" b="1" kern="0" dirty="0">
                <a:effectLst>
                  <a:outerShdw blurRad="38100" dist="38100" dir="2700000" algn="tl">
                    <a:srgbClr val="000000">
                      <a:alpha val="43137"/>
                    </a:srgbClr>
                  </a:outerShdw>
                </a:effectLst>
                <a:latin typeface="Times New Roman" panose="02020603050405020304" pitchFamily="18" charset="0"/>
              </a:rPr>
              <a:t>语言编程中，</a:t>
            </a:r>
            <a:r>
              <a:rPr lang="zh-CN" altLang="en-US" sz="2600" b="1" kern="0"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对数据类型与变量的定义，必须要与单片机的存储结构相关联</a:t>
            </a:r>
            <a:r>
              <a:rPr lang="zh-CN" altLang="en-US" sz="2600" b="1" kern="0" dirty="0">
                <a:effectLst>
                  <a:outerShdw blurRad="38100" dist="38100" dir="2700000" algn="tl">
                    <a:srgbClr val="000000">
                      <a:alpha val="43137"/>
                    </a:srgbClr>
                  </a:outerShdw>
                </a:effectLst>
                <a:latin typeface="Times New Roman" panose="02020603050405020304" pitchFamily="18" charset="0"/>
              </a:rPr>
              <a:t>，否则编译器不能正确地映射定位。</a:t>
            </a:r>
            <a:endParaRPr lang="zh-CN" altLang="en-US" sz="2600" kern="0" dirty="0">
              <a:effectLst>
                <a:outerShdw blurRad="38100" dist="38100" dir="2700000" algn="tl">
                  <a:srgbClr val="000000">
                    <a:alpha val="43137"/>
                  </a:srgbClr>
                </a:outerShdw>
              </a:effectLst>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457200" y="1905000"/>
            <a:ext cx="8219256" cy="2536656"/>
          </a:xfrm>
          <a:prstGeom prst="rect">
            <a:avLst/>
          </a:prstGeom>
          <a:noFill/>
          <a:ln>
            <a:noFill/>
          </a:ln>
          <a:effectLst/>
        </p:spPr>
        <p:txBody>
          <a:bodyPr wrap="square">
            <a:spAutoFit/>
          </a:bodyPr>
          <a:lstStyle/>
          <a:p>
            <a:pPr algn="just" eaLnBrk="1" hangingPunct="1">
              <a:lnSpc>
                <a:spcPct val="125000"/>
              </a:lnSpc>
              <a:spcBef>
                <a:spcPct val="50000"/>
              </a:spcBef>
              <a:defRPr/>
            </a:pPr>
            <a:r>
              <a:rPr lang="en-US" altLang="zh-CN" sz="2400" b="1" dirty="0">
                <a:effectLst>
                  <a:outerShdw blurRad="38100" dist="38100" dir="2700000" algn="tl">
                    <a:srgbClr val="000000">
                      <a:alpha val="43137"/>
                    </a:srgbClr>
                  </a:outerShdw>
                </a:effectLst>
                <a:latin typeface="Arial" panose="020B0604020202020204" pitchFamily="34" charset="0"/>
              </a:rPr>
              <a:t>      C51</a:t>
            </a:r>
            <a:r>
              <a:rPr lang="zh-CN" altLang="en-US" sz="2400" b="1" dirty="0">
                <a:effectLst>
                  <a:outerShdw blurRad="38100" dist="38100" dir="2700000" algn="tl">
                    <a:srgbClr val="000000">
                      <a:alpha val="43137"/>
                    </a:srgbClr>
                  </a:outerShdw>
                </a:effectLst>
                <a:latin typeface="Arial" panose="020B0604020202020204" pitchFamily="34" charset="0"/>
              </a:rPr>
              <a:t>是为</a:t>
            </a:r>
            <a:r>
              <a:rPr lang="en-US" altLang="zh-CN" sz="2400" b="1" dirty="0">
                <a:effectLst>
                  <a:outerShdw blurRad="38100" dist="38100" dir="2700000" algn="tl">
                    <a:srgbClr val="000000">
                      <a:alpha val="43137"/>
                    </a:srgbClr>
                  </a:outerShdw>
                </a:effectLst>
                <a:latin typeface="Arial" panose="020B0604020202020204" pitchFamily="34" charset="0"/>
              </a:rPr>
              <a:t>51</a:t>
            </a:r>
            <a:r>
              <a:rPr lang="zh-CN" altLang="en-US" sz="2400" b="1" dirty="0">
                <a:effectLst>
                  <a:outerShdw blurRad="38100" dist="38100" dir="2700000" algn="tl">
                    <a:srgbClr val="000000">
                      <a:alpha val="43137"/>
                    </a:srgbClr>
                  </a:outerShdw>
                </a:effectLst>
                <a:latin typeface="Arial" panose="020B0604020202020204" pitchFamily="34" charset="0"/>
              </a:rPr>
              <a:t>系列单片机设计的一种</a:t>
            </a:r>
            <a:r>
              <a:rPr lang="en-US" altLang="zh-CN" sz="2400" b="1" dirty="0">
                <a:effectLst>
                  <a:outerShdw blurRad="38100" dist="38100" dir="2700000" algn="tl">
                    <a:srgbClr val="000000">
                      <a:alpha val="43137"/>
                    </a:srgbClr>
                  </a:outerShdw>
                </a:effectLst>
                <a:latin typeface="Arial" panose="020B0604020202020204" pitchFamily="34" charset="0"/>
              </a:rPr>
              <a:t>C</a:t>
            </a:r>
            <a:r>
              <a:rPr lang="zh-CN" altLang="en-US" sz="2400" b="1" dirty="0">
                <a:effectLst>
                  <a:outerShdw blurRad="38100" dist="38100" dir="2700000" algn="tl">
                    <a:srgbClr val="000000">
                      <a:alpha val="43137"/>
                    </a:srgbClr>
                  </a:outerShdw>
                </a:effectLst>
                <a:latin typeface="Arial" panose="020B0604020202020204" pitchFamily="34" charset="0"/>
              </a:rPr>
              <a:t>语言，是标准</a:t>
            </a:r>
            <a:r>
              <a:rPr lang="en-US" altLang="zh-CN" sz="2400" b="1" dirty="0">
                <a:effectLst>
                  <a:outerShdw blurRad="38100" dist="38100" dir="2700000" algn="tl">
                    <a:srgbClr val="000000">
                      <a:alpha val="43137"/>
                    </a:srgbClr>
                  </a:outerShdw>
                </a:effectLst>
                <a:latin typeface="Arial" panose="020B0604020202020204" pitchFamily="34" charset="0"/>
              </a:rPr>
              <a:t>C</a:t>
            </a:r>
            <a:r>
              <a:rPr lang="zh-CN" altLang="en-US" sz="2400" b="1" dirty="0">
                <a:effectLst>
                  <a:outerShdw blurRad="38100" dist="38100" dir="2700000" algn="tl">
                    <a:srgbClr val="000000">
                      <a:alpha val="43137"/>
                    </a:srgbClr>
                  </a:outerShdw>
                </a:effectLst>
                <a:latin typeface="Arial" panose="020B0604020202020204" pitchFamily="34" charset="0"/>
              </a:rPr>
              <a:t>语言的子集。</a:t>
            </a:r>
            <a:endParaRPr lang="en-US" altLang="zh-CN" sz="2400" b="1" dirty="0">
              <a:effectLst>
                <a:outerShdw blurRad="38100" dist="38100" dir="2700000" algn="tl">
                  <a:srgbClr val="000000">
                    <a:alpha val="43137"/>
                  </a:srgbClr>
                </a:outerShdw>
              </a:effectLst>
              <a:latin typeface="Arial" panose="020B0604020202020204" pitchFamily="34" charset="0"/>
            </a:endParaRPr>
          </a:p>
          <a:p>
            <a:pPr algn="just" eaLnBrk="1" hangingPunct="1">
              <a:lnSpc>
                <a:spcPct val="125000"/>
              </a:lnSpc>
              <a:spcBef>
                <a:spcPct val="50000"/>
              </a:spcBef>
              <a:defRPr/>
            </a:pPr>
            <a:r>
              <a:rPr lang="zh-CN" altLang="en-US" sz="2400" b="1" dirty="0">
                <a:effectLst>
                  <a:outerShdw blurRad="38100" dist="38100" dir="2700000" algn="tl">
                    <a:srgbClr val="000000">
                      <a:alpha val="43137"/>
                    </a:srgbClr>
                  </a:outerShdw>
                </a:effectLst>
                <a:latin typeface="Arial" panose="020B0604020202020204" pitchFamily="34" charset="0"/>
              </a:rPr>
              <a:t>      </a:t>
            </a:r>
            <a:r>
              <a:rPr lang="en-US" altLang="zh-CN" sz="2400" b="1" dirty="0">
                <a:effectLst>
                  <a:outerShdw blurRad="38100" dist="38100" dir="2700000" algn="tl">
                    <a:srgbClr val="000000">
                      <a:alpha val="43137"/>
                    </a:srgbClr>
                  </a:outerShdw>
                </a:effectLst>
                <a:latin typeface="Arial" panose="020B0604020202020204" pitchFamily="34" charset="0"/>
              </a:rPr>
              <a:t>C51</a:t>
            </a:r>
            <a:r>
              <a:rPr lang="zh-CN" altLang="en-US" sz="2400" b="1" dirty="0">
                <a:effectLst>
                  <a:outerShdw blurRad="38100" dist="38100" dir="2700000" algn="tl">
                    <a:srgbClr val="000000">
                      <a:alpha val="43137"/>
                    </a:srgbClr>
                  </a:outerShdw>
                </a:effectLst>
                <a:latin typeface="Arial" panose="020B0604020202020204" pitchFamily="34" charset="0"/>
              </a:rPr>
              <a:t>包含的</a:t>
            </a:r>
            <a:r>
              <a:rPr lang="zh-CN" altLang="en-US" sz="2400" b="1" dirty="0">
                <a:solidFill>
                  <a:schemeClr val="hlink"/>
                </a:solidFill>
                <a:effectLst>
                  <a:outerShdw blurRad="38100" dist="38100" dir="2700000" algn="tl">
                    <a:srgbClr val="000000">
                      <a:alpha val="43137"/>
                    </a:srgbClr>
                  </a:outerShdw>
                </a:effectLst>
                <a:latin typeface="Arial" panose="020B0604020202020204" pitchFamily="34" charset="0"/>
                <a:ea typeface="楷体_GB2312" pitchFamily="49" charset="-122"/>
              </a:rPr>
              <a:t>数据类型、变量存储模式、输入输出处理、函数</a:t>
            </a:r>
            <a:r>
              <a:rPr lang="zh-CN" altLang="en-US" sz="2400" b="1" dirty="0">
                <a:effectLst>
                  <a:outerShdw blurRad="38100" dist="38100" dir="2700000" algn="tl">
                    <a:srgbClr val="000000">
                      <a:alpha val="43137"/>
                    </a:srgbClr>
                  </a:outerShdw>
                </a:effectLst>
                <a:latin typeface="Arial" panose="020B0604020202020204" pitchFamily="34" charset="0"/>
              </a:rPr>
              <a:t>等方面与标准的</a:t>
            </a:r>
            <a:r>
              <a:rPr lang="en-US" altLang="zh-CN" sz="2400" b="1" dirty="0">
                <a:effectLst>
                  <a:outerShdw blurRad="38100" dist="38100" dir="2700000" algn="tl">
                    <a:srgbClr val="000000">
                      <a:alpha val="43137"/>
                    </a:srgbClr>
                  </a:outerShdw>
                </a:effectLst>
                <a:latin typeface="Arial" panose="020B0604020202020204" pitchFamily="34" charset="0"/>
              </a:rPr>
              <a:t>C</a:t>
            </a:r>
            <a:r>
              <a:rPr lang="zh-CN" altLang="en-US" sz="2400" b="1" dirty="0">
                <a:effectLst>
                  <a:outerShdw blurRad="38100" dist="38100" dir="2700000" algn="tl">
                    <a:srgbClr val="000000">
                      <a:alpha val="43137"/>
                    </a:srgbClr>
                  </a:outerShdw>
                </a:effectLst>
                <a:latin typeface="Arial" panose="020B0604020202020204" pitchFamily="34" charset="0"/>
              </a:rPr>
              <a:t>语言有一定的区别。其它的语法规则、程序结构及程序设计方法等与标准的</a:t>
            </a:r>
            <a:r>
              <a:rPr lang="en-US" altLang="zh-CN" sz="2400" b="1" dirty="0">
                <a:effectLst>
                  <a:outerShdw blurRad="38100" dist="38100" dir="2700000" algn="tl">
                    <a:srgbClr val="000000">
                      <a:alpha val="43137"/>
                    </a:srgbClr>
                  </a:outerShdw>
                </a:effectLst>
                <a:latin typeface="Arial" panose="020B0604020202020204" pitchFamily="34" charset="0"/>
              </a:rPr>
              <a:t>C</a:t>
            </a:r>
            <a:r>
              <a:rPr lang="zh-CN" altLang="en-US" sz="2400" b="1" dirty="0">
                <a:effectLst>
                  <a:outerShdw blurRad="38100" dist="38100" dir="2700000" algn="tl">
                    <a:srgbClr val="000000">
                      <a:alpha val="43137"/>
                    </a:srgbClr>
                  </a:outerShdw>
                </a:effectLst>
                <a:latin typeface="Arial" panose="020B0604020202020204" pitchFamily="34" charset="0"/>
              </a:rPr>
              <a:t>语言程序设计相同。</a:t>
            </a:r>
          </a:p>
        </p:txBody>
      </p:sp>
      <p:sp>
        <p:nvSpPr>
          <p:cNvPr id="14339" name="Text Box 3"/>
          <p:cNvSpPr txBox="1">
            <a:spLocks noChangeArrowheads="1"/>
          </p:cNvSpPr>
          <p:nvPr/>
        </p:nvSpPr>
        <p:spPr bwMode="auto">
          <a:xfrm>
            <a:off x="1043608" y="980728"/>
            <a:ext cx="7489205" cy="523220"/>
          </a:xfrm>
          <a:prstGeom prst="rect">
            <a:avLst/>
          </a:prstGeom>
          <a:noFill/>
          <a:ln w="28575">
            <a:noFill/>
            <a:miter lim="800000"/>
          </a:ln>
          <a:effectLst/>
        </p:spPr>
        <p:txBody>
          <a:bodyPr wrap="square">
            <a:spAutoFit/>
          </a:bodyPr>
          <a:lstStyle/>
          <a:p>
            <a:pPr eaLnBrk="1" hangingPunct="1">
              <a:spcBef>
                <a:spcPct val="50000"/>
              </a:spcBef>
              <a:defRPr/>
            </a:pPr>
            <a:r>
              <a:rPr lang="en-US" altLang="zh-CN" b="1" dirty="0">
                <a:effectLst>
                  <a:outerShdw blurRad="38100" dist="38100" dir="2700000" algn="tl">
                    <a:srgbClr val="000000">
                      <a:alpha val="43137"/>
                    </a:srgbClr>
                  </a:outerShdw>
                </a:effectLst>
                <a:latin typeface="Arial" panose="020B0604020202020204" pitchFamily="34" charset="0"/>
              </a:rPr>
              <a:t>C51</a:t>
            </a:r>
            <a:r>
              <a:rPr lang="zh-CN" altLang="en-US" b="1" dirty="0">
                <a:effectLst>
                  <a:outerShdw blurRad="38100" dist="38100" dir="2700000" algn="tl">
                    <a:srgbClr val="000000">
                      <a:alpha val="43137"/>
                    </a:srgbClr>
                  </a:outerShdw>
                </a:effectLst>
                <a:latin typeface="Arial" panose="020B0604020202020204" pitchFamily="34" charset="0"/>
              </a:rPr>
              <a:t>语言与标准的</a:t>
            </a:r>
            <a:r>
              <a:rPr lang="en-US" altLang="zh-CN" b="1" dirty="0">
                <a:effectLst>
                  <a:outerShdw blurRad="38100" dist="38100" dir="2700000" algn="tl">
                    <a:srgbClr val="000000">
                      <a:alpha val="43137"/>
                    </a:srgbClr>
                  </a:outerShdw>
                </a:effectLst>
                <a:latin typeface="Arial" panose="020B0604020202020204" pitchFamily="34" charset="0"/>
              </a:rPr>
              <a:t>C</a:t>
            </a:r>
            <a:r>
              <a:rPr lang="zh-CN" altLang="en-US" b="1" dirty="0">
                <a:effectLst>
                  <a:outerShdw blurRad="38100" dist="38100" dir="2700000" algn="tl">
                    <a:srgbClr val="000000">
                      <a:alpha val="43137"/>
                    </a:srgbClr>
                  </a:outerShdw>
                </a:effectLst>
                <a:latin typeface="Arial" panose="020B0604020202020204" pitchFamily="34" charset="0"/>
              </a:rPr>
              <a:t>语言的区别：</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4338">
                                            <p:txEl>
                                              <p:pRg st="0" end="0"/>
                                            </p:txEl>
                                          </p:spTgt>
                                        </p:tgtEl>
                                        <p:attrNameLst>
                                          <p:attrName>style.visibility</p:attrName>
                                        </p:attrNameLst>
                                      </p:cBhvr>
                                      <p:to>
                                        <p:strVal val="visible"/>
                                      </p:to>
                                    </p:set>
                                    <p:animEffect transition="in" filter="randombar(horizontal)">
                                      <p:cBhvr>
                                        <p:cTn id="7" dur="500"/>
                                        <p:tgtEl>
                                          <p:spTgt spid="143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4338">
                                            <p:txEl>
                                              <p:pRg st="1" end="1"/>
                                            </p:txEl>
                                          </p:spTgt>
                                        </p:tgtEl>
                                        <p:attrNameLst>
                                          <p:attrName>style.visibility</p:attrName>
                                        </p:attrNameLst>
                                      </p:cBhvr>
                                      <p:to>
                                        <p:strVal val="visible"/>
                                      </p:to>
                                    </p:set>
                                    <p:animEffect transition="in" filter="randombar(horizontal)">
                                      <p:cBhvr>
                                        <p:cTn id="12" dur="500"/>
                                        <p:tgtEl>
                                          <p:spTgt spid="1433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685800" y="838200"/>
            <a:ext cx="7848600" cy="4240776"/>
          </a:xfrm>
          <a:prstGeom prst="rect">
            <a:avLst/>
          </a:prstGeom>
          <a:noFill/>
          <a:ln>
            <a:noFill/>
          </a:ln>
          <a:effectLst/>
        </p:spPr>
        <p:txBody>
          <a:bodyPr>
            <a:spAutoFit/>
          </a:bodyPr>
          <a:lstStyle/>
          <a:p>
            <a:pPr eaLnBrk="1" hangingPunct="1">
              <a:lnSpc>
                <a:spcPct val="125000"/>
              </a:lnSpc>
              <a:spcBef>
                <a:spcPct val="50000"/>
              </a:spcBef>
              <a:defRPr/>
            </a:pPr>
            <a:r>
              <a:rPr lang="en-US" altLang="zh-CN" sz="2600" b="1" dirty="0">
                <a:effectLst>
                  <a:outerShdw blurRad="38100" dist="38100" dir="2700000" algn="tl">
                    <a:srgbClr val="000000">
                      <a:alpha val="43137"/>
                    </a:srgbClr>
                  </a:outerShdw>
                </a:effectLst>
                <a:latin typeface="Arial" panose="020B0604020202020204" pitchFamily="34" charset="0"/>
              </a:rPr>
              <a:t>        </a:t>
            </a:r>
            <a:r>
              <a:rPr lang="zh-CN" altLang="en-US" sz="2600" b="1" dirty="0">
                <a:solidFill>
                  <a:srgbClr val="FF0000"/>
                </a:solidFill>
                <a:effectLst>
                  <a:outerShdw blurRad="38100" dist="38100" dir="2700000" algn="tl">
                    <a:srgbClr val="000000">
                      <a:alpha val="43137"/>
                    </a:srgbClr>
                  </a:outerShdw>
                </a:effectLst>
                <a:latin typeface="Arial" panose="020B0604020202020204" pitchFamily="34" charset="0"/>
              </a:rPr>
              <a:t>现在支持</a:t>
            </a:r>
            <a:r>
              <a:rPr lang="en-US" altLang="zh-CN" sz="2600" b="1" dirty="0">
                <a:solidFill>
                  <a:srgbClr val="FF0000"/>
                </a:solidFill>
                <a:effectLst>
                  <a:outerShdw blurRad="38100" dist="38100" dir="2700000" algn="tl">
                    <a:srgbClr val="000000">
                      <a:alpha val="43137"/>
                    </a:srgbClr>
                  </a:outerShdw>
                </a:effectLst>
                <a:latin typeface="Arial" panose="020B0604020202020204" pitchFamily="34" charset="0"/>
              </a:rPr>
              <a:t>MCS-51</a:t>
            </a:r>
            <a:r>
              <a:rPr lang="zh-CN" altLang="en-US" sz="2600" b="1" dirty="0">
                <a:solidFill>
                  <a:srgbClr val="FF0000"/>
                </a:solidFill>
                <a:effectLst>
                  <a:outerShdw blurRad="38100" dist="38100" dir="2700000" algn="tl">
                    <a:srgbClr val="000000">
                      <a:alpha val="43137"/>
                    </a:srgbClr>
                  </a:outerShdw>
                </a:effectLst>
                <a:latin typeface="Arial" panose="020B0604020202020204" pitchFamily="34" charset="0"/>
              </a:rPr>
              <a:t>系列单片机的</a:t>
            </a:r>
            <a:r>
              <a:rPr lang="en-US" altLang="zh-CN" sz="2600" b="1" dirty="0">
                <a:solidFill>
                  <a:srgbClr val="FF0000"/>
                </a:solidFill>
                <a:effectLst>
                  <a:outerShdw blurRad="38100" dist="38100" dir="2700000" algn="tl">
                    <a:srgbClr val="000000">
                      <a:alpha val="43137"/>
                    </a:srgbClr>
                  </a:outerShdw>
                </a:effectLst>
                <a:latin typeface="Arial" panose="020B0604020202020204" pitchFamily="34" charset="0"/>
              </a:rPr>
              <a:t>C</a:t>
            </a:r>
            <a:r>
              <a:rPr lang="zh-CN" altLang="en-US" sz="2600" b="1" dirty="0">
                <a:solidFill>
                  <a:srgbClr val="FF0000"/>
                </a:solidFill>
                <a:effectLst>
                  <a:outerShdw blurRad="38100" dist="38100" dir="2700000" algn="tl">
                    <a:srgbClr val="000000">
                      <a:alpha val="43137"/>
                    </a:srgbClr>
                  </a:outerShdw>
                </a:effectLst>
                <a:latin typeface="Arial" panose="020B0604020202020204" pitchFamily="34" charset="0"/>
              </a:rPr>
              <a:t>语言编译器有很多种，</a:t>
            </a:r>
            <a:r>
              <a:rPr lang="zh-CN" altLang="en-US" sz="2600" b="1" dirty="0">
                <a:effectLst>
                  <a:outerShdw blurRad="38100" dist="38100" dir="2700000" algn="tl">
                    <a:srgbClr val="000000">
                      <a:alpha val="43137"/>
                    </a:srgbClr>
                  </a:outerShdw>
                </a:effectLst>
                <a:latin typeface="Arial" panose="020B0604020202020204" pitchFamily="34" charset="0"/>
              </a:rPr>
              <a:t>如</a:t>
            </a:r>
            <a:r>
              <a:rPr lang="en-US" altLang="zh-CN" sz="2600" b="1" dirty="0">
                <a:effectLst>
                  <a:outerShdw blurRad="38100" dist="38100" dir="2700000" algn="tl">
                    <a:srgbClr val="000000">
                      <a:alpha val="43137"/>
                    </a:srgbClr>
                  </a:outerShdw>
                </a:effectLst>
                <a:latin typeface="Arial" panose="020B0604020202020204" pitchFamily="34" charset="0"/>
              </a:rPr>
              <a:t>American  Automation</a:t>
            </a:r>
            <a:r>
              <a:rPr lang="zh-CN" altLang="en-US" sz="2600" b="1" dirty="0">
                <a:effectLst>
                  <a:outerShdw blurRad="38100" dist="38100" dir="2700000" algn="tl">
                    <a:srgbClr val="000000">
                      <a:alpha val="43137"/>
                    </a:srgbClr>
                  </a:outerShdw>
                </a:effectLst>
                <a:latin typeface="Arial" panose="020B0604020202020204" pitchFamily="34" charset="0"/>
              </a:rPr>
              <a:t>、</a:t>
            </a:r>
            <a:r>
              <a:rPr lang="en-US" altLang="zh-CN" sz="2600" b="1" dirty="0">
                <a:effectLst>
                  <a:outerShdw blurRad="38100" dist="38100" dir="2700000" algn="tl">
                    <a:srgbClr val="000000">
                      <a:alpha val="43137"/>
                    </a:srgbClr>
                  </a:outerShdw>
                </a:effectLst>
                <a:latin typeface="Arial" panose="020B0604020202020204" pitchFamily="34" charset="0"/>
              </a:rPr>
              <a:t>Avocet</a:t>
            </a:r>
            <a:r>
              <a:rPr lang="zh-CN" altLang="en-US" sz="2600" b="1" dirty="0">
                <a:effectLst>
                  <a:outerShdw blurRad="38100" dist="38100" dir="2700000" algn="tl">
                    <a:srgbClr val="000000">
                      <a:alpha val="43137"/>
                    </a:srgbClr>
                  </a:outerShdw>
                </a:effectLst>
                <a:latin typeface="Arial" panose="020B0604020202020204" pitchFamily="34" charset="0"/>
              </a:rPr>
              <a:t>、</a:t>
            </a:r>
            <a:r>
              <a:rPr lang="en-US" altLang="zh-CN" sz="2600" b="1" dirty="0">
                <a:effectLst>
                  <a:outerShdw blurRad="38100" dist="38100" dir="2700000" algn="tl">
                    <a:srgbClr val="000000">
                      <a:alpha val="43137"/>
                    </a:srgbClr>
                  </a:outerShdw>
                </a:effectLst>
                <a:latin typeface="Arial" panose="020B0604020202020204" pitchFamily="34" charset="0"/>
              </a:rPr>
              <a:t>BSO/TASKING</a:t>
            </a:r>
            <a:r>
              <a:rPr lang="zh-CN" altLang="en-US" sz="2600" b="1" dirty="0">
                <a:effectLst>
                  <a:outerShdw blurRad="38100" dist="38100" dir="2700000" algn="tl">
                    <a:srgbClr val="000000">
                      <a:alpha val="43137"/>
                    </a:srgbClr>
                  </a:outerShdw>
                </a:effectLst>
                <a:latin typeface="Arial" panose="020B0604020202020204" pitchFamily="34" charset="0"/>
              </a:rPr>
              <a:t>、</a:t>
            </a:r>
            <a:r>
              <a:rPr lang="en-US" altLang="zh-CN" sz="2600" b="1" dirty="0">
                <a:effectLst>
                  <a:outerShdw blurRad="38100" dist="38100" dir="2700000" algn="tl">
                    <a:srgbClr val="000000">
                      <a:alpha val="43137"/>
                    </a:srgbClr>
                  </a:outerShdw>
                </a:effectLst>
                <a:latin typeface="Arial" panose="020B0604020202020204" pitchFamily="34" charset="0"/>
              </a:rPr>
              <a:t>DUNFIELD SHAREWARE</a:t>
            </a:r>
            <a:r>
              <a:rPr lang="zh-CN" altLang="en-US" sz="2600" b="1" dirty="0">
                <a:effectLst>
                  <a:outerShdw blurRad="38100" dist="38100" dir="2700000" algn="tl">
                    <a:srgbClr val="000000">
                      <a:alpha val="43137"/>
                    </a:srgbClr>
                  </a:outerShdw>
                </a:effectLst>
                <a:latin typeface="Arial" panose="020B0604020202020204" pitchFamily="34" charset="0"/>
              </a:rPr>
              <a:t>、</a:t>
            </a:r>
            <a:r>
              <a:rPr lang="en-US" altLang="zh-CN" sz="2600" b="1" dirty="0">
                <a:effectLst>
                  <a:outerShdw blurRad="38100" dist="38100" dir="2700000" algn="tl">
                    <a:srgbClr val="000000">
                      <a:alpha val="43137"/>
                    </a:srgbClr>
                  </a:outerShdw>
                </a:effectLst>
                <a:latin typeface="Arial" panose="020B0604020202020204" pitchFamily="34" charset="0"/>
              </a:rPr>
              <a:t>KEIL</a:t>
            </a:r>
            <a:r>
              <a:rPr lang="zh-CN" altLang="en-US" sz="2600" b="1" dirty="0">
                <a:effectLst>
                  <a:outerShdw blurRad="38100" dist="38100" dir="2700000" algn="tl">
                    <a:srgbClr val="000000">
                      <a:alpha val="43137"/>
                    </a:srgbClr>
                  </a:outerShdw>
                </a:effectLst>
                <a:latin typeface="Arial" panose="020B0604020202020204" pitchFamily="34" charset="0"/>
              </a:rPr>
              <a:t>等。各种编译器的基本情况相同，但具体处理时有一定的区别，</a:t>
            </a:r>
            <a:r>
              <a:rPr lang="zh-CN" altLang="en-US" sz="2600" b="1" dirty="0">
                <a:solidFill>
                  <a:srgbClr val="000099"/>
                </a:solidFill>
                <a:effectLst>
                  <a:outerShdw blurRad="38100" dist="38100" dir="2700000" algn="tl">
                    <a:srgbClr val="000000">
                      <a:alpha val="43137"/>
                    </a:srgbClr>
                  </a:outerShdw>
                </a:effectLst>
                <a:latin typeface="Arial" panose="020B0604020202020204" pitchFamily="34" charset="0"/>
              </a:rPr>
              <a:t>其中</a:t>
            </a:r>
            <a:r>
              <a:rPr lang="en-US" altLang="zh-CN" sz="2600" b="1" dirty="0">
                <a:solidFill>
                  <a:srgbClr val="000099"/>
                </a:solidFill>
                <a:effectLst>
                  <a:outerShdw blurRad="38100" dist="38100" dir="2700000" algn="tl">
                    <a:srgbClr val="000000">
                      <a:alpha val="43137"/>
                    </a:srgbClr>
                  </a:outerShdw>
                </a:effectLst>
                <a:latin typeface="Arial" panose="020B0604020202020204" pitchFamily="34" charset="0"/>
              </a:rPr>
              <a:t>KEIL</a:t>
            </a:r>
            <a:r>
              <a:rPr lang="zh-CN" altLang="en-US" sz="2600" b="1" dirty="0">
                <a:solidFill>
                  <a:srgbClr val="000099"/>
                </a:solidFill>
                <a:effectLst>
                  <a:outerShdw blurRad="38100" dist="38100" dir="2700000" algn="tl">
                    <a:srgbClr val="000000">
                      <a:alpha val="43137"/>
                    </a:srgbClr>
                  </a:outerShdw>
                </a:effectLst>
                <a:latin typeface="Arial" panose="020B0604020202020204" pitchFamily="34" charset="0"/>
              </a:rPr>
              <a:t>以它的代码紧凑和使用方便等特点优于其它编译器，现在使用特别广泛。</a:t>
            </a:r>
          </a:p>
          <a:p>
            <a:pPr eaLnBrk="1" hangingPunct="1">
              <a:lnSpc>
                <a:spcPct val="125000"/>
              </a:lnSpc>
              <a:spcBef>
                <a:spcPct val="50000"/>
              </a:spcBef>
              <a:defRPr/>
            </a:pPr>
            <a:r>
              <a:rPr lang="zh-CN" altLang="en-US" sz="2600" b="1" dirty="0">
                <a:effectLst>
                  <a:outerShdw blurRad="38100" dist="38100" dir="2700000" algn="tl">
                    <a:srgbClr val="000000">
                      <a:alpha val="43137"/>
                    </a:srgbClr>
                  </a:outerShdw>
                </a:effectLst>
                <a:latin typeface="Arial" panose="020B0604020202020204" pitchFamily="34" charset="0"/>
              </a:rPr>
              <a:t>      </a:t>
            </a:r>
            <a:r>
              <a:rPr lang="zh-CN" altLang="en-US" sz="2600" b="1" dirty="0">
                <a:solidFill>
                  <a:srgbClr val="FF0000"/>
                </a:solidFill>
                <a:effectLst>
                  <a:outerShdw blurRad="38100" dist="38100" dir="2700000" algn="tl">
                    <a:srgbClr val="000000">
                      <a:alpha val="43137"/>
                    </a:srgbClr>
                  </a:outerShdw>
                </a:effectLst>
                <a:latin typeface="Arial" panose="020B0604020202020204" pitchFamily="34" charset="0"/>
              </a:rPr>
              <a:t>本章主要以</a:t>
            </a:r>
            <a:r>
              <a:rPr lang="en-US" altLang="zh-CN" sz="2600" b="1" dirty="0" err="1">
                <a:solidFill>
                  <a:srgbClr val="FF0000"/>
                </a:solidFill>
                <a:effectLst>
                  <a:outerShdw blurRad="38100" dist="38100" dir="2700000" algn="tl">
                    <a:srgbClr val="000000">
                      <a:alpha val="43137"/>
                    </a:srgbClr>
                  </a:outerShdw>
                </a:effectLst>
                <a:latin typeface="Arial" panose="020B0604020202020204" pitchFamily="34" charset="0"/>
              </a:rPr>
              <a:t>Keil</a:t>
            </a:r>
            <a:r>
              <a:rPr lang="zh-CN" altLang="en-US" sz="2600" b="1" dirty="0">
                <a:solidFill>
                  <a:srgbClr val="FF0000"/>
                </a:solidFill>
                <a:effectLst>
                  <a:outerShdw blurRad="38100" dist="38100" dir="2700000" algn="tl">
                    <a:srgbClr val="000000">
                      <a:alpha val="43137"/>
                    </a:srgbClr>
                  </a:outerShdw>
                </a:effectLst>
                <a:latin typeface="Arial" panose="020B0604020202020204" pitchFamily="34" charset="0"/>
              </a:rPr>
              <a:t>编译器介绍</a:t>
            </a:r>
            <a:r>
              <a:rPr lang="en-US" altLang="zh-CN" sz="2600" b="1" dirty="0">
                <a:solidFill>
                  <a:srgbClr val="FF0000"/>
                </a:solidFill>
                <a:effectLst>
                  <a:outerShdw blurRad="38100" dist="38100" dir="2700000" algn="tl">
                    <a:srgbClr val="000000">
                      <a:alpha val="43137"/>
                    </a:srgbClr>
                  </a:outerShdw>
                </a:effectLst>
                <a:latin typeface="Arial" panose="020B0604020202020204" pitchFamily="34" charset="0"/>
              </a:rPr>
              <a:t>MCS-51</a:t>
            </a:r>
            <a:r>
              <a:rPr lang="zh-CN" altLang="en-US" sz="2600" b="1" dirty="0">
                <a:solidFill>
                  <a:srgbClr val="FF0000"/>
                </a:solidFill>
                <a:effectLst>
                  <a:outerShdw blurRad="38100" dist="38100" dir="2700000" algn="tl">
                    <a:srgbClr val="000000">
                      <a:alpha val="43137"/>
                    </a:srgbClr>
                  </a:outerShdw>
                </a:effectLst>
                <a:latin typeface="Arial" panose="020B0604020202020204" pitchFamily="34" charset="0"/>
              </a:rPr>
              <a:t>单片机</a:t>
            </a:r>
            <a:r>
              <a:rPr lang="en-US" altLang="zh-CN" sz="2600" b="1" dirty="0">
                <a:solidFill>
                  <a:srgbClr val="FF0000"/>
                </a:solidFill>
                <a:effectLst>
                  <a:outerShdw blurRad="38100" dist="38100" dir="2700000" algn="tl">
                    <a:srgbClr val="000000">
                      <a:alpha val="43137"/>
                    </a:srgbClr>
                  </a:outerShdw>
                </a:effectLst>
                <a:latin typeface="Arial" panose="020B0604020202020204" pitchFamily="34" charset="0"/>
              </a:rPr>
              <a:t>C</a:t>
            </a:r>
            <a:r>
              <a:rPr lang="zh-CN" altLang="en-US" sz="2600" b="1" dirty="0">
                <a:solidFill>
                  <a:srgbClr val="FF0000"/>
                </a:solidFill>
                <a:effectLst>
                  <a:outerShdw blurRad="38100" dist="38100" dir="2700000" algn="tl">
                    <a:srgbClr val="000000">
                      <a:alpha val="43137"/>
                    </a:srgbClr>
                  </a:outerShdw>
                </a:effectLst>
                <a:latin typeface="Arial" panose="020B0604020202020204" pitchFamily="34" charset="0"/>
              </a:rPr>
              <a:t>语言程序设计。</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0B3E846-8A8A-4912-9532-6B28EC6C7637}"/>
              </a:ext>
            </a:extLst>
          </p:cNvPr>
          <p:cNvSpPr>
            <a:spLocks noChangeArrowheads="1"/>
          </p:cNvSpPr>
          <p:nvPr/>
        </p:nvSpPr>
        <p:spPr bwMode="auto">
          <a:xfrm>
            <a:off x="5364163" y="404813"/>
            <a:ext cx="35099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zh-CN" altLang="en-US" sz="1600" dirty="0">
                <a:effectLst>
                  <a:outerShdw blurRad="38100" dist="38100" dir="2700000" algn="tl">
                    <a:srgbClr val="000000">
                      <a:alpha val="43137"/>
                    </a:srgbClr>
                  </a:outerShdw>
                </a:effectLst>
              </a:rPr>
              <a:t>第</a:t>
            </a:r>
            <a:r>
              <a:rPr lang="en-US" altLang="zh-CN" sz="1600" dirty="0">
                <a:effectLst>
                  <a:outerShdw blurRad="38100" dist="38100" dir="2700000" algn="tl">
                    <a:srgbClr val="000000">
                      <a:alpha val="43137"/>
                    </a:srgbClr>
                  </a:outerShdw>
                </a:effectLst>
              </a:rPr>
              <a:t>3</a:t>
            </a:r>
            <a:r>
              <a:rPr lang="zh-CN" altLang="en-US" sz="1600" dirty="0">
                <a:effectLst>
                  <a:outerShdw blurRad="38100" dist="38100" dir="2700000" algn="tl">
                    <a:srgbClr val="000000">
                      <a:alpha val="43137"/>
                    </a:srgbClr>
                  </a:outerShdw>
                </a:effectLst>
              </a:rPr>
              <a:t>章 单片机的</a:t>
            </a:r>
            <a:r>
              <a:rPr lang="en-US" altLang="zh-CN" sz="1600" dirty="0">
                <a:effectLst>
                  <a:outerShdw blurRad="38100" dist="38100" dir="2700000" algn="tl">
                    <a:srgbClr val="000000">
                      <a:alpha val="43137"/>
                    </a:srgbClr>
                  </a:outerShdw>
                </a:effectLst>
              </a:rPr>
              <a:t>C51</a:t>
            </a:r>
            <a:r>
              <a:rPr lang="zh-CN" altLang="en-US" sz="1600" dirty="0">
                <a:effectLst>
                  <a:outerShdw blurRad="38100" dist="38100" dir="2700000" algn="tl">
                    <a:srgbClr val="000000">
                      <a:alpha val="43137"/>
                    </a:srgbClr>
                  </a:outerShdw>
                </a:effectLst>
              </a:rPr>
              <a:t>基础知识</a:t>
            </a:r>
          </a:p>
        </p:txBody>
      </p:sp>
      <p:sp>
        <p:nvSpPr>
          <p:cNvPr id="4" name="Text Box 6">
            <a:extLst>
              <a:ext uri="{FF2B5EF4-FFF2-40B4-BE49-F238E27FC236}">
                <a16:creationId xmlns:a16="http://schemas.microsoft.com/office/drawing/2014/main" id="{703E8033-55AB-472B-9A45-37814225402A}"/>
              </a:ext>
            </a:extLst>
          </p:cNvPr>
          <p:cNvSpPr txBox="1">
            <a:spLocks noChangeArrowheads="1"/>
          </p:cNvSpPr>
          <p:nvPr/>
        </p:nvSpPr>
        <p:spPr bwMode="auto">
          <a:xfrm>
            <a:off x="2627784" y="1340768"/>
            <a:ext cx="4930775" cy="389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ts val="2800"/>
              </a:lnSpc>
              <a:spcBef>
                <a:spcPct val="50000"/>
              </a:spcBef>
              <a:buFontTx/>
              <a:buNone/>
            </a:pPr>
            <a:r>
              <a:rPr lang="en-US" altLang="zh-CN" sz="2800" b="1" dirty="0">
                <a:effectLst>
                  <a:outerShdw blurRad="38100" dist="38100" dir="2700000" algn="tl">
                    <a:srgbClr val="000000">
                      <a:alpha val="43137"/>
                    </a:srgbClr>
                  </a:outerShdw>
                </a:effectLst>
              </a:rPr>
              <a:t>3.1 C51</a:t>
            </a:r>
            <a:r>
              <a:rPr lang="zh-CN" altLang="zh-CN" sz="2800" b="1" dirty="0">
                <a:effectLst>
                  <a:outerShdw blurRad="38100" dist="38100" dir="2700000" algn="tl">
                    <a:srgbClr val="000000">
                      <a:alpha val="43137"/>
                    </a:srgbClr>
                  </a:outerShdw>
                </a:effectLst>
              </a:rPr>
              <a:t>语言概述</a:t>
            </a:r>
            <a:endParaRPr lang="zh-CN" altLang="en-US" sz="2800" b="1" dirty="0">
              <a:effectLst>
                <a:outerShdw blurRad="38100" dist="38100" dir="2700000" algn="tl">
                  <a:srgbClr val="000000">
                    <a:alpha val="43137"/>
                  </a:srgbClr>
                </a:outerShdw>
              </a:effectLst>
            </a:endParaRPr>
          </a:p>
          <a:p>
            <a:pPr eaLnBrk="1" hangingPunct="1">
              <a:lnSpc>
                <a:spcPts val="2800"/>
              </a:lnSpc>
              <a:spcBef>
                <a:spcPct val="50000"/>
              </a:spcBef>
              <a:buFontTx/>
              <a:buNone/>
            </a:pPr>
            <a:r>
              <a:rPr lang="en-US" altLang="zh-CN" sz="2800" b="1" dirty="0">
                <a:solidFill>
                  <a:srgbClr val="FF0000"/>
                </a:solidFill>
                <a:effectLst>
                  <a:outerShdw blurRad="38100" dist="38100" dir="2700000" algn="tl">
                    <a:srgbClr val="000000">
                      <a:alpha val="43137"/>
                    </a:srgbClr>
                  </a:outerShdw>
                </a:effectLst>
              </a:rPr>
              <a:t>3.2 C51</a:t>
            </a:r>
            <a:r>
              <a:rPr lang="zh-CN" altLang="zh-CN" sz="2800" b="1" dirty="0">
                <a:solidFill>
                  <a:srgbClr val="FF0000"/>
                </a:solidFill>
                <a:effectLst>
                  <a:outerShdw blurRad="38100" dist="38100" dir="2700000" algn="tl">
                    <a:srgbClr val="000000">
                      <a:alpha val="43137"/>
                    </a:srgbClr>
                  </a:outerShdw>
                </a:effectLst>
              </a:rPr>
              <a:t>软件工具</a:t>
            </a:r>
            <a:endParaRPr lang="zh-CN" altLang="en-US" sz="2800" b="1" dirty="0">
              <a:solidFill>
                <a:srgbClr val="FF0000"/>
              </a:solidFill>
              <a:effectLst>
                <a:outerShdw blurRad="38100" dist="38100" dir="2700000" algn="tl">
                  <a:srgbClr val="000000">
                    <a:alpha val="43137"/>
                  </a:srgbClr>
                </a:outerShdw>
              </a:effectLst>
            </a:endParaRPr>
          </a:p>
          <a:p>
            <a:pPr eaLnBrk="1" hangingPunct="1">
              <a:lnSpc>
                <a:spcPts val="2800"/>
              </a:lnSpc>
              <a:spcBef>
                <a:spcPct val="50000"/>
              </a:spcBef>
              <a:buFontTx/>
              <a:buNone/>
            </a:pPr>
            <a:r>
              <a:rPr lang="en-US" altLang="zh-CN" sz="2800" b="1" dirty="0">
                <a:effectLst>
                  <a:outerShdw blurRad="38100" dist="38100" dir="2700000" algn="tl">
                    <a:srgbClr val="000000">
                      <a:alpha val="43137"/>
                    </a:srgbClr>
                  </a:outerShdw>
                </a:effectLst>
              </a:rPr>
              <a:t>3.3 C51</a:t>
            </a:r>
            <a:r>
              <a:rPr lang="zh-CN" altLang="zh-CN" sz="2800" b="1" dirty="0">
                <a:effectLst>
                  <a:outerShdw blurRad="38100" dist="38100" dir="2700000" algn="tl">
                    <a:srgbClr val="000000">
                      <a:alpha val="43137"/>
                    </a:srgbClr>
                  </a:outerShdw>
                </a:effectLst>
              </a:rPr>
              <a:t>的基本执行语句</a:t>
            </a:r>
            <a:endParaRPr lang="en-US" altLang="zh-CN" sz="2800" b="1" dirty="0">
              <a:effectLst>
                <a:outerShdw blurRad="38100" dist="38100" dir="2700000" algn="tl">
                  <a:srgbClr val="000000">
                    <a:alpha val="43137"/>
                  </a:srgbClr>
                </a:outerShdw>
              </a:effectLst>
            </a:endParaRPr>
          </a:p>
          <a:p>
            <a:pPr eaLnBrk="1" hangingPunct="1">
              <a:lnSpc>
                <a:spcPts val="2800"/>
              </a:lnSpc>
              <a:spcBef>
                <a:spcPct val="50000"/>
              </a:spcBef>
              <a:buFontTx/>
              <a:buNone/>
            </a:pPr>
            <a:r>
              <a:rPr lang="en-US" altLang="zh-CN" sz="2800" b="1" dirty="0">
                <a:effectLst>
                  <a:outerShdw blurRad="38100" dist="38100" dir="2700000" algn="tl">
                    <a:srgbClr val="000000">
                      <a:alpha val="43137"/>
                    </a:srgbClr>
                  </a:outerShdw>
                </a:effectLst>
              </a:rPr>
              <a:t>3.4 C51</a:t>
            </a:r>
            <a:r>
              <a:rPr lang="zh-CN" altLang="zh-CN" sz="2800" b="1" dirty="0">
                <a:effectLst>
                  <a:outerShdw blurRad="38100" dist="38100" dir="2700000" algn="tl">
                    <a:srgbClr val="000000">
                      <a:alpha val="43137"/>
                    </a:srgbClr>
                  </a:outerShdw>
                </a:effectLst>
              </a:rPr>
              <a:t>的变量</a:t>
            </a:r>
            <a:endParaRPr lang="en-US" altLang="zh-CN" sz="2800" b="1" dirty="0">
              <a:effectLst>
                <a:outerShdw blurRad="38100" dist="38100" dir="2700000" algn="tl">
                  <a:srgbClr val="000000">
                    <a:alpha val="43137"/>
                  </a:srgbClr>
                </a:outerShdw>
              </a:effectLst>
            </a:endParaRPr>
          </a:p>
          <a:p>
            <a:pPr eaLnBrk="1" hangingPunct="1">
              <a:lnSpc>
                <a:spcPts val="2800"/>
              </a:lnSpc>
              <a:spcBef>
                <a:spcPct val="50000"/>
              </a:spcBef>
              <a:buFontTx/>
              <a:buNone/>
            </a:pPr>
            <a:r>
              <a:rPr lang="en-US" altLang="zh-CN" sz="2800" b="1" dirty="0">
                <a:effectLst>
                  <a:outerShdw blurRad="38100" dist="38100" dir="2700000" algn="tl">
                    <a:srgbClr val="000000">
                      <a:alpha val="43137"/>
                    </a:srgbClr>
                  </a:outerShdw>
                </a:effectLst>
              </a:rPr>
              <a:t>3.5 C51</a:t>
            </a:r>
            <a:r>
              <a:rPr lang="zh-CN" altLang="zh-CN" sz="2800" b="1" dirty="0">
                <a:effectLst>
                  <a:outerShdw blurRad="38100" dist="38100" dir="2700000" algn="tl">
                    <a:srgbClr val="000000">
                      <a:alpha val="43137"/>
                    </a:srgbClr>
                  </a:outerShdw>
                </a:effectLst>
              </a:rPr>
              <a:t>的指针</a:t>
            </a:r>
            <a:endParaRPr lang="en-US" altLang="zh-CN" sz="2800" b="1" dirty="0">
              <a:effectLst>
                <a:outerShdw blurRad="38100" dist="38100" dir="2700000" algn="tl">
                  <a:srgbClr val="000000">
                    <a:alpha val="43137"/>
                  </a:srgbClr>
                </a:outerShdw>
              </a:effectLst>
            </a:endParaRPr>
          </a:p>
          <a:p>
            <a:pPr eaLnBrk="1" hangingPunct="1">
              <a:lnSpc>
                <a:spcPts val="2800"/>
              </a:lnSpc>
              <a:spcBef>
                <a:spcPct val="50000"/>
              </a:spcBef>
              <a:buFontTx/>
              <a:buNone/>
            </a:pPr>
            <a:r>
              <a:rPr lang="en-US" altLang="zh-CN" sz="2800" b="1" dirty="0">
                <a:effectLst>
                  <a:outerShdw blurRad="38100" dist="38100" dir="2700000" algn="tl">
                    <a:srgbClr val="000000">
                      <a:alpha val="43137"/>
                    </a:srgbClr>
                  </a:outerShdw>
                </a:effectLst>
              </a:rPr>
              <a:t>3.6 C51</a:t>
            </a:r>
            <a:r>
              <a:rPr lang="zh-CN" altLang="zh-CN" sz="2800" b="1" dirty="0">
                <a:effectLst>
                  <a:outerShdw blurRad="38100" dist="38100" dir="2700000" algn="tl">
                    <a:srgbClr val="000000">
                      <a:alpha val="43137"/>
                    </a:srgbClr>
                  </a:outerShdw>
                </a:effectLst>
              </a:rPr>
              <a:t>的数组</a:t>
            </a:r>
            <a:endParaRPr lang="en-US" altLang="zh-CN" sz="2800" b="1" dirty="0">
              <a:effectLst>
                <a:outerShdw blurRad="38100" dist="38100" dir="2700000" algn="tl">
                  <a:srgbClr val="000000">
                    <a:alpha val="43137"/>
                  </a:srgbClr>
                </a:outerShdw>
              </a:effectLst>
            </a:endParaRPr>
          </a:p>
          <a:p>
            <a:pPr eaLnBrk="1" hangingPunct="1">
              <a:lnSpc>
                <a:spcPts val="2800"/>
              </a:lnSpc>
              <a:spcBef>
                <a:spcPct val="50000"/>
              </a:spcBef>
              <a:buFontTx/>
              <a:buNone/>
            </a:pPr>
            <a:r>
              <a:rPr lang="en-US" altLang="zh-CN" sz="2800" b="1" dirty="0">
                <a:effectLst>
                  <a:outerShdw blurRad="38100" dist="38100" dir="2700000" algn="tl">
                    <a:srgbClr val="000000">
                      <a:alpha val="43137"/>
                    </a:srgbClr>
                  </a:outerShdw>
                </a:effectLst>
              </a:rPr>
              <a:t>3.7 </a:t>
            </a:r>
            <a:r>
              <a:rPr lang="pt-BR" altLang="zh-CN" sz="28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C51</a:t>
            </a:r>
            <a:r>
              <a:rPr lang="zh-CN" altLang="zh-CN" sz="2800" b="1" dirty="0">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的函数</a:t>
            </a:r>
            <a:endParaRPr lang="zh-CN" altLang="en-US" sz="28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70273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000" fill="hold"/>
                                        <p:tgtEl>
                                          <p:spTgt spid="4">
                                            <p:txEl>
                                              <p:pRg st="1" end="1"/>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a:extLst>
              <a:ext uri="{FF2B5EF4-FFF2-40B4-BE49-F238E27FC236}">
                <a16:creationId xmlns:a16="http://schemas.microsoft.com/office/drawing/2014/main" id="{3271444D-C1F1-4262-B019-D3613847AD66}"/>
              </a:ext>
            </a:extLst>
          </p:cNvPr>
          <p:cNvSpPr>
            <a:spLocks noChangeArrowheads="1"/>
          </p:cNvSpPr>
          <p:nvPr/>
        </p:nvSpPr>
        <p:spPr bwMode="auto">
          <a:xfrm>
            <a:off x="877612" y="1182578"/>
            <a:ext cx="750256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indent="0">
              <a:spcBef>
                <a:spcPts val="1200"/>
              </a:spcBef>
              <a:buNone/>
            </a:pPr>
            <a:r>
              <a:rPr lang="en-US" altLang="zh-CN" sz="2000" b="1" dirty="0"/>
              <a:t>C51</a:t>
            </a:r>
            <a:r>
              <a:rPr lang="zh-CN" altLang="zh-CN" sz="2000" b="1" dirty="0"/>
              <a:t>语言所编制的源程序不能直接被计算机识别，必须转换成</a:t>
            </a:r>
            <a:r>
              <a:rPr lang="zh-CN" altLang="zh-CN" sz="2000" b="1" dirty="0">
                <a:solidFill>
                  <a:srgbClr val="C00000"/>
                </a:solidFill>
              </a:rPr>
              <a:t>可执行语言（或称目标代码）</a:t>
            </a:r>
            <a:r>
              <a:rPr lang="zh-CN" altLang="zh-CN" sz="2000" b="1" dirty="0"/>
              <a:t>后才能执行。</a:t>
            </a:r>
            <a:endParaRPr lang="en-US" altLang="zh-CN" sz="2000" b="1" dirty="0"/>
          </a:p>
          <a:p>
            <a:pPr marL="0" indent="0">
              <a:spcBef>
                <a:spcPts val="1200"/>
              </a:spcBef>
              <a:buNone/>
            </a:pPr>
            <a:r>
              <a:rPr lang="zh-CN" altLang="en-US" sz="2000" b="1" dirty="0"/>
              <a:t>先</a:t>
            </a:r>
            <a:r>
              <a:rPr lang="zh-CN" altLang="zh-CN" sz="2000" b="1" dirty="0"/>
              <a:t>将高级语言源程序全部转换为目标代码</a:t>
            </a:r>
            <a:r>
              <a:rPr lang="zh-CN" altLang="en-US" sz="2000" b="1" dirty="0"/>
              <a:t>，然后</a:t>
            </a:r>
            <a:r>
              <a:rPr lang="zh-CN" altLang="zh-CN" sz="2000" b="1" dirty="0"/>
              <a:t>再执行的方式叫做</a:t>
            </a:r>
            <a:r>
              <a:rPr lang="zh-CN" altLang="zh-CN" sz="2000" b="1" dirty="0">
                <a:solidFill>
                  <a:srgbClr val="C00000"/>
                </a:solidFill>
              </a:rPr>
              <a:t>编译型执行方式</a:t>
            </a:r>
            <a:r>
              <a:rPr lang="zh-CN" altLang="en-US" sz="2000" b="1" dirty="0"/>
              <a:t>。</a:t>
            </a:r>
            <a:r>
              <a:rPr lang="zh-CN" altLang="zh-CN" sz="2000" b="1" dirty="0"/>
              <a:t>将源程序边转换，边执行的方式叫做</a:t>
            </a:r>
            <a:r>
              <a:rPr lang="zh-CN" altLang="zh-CN" sz="2000" b="1" dirty="0">
                <a:solidFill>
                  <a:srgbClr val="C00000"/>
                </a:solidFill>
              </a:rPr>
              <a:t>解释型执行方式</a:t>
            </a:r>
            <a:r>
              <a:rPr lang="zh-CN" altLang="zh-CN" sz="2000" b="1" dirty="0"/>
              <a:t>。</a:t>
            </a:r>
            <a:endParaRPr lang="en-US" altLang="zh-CN" sz="2000" b="1" dirty="0"/>
          </a:p>
          <a:p>
            <a:pPr marL="0" indent="0">
              <a:spcBef>
                <a:spcPts val="1200"/>
              </a:spcBef>
              <a:buNone/>
            </a:pPr>
            <a:r>
              <a:rPr lang="en-US" altLang="zh-CN" sz="2000" b="1" dirty="0"/>
              <a:t>C51</a:t>
            </a:r>
            <a:r>
              <a:rPr lang="zh-CN" altLang="zh-CN" sz="2000" b="1" dirty="0"/>
              <a:t>采用编译型执行方式，产生的目标代码可以脱离</a:t>
            </a:r>
            <a:r>
              <a:rPr lang="en-US" altLang="zh-CN" sz="2000" b="1" dirty="0"/>
              <a:t>C51</a:t>
            </a:r>
            <a:r>
              <a:rPr lang="zh-CN" altLang="zh-CN" sz="2000" b="1" dirty="0"/>
              <a:t>编程环境独立执行，程序执行速度快，代码效率高。</a:t>
            </a:r>
            <a:endParaRPr lang="en-US" altLang="zh-CN" sz="2000" b="1" dirty="0"/>
          </a:p>
        </p:txBody>
      </p:sp>
      <p:sp>
        <p:nvSpPr>
          <p:cNvPr id="27651" name="Rectangle 2">
            <a:extLst>
              <a:ext uri="{FF2B5EF4-FFF2-40B4-BE49-F238E27FC236}">
                <a16:creationId xmlns:a16="http://schemas.microsoft.com/office/drawing/2014/main" id="{5635639F-B212-45ED-9F06-32D4354C3CDA}"/>
              </a:ext>
            </a:extLst>
          </p:cNvPr>
          <p:cNvSpPr>
            <a:spLocks noChangeArrowheads="1"/>
          </p:cNvSpPr>
          <p:nvPr/>
        </p:nvSpPr>
        <p:spPr bwMode="auto">
          <a:xfrm>
            <a:off x="5364163" y="404813"/>
            <a:ext cx="35099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zh-CN" altLang="en-US" sz="1600">
                <a:effectLst>
                  <a:outerShdw blurRad="38100" dist="38100" dir="2700000" algn="tl">
                    <a:srgbClr val="000000">
                      <a:alpha val="43137"/>
                    </a:srgbClr>
                  </a:outerShdw>
                </a:effectLst>
              </a:rPr>
              <a:t>第</a:t>
            </a:r>
            <a:r>
              <a:rPr lang="en-US" altLang="zh-CN" sz="1600">
                <a:effectLst>
                  <a:outerShdw blurRad="38100" dist="38100" dir="2700000" algn="tl">
                    <a:srgbClr val="000000">
                      <a:alpha val="43137"/>
                    </a:srgbClr>
                  </a:outerShdw>
                </a:effectLst>
              </a:rPr>
              <a:t>3</a:t>
            </a:r>
            <a:r>
              <a:rPr lang="zh-CN" altLang="en-US" sz="1600">
                <a:effectLst>
                  <a:outerShdw blurRad="38100" dist="38100" dir="2700000" algn="tl">
                    <a:srgbClr val="000000">
                      <a:alpha val="43137"/>
                    </a:srgbClr>
                  </a:outerShdw>
                </a:effectLst>
              </a:rPr>
              <a:t>章 单片机的</a:t>
            </a:r>
            <a:r>
              <a:rPr lang="en-US" altLang="zh-CN" sz="1600">
                <a:effectLst>
                  <a:outerShdw blurRad="38100" dist="38100" dir="2700000" algn="tl">
                    <a:srgbClr val="000000">
                      <a:alpha val="43137"/>
                    </a:srgbClr>
                  </a:outerShdw>
                </a:effectLst>
              </a:rPr>
              <a:t>C51</a:t>
            </a:r>
            <a:r>
              <a:rPr lang="zh-CN" altLang="en-US" sz="1600">
                <a:effectLst>
                  <a:outerShdw blurRad="38100" dist="38100" dir="2700000" algn="tl">
                    <a:srgbClr val="000000">
                      <a:alpha val="43137"/>
                    </a:srgbClr>
                  </a:outerShdw>
                </a:effectLst>
              </a:rPr>
              <a:t>基础知识</a:t>
            </a:r>
          </a:p>
        </p:txBody>
      </p:sp>
      <p:sp>
        <p:nvSpPr>
          <p:cNvPr id="7" name="文本框 6">
            <a:extLst>
              <a:ext uri="{FF2B5EF4-FFF2-40B4-BE49-F238E27FC236}">
                <a16:creationId xmlns:a16="http://schemas.microsoft.com/office/drawing/2014/main" id="{0D37DA4A-8C55-4F23-BF2F-2CF4D1D4F64C}"/>
              </a:ext>
            </a:extLst>
          </p:cNvPr>
          <p:cNvSpPr txBox="1"/>
          <p:nvPr/>
        </p:nvSpPr>
        <p:spPr>
          <a:xfrm>
            <a:off x="877612" y="3737123"/>
            <a:ext cx="7502560" cy="1477328"/>
          </a:xfrm>
          <a:prstGeom prst="rect">
            <a:avLst/>
          </a:prstGeom>
          <a:noFill/>
        </p:spPr>
        <p:txBody>
          <a:bodyPr wrap="square">
            <a:spAutoFit/>
          </a:bodyPr>
          <a:lstStyle/>
          <a:p>
            <a:pPr>
              <a:spcBef>
                <a:spcPts val="1200"/>
              </a:spcBef>
              <a:buNone/>
            </a:pPr>
            <a:r>
              <a:rPr lang="zh-CN" altLang="zh-CN" sz="2000" b="1" kern="100" dirty="0">
                <a:effectLst/>
                <a:latin typeface="Times New Roman" panose="02020603050405020304" pitchFamily="18" charset="0"/>
                <a:ea typeface="宋体" panose="02010600030101010101" pitchFamily="2" charset="-122"/>
              </a:rPr>
              <a:t>对</a:t>
            </a:r>
            <a:r>
              <a:rPr lang="en-US" altLang="zh-CN" sz="2000" b="1" kern="100" dirty="0">
                <a:effectLst/>
                <a:latin typeface="Times New Roman" panose="02020603050405020304" pitchFamily="18" charset="0"/>
                <a:ea typeface="宋体" panose="02010600030101010101" pitchFamily="2" charset="-122"/>
              </a:rPr>
              <a:t>C51</a:t>
            </a:r>
            <a:r>
              <a:rPr lang="zh-CN" altLang="zh-CN" sz="2000" b="1" kern="100" dirty="0">
                <a:effectLst/>
                <a:latin typeface="Times New Roman" panose="02020603050405020304" pitchFamily="18" charset="0"/>
                <a:ea typeface="宋体" panose="02010600030101010101" pitchFamily="2" charset="-122"/>
              </a:rPr>
              <a:t>源程序进行编译及其后续处理的工具软件种类繁多，不同软件工具在功能、性能和操作友好性方面存在较大差异。</a:t>
            </a:r>
            <a:endParaRPr lang="en-US" altLang="zh-CN" sz="2000" b="1" kern="100" dirty="0">
              <a:effectLst/>
              <a:latin typeface="Times New Roman" panose="02020603050405020304" pitchFamily="18" charset="0"/>
              <a:ea typeface="宋体" panose="02010600030101010101" pitchFamily="2" charset="-122"/>
            </a:endParaRPr>
          </a:p>
          <a:p>
            <a:pPr>
              <a:spcBef>
                <a:spcPts val="1200"/>
              </a:spcBef>
              <a:buNone/>
            </a:pPr>
            <a:r>
              <a:rPr lang="zh-CN" altLang="zh-CN" sz="2000" b="1" kern="100" dirty="0">
                <a:effectLst/>
                <a:latin typeface="Times New Roman" panose="02020603050405020304" pitchFamily="18" charset="0"/>
                <a:ea typeface="宋体" panose="02010600030101010101" pitchFamily="2" charset="-122"/>
              </a:rPr>
              <a:t>本书推荐使用的是</a:t>
            </a:r>
            <a:r>
              <a:rPr lang="en-US" altLang="zh-CN" sz="2000" b="1" kern="100" dirty="0">
                <a:effectLst/>
                <a:latin typeface="Times New Roman" panose="02020603050405020304" pitchFamily="18" charset="0"/>
                <a:ea typeface="宋体" panose="02010600030101010101" pitchFamily="2" charset="-122"/>
              </a:rPr>
              <a:t>Keil</a:t>
            </a:r>
            <a:r>
              <a:rPr lang="zh-CN" altLang="zh-CN" sz="2000" b="1" kern="100" dirty="0">
                <a:effectLst/>
                <a:latin typeface="Times New Roman" panose="02020603050405020304" pitchFamily="18" charset="0"/>
                <a:ea typeface="宋体" panose="02010600030101010101" pitchFamily="2" charset="-122"/>
              </a:rPr>
              <a:t>软件开发工具包，但从本版教材开始，在使用方法上有了很大变化。</a:t>
            </a:r>
            <a:endParaRPr lang="en-US" altLang="zh-CN" sz="2000" b="1"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141847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23" name="Rectangle 2">
            <a:extLst>
              <a:ext uri="{FF2B5EF4-FFF2-40B4-BE49-F238E27FC236}">
                <a16:creationId xmlns:a16="http://schemas.microsoft.com/office/drawing/2014/main" id="{03E117C7-4776-41F2-AB1F-F365DA6AE629}"/>
              </a:ext>
            </a:extLst>
          </p:cNvPr>
          <p:cNvSpPr>
            <a:spLocks noChangeArrowheads="1"/>
          </p:cNvSpPr>
          <p:nvPr/>
        </p:nvSpPr>
        <p:spPr bwMode="auto">
          <a:xfrm>
            <a:off x="907478" y="2312988"/>
            <a:ext cx="4214812" cy="190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ts val="2500"/>
              </a:lnSpc>
              <a:spcBef>
                <a:spcPct val="50000"/>
              </a:spcBef>
              <a:buFontTx/>
              <a:buNone/>
            </a:pPr>
            <a:r>
              <a:rPr lang="zh-CN" altLang="zh-CN" sz="2000" b="1" dirty="0"/>
              <a:t>源程序编辑</a:t>
            </a:r>
            <a:r>
              <a:rPr lang="zh-CN" altLang="en-US" sz="2000" b="1" dirty="0"/>
              <a:t>→</a:t>
            </a:r>
            <a:r>
              <a:rPr lang="zh-CN" altLang="zh-CN" sz="2000" b="1" dirty="0"/>
              <a:t>代码编译</a:t>
            </a:r>
            <a:r>
              <a:rPr lang="zh-CN" altLang="en-US" sz="2000" b="1" dirty="0"/>
              <a:t>→</a:t>
            </a:r>
            <a:r>
              <a:rPr lang="zh-CN" altLang="zh-CN" sz="2000" b="1" dirty="0"/>
              <a:t>模块链接</a:t>
            </a:r>
            <a:r>
              <a:rPr lang="zh-CN" altLang="en-US" sz="2000" b="1" dirty="0"/>
              <a:t>→</a:t>
            </a:r>
            <a:r>
              <a:rPr lang="zh-CN" altLang="zh-CN" sz="2000" b="1" dirty="0"/>
              <a:t>运行测试</a:t>
            </a:r>
            <a:endParaRPr lang="en-US" altLang="zh-CN" sz="2000" b="1" dirty="0"/>
          </a:p>
          <a:p>
            <a:pPr algn="just" eaLnBrk="1" hangingPunct="1">
              <a:lnSpc>
                <a:spcPts val="2500"/>
              </a:lnSpc>
              <a:spcBef>
                <a:spcPts val="1200"/>
              </a:spcBef>
              <a:buFontTx/>
              <a:buNone/>
            </a:pPr>
            <a:r>
              <a:rPr lang="zh-CN" altLang="en-US" sz="2000" b="1" dirty="0">
                <a:solidFill>
                  <a:srgbClr val="C00000"/>
                </a:solidFill>
              </a:rPr>
              <a:t>产生</a:t>
            </a:r>
            <a:r>
              <a:rPr lang="en-US" altLang="zh-CN" sz="2000" b="1" dirty="0">
                <a:solidFill>
                  <a:srgbClr val="C00000"/>
                </a:solidFill>
              </a:rPr>
              <a:t>3</a:t>
            </a:r>
            <a:r>
              <a:rPr lang="zh-CN" altLang="zh-CN" sz="2000" b="1" dirty="0">
                <a:solidFill>
                  <a:srgbClr val="C00000"/>
                </a:solidFill>
              </a:rPr>
              <a:t>个程序文件</a:t>
            </a:r>
            <a:r>
              <a:rPr lang="zh-CN" altLang="en-US" sz="2000" b="1" dirty="0"/>
              <a:t>：</a:t>
            </a:r>
            <a:endParaRPr lang="en-US" altLang="zh-CN" sz="2000" b="1" dirty="0"/>
          </a:p>
          <a:p>
            <a:pPr algn="just" eaLnBrk="1" hangingPunct="1">
              <a:spcBef>
                <a:spcPts val="600"/>
              </a:spcBef>
              <a:buFontTx/>
              <a:buNone/>
            </a:pPr>
            <a:r>
              <a:rPr lang="en-US" altLang="zh-CN" sz="2000" b="1" dirty="0"/>
              <a:t>*.c</a:t>
            </a:r>
            <a:r>
              <a:rPr lang="zh-CN" altLang="zh-CN" sz="2000" b="1" dirty="0"/>
              <a:t>源程序</a:t>
            </a:r>
            <a:r>
              <a:rPr lang="zh-CN" altLang="en-US" sz="2000" b="1" dirty="0"/>
              <a:t>→</a:t>
            </a:r>
            <a:r>
              <a:rPr lang="en-US" altLang="zh-CN" sz="2000" b="1" dirty="0"/>
              <a:t>*.obj</a:t>
            </a:r>
            <a:r>
              <a:rPr lang="zh-CN" altLang="zh-CN" sz="2000" b="1" dirty="0"/>
              <a:t>目标程序</a:t>
            </a:r>
            <a:r>
              <a:rPr lang="zh-CN" altLang="en-US" sz="2000" b="1" dirty="0"/>
              <a:t>→</a:t>
            </a:r>
            <a:r>
              <a:rPr lang="en-US" altLang="zh-CN" sz="2000" b="1" dirty="0"/>
              <a:t>*.hex</a:t>
            </a:r>
            <a:r>
              <a:rPr lang="zh-CN" altLang="zh-CN" sz="2000" b="1" dirty="0"/>
              <a:t>可执行目标程序</a:t>
            </a:r>
            <a:endParaRPr lang="zh-CN" altLang="en-US" sz="2000" b="1" dirty="0"/>
          </a:p>
        </p:txBody>
      </p:sp>
      <p:sp>
        <p:nvSpPr>
          <p:cNvPr id="21507" name="矩形 1">
            <a:extLst>
              <a:ext uri="{FF2B5EF4-FFF2-40B4-BE49-F238E27FC236}">
                <a16:creationId xmlns:a16="http://schemas.microsoft.com/office/drawing/2014/main" id="{A6CB544A-2B30-4ACA-B506-8AE4CAD081AA}"/>
              </a:ext>
            </a:extLst>
          </p:cNvPr>
          <p:cNvSpPr>
            <a:spLocks noChangeArrowheads="1"/>
          </p:cNvSpPr>
          <p:nvPr/>
        </p:nvSpPr>
        <p:spPr bwMode="auto">
          <a:xfrm>
            <a:off x="907479" y="1163638"/>
            <a:ext cx="48051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dirty="0">
                <a:solidFill>
                  <a:srgbClr val="C00000"/>
                </a:solidFill>
              </a:rPr>
              <a:t>C51</a:t>
            </a:r>
            <a:r>
              <a:rPr lang="zh-CN" altLang="zh-CN" sz="2000" b="1" dirty="0">
                <a:solidFill>
                  <a:srgbClr val="C00000"/>
                </a:solidFill>
              </a:rPr>
              <a:t>程序开发过程</a:t>
            </a:r>
            <a:r>
              <a:rPr lang="zh-CN" altLang="zh-CN" sz="2000" b="1" dirty="0"/>
              <a:t>需要经过许多步骤</a:t>
            </a:r>
            <a:endParaRPr lang="zh-CN" altLang="en-US" sz="2000" b="1" dirty="0"/>
          </a:p>
        </p:txBody>
      </p:sp>
      <p:pic>
        <p:nvPicPr>
          <p:cNvPr id="21508" name="图片 6">
            <a:extLst>
              <a:ext uri="{FF2B5EF4-FFF2-40B4-BE49-F238E27FC236}">
                <a16:creationId xmlns:a16="http://schemas.microsoft.com/office/drawing/2014/main" id="{EEC5B8CF-EB2D-4419-BBD7-0A7D5EFE6AD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287063" y="1052736"/>
            <a:ext cx="3725320" cy="37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矩形 1">
            <a:extLst>
              <a:ext uri="{FF2B5EF4-FFF2-40B4-BE49-F238E27FC236}">
                <a16:creationId xmlns:a16="http://schemas.microsoft.com/office/drawing/2014/main" id="{D2D443D5-B7C8-4000-A5C5-261DAED4D42A}"/>
              </a:ext>
            </a:extLst>
          </p:cNvPr>
          <p:cNvSpPr>
            <a:spLocks noChangeArrowheads="1"/>
          </p:cNvSpPr>
          <p:nvPr/>
        </p:nvSpPr>
        <p:spPr bwMode="auto">
          <a:xfrm>
            <a:off x="907478" y="1974917"/>
            <a:ext cx="2375971" cy="38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ts val="2500"/>
              </a:lnSpc>
              <a:spcBef>
                <a:spcPct val="50000"/>
              </a:spcBef>
              <a:buFontTx/>
              <a:buNone/>
            </a:pPr>
            <a:r>
              <a:rPr lang="zh-CN" altLang="en-US" sz="2000" b="1" dirty="0">
                <a:solidFill>
                  <a:srgbClr val="C00000"/>
                </a:solidFill>
              </a:rPr>
              <a:t>经历</a:t>
            </a:r>
            <a:r>
              <a:rPr lang="en-US" altLang="zh-CN" sz="2000" b="1" dirty="0">
                <a:solidFill>
                  <a:srgbClr val="C00000"/>
                </a:solidFill>
              </a:rPr>
              <a:t>4</a:t>
            </a:r>
            <a:r>
              <a:rPr lang="zh-CN" altLang="zh-CN" sz="2000" b="1" dirty="0">
                <a:solidFill>
                  <a:srgbClr val="C00000"/>
                </a:solidFill>
              </a:rPr>
              <a:t>个</a:t>
            </a:r>
            <a:r>
              <a:rPr lang="zh-CN" altLang="en-US" sz="2000" b="1" dirty="0">
                <a:solidFill>
                  <a:srgbClr val="C00000"/>
                </a:solidFill>
              </a:rPr>
              <a:t>处理阶段</a:t>
            </a:r>
            <a:r>
              <a:rPr lang="zh-CN" altLang="en-US" sz="2000" b="1" dirty="0"/>
              <a:t>：</a:t>
            </a:r>
            <a:endParaRPr lang="en-US" altLang="zh-CN" sz="2000" b="1" dirty="0"/>
          </a:p>
        </p:txBody>
      </p:sp>
      <p:sp>
        <p:nvSpPr>
          <p:cNvPr id="21510" name="矩形 3">
            <a:extLst>
              <a:ext uri="{FF2B5EF4-FFF2-40B4-BE49-F238E27FC236}">
                <a16:creationId xmlns:a16="http://schemas.microsoft.com/office/drawing/2014/main" id="{724A3279-F458-423A-BBFD-45C98EDDF6DE}"/>
              </a:ext>
            </a:extLst>
          </p:cNvPr>
          <p:cNvSpPr>
            <a:spLocks noChangeArrowheads="1"/>
          </p:cNvSpPr>
          <p:nvPr/>
        </p:nvSpPr>
        <p:spPr bwMode="auto">
          <a:xfrm>
            <a:off x="865138" y="4293242"/>
            <a:ext cx="42883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zh-CN" sz="2000" b="1" dirty="0"/>
              <a:t>（库函数程序</a:t>
            </a:r>
            <a:r>
              <a:rPr lang="zh-CN" altLang="en-US" sz="2000" b="1" dirty="0"/>
              <a:t>文件</a:t>
            </a:r>
            <a:r>
              <a:rPr lang="zh-CN" altLang="zh-CN" sz="2000" b="1" dirty="0"/>
              <a:t>由编译系统提供）</a:t>
            </a:r>
            <a:endParaRPr lang="zh-CN" altLang="en-US" sz="2000" b="1" dirty="0"/>
          </a:p>
        </p:txBody>
      </p:sp>
      <p:sp>
        <p:nvSpPr>
          <p:cNvPr id="5" name="矩形 4">
            <a:extLst>
              <a:ext uri="{FF2B5EF4-FFF2-40B4-BE49-F238E27FC236}">
                <a16:creationId xmlns:a16="http://schemas.microsoft.com/office/drawing/2014/main" id="{11F9F472-0640-4890-8022-E0596F8A8331}"/>
              </a:ext>
            </a:extLst>
          </p:cNvPr>
          <p:cNvSpPr/>
          <p:nvPr/>
        </p:nvSpPr>
        <p:spPr>
          <a:xfrm>
            <a:off x="865139" y="4847120"/>
            <a:ext cx="7273304" cy="707886"/>
          </a:xfrm>
          <a:prstGeom prst="rect">
            <a:avLst/>
          </a:prstGeom>
        </p:spPr>
        <p:txBody>
          <a:bodyPr wrap="square">
            <a:spAutoFit/>
          </a:bodyPr>
          <a:lstStyle/>
          <a:p>
            <a:pPr>
              <a:spcAft>
                <a:spcPts val="0"/>
              </a:spcAft>
              <a:defRPr/>
            </a:pPr>
            <a:r>
              <a:rPr lang="zh-CN" altLang="zh-CN" sz="2000" b="1" kern="100" dirty="0">
                <a:latin typeface="Calibri" panose="020F0502020204030204" pitchFamily="34" charset="0"/>
                <a:cs typeface="Times New Roman" panose="02020603050405020304" pitchFamily="18" charset="0"/>
              </a:rPr>
              <a:t>需要有相应的软件开发工具提供服务保障</a:t>
            </a:r>
            <a:r>
              <a:rPr lang="zh-CN" altLang="en-US" sz="2000" b="1" kern="100" dirty="0">
                <a:latin typeface="Calibri" panose="020F0502020204030204" pitchFamily="34" charset="0"/>
                <a:cs typeface="Times New Roman" panose="02020603050405020304" pitchFamily="18" charset="0"/>
              </a:rPr>
              <a:t>，</a:t>
            </a:r>
            <a:r>
              <a:rPr lang="en-US" altLang="zh-CN" sz="2000" b="1" kern="100" dirty="0">
                <a:latin typeface="Calibri" panose="020F0502020204030204" pitchFamily="34" charset="0"/>
                <a:cs typeface="Times New Roman" panose="02020603050405020304" pitchFamily="18" charset="0"/>
              </a:rPr>
              <a:t>KEIL</a:t>
            </a:r>
            <a:r>
              <a:rPr lang="zh-CN" altLang="zh-CN" sz="2000" b="1" kern="100" dirty="0">
                <a:latin typeface="Calibri" panose="020F0502020204030204" pitchFamily="34" charset="0"/>
                <a:cs typeface="Times New Roman" panose="02020603050405020304" pitchFamily="18" charset="0"/>
              </a:rPr>
              <a:t>软件工具包就是为这一目标而设计的。</a:t>
            </a:r>
          </a:p>
        </p:txBody>
      </p:sp>
      <p:sp>
        <p:nvSpPr>
          <p:cNvPr id="21512" name="Rectangle 2">
            <a:extLst>
              <a:ext uri="{FF2B5EF4-FFF2-40B4-BE49-F238E27FC236}">
                <a16:creationId xmlns:a16="http://schemas.microsoft.com/office/drawing/2014/main" id="{A384F834-B375-4D03-82A4-B792679FBF17}"/>
              </a:ext>
            </a:extLst>
          </p:cNvPr>
          <p:cNvSpPr>
            <a:spLocks noChangeArrowheads="1"/>
          </p:cNvSpPr>
          <p:nvPr/>
        </p:nvSpPr>
        <p:spPr bwMode="auto">
          <a:xfrm>
            <a:off x="5364163" y="404813"/>
            <a:ext cx="35099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zh-CN" altLang="en-US" sz="1600" b="1"/>
              <a:t>第</a:t>
            </a:r>
            <a:r>
              <a:rPr lang="en-US" altLang="zh-CN" sz="1600" b="1"/>
              <a:t>3</a:t>
            </a:r>
            <a:r>
              <a:rPr lang="zh-CN" altLang="en-US" sz="1600" b="1"/>
              <a:t>章 单片机的</a:t>
            </a:r>
            <a:r>
              <a:rPr lang="en-US" altLang="zh-CN" sz="1600" b="1"/>
              <a:t>C51</a:t>
            </a:r>
            <a:r>
              <a:rPr lang="zh-CN" altLang="en-US" sz="1600" b="1"/>
              <a:t>基础知识</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23" name="Rectangle 2">
            <a:extLst>
              <a:ext uri="{FF2B5EF4-FFF2-40B4-BE49-F238E27FC236}">
                <a16:creationId xmlns:a16="http://schemas.microsoft.com/office/drawing/2014/main" id="{783EB2A7-8D0F-4548-A149-F172CA3DDB3F}"/>
              </a:ext>
            </a:extLst>
          </p:cNvPr>
          <p:cNvSpPr>
            <a:spLocks noChangeArrowheads="1"/>
          </p:cNvSpPr>
          <p:nvPr/>
        </p:nvSpPr>
        <p:spPr bwMode="auto">
          <a:xfrm>
            <a:off x="610729" y="1772816"/>
            <a:ext cx="7922541" cy="3931846"/>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algn="just" eaLnBrk="1" hangingPunct="1">
              <a:lnSpc>
                <a:spcPts val="2500"/>
              </a:lnSpc>
              <a:spcBef>
                <a:spcPct val="50000"/>
              </a:spcBef>
              <a:defRPr/>
            </a:pPr>
            <a:r>
              <a:rPr lang="zh-CN" altLang="zh-CN" sz="2000" b="1" dirty="0">
                <a:effectLst>
                  <a:outerShdw blurRad="38100" dist="38100" dir="2700000" algn="tl">
                    <a:srgbClr val="000000">
                      <a:alpha val="43137"/>
                    </a:srgbClr>
                  </a:outerShdw>
                </a:effectLst>
              </a:rPr>
              <a:t>由德国</a:t>
            </a:r>
            <a:r>
              <a:rPr lang="en-US" altLang="zh-CN" sz="2000" b="1" dirty="0" err="1">
                <a:effectLst>
                  <a:outerShdw blurRad="38100" dist="38100" dir="2700000" algn="tl">
                    <a:srgbClr val="000000">
                      <a:alpha val="43137"/>
                    </a:srgbClr>
                  </a:outerShdw>
                </a:effectLst>
              </a:rPr>
              <a:t>Keil</a:t>
            </a:r>
            <a:r>
              <a:rPr lang="en-US" altLang="zh-CN" sz="2000" b="1" dirty="0">
                <a:effectLst>
                  <a:outerShdw blurRad="38100" dist="38100" dir="2700000" algn="tl">
                    <a:srgbClr val="000000">
                      <a:alpha val="43137"/>
                    </a:srgbClr>
                  </a:outerShdw>
                </a:effectLst>
              </a:rPr>
              <a:t> </a:t>
            </a:r>
            <a:r>
              <a:rPr lang="en-US" altLang="zh-CN" sz="2000" b="1" dirty="0" err="1">
                <a:effectLst>
                  <a:outerShdw blurRad="38100" dist="38100" dir="2700000" algn="tl">
                    <a:srgbClr val="000000">
                      <a:alpha val="43137"/>
                    </a:srgbClr>
                  </a:outerShdw>
                </a:effectLst>
              </a:rPr>
              <a:t>Elektronik</a:t>
            </a:r>
            <a:r>
              <a:rPr lang="en-US" altLang="zh-CN" sz="2000" b="1" dirty="0">
                <a:effectLst>
                  <a:outerShdw blurRad="38100" dist="38100" dir="2700000" algn="tl">
                    <a:srgbClr val="000000">
                      <a:alpha val="43137"/>
                    </a:srgbClr>
                  </a:outerShdw>
                </a:effectLst>
              </a:rPr>
              <a:t> GmbH</a:t>
            </a:r>
            <a:r>
              <a:rPr lang="zh-CN" altLang="zh-CN" sz="2000" b="1" dirty="0">
                <a:effectLst>
                  <a:outerShdw blurRad="38100" dist="38100" dir="2700000" algn="tl">
                    <a:srgbClr val="000000">
                      <a:alpha val="43137"/>
                    </a:srgbClr>
                  </a:outerShdw>
                </a:effectLst>
              </a:rPr>
              <a:t>公司和美国</a:t>
            </a:r>
            <a:r>
              <a:rPr lang="en-US" altLang="zh-CN" sz="2000" b="1" dirty="0" err="1">
                <a:effectLst>
                  <a:outerShdw blurRad="38100" dist="38100" dir="2700000" algn="tl">
                    <a:srgbClr val="000000">
                      <a:alpha val="43137"/>
                    </a:srgbClr>
                  </a:outerShdw>
                </a:effectLst>
              </a:rPr>
              <a:t>Keil</a:t>
            </a:r>
            <a:r>
              <a:rPr lang="en-US" altLang="zh-CN" sz="2000" b="1" dirty="0">
                <a:effectLst>
                  <a:outerShdw blurRad="38100" dist="38100" dir="2700000" algn="tl">
                    <a:srgbClr val="000000">
                      <a:alpha val="43137"/>
                    </a:srgbClr>
                  </a:outerShdw>
                </a:effectLst>
              </a:rPr>
              <a:t> Software</a:t>
            </a:r>
            <a:r>
              <a:rPr lang="zh-CN" altLang="zh-CN" sz="2000" b="1" dirty="0">
                <a:effectLst>
                  <a:outerShdw blurRad="38100" dist="38100" dir="2700000" algn="tl">
                    <a:srgbClr val="000000">
                      <a:alpha val="43137"/>
                    </a:srgbClr>
                  </a:outerShdw>
                </a:effectLst>
              </a:rPr>
              <a:t>公司联合开发</a:t>
            </a:r>
            <a:r>
              <a:rPr lang="zh-CN" altLang="en-US" sz="2000" b="1" dirty="0">
                <a:effectLst>
                  <a:outerShdw blurRad="38100" dist="38100" dir="2700000" algn="tl">
                    <a:srgbClr val="000000">
                      <a:alpha val="43137"/>
                    </a:srgbClr>
                  </a:outerShdw>
                </a:effectLst>
              </a:rPr>
              <a:t>；</a:t>
            </a:r>
            <a:endParaRPr lang="en-US" altLang="zh-CN" sz="2000" b="1" dirty="0">
              <a:effectLst>
                <a:outerShdw blurRad="38100" dist="38100" dir="2700000" algn="tl">
                  <a:srgbClr val="000000">
                    <a:alpha val="43137"/>
                  </a:srgbClr>
                </a:outerShdw>
              </a:effectLst>
            </a:endParaRPr>
          </a:p>
          <a:p>
            <a:pPr marL="342900" indent="-342900" algn="just" eaLnBrk="1" hangingPunct="1">
              <a:lnSpc>
                <a:spcPts val="2500"/>
              </a:lnSpc>
              <a:spcBef>
                <a:spcPct val="50000"/>
              </a:spcBef>
              <a:defRPr/>
            </a:pPr>
            <a:r>
              <a:rPr lang="zh-CN" altLang="en-US" sz="2000" b="1" dirty="0">
                <a:effectLst>
                  <a:outerShdw blurRad="38100" dist="38100" dir="2700000" algn="tl">
                    <a:srgbClr val="000000">
                      <a:alpha val="43137"/>
                    </a:srgbClr>
                  </a:outerShdw>
                </a:effectLst>
              </a:rPr>
              <a:t>后来都</a:t>
            </a:r>
            <a:r>
              <a:rPr lang="zh-CN" altLang="zh-CN" sz="2000" b="1" dirty="0">
                <a:effectLst>
                  <a:outerShdw blurRad="38100" dist="38100" dir="2700000" algn="tl">
                    <a:srgbClr val="000000">
                      <a:alpha val="43137"/>
                    </a:srgbClr>
                  </a:outerShdw>
                </a:effectLst>
              </a:rPr>
              <a:t>被</a:t>
            </a:r>
            <a:r>
              <a:rPr lang="en-US" altLang="zh-CN" sz="2000" b="1" dirty="0">
                <a:effectLst>
                  <a:outerShdw blurRad="38100" dist="38100" dir="2700000" algn="tl">
                    <a:srgbClr val="000000">
                      <a:alpha val="43137"/>
                    </a:srgbClr>
                  </a:outerShdw>
                </a:effectLst>
              </a:rPr>
              <a:t>ARM</a:t>
            </a:r>
            <a:r>
              <a:rPr lang="zh-CN" altLang="zh-CN" sz="2000" b="1" dirty="0">
                <a:effectLst>
                  <a:outerShdw blurRad="38100" dist="38100" dir="2700000" algn="tl">
                    <a:srgbClr val="000000">
                      <a:alpha val="43137"/>
                    </a:srgbClr>
                  </a:outerShdw>
                </a:effectLst>
              </a:rPr>
              <a:t>公司收购</a:t>
            </a:r>
            <a:r>
              <a:rPr lang="zh-CN" altLang="en-US" sz="2000" b="1" dirty="0">
                <a:effectLst>
                  <a:outerShdw blurRad="38100" dist="38100" dir="2700000" algn="tl">
                    <a:srgbClr val="000000">
                      <a:alpha val="43137"/>
                    </a:srgbClr>
                  </a:outerShdw>
                </a:effectLst>
              </a:rPr>
              <a:t>；</a:t>
            </a:r>
            <a:endParaRPr lang="en-US" altLang="zh-CN" sz="2000" b="1" dirty="0">
              <a:effectLst>
                <a:outerShdw blurRad="38100" dist="38100" dir="2700000" algn="tl">
                  <a:srgbClr val="000000">
                    <a:alpha val="43137"/>
                  </a:srgbClr>
                </a:outerShdw>
              </a:effectLst>
            </a:endParaRPr>
          </a:p>
          <a:p>
            <a:pPr marL="342900" indent="-342900" algn="just" eaLnBrk="1" hangingPunct="1">
              <a:lnSpc>
                <a:spcPts val="2500"/>
              </a:lnSpc>
              <a:spcBef>
                <a:spcPct val="50000"/>
              </a:spcBef>
              <a:defRPr/>
            </a:pPr>
            <a:r>
              <a:rPr lang="zh-CN" altLang="zh-CN" sz="2000" b="1" dirty="0">
                <a:effectLst>
                  <a:outerShdw blurRad="38100" dist="38100" dir="2700000" algn="tl">
                    <a:srgbClr val="000000">
                      <a:alpha val="43137"/>
                    </a:srgbClr>
                  </a:outerShdw>
                </a:effectLst>
              </a:rPr>
              <a:t>推出基于</a:t>
            </a:r>
            <a:r>
              <a:rPr lang="en-US" altLang="zh-CN" sz="2000" b="1" dirty="0">
                <a:effectLst>
                  <a:outerShdw blurRad="38100" dist="38100" dir="2700000" algn="tl">
                    <a:srgbClr val="000000">
                      <a:alpha val="43137"/>
                    </a:srgbClr>
                  </a:outerShdw>
                </a:effectLst>
              </a:rPr>
              <a:t>Windows</a:t>
            </a:r>
            <a:r>
              <a:rPr lang="zh-CN" altLang="zh-CN" sz="2000" b="1" dirty="0">
                <a:effectLst>
                  <a:outerShdw blurRad="38100" dist="38100" dir="2700000" algn="tl">
                    <a:srgbClr val="000000">
                      <a:alpha val="43137"/>
                    </a:srgbClr>
                  </a:outerShdw>
                </a:effectLst>
              </a:rPr>
              <a:t>平台的</a:t>
            </a:r>
            <a:r>
              <a:rPr lang="en-US" altLang="zh-CN" sz="2000" b="1" dirty="0">
                <a:solidFill>
                  <a:srgbClr val="C00000"/>
                </a:solidFill>
                <a:effectLst>
                  <a:outerShdw blurRad="38100" dist="38100" dir="2700000" algn="tl">
                    <a:srgbClr val="000000">
                      <a:alpha val="43137"/>
                    </a:srgbClr>
                  </a:outerShdw>
                </a:effectLst>
              </a:rPr>
              <a:t>µVision</a:t>
            </a:r>
            <a:r>
              <a:rPr lang="zh-CN" altLang="zh-CN" sz="2000" b="1" dirty="0">
                <a:solidFill>
                  <a:srgbClr val="C00000"/>
                </a:solidFill>
                <a:effectLst>
                  <a:outerShdw blurRad="38100" dist="38100" dir="2700000" algn="tl">
                    <a:srgbClr val="000000">
                      <a:alpha val="43137"/>
                    </a:srgbClr>
                  </a:outerShdw>
                </a:effectLst>
              </a:rPr>
              <a:t>集成开发环境</a:t>
            </a:r>
            <a:r>
              <a:rPr lang="zh-CN" altLang="zh-CN" sz="2000" b="1" dirty="0">
                <a:effectLst>
                  <a:outerShdw blurRad="38100" dist="38100" dir="2700000" algn="tl">
                    <a:srgbClr val="000000">
                      <a:alpha val="43137"/>
                    </a:srgbClr>
                  </a:outerShdw>
                </a:effectLst>
              </a:rPr>
              <a:t>软件</a:t>
            </a:r>
            <a:endParaRPr lang="en-US" altLang="zh-CN" sz="2000" b="1" dirty="0">
              <a:effectLst>
                <a:outerShdw blurRad="38100" dist="38100" dir="2700000" algn="tl">
                  <a:srgbClr val="000000">
                    <a:alpha val="43137"/>
                  </a:srgbClr>
                </a:outerShdw>
              </a:effectLst>
            </a:endParaRPr>
          </a:p>
          <a:p>
            <a:pPr algn="just" eaLnBrk="1" hangingPunct="1">
              <a:lnSpc>
                <a:spcPts val="2500"/>
              </a:lnSpc>
              <a:spcBef>
                <a:spcPct val="50000"/>
              </a:spcBef>
              <a:buFontTx/>
              <a:buNone/>
              <a:defRPr/>
            </a:pPr>
            <a:r>
              <a:rPr lang="en-US" altLang="zh-CN" sz="2000" b="1" dirty="0">
                <a:effectLst>
                  <a:outerShdw blurRad="38100" dist="38100" dir="2700000" algn="tl">
                    <a:srgbClr val="000000">
                      <a:alpha val="43137"/>
                    </a:srgbClr>
                  </a:outerShdw>
                </a:effectLst>
              </a:rPr>
              <a:t>   </a:t>
            </a:r>
            <a:r>
              <a:rPr lang="zh-CN" altLang="zh-CN" sz="2000" b="1" dirty="0">
                <a:effectLst>
                  <a:outerShdw blurRad="38100" dist="38100" dir="2700000" algn="tl">
                    <a:srgbClr val="000000">
                      <a:alpha val="43137"/>
                    </a:srgbClr>
                  </a:outerShdw>
                </a:effectLst>
              </a:rPr>
              <a:t>（</a:t>
            </a:r>
            <a:r>
              <a:rPr lang="en-US" altLang="zh-CN" sz="2000" b="1" dirty="0">
                <a:solidFill>
                  <a:srgbClr val="C00000"/>
                </a:solidFill>
                <a:effectLst>
                  <a:outerShdw blurRad="38100" dist="38100" dir="2700000" algn="tl">
                    <a:srgbClr val="000000">
                      <a:alpha val="43137"/>
                    </a:srgbClr>
                  </a:outerShdw>
                </a:effectLst>
              </a:rPr>
              <a:t>I</a:t>
            </a:r>
            <a:r>
              <a:rPr lang="en-US" altLang="zh-CN" sz="2000" b="1" dirty="0">
                <a:effectLst>
                  <a:outerShdw blurRad="38100" dist="38100" dir="2700000" algn="tl">
                    <a:srgbClr val="000000">
                      <a:alpha val="43137"/>
                    </a:srgbClr>
                  </a:outerShdw>
                </a:effectLst>
              </a:rPr>
              <a:t>ntegrate </a:t>
            </a:r>
            <a:r>
              <a:rPr lang="en-US" altLang="zh-CN" sz="2000" b="1" dirty="0">
                <a:solidFill>
                  <a:srgbClr val="C00000"/>
                </a:solidFill>
                <a:effectLst>
                  <a:outerShdw blurRad="38100" dist="38100" dir="2700000" algn="tl">
                    <a:srgbClr val="000000">
                      <a:alpha val="43137"/>
                    </a:srgbClr>
                  </a:outerShdw>
                </a:effectLst>
              </a:rPr>
              <a:t>D</a:t>
            </a:r>
            <a:r>
              <a:rPr lang="en-US" altLang="zh-CN" sz="2000" b="1" dirty="0">
                <a:effectLst>
                  <a:outerShdw blurRad="38100" dist="38100" dir="2700000" algn="tl">
                    <a:srgbClr val="000000">
                      <a:alpha val="43137"/>
                    </a:srgbClr>
                  </a:outerShdw>
                </a:effectLst>
              </a:rPr>
              <a:t>evelopment </a:t>
            </a:r>
            <a:r>
              <a:rPr lang="en-US" altLang="zh-CN" sz="2000" b="1" dirty="0">
                <a:solidFill>
                  <a:srgbClr val="C00000"/>
                </a:solidFill>
                <a:effectLst>
                  <a:outerShdw blurRad="38100" dist="38100" dir="2700000" algn="tl">
                    <a:srgbClr val="000000">
                      <a:alpha val="43137"/>
                    </a:srgbClr>
                  </a:outerShdw>
                </a:effectLst>
              </a:rPr>
              <a:t>E</a:t>
            </a:r>
            <a:r>
              <a:rPr lang="en-US" altLang="zh-CN" sz="2000" b="1" dirty="0">
                <a:effectLst>
                  <a:outerShdw blurRad="38100" dist="38100" dir="2700000" algn="tl">
                    <a:srgbClr val="000000">
                      <a:alpha val="43137"/>
                    </a:srgbClr>
                  </a:outerShdw>
                </a:effectLst>
              </a:rPr>
              <a:t>nvironment ，</a:t>
            </a:r>
            <a:r>
              <a:rPr lang="en-US" altLang="zh-CN" sz="2000" b="1" dirty="0">
                <a:solidFill>
                  <a:srgbClr val="C00000"/>
                </a:solidFill>
                <a:effectLst>
                  <a:outerShdw blurRad="38100" dist="38100" dir="2700000" algn="tl">
                    <a:srgbClr val="000000">
                      <a:alpha val="43137"/>
                    </a:srgbClr>
                  </a:outerShdw>
                </a:effectLst>
              </a:rPr>
              <a:t>IDE</a:t>
            </a:r>
            <a:r>
              <a:rPr lang="en-US" altLang="zh-CN" sz="2000" b="1" dirty="0">
                <a:effectLst>
                  <a:outerShdw blurRad="38100" dist="38100" dir="2700000" algn="tl">
                    <a:srgbClr val="000000">
                      <a:alpha val="43137"/>
                    </a:srgbClr>
                  </a:outerShdw>
                </a:effectLst>
                <a:hlinkClick r:id="rId3">
                  <a:extLst>
                    <a:ext uri="{A12FA001-AC4F-418D-AE19-62706E023703}">
                      <ahyp:hlinkClr xmlns:ahyp="http://schemas.microsoft.com/office/drawing/2018/hyperlinkcolor" val="tx"/>
                    </a:ext>
                  </a:extLst>
                </a:hlinkClick>
              </a:rPr>
              <a:t>)</a:t>
            </a:r>
            <a:r>
              <a:rPr lang="zh-CN" altLang="zh-CN" sz="2000" b="1" dirty="0">
                <a:effectLst>
                  <a:outerShdw blurRad="38100" dist="38100" dir="2700000" algn="tl">
                    <a:srgbClr val="000000">
                      <a:alpha val="43137"/>
                    </a:srgbClr>
                  </a:outerShdw>
                </a:effectLst>
              </a:rPr>
              <a:t> </a:t>
            </a:r>
            <a:endParaRPr lang="en-US" altLang="zh-CN" sz="2000" b="1" dirty="0">
              <a:effectLst>
                <a:outerShdw blurRad="38100" dist="38100" dir="2700000" algn="tl">
                  <a:srgbClr val="000000">
                    <a:alpha val="43137"/>
                  </a:srgbClr>
                </a:outerShdw>
              </a:effectLst>
            </a:endParaRPr>
          </a:p>
          <a:p>
            <a:pPr marL="342900" indent="-342900" algn="just" eaLnBrk="1" hangingPunct="1">
              <a:lnSpc>
                <a:spcPts val="2500"/>
              </a:lnSpc>
              <a:spcBef>
                <a:spcPct val="50000"/>
              </a:spcBef>
              <a:defRPr/>
            </a:pPr>
            <a:r>
              <a:rPr lang="zh-CN" altLang="zh-CN" sz="2000" b="1" dirty="0">
                <a:effectLst>
                  <a:outerShdw blurRad="38100" dist="38100" dir="2700000" algn="tl">
                    <a:srgbClr val="000000">
                      <a:alpha val="43137"/>
                    </a:srgbClr>
                  </a:outerShdw>
                </a:effectLst>
              </a:rPr>
              <a:t>使得原来独立的文本编辑器、</a:t>
            </a:r>
            <a:r>
              <a:rPr lang="en-US" altLang="zh-CN" sz="2000" b="1" dirty="0">
                <a:effectLst>
                  <a:outerShdw blurRad="38100" dist="38100" dir="2700000" algn="tl">
                    <a:srgbClr val="000000">
                      <a:alpha val="43137"/>
                    </a:srgbClr>
                  </a:outerShdw>
                </a:effectLst>
              </a:rPr>
              <a:t>C51</a:t>
            </a:r>
            <a:r>
              <a:rPr lang="zh-CN" altLang="zh-CN" sz="2000" b="1" dirty="0">
                <a:effectLst>
                  <a:outerShdw blurRad="38100" dist="38100" dir="2700000" algn="tl">
                    <a:srgbClr val="000000">
                      <a:alpha val="43137"/>
                    </a:srgbClr>
                  </a:outerShdw>
                </a:effectLst>
              </a:rPr>
              <a:t>编译器、</a:t>
            </a:r>
            <a:r>
              <a:rPr lang="en-US" altLang="zh-CN" sz="2000" b="1" dirty="0">
                <a:effectLst>
                  <a:outerShdw blurRad="38100" dist="38100" dir="2700000" algn="tl">
                    <a:srgbClr val="000000">
                      <a:alpha val="43137"/>
                    </a:srgbClr>
                  </a:outerShdw>
                </a:effectLst>
              </a:rPr>
              <a:t>A51</a:t>
            </a:r>
            <a:r>
              <a:rPr lang="zh-CN" altLang="zh-CN" sz="2000" b="1" dirty="0">
                <a:effectLst>
                  <a:outerShdw blurRad="38100" dist="38100" dir="2700000" algn="tl">
                    <a:srgbClr val="000000">
                      <a:alpha val="43137"/>
                    </a:srgbClr>
                  </a:outerShdw>
                </a:effectLst>
              </a:rPr>
              <a:t>编译器、代码链接器、库函数管理器以及运行调试器等</a:t>
            </a:r>
            <a:r>
              <a:rPr lang="en-US" altLang="zh-CN" sz="2000" b="1" dirty="0">
                <a:effectLst>
                  <a:outerShdw blurRad="38100" dist="38100" dir="2700000" algn="tl">
                    <a:srgbClr val="000000">
                      <a:alpha val="43137"/>
                    </a:srgbClr>
                  </a:outerShdw>
                </a:effectLst>
              </a:rPr>
              <a:t>KEIL</a:t>
            </a:r>
            <a:r>
              <a:rPr lang="zh-CN" altLang="zh-CN" sz="2000" b="1" dirty="0">
                <a:effectLst>
                  <a:outerShdw blurRad="38100" dist="38100" dir="2700000" algn="tl">
                    <a:srgbClr val="000000">
                      <a:alpha val="43137"/>
                    </a:srgbClr>
                  </a:outerShdw>
                </a:effectLst>
              </a:rPr>
              <a:t>模块集成在一起。</a:t>
            </a:r>
            <a:endParaRPr lang="en-US" altLang="zh-CN" sz="2000" b="1" dirty="0">
              <a:effectLst>
                <a:outerShdw blurRad="38100" dist="38100" dir="2700000" algn="tl">
                  <a:srgbClr val="000000">
                    <a:alpha val="43137"/>
                  </a:srgbClr>
                </a:outerShdw>
              </a:effectLst>
            </a:endParaRPr>
          </a:p>
          <a:p>
            <a:pPr marL="342900" indent="-342900" algn="just" eaLnBrk="1" hangingPunct="1">
              <a:lnSpc>
                <a:spcPts val="2500"/>
              </a:lnSpc>
              <a:spcBef>
                <a:spcPct val="50000"/>
              </a:spcBef>
              <a:defRPr/>
            </a:pPr>
            <a:r>
              <a:rPr lang="zh-CN" altLang="zh-CN" sz="2000" b="1" dirty="0">
                <a:effectLst>
                  <a:outerShdw blurRad="38100" dist="38100" dir="2700000" algn="tl">
                    <a:srgbClr val="000000">
                      <a:alpha val="43137"/>
                    </a:srgbClr>
                  </a:outerShdw>
                </a:effectLst>
              </a:rPr>
              <a:t>支持</a:t>
            </a:r>
            <a:r>
              <a:rPr lang="en-US" altLang="zh-CN" sz="2000" b="1" dirty="0">
                <a:solidFill>
                  <a:srgbClr val="C00000"/>
                </a:solidFill>
                <a:effectLst>
                  <a:outerShdw blurRad="38100" dist="38100" dir="2700000" algn="tl">
                    <a:srgbClr val="000000">
                      <a:alpha val="43137"/>
                    </a:srgbClr>
                  </a:outerShdw>
                </a:effectLst>
              </a:rPr>
              <a:t>51</a:t>
            </a:r>
            <a:r>
              <a:rPr lang="zh-CN" altLang="zh-CN" sz="2000" b="1" dirty="0">
                <a:solidFill>
                  <a:srgbClr val="C00000"/>
                </a:solidFill>
                <a:effectLst>
                  <a:outerShdw blurRad="38100" dist="38100" dir="2700000" algn="tl">
                    <a:srgbClr val="000000">
                      <a:alpha val="43137"/>
                    </a:srgbClr>
                  </a:outerShdw>
                </a:effectLst>
              </a:rPr>
              <a:t>单片机及</a:t>
            </a:r>
            <a:r>
              <a:rPr lang="en-US" altLang="zh-CN" sz="2000" b="1" dirty="0">
                <a:solidFill>
                  <a:srgbClr val="C00000"/>
                </a:solidFill>
                <a:effectLst>
                  <a:outerShdw blurRad="38100" dist="38100" dir="2700000" algn="tl">
                    <a:srgbClr val="000000">
                      <a:alpha val="43137"/>
                    </a:srgbClr>
                  </a:outerShdw>
                </a:effectLst>
              </a:rPr>
              <a:t>400</a:t>
            </a:r>
            <a:r>
              <a:rPr lang="zh-CN" altLang="zh-CN" sz="2000" b="1" dirty="0">
                <a:solidFill>
                  <a:srgbClr val="C00000"/>
                </a:solidFill>
                <a:effectLst>
                  <a:outerShdw blurRad="38100" dist="38100" dir="2700000" algn="tl">
                    <a:srgbClr val="000000">
                      <a:alpha val="43137"/>
                    </a:srgbClr>
                  </a:outerShdw>
                </a:effectLst>
              </a:rPr>
              <a:t>多种兼容机</a:t>
            </a:r>
            <a:r>
              <a:rPr lang="zh-CN" altLang="zh-CN" sz="2000" b="1" dirty="0">
                <a:effectLst>
                  <a:outerShdw blurRad="38100" dist="38100" dir="2700000" algn="tl">
                    <a:srgbClr val="000000">
                      <a:alpha val="43137"/>
                    </a:srgbClr>
                  </a:outerShdw>
                </a:effectLst>
              </a:rPr>
              <a:t>的</a:t>
            </a:r>
            <a:r>
              <a:rPr lang="en-US" altLang="zh-CN" sz="2000" b="1" dirty="0">
                <a:solidFill>
                  <a:srgbClr val="C00000"/>
                </a:solidFill>
                <a:effectLst>
                  <a:outerShdw blurRad="38100" dist="38100" dir="2700000" algn="tl">
                    <a:srgbClr val="000000">
                      <a:alpha val="43137"/>
                    </a:srgbClr>
                  </a:outerShdw>
                </a:effectLst>
              </a:rPr>
              <a:t>C51</a:t>
            </a:r>
            <a:r>
              <a:rPr lang="zh-CN" altLang="zh-CN" sz="2000" b="1" dirty="0">
                <a:effectLst>
                  <a:outerShdw blurRad="38100" dist="38100" dir="2700000" algn="tl">
                    <a:srgbClr val="000000">
                      <a:alpha val="43137"/>
                    </a:srgbClr>
                  </a:outerShdw>
                </a:effectLst>
              </a:rPr>
              <a:t>和</a:t>
            </a:r>
            <a:r>
              <a:rPr lang="zh-CN" altLang="zh-CN" sz="2000" b="1" dirty="0">
                <a:solidFill>
                  <a:srgbClr val="C00000"/>
                </a:solidFill>
                <a:effectLst>
                  <a:outerShdw blurRad="38100" dist="38100" dir="2700000" algn="tl">
                    <a:srgbClr val="000000">
                      <a:alpha val="43137"/>
                    </a:srgbClr>
                  </a:outerShdw>
                </a:effectLst>
              </a:rPr>
              <a:t>汇编</a:t>
            </a:r>
            <a:r>
              <a:rPr lang="zh-CN" altLang="zh-CN" sz="2000" b="1" dirty="0">
                <a:effectLst>
                  <a:outerShdw blurRad="38100" dist="38100" dir="2700000" algn="tl">
                    <a:srgbClr val="000000">
                      <a:alpha val="43137"/>
                    </a:srgbClr>
                  </a:outerShdw>
                </a:effectLst>
              </a:rPr>
              <a:t>两种编程语言的开发。</a:t>
            </a:r>
            <a:endParaRPr lang="en-US" altLang="zh-CN" sz="2000" b="1" dirty="0">
              <a:effectLst>
                <a:outerShdw blurRad="38100" dist="38100" dir="2700000" algn="tl">
                  <a:srgbClr val="000000">
                    <a:alpha val="43137"/>
                  </a:srgbClr>
                </a:outerShdw>
              </a:effectLst>
            </a:endParaRPr>
          </a:p>
          <a:p>
            <a:pPr marL="342900" indent="-342900" algn="just" eaLnBrk="1" hangingPunct="1">
              <a:lnSpc>
                <a:spcPts val="2500"/>
              </a:lnSpc>
              <a:spcBef>
                <a:spcPct val="50000"/>
              </a:spcBef>
              <a:defRPr/>
            </a:pPr>
            <a:r>
              <a:rPr lang="zh-CN" altLang="zh-CN" sz="2000" b="1" dirty="0">
                <a:effectLst>
                  <a:outerShdw blurRad="38100" dist="38100" dir="2700000" algn="tl">
                    <a:srgbClr val="000000">
                      <a:alpha val="43137"/>
                    </a:srgbClr>
                  </a:outerShdw>
                </a:effectLst>
              </a:rPr>
              <a:t>本书使用的</a:t>
            </a:r>
            <a:r>
              <a:rPr lang="en-US" altLang="zh-CN" sz="2000" b="1" dirty="0">
                <a:effectLst>
                  <a:outerShdw blurRad="38100" dist="38100" dir="2700000" algn="tl">
                    <a:srgbClr val="000000">
                      <a:alpha val="43137"/>
                    </a:srgbClr>
                  </a:outerShdw>
                </a:effectLst>
              </a:rPr>
              <a:t>µVision IDE</a:t>
            </a:r>
            <a:r>
              <a:rPr lang="zh-CN" altLang="zh-CN" sz="2000" b="1" dirty="0">
                <a:effectLst>
                  <a:outerShdw blurRad="38100" dist="38100" dir="2700000" algn="tl">
                    <a:srgbClr val="000000">
                      <a:alpha val="43137"/>
                    </a:srgbClr>
                  </a:outerShdw>
                </a:effectLst>
              </a:rPr>
              <a:t>版本为</a:t>
            </a:r>
            <a:r>
              <a:rPr lang="en-US" altLang="zh-CN" sz="2000" b="1" dirty="0">
                <a:solidFill>
                  <a:srgbClr val="C00000"/>
                </a:solidFill>
                <a:effectLst>
                  <a:outerShdw blurRad="38100" dist="38100" dir="2700000" algn="tl">
                    <a:srgbClr val="000000">
                      <a:alpha val="43137"/>
                    </a:srgbClr>
                  </a:outerShdw>
                </a:effectLst>
              </a:rPr>
              <a:t>µ</a:t>
            </a:r>
            <a:r>
              <a:rPr lang="en-US" altLang="zh-CN" sz="2000" b="1" dirty="0" err="1">
                <a:solidFill>
                  <a:srgbClr val="C00000"/>
                </a:solidFill>
                <a:effectLst>
                  <a:outerShdw blurRad="38100" dist="38100" dir="2700000" algn="tl">
                    <a:srgbClr val="000000">
                      <a:alpha val="43137"/>
                    </a:srgbClr>
                  </a:outerShdw>
                </a:effectLst>
              </a:rPr>
              <a:t>Vision5</a:t>
            </a:r>
            <a:r>
              <a:rPr lang="zh-CN" altLang="zh-CN" sz="2400" b="1" dirty="0">
                <a:effectLst>
                  <a:outerShdw blurRad="38100" dist="38100" dir="2700000" algn="tl">
                    <a:srgbClr val="000000">
                      <a:alpha val="43137"/>
                    </a:srgbClr>
                  </a:outerShdw>
                </a:effectLst>
              </a:rPr>
              <a:t>。 </a:t>
            </a:r>
            <a:endParaRPr lang="zh-CN" altLang="en-US" sz="2400" b="1" dirty="0">
              <a:effectLst>
                <a:outerShdw blurRad="38100" dist="38100" dir="2700000" algn="tl">
                  <a:srgbClr val="000000">
                    <a:alpha val="43137"/>
                  </a:srgbClr>
                </a:outerShdw>
              </a:effectLst>
            </a:endParaRPr>
          </a:p>
        </p:txBody>
      </p:sp>
      <p:sp>
        <p:nvSpPr>
          <p:cNvPr id="23555" name="Rectangle 2">
            <a:extLst>
              <a:ext uri="{FF2B5EF4-FFF2-40B4-BE49-F238E27FC236}">
                <a16:creationId xmlns:a16="http://schemas.microsoft.com/office/drawing/2014/main" id="{152C787C-FA0E-438E-AED8-1B490DE590DA}"/>
              </a:ext>
            </a:extLst>
          </p:cNvPr>
          <p:cNvSpPr>
            <a:spLocks noChangeArrowheads="1"/>
          </p:cNvSpPr>
          <p:nvPr/>
        </p:nvSpPr>
        <p:spPr bwMode="auto">
          <a:xfrm>
            <a:off x="5364163" y="404813"/>
            <a:ext cx="35099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zh-CN" altLang="en-US" sz="1600" b="1">
                <a:effectLst>
                  <a:outerShdw blurRad="38100" dist="38100" dir="2700000" algn="tl">
                    <a:srgbClr val="000000">
                      <a:alpha val="43137"/>
                    </a:srgbClr>
                  </a:outerShdw>
                </a:effectLst>
              </a:rPr>
              <a:t>第</a:t>
            </a:r>
            <a:r>
              <a:rPr lang="en-US" altLang="zh-CN" sz="1600" b="1">
                <a:effectLst>
                  <a:outerShdw blurRad="38100" dist="38100" dir="2700000" algn="tl">
                    <a:srgbClr val="000000">
                      <a:alpha val="43137"/>
                    </a:srgbClr>
                  </a:outerShdw>
                </a:effectLst>
              </a:rPr>
              <a:t>3</a:t>
            </a:r>
            <a:r>
              <a:rPr lang="zh-CN" altLang="en-US" sz="1600" b="1">
                <a:effectLst>
                  <a:outerShdw blurRad="38100" dist="38100" dir="2700000" algn="tl">
                    <a:srgbClr val="000000">
                      <a:alpha val="43137"/>
                    </a:srgbClr>
                  </a:outerShdw>
                </a:effectLst>
              </a:rPr>
              <a:t>章 单片机的</a:t>
            </a:r>
            <a:r>
              <a:rPr lang="en-US" altLang="zh-CN" sz="1600" b="1">
                <a:effectLst>
                  <a:outerShdw blurRad="38100" dist="38100" dir="2700000" algn="tl">
                    <a:srgbClr val="000000">
                      <a:alpha val="43137"/>
                    </a:srgbClr>
                  </a:outerShdw>
                </a:effectLst>
              </a:rPr>
              <a:t>C51</a:t>
            </a:r>
            <a:r>
              <a:rPr lang="zh-CN" altLang="en-US" sz="1600" b="1">
                <a:effectLst>
                  <a:outerShdw blurRad="38100" dist="38100" dir="2700000" algn="tl">
                    <a:srgbClr val="000000">
                      <a:alpha val="43137"/>
                    </a:srgbClr>
                  </a:outerShdw>
                </a:effectLst>
              </a:rPr>
              <a:t>基础知识</a:t>
            </a:r>
          </a:p>
        </p:txBody>
      </p:sp>
      <p:sp>
        <p:nvSpPr>
          <p:cNvPr id="23556" name="矩形 2">
            <a:extLst>
              <a:ext uri="{FF2B5EF4-FFF2-40B4-BE49-F238E27FC236}">
                <a16:creationId xmlns:a16="http://schemas.microsoft.com/office/drawing/2014/main" id="{2F68C638-5164-4C5A-A79F-4758CF5888AC}"/>
              </a:ext>
            </a:extLst>
          </p:cNvPr>
          <p:cNvSpPr>
            <a:spLocks noChangeArrowheads="1"/>
          </p:cNvSpPr>
          <p:nvPr/>
        </p:nvSpPr>
        <p:spPr bwMode="auto">
          <a:xfrm>
            <a:off x="946085" y="1029404"/>
            <a:ext cx="31194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400" b="1" dirty="0">
                <a:solidFill>
                  <a:srgbClr val="C00000"/>
                </a:solidFill>
                <a:effectLst>
                  <a:outerShdw blurRad="38100" dist="38100" dir="2700000" algn="tl">
                    <a:srgbClr val="000000">
                      <a:alpha val="43137"/>
                    </a:srgbClr>
                  </a:outerShdw>
                </a:effectLst>
              </a:rPr>
              <a:t>KEIL</a:t>
            </a:r>
            <a:r>
              <a:rPr lang="zh-CN" altLang="en-US" sz="2400" b="1" dirty="0">
                <a:solidFill>
                  <a:srgbClr val="C00000"/>
                </a:solidFill>
                <a:effectLst>
                  <a:outerShdw blurRad="38100" dist="38100" dir="2700000" algn="tl">
                    <a:srgbClr val="000000">
                      <a:alpha val="43137"/>
                    </a:srgbClr>
                  </a:outerShdw>
                </a:effectLst>
              </a:rPr>
              <a:t>软件的发展历程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a:extLst>
              <a:ext uri="{FF2B5EF4-FFF2-40B4-BE49-F238E27FC236}">
                <a16:creationId xmlns:a16="http://schemas.microsoft.com/office/drawing/2014/main" id="{B4A25B60-65B6-4C47-AC07-5BF97E1A2BC3}"/>
              </a:ext>
            </a:extLst>
          </p:cNvPr>
          <p:cNvSpPr>
            <a:spLocks noChangeArrowheads="1"/>
          </p:cNvSpPr>
          <p:nvPr/>
        </p:nvSpPr>
        <p:spPr bwMode="auto">
          <a:xfrm>
            <a:off x="827584" y="908720"/>
            <a:ext cx="7895456" cy="403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30000"/>
              </a:lnSpc>
              <a:spcBef>
                <a:spcPts val="1200"/>
              </a:spcBef>
              <a:buNone/>
            </a:pPr>
            <a:r>
              <a:rPr lang="zh-CN"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以前编译</a:t>
            </a:r>
            <a:r>
              <a:rPr lang="en-US"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C51</a:t>
            </a:r>
            <a:r>
              <a:rPr lang="zh-CN"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程序时，需要手工启动</a:t>
            </a:r>
            <a:r>
              <a:rPr lang="en-US"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Keil</a:t>
            </a:r>
            <a:r>
              <a:rPr lang="zh-CN"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，并通过编辑、编译、和加载目标代码等手工操作后，才能在</a:t>
            </a:r>
            <a:r>
              <a:rPr lang="en-US"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Proteus</a:t>
            </a:r>
            <a:r>
              <a:rPr lang="zh-CN"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原理图模块中进行仿真。如果还需要动态调试，则要将</a:t>
            </a:r>
            <a:r>
              <a:rPr lang="en-US"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Keil</a:t>
            </a:r>
            <a:r>
              <a:rPr lang="zh-CN"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与</a:t>
            </a:r>
            <a:r>
              <a:rPr lang="en-US"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Proteus</a:t>
            </a:r>
            <a:r>
              <a:rPr lang="zh-CN"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进行软件联合仿真。</a:t>
            </a:r>
            <a:endParaRPr lang="en-US"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a:p>
            <a:pPr>
              <a:lnSpc>
                <a:spcPct val="130000"/>
              </a:lnSpc>
              <a:spcBef>
                <a:spcPts val="1200"/>
              </a:spcBef>
              <a:buNone/>
            </a:pPr>
            <a:r>
              <a:rPr lang="zh-CN"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现在，</a:t>
            </a:r>
            <a:r>
              <a:rPr lang="en-US"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Proteus8</a:t>
            </a:r>
            <a:r>
              <a:rPr lang="zh-CN"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增加的</a:t>
            </a:r>
            <a:r>
              <a:rPr lang="en-US"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VSM </a:t>
            </a:r>
            <a:r>
              <a:rPr lang="en-US" altLang="zh-CN" sz="2400" b="1" kern="100"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Stdio</a:t>
            </a:r>
            <a:r>
              <a:rPr lang="en-US"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 IDE</a:t>
            </a:r>
            <a:r>
              <a:rPr lang="zh-CN"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模块已具有程序编辑和调试功能，并能在后台启动</a:t>
            </a:r>
            <a:r>
              <a:rPr lang="en-US"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Keil</a:t>
            </a:r>
            <a:r>
              <a:rPr lang="zh-CN"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进行编译，还能将生成的目标代码自动加载到原理图模块进行仿真调试，因而已不再需要手工操作</a:t>
            </a:r>
            <a:r>
              <a:rPr lang="en-US"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Keil</a:t>
            </a:r>
            <a:r>
              <a:rPr lang="zh-CN"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软件了。</a:t>
            </a:r>
            <a:endParaRPr lang="en-US"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
        <p:nvSpPr>
          <p:cNvPr id="29700" name="Rectangle 2">
            <a:extLst>
              <a:ext uri="{FF2B5EF4-FFF2-40B4-BE49-F238E27FC236}">
                <a16:creationId xmlns:a16="http://schemas.microsoft.com/office/drawing/2014/main" id="{70FB2A75-D2C4-44F6-BC3E-CF99A4CE9AAD}"/>
              </a:ext>
            </a:extLst>
          </p:cNvPr>
          <p:cNvSpPr>
            <a:spLocks noChangeArrowheads="1"/>
          </p:cNvSpPr>
          <p:nvPr/>
        </p:nvSpPr>
        <p:spPr bwMode="auto">
          <a:xfrm>
            <a:off x="5364163" y="404813"/>
            <a:ext cx="35099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zh-CN" altLang="en-US" sz="1600" b="1">
                <a:effectLst>
                  <a:outerShdw blurRad="38100" dist="38100" dir="2700000" algn="tl">
                    <a:srgbClr val="000000">
                      <a:alpha val="43137"/>
                    </a:srgbClr>
                  </a:outerShdw>
                </a:effectLst>
              </a:rPr>
              <a:t>第</a:t>
            </a:r>
            <a:r>
              <a:rPr lang="en-US" altLang="zh-CN" sz="1600" b="1">
                <a:effectLst>
                  <a:outerShdw blurRad="38100" dist="38100" dir="2700000" algn="tl">
                    <a:srgbClr val="000000">
                      <a:alpha val="43137"/>
                    </a:srgbClr>
                  </a:outerShdw>
                </a:effectLst>
              </a:rPr>
              <a:t>3</a:t>
            </a:r>
            <a:r>
              <a:rPr lang="zh-CN" altLang="en-US" sz="1600" b="1">
                <a:effectLst>
                  <a:outerShdw blurRad="38100" dist="38100" dir="2700000" algn="tl">
                    <a:srgbClr val="000000">
                      <a:alpha val="43137"/>
                    </a:srgbClr>
                  </a:outerShdw>
                </a:effectLst>
              </a:rPr>
              <a:t>章 单片机的</a:t>
            </a:r>
            <a:r>
              <a:rPr lang="en-US" altLang="zh-CN" sz="1600" b="1">
                <a:effectLst>
                  <a:outerShdw blurRad="38100" dist="38100" dir="2700000" algn="tl">
                    <a:srgbClr val="000000">
                      <a:alpha val="43137"/>
                    </a:srgbClr>
                  </a:outerShdw>
                </a:effectLst>
              </a:rPr>
              <a:t>C51</a:t>
            </a:r>
            <a:r>
              <a:rPr lang="zh-CN" altLang="en-US" sz="1600" b="1">
                <a:effectLst>
                  <a:outerShdw blurRad="38100" dist="38100" dir="2700000" algn="tl">
                    <a:srgbClr val="000000">
                      <a:alpha val="43137"/>
                    </a:srgbClr>
                  </a:outerShdw>
                </a:effectLst>
              </a:rPr>
              <a:t>基础知识</a:t>
            </a:r>
          </a:p>
        </p:txBody>
      </p:sp>
    </p:spTree>
    <p:extLst>
      <p:ext uri="{BB962C8B-B14F-4D97-AF65-F5344CB8AC3E}">
        <p14:creationId xmlns:p14="http://schemas.microsoft.com/office/powerpoint/2010/main" val="1393974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F599CCC-ABE7-4978-9C5D-F7397E2D6AF8}"/>
              </a:ext>
            </a:extLst>
          </p:cNvPr>
          <p:cNvSpPr txBox="1"/>
          <p:nvPr/>
        </p:nvSpPr>
        <p:spPr>
          <a:xfrm>
            <a:off x="1032410" y="908720"/>
            <a:ext cx="7556091" cy="1961243"/>
          </a:xfrm>
          <a:prstGeom prst="rect">
            <a:avLst/>
          </a:prstGeom>
          <a:noFill/>
        </p:spPr>
        <p:txBody>
          <a:bodyPr wrap="square">
            <a:spAutoFit/>
          </a:bodyPr>
          <a:lstStyle/>
          <a:p>
            <a:pPr algn="just">
              <a:lnSpc>
                <a:spcPct val="130000"/>
              </a:lnSpc>
            </a:pPr>
            <a:r>
              <a:rPr lang="zh-CN"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虽然我们现在不必了解</a:t>
            </a:r>
            <a:r>
              <a:rPr lang="en-US"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µVision IDE</a:t>
            </a:r>
            <a:r>
              <a:rPr lang="zh-CN"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的细节了，但必须提前在电脑中安装并配置好</a:t>
            </a:r>
            <a:r>
              <a:rPr lang="en-US"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µVision IDE</a:t>
            </a:r>
            <a:r>
              <a:rPr lang="zh-CN"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软件。只有这样才能在需要编译程序时，被</a:t>
            </a:r>
            <a:r>
              <a:rPr lang="en-US"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Proteus</a:t>
            </a:r>
            <a:r>
              <a:rPr lang="zh-CN" altLang="zh-CN" sz="24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从后台启动，并按流程生成目标代码文件。</a:t>
            </a:r>
          </a:p>
        </p:txBody>
      </p:sp>
      <p:pic>
        <p:nvPicPr>
          <p:cNvPr id="5" name="图片 4" descr="图形用户界面, 应用程序, 网站&#10;&#10;描述已自动生成">
            <a:extLst>
              <a:ext uri="{FF2B5EF4-FFF2-40B4-BE49-F238E27FC236}">
                <a16:creationId xmlns:a16="http://schemas.microsoft.com/office/drawing/2014/main" id="{799E68F5-BD93-47EB-9F36-6AB5363AE8E0}"/>
              </a:ext>
            </a:extLst>
          </p:cNvPr>
          <p:cNvPicPr>
            <a:picLocks noChangeAspect="1"/>
          </p:cNvPicPr>
          <p:nvPr/>
        </p:nvPicPr>
        <p:blipFill rotWithShape="1">
          <a:blip r:embed="rId2">
            <a:extLst>
              <a:ext uri="{28A0092B-C50C-407E-A947-70E740481C1C}">
                <a14:useLocalDpi xmlns:a14="http://schemas.microsoft.com/office/drawing/2010/main" val="0"/>
              </a:ext>
            </a:extLst>
          </a:blip>
          <a:srcRect l="1049"/>
          <a:stretch/>
        </p:blipFill>
        <p:spPr>
          <a:xfrm>
            <a:off x="5552388" y="4015528"/>
            <a:ext cx="2746038" cy="1393828"/>
          </a:xfrm>
          <a:prstGeom prst="rect">
            <a:avLst/>
          </a:prstGeom>
          <a:ln>
            <a:solidFill>
              <a:schemeClr val="tx1"/>
            </a:solidFill>
          </a:ln>
        </p:spPr>
      </p:pic>
      <p:pic>
        <p:nvPicPr>
          <p:cNvPr id="4" name="图片 3" descr="图形用户界面&#10;&#10;描述已自动生成">
            <a:extLst>
              <a:ext uri="{FF2B5EF4-FFF2-40B4-BE49-F238E27FC236}">
                <a16:creationId xmlns:a16="http://schemas.microsoft.com/office/drawing/2014/main" id="{A5B47E25-CABD-4E21-8CB6-C4BD88286E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2410" y="3284984"/>
            <a:ext cx="4242287" cy="2124372"/>
          </a:xfrm>
          <a:prstGeom prst="rect">
            <a:avLst/>
          </a:prstGeom>
        </p:spPr>
      </p:pic>
      <p:sp>
        <p:nvSpPr>
          <p:cNvPr id="2" name="椭圆 1">
            <a:extLst>
              <a:ext uri="{FF2B5EF4-FFF2-40B4-BE49-F238E27FC236}">
                <a16:creationId xmlns:a16="http://schemas.microsoft.com/office/drawing/2014/main" id="{20EBC57D-F5F6-4346-A312-EE3A436A029C}"/>
              </a:ext>
            </a:extLst>
          </p:cNvPr>
          <p:cNvSpPr/>
          <p:nvPr/>
        </p:nvSpPr>
        <p:spPr bwMode="auto">
          <a:xfrm>
            <a:off x="3048000" y="4640556"/>
            <a:ext cx="746813" cy="896992"/>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2977120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7C94BB48-FCB2-492D-AA47-2994C643A489}"/>
              </a:ext>
            </a:extLst>
          </p:cNvPr>
          <p:cNvSpPr>
            <a:spLocks noChangeArrowheads="1"/>
          </p:cNvSpPr>
          <p:nvPr/>
        </p:nvSpPr>
        <p:spPr bwMode="auto">
          <a:xfrm>
            <a:off x="5364163" y="404813"/>
            <a:ext cx="35099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zh-CN" altLang="en-US" sz="1600">
                <a:effectLst>
                  <a:outerShdw blurRad="38100" dist="38100" dir="2700000" algn="tl">
                    <a:srgbClr val="000000">
                      <a:alpha val="43137"/>
                    </a:srgbClr>
                  </a:outerShdw>
                </a:effectLst>
              </a:rPr>
              <a:t>第</a:t>
            </a:r>
            <a:r>
              <a:rPr lang="en-US" altLang="zh-CN" sz="1600">
                <a:effectLst>
                  <a:outerShdw blurRad="38100" dist="38100" dir="2700000" algn="tl">
                    <a:srgbClr val="000000">
                      <a:alpha val="43137"/>
                    </a:srgbClr>
                  </a:outerShdw>
                </a:effectLst>
              </a:rPr>
              <a:t>3</a:t>
            </a:r>
            <a:r>
              <a:rPr lang="zh-CN" altLang="en-US" sz="1600">
                <a:effectLst>
                  <a:outerShdw blurRad="38100" dist="38100" dir="2700000" algn="tl">
                    <a:srgbClr val="000000">
                      <a:alpha val="43137"/>
                    </a:srgbClr>
                  </a:outerShdw>
                </a:effectLst>
              </a:rPr>
              <a:t>章 单片机的</a:t>
            </a:r>
            <a:r>
              <a:rPr lang="en-US" altLang="zh-CN" sz="1600">
                <a:effectLst>
                  <a:outerShdw blurRad="38100" dist="38100" dir="2700000" algn="tl">
                    <a:srgbClr val="000000">
                      <a:alpha val="43137"/>
                    </a:srgbClr>
                  </a:outerShdw>
                </a:effectLst>
              </a:rPr>
              <a:t>C51</a:t>
            </a:r>
            <a:r>
              <a:rPr lang="zh-CN" altLang="en-US" sz="1600">
                <a:effectLst>
                  <a:outerShdw blurRad="38100" dist="38100" dir="2700000" algn="tl">
                    <a:srgbClr val="000000">
                      <a:alpha val="43137"/>
                    </a:srgbClr>
                  </a:outerShdw>
                </a:effectLst>
              </a:rPr>
              <a:t>基础知识</a:t>
            </a:r>
          </a:p>
        </p:txBody>
      </p:sp>
      <p:sp>
        <p:nvSpPr>
          <p:cNvPr id="25604" name="矩形 2">
            <a:extLst>
              <a:ext uri="{FF2B5EF4-FFF2-40B4-BE49-F238E27FC236}">
                <a16:creationId xmlns:a16="http://schemas.microsoft.com/office/drawing/2014/main" id="{975E0427-A704-4CF3-9BAF-599440666B99}"/>
              </a:ext>
            </a:extLst>
          </p:cNvPr>
          <p:cNvSpPr>
            <a:spLocks noChangeArrowheads="1"/>
          </p:cNvSpPr>
          <p:nvPr/>
        </p:nvSpPr>
        <p:spPr bwMode="auto">
          <a:xfrm>
            <a:off x="683568" y="478989"/>
            <a:ext cx="45665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3.2.1  VSM </a:t>
            </a:r>
            <a:r>
              <a:rPr lang="en-US" altLang="zh-CN" sz="2400" b="1" dirty="0" err="1">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Stdio</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 IDE</a:t>
            </a:r>
            <a:r>
              <a:rPr lang="zh-CN" altLang="zh-CN" sz="2400" b="1" dirty="0">
                <a:solidFill>
                  <a:srgbClr val="FF0000"/>
                </a:solidFill>
                <a:effectLst>
                  <a:outerShdw blurRad="38100" dist="38100" dir="2700000" algn="tl">
                    <a:srgbClr val="000000">
                      <a:alpha val="43137"/>
                    </a:srgbClr>
                  </a:outerShdw>
                </a:effectLst>
                <a:cs typeface="Times New Roman" panose="02020603050405020304" pitchFamily="18" charset="0"/>
              </a:rPr>
              <a:t>的工作界面</a:t>
            </a:r>
            <a:endParaRPr lang="zh-CN" altLang="en-US" b="1" dirty="0">
              <a:solidFill>
                <a:srgbClr val="FF0000"/>
              </a:solidFill>
              <a:effectLst>
                <a:outerShdw blurRad="38100" dist="38100" dir="2700000" algn="tl">
                  <a:srgbClr val="000000">
                    <a:alpha val="43137"/>
                  </a:srgbClr>
                </a:outerShdw>
              </a:effectLst>
            </a:endParaRPr>
          </a:p>
        </p:txBody>
      </p:sp>
      <p:sp>
        <p:nvSpPr>
          <p:cNvPr id="17" name="文本框 16">
            <a:extLst>
              <a:ext uri="{FF2B5EF4-FFF2-40B4-BE49-F238E27FC236}">
                <a16:creationId xmlns:a16="http://schemas.microsoft.com/office/drawing/2014/main" id="{1561DDB0-96FD-484E-83E8-AE89CE345DAE}"/>
              </a:ext>
            </a:extLst>
          </p:cNvPr>
          <p:cNvSpPr txBox="1"/>
          <p:nvPr/>
        </p:nvSpPr>
        <p:spPr>
          <a:xfrm>
            <a:off x="784196" y="1073548"/>
            <a:ext cx="7575608" cy="727122"/>
          </a:xfrm>
          <a:prstGeom prst="rect">
            <a:avLst/>
          </a:prstGeom>
          <a:noFill/>
        </p:spPr>
        <p:txBody>
          <a:bodyPr wrap="square">
            <a:spAutoFit/>
          </a:bodyPr>
          <a:lstStyle/>
          <a:p>
            <a:pPr algn="just">
              <a:lnSpc>
                <a:spcPts val="2600"/>
              </a:lnSpc>
            </a:pPr>
            <a:r>
              <a:rPr lang="zh-CN" altLang="en-US" sz="2000" b="1" kern="100" dirty="0">
                <a:effectLst>
                  <a:outerShdw blurRad="38100" dist="38100" dir="2700000" algn="tl">
                    <a:srgbClr val="000000">
                      <a:alpha val="43137"/>
                    </a:srgbClr>
                  </a:outerShdw>
                </a:effectLst>
                <a:cs typeface="宋体" panose="02010600030101010101" pitchFamily="2" charset="-122"/>
              </a:rPr>
              <a:t>上节</a:t>
            </a:r>
            <a:r>
              <a:rPr lang="zh-CN" altLang="zh-CN"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创建新项目的第四步中，由于选择了“没有固件项目”，因而该项目中是没有包含“</a:t>
            </a:r>
            <a:r>
              <a:rPr lang="en-US" altLang="zh-CN"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Source Code</a:t>
            </a:r>
            <a:r>
              <a:rPr lang="zh-CN" altLang="zh-CN"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”标签页的。</a:t>
            </a:r>
          </a:p>
        </p:txBody>
      </p:sp>
      <p:pic>
        <p:nvPicPr>
          <p:cNvPr id="6" name="图片 5">
            <a:extLst>
              <a:ext uri="{FF2B5EF4-FFF2-40B4-BE49-F238E27FC236}">
                <a16:creationId xmlns:a16="http://schemas.microsoft.com/office/drawing/2014/main" id="{06DE9E47-F427-4D0B-B0ED-F2D27D29193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207404" y="2132856"/>
            <a:ext cx="4397044" cy="3960661"/>
          </a:xfrm>
          <a:prstGeom prst="rect">
            <a:avLst/>
          </a:prstGeom>
          <a:noFill/>
          <a:ln w="3175">
            <a:solidFill>
              <a:schemeClr val="accent1"/>
            </a:solidFill>
          </a:ln>
        </p:spPr>
      </p:pic>
      <p:sp>
        <p:nvSpPr>
          <p:cNvPr id="8" name="文本框 7">
            <a:extLst>
              <a:ext uri="{FF2B5EF4-FFF2-40B4-BE49-F238E27FC236}">
                <a16:creationId xmlns:a16="http://schemas.microsoft.com/office/drawing/2014/main" id="{EF141915-E005-4BA1-A088-0D11D382C50F}"/>
              </a:ext>
            </a:extLst>
          </p:cNvPr>
          <p:cNvSpPr txBox="1"/>
          <p:nvPr/>
        </p:nvSpPr>
        <p:spPr>
          <a:xfrm>
            <a:off x="683568" y="2492896"/>
            <a:ext cx="3198341" cy="3400226"/>
          </a:xfrm>
          <a:prstGeom prst="rect">
            <a:avLst/>
          </a:prstGeom>
          <a:noFill/>
        </p:spPr>
        <p:txBody>
          <a:bodyPr wrap="square">
            <a:spAutoFit/>
          </a:bodyPr>
          <a:lstStyle/>
          <a:p>
            <a:pPr algn="just">
              <a:lnSpc>
                <a:spcPts val="2600"/>
              </a:lnSpc>
            </a:pPr>
            <a:r>
              <a:rPr lang="zh-CN" altLang="zh-CN"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重新创建一个新项目，但在第四步的“新固件项目”对话框中要选择①</a:t>
            </a:r>
            <a:r>
              <a:rPr lang="en-US" altLang="zh-CN"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8051</a:t>
            </a:r>
            <a:r>
              <a:rPr lang="zh-CN" altLang="zh-CN"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、②</a:t>
            </a:r>
            <a:r>
              <a:rPr lang="en-US" altLang="zh-CN"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80C51</a:t>
            </a:r>
            <a:r>
              <a:rPr lang="zh-CN" altLang="zh-CN"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、③</a:t>
            </a:r>
            <a:r>
              <a:rPr lang="en-US" altLang="zh-CN"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Keil for 8051</a:t>
            </a:r>
            <a:r>
              <a:rPr lang="zh-CN" altLang="zh-CN"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、④勾选“创建快速启动文件”、⑤单击确定，新创建的项目中便包含了两个标签页，即原理图绘图标签页和</a:t>
            </a:r>
            <a:r>
              <a:rPr lang="en-US" altLang="zh-CN"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Source Code</a:t>
            </a:r>
            <a:r>
              <a:rPr lang="zh-CN" altLang="zh-CN"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标签页。</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54E9D31-FE54-463E-B0C7-7B78D175EBF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2140" y="1577033"/>
            <a:ext cx="3959860" cy="2696210"/>
          </a:xfrm>
          <a:prstGeom prst="rect">
            <a:avLst/>
          </a:prstGeom>
          <a:noFill/>
          <a:ln w="3175">
            <a:solidFill>
              <a:schemeClr val="accent1"/>
            </a:solidFill>
          </a:ln>
        </p:spPr>
      </p:pic>
      <p:pic>
        <p:nvPicPr>
          <p:cNvPr id="3" name="图片 2">
            <a:extLst>
              <a:ext uri="{FF2B5EF4-FFF2-40B4-BE49-F238E27FC236}">
                <a16:creationId xmlns:a16="http://schemas.microsoft.com/office/drawing/2014/main" id="{B7A74704-8690-4664-94D1-E82C8BDD1D1B}"/>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1577033"/>
            <a:ext cx="3959860" cy="2696210"/>
          </a:xfrm>
          <a:prstGeom prst="rect">
            <a:avLst/>
          </a:prstGeom>
          <a:noFill/>
          <a:ln w="3175">
            <a:solidFill>
              <a:schemeClr val="accent1"/>
            </a:solidFill>
          </a:ln>
        </p:spPr>
      </p:pic>
      <p:sp>
        <p:nvSpPr>
          <p:cNvPr id="5" name="文本框 4">
            <a:extLst>
              <a:ext uri="{FF2B5EF4-FFF2-40B4-BE49-F238E27FC236}">
                <a16:creationId xmlns:a16="http://schemas.microsoft.com/office/drawing/2014/main" id="{E38B0438-0218-46CC-B9F1-1ADAAA12FE19}"/>
              </a:ext>
            </a:extLst>
          </p:cNvPr>
          <p:cNvSpPr txBox="1"/>
          <p:nvPr/>
        </p:nvSpPr>
        <p:spPr>
          <a:xfrm>
            <a:off x="902970" y="925339"/>
            <a:ext cx="7338060" cy="400110"/>
          </a:xfrm>
          <a:prstGeom prst="rect">
            <a:avLst/>
          </a:prstGeom>
          <a:noFill/>
        </p:spPr>
        <p:txBody>
          <a:bodyPr wrap="square">
            <a:spAutoFit/>
          </a:bodyPr>
          <a:lstStyle/>
          <a:p>
            <a:r>
              <a:rPr lang="zh-CN"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创建的新项目</a:t>
            </a: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中包含两个标签页</a:t>
            </a:r>
            <a:endParaRPr lang="zh-CN" altLang="en-US" sz="2000" b="1" dirty="0">
              <a:effectLst>
                <a:outerShdw blurRad="38100" dist="38100" dir="2700000" algn="tl">
                  <a:srgbClr val="000000">
                    <a:alpha val="43137"/>
                  </a:srgbClr>
                </a:outerShdw>
              </a:effectLst>
            </a:endParaRPr>
          </a:p>
        </p:txBody>
      </p:sp>
      <p:sp>
        <p:nvSpPr>
          <p:cNvPr id="7" name="文本框 6">
            <a:extLst>
              <a:ext uri="{FF2B5EF4-FFF2-40B4-BE49-F238E27FC236}">
                <a16:creationId xmlns:a16="http://schemas.microsoft.com/office/drawing/2014/main" id="{EB331770-8ACF-4DBC-9BFF-F0429624EE44}"/>
              </a:ext>
            </a:extLst>
          </p:cNvPr>
          <p:cNvSpPr txBox="1"/>
          <p:nvPr/>
        </p:nvSpPr>
        <p:spPr>
          <a:xfrm>
            <a:off x="612140" y="4368493"/>
            <a:ext cx="7919720" cy="732829"/>
          </a:xfrm>
          <a:prstGeom prst="rect">
            <a:avLst/>
          </a:prstGeom>
          <a:noFill/>
        </p:spPr>
        <p:txBody>
          <a:bodyPr wrap="square">
            <a:spAutoFit/>
          </a:bodyPr>
          <a:lstStyle/>
          <a:p>
            <a:pPr algn="just">
              <a:lnSpc>
                <a:spcPts val="2600"/>
              </a:lnSpc>
            </a:pPr>
            <a:r>
              <a:rPr lang="zh-CN" altLang="zh-CN"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原理图</a:t>
            </a:r>
            <a:r>
              <a:rPr lang="zh-CN" altLang="en-US"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绘制标签页中有</a:t>
            </a:r>
            <a:r>
              <a:rPr lang="zh-CN" altLang="zh-CN"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一个</a:t>
            </a:r>
            <a:r>
              <a:rPr lang="en-US" altLang="zh-CN"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80C51</a:t>
            </a:r>
            <a:r>
              <a:rPr lang="zh-CN" altLang="zh-CN"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的初始电路</a:t>
            </a:r>
            <a:r>
              <a:rPr lang="en-US" altLang="zh-CN" sz="2000" b="1" kern="100" dirty="0">
                <a:effectLst>
                  <a:outerShdw blurRad="38100" dist="38100" dir="2700000" algn="tl">
                    <a:srgbClr val="000000">
                      <a:alpha val="43137"/>
                    </a:srgbClr>
                  </a:outerShdw>
                </a:effectLst>
                <a:cs typeface="宋体" panose="02010600030101010101" pitchFamily="2" charset="-122"/>
              </a:rPr>
              <a:t>——</a:t>
            </a:r>
            <a:r>
              <a:rPr lang="zh-CN" altLang="zh-CN"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可以独立运行的</a:t>
            </a:r>
            <a:r>
              <a:rPr lang="en-US" altLang="zh-CN"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51</a:t>
            </a:r>
            <a:r>
              <a:rPr lang="zh-CN" altLang="zh-CN"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单片机最小系统了。</a:t>
            </a:r>
          </a:p>
        </p:txBody>
      </p:sp>
      <p:sp>
        <p:nvSpPr>
          <p:cNvPr id="9" name="文本框 8">
            <a:extLst>
              <a:ext uri="{FF2B5EF4-FFF2-40B4-BE49-F238E27FC236}">
                <a16:creationId xmlns:a16="http://schemas.microsoft.com/office/drawing/2014/main" id="{C55983CE-A39B-4AB2-BCDD-F192A4CCB3F1}"/>
              </a:ext>
            </a:extLst>
          </p:cNvPr>
          <p:cNvSpPr txBox="1"/>
          <p:nvPr/>
        </p:nvSpPr>
        <p:spPr>
          <a:xfrm>
            <a:off x="612140" y="5101322"/>
            <a:ext cx="7998460" cy="400110"/>
          </a:xfrm>
          <a:prstGeom prst="rect">
            <a:avLst/>
          </a:prstGeom>
          <a:noFill/>
        </p:spPr>
        <p:txBody>
          <a:bodyPr wrap="square">
            <a:spAutoFit/>
          </a:bodyPr>
          <a:lstStyle/>
          <a:p>
            <a:r>
              <a:rPr lang="en-US" altLang="zh-CN" sz="20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Source Code</a:t>
            </a:r>
            <a:r>
              <a:rPr lang="zh-CN" altLang="zh-CN" sz="20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标签页中含有程序模板</a:t>
            </a:r>
            <a:r>
              <a:rPr lang="en-US" altLang="zh-CN" sz="20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快速启动文件。</a:t>
            </a:r>
            <a:endParaRPr lang="zh-CN" altLang="en-US" sz="2000" b="1" dirty="0">
              <a:effectLst>
                <a:outerShdw blurRad="38100" dist="38100" dir="2700000" algn="tl">
                  <a:srgbClr val="000000">
                    <a:alpha val="43137"/>
                  </a:srgbClr>
                </a:outerShdw>
              </a:effectLst>
            </a:endParaRPr>
          </a:p>
        </p:txBody>
      </p:sp>
      <p:pic>
        <p:nvPicPr>
          <p:cNvPr id="4" name="图片 3">
            <a:extLst>
              <a:ext uri="{FF2B5EF4-FFF2-40B4-BE49-F238E27FC236}">
                <a16:creationId xmlns:a16="http://schemas.microsoft.com/office/drawing/2014/main" id="{1D527585-16A7-4D1C-B30E-D35A3C6E9F12}"/>
              </a:ext>
            </a:extLst>
          </p:cNvPr>
          <p:cNvPicPr>
            <a:picLocks noChangeAspect="1"/>
          </p:cNvPicPr>
          <p:nvPr/>
        </p:nvPicPr>
        <p:blipFill>
          <a:blip r:embed="rId4"/>
          <a:stretch>
            <a:fillRect/>
          </a:stretch>
        </p:blipFill>
        <p:spPr>
          <a:xfrm>
            <a:off x="4860031" y="404665"/>
            <a:ext cx="4096827" cy="852222"/>
          </a:xfrm>
          <a:prstGeom prst="rect">
            <a:avLst/>
          </a:prstGeom>
        </p:spPr>
      </p:pic>
    </p:spTree>
    <p:extLst>
      <p:ext uri="{BB962C8B-B14F-4D97-AF65-F5344CB8AC3E}">
        <p14:creationId xmlns:p14="http://schemas.microsoft.com/office/powerpoint/2010/main" val="8542600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7C94BB48-FCB2-492D-AA47-2994C643A489}"/>
              </a:ext>
            </a:extLst>
          </p:cNvPr>
          <p:cNvSpPr>
            <a:spLocks noChangeArrowheads="1"/>
          </p:cNvSpPr>
          <p:nvPr/>
        </p:nvSpPr>
        <p:spPr bwMode="auto">
          <a:xfrm>
            <a:off x="5364163" y="404813"/>
            <a:ext cx="35099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zh-CN" altLang="en-US" sz="1600" b="1" dirty="0"/>
              <a:t>第</a:t>
            </a:r>
            <a:r>
              <a:rPr lang="en-US" altLang="zh-CN" sz="1600" b="1" dirty="0"/>
              <a:t>3</a:t>
            </a:r>
            <a:r>
              <a:rPr lang="zh-CN" altLang="en-US" sz="1600" b="1" dirty="0"/>
              <a:t>章 单片机的</a:t>
            </a:r>
            <a:r>
              <a:rPr lang="en-US" altLang="zh-CN" sz="1600" b="1" dirty="0"/>
              <a:t>C51</a:t>
            </a:r>
            <a:r>
              <a:rPr lang="zh-CN" altLang="en-US" sz="1600" b="1" dirty="0"/>
              <a:t>基础知识</a:t>
            </a:r>
          </a:p>
        </p:txBody>
      </p:sp>
      <p:pic>
        <p:nvPicPr>
          <p:cNvPr id="15" name="图片 14">
            <a:extLst>
              <a:ext uri="{FF2B5EF4-FFF2-40B4-BE49-F238E27FC236}">
                <a16:creationId xmlns:a16="http://schemas.microsoft.com/office/drawing/2014/main" id="{4A3DF902-DFD2-48C6-A447-B4B5474046B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70737" y="1379360"/>
            <a:ext cx="3818689" cy="2548038"/>
          </a:xfrm>
          <a:prstGeom prst="rect">
            <a:avLst/>
          </a:prstGeom>
          <a:noFill/>
          <a:ln w="6350">
            <a:solidFill>
              <a:schemeClr val="tx1"/>
            </a:solidFill>
          </a:ln>
        </p:spPr>
      </p:pic>
      <p:sp>
        <p:nvSpPr>
          <p:cNvPr id="17" name="文本框 16">
            <a:extLst>
              <a:ext uri="{FF2B5EF4-FFF2-40B4-BE49-F238E27FC236}">
                <a16:creationId xmlns:a16="http://schemas.microsoft.com/office/drawing/2014/main" id="{1561DDB0-96FD-484E-83E8-AE89CE345DAE}"/>
              </a:ext>
            </a:extLst>
          </p:cNvPr>
          <p:cNvSpPr txBox="1"/>
          <p:nvPr/>
        </p:nvSpPr>
        <p:spPr>
          <a:xfrm>
            <a:off x="451163" y="4076423"/>
            <a:ext cx="8057835" cy="1323439"/>
          </a:xfrm>
          <a:prstGeom prst="rect">
            <a:avLst/>
          </a:prstGeom>
          <a:noFill/>
        </p:spPr>
        <p:txBody>
          <a:bodyPr wrap="square">
            <a:spAutoFit/>
          </a:bodyPr>
          <a:lstStyle/>
          <a:p>
            <a:pPr marL="342900" indent="-342900">
              <a:buFont typeface="Arial" panose="020B0604020202020204" pitchFamily="34" charset="0"/>
              <a:buChar char="•"/>
            </a:pPr>
            <a:r>
              <a:rPr lang="zh-CN" altLang="zh-CN" sz="1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项目窗口</a:t>
            </a:r>
            <a:r>
              <a:rPr lang="zh-CN" altLang="zh-CN" sz="1600" b="1" dirty="0">
                <a:effectLst/>
                <a:latin typeface="Times New Roman" panose="02020603050405020304" pitchFamily="18" charset="0"/>
                <a:ea typeface="宋体" panose="02010600030101010101" pitchFamily="2" charset="-122"/>
                <a:cs typeface="Times New Roman" panose="02020603050405020304" pitchFamily="18" charset="0"/>
              </a:rPr>
              <a:t>的主要功能是进行项目文件的管理，它以项目树的形式列出了本项目包含的所有文件。</a:t>
            </a:r>
            <a:endParaRPr lang="en-US" altLang="zh-CN" sz="1600" b="1"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Font typeface="Arial" panose="020B0604020202020204" pitchFamily="34" charset="0"/>
              <a:buChar char="•"/>
            </a:pPr>
            <a:r>
              <a:rPr lang="zh-CN" altLang="zh-CN" sz="1600" b="1" dirty="0">
                <a:solidFill>
                  <a:srgbClr val="FF0000"/>
                </a:solidFill>
                <a:cs typeface="Times New Roman" panose="02020603050405020304" pitchFamily="18" charset="0"/>
              </a:rPr>
              <a:t>编辑窗口</a:t>
            </a:r>
            <a:r>
              <a:rPr lang="zh-CN" altLang="zh-CN" sz="1600" b="1" dirty="0">
                <a:effectLst/>
                <a:latin typeface="Times New Roman" panose="02020603050405020304" pitchFamily="18" charset="0"/>
                <a:ea typeface="宋体" panose="02010600030101010101" pitchFamily="2" charset="-122"/>
                <a:cs typeface="Times New Roman" panose="02020603050405020304" pitchFamily="18" charset="0"/>
              </a:rPr>
              <a:t>的主要功能是对源程序代码进行文本处理，其基本功能类似于普通记事本中的文本查找、替换、复制、粘贴、撤销、恢复等功能。</a:t>
            </a:r>
            <a:endParaRPr lang="en-US" altLang="zh-CN" sz="1600" b="1"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Font typeface="Arial" panose="020B0604020202020204" pitchFamily="34" charset="0"/>
              <a:buChar char="•"/>
            </a:pPr>
            <a:r>
              <a:rPr lang="zh-CN" altLang="zh-CN" sz="1600" b="1" dirty="0">
                <a:solidFill>
                  <a:srgbClr val="FF0000"/>
                </a:solidFill>
                <a:cs typeface="Times New Roman" panose="02020603050405020304" pitchFamily="18" charset="0"/>
              </a:rPr>
              <a:t>输出窗口</a:t>
            </a:r>
            <a:r>
              <a:rPr lang="zh-CN" altLang="zh-CN" sz="1600" b="1" dirty="0">
                <a:effectLst/>
                <a:latin typeface="Times New Roman" panose="02020603050405020304" pitchFamily="18" charset="0"/>
                <a:ea typeface="宋体" panose="02010600030101010101" pitchFamily="2" charset="-122"/>
                <a:cs typeface="Times New Roman" panose="02020603050405020304" pitchFamily="18" charset="0"/>
              </a:rPr>
              <a:t>主要用于显示程序调试和编译信息，以及程序与原理图级联的状态信息。</a:t>
            </a:r>
            <a:endParaRPr lang="zh-CN" altLang="en-US" sz="1800" b="1" dirty="0"/>
          </a:p>
        </p:txBody>
      </p:sp>
      <p:pic>
        <p:nvPicPr>
          <p:cNvPr id="5" name="图片 4">
            <a:extLst>
              <a:ext uri="{FF2B5EF4-FFF2-40B4-BE49-F238E27FC236}">
                <a16:creationId xmlns:a16="http://schemas.microsoft.com/office/drawing/2014/main" id="{A684473E-246D-4387-AA50-007BD44C2DAC}"/>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55629" y="2653379"/>
            <a:ext cx="1928676" cy="1281807"/>
          </a:xfrm>
          <a:prstGeom prst="rect">
            <a:avLst/>
          </a:prstGeom>
          <a:noFill/>
          <a:ln w="6350" cap="flat" cmpd="sng" algn="ctr">
            <a:solidFill>
              <a:sysClr val="windowText" lastClr="000000"/>
            </a:solidFill>
            <a:prstDash val="solid"/>
            <a:round/>
            <a:headEnd type="none" w="med" len="med"/>
            <a:tailEnd type="none" w="med" len="med"/>
            <a:extLst>
              <a:ext uri="{C807C97D-BFC1-408E-A445-0C87EB9F89A2}">
                <ask:lineSketchStyleProps xmlns:ask="http://schemas.microsoft.com/office/drawing/2018/sketchyshapes" xmlns="" sd="0">
                  <a:custGeom>
                    <a:avLst/>
                    <a:gdLst/>
                    <a:ahLst/>
                    <a:cxnLst/>
                    <a:rect l="0" t="0" r="0" b="0"/>
                    <a:pathLst/>
                  </a:custGeom>
                  <ask:type/>
                </ask:lineSketchStyleProps>
              </a:ext>
            </a:extLst>
          </a:ln>
        </p:spPr>
      </p:pic>
      <p:sp>
        <p:nvSpPr>
          <p:cNvPr id="7" name="文本框 6">
            <a:extLst>
              <a:ext uri="{FF2B5EF4-FFF2-40B4-BE49-F238E27FC236}">
                <a16:creationId xmlns:a16="http://schemas.microsoft.com/office/drawing/2014/main" id="{9B734C4C-51D1-4203-BE9D-38AFA0F75DB5}"/>
              </a:ext>
            </a:extLst>
          </p:cNvPr>
          <p:cNvSpPr txBox="1"/>
          <p:nvPr/>
        </p:nvSpPr>
        <p:spPr>
          <a:xfrm>
            <a:off x="741939" y="5420232"/>
            <a:ext cx="7660122" cy="654090"/>
          </a:xfrm>
          <a:prstGeom prst="rect">
            <a:avLst/>
          </a:prstGeom>
          <a:noFill/>
        </p:spPr>
        <p:txBody>
          <a:bodyPr wrap="square">
            <a:spAutoFit/>
          </a:bodyPr>
          <a:lstStyle/>
          <a:p>
            <a:pPr algn="just">
              <a:lnSpc>
                <a:spcPts val="2300"/>
              </a:lnSpc>
            </a:pPr>
            <a:r>
              <a:rPr lang="en-US" altLang="zh-CN" sz="1600" b="1" kern="100" dirty="0">
                <a:effectLst/>
                <a:latin typeface="Times New Roman" panose="02020603050405020304" pitchFamily="18" charset="0"/>
                <a:ea typeface="宋体" panose="02010600030101010101" pitchFamily="2" charset="-122"/>
                <a:cs typeface="宋体" panose="02010600030101010101" pitchFamily="2" charset="-122"/>
              </a:rPr>
              <a:t>Source Code</a:t>
            </a:r>
            <a:r>
              <a:rPr lang="zh-CN" altLang="zh-CN" sz="1600" b="1" kern="100" dirty="0">
                <a:effectLst/>
                <a:latin typeface="Times New Roman" panose="02020603050405020304" pitchFamily="18" charset="0"/>
                <a:ea typeface="宋体" panose="02010600030101010101" pitchFamily="2" charset="-122"/>
                <a:cs typeface="宋体" panose="02010600030101010101" pitchFamily="2" charset="-122"/>
              </a:rPr>
              <a:t>标签页有两个工作界面</a:t>
            </a:r>
            <a:r>
              <a:rPr lang="zh-CN" altLang="en-US" sz="1600" b="1" kern="100" dirty="0">
                <a:effectLst/>
                <a:latin typeface="Times New Roman" panose="02020603050405020304" pitchFamily="18" charset="0"/>
                <a:ea typeface="宋体" panose="02010600030101010101" pitchFamily="2" charset="-122"/>
                <a:cs typeface="宋体" panose="02010600030101010101" pitchFamily="2" charset="-122"/>
              </a:rPr>
              <a:t>，</a:t>
            </a:r>
            <a:r>
              <a:rPr lang="zh-CN" altLang="zh-CN" sz="1600" b="1" kern="100" dirty="0">
                <a:effectLst/>
                <a:latin typeface="Times New Roman" panose="02020603050405020304" pitchFamily="18" charset="0"/>
                <a:ea typeface="宋体" panose="02010600030101010101" pitchFamily="2" charset="-122"/>
                <a:cs typeface="宋体" panose="02010600030101010101" pitchFamily="2" charset="-122"/>
              </a:rPr>
              <a:t>标签名都是</a:t>
            </a:r>
            <a:r>
              <a:rPr lang="en-US" altLang="zh-CN" sz="1600" b="1" kern="100" dirty="0">
                <a:effectLst/>
                <a:latin typeface="Times New Roman" panose="02020603050405020304" pitchFamily="18" charset="0"/>
                <a:ea typeface="宋体" panose="02010600030101010101" pitchFamily="2" charset="-122"/>
                <a:cs typeface="宋体" panose="02010600030101010101" pitchFamily="2" charset="-122"/>
              </a:rPr>
              <a:t>Source Code</a:t>
            </a:r>
            <a:r>
              <a:rPr lang="zh-CN" altLang="zh-CN" sz="1600" b="1" kern="100" dirty="0">
                <a:effectLst/>
                <a:latin typeface="Times New Roman" panose="02020603050405020304" pitchFamily="18" charset="0"/>
                <a:ea typeface="宋体" panose="02010600030101010101" pitchFamily="2" charset="-122"/>
                <a:cs typeface="宋体" panose="02010600030101010101" pitchFamily="2" charset="-122"/>
              </a:rPr>
              <a:t>，但后者中没有项目窗口和输出窗口。</a:t>
            </a:r>
          </a:p>
        </p:txBody>
      </p:sp>
      <p:sp>
        <p:nvSpPr>
          <p:cNvPr id="9" name="文本框 8">
            <a:extLst>
              <a:ext uri="{FF2B5EF4-FFF2-40B4-BE49-F238E27FC236}">
                <a16:creationId xmlns:a16="http://schemas.microsoft.com/office/drawing/2014/main" id="{B27BEF74-AA3C-44C9-AE0B-D242DF17BD1D}"/>
              </a:ext>
            </a:extLst>
          </p:cNvPr>
          <p:cNvSpPr txBox="1"/>
          <p:nvPr/>
        </p:nvSpPr>
        <p:spPr>
          <a:xfrm>
            <a:off x="759214" y="531707"/>
            <a:ext cx="6677765" cy="461665"/>
          </a:xfrm>
          <a:prstGeom prst="rect">
            <a:avLst/>
          </a:prstGeom>
          <a:noFill/>
        </p:spPr>
        <p:txBody>
          <a:bodyPr wrap="square">
            <a:spAutoFit/>
          </a:bodyPr>
          <a:lstStyle/>
          <a:p>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Source Code</a:t>
            </a: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中包含</a:t>
            </a: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个窗口</a:t>
            </a:r>
            <a:endParaRPr lang="zh-CN" altLang="en-US" b="1" dirty="0">
              <a:solidFill>
                <a:srgbClr val="FF0000"/>
              </a:solidFill>
              <a:effectLst>
                <a:outerShdw blurRad="38100" dist="38100" dir="2700000" algn="tl">
                  <a:srgbClr val="000000">
                    <a:alpha val="43137"/>
                  </a:srgbClr>
                </a:outerShdw>
              </a:effectLst>
            </a:endParaRPr>
          </a:p>
        </p:txBody>
      </p:sp>
      <p:sp>
        <p:nvSpPr>
          <p:cNvPr id="11" name="文本框 10">
            <a:extLst>
              <a:ext uri="{FF2B5EF4-FFF2-40B4-BE49-F238E27FC236}">
                <a16:creationId xmlns:a16="http://schemas.microsoft.com/office/drawing/2014/main" id="{9CC115B6-7797-417B-829C-CE0363DFA27E}"/>
              </a:ext>
            </a:extLst>
          </p:cNvPr>
          <p:cNvSpPr txBox="1"/>
          <p:nvPr/>
        </p:nvSpPr>
        <p:spPr>
          <a:xfrm>
            <a:off x="759214" y="3737869"/>
            <a:ext cx="1600200" cy="338554"/>
          </a:xfrm>
          <a:prstGeom prst="rect">
            <a:avLst/>
          </a:prstGeom>
          <a:noFill/>
        </p:spPr>
        <p:txBody>
          <a:bodyPr wrap="square">
            <a:spAutoFit/>
          </a:bodyPr>
          <a:lstStyle/>
          <a:p>
            <a:r>
              <a:rPr lang="zh-CN" altLang="zh-CN" sz="1600" b="1" kern="100" dirty="0">
                <a:effectLst/>
                <a:latin typeface="Times New Roman" panose="02020603050405020304" pitchFamily="18" charset="0"/>
                <a:ea typeface="宋体" panose="02010600030101010101" pitchFamily="2" charset="-122"/>
                <a:cs typeface="宋体" panose="02010600030101010101" pitchFamily="2" charset="-122"/>
              </a:rPr>
              <a:t>程序编辑界面</a:t>
            </a:r>
            <a:endParaRPr lang="zh-CN" altLang="en-US" sz="1600" b="1" dirty="0"/>
          </a:p>
        </p:txBody>
      </p:sp>
      <p:sp>
        <p:nvSpPr>
          <p:cNvPr id="12" name="文本框 11">
            <a:extLst>
              <a:ext uri="{FF2B5EF4-FFF2-40B4-BE49-F238E27FC236}">
                <a16:creationId xmlns:a16="http://schemas.microsoft.com/office/drawing/2014/main" id="{87BA1DE3-0A3F-4FDD-914D-4345533C17A0}"/>
              </a:ext>
            </a:extLst>
          </p:cNvPr>
          <p:cNvSpPr txBox="1"/>
          <p:nvPr/>
        </p:nvSpPr>
        <p:spPr>
          <a:xfrm>
            <a:off x="6719867" y="2294455"/>
            <a:ext cx="1600200" cy="338554"/>
          </a:xfrm>
          <a:prstGeom prst="rect">
            <a:avLst/>
          </a:prstGeom>
          <a:noFill/>
        </p:spPr>
        <p:txBody>
          <a:bodyPr wrap="square">
            <a:spAutoFit/>
          </a:bodyPr>
          <a:lstStyle/>
          <a:p>
            <a:r>
              <a:rPr lang="zh-CN" altLang="en-US" sz="1600" b="1" kern="100" dirty="0">
                <a:effectLst/>
                <a:latin typeface="Times New Roman" panose="02020603050405020304" pitchFamily="18" charset="0"/>
                <a:ea typeface="宋体" panose="02010600030101010101" pitchFamily="2" charset="-122"/>
                <a:cs typeface="宋体" panose="02010600030101010101" pitchFamily="2" charset="-122"/>
              </a:rPr>
              <a:t>代码调试</a:t>
            </a:r>
            <a:r>
              <a:rPr lang="zh-CN" altLang="zh-CN" sz="1600" b="1" kern="100" dirty="0">
                <a:effectLst/>
                <a:latin typeface="Times New Roman" panose="02020603050405020304" pitchFamily="18" charset="0"/>
                <a:ea typeface="宋体" panose="02010600030101010101" pitchFamily="2" charset="-122"/>
                <a:cs typeface="宋体" panose="02010600030101010101" pitchFamily="2" charset="-122"/>
              </a:rPr>
              <a:t>界面</a:t>
            </a:r>
            <a:endParaRPr lang="zh-CN" altLang="en-US" sz="1600" b="1" dirty="0"/>
          </a:p>
        </p:txBody>
      </p:sp>
    </p:spTree>
    <p:extLst>
      <p:ext uri="{BB962C8B-B14F-4D97-AF65-F5344CB8AC3E}">
        <p14:creationId xmlns:p14="http://schemas.microsoft.com/office/powerpoint/2010/main" val="2741668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C7AD2C1-BA08-4995-A96A-83FEE103A7C5}"/>
              </a:ext>
            </a:extLst>
          </p:cNvPr>
          <p:cNvSpPr>
            <a:spLocks noChangeArrowheads="1"/>
          </p:cNvSpPr>
          <p:nvPr/>
        </p:nvSpPr>
        <p:spPr bwMode="auto">
          <a:xfrm>
            <a:off x="5364163" y="404813"/>
            <a:ext cx="35099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zh-CN" altLang="en-US" sz="1600" b="1"/>
              <a:t>第</a:t>
            </a:r>
            <a:r>
              <a:rPr lang="en-US" altLang="zh-CN" sz="1600" b="1"/>
              <a:t>3</a:t>
            </a:r>
            <a:r>
              <a:rPr lang="zh-CN" altLang="en-US" sz="1600" b="1"/>
              <a:t>章 单片机的</a:t>
            </a:r>
            <a:r>
              <a:rPr lang="en-US" altLang="zh-CN" sz="1600" b="1"/>
              <a:t>C51</a:t>
            </a:r>
            <a:r>
              <a:rPr lang="zh-CN" altLang="en-US" sz="1600" b="1"/>
              <a:t>基础知识</a:t>
            </a:r>
          </a:p>
        </p:txBody>
      </p:sp>
      <p:sp>
        <p:nvSpPr>
          <p:cNvPr id="27651" name="矩形 2">
            <a:extLst>
              <a:ext uri="{FF2B5EF4-FFF2-40B4-BE49-F238E27FC236}">
                <a16:creationId xmlns:a16="http://schemas.microsoft.com/office/drawing/2014/main" id="{6964D2E2-E761-47AA-B9FD-0E5DE4930B12}"/>
              </a:ext>
            </a:extLst>
          </p:cNvPr>
          <p:cNvSpPr>
            <a:spLocks noChangeArrowheads="1"/>
          </p:cNvSpPr>
          <p:nvPr/>
        </p:nvSpPr>
        <p:spPr bwMode="auto">
          <a:xfrm>
            <a:off x="971600" y="752370"/>
            <a:ext cx="47525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3.2.2  VSM </a:t>
            </a:r>
            <a:r>
              <a:rPr lang="en-US" altLang="zh-CN" sz="2400" b="1" dirty="0" err="1">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Stdio</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 IDE</a:t>
            </a:r>
            <a:r>
              <a:rPr lang="zh-CN" altLang="zh-CN" sz="2400" b="1" dirty="0">
                <a:solidFill>
                  <a:srgbClr val="FF0000"/>
                </a:solidFill>
                <a:effectLst>
                  <a:outerShdw blurRad="38100" dist="38100" dir="2700000" algn="tl">
                    <a:srgbClr val="000000">
                      <a:alpha val="43137"/>
                    </a:srgbClr>
                  </a:outerShdw>
                </a:effectLst>
                <a:cs typeface="Times New Roman" panose="02020603050405020304" pitchFamily="18" charset="0"/>
              </a:rPr>
              <a:t>的使用方法</a:t>
            </a:r>
            <a:endParaRPr lang="zh-CN" altLang="en-US" b="1" dirty="0">
              <a:solidFill>
                <a:srgbClr val="C00000"/>
              </a:solidFill>
              <a:effectLst>
                <a:outerShdw blurRad="38100" dist="38100" dir="2700000" algn="tl">
                  <a:srgbClr val="000000">
                    <a:alpha val="43137"/>
                  </a:srgbClr>
                </a:outerShdw>
              </a:effectLst>
            </a:endParaRPr>
          </a:p>
        </p:txBody>
      </p:sp>
      <p:sp>
        <p:nvSpPr>
          <p:cNvPr id="7" name="文本框 6">
            <a:extLst>
              <a:ext uri="{FF2B5EF4-FFF2-40B4-BE49-F238E27FC236}">
                <a16:creationId xmlns:a16="http://schemas.microsoft.com/office/drawing/2014/main" id="{93331D03-CECC-4E9B-A213-DA61EB55FCF3}"/>
              </a:ext>
            </a:extLst>
          </p:cNvPr>
          <p:cNvSpPr txBox="1"/>
          <p:nvPr/>
        </p:nvSpPr>
        <p:spPr>
          <a:xfrm>
            <a:off x="345281" y="1970331"/>
            <a:ext cx="8453437" cy="1323439"/>
          </a:xfrm>
          <a:prstGeom prst="rect">
            <a:avLst/>
          </a:prstGeom>
          <a:noFill/>
        </p:spPr>
        <p:txBody>
          <a:bodyPr wrap="square">
            <a:spAutoFit/>
          </a:bodyPr>
          <a:lstStyle/>
          <a:p>
            <a:r>
              <a:rPr lang="zh-CN" altLang="zh-CN" sz="2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【实例</a:t>
            </a:r>
            <a:r>
              <a:rPr lang="en-US" altLang="zh-CN" sz="2000" dirty="0">
                <a:solidFill>
                  <a:srgbClr val="FF0000"/>
                </a:solidFill>
                <a:effectLst/>
                <a:latin typeface="Times New Roman" panose="02020603050405020304" pitchFamily="18" charset="0"/>
                <a:ea typeface="宋体" panose="02010600030101010101" pitchFamily="2" charset="-122"/>
              </a:rPr>
              <a:t>1</a:t>
            </a:r>
            <a:r>
              <a:rPr lang="zh-CN" altLang="zh-CN" sz="2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dirty="0">
                <a:solidFill>
                  <a:srgbClr val="FF0000"/>
                </a:solidFill>
                <a:effectLst/>
                <a:ea typeface="Times New Roman" panose="02020603050405020304" pitchFamily="18" charset="0"/>
              </a:rPr>
              <a:t> </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假定已创建了一个基于</a:t>
            </a:r>
            <a:r>
              <a:rPr lang="en-US" altLang="zh-CN" sz="2000" dirty="0">
                <a:effectLst/>
                <a:latin typeface="Times New Roman" panose="02020603050405020304" pitchFamily="18" charset="0"/>
                <a:ea typeface="宋体" panose="02010600030101010101" pitchFamily="2" charset="-122"/>
              </a:rPr>
              <a:t>80C51</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单片机和</a:t>
            </a:r>
            <a:r>
              <a:rPr lang="en-US" altLang="zh-CN" sz="2000" dirty="0">
                <a:effectLst/>
                <a:latin typeface="Times New Roman" panose="02020603050405020304" pitchFamily="18" charset="0"/>
                <a:ea typeface="宋体" panose="02010600030101010101" pitchFamily="2" charset="-122"/>
              </a:rPr>
              <a:t>Keil for 8051</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编译器的新项目，项目文件名及保存路径为</a:t>
            </a:r>
            <a:r>
              <a:rPr lang="en-US" altLang="zh-CN" sz="2000" dirty="0">
                <a:effectLst/>
                <a:latin typeface="Times New Roman" panose="02020603050405020304" pitchFamily="18" charset="0"/>
                <a:ea typeface="宋体" panose="02010600030101010101" pitchFamily="2" charset="-122"/>
              </a:rPr>
              <a:t>c:\Exa\exa3_1.psdprj</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effectLst/>
                <a:latin typeface="Times New Roman" panose="02020603050405020304" pitchFamily="18" charset="0"/>
                <a:ea typeface="宋体" panose="02010600030101010101" pitchFamily="2" charset="-122"/>
              </a:rPr>
              <a:t>C51</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源程序实例如下所示。下面结合这个程序实例，学习用</a:t>
            </a:r>
            <a:r>
              <a:rPr lang="en-US" altLang="zh-CN" sz="2000" dirty="0">
                <a:effectLst/>
                <a:latin typeface="Times New Roman" panose="02020603050405020304" pitchFamily="18" charset="0"/>
                <a:ea typeface="宋体" panose="02010600030101010101" pitchFamily="2" charset="-122"/>
              </a:rPr>
              <a:t>VSM </a:t>
            </a:r>
            <a:r>
              <a:rPr lang="en-US" altLang="zh-CN" sz="2000" dirty="0" err="1">
                <a:effectLst/>
                <a:latin typeface="Times New Roman" panose="02020603050405020304" pitchFamily="18" charset="0"/>
                <a:ea typeface="宋体" panose="02010600030101010101" pitchFamily="2" charset="-122"/>
              </a:rPr>
              <a:t>Stdio</a:t>
            </a:r>
            <a:r>
              <a:rPr lang="en-US" altLang="zh-CN" sz="2000" dirty="0">
                <a:effectLst/>
                <a:latin typeface="Times New Roman" panose="02020603050405020304" pitchFamily="18" charset="0"/>
                <a:ea typeface="宋体" panose="02010600030101010101" pitchFamily="2" charset="-122"/>
              </a:rPr>
              <a:t> IDE</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进行编辑、编译、单步运行和变量监视的方法。</a:t>
            </a:r>
            <a:endParaRPr lang="zh-CN" altLang="en-US" sz="2000" dirty="0"/>
          </a:p>
        </p:txBody>
      </p:sp>
      <p:sp>
        <p:nvSpPr>
          <p:cNvPr id="9" name="文本框 8">
            <a:extLst>
              <a:ext uri="{FF2B5EF4-FFF2-40B4-BE49-F238E27FC236}">
                <a16:creationId xmlns:a16="http://schemas.microsoft.com/office/drawing/2014/main" id="{844003D0-B191-45F3-BC7D-C48742C302A8}"/>
              </a:ext>
            </a:extLst>
          </p:cNvPr>
          <p:cNvSpPr txBox="1"/>
          <p:nvPr/>
        </p:nvSpPr>
        <p:spPr>
          <a:xfrm>
            <a:off x="420688" y="1486652"/>
            <a:ext cx="8141110" cy="400110"/>
          </a:xfrm>
          <a:prstGeom prst="rect">
            <a:avLst/>
          </a:prstGeom>
          <a:noFill/>
        </p:spPr>
        <p:txBody>
          <a:bodyPr wrap="square">
            <a:spAutoFit/>
          </a:bodyPr>
          <a:lstStyle/>
          <a:p>
            <a:r>
              <a:rPr lang="zh-CN" altLang="zh-CN" sz="2000" kern="100" dirty="0">
                <a:effectLst/>
                <a:latin typeface="Times New Roman" panose="02020603050405020304" pitchFamily="18" charset="0"/>
                <a:ea typeface="宋体" panose="02010600030101010101" pitchFamily="2" charset="-122"/>
                <a:cs typeface="宋体" panose="02010600030101010101" pitchFamily="2" charset="-122"/>
              </a:rPr>
              <a:t>下面</a:t>
            </a:r>
            <a:r>
              <a:rPr lang="zh-CN" altLang="en-US" sz="2000" kern="100" dirty="0">
                <a:cs typeface="宋体" panose="02010600030101010101" pitchFamily="2" charset="-122"/>
              </a:rPr>
              <a:t>结合</a:t>
            </a:r>
            <a:r>
              <a:rPr lang="en-US" altLang="zh-CN" sz="2000" kern="100" dirty="0">
                <a:effectLst/>
                <a:latin typeface="Times New Roman" panose="02020603050405020304" pitchFamily="18" charset="0"/>
                <a:ea typeface="宋体" panose="02010600030101010101" pitchFamily="2" charset="-122"/>
                <a:cs typeface="宋体" panose="02010600030101010101" pitchFamily="2" charset="-122"/>
              </a:rPr>
              <a:t>C51</a:t>
            </a:r>
            <a:r>
              <a:rPr lang="zh-CN" altLang="zh-CN" sz="2000" kern="100" dirty="0">
                <a:effectLst/>
                <a:latin typeface="Times New Roman" panose="02020603050405020304" pitchFamily="18" charset="0"/>
                <a:ea typeface="宋体" panose="02010600030101010101" pitchFamily="2" charset="-122"/>
                <a:cs typeface="宋体" panose="02010600030101010101" pitchFamily="2" charset="-122"/>
              </a:rPr>
              <a:t>实例，介绍利用</a:t>
            </a:r>
            <a:r>
              <a:rPr lang="en-US" altLang="zh-CN" sz="2000" kern="100" dirty="0">
                <a:effectLst/>
                <a:latin typeface="Times New Roman" panose="02020603050405020304" pitchFamily="18" charset="0"/>
                <a:ea typeface="宋体" panose="02010600030101010101" pitchFamily="2" charset="-122"/>
                <a:cs typeface="宋体" panose="02010600030101010101" pitchFamily="2" charset="-122"/>
              </a:rPr>
              <a:t>VSM </a:t>
            </a:r>
            <a:r>
              <a:rPr lang="en-US" altLang="zh-CN" sz="2000" kern="100" dirty="0" err="1">
                <a:effectLst/>
                <a:latin typeface="Times New Roman" panose="02020603050405020304" pitchFamily="18" charset="0"/>
                <a:ea typeface="宋体" panose="02010600030101010101" pitchFamily="2" charset="-122"/>
                <a:cs typeface="宋体" panose="02010600030101010101" pitchFamily="2" charset="-122"/>
              </a:rPr>
              <a:t>Stdio</a:t>
            </a:r>
            <a:r>
              <a:rPr lang="en-US" altLang="zh-CN" sz="2000" kern="100" dirty="0">
                <a:effectLst/>
                <a:latin typeface="Times New Roman" panose="02020603050405020304" pitchFamily="18" charset="0"/>
                <a:ea typeface="宋体" panose="02010600030101010101" pitchFamily="2" charset="-122"/>
                <a:cs typeface="宋体" panose="02010600030101010101" pitchFamily="2" charset="-122"/>
              </a:rPr>
              <a:t> IDE</a:t>
            </a:r>
            <a:r>
              <a:rPr lang="zh-CN" altLang="zh-CN" sz="2000" kern="100" dirty="0">
                <a:effectLst/>
                <a:latin typeface="Times New Roman" panose="02020603050405020304" pitchFamily="18" charset="0"/>
                <a:ea typeface="宋体" panose="02010600030101010101" pitchFamily="2" charset="-122"/>
                <a:cs typeface="宋体" panose="02010600030101010101" pitchFamily="2" charset="-122"/>
              </a:rPr>
              <a:t>进行程序语法学习的方法。</a:t>
            </a:r>
          </a:p>
        </p:txBody>
      </p:sp>
      <p:pic>
        <p:nvPicPr>
          <p:cNvPr id="5" name="图片 4" descr="文本, 信件&#10;&#10;描述已自动生成">
            <a:extLst>
              <a:ext uri="{FF2B5EF4-FFF2-40B4-BE49-F238E27FC236}">
                <a16:creationId xmlns:a16="http://schemas.microsoft.com/office/drawing/2014/main" id="{B0B0467F-C418-4D0C-BB43-6526F85426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0825" y="3553221"/>
            <a:ext cx="5640834" cy="1628046"/>
          </a:xfrm>
          <a:prstGeom prst="rect">
            <a:avLst/>
          </a:prstGeom>
        </p:spPr>
      </p:pic>
      <p:sp>
        <p:nvSpPr>
          <p:cNvPr id="13" name="文本框 12">
            <a:extLst>
              <a:ext uri="{FF2B5EF4-FFF2-40B4-BE49-F238E27FC236}">
                <a16:creationId xmlns:a16="http://schemas.microsoft.com/office/drawing/2014/main" id="{CD155433-ABB6-4E81-82FF-74806C36F11E}"/>
              </a:ext>
            </a:extLst>
          </p:cNvPr>
          <p:cNvSpPr txBox="1"/>
          <p:nvPr/>
        </p:nvSpPr>
        <p:spPr>
          <a:xfrm>
            <a:off x="497935" y="5383543"/>
            <a:ext cx="7986611" cy="707886"/>
          </a:xfrm>
          <a:prstGeom prst="rect">
            <a:avLst/>
          </a:prstGeom>
          <a:noFill/>
        </p:spPr>
        <p:txBody>
          <a:bodyPr wrap="square">
            <a:spAutoFit/>
          </a:bodyPr>
          <a:lstStyle/>
          <a:p>
            <a:pPr algn="just">
              <a:spcBef>
                <a:spcPts val="600"/>
              </a:spcBef>
            </a:pPr>
            <a:r>
              <a:rPr lang="zh-CN" altLang="zh-CN" sz="2000" b="1" kern="100" dirty="0">
                <a:solidFill>
                  <a:srgbClr val="FF0000"/>
                </a:solidFill>
              </a:rPr>
              <a:t>分析</a:t>
            </a:r>
            <a:r>
              <a:rPr lang="zh-CN" altLang="zh-CN" sz="2000" kern="100" dirty="0"/>
              <a:t>：这段程序的功能是，使变量</a:t>
            </a:r>
            <a:r>
              <a:rPr lang="en-US" altLang="zh-CN" sz="2000" kern="100" dirty="0"/>
              <a:t>aa</a:t>
            </a:r>
            <a:r>
              <a:rPr lang="zh-CN" altLang="zh-CN" sz="2000" kern="100" dirty="0"/>
              <a:t>在小于</a:t>
            </a:r>
            <a:r>
              <a:rPr lang="en-US" altLang="zh-CN" sz="2000" kern="100" dirty="0"/>
              <a:t>10</a:t>
            </a:r>
            <a:r>
              <a:rPr lang="zh-CN" altLang="zh-CN" sz="2000" kern="100" dirty="0"/>
              <a:t>时循环加</a:t>
            </a:r>
            <a:r>
              <a:rPr lang="en-US" altLang="zh-CN" sz="2000" kern="100" dirty="0"/>
              <a:t>1</a:t>
            </a:r>
            <a:r>
              <a:rPr lang="zh-CN" altLang="zh-CN" sz="2000" kern="100" dirty="0"/>
              <a:t>，否则使变量</a:t>
            </a:r>
            <a:r>
              <a:rPr lang="en-US" altLang="zh-CN" sz="2000" kern="100" dirty="0"/>
              <a:t>bb</a:t>
            </a:r>
            <a:r>
              <a:rPr lang="zh-CN" altLang="zh-CN" sz="2000" kern="100" dirty="0"/>
              <a:t>等于</a:t>
            </a:r>
            <a:r>
              <a:rPr lang="en-US" altLang="zh-CN" sz="2000" kern="100" dirty="0"/>
              <a:t>100</a:t>
            </a:r>
            <a:r>
              <a:rPr lang="zh-CN" altLang="zh-CN" sz="2000" kern="100" dirty="0"/>
              <a:t>后结束。</a:t>
            </a:r>
          </a:p>
        </p:txBody>
      </p:sp>
      <p:sp>
        <p:nvSpPr>
          <p:cNvPr id="2" name="矩形 1">
            <a:extLst>
              <a:ext uri="{FF2B5EF4-FFF2-40B4-BE49-F238E27FC236}">
                <a16:creationId xmlns:a16="http://schemas.microsoft.com/office/drawing/2014/main" id="{520A931E-6654-4AC4-BBC4-9CC85110E3CB}"/>
              </a:ext>
            </a:extLst>
          </p:cNvPr>
          <p:cNvSpPr/>
          <p:nvPr/>
        </p:nvSpPr>
        <p:spPr bwMode="auto">
          <a:xfrm>
            <a:off x="1670824" y="3553221"/>
            <a:ext cx="5640835" cy="1628046"/>
          </a:xfrm>
          <a:prstGeom prst="rect">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C1C5390D-4D3D-4882-B94B-B34F623680F0}"/>
              </a:ext>
            </a:extLst>
          </p:cNvPr>
          <p:cNvSpPr>
            <a:spLocks noChangeArrowheads="1"/>
          </p:cNvSpPr>
          <p:nvPr/>
        </p:nvSpPr>
        <p:spPr bwMode="auto">
          <a:xfrm>
            <a:off x="5364163" y="404813"/>
            <a:ext cx="35099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zh-CN" altLang="en-US" sz="1600"/>
              <a:t>第</a:t>
            </a:r>
            <a:r>
              <a:rPr lang="en-US" altLang="zh-CN" sz="1600"/>
              <a:t>3</a:t>
            </a:r>
            <a:r>
              <a:rPr lang="zh-CN" altLang="en-US" sz="1600"/>
              <a:t>章 单片机的</a:t>
            </a:r>
            <a:r>
              <a:rPr lang="en-US" altLang="zh-CN" sz="1600"/>
              <a:t>C51</a:t>
            </a:r>
            <a:r>
              <a:rPr lang="zh-CN" altLang="en-US" sz="1600"/>
              <a:t>基础知识</a:t>
            </a:r>
          </a:p>
        </p:txBody>
      </p:sp>
      <p:sp>
        <p:nvSpPr>
          <p:cNvPr id="4" name="Rectangle 5">
            <a:extLst>
              <a:ext uri="{FF2B5EF4-FFF2-40B4-BE49-F238E27FC236}">
                <a16:creationId xmlns:a16="http://schemas.microsoft.com/office/drawing/2014/main" id="{BDDDC441-0E8D-4E83-B69F-75FDE847C6E7}"/>
              </a:ext>
            </a:extLst>
          </p:cNvPr>
          <p:cNvSpPr>
            <a:spLocks noChangeArrowheads="1"/>
          </p:cNvSpPr>
          <p:nvPr/>
        </p:nvSpPr>
        <p:spPr bwMode="auto">
          <a:xfrm>
            <a:off x="827584" y="972396"/>
            <a:ext cx="813127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76225">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ts val="600"/>
              </a:spcBef>
              <a:spcAft>
                <a:spcPct val="0"/>
              </a:spcAft>
              <a:buClrTx/>
              <a:buSzTx/>
              <a:buFontTx/>
              <a:buNone/>
              <a:tabLst/>
            </a:pPr>
            <a:r>
              <a:rPr kumimoji="0" lang="zh-CN" altLang="zh-CN" sz="2000"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实例</a:t>
            </a:r>
            <a:r>
              <a:rPr kumimoji="0" lang="en-US" altLang="zh-CN" sz="2000"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的操作步骤如下：</a:t>
            </a:r>
            <a:endParaRPr kumimoji="0" lang="zh-CN" altLang="en-US" sz="2000" b="1" i="0" u="none" strike="noStrike" cap="none" normalizeH="0" baseline="0" dirty="0">
              <a:ln>
                <a:noFill/>
              </a:ln>
              <a:effectLst/>
            </a:endParaRPr>
          </a:p>
          <a:p>
            <a:pPr marL="0" marR="0" lvl="0" indent="0" algn="l" defTabSz="914400" rtl="0" eaLnBrk="0" fontAlgn="base" latinLnBrk="0" hangingPunct="0">
              <a:lnSpc>
                <a:spcPct val="100000"/>
              </a:lnSpc>
              <a:spcBef>
                <a:spcPts val="600"/>
              </a:spcBef>
              <a:spcAft>
                <a:spcPct val="0"/>
              </a:spcAft>
              <a:buClrTx/>
              <a:buSzTx/>
              <a:buFontTx/>
              <a:buNone/>
              <a:tabLst/>
            </a:pPr>
            <a:r>
              <a:rPr kumimoji="0" lang="en-US" altLang="zh-CN" sz="20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 </a:t>
            </a:r>
            <a:r>
              <a:rPr kumimoji="0" lang="zh-CN" altLang="en-US" sz="20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将实例</a:t>
            </a:r>
            <a:r>
              <a:rPr kumimoji="0" lang="en-US" altLang="zh-CN" sz="20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程序添加到</a:t>
            </a:r>
            <a:r>
              <a:rPr kumimoji="0" lang="en-US" altLang="zh-CN" sz="20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Source Code</a:t>
            </a:r>
            <a:r>
              <a:rPr kumimoji="0" lang="zh-CN" altLang="en-US" sz="20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编辑区</a:t>
            </a:r>
            <a:endParaRPr kumimoji="0" lang="zh-CN" altLang="en-US" sz="20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ts val="600"/>
              </a:spcBef>
              <a:spcAft>
                <a:spcPct val="0"/>
              </a:spcAft>
              <a:buClrTx/>
              <a:buSzTx/>
              <a:buFontTx/>
              <a:buNone/>
              <a:tabLst/>
            </a:pPr>
            <a:r>
              <a:rPr kumimoji="0" lang="zh-CN" altLang="en-US" sz="2000"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将程序文本通过裁剪版粘贴到编辑区的程序模板中。由于实例</a:t>
            </a:r>
            <a:r>
              <a:rPr kumimoji="0" lang="en-US" altLang="zh-CN" sz="2000"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中没有用到头文件的内容，故可将头文件引用语句②删掉。单击工具栏按钮</a:t>
            </a:r>
            <a:endParaRPr kumimoji="0" lang="zh-CN" altLang="en-US" sz="2000" b="1" i="0" u="none" strike="noStrike" cap="none" normalizeH="0" baseline="0" dirty="0">
              <a:ln>
                <a:noFill/>
              </a:ln>
              <a:effectLst/>
              <a:latin typeface="Arial" panose="020B0604020202020204" pitchFamily="34" charset="0"/>
            </a:endParaRPr>
          </a:p>
        </p:txBody>
      </p:sp>
      <p:pic>
        <p:nvPicPr>
          <p:cNvPr id="1028" name="图片 50">
            <a:extLst>
              <a:ext uri="{FF2B5EF4-FFF2-40B4-BE49-F238E27FC236}">
                <a16:creationId xmlns:a16="http://schemas.microsoft.com/office/drawing/2014/main" id="{BD023187-00D7-4D3A-AB31-0A6A7502D3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7554" t="24110" b="-2"/>
          <a:stretch>
            <a:fillRect/>
          </a:stretch>
        </p:blipFill>
        <p:spPr bwMode="auto">
          <a:xfrm>
            <a:off x="0" y="457200"/>
            <a:ext cx="104775" cy="104775"/>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11">
            <a:extLst>
              <a:ext uri="{FF2B5EF4-FFF2-40B4-BE49-F238E27FC236}">
                <a16:creationId xmlns:a16="http://schemas.microsoft.com/office/drawing/2014/main" id="{3A0D3228-EE7D-4E66-B50F-72566A24976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04821" y="2680758"/>
            <a:ext cx="5040000" cy="3426812"/>
          </a:xfrm>
          <a:prstGeom prst="rect">
            <a:avLst/>
          </a:prstGeom>
          <a:noFill/>
          <a:ln w="6350">
            <a:solidFill>
              <a:schemeClr val="tx1"/>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C1C5390D-4D3D-4882-B94B-B34F623680F0}"/>
              </a:ext>
            </a:extLst>
          </p:cNvPr>
          <p:cNvSpPr>
            <a:spLocks noChangeArrowheads="1"/>
          </p:cNvSpPr>
          <p:nvPr/>
        </p:nvSpPr>
        <p:spPr bwMode="auto">
          <a:xfrm>
            <a:off x="5364163" y="404813"/>
            <a:ext cx="35099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zh-CN" altLang="en-US" sz="1600"/>
              <a:t>第</a:t>
            </a:r>
            <a:r>
              <a:rPr lang="en-US" altLang="zh-CN" sz="1600"/>
              <a:t>3</a:t>
            </a:r>
            <a:r>
              <a:rPr lang="zh-CN" altLang="en-US" sz="1600"/>
              <a:t>章 单片机的</a:t>
            </a:r>
            <a:r>
              <a:rPr lang="en-US" altLang="zh-CN" sz="1600"/>
              <a:t>C51</a:t>
            </a:r>
            <a:r>
              <a:rPr lang="zh-CN" altLang="en-US" sz="1600"/>
              <a:t>基础知识</a:t>
            </a:r>
          </a:p>
        </p:txBody>
      </p:sp>
      <p:sp>
        <p:nvSpPr>
          <p:cNvPr id="4" name="Rectangle 5">
            <a:extLst>
              <a:ext uri="{FF2B5EF4-FFF2-40B4-BE49-F238E27FC236}">
                <a16:creationId xmlns:a16="http://schemas.microsoft.com/office/drawing/2014/main" id="{BDDDC441-0E8D-4E83-B69F-75FDE847C6E7}"/>
              </a:ext>
            </a:extLst>
          </p:cNvPr>
          <p:cNvSpPr>
            <a:spLocks noChangeArrowheads="1"/>
          </p:cNvSpPr>
          <p:nvPr/>
        </p:nvSpPr>
        <p:spPr bwMode="auto">
          <a:xfrm>
            <a:off x="899592" y="983653"/>
            <a:ext cx="7619999"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76225">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ts val="600"/>
              </a:spcBef>
              <a:spcAft>
                <a:spcPct val="0"/>
              </a:spcAft>
              <a:buClrTx/>
              <a:buSzTx/>
              <a:buFontTx/>
              <a:buNone/>
              <a:tabLst/>
            </a:pPr>
            <a:r>
              <a:rPr lang="en-US" altLang="zh-CN" sz="2000" b="1" spc="20"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2</a:t>
            </a:r>
            <a:r>
              <a:rPr lang="zh-CN" altLang="en-US" sz="2000" b="1" spc="20"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b="1" spc="20"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对程序进行编译</a:t>
            </a:r>
            <a:endParaRPr lang="en-US" altLang="zh-CN" sz="2000" b="1" spc="20"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ts val="600"/>
              </a:spcBef>
              <a:spcAft>
                <a:spcPct val="0"/>
              </a:spcAft>
              <a:buClrTx/>
              <a:buSzTx/>
              <a:buFontTx/>
              <a:buNone/>
              <a:tabLst/>
            </a:pPr>
            <a:r>
              <a:rPr lang="zh-CN" altLang="zh-CN" sz="1800" b="1" spc="2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单击菜单【构建】→【构建工程】→编译结果信息会出现在输出窗口中</a:t>
            </a:r>
            <a:endParaRPr kumimoji="0" lang="zh-CN" altLang="en-US" sz="2000" b="1" i="0" u="none" strike="noStrike" cap="none" normalizeH="0" baseline="0" dirty="0">
              <a:ln>
                <a:noFill/>
              </a:ln>
              <a:effectLst>
                <a:outerShdw blurRad="38100" dist="38100" dir="2700000" algn="tl">
                  <a:srgbClr val="000000">
                    <a:alpha val="43137"/>
                  </a:srgbClr>
                </a:outerShdw>
              </a:effectLst>
            </a:endParaRPr>
          </a:p>
        </p:txBody>
      </p:sp>
      <p:pic>
        <p:nvPicPr>
          <p:cNvPr id="1028" name="图片 50">
            <a:extLst>
              <a:ext uri="{FF2B5EF4-FFF2-40B4-BE49-F238E27FC236}">
                <a16:creationId xmlns:a16="http://schemas.microsoft.com/office/drawing/2014/main" id="{BD023187-00D7-4D3A-AB31-0A6A7502D3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7554" t="24110" b="-2"/>
          <a:stretch>
            <a:fillRect/>
          </a:stretch>
        </p:blipFill>
        <p:spPr bwMode="auto">
          <a:xfrm>
            <a:off x="0" y="457200"/>
            <a:ext cx="104775" cy="104775"/>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E6B47740-1593-475F-B5EE-0BE8A6AF0456}"/>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38359" y="1875050"/>
            <a:ext cx="4962478" cy="3374103"/>
          </a:xfrm>
          <a:prstGeom prst="rect">
            <a:avLst/>
          </a:prstGeom>
          <a:noFill/>
          <a:ln w="6350">
            <a:solidFill>
              <a:schemeClr val="tx1"/>
            </a:solidFill>
          </a:ln>
        </p:spPr>
      </p:pic>
      <p:sp>
        <p:nvSpPr>
          <p:cNvPr id="8" name="文本框 7">
            <a:extLst>
              <a:ext uri="{FF2B5EF4-FFF2-40B4-BE49-F238E27FC236}">
                <a16:creationId xmlns:a16="http://schemas.microsoft.com/office/drawing/2014/main" id="{8F4F88AC-570F-47FE-BCEF-2C47DC2D372D}"/>
              </a:ext>
            </a:extLst>
          </p:cNvPr>
          <p:cNvSpPr txBox="1"/>
          <p:nvPr/>
        </p:nvSpPr>
        <p:spPr>
          <a:xfrm>
            <a:off x="762001" y="5386497"/>
            <a:ext cx="7619998" cy="923330"/>
          </a:xfrm>
          <a:prstGeom prst="rect">
            <a:avLst/>
          </a:prstGeom>
          <a:noFill/>
        </p:spPr>
        <p:txBody>
          <a:bodyPr wrap="square">
            <a:spAutoFit/>
          </a:bodyPr>
          <a:lstStyle/>
          <a:p>
            <a:pPr algn="just">
              <a:spcBef>
                <a:spcPts val="600"/>
              </a:spcBef>
            </a:pPr>
            <a:r>
              <a:rPr lang="zh-CN" altLang="zh-CN" sz="18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显示“</a:t>
            </a:r>
            <a:r>
              <a:rPr lang="en-US" altLang="zh-CN" sz="18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0 WARNING(S)</a:t>
            </a:r>
            <a:r>
              <a:rPr lang="zh-CN" altLang="zh-CN" sz="18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a:t>
            </a:r>
            <a:r>
              <a:rPr lang="en-US" altLang="zh-CN" sz="18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0 ERROR(S),</a:t>
            </a:r>
            <a:r>
              <a:rPr lang="zh-CN" altLang="zh-CN" sz="18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”，表明源程序中没有严重错误和警告错误，程序在语法上没有问题，编译成功。此时，目标代码已被自动加载到原理图的单片机模块中，可以进行仿真运行了。</a:t>
            </a:r>
          </a:p>
        </p:txBody>
      </p:sp>
      <p:sp>
        <p:nvSpPr>
          <p:cNvPr id="2" name="椭圆 1">
            <a:extLst>
              <a:ext uri="{FF2B5EF4-FFF2-40B4-BE49-F238E27FC236}">
                <a16:creationId xmlns:a16="http://schemas.microsoft.com/office/drawing/2014/main" id="{3BD84100-1906-4936-8A99-98BA749EB91B}"/>
              </a:ext>
            </a:extLst>
          </p:cNvPr>
          <p:cNvSpPr/>
          <p:nvPr/>
        </p:nvSpPr>
        <p:spPr bwMode="auto">
          <a:xfrm>
            <a:off x="1612490" y="3913239"/>
            <a:ext cx="4542504" cy="1335914"/>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1479397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C1C5390D-4D3D-4882-B94B-B34F623680F0}"/>
              </a:ext>
            </a:extLst>
          </p:cNvPr>
          <p:cNvSpPr>
            <a:spLocks noChangeArrowheads="1"/>
          </p:cNvSpPr>
          <p:nvPr/>
        </p:nvSpPr>
        <p:spPr bwMode="auto">
          <a:xfrm>
            <a:off x="5364163" y="404813"/>
            <a:ext cx="35099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zh-CN" altLang="en-US" sz="1600"/>
              <a:t>第</a:t>
            </a:r>
            <a:r>
              <a:rPr lang="en-US" altLang="zh-CN" sz="1600"/>
              <a:t>3</a:t>
            </a:r>
            <a:r>
              <a:rPr lang="zh-CN" altLang="en-US" sz="1600"/>
              <a:t>章 单片机的</a:t>
            </a:r>
            <a:r>
              <a:rPr lang="en-US" altLang="zh-CN" sz="1600"/>
              <a:t>C51</a:t>
            </a:r>
            <a:r>
              <a:rPr lang="zh-CN" altLang="en-US" sz="1600"/>
              <a:t>基础知识</a:t>
            </a:r>
          </a:p>
        </p:txBody>
      </p:sp>
      <p:sp>
        <p:nvSpPr>
          <p:cNvPr id="4" name="Rectangle 5">
            <a:extLst>
              <a:ext uri="{FF2B5EF4-FFF2-40B4-BE49-F238E27FC236}">
                <a16:creationId xmlns:a16="http://schemas.microsoft.com/office/drawing/2014/main" id="{BDDDC441-0E8D-4E83-B69F-75FDE847C6E7}"/>
              </a:ext>
            </a:extLst>
          </p:cNvPr>
          <p:cNvSpPr>
            <a:spLocks noChangeArrowheads="1"/>
          </p:cNvSpPr>
          <p:nvPr/>
        </p:nvSpPr>
        <p:spPr bwMode="auto">
          <a:xfrm>
            <a:off x="760139" y="1083177"/>
            <a:ext cx="47250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76225">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ts val="600"/>
              </a:spcBef>
              <a:spcAft>
                <a:spcPct val="0"/>
              </a:spcAft>
              <a:buClrTx/>
              <a:buSzTx/>
              <a:buFontTx/>
              <a:buNone/>
              <a:tabLst/>
            </a:pPr>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3. </a:t>
            </a:r>
            <a:r>
              <a:rPr lang="zh-CN"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打开并调整程序调试界面</a:t>
            </a:r>
            <a:endPar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028" name="图片 50">
            <a:extLst>
              <a:ext uri="{FF2B5EF4-FFF2-40B4-BE49-F238E27FC236}">
                <a16:creationId xmlns:a16="http://schemas.microsoft.com/office/drawing/2014/main" id="{BD023187-00D7-4D3A-AB31-0A6A7502D3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7554" t="24110" b="-2"/>
          <a:stretch>
            <a:fillRect/>
          </a:stretch>
        </p:blipFill>
        <p:spPr bwMode="auto">
          <a:xfrm>
            <a:off x="0" y="457200"/>
            <a:ext cx="104775" cy="1047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5">
            <a:extLst>
              <a:ext uri="{FF2B5EF4-FFF2-40B4-BE49-F238E27FC236}">
                <a16:creationId xmlns:a16="http://schemas.microsoft.com/office/drawing/2014/main" id="{6C51920A-DE67-4FDB-9042-EDF213DF6AA9}"/>
              </a:ext>
            </a:extLst>
          </p:cNvPr>
          <p:cNvSpPr>
            <a:spLocks noChangeArrowheads="1"/>
          </p:cNvSpPr>
          <p:nvPr/>
        </p:nvSpPr>
        <p:spPr bwMode="auto">
          <a:xfrm>
            <a:off x="386002" y="1572803"/>
            <a:ext cx="787309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indent="266700"/>
            <a:r>
              <a:rPr lang="zh-CN" altLang="zh-CN" sz="1800" b="1" kern="100" dirty="0">
                <a:effectLst>
                  <a:outerShdw blurRad="38100" dist="38100" dir="2700000" algn="tl">
                    <a:srgbClr val="000000">
                      <a:alpha val="43137"/>
                    </a:srgbClr>
                  </a:outerShdw>
                </a:effectLst>
              </a:rPr>
              <a:t>（</a:t>
            </a:r>
            <a:r>
              <a:rPr lang="en-US" altLang="zh-CN" sz="1800" b="1" kern="100" dirty="0">
                <a:effectLst>
                  <a:outerShdw blurRad="38100" dist="38100" dir="2700000" algn="tl">
                    <a:srgbClr val="000000">
                      <a:alpha val="43137"/>
                    </a:srgbClr>
                  </a:outerShdw>
                </a:effectLst>
              </a:rPr>
              <a:t>1</a:t>
            </a:r>
            <a:r>
              <a:rPr lang="zh-CN" altLang="en-US" sz="1800" b="1" kern="100" dirty="0">
                <a:effectLst>
                  <a:outerShdw blurRad="38100" dist="38100" dir="2700000" algn="tl">
                    <a:srgbClr val="000000">
                      <a:alpha val="43137"/>
                    </a:srgbClr>
                  </a:outerShdw>
                </a:effectLst>
              </a:rPr>
              <a:t>）单击仿真工具</a:t>
            </a:r>
            <a:r>
              <a:rPr lang="en-US" altLang="zh-CN" sz="1800" b="1" kern="100" dirty="0">
                <a:effectLst>
                  <a:outerShdw blurRad="38100" dist="38100" dir="2700000" algn="tl">
                    <a:srgbClr val="000000">
                      <a:alpha val="43137"/>
                    </a:srgbClr>
                  </a:outerShdw>
                </a:effectLst>
              </a:rPr>
              <a:t>STEP</a:t>
            </a:r>
            <a:r>
              <a:rPr lang="zh-CN" altLang="en-US" sz="1800" b="1" kern="100" dirty="0">
                <a:effectLst>
                  <a:outerShdw blurRad="38100" dist="38100" dir="2700000" algn="tl">
                    <a:srgbClr val="000000">
                      <a:alpha val="43137"/>
                    </a:srgbClr>
                  </a:outerShdw>
                </a:effectLst>
              </a:rPr>
              <a:t>按钮    </a:t>
            </a:r>
            <a:r>
              <a:rPr lang="zh-CN" altLang="zh-CN" sz="1800" b="1" kern="100" dirty="0">
                <a:effectLst>
                  <a:outerShdw blurRad="38100" dist="38100" dir="2700000" algn="tl">
                    <a:srgbClr val="000000">
                      <a:alpha val="43137"/>
                    </a:srgbClr>
                  </a:outerShdw>
                </a:effectLst>
              </a:rPr>
              <a:t>→打开</a:t>
            </a:r>
            <a:r>
              <a:rPr lang="zh-CN" altLang="zh-CN" sz="1800" b="1" kern="100" dirty="0">
                <a:solidFill>
                  <a:srgbClr val="C00000"/>
                </a:solidFill>
                <a:effectLst>
                  <a:outerShdw blurRad="38100" dist="38100" dir="2700000" algn="tl">
                    <a:srgbClr val="000000">
                      <a:alpha val="43137"/>
                    </a:srgbClr>
                  </a:outerShdw>
                </a:effectLst>
              </a:rPr>
              <a:t>代码调试窗</a:t>
            </a:r>
            <a:endParaRPr lang="zh-CN" altLang="en-US" sz="1800" b="1" kern="100" dirty="0">
              <a:solidFill>
                <a:srgbClr val="C00000"/>
              </a:solidFill>
              <a:effectLst>
                <a:outerShdw blurRad="38100" dist="38100" dir="2700000" algn="tl">
                  <a:srgbClr val="000000">
                    <a:alpha val="43137"/>
                  </a:srgbClr>
                </a:outerShdw>
              </a:effectLst>
            </a:endParaRPr>
          </a:p>
        </p:txBody>
      </p:sp>
      <p:pic>
        <p:nvPicPr>
          <p:cNvPr id="2052" name="图片 54">
            <a:extLst>
              <a:ext uri="{FF2B5EF4-FFF2-40B4-BE49-F238E27FC236}">
                <a16:creationId xmlns:a16="http://schemas.microsoft.com/office/drawing/2014/main" id="{4E897010-3886-41E8-9D76-42AC1C4BC9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5603" y="1637844"/>
            <a:ext cx="197022" cy="232844"/>
          </a:xfrm>
          <a:prstGeom prst="rect">
            <a:avLst/>
          </a:prstGeom>
          <a:noFill/>
          <a:extLst>
            <a:ext uri="{909E8E84-426E-40DD-AFC4-6F175D3DCCD1}">
              <a14:hiddenFill xmlns:a14="http://schemas.microsoft.com/office/drawing/2010/main">
                <a:solidFill>
                  <a:srgbClr val="FFFFFF"/>
                </a:solidFill>
              </a14:hiddenFill>
            </a:ext>
          </a:extLst>
        </p:spPr>
      </p:pic>
      <p:pic>
        <p:nvPicPr>
          <p:cNvPr id="27" name="图片 26">
            <a:extLst>
              <a:ext uri="{FF2B5EF4-FFF2-40B4-BE49-F238E27FC236}">
                <a16:creationId xmlns:a16="http://schemas.microsoft.com/office/drawing/2014/main" id="{5D3635B0-86B1-4F5D-890B-3EFEAA175F23}"/>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41293" y="3101569"/>
            <a:ext cx="4661414" cy="3169403"/>
          </a:xfrm>
          <a:prstGeom prst="rect">
            <a:avLst/>
          </a:prstGeom>
          <a:noFill/>
          <a:ln w="6350">
            <a:solidFill>
              <a:schemeClr val="tx1"/>
            </a:solidFill>
          </a:ln>
        </p:spPr>
      </p:pic>
      <p:sp>
        <p:nvSpPr>
          <p:cNvPr id="29" name="文本框 28">
            <a:extLst>
              <a:ext uri="{FF2B5EF4-FFF2-40B4-BE49-F238E27FC236}">
                <a16:creationId xmlns:a16="http://schemas.microsoft.com/office/drawing/2014/main" id="{D5481227-F636-4AF7-964D-66A87C5EE383}"/>
              </a:ext>
            </a:extLst>
          </p:cNvPr>
          <p:cNvSpPr txBox="1"/>
          <p:nvPr/>
        </p:nvSpPr>
        <p:spPr>
          <a:xfrm>
            <a:off x="659274" y="1942135"/>
            <a:ext cx="8098724" cy="369332"/>
          </a:xfrm>
          <a:prstGeom prst="rect">
            <a:avLst/>
          </a:prstGeom>
          <a:noFill/>
        </p:spPr>
        <p:txBody>
          <a:bodyPr wrap="square">
            <a:spAutoFit/>
          </a:bodyPr>
          <a:lstStyle/>
          <a:p>
            <a:r>
              <a:rPr lang="zh-CN" altLang="zh-CN" sz="1800" b="1" kern="100" dirty="0">
                <a:effectLst>
                  <a:outerShdw blurRad="38100" dist="38100" dir="2700000" algn="tl">
                    <a:srgbClr val="000000">
                      <a:alpha val="43137"/>
                    </a:srgbClr>
                  </a:outerShdw>
                </a:effectLst>
              </a:rPr>
              <a:t>（</a:t>
            </a:r>
            <a:r>
              <a:rPr lang="en-US" altLang="zh-CN" sz="1800" b="1" kern="100" dirty="0">
                <a:effectLst>
                  <a:outerShdw blurRad="38100" dist="38100" dir="2700000" algn="tl">
                    <a:srgbClr val="000000">
                      <a:alpha val="43137"/>
                    </a:srgbClr>
                  </a:outerShdw>
                </a:effectLst>
              </a:rPr>
              <a:t>2</a:t>
            </a:r>
            <a:r>
              <a:rPr lang="zh-CN" altLang="zh-CN" sz="1800" b="1" kern="100" dirty="0">
                <a:effectLst>
                  <a:outerShdw blurRad="38100" dist="38100" dir="2700000" algn="tl">
                    <a:srgbClr val="000000">
                      <a:alpha val="43137"/>
                    </a:srgbClr>
                  </a:outerShdw>
                </a:effectLst>
              </a:rPr>
              <a:t>）单击菜单【调试】→【</a:t>
            </a:r>
            <a:r>
              <a:rPr lang="en-US" altLang="zh-CN" sz="1800" b="1" kern="100" dirty="0">
                <a:effectLst>
                  <a:outerShdw blurRad="38100" dist="38100" dir="2700000" algn="tl">
                    <a:srgbClr val="000000">
                      <a:alpha val="43137"/>
                    </a:srgbClr>
                  </a:outerShdw>
                </a:effectLst>
              </a:rPr>
              <a:t>80C51</a:t>
            </a:r>
            <a:r>
              <a:rPr lang="zh-CN" altLang="zh-CN" sz="1800" b="1" kern="100" dirty="0">
                <a:effectLst>
                  <a:outerShdw blurRad="38100" dist="38100" dir="2700000" algn="tl">
                    <a:srgbClr val="000000">
                      <a:alpha val="43137"/>
                    </a:srgbClr>
                  </a:outerShdw>
                </a:effectLst>
              </a:rPr>
              <a:t>】→【</a:t>
            </a:r>
            <a:r>
              <a:rPr lang="en-US" altLang="zh-CN" sz="1800" b="1" kern="100" dirty="0">
                <a:effectLst>
                  <a:outerShdw blurRad="38100" dist="38100" dir="2700000" algn="tl">
                    <a:srgbClr val="000000">
                      <a:alpha val="43137"/>
                    </a:srgbClr>
                  </a:outerShdw>
                </a:effectLst>
              </a:rPr>
              <a:t>Variables</a:t>
            </a:r>
            <a:r>
              <a:rPr lang="zh-CN" altLang="zh-CN" sz="1800" b="1" kern="100" dirty="0">
                <a:effectLst>
                  <a:outerShdw blurRad="38100" dist="38100" dir="2700000" algn="tl">
                    <a:srgbClr val="000000">
                      <a:alpha val="43137"/>
                    </a:srgbClr>
                  </a:outerShdw>
                </a:effectLst>
              </a:rPr>
              <a:t>】→打开</a:t>
            </a:r>
            <a:r>
              <a:rPr lang="zh-CN" altLang="en-US" sz="1800" b="1" kern="100" dirty="0">
                <a:solidFill>
                  <a:srgbClr val="C00000"/>
                </a:solidFill>
                <a:effectLst>
                  <a:outerShdw blurRad="38100" dist="38100" dir="2700000" algn="tl">
                    <a:srgbClr val="000000">
                      <a:alpha val="43137"/>
                    </a:srgbClr>
                  </a:outerShdw>
                </a:effectLst>
              </a:rPr>
              <a:t>变量监视窗</a:t>
            </a:r>
          </a:p>
        </p:txBody>
      </p:sp>
      <p:sp>
        <p:nvSpPr>
          <p:cNvPr id="31" name="文本框 30">
            <a:extLst>
              <a:ext uri="{FF2B5EF4-FFF2-40B4-BE49-F238E27FC236}">
                <a16:creationId xmlns:a16="http://schemas.microsoft.com/office/drawing/2014/main" id="{0C3FE4FB-05DF-4F02-A8EE-118057FD6EE8}"/>
              </a:ext>
            </a:extLst>
          </p:cNvPr>
          <p:cNvSpPr txBox="1"/>
          <p:nvPr/>
        </p:nvSpPr>
        <p:spPr>
          <a:xfrm>
            <a:off x="659272" y="2257656"/>
            <a:ext cx="6429685" cy="723275"/>
          </a:xfrm>
          <a:prstGeom prst="rect">
            <a:avLst/>
          </a:prstGeom>
          <a:noFill/>
        </p:spPr>
        <p:txBody>
          <a:bodyPr wrap="square">
            <a:spAutoFit/>
          </a:bodyPr>
          <a:lstStyle/>
          <a:p>
            <a:pPr algn="just">
              <a:spcBef>
                <a:spcPts val="600"/>
              </a:spcBef>
            </a:pPr>
            <a:r>
              <a:rPr lang="zh-CN" altLang="zh-CN" sz="18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a:t>
            </a:r>
            <a:r>
              <a:rPr lang="en-US" altLang="zh-CN" sz="18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3</a:t>
            </a:r>
            <a:r>
              <a:rPr lang="zh-CN" altLang="zh-CN" sz="18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）右键单击代码调试窗弹出快捷菜单→</a:t>
            </a:r>
            <a:r>
              <a:rPr lang="zh-CN" altLang="en-US" sz="1800" b="1" kern="100" dirty="0">
                <a:effectLst>
                  <a:outerShdw blurRad="38100" dist="38100" dir="2700000" algn="tl">
                    <a:srgbClr val="000000">
                      <a:alpha val="43137"/>
                    </a:srgbClr>
                  </a:outerShdw>
                </a:effectLst>
                <a:cs typeface="宋体" panose="02010600030101010101" pitchFamily="2" charset="-122"/>
              </a:rPr>
              <a:t>设置窗体中字体</a:t>
            </a:r>
            <a:endParaRPr lang="en-US" altLang="zh-CN" sz="1800" b="1" kern="100" dirty="0">
              <a:effectLst>
                <a:outerShdw blurRad="38100" dist="38100" dir="2700000" algn="tl">
                  <a:srgbClr val="000000">
                    <a:alpha val="43137"/>
                  </a:srgbClr>
                </a:outerShdw>
              </a:effectLst>
              <a:latin typeface="Times New Roman" panose="02020603050405020304" pitchFamily="18" charset="0"/>
              <a:cs typeface="宋体" panose="02010600030101010101" pitchFamily="2" charset="-122"/>
            </a:endParaRPr>
          </a:p>
          <a:p>
            <a:pPr algn="just">
              <a:spcBef>
                <a:spcPts val="600"/>
              </a:spcBef>
            </a:pPr>
            <a:r>
              <a:rPr lang="zh-CN" altLang="zh-CN" sz="18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4</a:t>
            </a:r>
            <a:r>
              <a:rPr lang="zh-CN" altLang="zh-CN"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）将变量监视窗由固定形式改为浮动形式</a:t>
            </a:r>
            <a:endParaRPr lang="zh-CN" altLang="en-US" sz="1800" b="1" dirty="0">
              <a:effectLst>
                <a:outerShdw blurRad="38100" dist="38100" dir="2700000" algn="tl">
                  <a:srgbClr val="000000">
                    <a:alpha val="43137"/>
                  </a:srgbClr>
                </a:outerShdw>
              </a:effectLst>
            </a:endParaRPr>
          </a:p>
        </p:txBody>
      </p:sp>
      <p:sp>
        <p:nvSpPr>
          <p:cNvPr id="11" name="文本框 10">
            <a:extLst>
              <a:ext uri="{FF2B5EF4-FFF2-40B4-BE49-F238E27FC236}">
                <a16:creationId xmlns:a16="http://schemas.microsoft.com/office/drawing/2014/main" id="{975DFDF4-E632-43CB-8611-E848C189FE4D}"/>
              </a:ext>
            </a:extLst>
          </p:cNvPr>
          <p:cNvSpPr txBox="1"/>
          <p:nvPr/>
        </p:nvSpPr>
        <p:spPr>
          <a:xfrm>
            <a:off x="6902708" y="5285197"/>
            <a:ext cx="1444880" cy="369332"/>
          </a:xfrm>
          <a:prstGeom prst="rect">
            <a:avLst/>
          </a:prstGeom>
          <a:noFill/>
        </p:spPr>
        <p:txBody>
          <a:bodyPr wrap="square">
            <a:spAutoFit/>
          </a:bodyPr>
          <a:lstStyle/>
          <a:p>
            <a:r>
              <a:rPr lang="zh-CN" altLang="zh-CN" sz="1800" b="1" kern="100" dirty="0">
                <a:solidFill>
                  <a:srgbClr val="C00000"/>
                </a:solidFill>
                <a:effectLst>
                  <a:outerShdw blurRad="38100" dist="38100" dir="2700000" algn="tl">
                    <a:srgbClr val="000000">
                      <a:alpha val="43137"/>
                    </a:srgbClr>
                  </a:outerShdw>
                </a:effectLst>
              </a:rPr>
              <a:t>变量监视窗</a:t>
            </a:r>
            <a:endParaRPr lang="zh-CN" altLang="en-US" sz="1800" b="1" dirty="0">
              <a:solidFill>
                <a:srgbClr val="C00000"/>
              </a:solidFill>
              <a:effectLst>
                <a:outerShdw blurRad="38100" dist="38100" dir="2700000" algn="tl">
                  <a:srgbClr val="000000">
                    <a:alpha val="43137"/>
                  </a:srgbClr>
                </a:outerShdw>
              </a:effectLst>
            </a:endParaRPr>
          </a:p>
        </p:txBody>
      </p:sp>
      <p:sp>
        <p:nvSpPr>
          <p:cNvPr id="12" name="文本框 11">
            <a:extLst>
              <a:ext uri="{FF2B5EF4-FFF2-40B4-BE49-F238E27FC236}">
                <a16:creationId xmlns:a16="http://schemas.microsoft.com/office/drawing/2014/main" id="{AD6FD33D-A8B0-434A-90B3-B475BD3894BB}"/>
              </a:ext>
            </a:extLst>
          </p:cNvPr>
          <p:cNvSpPr txBox="1"/>
          <p:nvPr/>
        </p:nvSpPr>
        <p:spPr>
          <a:xfrm>
            <a:off x="2625676" y="5469863"/>
            <a:ext cx="1444880" cy="369332"/>
          </a:xfrm>
          <a:prstGeom prst="rect">
            <a:avLst/>
          </a:prstGeom>
          <a:noFill/>
        </p:spPr>
        <p:txBody>
          <a:bodyPr wrap="square">
            <a:spAutoFit/>
          </a:bodyPr>
          <a:lstStyle/>
          <a:p>
            <a:r>
              <a:rPr lang="zh-CN" altLang="en-US" sz="1800" kern="100" dirty="0">
                <a:solidFill>
                  <a:srgbClr val="C00000"/>
                </a:solidFill>
              </a:rPr>
              <a:t>代码调试</a:t>
            </a:r>
            <a:r>
              <a:rPr lang="zh-CN" altLang="zh-CN" sz="1800" kern="100" dirty="0">
                <a:solidFill>
                  <a:srgbClr val="C00000"/>
                </a:solidFill>
              </a:rPr>
              <a:t>窗</a:t>
            </a:r>
            <a:endParaRPr lang="zh-CN" altLang="en-US" sz="1800" dirty="0">
              <a:solidFill>
                <a:srgbClr val="C00000"/>
              </a:solidFill>
            </a:endParaRPr>
          </a:p>
        </p:txBody>
      </p:sp>
      <p:cxnSp>
        <p:nvCxnSpPr>
          <p:cNvPr id="6" name="直接箭头连接符 5">
            <a:extLst>
              <a:ext uri="{FF2B5EF4-FFF2-40B4-BE49-F238E27FC236}">
                <a16:creationId xmlns:a16="http://schemas.microsoft.com/office/drawing/2014/main" id="{3F379A19-FEFA-427F-AF5B-2CAC1623A90E}"/>
              </a:ext>
            </a:extLst>
          </p:cNvPr>
          <p:cNvCxnSpPr>
            <a:stCxn id="11" idx="1"/>
          </p:cNvCxnSpPr>
          <p:nvPr/>
        </p:nvCxnSpPr>
        <p:spPr bwMode="auto">
          <a:xfrm flipH="1" flipV="1">
            <a:off x="6381135" y="5102942"/>
            <a:ext cx="521573" cy="36692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4914199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C1C5390D-4D3D-4882-B94B-B34F623680F0}"/>
              </a:ext>
            </a:extLst>
          </p:cNvPr>
          <p:cNvSpPr>
            <a:spLocks noChangeArrowheads="1"/>
          </p:cNvSpPr>
          <p:nvPr/>
        </p:nvSpPr>
        <p:spPr bwMode="auto">
          <a:xfrm>
            <a:off x="5364163" y="404813"/>
            <a:ext cx="35099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zh-CN" altLang="en-US" sz="1600" b="1">
                <a:effectLst>
                  <a:outerShdw blurRad="38100" dist="38100" dir="2700000" algn="tl">
                    <a:srgbClr val="000000">
                      <a:alpha val="43137"/>
                    </a:srgbClr>
                  </a:outerShdw>
                </a:effectLst>
              </a:rPr>
              <a:t>第</a:t>
            </a:r>
            <a:r>
              <a:rPr lang="en-US" altLang="zh-CN" sz="1600" b="1">
                <a:effectLst>
                  <a:outerShdw blurRad="38100" dist="38100" dir="2700000" algn="tl">
                    <a:srgbClr val="000000">
                      <a:alpha val="43137"/>
                    </a:srgbClr>
                  </a:outerShdw>
                </a:effectLst>
              </a:rPr>
              <a:t>3</a:t>
            </a:r>
            <a:r>
              <a:rPr lang="zh-CN" altLang="en-US" sz="1600" b="1">
                <a:effectLst>
                  <a:outerShdw blurRad="38100" dist="38100" dir="2700000" algn="tl">
                    <a:srgbClr val="000000">
                      <a:alpha val="43137"/>
                    </a:srgbClr>
                  </a:outerShdw>
                </a:effectLst>
              </a:rPr>
              <a:t>章 单片机的</a:t>
            </a:r>
            <a:r>
              <a:rPr lang="en-US" altLang="zh-CN" sz="1600" b="1">
                <a:effectLst>
                  <a:outerShdw blurRad="38100" dist="38100" dir="2700000" algn="tl">
                    <a:srgbClr val="000000">
                      <a:alpha val="43137"/>
                    </a:srgbClr>
                  </a:outerShdw>
                </a:effectLst>
              </a:rPr>
              <a:t>C51</a:t>
            </a:r>
            <a:r>
              <a:rPr lang="zh-CN" altLang="en-US" sz="1600" b="1">
                <a:effectLst>
                  <a:outerShdw blurRad="38100" dist="38100" dir="2700000" algn="tl">
                    <a:srgbClr val="000000">
                      <a:alpha val="43137"/>
                    </a:srgbClr>
                  </a:outerShdw>
                </a:effectLst>
              </a:rPr>
              <a:t>基础知识</a:t>
            </a:r>
          </a:p>
        </p:txBody>
      </p:sp>
      <p:pic>
        <p:nvPicPr>
          <p:cNvPr id="1028" name="图片 50">
            <a:extLst>
              <a:ext uri="{FF2B5EF4-FFF2-40B4-BE49-F238E27FC236}">
                <a16:creationId xmlns:a16="http://schemas.microsoft.com/office/drawing/2014/main" id="{BD023187-00D7-4D3A-AB31-0A6A7502D3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7554" t="24110" b="-2"/>
          <a:stretch>
            <a:fillRect/>
          </a:stretch>
        </p:blipFill>
        <p:spPr bwMode="auto">
          <a:xfrm>
            <a:off x="0" y="457200"/>
            <a:ext cx="104775" cy="104775"/>
          </a:xfrm>
          <a:prstGeom prst="rect">
            <a:avLst/>
          </a:prstGeom>
          <a:noFill/>
          <a:extLst>
            <a:ext uri="{909E8E84-426E-40DD-AFC4-6F175D3DCCD1}">
              <a14:hiddenFill xmlns:a14="http://schemas.microsoft.com/office/drawing/2010/main">
                <a:solidFill>
                  <a:srgbClr val="FFFFFF"/>
                </a:solidFill>
              </a14:hiddenFill>
            </a:ext>
          </a:extLst>
        </p:spPr>
      </p:pic>
      <p:sp>
        <p:nvSpPr>
          <p:cNvPr id="17" name="文本框 16">
            <a:extLst>
              <a:ext uri="{FF2B5EF4-FFF2-40B4-BE49-F238E27FC236}">
                <a16:creationId xmlns:a16="http://schemas.microsoft.com/office/drawing/2014/main" id="{F6EA58F9-9E8C-47AF-917D-637D15A1CBFF}"/>
              </a:ext>
            </a:extLst>
          </p:cNvPr>
          <p:cNvSpPr txBox="1"/>
          <p:nvPr/>
        </p:nvSpPr>
        <p:spPr>
          <a:xfrm>
            <a:off x="747251" y="1027697"/>
            <a:ext cx="4572000" cy="400110"/>
          </a:xfrm>
          <a:prstGeom prst="rect">
            <a:avLst/>
          </a:prstGeom>
          <a:noFill/>
        </p:spPr>
        <p:txBody>
          <a:bodyPr wrap="square">
            <a:spAutoFit/>
          </a:bodyPr>
          <a:lstStyle/>
          <a:p>
            <a:r>
              <a:rPr lang="en-US"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4. </a:t>
            </a:r>
            <a:r>
              <a:rPr lang="zh-CN" altLang="zh-CN"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单步运行实例程序</a:t>
            </a:r>
            <a:endParaRPr lang="zh-CN" altLang="en-US" sz="2000" b="1" dirty="0">
              <a:effectLst>
                <a:outerShdw blurRad="38100" dist="38100" dir="2700000" algn="tl">
                  <a:srgbClr val="000000">
                    <a:alpha val="43137"/>
                  </a:srgbClr>
                </a:outerShdw>
              </a:effectLst>
            </a:endParaRPr>
          </a:p>
        </p:txBody>
      </p:sp>
      <p:sp>
        <p:nvSpPr>
          <p:cNvPr id="19" name="文本框 18">
            <a:extLst>
              <a:ext uri="{FF2B5EF4-FFF2-40B4-BE49-F238E27FC236}">
                <a16:creationId xmlns:a16="http://schemas.microsoft.com/office/drawing/2014/main" id="{BE55C382-49A1-4075-95A4-F5F141845817}"/>
              </a:ext>
            </a:extLst>
          </p:cNvPr>
          <p:cNvSpPr txBox="1"/>
          <p:nvPr/>
        </p:nvSpPr>
        <p:spPr>
          <a:xfrm>
            <a:off x="747251" y="1427807"/>
            <a:ext cx="7914968" cy="707886"/>
          </a:xfrm>
          <a:prstGeom prst="rect">
            <a:avLst/>
          </a:prstGeom>
          <a:noFill/>
        </p:spPr>
        <p:txBody>
          <a:bodyPr wrap="square">
            <a:spAutoFit/>
          </a:bodyPr>
          <a:lstStyle/>
          <a:p>
            <a:pPr algn="just"/>
            <a:r>
              <a:rPr lang="zh-CN" altLang="en-US" sz="2000" b="1" kern="100"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操作</a:t>
            </a:r>
            <a:r>
              <a:rPr lang="zh-CN" altLang="en-US"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a:t>
            </a:r>
            <a:r>
              <a:rPr lang="zh-CN" altLang="zh-CN" sz="20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宋体" panose="02010600030101010101" pitchFamily="2" charset="-122"/>
              </a:rPr>
              <a:t>运用“单步”运行方法，每执行一条语句后就使程序停下来，结合变量监视窗中的数值变化，就能判断运行结果是否在预料之中。</a:t>
            </a:r>
          </a:p>
        </p:txBody>
      </p:sp>
      <p:pic>
        <p:nvPicPr>
          <p:cNvPr id="20" name="图片 19">
            <a:extLst>
              <a:ext uri="{FF2B5EF4-FFF2-40B4-BE49-F238E27FC236}">
                <a16:creationId xmlns:a16="http://schemas.microsoft.com/office/drawing/2014/main" id="{F49DCF3F-CDB2-4FA2-8C50-1B063AACD3A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6531" y="2186847"/>
            <a:ext cx="3959860" cy="2692400"/>
          </a:xfrm>
          <a:prstGeom prst="rect">
            <a:avLst/>
          </a:prstGeom>
          <a:noFill/>
          <a:ln w="6350">
            <a:solidFill>
              <a:schemeClr val="tx1"/>
            </a:solidFill>
          </a:ln>
        </p:spPr>
      </p:pic>
      <p:pic>
        <p:nvPicPr>
          <p:cNvPr id="21" name="图片 20">
            <a:extLst>
              <a:ext uri="{FF2B5EF4-FFF2-40B4-BE49-F238E27FC236}">
                <a16:creationId xmlns:a16="http://schemas.microsoft.com/office/drawing/2014/main" id="{6588B08B-CF95-475E-B715-9B86B3A95F6A}"/>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72000" y="2737793"/>
            <a:ext cx="3959860" cy="2692400"/>
          </a:xfrm>
          <a:prstGeom prst="rect">
            <a:avLst/>
          </a:prstGeom>
          <a:noFill/>
          <a:ln w="6350">
            <a:solidFill>
              <a:schemeClr val="tx1"/>
            </a:solidFill>
          </a:ln>
        </p:spPr>
      </p:pic>
      <p:sp>
        <p:nvSpPr>
          <p:cNvPr id="23" name="文本框 22">
            <a:extLst>
              <a:ext uri="{FF2B5EF4-FFF2-40B4-BE49-F238E27FC236}">
                <a16:creationId xmlns:a16="http://schemas.microsoft.com/office/drawing/2014/main" id="{600A7259-A6A8-496F-BDB3-12AAA7D8383C}"/>
              </a:ext>
            </a:extLst>
          </p:cNvPr>
          <p:cNvSpPr txBox="1"/>
          <p:nvPr/>
        </p:nvSpPr>
        <p:spPr>
          <a:xfrm>
            <a:off x="747251" y="5481347"/>
            <a:ext cx="7914968" cy="707886"/>
          </a:xfrm>
          <a:prstGeom prst="rect">
            <a:avLst/>
          </a:prstGeom>
          <a:noFill/>
        </p:spPr>
        <p:txBody>
          <a:bodyPr wrap="square">
            <a:spAutoFit/>
          </a:bodyPr>
          <a:lstStyle/>
          <a:p>
            <a:r>
              <a:rPr lang="zh-CN" altLang="en-US" sz="20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结论</a:t>
            </a:r>
            <a:r>
              <a:rPr lang="zh-CN" altLang="en-US" sz="2000" b="1"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变量</a:t>
            </a:r>
            <a:r>
              <a:rPr lang="en-US" altLang="zh-CN" sz="2000" b="1" dirty="0">
                <a:effectLst/>
                <a:latin typeface="Times New Roman" panose="02020603050405020304" pitchFamily="18" charset="0"/>
                <a:ea typeface="宋体" panose="02010600030101010101" pitchFamily="2" charset="-122"/>
              </a:rPr>
              <a:t>aa</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2000" b="1" dirty="0">
                <a:effectLst/>
                <a:latin typeface="Times New Roman" panose="02020603050405020304" pitchFamily="18" charset="0"/>
                <a:ea typeface="宋体" panose="02010600030101010101" pitchFamily="2" charset="-122"/>
              </a:rPr>
              <a:t>bb</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的数值变化符合程序设计要求，同时也验证了“</a:t>
            </a:r>
            <a:r>
              <a:rPr lang="en-US" altLang="zh-CN" sz="2000" b="1" dirty="0">
                <a:effectLst/>
                <a:latin typeface="Times New Roman" panose="02020603050405020304" pitchFamily="18" charset="0"/>
                <a:ea typeface="宋体" panose="02010600030101010101" pitchFamily="2" charset="-122"/>
              </a:rPr>
              <a:t>while</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2000" b="1" dirty="0">
                <a:effectLst/>
                <a:latin typeface="Times New Roman" panose="02020603050405020304" pitchFamily="18" charset="0"/>
                <a:ea typeface="宋体" panose="02010600030101010101" pitchFamily="2" charset="-122"/>
              </a:rPr>
              <a:t>+=</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”语句的语法功能。</a:t>
            </a:r>
            <a:endParaRPr lang="zh-CN" altLang="en-US" sz="2000" b="1" dirty="0"/>
          </a:p>
        </p:txBody>
      </p:sp>
    </p:spTree>
    <p:extLst>
      <p:ext uri="{BB962C8B-B14F-4D97-AF65-F5344CB8AC3E}">
        <p14:creationId xmlns:p14="http://schemas.microsoft.com/office/powerpoint/2010/main" val="740267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5"/>
          <p:cNvSpPr>
            <a:spLocks noChangeArrowheads="1"/>
          </p:cNvSpPr>
          <p:nvPr/>
        </p:nvSpPr>
        <p:spPr bwMode="auto">
          <a:xfrm>
            <a:off x="827584" y="188640"/>
            <a:ext cx="7056437" cy="695325"/>
          </a:xfrm>
          <a:prstGeom prst="rect">
            <a:avLst/>
          </a:prstGeom>
          <a:noFill/>
          <a:ln>
            <a:noFill/>
          </a:ln>
          <a:effectLst/>
        </p:spPr>
        <p:txBody>
          <a:bodyPr anchor="b"/>
          <a:lstStyle/>
          <a:p>
            <a:pPr eaLnBrk="1" hangingPunct="1">
              <a:defRPr/>
            </a:pPr>
            <a:r>
              <a:rPr lang="en-US" altLang="zh-CN" sz="3600" b="1" dirty="0">
                <a:solidFill>
                  <a:srgbClr val="0000FF"/>
                </a:solidFill>
                <a:effectLst>
                  <a:outerShdw blurRad="38100" dist="38100" dir="2700000" algn="tl">
                    <a:srgbClr val="C0C0C0"/>
                  </a:outerShdw>
                </a:effectLst>
                <a:latin typeface="楷体" panose="02010609060101010101" pitchFamily="49" charset="-122"/>
                <a:ea typeface="楷体" panose="02010609060101010101" pitchFamily="49" charset="-122"/>
              </a:rPr>
              <a:t>C51</a:t>
            </a:r>
            <a:r>
              <a:rPr lang="zh-CN" altLang="en-US" sz="3600" b="1" dirty="0">
                <a:solidFill>
                  <a:srgbClr val="0000FF"/>
                </a:solidFill>
                <a:effectLst>
                  <a:outerShdw blurRad="38100" dist="38100" dir="2700000" algn="tl">
                    <a:srgbClr val="C0C0C0"/>
                  </a:outerShdw>
                </a:effectLst>
                <a:latin typeface="楷体" panose="02010609060101010101" pitchFamily="49" charset="-122"/>
                <a:ea typeface="楷体" panose="02010609060101010101" pitchFamily="49" charset="-122"/>
              </a:rPr>
              <a:t>的程序结构</a:t>
            </a:r>
          </a:p>
        </p:txBody>
      </p:sp>
      <p:sp>
        <p:nvSpPr>
          <p:cNvPr id="4" name="Rectangle 2"/>
          <p:cNvSpPr>
            <a:spLocks noChangeArrowheads="1"/>
          </p:cNvSpPr>
          <p:nvPr/>
        </p:nvSpPr>
        <p:spPr bwMode="auto">
          <a:xfrm>
            <a:off x="611560" y="1312944"/>
            <a:ext cx="8305800" cy="966996"/>
          </a:xfrm>
          <a:prstGeom prst="rect">
            <a:avLst/>
          </a:prstGeom>
          <a:noFill/>
          <a:ln>
            <a:noFill/>
          </a:ln>
          <a:effectLst/>
        </p:spPr>
        <p:txBody>
          <a:bodyPr>
            <a:spAutoFit/>
          </a:bodyPr>
          <a:lstStyle/>
          <a:p>
            <a:pPr eaLnBrk="1" hangingPunct="1">
              <a:lnSpc>
                <a:spcPct val="125000"/>
              </a:lnSpc>
              <a:spcBef>
                <a:spcPct val="50000"/>
              </a:spcBef>
              <a:defRPr/>
            </a:pPr>
            <a:r>
              <a:rPr lang="en-US" altLang="zh-CN" sz="2400" b="1" dirty="0">
                <a:effectLst>
                  <a:outerShdw blurRad="38100" dist="38100" dir="2700000" algn="tl">
                    <a:srgbClr val="000000">
                      <a:alpha val="43137"/>
                    </a:srgbClr>
                  </a:outerShdw>
                </a:effectLst>
                <a:latin typeface="Arial" panose="020B0604020202020204" pitchFamily="34" charset="0"/>
              </a:rPr>
              <a:t>      C51</a:t>
            </a:r>
            <a:r>
              <a:rPr lang="zh-CN" altLang="en-US" sz="2400" b="1" dirty="0">
                <a:effectLst>
                  <a:outerShdw blurRad="38100" dist="38100" dir="2700000" algn="tl">
                    <a:srgbClr val="000000">
                      <a:alpha val="43137"/>
                    </a:srgbClr>
                  </a:outerShdw>
                </a:effectLst>
                <a:latin typeface="Arial" panose="020B0604020202020204" pitchFamily="34" charset="0"/>
              </a:rPr>
              <a:t>是为</a:t>
            </a:r>
            <a:r>
              <a:rPr lang="en-US" altLang="zh-CN" sz="2400" b="1" dirty="0">
                <a:effectLst>
                  <a:outerShdw blurRad="38100" dist="38100" dir="2700000" algn="tl">
                    <a:srgbClr val="000000">
                      <a:alpha val="43137"/>
                    </a:srgbClr>
                  </a:outerShdw>
                </a:effectLst>
                <a:latin typeface="Arial" panose="020B0604020202020204" pitchFamily="34" charset="0"/>
              </a:rPr>
              <a:t>51</a:t>
            </a:r>
            <a:r>
              <a:rPr lang="zh-CN" altLang="en-US" sz="2400" b="1" dirty="0">
                <a:effectLst>
                  <a:outerShdw blurRad="38100" dist="38100" dir="2700000" algn="tl">
                    <a:srgbClr val="000000">
                      <a:alpha val="43137"/>
                    </a:srgbClr>
                  </a:outerShdw>
                </a:effectLst>
                <a:latin typeface="Arial" panose="020B0604020202020204" pitchFamily="34" charset="0"/>
              </a:rPr>
              <a:t>系列单片机设计的一种</a:t>
            </a:r>
            <a:r>
              <a:rPr lang="en-US" altLang="zh-CN" sz="2400" b="1" dirty="0">
                <a:effectLst>
                  <a:outerShdw blurRad="38100" dist="38100" dir="2700000" algn="tl">
                    <a:srgbClr val="000000">
                      <a:alpha val="43137"/>
                    </a:srgbClr>
                  </a:outerShdw>
                </a:effectLst>
                <a:latin typeface="Arial" panose="020B0604020202020204" pitchFamily="34" charset="0"/>
              </a:rPr>
              <a:t>C</a:t>
            </a:r>
            <a:r>
              <a:rPr lang="zh-CN" altLang="en-US" sz="2400" b="1" dirty="0">
                <a:effectLst>
                  <a:outerShdw blurRad="38100" dist="38100" dir="2700000" algn="tl">
                    <a:srgbClr val="000000">
                      <a:alpha val="43137"/>
                    </a:srgbClr>
                  </a:outerShdw>
                </a:effectLst>
                <a:latin typeface="Arial" panose="020B0604020202020204" pitchFamily="34" charset="0"/>
              </a:rPr>
              <a:t>语言，是标准</a:t>
            </a:r>
            <a:r>
              <a:rPr lang="en-US" altLang="zh-CN" sz="2400" b="1" dirty="0">
                <a:effectLst>
                  <a:outerShdw blurRad="38100" dist="38100" dir="2700000" algn="tl">
                    <a:srgbClr val="000000">
                      <a:alpha val="43137"/>
                    </a:srgbClr>
                  </a:outerShdw>
                </a:effectLst>
                <a:latin typeface="Arial" panose="020B0604020202020204" pitchFamily="34" charset="0"/>
              </a:rPr>
              <a:t>C</a:t>
            </a:r>
            <a:r>
              <a:rPr lang="zh-CN" altLang="en-US" sz="2400" b="1" dirty="0">
                <a:effectLst>
                  <a:outerShdw blurRad="38100" dist="38100" dir="2700000" algn="tl">
                    <a:srgbClr val="000000">
                      <a:alpha val="43137"/>
                    </a:srgbClr>
                  </a:outerShdw>
                </a:effectLst>
                <a:latin typeface="Arial" panose="020B0604020202020204" pitchFamily="34" charset="0"/>
              </a:rPr>
              <a:t>语言的子集。</a:t>
            </a:r>
          </a:p>
        </p:txBody>
      </p:sp>
      <p:sp>
        <p:nvSpPr>
          <p:cNvPr id="6" name="Rectangle 3"/>
          <p:cNvSpPr txBox="1">
            <a:spLocks noChangeArrowheads="1"/>
          </p:cNvSpPr>
          <p:nvPr/>
        </p:nvSpPr>
        <p:spPr>
          <a:xfrm>
            <a:off x="419100" y="2279940"/>
            <a:ext cx="8305800" cy="3816424"/>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marL="179705" eaLnBrk="1" hangingPunct="1">
              <a:spcBef>
                <a:spcPct val="30000"/>
              </a:spcBef>
              <a:buFont typeface="Wingdings" panose="05000000000000000000" pitchFamily="2" charset="2"/>
              <a:buNone/>
              <a:defRPr/>
            </a:pPr>
            <a:r>
              <a:rPr lang="en-US" altLang="zh-CN" sz="2500" b="1" kern="0" dirty="0">
                <a:effectLst>
                  <a:outerShdw blurRad="38100" dist="38100" dir="2700000" algn="tl">
                    <a:srgbClr val="000000">
                      <a:alpha val="43137"/>
                    </a:srgbClr>
                  </a:outerShdw>
                </a:effectLst>
                <a:latin typeface="Times New Roman" panose="02020603050405020304" pitchFamily="18" charset="0"/>
              </a:rPr>
              <a:t>         C51</a:t>
            </a:r>
            <a:r>
              <a:rPr lang="zh-CN" altLang="en-US" sz="2500" b="1" kern="0" dirty="0">
                <a:effectLst>
                  <a:outerShdw blurRad="38100" dist="38100" dir="2700000" algn="tl">
                    <a:srgbClr val="000000">
                      <a:alpha val="43137"/>
                    </a:srgbClr>
                  </a:outerShdw>
                </a:effectLst>
                <a:latin typeface="Times New Roman" panose="02020603050405020304" pitchFamily="18" charset="0"/>
              </a:rPr>
              <a:t>的语法规定、程序结构及程序设计方法都与标准的</a:t>
            </a:r>
            <a:r>
              <a:rPr lang="en-US" altLang="zh-CN" sz="2500" b="1" kern="0" dirty="0">
                <a:effectLst>
                  <a:outerShdw blurRad="38100" dist="38100" dir="2700000" algn="tl">
                    <a:srgbClr val="000000">
                      <a:alpha val="43137"/>
                    </a:srgbClr>
                  </a:outerShdw>
                </a:effectLst>
                <a:latin typeface="Times New Roman" panose="02020603050405020304" pitchFamily="18" charset="0"/>
              </a:rPr>
              <a:t>C</a:t>
            </a:r>
            <a:r>
              <a:rPr lang="zh-CN" altLang="en-US" sz="2500" b="1" kern="0" dirty="0">
                <a:effectLst>
                  <a:outerShdw blurRad="38100" dist="38100" dir="2700000" algn="tl">
                    <a:srgbClr val="000000">
                      <a:alpha val="43137"/>
                    </a:srgbClr>
                  </a:outerShdw>
                </a:effectLst>
                <a:latin typeface="Times New Roman" panose="02020603050405020304" pitchFamily="18" charset="0"/>
              </a:rPr>
              <a:t>语言程序设计相同，</a:t>
            </a:r>
            <a:r>
              <a:rPr lang="zh-CN" altLang="en-US" sz="2500" b="1" kern="0" dirty="0">
                <a:solidFill>
                  <a:srgbClr val="000099"/>
                </a:solidFill>
                <a:effectLst>
                  <a:outerShdw blurRad="38100" dist="38100" dir="2700000" algn="tl">
                    <a:srgbClr val="000000">
                      <a:alpha val="43137"/>
                    </a:srgbClr>
                  </a:outerShdw>
                </a:effectLst>
                <a:latin typeface="Times New Roman" panose="02020603050405020304" pitchFamily="18" charset="0"/>
              </a:rPr>
              <a:t>不同之处</a:t>
            </a:r>
            <a:r>
              <a:rPr lang="zh-CN" altLang="en-US" sz="2500" b="1" kern="0" dirty="0">
                <a:effectLst>
                  <a:outerShdw blurRad="38100" dist="38100" dir="2700000" algn="tl">
                    <a:srgbClr val="000000">
                      <a:alpha val="43137"/>
                    </a:srgbClr>
                  </a:outerShdw>
                </a:effectLst>
                <a:latin typeface="Times New Roman" panose="02020603050405020304" pitchFamily="18" charset="0"/>
              </a:rPr>
              <a:t>：</a:t>
            </a:r>
          </a:p>
          <a:p>
            <a:pPr marL="179705" eaLnBrk="1" hangingPunct="1">
              <a:spcBef>
                <a:spcPct val="30000"/>
              </a:spcBef>
              <a:buFont typeface="Wingdings" panose="05000000000000000000" pitchFamily="2" charset="2"/>
              <a:buNone/>
              <a:defRPr/>
            </a:pPr>
            <a:r>
              <a:rPr lang="zh-CN" altLang="en-US" sz="2500" b="1" kern="0" dirty="0">
                <a:effectLst>
                  <a:outerShdw blurRad="38100" dist="38100" dir="2700000" algn="tl">
                    <a:srgbClr val="000000">
                      <a:alpha val="43137"/>
                    </a:srgbClr>
                  </a:outerShdw>
                </a:effectLst>
                <a:latin typeface="Times New Roman" panose="02020603050405020304" pitchFamily="18" charset="0"/>
              </a:rPr>
              <a:t>（</a:t>
            </a:r>
            <a:r>
              <a:rPr lang="en-US" altLang="zh-CN" sz="2500" b="1" kern="0" dirty="0">
                <a:effectLst>
                  <a:outerShdw blurRad="38100" dist="38100" dir="2700000" algn="tl">
                    <a:srgbClr val="000000">
                      <a:alpha val="43137"/>
                    </a:srgbClr>
                  </a:outerShdw>
                </a:effectLst>
                <a:latin typeface="Times New Roman" panose="02020603050405020304" pitchFamily="18" charset="0"/>
              </a:rPr>
              <a:t>1</a:t>
            </a:r>
            <a:r>
              <a:rPr lang="zh-CN" altLang="en-US" sz="2500" b="1" kern="0" dirty="0">
                <a:effectLst>
                  <a:outerShdw blurRad="38100" dist="38100" dir="2700000" algn="tl">
                    <a:srgbClr val="000000">
                      <a:alpha val="43137"/>
                    </a:srgbClr>
                  </a:outerShdw>
                </a:effectLst>
                <a:latin typeface="Times New Roman" panose="02020603050405020304" pitchFamily="18" charset="0"/>
              </a:rPr>
              <a:t>）</a:t>
            </a:r>
            <a:r>
              <a:rPr lang="en-US" altLang="zh-CN" sz="2500" b="1" kern="0" dirty="0">
                <a:effectLst>
                  <a:outerShdw blurRad="38100" dist="38100" dir="2700000" algn="tl">
                    <a:srgbClr val="000000">
                      <a:alpha val="43137"/>
                    </a:srgbClr>
                  </a:outerShdw>
                </a:effectLst>
                <a:latin typeface="Times New Roman" panose="02020603050405020304" pitchFamily="18" charset="0"/>
              </a:rPr>
              <a:t>C51</a:t>
            </a:r>
            <a:r>
              <a:rPr lang="zh-CN" altLang="en-US" sz="2500" b="1" kern="0" dirty="0">
                <a:effectLst>
                  <a:outerShdw blurRad="38100" dist="38100" dir="2700000" algn="tl">
                    <a:srgbClr val="000000">
                      <a:alpha val="43137"/>
                    </a:srgbClr>
                  </a:outerShdw>
                </a:effectLst>
                <a:latin typeface="Times New Roman" panose="02020603050405020304" pitchFamily="18" charset="0"/>
              </a:rPr>
              <a:t>中定义的</a:t>
            </a:r>
            <a:r>
              <a:rPr lang="zh-CN" altLang="en-US" sz="2500" b="1" kern="0"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库函数</a:t>
            </a:r>
            <a:r>
              <a:rPr lang="zh-CN" altLang="en-US" sz="2500" b="1" kern="0" dirty="0">
                <a:effectLst>
                  <a:outerShdw blurRad="38100" dist="38100" dir="2700000" algn="tl">
                    <a:srgbClr val="000000">
                      <a:alpha val="43137"/>
                    </a:srgbClr>
                  </a:outerShdw>
                </a:effectLst>
                <a:latin typeface="Times New Roman" panose="02020603050405020304" pitchFamily="18" charset="0"/>
              </a:rPr>
              <a:t>和标准</a:t>
            </a:r>
            <a:r>
              <a:rPr lang="en-US" altLang="zh-CN" sz="2500" b="1" kern="0" dirty="0">
                <a:effectLst>
                  <a:outerShdw blurRad="38100" dist="38100" dir="2700000" algn="tl">
                    <a:srgbClr val="000000">
                      <a:alpha val="43137"/>
                    </a:srgbClr>
                  </a:outerShdw>
                </a:effectLst>
                <a:latin typeface="Times New Roman" panose="02020603050405020304" pitchFamily="18" charset="0"/>
              </a:rPr>
              <a:t>C</a:t>
            </a:r>
            <a:r>
              <a:rPr lang="zh-CN" altLang="en-US" sz="2500" b="1" kern="0" dirty="0">
                <a:effectLst>
                  <a:outerShdw blurRad="38100" dist="38100" dir="2700000" algn="tl">
                    <a:srgbClr val="000000">
                      <a:alpha val="43137"/>
                    </a:srgbClr>
                  </a:outerShdw>
                </a:effectLst>
                <a:latin typeface="Times New Roman" panose="02020603050405020304" pitchFamily="18" charset="0"/>
              </a:rPr>
              <a:t>语言定义的库函数不同。</a:t>
            </a:r>
          </a:p>
          <a:p>
            <a:pPr marL="179705" eaLnBrk="1" hangingPunct="1">
              <a:spcBef>
                <a:spcPct val="30000"/>
              </a:spcBef>
              <a:buFont typeface="Wingdings" panose="05000000000000000000" pitchFamily="2" charset="2"/>
              <a:buNone/>
              <a:defRPr/>
            </a:pPr>
            <a:r>
              <a:rPr lang="zh-CN" altLang="en-US" sz="2500" b="1" kern="0" dirty="0">
                <a:effectLst>
                  <a:outerShdw blurRad="38100" dist="38100" dir="2700000" algn="tl">
                    <a:srgbClr val="000000">
                      <a:alpha val="43137"/>
                    </a:srgbClr>
                  </a:outerShdw>
                </a:effectLst>
                <a:latin typeface="Times New Roman" panose="02020603050405020304" pitchFamily="18" charset="0"/>
              </a:rPr>
              <a:t>          标准</a:t>
            </a:r>
            <a:r>
              <a:rPr lang="en-US" altLang="zh-CN" sz="2500" b="1" kern="0" dirty="0">
                <a:effectLst>
                  <a:outerShdw blurRad="38100" dist="38100" dir="2700000" algn="tl">
                    <a:srgbClr val="000000">
                      <a:alpha val="43137"/>
                    </a:srgbClr>
                  </a:outerShdw>
                </a:effectLst>
                <a:latin typeface="Times New Roman" panose="02020603050405020304" pitchFamily="18" charset="0"/>
              </a:rPr>
              <a:t>C</a:t>
            </a:r>
            <a:r>
              <a:rPr lang="zh-CN" altLang="en-US" sz="2500" b="1" kern="0" dirty="0">
                <a:effectLst>
                  <a:outerShdw blurRad="38100" dist="38100" dir="2700000" algn="tl">
                    <a:srgbClr val="000000">
                      <a:alpha val="43137"/>
                    </a:srgbClr>
                  </a:outerShdw>
                </a:effectLst>
                <a:latin typeface="Times New Roman" panose="02020603050405020304" pitchFamily="18" charset="0"/>
              </a:rPr>
              <a:t>语言定义的库函数是按通用微型计算机来定义的，而</a:t>
            </a:r>
            <a:r>
              <a:rPr lang="en-US" altLang="zh-CN" sz="2500" b="1" kern="0" dirty="0">
                <a:effectLst>
                  <a:outerShdw blurRad="38100" dist="38100" dir="2700000" algn="tl">
                    <a:srgbClr val="000000">
                      <a:alpha val="43137"/>
                    </a:srgbClr>
                  </a:outerShdw>
                </a:effectLst>
                <a:latin typeface="Times New Roman" panose="02020603050405020304" pitchFamily="18" charset="0"/>
              </a:rPr>
              <a:t>C51</a:t>
            </a:r>
            <a:r>
              <a:rPr lang="zh-CN" altLang="en-US" sz="2500" b="1" kern="0" dirty="0">
                <a:effectLst>
                  <a:outerShdw blurRad="38100" dist="38100" dir="2700000" algn="tl">
                    <a:srgbClr val="000000">
                      <a:alpha val="43137"/>
                    </a:srgbClr>
                  </a:outerShdw>
                </a:effectLst>
                <a:latin typeface="Times New Roman" panose="02020603050405020304" pitchFamily="18" charset="0"/>
              </a:rPr>
              <a:t>中的库函数是按</a:t>
            </a:r>
            <a:r>
              <a:rPr lang="en-US" altLang="zh-CN" sz="2500" b="1" kern="0" dirty="0">
                <a:effectLst>
                  <a:outerShdw blurRad="38100" dist="38100" dir="2700000" algn="tl">
                    <a:srgbClr val="000000">
                      <a:alpha val="43137"/>
                    </a:srgbClr>
                  </a:outerShdw>
                </a:effectLst>
                <a:latin typeface="Times New Roman" panose="02020603050405020304" pitchFamily="18" charset="0"/>
              </a:rPr>
              <a:t>MCS-51</a:t>
            </a:r>
            <a:r>
              <a:rPr lang="zh-CN" altLang="en-US" sz="2500" b="1" kern="0" dirty="0">
                <a:effectLst>
                  <a:outerShdw blurRad="38100" dist="38100" dir="2700000" algn="tl">
                    <a:srgbClr val="000000">
                      <a:alpha val="43137"/>
                    </a:srgbClr>
                  </a:outerShdw>
                </a:effectLst>
                <a:latin typeface="Times New Roman" panose="02020603050405020304" pitchFamily="18" charset="0"/>
              </a:rPr>
              <a:t>单片机相应情况来定义的；</a:t>
            </a:r>
          </a:p>
          <a:p>
            <a:pPr marL="179705" eaLnBrk="1" hangingPunct="1">
              <a:spcBef>
                <a:spcPct val="30000"/>
              </a:spcBef>
              <a:buFont typeface="Wingdings" panose="05000000000000000000" pitchFamily="2" charset="2"/>
              <a:buNone/>
              <a:defRPr/>
            </a:pPr>
            <a:r>
              <a:rPr lang="zh-CN" altLang="en-US" sz="2500" b="1" kern="0" dirty="0">
                <a:effectLst>
                  <a:outerShdw blurRad="38100" dist="38100" dir="2700000" algn="tl">
                    <a:srgbClr val="000000">
                      <a:alpha val="43137"/>
                    </a:srgbClr>
                  </a:outerShdw>
                </a:effectLst>
                <a:latin typeface="Times New Roman" panose="02020603050405020304" pitchFamily="18" charset="0"/>
              </a:rPr>
              <a:t>（</a:t>
            </a:r>
            <a:r>
              <a:rPr lang="en-US" altLang="zh-CN" sz="2500" b="1" kern="0" dirty="0">
                <a:effectLst>
                  <a:outerShdw blurRad="38100" dist="38100" dir="2700000" algn="tl">
                    <a:srgbClr val="000000">
                      <a:alpha val="43137"/>
                    </a:srgbClr>
                  </a:outerShdw>
                </a:effectLst>
                <a:latin typeface="Times New Roman" panose="02020603050405020304" pitchFamily="18" charset="0"/>
              </a:rPr>
              <a:t>2</a:t>
            </a:r>
            <a:r>
              <a:rPr lang="zh-CN" altLang="en-US" sz="2500" b="1" kern="0" dirty="0">
                <a:effectLst>
                  <a:outerShdw blurRad="38100" dist="38100" dir="2700000" algn="tl">
                    <a:srgbClr val="000000">
                      <a:alpha val="43137"/>
                    </a:srgbClr>
                  </a:outerShdw>
                </a:effectLst>
                <a:latin typeface="Times New Roman" panose="02020603050405020304" pitchFamily="18" charset="0"/>
              </a:rPr>
              <a:t>）</a:t>
            </a:r>
            <a:r>
              <a:rPr lang="en-US" altLang="zh-CN" sz="2500" b="1" kern="0" dirty="0">
                <a:effectLst>
                  <a:outerShdw blurRad="38100" dist="38100" dir="2700000" algn="tl">
                    <a:srgbClr val="000000">
                      <a:alpha val="43137"/>
                    </a:srgbClr>
                  </a:outerShdw>
                </a:effectLst>
                <a:latin typeface="Times New Roman" panose="02020603050405020304" pitchFamily="18" charset="0"/>
              </a:rPr>
              <a:t>C51</a:t>
            </a:r>
            <a:r>
              <a:rPr lang="zh-CN" altLang="en-US" sz="2500" b="1" kern="0" dirty="0">
                <a:effectLst>
                  <a:outerShdw blurRad="38100" dist="38100" dir="2700000" algn="tl">
                    <a:srgbClr val="000000">
                      <a:alpha val="43137"/>
                    </a:srgbClr>
                  </a:outerShdw>
                </a:effectLst>
                <a:latin typeface="Times New Roman" panose="02020603050405020304" pitchFamily="18" charset="0"/>
              </a:rPr>
              <a:t>中的</a:t>
            </a:r>
            <a:r>
              <a:rPr lang="zh-CN" altLang="en-US" sz="2500" b="1" kern="0"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数据类型</a:t>
            </a:r>
            <a:r>
              <a:rPr lang="zh-CN" altLang="en-US" sz="2500" b="1" kern="0" dirty="0">
                <a:effectLst>
                  <a:outerShdw blurRad="38100" dist="38100" dir="2700000" algn="tl">
                    <a:srgbClr val="000000">
                      <a:alpha val="43137"/>
                    </a:srgbClr>
                  </a:outerShdw>
                </a:effectLst>
                <a:latin typeface="Times New Roman" panose="02020603050405020304" pitchFamily="18" charset="0"/>
              </a:rPr>
              <a:t>与标准</a:t>
            </a:r>
            <a:r>
              <a:rPr lang="en-US" altLang="zh-CN" sz="2500" b="1" kern="0" dirty="0">
                <a:effectLst>
                  <a:outerShdw blurRad="38100" dist="38100" dir="2700000" algn="tl">
                    <a:srgbClr val="000000">
                      <a:alpha val="43137"/>
                    </a:srgbClr>
                  </a:outerShdw>
                </a:effectLst>
                <a:latin typeface="Times New Roman" panose="02020603050405020304" pitchFamily="18" charset="0"/>
              </a:rPr>
              <a:t>C</a:t>
            </a:r>
            <a:r>
              <a:rPr lang="zh-CN" altLang="en-US" sz="2500" b="1" kern="0" dirty="0">
                <a:effectLst>
                  <a:outerShdw blurRad="38100" dist="38100" dir="2700000" algn="tl">
                    <a:srgbClr val="000000">
                      <a:alpha val="43137"/>
                    </a:srgbClr>
                  </a:outerShdw>
                </a:effectLst>
                <a:latin typeface="Times New Roman" panose="02020603050405020304" pitchFamily="18" charset="0"/>
              </a:rPr>
              <a:t>的数据类型也有一定的区别，在</a:t>
            </a:r>
            <a:r>
              <a:rPr lang="en-US" altLang="zh-CN" sz="2500" b="1" kern="0" dirty="0">
                <a:effectLst>
                  <a:outerShdw blurRad="38100" dist="38100" dir="2700000" algn="tl">
                    <a:srgbClr val="000000">
                      <a:alpha val="43137"/>
                    </a:srgbClr>
                  </a:outerShdw>
                </a:effectLst>
                <a:latin typeface="Times New Roman" panose="02020603050405020304" pitchFamily="18" charset="0"/>
              </a:rPr>
              <a:t>C51</a:t>
            </a:r>
            <a:r>
              <a:rPr lang="zh-CN" altLang="en-US" sz="2500" b="1" kern="0" dirty="0">
                <a:effectLst>
                  <a:outerShdw blurRad="38100" dist="38100" dir="2700000" algn="tl">
                    <a:srgbClr val="000000">
                      <a:alpha val="43137"/>
                    </a:srgbClr>
                  </a:outerShdw>
                </a:effectLst>
                <a:latin typeface="Times New Roman" panose="02020603050405020304" pitchFamily="18" charset="0"/>
              </a:rPr>
              <a:t>中还增加了几种针对</a:t>
            </a:r>
            <a:r>
              <a:rPr lang="en-US" altLang="zh-CN" sz="2500" b="1" kern="0" dirty="0">
                <a:effectLst>
                  <a:outerShdw blurRad="38100" dist="38100" dir="2700000" algn="tl">
                    <a:srgbClr val="000000">
                      <a:alpha val="43137"/>
                    </a:srgbClr>
                  </a:outerShdw>
                </a:effectLst>
                <a:latin typeface="Times New Roman" panose="02020603050405020304" pitchFamily="18" charset="0"/>
              </a:rPr>
              <a:t>MCS-51</a:t>
            </a:r>
            <a:r>
              <a:rPr lang="zh-CN" altLang="en-US" sz="2500" b="1" kern="0" dirty="0">
                <a:effectLst>
                  <a:outerShdw blurRad="38100" dist="38100" dir="2700000" algn="tl">
                    <a:srgbClr val="000000">
                      <a:alpha val="43137"/>
                    </a:srgbClr>
                  </a:outerShdw>
                </a:effectLst>
                <a:latin typeface="Times New Roman" panose="02020603050405020304" pitchFamily="18" charset="0"/>
              </a:rPr>
              <a:t>单片机特有的数据类型；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randombar(horizontal)">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randombar(horizontal)">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randombar(horizontal)">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randombar(horizontal)">
                                      <p:cBhvr>
                                        <p:cTn id="2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2">
            <a:hlinkClick r:id="rId2" action="ppaction://hlinksldjump" highlightClick="1"/>
          </p:cNvPr>
          <p:cNvSpPr>
            <a:spLocks noChangeArrowheads="1"/>
          </p:cNvSpPr>
          <p:nvPr/>
        </p:nvSpPr>
        <p:spPr bwMode="auto">
          <a:xfrm>
            <a:off x="8610600" y="6324600"/>
            <a:ext cx="533400" cy="381000"/>
          </a:xfrm>
          <a:prstGeom prst="actionButtonBackPrevious">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17411" name="Rectangle 3"/>
          <p:cNvSpPr>
            <a:spLocks noGrp="1" noChangeArrowheads="1"/>
          </p:cNvSpPr>
          <p:nvPr>
            <p:ph type="body" idx="1"/>
          </p:nvPr>
        </p:nvSpPr>
        <p:spPr>
          <a:xfrm>
            <a:off x="685800" y="908720"/>
            <a:ext cx="7772400" cy="4897437"/>
          </a:xfrm>
        </p:spPr>
        <p:txBody>
          <a:bodyPr/>
          <a:lstStyle/>
          <a:p>
            <a:pPr eaLnBrk="1" hangingPunct="1">
              <a:lnSpc>
                <a:spcPct val="110000"/>
              </a:lnSpc>
              <a:buFont typeface="Wingdings" panose="05000000000000000000" pitchFamily="2" charset="2"/>
              <a:buNone/>
              <a:defRPr/>
            </a:pPr>
            <a:r>
              <a:rPr lang="zh-CN" altLang="en-US" sz="2800" b="1" dirty="0">
                <a:effectLst>
                  <a:outerShdw blurRad="38100" dist="38100" dir="2700000" algn="tl">
                    <a:srgbClr val="000000">
                      <a:alpha val="43137"/>
                    </a:srgbClr>
                  </a:outerShdw>
                </a:effectLst>
                <a:latin typeface="Times New Roman" panose="02020603050405020304" pitchFamily="18" charset="0"/>
              </a:rPr>
              <a:t>（</a:t>
            </a:r>
            <a:r>
              <a:rPr lang="en-US" altLang="zh-CN" sz="2800" b="1" dirty="0">
                <a:effectLst>
                  <a:outerShdw blurRad="38100" dist="38100" dir="2700000" algn="tl">
                    <a:srgbClr val="000000">
                      <a:alpha val="43137"/>
                    </a:srgbClr>
                  </a:outerShdw>
                </a:effectLst>
                <a:latin typeface="Times New Roman" panose="02020603050405020304" pitchFamily="18" charset="0"/>
              </a:rPr>
              <a:t>3</a:t>
            </a:r>
            <a:r>
              <a:rPr lang="zh-CN" altLang="en-US" sz="2800" b="1" dirty="0">
                <a:effectLst>
                  <a:outerShdw blurRad="38100" dist="38100" dir="2700000" algn="tl">
                    <a:srgbClr val="000000">
                      <a:alpha val="43137"/>
                    </a:srgbClr>
                  </a:outerShdw>
                </a:effectLst>
                <a:latin typeface="Times New Roman" panose="02020603050405020304" pitchFamily="18" charset="0"/>
              </a:rPr>
              <a:t>）</a:t>
            </a:r>
            <a:r>
              <a:rPr lang="en-US" altLang="zh-CN" sz="2800" b="1" dirty="0">
                <a:effectLst>
                  <a:outerShdw blurRad="38100" dist="38100" dir="2700000" algn="tl">
                    <a:srgbClr val="000000">
                      <a:alpha val="43137"/>
                    </a:srgbClr>
                  </a:outerShdw>
                </a:effectLst>
                <a:latin typeface="Times New Roman" panose="02020603050405020304" pitchFamily="18" charset="0"/>
              </a:rPr>
              <a:t>C51</a:t>
            </a:r>
            <a:r>
              <a:rPr lang="zh-CN" altLang="en-US" sz="2600" b="1"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变量的存储模式</a:t>
            </a:r>
            <a:r>
              <a:rPr lang="zh-CN" altLang="en-US" sz="2800" b="1" dirty="0">
                <a:effectLst>
                  <a:outerShdw blurRad="38100" dist="38100" dir="2700000" algn="tl">
                    <a:srgbClr val="000000">
                      <a:alpha val="43137"/>
                    </a:srgbClr>
                  </a:outerShdw>
                </a:effectLst>
                <a:latin typeface="Times New Roman" panose="02020603050405020304" pitchFamily="18" charset="0"/>
              </a:rPr>
              <a:t>与标准</a:t>
            </a:r>
            <a:r>
              <a:rPr lang="en-US" altLang="zh-CN" sz="2800" b="1" dirty="0">
                <a:effectLst>
                  <a:outerShdw blurRad="38100" dist="38100" dir="2700000" algn="tl">
                    <a:srgbClr val="000000">
                      <a:alpha val="43137"/>
                    </a:srgbClr>
                  </a:outerShdw>
                </a:effectLst>
                <a:latin typeface="Times New Roman" panose="02020603050405020304" pitchFamily="18" charset="0"/>
              </a:rPr>
              <a:t>C</a:t>
            </a:r>
            <a:r>
              <a:rPr lang="zh-CN" altLang="en-US" sz="2800" b="1" dirty="0">
                <a:effectLst>
                  <a:outerShdw blurRad="38100" dist="38100" dir="2700000" algn="tl">
                    <a:srgbClr val="000000">
                      <a:alpha val="43137"/>
                    </a:srgbClr>
                  </a:outerShdw>
                </a:effectLst>
                <a:latin typeface="Times New Roman" panose="02020603050405020304" pitchFamily="18" charset="0"/>
              </a:rPr>
              <a:t>中变量的存储模式不一样，</a:t>
            </a:r>
            <a:r>
              <a:rPr lang="en-US" altLang="zh-CN" sz="2800" b="1" dirty="0">
                <a:effectLst>
                  <a:outerShdw blurRad="38100" dist="38100" dir="2700000" algn="tl">
                    <a:srgbClr val="000000">
                      <a:alpha val="43137"/>
                    </a:srgbClr>
                  </a:outerShdw>
                </a:effectLst>
                <a:latin typeface="Times New Roman" panose="02020603050405020304" pitchFamily="18" charset="0"/>
              </a:rPr>
              <a:t>C51</a:t>
            </a:r>
            <a:r>
              <a:rPr lang="zh-CN" altLang="en-US" sz="2800" b="1" dirty="0">
                <a:effectLst>
                  <a:outerShdw blurRad="38100" dist="38100" dir="2700000" algn="tl">
                    <a:srgbClr val="000000">
                      <a:alpha val="43137"/>
                    </a:srgbClr>
                  </a:outerShdw>
                </a:effectLst>
                <a:latin typeface="Times New Roman" panose="02020603050405020304" pitchFamily="18" charset="0"/>
              </a:rPr>
              <a:t>中变量的存储模式是与</a:t>
            </a:r>
            <a:r>
              <a:rPr lang="en-US" altLang="zh-CN" sz="2800" b="1" dirty="0">
                <a:effectLst>
                  <a:outerShdw blurRad="38100" dist="38100" dir="2700000" algn="tl">
                    <a:srgbClr val="000000">
                      <a:alpha val="43137"/>
                    </a:srgbClr>
                  </a:outerShdw>
                </a:effectLst>
                <a:latin typeface="Times New Roman" panose="02020603050405020304" pitchFamily="18" charset="0"/>
              </a:rPr>
              <a:t>MCS-51</a:t>
            </a:r>
            <a:r>
              <a:rPr lang="zh-CN" altLang="en-US" sz="2800" b="1" dirty="0">
                <a:effectLst>
                  <a:outerShdw blurRad="38100" dist="38100" dir="2700000" algn="tl">
                    <a:srgbClr val="000000">
                      <a:alpha val="43137"/>
                    </a:srgbClr>
                  </a:outerShdw>
                </a:effectLst>
                <a:latin typeface="Times New Roman" panose="02020603050405020304" pitchFamily="18" charset="0"/>
              </a:rPr>
              <a:t>单片机的存储器紧密相关；</a:t>
            </a:r>
          </a:p>
          <a:p>
            <a:pPr eaLnBrk="1" hangingPunct="1">
              <a:lnSpc>
                <a:spcPct val="110000"/>
              </a:lnSpc>
              <a:buFont typeface="Wingdings" panose="05000000000000000000" pitchFamily="2" charset="2"/>
              <a:buNone/>
              <a:defRPr/>
            </a:pPr>
            <a:r>
              <a:rPr lang="zh-CN" altLang="en-US" sz="2800" b="1" dirty="0">
                <a:effectLst>
                  <a:outerShdw blurRad="38100" dist="38100" dir="2700000" algn="tl">
                    <a:srgbClr val="000000">
                      <a:alpha val="43137"/>
                    </a:srgbClr>
                  </a:outerShdw>
                </a:effectLst>
                <a:latin typeface="Times New Roman" panose="02020603050405020304" pitchFamily="18" charset="0"/>
              </a:rPr>
              <a:t>（</a:t>
            </a:r>
            <a:r>
              <a:rPr lang="en-US" altLang="zh-CN" sz="2800" b="1" dirty="0">
                <a:effectLst>
                  <a:outerShdw blurRad="38100" dist="38100" dir="2700000" algn="tl">
                    <a:srgbClr val="000000">
                      <a:alpha val="43137"/>
                    </a:srgbClr>
                  </a:outerShdw>
                </a:effectLst>
                <a:latin typeface="Times New Roman" panose="02020603050405020304" pitchFamily="18" charset="0"/>
              </a:rPr>
              <a:t>4</a:t>
            </a:r>
            <a:r>
              <a:rPr lang="zh-CN" altLang="en-US" sz="2800" b="1" dirty="0">
                <a:effectLst>
                  <a:outerShdw blurRad="38100" dist="38100" dir="2700000" algn="tl">
                    <a:srgbClr val="000000">
                      <a:alpha val="43137"/>
                    </a:srgbClr>
                  </a:outerShdw>
                </a:effectLst>
                <a:latin typeface="Times New Roman" panose="02020603050405020304" pitchFamily="18" charset="0"/>
              </a:rPr>
              <a:t>）</a:t>
            </a:r>
            <a:r>
              <a:rPr lang="en-US" altLang="zh-CN" sz="2800" b="1" dirty="0">
                <a:effectLst>
                  <a:outerShdw blurRad="38100" dist="38100" dir="2700000" algn="tl">
                    <a:srgbClr val="000000">
                      <a:alpha val="43137"/>
                    </a:srgbClr>
                  </a:outerShdw>
                </a:effectLst>
                <a:latin typeface="Times New Roman" panose="02020603050405020304" pitchFamily="18" charset="0"/>
              </a:rPr>
              <a:t>C51</a:t>
            </a:r>
            <a:r>
              <a:rPr lang="zh-CN" altLang="en-US" sz="2800" b="1" dirty="0">
                <a:effectLst>
                  <a:outerShdw blurRad="38100" dist="38100" dir="2700000" algn="tl">
                    <a:srgbClr val="000000">
                      <a:alpha val="43137"/>
                    </a:srgbClr>
                  </a:outerShdw>
                </a:effectLst>
                <a:latin typeface="Times New Roman" panose="02020603050405020304" pitchFamily="18" charset="0"/>
              </a:rPr>
              <a:t>与标准</a:t>
            </a:r>
            <a:r>
              <a:rPr lang="en-US" altLang="zh-CN" sz="2800" b="1" dirty="0">
                <a:effectLst>
                  <a:outerShdw blurRad="38100" dist="38100" dir="2700000" algn="tl">
                    <a:srgbClr val="000000">
                      <a:alpha val="43137"/>
                    </a:srgbClr>
                  </a:outerShdw>
                </a:effectLst>
                <a:latin typeface="Times New Roman" panose="02020603050405020304" pitchFamily="18" charset="0"/>
              </a:rPr>
              <a:t>C</a:t>
            </a:r>
            <a:r>
              <a:rPr lang="zh-CN" altLang="en-US" sz="2800" b="1" dirty="0">
                <a:effectLst>
                  <a:outerShdw blurRad="38100" dist="38100" dir="2700000" algn="tl">
                    <a:srgbClr val="000000">
                      <a:alpha val="43137"/>
                    </a:srgbClr>
                  </a:outerShdw>
                </a:effectLst>
                <a:latin typeface="Times New Roman" panose="02020603050405020304" pitchFamily="18" charset="0"/>
              </a:rPr>
              <a:t>的</a:t>
            </a:r>
            <a:r>
              <a:rPr lang="zh-CN" altLang="en-US" sz="2600" b="1"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输入输出</a:t>
            </a:r>
            <a:r>
              <a:rPr lang="zh-CN" altLang="en-US" sz="2800" b="1" dirty="0">
                <a:effectLst>
                  <a:outerShdw blurRad="38100" dist="38100" dir="2700000" algn="tl">
                    <a:srgbClr val="000000">
                      <a:alpha val="43137"/>
                    </a:srgbClr>
                  </a:outerShdw>
                </a:effectLst>
                <a:latin typeface="Times New Roman" panose="02020603050405020304" pitchFamily="18" charset="0"/>
              </a:rPr>
              <a:t>处理不一样，</a:t>
            </a:r>
            <a:r>
              <a:rPr lang="en-US" altLang="zh-CN" sz="2800" b="1" dirty="0">
                <a:effectLst>
                  <a:outerShdw blurRad="38100" dist="38100" dir="2700000" algn="tl">
                    <a:srgbClr val="000000">
                      <a:alpha val="43137"/>
                    </a:srgbClr>
                  </a:outerShdw>
                </a:effectLst>
                <a:latin typeface="Times New Roman" panose="02020603050405020304" pitchFamily="18" charset="0"/>
              </a:rPr>
              <a:t>C51</a:t>
            </a:r>
            <a:r>
              <a:rPr lang="zh-CN" altLang="en-US" sz="2800" b="1" dirty="0">
                <a:effectLst>
                  <a:outerShdw blurRad="38100" dist="38100" dir="2700000" algn="tl">
                    <a:srgbClr val="000000">
                      <a:alpha val="43137"/>
                    </a:srgbClr>
                  </a:outerShdw>
                </a:effectLst>
                <a:latin typeface="Times New Roman" panose="02020603050405020304" pitchFamily="18" charset="0"/>
              </a:rPr>
              <a:t>中的输入输出是通过</a:t>
            </a:r>
            <a:r>
              <a:rPr lang="en-US" altLang="zh-CN" sz="2800" b="1" dirty="0">
                <a:effectLst>
                  <a:outerShdw blurRad="38100" dist="38100" dir="2700000" algn="tl">
                    <a:srgbClr val="000000">
                      <a:alpha val="43137"/>
                    </a:srgbClr>
                  </a:outerShdw>
                </a:effectLst>
                <a:latin typeface="Times New Roman" panose="02020603050405020304" pitchFamily="18" charset="0"/>
              </a:rPr>
              <a:t>MCS-51</a:t>
            </a:r>
            <a:r>
              <a:rPr lang="zh-CN" altLang="en-US" sz="2800" b="1" dirty="0">
                <a:effectLst>
                  <a:outerShdw blurRad="38100" dist="38100" dir="2700000" algn="tl">
                    <a:srgbClr val="000000">
                      <a:alpha val="43137"/>
                    </a:srgbClr>
                  </a:outerShdw>
                </a:effectLst>
                <a:latin typeface="Times New Roman" panose="02020603050405020304" pitchFamily="18" charset="0"/>
              </a:rPr>
              <a:t>串行口来完成的，输入输出指令执行前必须要对串行口进行初始化；</a:t>
            </a:r>
          </a:p>
          <a:p>
            <a:pPr eaLnBrk="1" hangingPunct="1">
              <a:lnSpc>
                <a:spcPct val="110000"/>
              </a:lnSpc>
              <a:buFont typeface="Wingdings" panose="05000000000000000000" pitchFamily="2" charset="2"/>
              <a:buNone/>
              <a:defRPr/>
            </a:pPr>
            <a:r>
              <a:rPr lang="zh-CN" altLang="en-US" sz="2800" b="1" dirty="0">
                <a:effectLst>
                  <a:outerShdw blurRad="38100" dist="38100" dir="2700000" algn="tl">
                    <a:srgbClr val="000000">
                      <a:alpha val="43137"/>
                    </a:srgbClr>
                  </a:outerShdw>
                </a:effectLst>
                <a:latin typeface="Times New Roman" panose="02020603050405020304" pitchFamily="18" charset="0"/>
              </a:rPr>
              <a:t>（</a:t>
            </a:r>
            <a:r>
              <a:rPr lang="en-US" altLang="zh-CN" sz="2800" b="1" dirty="0">
                <a:effectLst>
                  <a:outerShdw blurRad="38100" dist="38100" dir="2700000" algn="tl">
                    <a:srgbClr val="000000">
                      <a:alpha val="43137"/>
                    </a:srgbClr>
                  </a:outerShdw>
                </a:effectLst>
                <a:latin typeface="Times New Roman" panose="02020603050405020304" pitchFamily="18" charset="0"/>
              </a:rPr>
              <a:t>5</a:t>
            </a:r>
            <a:r>
              <a:rPr lang="zh-CN" altLang="en-US" sz="2800" b="1" dirty="0">
                <a:effectLst>
                  <a:outerShdw blurRad="38100" dist="38100" dir="2700000" algn="tl">
                    <a:srgbClr val="000000">
                      <a:alpha val="43137"/>
                    </a:srgbClr>
                  </a:outerShdw>
                </a:effectLst>
                <a:latin typeface="Times New Roman" panose="02020603050405020304" pitchFamily="18" charset="0"/>
              </a:rPr>
              <a:t>）</a:t>
            </a:r>
            <a:r>
              <a:rPr lang="en-US" altLang="zh-CN" sz="2800" b="1" dirty="0">
                <a:effectLst>
                  <a:outerShdw blurRad="38100" dist="38100" dir="2700000" algn="tl">
                    <a:srgbClr val="000000">
                      <a:alpha val="43137"/>
                    </a:srgbClr>
                  </a:outerShdw>
                </a:effectLst>
                <a:latin typeface="Times New Roman" panose="02020603050405020304" pitchFamily="18" charset="0"/>
              </a:rPr>
              <a:t>C51</a:t>
            </a:r>
            <a:r>
              <a:rPr lang="zh-CN" altLang="en-US" sz="2800" b="1" dirty="0">
                <a:effectLst>
                  <a:outerShdw blurRad="38100" dist="38100" dir="2700000" algn="tl">
                    <a:srgbClr val="000000">
                      <a:alpha val="43137"/>
                    </a:srgbClr>
                  </a:outerShdw>
                </a:effectLst>
                <a:latin typeface="Times New Roman" panose="02020603050405020304" pitchFamily="18" charset="0"/>
              </a:rPr>
              <a:t>与标准</a:t>
            </a:r>
            <a:r>
              <a:rPr lang="en-US" altLang="zh-CN" sz="2800" b="1" dirty="0">
                <a:effectLst>
                  <a:outerShdw blurRad="38100" dist="38100" dir="2700000" algn="tl">
                    <a:srgbClr val="000000">
                      <a:alpha val="43137"/>
                    </a:srgbClr>
                  </a:outerShdw>
                </a:effectLst>
                <a:latin typeface="Times New Roman" panose="02020603050405020304" pitchFamily="18" charset="0"/>
              </a:rPr>
              <a:t>C</a:t>
            </a:r>
            <a:r>
              <a:rPr lang="zh-CN" altLang="en-US" sz="2800" b="1" dirty="0">
                <a:effectLst>
                  <a:outerShdw blurRad="38100" dist="38100" dir="2700000" algn="tl">
                    <a:srgbClr val="000000">
                      <a:alpha val="43137"/>
                    </a:srgbClr>
                  </a:outerShdw>
                </a:effectLst>
                <a:latin typeface="Times New Roman" panose="02020603050405020304" pitchFamily="18" charset="0"/>
              </a:rPr>
              <a:t>在</a:t>
            </a:r>
            <a:r>
              <a:rPr lang="zh-CN" altLang="en-US" sz="2600" b="1"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函数使用</a:t>
            </a:r>
            <a:r>
              <a:rPr lang="zh-CN" altLang="en-US" sz="2800" b="1" dirty="0">
                <a:effectLst>
                  <a:outerShdw blurRad="38100" dist="38100" dir="2700000" algn="tl">
                    <a:srgbClr val="000000">
                      <a:alpha val="43137"/>
                    </a:srgbClr>
                  </a:outerShdw>
                </a:effectLst>
                <a:latin typeface="Times New Roman" panose="02020603050405020304" pitchFamily="18" charset="0"/>
              </a:rPr>
              <a:t>方面也有一定的区别，</a:t>
            </a:r>
            <a:r>
              <a:rPr lang="en-US" altLang="zh-CN" sz="2800" b="1" dirty="0">
                <a:solidFill>
                  <a:srgbClr val="000099"/>
                </a:solidFill>
                <a:effectLst>
                  <a:outerShdw blurRad="38100" dist="38100" dir="2700000" algn="tl">
                    <a:srgbClr val="000000">
                      <a:alpha val="43137"/>
                    </a:srgbClr>
                  </a:outerShdw>
                </a:effectLst>
                <a:latin typeface="Times New Roman" panose="02020603050405020304" pitchFamily="18" charset="0"/>
              </a:rPr>
              <a:t>C51</a:t>
            </a:r>
            <a:r>
              <a:rPr lang="zh-CN" altLang="en-US" sz="2800" b="1" dirty="0">
                <a:solidFill>
                  <a:srgbClr val="000099"/>
                </a:solidFill>
                <a:effectLst>
                  <a:outerShdw blurRad="38100" dist="38100" dir="2700000" algn="tl">
                    <a:srgbClr val="000000">
                      <a:alpha val="43137"/>
                    </a:srgbClr>
                  </a:outerShdw>
                </a:effectLst>
                <a:latin typeface="Times New Roman" panose="02020603050405020304" pitchFamily="18" charset="0"/>
              </a:rPr>
              <a:t>中有专门的中断函数</a:t>
            </a:r>
            <a:r>
              <a:rPr lang="zh-CN" altLang="en-US" sz="2800" b="1" dirty="0">
                <a:effectLst>
                  <a:outerShdw blurRad="38100" dist="38100" dir="2700000" algn="tl">
                    <a:srgbClr val="000000">
                      <a:alpha val="43137"/>
                    </a:srgbClr>
                  </a:outerShdw>
                </a:effectLst>
                <a:latin typeface="Times New Roman" panose="02020603050405020304" pitchFamily="18" charset="0"/>
              </a:rPr>
              <a:t>。</a:t>
            </a:r>
            <a:endParaRPr lang="zh-CN" altLang="en-US" sz="2800" dirty="0">
              <a:effectLst>
                <a:outerShdw blurRad="38100" dist="38100" dir="2700000" algn="tl">
                  <a:srgbClr val="000000">
                    <a:alpha val="43137"/>
                  </a:srgbClr>
                </a:outerShdw>
              </a:effectLst>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randombar(horizontal)">
                                      <p:cBhvr>
                                        <p:cTn id="7" dur="500"/>
                                        <p:tgtEl>
                                          <p:spTgt spid="17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7411">
                                            <p:txEl>
                                              <p:pRg st="1" end="1"/>
                                            </p:txEl>
                                          </p:spTgt>
                                        </p:tgtEl>
                                        <p:attrNameLst>
                                          <p:attrName>style.visibility</p:attrName>
                                        </p:attrNameLst>
                                      </p:cBhvr>
                                      <p:to>
                                        <p:strVal val="visible"/>
                                      </p:to>
                                    </p:set>
                                    <p:animEffect transition="in" filter="randombar(horizontal)">
                                      <p:cBhvr>
                                        <p:cTn id="12" dur="500"/>
                                        <p:tgtEl>
                                          <p:spTgt spid="174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7411">
                                            <p:txEl>
                                              <p:pRg st="2" end="2"/>
                                            </p:txEl>
                                          </p:spTgt>
                                        </p:tgtEl>
                                        <p:attrNameLst>
                                          <p:attrName>style.visibility</p:attrName>
                                        </p:attrNameLst>
                                      </p:cBhvr>
                                      <p:to>
                                        <p:strVal val="visible"/>
                                      </p:to>
                                    </p:set>
                                    <p:animEffect transition="in" filter="randombar(horizontal)">
                                      <p:cBhvr>
                                        <p:cTn id="17" dur="500"/>
                                        <p:tgtEl>
                                          <p:spTgt spid="174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928688" y="549275"/>
            <a:ext cx="7793037" cy="695325"/>
          </a:xfrm>
        </p:spPr>
        <p:txBody>
          <a:bodyPr/>
          <a:lstStyle/>
          <a:p>
            <a:pPr eaLnBrk="1" hangingPunct="1">
              <a:defRPr/>
            </a:pPr>
            <a:r>
              <a:rPr lang="en-US" altLang="zh-CN" sz="4000" b="1" dirty="0">
                <a:solidFill>
                  <a:srgbClr val="0000FF"/>
                </a:solidFill>
                <a:effectLst>
                  <a:outerShdw blurRad="38100" dist="38100" dir="2700000" algn="tl">
                    <a:srgbClr val="C0C0C0"/>
                  </a:outerShdw>
                </a:effectLst>
                <a:latin typeface="楷体" panose="02010609060101010101" pitchFamily="49" charset="-122"/>
                <a:ea typeface="楷体" panose="02010609060101010101" pitchFamily="49" charset="-122"/>
              </a:rPr>
              <a:t>C51</a:t>
            </a:r>
            <a:r>
              <a:rPr lang="zh-CN" altLang="en-US" sz="4000" b="1" dirty="0">
                <a:solidFill>
                  <a:srgbClr val="0000FF"/>
                </a:solidFill>
                <a:effectLst>
                  <a:outerShdw blurRad="38100" dist="38100" dir="2700000" algn="tl">
                    <a:srgbClr val="C0C0C0"/>
                  </a:outerShdw>
                </a:effectLst>
                <a:latin typeface="楷体" panose="02010609060101010101" pitchFamily="49" charset="-122"/>
                <a:ea typeface="楷体" panose="02010609060101010101" pitchFamily="49" charset="-122"/>
              </a:rPr>
              <a:t>语言源程序的结构</a:t>
            </a:r>
          </a:p>
        </p:txBody>
      </p:sp>
      <p:sp>
        <p:nvSpPr>
          <p:cNvPr id="32771" name="Rectangle 3"/>
          <p:cNvSpPr>
            <a:spLocks noGrp="1" noChangeArrowheads="1"/>
          </p:cNvSpPr>
          <p:nvPr>
            <p:ph type="body" idx="1"/>
          </p:nvPr>
        </p:nvSpPr>
        <p:spPr>
          <a:xfrm>
            <a:off x="971550" y="1257300"/>
            <a:ext cx="3095625" cy="4906963"/>
          </a:xfrm>
        </p:spPr>
        <p:txBody>
          <a:bodyPr/>
          <a:lstStyle/>
          <a:p>
            <a:pPr eaLnBrk="1" hangingPunct="1">
              <a:defRPr/>
            </a:pPr>
            <a:r>
              <a:rPr lang="zh-CN" altLang="en-US" sz="2400" b="1" dirty="0">
                <a:effectLst>
                  <a:outerShdw blurRad="38100" dist="38100" dir="2700000" algn="tl">
                    <a:srgbClr val="C0C0C0"/>
                  </a:outerShdw>
                </a:effectLst>
                <a:latin typeface="Times New Roman" panose="02020603050405020304" pitchFamily="18" charset="0"/>
              </a:rPr>
              <a:t>包含</a:t>
            </a:r>
            <a:r>
              <a:rPr lang="en-US" altLang="zh-CN" sz="2400" b="1" dirty="0">
                <a:effectLst>
                  <a:outerShdw blurRad="38100" dist="38100" dir="2700000" algn="tl">
                    <a:srgbClr val="C0C0C0"/>
                  </a:outerShdw>
                </a:effectLst>
                <a:latin typeface="Times New Roman" panose="02020603050405020304" pitchFamily="18" charset="0"/>
              </a:rPr>
              <a:t>&lt;</a:t>
            </a:r>
            <a:r>
              <a:rPr lang="zh-CN" altLang="en-US" sz="2400" b="1" dirty="0">
                <a:effectLst>
                  <a:outerShdw blurRad="38100" dist="38100" dir="2700000" algn="tl">
                    <a:srgbClr val="C0C0C0"/>
                  </a:outerShdw>
                </a:effectLst>
                <a:latin typeface="Times New Roman" panose="02020603050405020304" pitchFamily="18" charset="0"/>
              </a:rPr>
              <a:t>头文件</a:t>
            </a:r>
            <a:r>
              <a:rPr lang="en-US" altLang="zh-CN" sz="2400" b="1" dirty="0">
                <a:effectLst>
                  <a:outerShdw blurRad="38100" dist="38100" dir="2700000" algn="tl">
                    <a:srgbClr val="C0C0C0"/>
                  </a:outerShdw>
                </a:effectLst>
                <a:latin typeface="Times New Roman" panose="02020603050405020304" pitchFamily="18" charset="0"/>
              </a:rPr>
              <a:t>&gt;</a:t>
            </a:r>
          </a:p>
          <a:p>
            <a:pPr eaLnBrk="1" hangingPunct="1">
              <a:defRPr/>
            </a:pPr>
            <a:r>
              <a:rPr lang="zh-CN" altLang="en-US" sz="2400" b="1" dirty="0">
                <a:effectLst>
                  <a:outerShdw blurRad="38100" dist="38100" dir="2700000" algn="tl">
                    <a:srgbClr val="C0C0C0"/>
                  </a:outerShdw>
                </a:effectLst>
                <a:latin typeface="Times New Roman" panose="02020603050405020304" pitchFamily="18" charset="0"/>
              </a:rPr>
              <a:t>函数类型说明</a:t>
            </a:r>
            <a:endParaRPr lang="en-US" altLang="zh-CN" sz="2400" b="1" dirty="0">
              <a:effectLst>
                <a:outerShdw blurRad="38100" dist="38100" dir="2700000" algn="tl">
                  <a:srgbClr val="C0C0C0"/>
                </a:outerShdw>
              </a:effectLst>
              <a:latin typeface="Times New Roman" panose="02020603050405020304" pitchFamily="18" charset="0"/>
            </a:endParaRPr>
          </a:p>
          <a:p>
            <a:pPr eaLnBrk="1" hangingPunct="1">
              <a:defRPr/>
            </a:pPr>
            <a:r>
              <a:rPr lang="zh-CN" altLang="en-US" sz="2400" b="1" dirty="0">
                <a:effectLst>
                  <a:outerShdw blurRad="38100" dist="38100" dir="2700000" algn="tl">
                    <a:srgbClr val="C0C0C0"/>
                  </a:outerShdw>
                </a:effectLst>
                <a:latin typeface="Times New Roman" panose="02020603050405020304" pitchFamily="18" charset="0"/>
              </a:rPr>
              <a:t>全局变量定义</a:t>
            </a:r>
            <a:endParaRPr lang="en-US" altLang="zh-CN" sz="2400" b="1" dirty="0">
              <a:effectLst>
                <a:outerShdw blurRad="38100" dist="38100" dir="2700000" algn="tl">
                  <a:srgbClr val="C0C0C0"/>
                </a:outerShdw>
              </a:effectLst>
              <a:latin typeface="Times New Roman" panose="02020603050405020304" pitchFamily="18" charset="0"/>
            </a:endParaRPr>
          </a:p>
          <a:p>
            <a:pPr eaLnBrk="1" hangingPunct="1">
              <a:defRPr/>
            </a:pPr>
            <a:r>
              <a:rPr lang="en-US" altLang="zh-CN" sz="2400" b="1" dirty="0">
                <a:effectLst>
                  <a:outerShdw blurRad="38100" dist="38100" dir="2700000" algn="tl">
                    <a:srgbClr val="C0C0C0"/>
                  </a:outerShdw>
                </a:effectLst>
                <a:latin typeface="Times New Roman" panose="02020603050405020304" pitchFamily="18" charset="0"/>
              </a:rPr>
              <a:t>main( )</a:t>
            </a:r>
          </a:p>
          <a:p>
            <a:pPr eaLnBrk="1" hangingPunct="1">
              <a:defRPr/>
            </a:pPr>
            <a:r>
              <a:rPr lang="en-US" altLang="zh-CN" sz="2400" b="1" dirty="0">
                <a:solidFill>
                  <a:schemeClr val="hlink"/>
                </a:solidFill>
                <a:effectLst>
                  <a:outerShdw blurRad="38100" dist="38100" dir="2700000" algn="tl">
                    <a:srgbClr val="C0C0C0"/>
                  </a:outerShdw>
                </a:effectLst>
                <a:latin typeface="Times New Roman" panose="02020603050405020304" pitchFamily="18" charset="0"/>
              </a:rPr>
              <a:t>{</a:t>
            </a:r>
          </a:p>
          <a:p>
            <a:pPr marL="457200" lvl="1" indent="0" eaLnBrk="1" hangingPunct="1">
              <a:buFont typeface="Wingdings" panose="05000000000000000000" pitchFamily="2" charset="2"/>
              <a:buNone/>
              <a:defRPr/>
            </a:pPr>
            <a:r>
              <a:rPr lang="en-US" altLang="zh-CN" sz="2400" b="1" dirty="0">
                <a:solidFill>
                  <a:schemeClr val="hlink"/>
                </a:solidFill>
                <a:effectLst>
                  <a:outerShdw blurRad="38100" dist="38100" dir="2700000" algn="tl">
                    <a:srgbClr val="C0C0C0"/>
                  </a:outerShdw>
                </a:effectLst>
                <a:latin typeface="Times New Roman" panose="02020603050405020304" pitchFamily="18" charset="0"/>
              </a:rPr>
              <a:t>……</a:t>
            </a:r>
          </a:p>
          <a:p>
            <a:pPr eaLnBrk="1" hangingPunct="1">
              <a:defRPr/>
            </a:pPr>
            <a:r>
              <a:rPr lang="en-US" altLang="zh-CN" sz="2400" b="1" dirty="0">
                <a:solidFill>
                  <a:schemeClr val="hlink"/>
                </a:solidFill>
                <a:effectLst>
                  <a:outerShdw blurRad="38100" dist="38100" dir="2700000" algn="tl">
                    <a:srgbClr val="C0C0C0"/>
                  </a:outerShdw>
                </a:effectLst>
                <a:latin typeface="Times New Roman" panose="02020603050405020304" pitchFamily="18" charset="0"/>
              </a:rPr>
              <a:t>}</a:t>
            </a:r>
          </a:p>
          <a:p>
            <a:pPr eaLnBrk="1" hangingPunct="1">
              <a:defRPr/>
            </a:pPr>
            <a:r>
              <a:rPr lang="en-US" altLang="zh-CN" sz="2400" b="1" dirty="0">
                <a:solidFill>
                  <a:schemeClr val="hlink"/>
                </a:solidFill>
                <a:effectLst>
                  <a:outerShdw blurRad="38100" dist="38100" dir="2700000" algn="tl">
                    <a:srgbClr val="C0C0C0"/>
                  </a:outerShdw>
                </a:effectLst>
                <a:latin typeface="Times New Roman" panose="02020603050405020304" pitchFamily="18" charset="0"/>
              </a:rPr>
              <a:t>fun1( )</a:t>
            </a:r>
          </a:p>
          <a:p>
            <a:pPr eaLnBrk="1" hangingPunct="1">
              <a:defRPr/>
            </a:pPr>
            <a:r>
              <a:rPr lang="en-US" altLang="zh-CN" sz="2400" b="1" dirty="0">
                <a:solidFill>
                  <a:schemeClr val="hlink"/>
                </a:solidFill>
                <a:effectLst>
                  <a:outerShdw blurRad="38100" dist="38100" dir="2700000" algn="tl">
                    <a:srgbClr val="C0C0C0"/>
                  </a:outerShdw>
                </a:effectLst>
                <a:latin typeface="Times New Roman" panose="02020603050405020304" pitchFamily="18" charset="0"/>
              </a:rPr>
              <a:t>{   </a:t>
            </a:r>
            <a:r>
              <a:rPr lang="zh-CN" altLang="en-US" sz="2400" b="1" dirty="0">
                <a:solidFill>
                  <a:schemeClr val="hlink"/>
                </a:solidFill>
                <a:effectLst>
                  <a:outerShdw blurRad="38100" dist="38100" dir="2700000" algn="tl">
                    <a:srgbClr val="C0C0C0"/>
                  </a:outerShdw>
                </a:effectLst>
                <a:latin typeface="Times New Roman" panose="02020603050405020304" pitchFamily="18" charset="0"/>
              </a:rPr>
              <a:t>局部变量定义</a:t>
            </a:r>
            <a:endParaRPr lang="en-US" altLang="zh-CN" sz="2400" b="1" dirty="0">
              <a:solidFill>
                <a:schemeClr val="hlink"/>
              </a:solidFill>
              <a:effectLst>
                <a:outerShdw blurRad="38100" dist="38100" dir="2700000" algn="tl">
                  <a:srgbClr val="C0C0C0"/>
                </a:outerShdw>
              </a:effectLst>
              <a:latin typeface="Times New Roman" panose="02020603050405020304" pitchFamily="18" charset="0"/>
            </a:endParaRPr>
          </a:p>
          <a:p>
            <a:pPr marL="457200" lvl="1" indent="0" eaLnBrk="1" hangingPunct="1">
              <a:buFont typeface="Wingdings" panose="05000000000000000000" pitchFamily="2" charset="2"/>
              <a:buNone/>
              <a:defRPr/>
            </a:pPr>
            <a:r>
              <a:rPr lang="en-US" altLang="zh-CN" sz="2400" b="1" dirty="0">
                <a:solidFill>
                  <a:schemeClr val="hlink"/>
                </a:solidFill>
                <a:effectLst>
                  <a:outerShdw blurRad="38100" dist="38100" dir="2700000" algn="tl">
                    <a:srgbClr val="C0C0C0"/>
                  </a:outerShdw>
                </a:effectLst>
                <a:latin typeface="Times New Roman" panose="02020603050405020304" pitchFamily="18" charset="0"/>
              </a:rPr>
              <a:t>   &lt;</a:t>
            </a:r>
            <a:r>
              <a:rPr lang="zh-CN" altLang="en-US" sz="2400" b="1" dirty="0">
                <a:solidFill>
                  <a:schemeClr val="hlink"/>
                </a:solidFill>
                <a:effectLst>
                  <a:outerShdw blurRad="38100" dist="38100" dir="2700000" algn="tl">
                    <a:srgbClr val="C0C0C0"/>
                  </a:outerShdw>
                </a:effectLst>
                <a:latin typeface="Times New Roman" panose="02020603050405020304" pitchFamily="18" charset="0"/>
              </a:rPr>
              <a:t>程序体</a:t>
            </a:r>
            <a:r>
              <a:rPr lang="en-US" altLang="zh-CN" sz="2400" b="1" dirty="0">
                <a:solidFill>
                  <a:schemeClr val="hlink"/>
                </a:solidFill>
                <a:effectLst>
                  <a:outerShdw blurRad="38100" dist="38100" dir="2700000" algn="tl">
                    <a:srgbClr val="C0C0C0"/>
                  </a:outerShdw>
                </a:effectLst>
                <a:latin typeface="Times New Roman" panose="02020603050405020304" pitchFamily="18" charset="0"/>
              </a:rPr>
              <a:t>&gt;</a:t>
            </a:r>
          </a:p>
          <a:p>
            <a:pPr eaLnBrk="1" hangingPunct="1">
              <a:defRPr/>
            </a:pPr>
            <a:r>
              <a:rPr lang="en-US" altLang="zh-CN" sz="2400" b="1" dirty="0">
                <a:solidFill>
                  <a:schemeClr val="hlink"/>
                </a:solidFill>
                <a:effectLst>
                  <a:outerShdw blurRad="38100" dist="38100" dir="2700000" algn="tl">
                    <a:srgbClr val="C0C0C0"/>
                  </a:outerShdw>
                </a:effectLst>
                <a:latin typeface="Times New Roman" panose="02020603050405020304" pitchFamily="18" charset="0"/>
              </a:rPr>
              <a:t>}</a:t>
            </a:r>
          </a:p>
          <a:p>
            <a:pPr eaLnBrk="1" hangingPunct="1">
              <a:defRPr/>
            </a:pPr>
            <a:endParaRPr lang="en-US" altLang="zh-CN" sz="2400" b="1" dirty="0">
              <a:solidFill>
                <a:schemeClr val="hlink"/>
              </a:solidFill>
              <a:effectLst>
                <a:outerShdw blurRad="38100" dist="38100" dir="2700000" algn="tl">
                  <a:srgbClr val="C0C0C0"/>
                </a:outerShdw>
              </a:effectLst>
              <a:latin typeface="Times New Roman" panose="02020603050405020304" pitchFamily="18" charset="0"/>
            </a:endParaRPr>
          </a:p>
        </p:txBody>
      </p:sp>
      <p:sp>
        <p:nvSpPr>
          <p:cNvPr id="4" name="Rectangle 3"/>
          <p:cNvSpPr txBox="1">
            <a:spLocks noChangeArrowheads="1"/>
          </p:cNvSpPr>
          <p:nvPr/>
        </p:nvSpPr>
        <p:spPr bwMode="auto">
          <a:xfrm>
            <a:off x="4284663" y="3063875"/>
            <a:ext cx="4048125" cy="1012825"/>
          </a:xfrm>
          <a:prstGeom prst="rect">
            <a:avLst/>
          </a:prstGeom>
          <a:solidFill>
            <a:schemeClr val="tx2">
              <a:lumMod val="20000"/>
              <a:lumOff val="80000"/>
            </a:schemeClr>
          </a:solidFill>
          <a:ln>
            <a:noFill/>
          </a:ln>
          <a:effectLst/>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eaLnBrk="1" hangingPunct="1">
              <a:defRPr/>
            </a:pPr>
            <a:r>
              <a:rPr lang="zh-CN" altLang="en-US" sz="2400" b="1" kern="0" dirty="0">
                <a:effectLst>
                  <a:outerShdw blurRad="38100" dist="38100" dir="2700000" algn="tl">
                    <a:srgbClr val="C0C0C0"/>
                  </a:outerShdw>
                </a:effectLst>
                <a:latin typeface="Times New Roman" panose="02020603050405020304" pitchFamily="18" charset="0"/>
              </a:rPr>
              <a:t>语句结束标志：</a:t>
            </a:r>
            <a:r>
              <a:rPr lang="zh-CN" altLang="en-US" sz="2400" b="1" kern="0" dirty="0">
                <a:solidFill>
                  <a:schemeClr val="hlink"/>
                </a:solidFill>
                <a:effectLst>
                  <a:outerShdw blurRad="38100" dist="38100" dir="2700000" algn="tl">
                    <a:srgbClr val="C0C0C0"/>
                  </a:outerShdw>
                </a:effectLst>
                <a:latin typeface="Times New Roman" panose="02020603050405020304" pitchFamily="18" charset="0"/>
              </a:rPr>
              <a:t>分号“</a:t>
            </a:r>
            <a:r>
              <a:rPr lang="en-US" altLang="zh-CN" sz="2400" b="1" kern="0" dirty="0">
                <a:solidFill>
                  <a:schemeClr val="hlink"/>
                </a:solidFill>
                <a:effectLst>
                  <a:outerShdw blurRad="38100" dist="38100" dir="2700000" algn="tl">
                    <a:srgbClr val="C0C0C0"/>
                  </a:outerShdw>
                </a:effectLst>
                <a:latin typeface="Times New Roman" panose="02020603050405020304" pitchFamily="18" charset="0"/>
              </a:rPr>
              <a:t>;</a:t>
            </a:r>
            <a:r>
              <a:rPr lang="zh-CN" altLang="en-US" sz="2400" b="1" kern="0" dirty="0">
                <a:solidFill>
                  <a:schemeClr val="hlink"/>
                </a:solidFill>
                <a:effectLst>
                  <a:outerShdw blurRad="38100" dist="38100" dir="2700000" algn="tl">
                    <a:srgbClr val="C0C0C0"/>
                  </a:outerShdw>
                </a:effectLst>
                <a:latin typeface="Times New Roman" panose="02020603050405020304" pitchFamily="18" charset="0"/>
              </a:rPr>
              <a:t>”</a:t>
            </a:r>
          </a:p>
          <a:p>
            <a:pPr eaLnBrk="1" hangingPunct="1">
              <a:defRPr/>
            </a:pPr>
            <a:r>
              <a:rPr lang="zh-CN" altLang="en-US" sz="2400" b="1" kern="0" dirty="0">
                <a:effectLst>
                  <a:outerShdw blurRad="38100" dist="38100" dir="2700000" algn="tl">
                    <a:srgbClr val="C0C0C0"/>
                  </a:outerShdw>
                </a:effectLst>
                <a:latin typeface="Times New Roman" panose="02020603050405020304" pitchFamily="18" charset="0"/>
              </a:rPr>
              <a:t>注释：</a:t>
            </a:r>
            <a:r>
              <a:rPr lang="en-US" altLang="zh-CN" sz="2400" b="1" kern="0" dirty="0">
                <a:solidFill>
                  <a:schemeClr val="hlink"/>
                </a:solidFill>
                <a:effectLst>
                  <a:outerShdw blurRad="38100" dist="38100" dir="2700000" algn="tl">
                    <a:srgbClr val="C0C0C0"/>
                  </a:outerShdw>
                </a:effectLst>
                <a:latin typeface="Times New Roman" panose="02020603050405020304" pitchFamily="18" charset="0"/>
              </a:rPr>
              <a:t>/*……*/</a:t>
            </a:r>
            <a:r>
              <a:rPr lang="zh-CN" altLang="en-US" sz="2400" b="1" kern="0" dirty="0">
                <a:effectLst>
                  <a:outerShdw blurRad="38100" dist="38100" dir="2700000" algn="tl">
                    <a:srgbClr val="C0C0C0"/>
                  </a:outerShdw>
                </a:effectLst>
                <a:latin typeface="Times New Roman" panose="02020603050405020304" pitchFamily="18" charset="0"/>
              </a:rPr>
              <a:t>或</a:t>
            </a:r>
            <a:r>
              <a:rPr lang="en-US" altLang="zh-CN" sz="2400" b="1" kern="0" dirty="0">
                <a:solidFill>
                  <a:schemeClr val="hlink"/>
                </a:solidFill>
                <a:effectLst>
                  <a:outerShdw blurRad="38100" dist="38100" dir="2700000" algn="tl">
                    <a:srgbClr val="C0C0C0"/>
                  </a:outerShdw>
                </a:effectLst>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4"/>
          <p:cNvSpPr txBox="1">
            <a:spLocks noChangeArrowheads="1"/>
          </p:cNvSpPr>
          <p:nvPr/>
        </p:nvSpPr>
        <p:spPr bwMode="auto">
          <a:xfrm>
            <a:off x="228600" y="1828800"/>
            <a:ext cx="6324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zh-CN" sz="1800">
              <a:latin typeface="Arial" panose="020B0604020202020204" pitchFamily="34" charset="0"/>
            </a:endParaRPr>
          </a:p>
        </p:txBody>
      </p:sp>
      <p:sp>
        <p:nvSpPr>
          <p:cNvPr id="31749" name="Text Box 5"/>
          <p:cNvSpPr txBox="1">
            <a:spLocks noChangeArrowheads="1"/>
          </p:cNvSpPr>
          <p:nvPr/>
        </p:nvSpPr>
        <p:spPr bwMode="auto">
          <a:xfrm>
            <a:off x="684213" y="1109663"/>
            <a:ext cx="8153400" cy="2246769"/>
          </a:xfrm>
          <a:prstGeom prst="rect">
            <a:avLst/>
          </a:prstGeom>
          <a:solidFill>
            <a:schemeClr val="bg1"/>
          </a:solid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r>
              <a:rPr lang="en-US" altLang="zh-CN"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C51</a:t>
            </a:r>
            <a:r>
              <a:rPr lang="zh-CN" altLang="en-US"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语言程序包含的头文件</a:t>
            </a:r>
            <a:r>
              <a:rPr lang="zh-CN" altLang="en-US" b="1" dirty="0">
                <a:effectLst>
                  <a:outerShdw blurRad="38100" dist="38100" dir="2700000" algn="tl">
                    <a:srgbClr val="C0C0C0"/>
                  </a:outerShdw>
                </a:effectLst>
                <a:latin typeface="+mn-ea"/>
                <a:ea typeface="+mn-ea"/>
                <a:cs typeface="Times New Roman" panose="02020603050405020304" pitchFamily="18" charset="0"/>
              </a:rPr>
              <a:t>通常有</a:t>
            </a:r>
            <a:r>
              <a:rPr lang="en-US" altLang="zh-CN" b="1" dirty="0">
                <a:effectLst>
                  <a:outerShdw blurRad="38100" dist="38100" dir="2700000" algn="tl">
                    <a:srgbClr val="C0C0C0"/>
                  </a:outerShdw>
                </a:effectLst>
                <a:latin typeface="Times New Roman" panose="02020603050405020304" pitchFamily="18" charset="0"/>
                <a:ea typeface="仿宋_GB2312" pitchFamily="49" charset="-122"/>
                <a:cs typeface="Times New Roman" panose="02020603050405020304" pitchFamily="18" charset="0"/>
              </a:rPr>
              <a:t>:</a:t>
            </a:r>
            <a:r>
              <a:rPr lang="en-US" altLang="zh-CN" b="1" dirty="0">
                <a:solidFill>
                  <a:schemeClr val="folHlink"/>
                </a:solidFill>
                <a:effectLst>
                  <a:outerShdw blurRad="38100" dist="38100" dir="2700000" algn="tl">
                    <a:srgbClr val="C0C0C0"/>
                  </a:outerShdw>
                </a:effectLst>
                <a:latin typeface="Times New Roman" panose="02020603050405020304" pitchFamily="18" charset="0"/>
                <a:ea typeface="仿宋_GB2312" pitchFamily="49" charset="-122"/>
                <a:cs typeface="Times New Roman" panose="02020603050405020304" pitchFamily="18" charset="0"/>
              </a:rPr>
              <a:t>reg51.h reg52.h  </a:t>
            </a:r>
            <a:r>
              <a:rPr lang="en-US" altLang="zh-CN" b="1" dirty="0" err="1">
                <a:solidFill>
                  <a:schemeClr val="folHlink"/>
                </a:solidFill>
                <a:effectLst>
                  <a:outerShdw blurRad="38100" dist="38100" dir="2700000" algn="tl">
                    <a:srgbClr val="C0C0C0"/>
                  </a:outerShdw>
                </a:effectLst>
                <a:latin typeface="Times New Roman" panose="02020603050405020304" pitchFamily="18" charset="0"/>
                <a:ea typeface="仿宋_GB2312" pitchFamily="49" charset="-122"/>
                <a:cs typeface="Times New Roman" panose="02020603050405020304" pitchFamily="18" charset="0"/>
              </a:rPr>
              <a:t>math.h</a:t>
            </a:r>
            <a:r>
              <a:rPr lang="en-US" altLang="zh-CN" b="1" dirty="0">
                <a:solidFill>
                  <a:schemeClr val="folHlink"/>
                </a:solidFill>
                <a:effectLst>
                  <a:outerShdw blurRad="38100" dist="38100" dir="2700000" algn="tl">
                    <a:srgbClr val="C0C0C0"/>
                  </a:outerShdw>
                </a:effectLst>
                <a:latin typeface="Times New Roman" panose="02020603050405020304" pitchFamily="18" charset="0"/>
                <a:ea typeface="仿宋_GB2312" pitchFamily="49" charset="-122"/>
                <a:cs typeface="Times New Roman" panose="02020603050405020304" pitchFamily="18" charset="0"/>
              </a:rPr>
              <a:t>   </a:t>
            </a:r>
            <a:r>
              <a:rPr lang="en-US" altLang="zh-CN" b="1" dirty="0" err="1">
                <a:solidFill>
                  <a:schemeClr val="folHlink"/>
                </a:solidFill>
                <a:effectLst>
                  <a:outerShdw blurRad="38100" dist="38100" dir="2700000" algn="tl">
                    <a:srgbClr val="C0C0C0"/>
                  </a:outerShdw>
                </a:effectLst>
                <a:latin typeface="Times New Roman" panose="02020603050405020304" pitchFamily="18" charset="0"/>
                <a:ea typeface="仿宋_GB2312" pitchFamily="49" charset="-122"/>
                <a:cs typeface="Times New Roman" panose="02020603050405020304" pitchFamily="18" charset="0"/>
              </a:rPr>
              <a:t>ctype.h</a:t>
            </a:r>
            <a:r>
              <a:rPr lang="en-US" altLang="zh-CN" b="1" dirty="0">
                <a:solidFill>
                  <a:schemeClr val="folHlink"/>
                </a:solidFill>
                <a:effectLst>
                  <a:outerShdw blurRad="38100" dist="38100" dir="2700000" algn="tl">
                    <a:srgbClr val="C0C0C0"/>
                  </a:outerShdw>
                </a:effectLst>
                <a:latin typeface="Times New Roman" panose="02020603050405020304" pitchFamily="18" charset="0"/>
                <a:ea typeface="仿宋_GB2312" pitchFamily="49" charset="-122"/>
                <a:cs typeface="Times New Roman" panose="02020603050405020304" pitchFamily="18" charset="0"/>
              </a:rPr>
              <a:t>   </a:t>
            </a:r>
            <a:r>
              <a:rPr lang="en-US" altLang="zh-CN" b="1" dirty="0" err="1">
                <a:solidFill>
                  <a:schemeClr val="folHlink"/>
                </a:solidFill>
                <a:effectLst>
                  <a:outerShdw blurRad="38100" dist="38100" dir="2700000" algn="tl">
                    <a:srgbClr val="C0C0C0"/>
                  </a:outerShdw>
                </a:effectLst>
                <a:latin typeface="Times New Roman" panose="02020603050405020304" pitchFamily="18" charset="0"/>
                <a:ea typeface="仿宋_GB2312" pitchFamily="49" charset="-122"/>
                <a:cs typeface="Times New Roman" panose="02020603050405020304" pitchFamily="18" charset="0"/>
              </a:rPr>
              <a:t>stdio.h</a:t>
            </a:r>
            <a:r>
              <a:rPr lang="en-US" altLang="zh-CN" b="1" dirty="0">
                <a:solidFill>
                  <a:schemeClr val="folHlink"/>
                </a:solidFill>
                <a:effectLst>
                  <a:outerShdw blurRad="38100" dist="38100" dir="2700000" algn="tl">
                    <a:srgbClr val="C0C0C0"/>
                  </a:outerShdw>
                </a:effectLst>
                <a:latin typeface="Times New Roman" panose="02020603050405020304" pitchFamily="18" charset="0"/>
                <a:ea typeface="仿宋_GB2312" pitchFamily="49" charset="-122"/>
                <a:cs typeface="Times New Roman" panose="02020603050405020304" pitchFamily="18" charset="0"/>
              </a:rPr>
              <a:t>  </a:t>
            </a:r>
            <a:r>
              <a:rPr lang="en-US" altLang="zh-CN" b="1" dirty="0" err="1">
                <a:solidFill>
                  <a:schemeClr val="folHlink"/>
                </a:solidFill>
                <a:effectLst>
                  <a:outerShdw blurRad="38100" dist="38100" dir="2700000" algn="tl">
                    <a:srgbClr val="C0C0C0"/>
                  </a:outerShdw>
                </a:effectLst>
                <a:latin typeface="Times New Roman" panose="02020603050405020304" pitchFamily="18" charset="0"/>
                <a:ea typeface="仿宋_GB2312" pitchFamily="49" charset="-122"/>
                <a:cs typeface="Times New Roman" panose="02020603050405020304" pitchFamily="18" charset="0"/>
              </a:rPr>
              <a:t>stdlib.h</a:t>
            </a:r>
            <a:r>
              <a:rPr lang="en-US" altLang="zh-CN" b="1" dirty="0">
                <a:solidFill>
                  <a:schemeClr val="folHlink"/>
                </a:solidFill>
                <a:effectLst>
                  <a:outerShdw blurRad="38100" dist="38100" dir="2700000" algn="tl">
                    <a:srgbClr val="C0C0C0"/>
                  </a:outerShdw>
                </a:effectLst>
                <a:latin typeface="Times New Roman" panose="02020603050405020304" pitchFamily="18" charset="0"/>
                <a:ea typeface="仿宋_GB2312" pitchFamily="49" charset="-122"/>
                <a:cs typeface="Times New Roman" panose="02020603050405020304" pitchFamily="18" charset="0"/>
              </a:rPr>
              <a:t>  </a:t>
            </a:r>
            <a:r>
              <a:rPr lang="en-US" altLang="zh-CN" b="1" dirty="0" err="1">
                <a:solidFill>
                  <a:schemeClr val="folHlink"/>
                </a:solidFill>
                <a:effectLst>
                  <a:outerShdw blurRad="38100" dist="38100" dir="2700000" algn="tl">
                    <a:srgbClr val="C0C0C0"/>
                  </a:outerShdw>
                </a:effectLst>
                <a:latin typeface="Times New Roman" panose="02020603050405020304" pitchFamily="18" charset="0"/>
                <a:ea typeface="仿宋_GB2312" pitchFamily="49" charset="-122"/>
                <a:cs typeface="Times New Roman" panose="02020603050405020304" pitchFamily="18" charset="0"/>
              </a:rPr>
              <a:t>absacc.h</a:t>
            </a:r>
            <a:endParaRPr lang="en-US" altLang="zh-CN" b="1" dirty="0">
              <a:solidFill>
                <a:schemeClr val="folHlink"/>
              </a:solidFill>
              <a:effectLst>
                <a:outerShdw blurRad="38100" dist="38100" dir="2700000" algn="tl">
                  <a:srgbClr val="C0C0C0"/>
                </a:outerShdw>
              </a:effectLst>
              <a:latin typeface="Times New Roman" panose="02020603050405020304" pitchFamily="18" charset="0"/>
              <a:ea typeface="仿宋_GB2312" pitchFamily="49" charset="-122"/>
              <a:cs typeface="Times New Roman" panose="02020603050405020304" pitchFamily="18" charset="0"/>
            </a:endParaRPr>
          </a:p>
          <a:p>
            <a:pPr eaLnBrk="1" hangingPunct="1">
              <a:spcBef>
                <a:spcPct val="50000"/>
              </a:spcBef>
              <a:defRPr/>
            </a:pPr>
            <a:r>
              <a:rPr lang="en-US" altLang="zh-CN" b="1" dirty="0">
                <a:solidFill>
                  <a:schemeClr val="folHlink"/>
                </a:solidFill>
                <a:effectLst>
                  <a:outerShdw blurRad="38100" dist="38100" dir="2700000" algn="tl">
                    <a:srgbClr val="C0C0C0"/>
                  </a:outerShdw>
                </a:effectLst>
                <a:latin typeface="Times New Roman" panose="02020603050405020304" pitchFamily="18" charset="0"/>
                <a:ea typeface="仿宋_GB2312" pitchFamily="49" charset="-122"/>
                <a:cs typeface="Times New Roman" panose="02020603050405020304" pitchFamily="18" charset="0"/>
              </a:rPr>
              <a:t>      reg51.h</a:t>
            </a:r>
            <a:r>
              <a:rPr lang="zh-CN" altLang="en-US" b="1" dirty="0">
                <a:solidFill>
                  <a:schemeClr val="folHlink"/>
                </a:solidFill>
                <a:effectLst>
                  <a:outerShdw blurRad="38100" dist="38100" dir="2700000" algn="tl">
                    <a:srgbClr val="C0C0C0"/>
                  </a:outerShdw>
                </a:effectLst>
                <a:latin typeface="Times New Roman" panose="02020603050405020304" pitchFamily="18" charset="0"/>
                <a:ea typeface="仿宋_GB2312" pitchFamily="49" charset="-122"/>
                <a:cs typeface="Times New Roman" panose="02020603050405020304" pitchFamily="18" charset="0"/>
              </a:rPr>
              <a:t>：</a:t>
            </a:r>
            <a:r>
              <a:rPr lang="en-US" altLang="zh-CN" b="1" dirty="0">
                <a:effectLst>
                  <a:outerShdw blurRad="38100" dist="38100" dir="2700000" algn="tl">
                    <a:srgbClr val="C0C0C0"/>
                  </a:outerShdw>
                </a:effectLst>
                <a:latin typeface="Times New Roman" panose="02020603050405020304" pitchFamily="18" charset="0"/>
                <a:ea typeface="仿宋_GB2312" pitchFamily="49" charset="-122"/>
                <a:cs typeface="Times New Roman" panose="02020603050405020304" pitchFamily="18" charset="0"/>
              </a:rPr>
              <a:t> </a:t>
            </a:r>
            <a:r>
              <a:rPr lang="zh-CN" altLang="en-US" b="1" dirty="0">
                <a:effectLst>
                  <a:outerShdw blurRad="38100" dist="38100" dir="2700000" algn="tl">
                    <a:srgbClr val="C0C0C0"/>
                  </a:outerShdw>
                </a:effectLst>
                <a:latin typeface="Times New Roman" panose="02020603050405020304" pitchFamily="18" charset="0"/>
                <a:ea typeface="仿宋_GB2312" pitchFamily="49" charset="-122"/>
                <a:cs typeface="Times New Roman" panose="02020603050405020304" pitchFamily="18" charset="0"/>
              </a:rPr>
              <a:t>定义特殊功能寄存器和位寄存器；</a:t>
            </a:r>
          </a:p>
          <a:p>
            <a:pPr eaLnBrk="1" hangingPunct="1">
              <a:spcBef>
                <a:spcPct val="50000"/>
              </a:spcBef>
              <a:defRPr/>
            </a:pPr>
            <a:r>
              <a:rPr lang="zh-CN" altLang="en-US" b="1" dirty="0">
                <a:effectLst>
                  <a:outerShdw blurRad="38100" dist="38100" dir="2700000" algn="tl">
                    <a:srgbClr val="C0C0C0"/>
                  </a:outerShdw>
                </a:effectLst>
                <a:latin typeface="Times New Roman" panose="02020603050405020304" pitchFamily="18" charset="0"/>
                <a:ea typeface="仿宋_GB2312" pitchFamily="49" charset="-122"/>
                <a:cs typeface="Times New Roman" panose="02020603050405020304" pitchFamily="18" charset="0"/>
              </a:rPr>
              <a:t>      </a:t>
            </a:r>
            <a:r>
              <a:rPr lang="en-US" altLang="zh-CN" b="1" dirty="0" err="1">
                <a:solidFill>
                  <a:schemeClr val="folHlink"/>
                </a:solidFill>
                <a:effectLst>
                  <a:outerShdw blurRad="38100" dist="38100" dir="2700000" algn="tl">
                    <a:srgbClr val="C0C0C0"/>
                  </a:outerShdw>
                </a:effectLst>
                <a:latin typeface="Times New Roman" panose="02020603050405020304" pitchFamily="18" charset="0"/>
                <a:ea typeface="仿宋_GB2312" pitchFamily="49" charset="-122"/>
                <a:cs typeface="Times New Roman" panose="02020603050405020304" pitchFamily="18" charset="0"/>
              </a:rPr>
              <a:t>math.h</a:t>
            </a:r>
            <a:r>
              <a:rPr lang="en-US" altLang="zh-CN" b="1" dirty="0">
                <a:solidFill>
                  <a:schemeClr val="folHlink"/>
                </a:solidFill>
                <a:effectLst>
                  <a:outerShdw blurRad="38100" dist="38100" dir="2700000" algn="tl">
                    <a:srgbClr val="C0C0C0"/>
                  </a:outerShdw>
                </a:effectLst>
                <a:latin typeface="Times New Roman" panose="02020603050405020304" pitchFamily="18" charset="0"/>
                <a:ea typeface="仿宋_GB2312" pitchFamily="49" charset="-122"/>
                <a:cs typeface="Times New Roman" panose="02020603050405020304" pitchFamily="18" charset="0"/>
              </a:rPr>
              <a:t> </a:t>
            </a:r>
            <a:r>
              <a:rPr lang="zh-CN" altLang="en-US" b="1" dirty="0">
                <a:solidFill>
                  <a:schemeClr val="folHlink"/>
                </a:solidFill>
                <a:effectLst>
                  <a:outerShdw blurRad="38100" dist="38100" dir="2700000" algn="tl">
                    <a:srgbClr val="C0C0C0"/>
                  </a:outerShdw>
                </a:effectLst>
                <a:latin typeface="Times New Roman" panose="02020603050405020304" pitchFamily="18" charset="0"/>
                <a:ea typeface="仿宋_GB2312" pitchFamily="49" charset="-122"/>
                <a:cs typeface="Times New Roman" panose="02020603050405020304" pitchFamily="18" charset="0"/>
              </a:rPr>
              <a:t>：</a:t>
            </a:r>
            <a:r>
              <a:rPr lang="zh-CN" altLang="en-US" b="1" dirty="0">
                <a:effectLst>
                  <a:outerShdw blurRad="38100" dist="38100" dir="2700000" algn="tl">
                    <a:srgbClr val="C0C0C0"/>
                  </a:outerShdw>
                </a:effectLst>
                <a:latin typeface="Times New Roman" panose="02020603050405020304" pitchFamily="18" charset="0"/>
                <a:ea typeface="仿宋_GB2312" pitchFamily="49" charset="-122"/>
                <a:cs typeface="Times New Roman" panose="02020603050405020304" pitchFamily="18" charset="0"/>
              </a:rPr>
              <a:t>定义常用数学运算；</a:t>
            </a:r>
            <a:r>
              <a:rPr lang="zh-CN" altLang="en-US"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p>
        </p:txBody>
      </p:sp>
      <p:sp>
        <p:nvSpPr>
          <p:cNvPr id="31750" name="Text Box 6"/>
          <p:cNvSpPr txBox="1">
            <a:spLocks noChangeArrowheads="1"/>
          </p:cNvSpPr>
          <p:nvPr/>
        </p:nvSpPr>
        <p:spPr bwMode="auto">
          <a:xfrm>
            <a:off x="684213" y="3677335"/>
            <a:ext cx="7559675" cy="519112"/>
          </a:xfrm>
          <a:prstGeom prst="rect">
            <a:avLst/>
          </a:prstGeom>
          <a:noFill/>
          <a:ln>
            <a:noFill/>
          </a:ln>
          <a:effectLst/>
        </p:spPr>
        <p:txBody>
          <a:bodyPr>
            <a:spAutoFit/>
          </a:bodyPr>
          <a:lstStyle/>
          <a:p>
            <a:pPr eaLnBrk="1" hangingPunct="1">
              <a:spcBef>
                <a:spcPct val="50000"/>
              </a:spcBef>
              <a:defRPr/>
            </a:pPr>
            <a:r>
              <a:rPr lang="zh-CN" altLang="en-US" b="1" dirty="0">
                <a:solidFill>
                  <a:srgbClr val="0000FF"/>
                </a:solidFill>
                <a:effectLst>
                  <a:outerShdw blurRad="38100" dist="38100" dir="2700000" algn="tl">
                    <a:srgbClr val="C0C0C0"/>
                  </a:outerShdw>
                </a:effectLst>
                <a:latin typeface="Times New Roman" panose="02020603050405020304" pitchFamily="18" charset="0"/>
              </a:rPr>
              <a:t>如格式为：</a:t>
            </a:r>
            <a:r>
              <a:rPr lang="en-US" altLang="zh-CN" b="1" dirty="0">
                <a:solidFill>
                  <a:schemeClr val="hlink"/>
                </a:solidFill>
                <a:effectLst>
                  <a:outerShdw blurRad="38100" dist="38100" dir="2700000" algn="tl">
                    <a:srgbClr val="C0C0C0"/>
                  </a:outerShdw>
                </a:effectLst>
                <a:latin typeface="Times New Roman" panose="02020603050405020304" pitchFamily="18" charset="0"/>
              </a:rPr>
              <a:t>#include&lt;reg51.h&gt;</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971550" y="260350"/>
            <a:ext cx="7793038" cy="911225"/>
          </a:xfrm>
        </p:spPr>
        <p:txBody>
          <a:bodyPr/>
          <a:lstStyle/>
          <a:p>
            <a:pPr eaLnBrk="1" hangingPunct="1">
              <a:defRPr/>
            </a:pPr>
            <a:r>
              <a:rPr lang="en-US" altLang="zh-CN" sz="3600" b="1" dirty="0">
                <a:solidFill>
                  <a:srgbClr val="0000FF"/>
                </a:solidFill>
                <a:effectLst>
                  <a:outerShdw blurRad="38100" dist="38100" dir="2700000" algn="tl">
                    <a:srgbClr val="C0C0C0"/>
                  </a:outerShdw>
                </a:effectLst>
                <a:latin typeface="楷体" panose="02010609060101010101" pitchFamily="49" charset="-122"/>
                <a:ea typeface="楷体" panose="02010609060101010101" pitchFamily="49" charset="-122"/>
              </a:rPr>
              <a:t>3.4 C51</a:t>
            </a:r>
            <a:r>
              <a:rPr lang="zh-CN" altLang="en-US" sz="3600" b="1" dirty="0">
                <a:solidFill>
                  <a:srgbClr val="0000FF"/>
                </a:solidFill>
                <a:effectLst>
                  <a:outerShdw blurRad="38100" dist="38100" dir="2700000" algn="tl">
                    <a:srgbClr val="C0C0C0"/>
                  </a:outerShdw>
                </a:effectLst>
                <a:latin typeface="楷体" panose="02010609060101010101" pitchFamily="49" charset="-122"/>
                <a:ea typeface="楷体" panose="02010609060101010101" pitchFamily="49" charset="-122"/>
              </a:rPr>
              <a:t>的变量</a:t>
            </a:r>
          </a:p>
        </p:txBody>
      </p:sp>
      <p:sp>
        <p:nvSpPr>
          <p:cNvPr id="33795" name="Rectangle 3"/>
          <p:cNvSpPr>
            <a:spLocks noGrp="1" noChangeArrowheads="1"/>
          </p:cNvSpPr>
          <p:nvPr>
            <p:ph type="body" idx="1"/>
          </p:nvPr>
        </p:nvSpPr>
        <p:spPr>
          <a:xfrm>
            <a:off x="900113" y="1341438"/>
            <a:ext cx="7772400" cy="5040312"/>
          </a:xfrm>
        </p:spPr>
        <p:txBody>
          <a:bodyPr/>
          <a:lstStyle/>
          <a:p>
            <a:pPr eaLnBrk="1" hangingPunct="1">
              <a:defRPr/>
            </a:pPr>
            <a:r>
              <a:rPr lang="zh-CN" altLang="en-US" sz="2800" b="1" dirty="0">
                <a:effectLst>
                  <a:outerShdw blurRad="38100" dist="38100" dir="2700000" algn="tl">
                    <a:srgbClr val="000000">
                      <a:alpha val="43137"/>
                    </a:srgbClr>
                  </a:outerShdw>
                </a:effectLst>
                <a:latin typeface="Times New Roman" panose="02020603050405020304" pitchFamily="18" charset="0"/>
              </a:rPr>
              <a:t>标志符只能是大小写英文字母、数字</a:t>
            </a:r>
            <a:r>
              <a:rPr lang="en-US" altLang="zh-CN" sz="2800" b="1" dirty="0">
                <a:effectLst>
                  <a:outerShdw blurRad="38100" dist="38100" dir="2700000" algn="tl">
                    <a:srgbClr val="000000">
                      <a:alpha val="43137"/>
                    </a:srgbClr>
                  </a:outerShdw>
                </a:effectLst>
                <a:latin typeface="Times New Roman" panose="02020603050405020304" pitchFamily="18" charset="0"/>
              </a:rPr>
              <a:t>0~9</a:t>
            </a:r>
            <a:r>
              <a:rPr lang="zh-CN" altLang="en-US" sz="2800" b="1" dirty="0">
                <a:effectLst>
                  <a:outerShdw blurRad="38100" dist="38100" dir="2700000" algn="tl">
                    <a:srgbClr val="000000">
                      <a:alpha val="43137"/>
                    </a:srgbClr>
                  </a:outerShdw>
                </a:effectLst>
                <a:latin typeface="Times New Roman" panose="02020603050405020304" pitchFamily="18" charset="0"/>
              </a:rPr>
              <a:t>、下划线。</a:t>
            </a:r>
            <a:endParaRPr lang="en-US" altLang="zh-CN" sz="2800" b="1" dirty="0">
              <a:effectLst>
                <a:outerShdw blurRad="38100" dist="38100" dir="2700000" algn="tl">
                  <a:srgbClr val="000000">
                    <a:alpha val="43137"/>
                  </a:srgbClr>
                </a:outerShdw>
              </a:effectLst>
              <a:latin typeface="Times New Roman" panose="02020603050405020304" pitchFamily="18" charset="0"/>
            </a:endParaRPr>
          </a:p>
          <a:p>
            <a:pPr eaLnBrk="1" hangingPunct="1">
              <a:defRPr/>
            </a:pPr>
            <a:r>
              <a:rPr lang="zh-CN" altLang="en-US" sz="2800" b="1" dirty="0">
                <a:effectLst>
                  <a:outerShdw blurRad="38100" dist="38100" dir="2700000" algn="tl">
                    <a:srgbClr val="000000">
                      <a:alpha val="43137"/>
                    </a:srgbClr>
                  </a:outerShdw>
                </a:effectLst>
                <a:latin typeface="Times New Roman" panose="02020603050405020304" pitchFamily="18" charset="0"/>
              </a:rPr>
              <a:t>使用变量时必须先进行定义，格式为：</a:t>
            </a:r>
            <a:endParaRPr lang="en-US" altLang="zh-CN" sz="2800" b="1" dirty="0">
              <a:effectLst>
                <a:outerShdw blurRad="38100" dist="38100" dir="2700000" algn="tl">
                  <a:srgbClr val="000000">
                    <a:alpha val="43137"/>
                  </a:srgbClr>
                </a:outerShdw>
              </a:effectLst>
              <a:latin typeface="Times New Roman" panose="02020603050405020304" pitchFamily="18" charset="0"/>
            </a:endParaRPr>
          </a:p>
          <a:p>
            <a:pPr marL="0" indent="0" eaLnBrk="1" hangingPunct="1">
              <a:buFont typeface="Wingdings" panose="05000000000000000000" pitchFamily="2" charset="2"/>
              <a:buNone/>
              <a:defRPr/>
            </a:pPr>
            <a:r>
              <a:rPr lang="zh-CN" altLang="en-US" sz="2800" b="1" dirty="0">
                <a:effectLst>
                  <a:outerShdw blurRad="38100" dist="38100" dir="2700000" algn="tl">
                    <a:srgbClr val="000000">
                      <a:alpha val="43137"/>
                    </a:srgbClr>
                  </a:outerShdw>
                </a:effectLst>
                <a:latin typeface="Times New Roman" panose="02020603050405020304" pitchFamily="18" charset="0"/>
              </a:rPr>
              <a:t>   </a:t>
            </a:r>
            <a:r>
              <a:rPr lang="en-US" altLang="zh-CN"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存储种类</a:t>
            </a:r>
            <a:r>
              <a:rPr lang="en-US" altLang="zh-CN"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数据类型  </a:t>
            </a:r>
            <a:r>
              <a:rPr lang="en-US" altLang="zh-CN"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存储类型</a:t>
            </a:r>
            <a:r>
              <a:rPr lang="en-US" altLang="zh-CN"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变量名</a:t>
            </a:r>
          </a:p>
          <a:p>
            <a:pPr eaLnBrk="1" hangingPunct="1">
              <a:defRPr/>
            </a:pPr>
            <a:r>
              <a:rPr lang="zh-CN" altLang="en-US" sz="2800" b="1" dirty="0">
                <a:effectLst>
                  <a:outerShdw blurRad="38100" dist="38100" dir="2700000" algn="tl">
                    <a:srgbClr val="000000">
                      <a:alpha val="43137"/>
                    </a:srgbClr>
                  </a:outerShdw>
                </a:effectLst>
                <a:latin typeface="Times New Roman" panose="02020603050405020304" pitchFamily="18" charset="0"/>
              </a:rPr>
              <a:t>字母区分大小写。</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txBox="1"/>
          <p:nvPr/>
        </p:nvSpPr>
        <p:spPr bwMode="auto">
          <a:xfrm>
            <a:off x="674688" y="115888"/>
            <a:ext cx="7793037" cy="623887"/>
          </a:xfrm>
          <a:prstGeom prst="rect">
            <a:avLst/>
          </a:prstGeom>
          <a:noFill/>
          <a:ln>
            <a:noFill/>
          </a:ln>
          <a:effectLst/>
        </p:spPr>
        <p:txBody>
          <a:bodyPr anchor="b"/>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a:lstStyle>
          <a:p>
            <a:pPr algn="ctr">
              <a:defRPr/>
            </a:pPr>
            <a:r>
              <a:rPr lang="zh-CN" altLang="en-US" sz="3200" b="1" kern="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一、存储种类</a:t>
            </a:r>
          </a:p>
        </p:txBody>
      </p:sp>
      <p:sp>
        <p:nvSpPr>
          <p:cNvPr id="5" name="Text Box 6"/>
          <p:cNvSpPr txBox="1">
            <a:spLocks noChangeArrowheads="1"/>
          </p:cNvSpPr>
          <p:nvPr/>
        </p:nvSpPr>
        <p:spPr bwMode="auto">
          <a:xfrm>
            <a:off x="395288" y="814388"/>
            <a:ext cx="8591550" cy="5229225"/>
          </a:xfrm>
          <a:prstGeom prst="rect">
            <a:avLst/>
          </a:prstGeom>
          <a:solidFill>
            <a:schemeClr val="accent3"/>
          </a:solidFill>
          <a:ln>
            <a:noFill/>
          </a:ln>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eaLnBrk="1" hangingPunct="1">
              <a:lnSpc>
                <a:spcPct val="114000"/>
              </a:lnSpc>
              <a:buClr>
                <a:srgbClr val="C00000"/>
              </a:buClr>
              <a:buFont typeface="Wingdings" panose="05000000000000000000" pitchFamily="2" charset="2"/>
              <a:buChar char="p"/>
              <a:defRPr/>
            </a:pPr>
            <a:r>
              <a:rPr lang="zh-CN" altLang="en-US" sz="2600" b="1" dirty="0">
                <a:effectLst>
                  <a:outerShdw blurRad="38100" dist="38100" dir="2700000" algn="tl">
                    <a:srgbClr val="000000">
                      <a:alpha val="43137"/>
                    </a:srgbClr>
                  </a:outerShdw>
                </a:effectLst>
              </a:rPr>
              <a:t>存储种类是指变量在程序执行过程中的作用范围。有</a:t>
            </a:r>
            <a:r>
              <a:rPr lang="en-US" altLang="zh-CN" sz="2600" b="1" dirty="0">
                <a:effectLst>
                  <a:outerShdw blurRad="38100" dist="38100" dir="2700000" algn="tl">
                    <a:srgbClr val="000000">
                      <a:alpha val="43137"/>
                    </a:srgbClr>
                  </a:outerShdw>
                </a:effectLst>
              </a:rPr>
              <a:t>4</a:t>
            </a:r>
            <a:r>
              <a:rPr lang="zh-CN" altLang="en-US" sz="2600" b="1" dirty="0">
                <a:effectLst>
                  <a:outerShdw blurRad="38100" dist="38100" dir="2700000" algn="tl">
                    <a:srgbClr val="000000">
                      <a:alpha val="43137"/>
                    </a:srgbClr>
                  </a:outerShdw>
                </a:effectLst>
              </a:rPr>
              <a:t>种：自动（</a:t>
            </a:r>
            <a:r>
              <a:rPr lang="en-US" altLang="zh-CN" sz="2600" b="1" dirty="0">
                <a:effectLst>
                  <a:outerShdw blurRad="38100" dist="38100" dir="2700000" algn="tl">
                    <a:srgbClr val="000000">
                      <a:alpha val="43137"/>
                    </a:srgbClr>
                  </a:outerShdw>
                </a:effectLst>
              </a:rPr>
              <a:t>auto</a:t>
            </a:r>
            <a:r>
              <a:rPr lang="zh-CN" altLang="en-US" sz="2600" b="1" dirty="0">
                <a:effectLst>
                  <a:outerShdw blurRad="38100" dist="38100" dir="2700000" algn="tl">
                    <a:srgbClr val="000000">
                      <a:alpha val="43137"/>
                    </a:srgbClr>
                  </a:outerShdw>
                </a:effectLst>
              </a:rPr>
              <a:t>）、外部（</a:t>
            </a:r>
            <a:r>
              <a:rPr lang="en-US" altLang="zh-CN" sz="2600" b="1" dirty="0">
                <a:effectLst>
                  <a:outerShdw blurRad="38100" dist="38100" dir="2700000" algn="tl">
                    <a:srgbClr val="000000">
                      <a:alpha val="43137"/>
                    </a:srgbClr>
                  </a:outerShdw>
                </a:effectLst>
              </a:rPr>
              <a:t>extern</a:t>
            </a:r>
            <a:r>
              <a:rPr lang="zh-CN" altLang="en-US" sz="2600" b="1" dirty="0">
                <a:effectLst>
                  <a:outerShdw blurRad="38100" dist="38100" dir="2700000" algn="tl">
                    <a:srgbClr val="000000">
                      <a:alpha val="43137"/>
                    </a:srgbClr>
                  </a:outerShdw>
                </a:effectLst>
              </a:rPr>
              <a:t>）、静态（</a:t>
            </a:r>
            <a:r>
              <a:rPr lang="en-US" altLang="zh-CN" sz="2600" b="1" dirty="0">
                <a:effectLst>
                  <a:outerShdw blurRad="38100" dist="38100" dir="2700000" algn="tl">
                    <a:srgbClr val="000000">
                      <a:alpha val="43137"/>
                    </a:srgbClr>
                  </a:outerShdw>
                </a:effectLst>
              </a:rPr>
              <a:t>static</a:t>
            </a:r>
            <a:r>
              <a:rPr lang="zh-CN" altLang="en-US" sz="2600" b="1" dirty="0">
                <a:effectLst>
                  <a:outerShdw blurRad="38100" dist="38100" dir="2700000" algn="tl">
                    <a:srgbClr val="000000">
                      <a:alpha val="43137"/>
                    </a:srgbClr>
                  </a:outerShdw>
                </a:effectLst>
              </a:rPr>
              <a:t>）、寄存器（</a:t>
            </a:r>
            <a:r>
              <a:rPr lang="en-US" altLang="zh-CN" sz="2600" b="1" dirty="0">
                <a:effectLst>
                  <a:outerShdw blurRad="38100" dist="38100" dir="2700000" algn="tl">
                    <a:srgbClr val="000000">
                      <a:alpha val="43137"/>
                    </a:srgbClr>
                  </a:outerShdw>
                </a:effectLst>
              </a:rPr>
              <a:t>register</a:t>
            </a:r>
            <a:r>
              <a:rPr lang="zh-CN" altLang="en-US" sz="2600" b="1" dirty="0">
                <a:effectLst>
                  <a:outerShdw blurRad="38100" dist="38100" dir="2700000" algn="tl">
                    <a:srgbClr val="000000">
                      <a:alpha val="43137"/>
                    </a:srgbClr>
                  </a:outerShdw>
                </a:effectLst>
              </a:rPr>
              <a:t>）。</a:t>
            </a:r>
            <a:endParaRPr lang="en-US" altLang="zh-CN" sz="2600" b="1" dirty="0">
              <a:effectLst>
                <a:outerShdw blurRad="38100" dist="38100" dir="2700000" algn="tl">
                  <a:srgbClr val="000000">
                    <a:alpha val="43137"/>
                  </a:srgbClr>
                </a:outerShdw>
              </a:effectLst>
            </a:endParaRPr>
          </a:p>
          <a:p>
            <a:pPr eaLnBrk="1" hangingPunct="1">
              <a:lnSpc>
                <a:spcPct val="114000"/>
              </a:lnSpc>
              <a:buClr>
                <a:srgbClr val="C00000"/>
              </a:buClr>
              <a:buFontTx/>
              <a:buNone/>
              <a:defRPr/>
            </a:pPr>
            <a:r>
              <a:rPr lang="zh-CN" altLang="zh-CN" sz="2600" b="1" dirty="0">
                <a:effectLst>
                  <a:outerShdw blurRad="38100" dist="38100" dir="2700000" algn="tl">
                    <a:srgbClr val="000000">
                      <a:alpha val="43137"/>
                    </a:srgbClr>
                  </a:outerShdw>
                </a:effectLst>
              </a:rPr>
              <a:t>①</a:t>
            </a:r>
            <a:r>
              <a:rPr lang="en-US" altLang="zh-CN" sz="2600" b="1" dirty="0">
                <a:effectLst>
                  <a:outerShdw blurRad="38100" dist="38100" dir="2700000" algn="tl">
                    <a:srgbClr val="000000">
                      <a:alpha val="43137"/>
                    </a:srgbClr>
                  </a:outerShdw>
                </a:effectLst>
              </a:rPr>
              <a:t> </a:t>
            </a:r>
            <a:r>
              <a:rPr lang="en-US" altLang="zh-CN" sz="2600" b="1" dirty="0">
                <a:solidFill>
                  <a:srgbClr val="FF0000"/>
                </a:solidFill>
                <a:effectLst>
                  <a:outerShdw blurRad="38100" dist="38100" dir="2700000" algn="tl">
                    <a:srgbClr val="000000">
                      <a:alpha val="43137"/>
                    </a:srgbClr>
                  </a:outerShdw>
                </a:effectLst>
              </a:rPr>
              <a:t>auto</a:t>
            </a:r>
            <a:r>
              <a:rPr lang="zh-CN" altLang="en-US" sz="2600" b="1" dirty="0">
                <a:effectLst>
                  <a:outerShdw blurRad="38100" dist="38100" dir="2700000" algn="tl">
                    <a:srgbClr val="000000">
                      <a:alpha val="43137"/>
                    </a:srgbClr>
                  </a:outerShdw>
                </a:effectLst>
              </a:rPr>
              <a:t>：</a:t>
            </a:r>
            <a:r>
              <a:rPr lang="zh-CN" altLang="zh-CN" sz="26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变量的作用域是在定义该变量的函数体或语句组内</a:t>
            </a:r>
            <a:r>
              <a:rPr lang="zh-CN" altLang="en-US" sz="26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zh-CN" sz="2600" b="1" dirty="0">
                <a:effectLst>
                  <a:outerShdw blurRad="38100" dist="38100" dir="2700000" algn="tl">
                    <a:srgbClr val="000000">
                      <a:alpha val="43137"/>
                    </a:srgbClr>
                  </a:outerShdw>
                </a:effectLst>
              </a:rPr>
              <a:t>对于仅有</a:t>
            </a:r>
            <a:r>
              <a:rPr lang="zh-CN" altLang="zh-CN" sz="2600" b="1" dirty="0">
                <a:solidFill>
                  <a:srgbClr val="FF00FF"/>
                </a:solidFill>
                <a:effectLst>
                  <a:outerShdw blurRad="38100" dist="38100" dir="2700000" algn="tl">
                    <a:srgbClr val="000000">
                      <a:alpha val="43137"/>
                    </a:srgbClr>
                  </a:outerShdw>
                </a:effectLst>
              </a:rPr>
              <a:t>当前</a:t>
            </a:r>
            <a:r>
              <a:rPr lang="zh-CN" altLang="zh-CN" sz="2600" b="1" dirty="0">
                <a:effectLst>
                  <a:outerShdw blurRad="38100" dist="38100" dir="2700000" algn="tl">
                    <a:srgbClr val="000000">
                      <a:alpha val="43137"/>
                    </a:srgbClr>
                  </a:outerShdw>
                </a:effectLst>
              </a:rPr>
              <a:t>使用价值的变量，可以让它用完后</a:t>
            </a:r>
            <a:r>
              <a:rPr lang="zh-CN" altLang="zh-CN" sz="2600" b="1" dirty="0">
                <a:solidFill>
                  <a:srgbClr val="0000FF"/>
                </a:solidFill>
                <a:effectLst>
                  <a:outerShdw blurRad="38100" dist="38100" dir="2700000" algn="tl">
                    <a:srgbClr val="000000">
                      <a:alpha val="43137"/>
                    </a:srgbClr>
                  </a:outerShdw>
                </a:effectLst>
              </a:rPr>
              <a:t>“自动”释放占用的存储单元</a:t>
            </a:r>
            <a:r>
              <a:rPr lang="zh-CN" altLang="zh-CN" sz="2600" b="1" dirty="0">
                <a:effectLst>
                  <a:outerShdw blurRad="38100" dist="38100" dir="2700000" algn="tl">
                    <a:srgbClr val="000000">
                      <a:alpha val="43137"/>
                    </a:srgbClr>
                  </a:outerShdw>
                </a:effectLst>
              </a:rPr>
              <a:t>，以便编译器重新进行变量存储空间分配</a:t>
            </a:r>
            <a:r>
              <a:rPr lang="zh-CN" altLang="en-US" sz="2600" b="1" dirty="0">
                <a:effectLst>
                  <a:outerShdw blurRad="38100" dist="38100" dir="2700000" algn="tl">
                    <a:srgbClr val="000000">
                      <a:alpha val="43137"/>
                    </a:srgbClr>
                  </a:outerShdw>
                </a:effectLst>
              </a:rPr>
              <a:t>。</a:t>
            </a:r>
            <a:r>
              <a:rPr lang="zh-CN" altLang="en-US" sz="26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默认选项</a:t>
            </a:r>
            <a:r>
              <a:rPr lang="zh-CN" altLang="en-US" sz="26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endParaRPr lang="en-US" altLang="zh-CN" sz="2600" b="1" dirty="0">
              <a:effectLst>
                <a:outerShdw blurRad="38100" dist="38100" dir="2700000" algn="tl">
                  <a:srgbClr val="000000">
                    <a:alpha val="43137"/>
                  </a:srgbClr>
                </a:outerShdw>
              </a:effectLst>
            </a:endParaRPr>
          </a:p>
          <a:p>
            <a:pPr eaLnBrk="1" hangingPunct="1">
              <a:lnSpc>
                <a:spcPct val="114000"/>
              </a:lnSpc>
              <a:buFontTx/>
              <a:buNone/>
              <a:defRPr/>
            </a:pPr>
            <a:r>
              <a:rPr lang="zh-CN" altLang="zh-CN" sz="2600" b="1" dirty="0">
                <a:effectLst>
                  <a:outerShdw blurRad="38100" dist="38100" dir="2700000" algn="tl">
                    <a:srgbClr val="000000">
                      <a:alpha val="43137"/>
                    </a:srgbClr>
                  </a:outerShdw>
                </a:effectLst>
              </a:rPr>
              <a:t>②</a:t>
            </a:r>
            <a:r>
              <a:rPr lang="en-US" altLang="zh-CN" sz="2600" b="1" dirty="0">
                <a:effectLst>
                  <a:outerShdw blurRad="38100" dist="38100" dir="2700000" algn="tl">
                    <a:srgbClr val="000000">
                      <a:alpha val="43137"/>
                    </a:srgbClr>
                  </a:outerShdw>
                </a:effectLst>
              </a:rPr>
              <a:t> </a:t>
            </a:r>
            <a:r>
              <a:rPr lang="en-US" altLang="zh-CN" sz="2600" b="1" dirty="0">
                <a:solidFill>
                  <a:srgbClr val="FF0000"/>
                </a:solidFill>
                <a:effectLst>
                  <a:outerShdw blurRad="38100" dist="38100" dir="2700000" algn="tl">
                    <a:srgbClr val="000000">
                      <a:alpha val="43137"/>
                    </a:srgbClr>
                  </a:outerShdw>
                </a:effectLst>
              </a:rPr>
              <a:t>static</a:t>
            </a:r>
            <a:r>
              <a:rPr lang="zh-CN" altLang="en-US" sz="2600" b="1" dirty="0">
                <a:effectLst>
                  <a:outerShdw blurRad="38100" dist="38100" dir="2700000" algn="tl">
                    <a:srgbClr val="000000">
                      <a:alpha val="43137"/>
                    </a:srgbClr>
                  </a:outerShdw>
                </a:effectLst>
              </a:rPr>
              <a:t>：</a:t>
            </a:r>
            <a:r>
              <a:rPr lang="zh-CN" altLang="zh-CN" sz="2600" b="1" dirty="0">
                <a:effectLst>
                  <a:outerShdw blurRad="38100" dist="38100" dir="2700000" algn="tl">
                    <a:srgbClr val="000000">
                      <a:alpha val="43137"/>
                    </a:srgbClr>
                  </a:outerShdw>
                </a:effectLst>
              </a:rPr>
              <a:t>作用域是定义它的函数体、程序文件或语句组内。</a:t>
            </a:r>
            <a:r>
              <a:rPr lang="zh-CN" altLang="en-US" sz="2600" b="1" dirty="0">
                <a:effectLst>
                  <a:outerShdw blurRad="38100" dist="38100" dir="2700000" algn="tl">
                    <a:srgbClr val="000000">
                      <a:alpha val="43137"/>
                    </a:srgbClr>
                  </a:outerShdw>
                </a:effectLst>
              </a:rPr>
              <a:t>具有隐藏性、存储持久性和默认</a:t>
            </a:r>
            <a:r>
              <a:rPr lang="en-US" altLang="zh-CN" sz="2600" b="1" dirty="0">
                <a:effectLst>
                  <a:outerShdw blurRad="38100" dist="38100" dir="2700000" algn="tl">
                    <a:srgbClr val="000000">
                      <a:alpha val="43137"/>
                    </a:srgbClr>
                  </a:outerShdw>
                </a:effectLst>
              </a:rPr>
              <a:t>0</a:t>
            </a:r>
            <a:r>
              <a:rPr lang="zh-CN" altLang="en-US" sz="2600" b="1" dirty="0">
                <a:effectLst>
                  <a:outerShdw blurRad="38100" dist="38100" dir="2700000" algn="tl">
                    <a:srgbClr val="000000">
                      <a:alpha val="43137"/>
                    </a:srgbClr>
                  </a:outerShdw>
                </a:effectLst>
              </a:rPr>
              <a:t>初值的特点。</a:t>
            </a:r>
            <a:r>
              <a:rPr lang="zh-CN" altLang="zh-CN" sz="2600" b="1" dirty="0">
                <a:effectLst>
                  <a:outerShdw blurRad="38100" dist="38100" dir="2700000" algn="tl">
                    <a:srgbClr val="000000">
                      <a:alpha val="43137"/>
                    </a:srgbClr>
                  </a:outerShdw>
                </a:effectLst>
              </a:rPr>
              <a:t>对于具有</a:t>
            </a:r>
            <a:r>
              <a:rPr lang="zh-CN" altLang="zh-CN" sz="2600" b="1" dirty="0">
                <a:solidFill>
                  <a:srgbClr val="FF00FF"/>
                </a:solidFill>
                <a:effectLst>
                  <a:outerShdw blurRad="38100" dist="38100" dir="2700000" algn="tl">
                    <a:srgbClr val="000000">
                      <a:alpha val="43137"/>
                    </a:srgbClr>
                  </a:outerShdw>
                </a:effectLst>
              </a:rPr>
              <a:t>长期</a:t>
            </a:r>
            <a:r>
              <a:rPr lang="zh-CN" altLang="zh-CN" sz="2600" b="1" dirty="0">
                <a:effectLst>
                  <a:outerShdw blurRad="38100" dist="38100" dir="2700000" algn="tl">
                    <a:srgbClr val="000000">
                      <a:alpha val="43137"/>
                    </a:srgbClr>
                  </a:outerShdw>
                </a:effectLst>
              </a:rPr>
              <a:t>使用价值的变量，可以</a:t>
            </a:r>
            <a:r>
              <a:rPr lang="zh-CN" altLang="en-US" sz="2600" b="1" dirty="0">
                <a:effectLst>
                  <a:outerShdw blurRad="38100" dist="38100" dir="2700000" algn="tl">
                    <a:srgbClr val="000000">
                      <a:alpha val="43137"/>
                    </a:srgbClr>
                  </a:outerShdw>
                </a:effectLst>
              </a:rPr>
              <a:t>设置为</a:t>
            </a:r>
            <a:r>
              <a:rPr lang="zh-CN" altLang="zh-CN" sz="2600" b="1" dirty="0">
                <a:effectLst>
                  <a:outerShdw blurRad="38100" dist="38100" dir="2700000" algn="tl">
                    <a:srgbClr val="000000">
                      <a:alpha val="43137"/>
                    </a:srgbClr>
                  </a:outerShdw>
                </a:effectLst>
              </a:rPr>
              <a:t>“静态”，</a:t>
            </a:r>
            <a:r>
              <a:rPr lang="zh-CN" altLang="zh-CN" sz="2600" b="1" dirty="0">
                <a:solidFill>
                  <a:srgbClr val="0000FF"/>
                </a:solidFill>
                <a:effectLst>
                  <a:outerShdw blurRad="38100" dist="38100" dir="2700000" algn="tl">
                    <a:srgbClr val="000000">
                      <a:alpha val="43137"/>
                    </a:srgbClr>
                  </a:outerShdw>
                </a:effectLst>
              </a:rPr>
              <a:t>在程序运行期间都不释放存储单元</a:t>
            </a:r>
            <a:r>
              <a:rPr lang="zh-CN" altLang="zh-CN" sz="2600" b="1" dirty="0">
                <a:effectLst>
                  <a:outerShdw blurRad="38100" dist="38100" dir="2700000" algn="tl">
                    <a:srgbClr val="000000">
                      <a:alpha val="43137"/>
                    </a:srgbClr>
                  </a:outerShdw>
                </a:effectLst>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randombar(horizontal)">
                                      <p:cBhvr>
                                        <p:cTn id="7" dur="500"/>
                                        <p:tgtEl>
                                          <p:spTgt spid="5">
                                            <p:bg/>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randombar(horizontal)">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randombar(horizontal)">
                                      <p:cBhvr>
                                        <p:cTn id="2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468313" y="549275"/>
            <a:ext cx="8302625" cy="4742067"/>
          </a:xfrm>
          <a:prstGeom prst="rect">
            <a:avLst/>
          </a:prstGeom>
          <a:solidFill>
            <a:schemeClr val="accent3"/>
          </a:solidFill>
          <a:ln>
            <a:noFill/>
          </a:ln>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4000"/>
              </a:lnSpc>
              <a:buFontTx/>
              <a:buNone/>
              <a:defRPr/>
            </a:pPr>
            <a:r>
              <a:rPr lang="zh-CN" altLang="zh-CN" sz="2800" b="1" dirty="0">
                <a:effectLst>
                  <a:outerShdw blurRad="38100" dist="38100" dir="2700000" algn="tl">
                    <a:srgbClr val="000000">
                      <a:alpha val="43137"/>
                    </a:srgbClr>
                  </a:outerShdw>
                </a:effectLst>
              </a:rPr>
              <a:t>③</a:t>
            </a:r>
            <a:r>
              <a:rPr lang="en-US" altLang="zh-CN" sz="2800" b="1" dirty="0">
                <a:effectLst>
                  <a:outerShdw blurRad="38100" dist="38100" dir="2700000" algn="tl">
                    <a:srgbClr val="000000">
                      <a:alpha val="43137"/>
                    </a:srgbClr>
                  </a:outerShdw>
                </a:effectLst>
              </a:rPr>
              <a:t> </a:t>
            </a:r>
            <a:r>
              <a:rPr lang="en-US" altLang="zh-CN" sz="2600" b="1" dirty="0">
                <a:solidFill>
                  <a:srgbClr val="FF0000"/>
                </a:solidFill>
                <a:effectLst>
                  <a:outerShdw blurRad="38100" dist="38100" dir="2700000" algn="tl">
                    <a:srgbClr val="000000">
                      <a:alpha val="43137"/>
                    </a:srgbClr>
                  </a:outerShdw>
                </a:effectLst>
              </a:rPr>
              <a:t>extern</a:t>
            </a:r>
            <a:r>
              <a:rPr lang="zh-CN" altLang="en-US" sz="2800" b="1" dirty="0">
                <a:effectLst>
                  <a:outerShdw blurRad="38100" dist="38100" dir="2700000" algn="tl">
                    <a:srgbClr val="000000">
                      <a:alpha val="43137"/>
                    </a:srgbClr>
                  </a:outerShdw>
                </a:effectLst>
              </a:rPr>
              <a:t>：</a:t>
            </a:r>
            <a:r>
              <a:rPr lang="zh-CN" altLang="zh-CN" sz="2800" b="1" dirty="0">
                <a:effectLst>
                  <a:outerShdw blurRad="38100" dist="38100" dir="2700000" algn="tl">
                    <a:srgbClr val="000000">
                      <a:alpha val="43137"/>
                    </a:srgbClr>
                  </a:outerShdw>
                </a:effectLst>
              </a:rPr>
              <a:t>变量的定义与使用不在同一个作用域内</a:t>
            </a:r>
            <a:r>
              <a:rPr lang="zh-CN" altLang="en-US" sz="2800" b="1" dirty="0">
                <a:effectLst>
                  <a:outerShdw blurRad="38100" dist="38100" dir="2700000" algn="tl">
                    <a:srgbClr val="000000">
                      <a:alpha val="43137"/>
                    </a:srgbClr>
                  </a:outerShdw>
                </a:effectLst>
              </a:rPr>
              <a:t>。</a:t>
            </a:r>
            <a:r>
              <a:rPr lang="zh-CN" altLang="zh-CN" sz="2800" b="1" dirty="0">
                <a:effectLst>
                  <a:outerShdw blurRad="38100" dist="38100" dir="2700000" algn="tl">
                    <a:srgbClr val="000000">
                      <a:alpha val="43137"/>
                    </a:srgbClr>
                  </a:outerShdw>
                </a:effectLst>
              </a:rPr>
              <a:t>对于需要在多个程序或函数中传递数据的变量，可以让它只在一处进行定义，而在其它程序或函数中声明它的“外部”属性，从而</a:t>
            </a:r>
            <a:r>
              <a:rPr lang="zh-CN" altLang="zh-CN" sz="2800" b="1" dirty="0">
                <a:solidFill>
                  <a:srgbClr val="0000FF"/>
                </a:solidFill>
                <a:effectLst>
                  <a:outerShdw blurRad="38100" dist="38100" dir="2700000" algn="tl">
                    <a:srgbClr val="000000">
                      <a:alpha val="43137"/>
                    </a:srgbClr>
                  </a:outerShdw>
                </a:effectLst>
              </a:rPr>
              <a:t>实现该变量的数据共享</a:t>
            </a:r>
            <a:r>
              <a:rPr lang="zh-CN" altLang="zh-CN" sz="2800" b="1" dirty="0">
                <a:effectLst>
                  <a:outerShdw blurRad="38100" dist="38100" dir="2700000" algn="tl">
                    <a:srgbClr val="000000">
                      <a:alpha val="43137"/>
                    </a:srgbClr>
                  </a:outerShdw>
                </a:effectLst>
              </a:rPr>
              <a:t>；变量</a:t>
            </a:r>
            <a:r>
              <a:rPr lang="zh-CN" altLang="en-US" sz="2800" b="1" dirty="0">
                <a:effectLst>
                  <a:outerShdw blurRad="38100" dist="38100" dir="2700000" algn="tl">
                    <a:srgbClr val="000000">
                      <a:alpha val="43137"/>
                    </a:srgbClr>
                  </a:outerShdw>
                </a:effectLst>
              </a:rPr>
              <a:t>作</a:t>
            </a:r>
            <a:r>
              <a:rPr lang="en-US" altLang="zh-CN" sz="2800" b="1" dirty="0">
                <a:effectLst>
                  <a:outerShdw blurRad="38100" dist="38100" dir="2700000" algn="tl">
                    <a:srgbClr val="000000">
                      <a:alpha val="43137"/>
                    </a:srgbClr>
                  </a:outerShdw>
                </a:effectLst>
              </a:rPr>
              <a:t>extern</a:t>
            </a:r>
            <a:r>
              <a:rPr lang="zh-CN" altLang="zh-CN" sz="2800" b="1" dirty="0">
                <a:effectLst>
                  <a:outerShdw blurRad="38100" dist="38100" dir="2700000" algn="tl">
                    <a:srgbClr val="000000">
                      <a:alpha val="43137"/>
                    </a:srgbClr>
                  </a:outerShdw>
                </a:effectLst>
              </a:rPr>
              <a:t>声明后可分配固定的存储单元，并在程序的整个执行期内始终有效。</a:t>
            </a:r>
          </a:p>
          <a:p>
            <a:pPr eaLnBrk="1" hangingPunct="1">
              <a:lnSpc>
                <a:spcPct val="114000"/>
              </a:lnSpc>
              <a:buFontTx/>
              <a:buNone/>
              <a:defRPr/>
            </a:pPr>
            <a:endParaRPr lang="en-US" altLang="zh-CN" sz="900" b="1" dirty="0">
              <a:effectLst>
                <a:outerShdw blurRad="38100" dist="38100" dir="2700000" algn="tl">
                  <a:srgbClr val="000000">
                    <a:alpha val="43137"/>
                  </a:srgbClr>
                </a:outerShdw>
              </a:effectLst>
            </a:endParaRPr>
          </a:p>
          <a:p>
            <a:pPr eaLnBrk="1" hangingPunct="1">
              <a:lnSpc>
                <a:spcPct val="114000"/>
              </a:lnSpc>
              <a:buFontTx/>
              <a:buNone/>
              <a:defRPr/>
            </a:pPr>
            <a:r>
              <a:rPr lang="zh-CN" altLang="zh-CN" sz="2800" b="1" dirty="0">
                <a:effectLst>
                  <a:outerShdw blurRad="38100" dist="38100" dir="2700000" algn="tl">
                    <a:srgbClr val="000000">
                      <a:alpha val="43137"/>
                    </a:srgbClr>
                  </a:outerShdw>
                </a:effectLst>
              </a:rPr>
              <a:t>④</a:t>
            </a:r>
            <a:r>
              <a:rPr lang="en-US" altLang="zh-CN" sz="2800" b="1" dirty="0">
                <a:effectLst>
                  <a:outerShdw blurRad="38100" dist="38100" dir="2700000" algn="tl">
                    <a:srgbClr val="000000">
                      <a:alpha val="43137"/>
                    </a:srgbClr>
                  </a:outerShdw>
                </a:effectLst>
              </a:rPr>
              <a:t> </a:t>
            </a:r>
            <a:r>
              <a:rPr lang="en-US" altLang="zh-CN" sz="2600" b="1" dirty="0">
                <a:solidFill>
                  <a:srgbClr val="FF0000"/>
                </a:solidFill>
                <a:effectLst>
                  <a:outerShdw blurRad="38100" dist="38100" dir="2700000" algn="tl">
                    <a:srgbClr val="000000">
                      <a:alpha val="43137"/>
                    </a:srgbClr>
                  </a:outerShdw>
                </a:effectLst>
              </a:rPr>
              <a:t>register</a:t>
            </a:r>
            <a:r>
              <a:rPr lang="zh-CN" altLang="en-US" sz="2800" b="1" dirty="0">
                <a:effectLst>
                  <a:outerShdw blurRad="38100" dist="38100" dir="2700000" algn="tl">
                    <a:srgbClr val="000000">
                      <a:alpha val="43137"/>
                    </a:srgbClr>
                  </a:outerShdw>
                </a:effectLst>
              </a:rPr>
              <a:t>：</a:t>
            </a:r>
            <a:r>
              <a:rPr lang="zh-CN" altLang="zh-CN" sz="2800" b="1" dirty="0">
                <a:effectLst>
                  <a:outerShdw blurRad="38100" dist="38100" dir="2700000" algn="tl">
                    <a:srgbClr val="000000">
                      <a:alpha val="43137"/>
                    </a:srgbClr>
                  </a:outerShdw>
                </a:effectLst>
              </a:rPr>
              <a:t>对于需要频繁改变其值的变量，可让其数值保存在</a:t>
            </a:r>
            <a:r>
              <a:rPr lang="en-US" altLang="zh-CN" sz="2800" b="1" dirty="0">
                <a:effectLst>
                  <a:outerShdw blurRad="38100" dist="38100" dir="2700000" algn="tl">
                    <a:srgbClr val="000000">
                      <a:alpha val="43137"/>
                    </a:srgbClr>
                  </a:outerShdw>
                </a:effectLst>
              </a:rPr>
              <a:t>CPU</a:t>
            </a:r>
            <a:r>
              <a:rPr lang="zh-CN" altLang="zh-CN" sz="2800" b="1" dirty="0">
                <a:effectLst>
                  <a:outerShdw blurRad="38100" dist="38100" dir="2700000" algn="tl">
                    <a:srgbClr val="000000">
                      <a:alpha val="43137"/>
                    </a:srgbClr>
                  </a:outerShdw>
                </a:effectLst>
              </a:rPr>
              <a:t>的“寄存器”中，</a:t>
            </a:r>
            <a:r>
              <a:rPr lang="zh-CN" altLang="zh-CN" sz="2800" b="1" dirty="0">
                <a:solidFill>
                  <a:srgbClr val="0000FF"/>
                </a:solidFill>
                <a:effectLst>
                  <a:outerShdw blurRad="38100" dist="38100" dir="2700000" algn="tl">
                    <a:srgbClr val="000000">
                      <a:alpha val="43137"/>
                    </a:srgbClr>
                  </a:outerShdw>
                </a:effectLst>
              </a:rPr>
              <a:t>避免反复访问内存</a:t>
            </a:r>
            <a:r>
              <a:rPr lang="zh-CN" altLang="zh-CN" sz="2800" b="1" dirty="0">
                <a:effectLst>
                  <a:outerShdw blurRad="38100" dist="38100" dir="2700000" algn="tl">
                    <a:srgbClr val="000000">
                      <a:alpha val="43137"/>
                    </a:srgbClr>
                  </a:outerShdw>
                </a:effectLst>
              </a:rPr>
              <a:t>，从而获得较高的执行效率。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randombar(horizontal)">
                                      <p:cBhvr>
                                        <p:cTn id="7" dur="500"/>
                                        <p:tgtEl>
                                          <p:spTgt spid="2">
                                            <p:bg/>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439738" y="908050"/>
            <a:ext cx="8264525" cy="4814888"/>
          </a:xfrm>
          <a:prstGeom prst="rect">
            <a:avLst/>
          </a:prstGeom>
          <a:solidFill>
            <a:schemeClr val="accent3"/>
          </a:solidFill>
          <a:ln>
            <a:noFill/>
          </a:ln>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buFontTx/>
              <a:buNone/>
              <a:defRPr/>
            </a:pPr>
            <a:r>
              <a:rPr lang="zh-CN" altLang="zh-CN" sz="2400" b="1" dirty="0">
                <a:effectLst>
                  <a:outerShdw blurRad="38100" dist="38100" dir="2700000" algn="tl">
                    <a:srgbClr val="000000">
                      <a:alpha val="43137"/>
                    </a:srgbClr>
                  </a:outerShdw>
                </a:effectLst>
              </a:rPr>
              <a:t>注意，</a:t>
            </a:r>
            <a:r>
              <a:rPr lang="en-US" altLang="zh-CN" sz="2400" b="1" dirty="0">
                <a:effectLst>
                  <a:outerShdw blurRad="38100" dist="38100" dir="2700000" algn="tl">
                    <a:srgbClr val="000000">
                      <a:alpha val="43137"/>
                    </a:srgbClr>
                  </a:outerShdw>
                </a:effectLst>
              </a:rPr>
              <a:t>auto</a:t>
            </a:r>
            <a:r>
              <a:rPr lang="zh-CN" altLang="zh-CN" sz="2400" b="1" dirty="0">
                <a:effectLst>
                  <a:outerShdw blurRad="38100" dist="38100" dir="2700000" algn="tl">
                    <a:srgbClr val="000000">
                      <a:alpha val="43137"/>
                    </a:srgbClr>
                  </a:outerShdw>
                </a:effectLst>
              </a:rPr>
              <a:t>，</a:t>
            </a:r>
            <a:r>
              <a:rPr lang="en-US" altLang="zh-CN" sz="2400" b="1" dirty="0">
                <a:effectLst>
                  <a:outerShdw blurRad="38100" dist="38100" dir="2700000" algn="tl">
                    <a:srgbClr val="000000">
                      <a:alpha val="43137"/>
                    </a:srgbClr>
                  </a:outerShdw>
                </a:effectLst>
              </a:rPr>
              <a:t>static</a:t>
            </a:r>
            <a:r>
              <a:rPr lang="zh-CN" altLang="zh-CN" sz="2400" b="1" dirty="0">
                <a:effectLst>
                  <a:outerShdw blurRad="38100" dist="38100" dir="2700000" algn="tl">
                    <a:srgbClr val="000000">
                      <a:alpha val="43137"/>
                    </a:srgbClr>
                  </a:outerShdw>
                </a:effectLst>
              </a:rPr>
              <a:t>和</a:t>
            </a:r>
            <a:r>
              <a:rPr lang="en-US" altLang="zh-CN" sz="2400" b="1" dirty="0">
                <a:effectLst>
                  <a:outerShdw blurRad="38100" dist="38100" dir="2700000" algn="tl">
                    <a:srgbClr val="000000">
                      <a:alpha val="43137"/>
                    </a:srgbClr>
                  </a:outerShdw>
                </a:effectLst>
              </a:rPr>
              <a:t>register</a:t>
            </a:r>
            <a:r>
              <a:rPr lang="zh-CN" altLang="zh-CN" sz="2400" b="1" dirty="0">
                <a:effectLst>
                  <a:outerShdw blurRad="38100" dist="38100" dir="2700000" algn="tl">
                    <a:srgbClr val="000000">
                      <a:alpha val="43137"/>
                    </a:srgbClr>
                  </a:outerShdw>
                </a:effectLst>
              </a:rPr>
              <a:t>关键词需要在变量定义的同时进行使用，不能单独使用，因此</a:t>
            </a:r>
            <a:r>
              <a:rPr lang="zh-CN" altLang="zh-CN" sz="2400" b="1" dirty="0">
                <a:solidFill>
                  <a:srgbClr val="0000FF"/>
                </a:solidFill>
                <a:effectLst>
                  <a:outerShdw blurRad="38100" dist="38100" dir="2700000" algn="tl">
                    <a:srgbClr val="000000">
                      <a:alpha val="43137"/>
                    </a:srgbClr>
                  </a:outerShdw>
                </a:effectLst>
              </a:rPr>
              <a:t>下面的用法是</a:t>
            </a:r>
            <a:r>
              <a:rPr lang="zh-CN" altLang="en-US" sz="2400" b="1" dirty="0">
                <a:solidFill>
                  <a:srgbClr val="0000FF"/>
                </a:solidFill>
                <a:effectLst>
                  <a:outerShdw blurRad="38100" dist="38100" dir="2700000" algn="tl">
                    <a:srgbClr val="000000">
                      <a:alpha val="43137"/>
                    </a:srgbClr>
                  </a:outerShdw>
                </a:effectLst>
              </a:rPr>
              <a:t>错误</a:t>
            </a:r>
            <a:r>
              <a:rPr lang="zh-CN" altLang="zh-CN" sz="2400" b="1" dirty="0">
                <a:solidFill>
                  <a:srgbClr val="0000FF"/>
                </a:solidFill>
                <a:effectLst>
                  <a:outerShdw blurRad="38100" dist="38100" dir="2700000" algn="tl">
                    <a:srgbClr val="000000">
                      <a:alpha val="43137"/>
                    </a:srgbClr>
                  </a:outerShdw>
                </a:effectLst>
              </a:rPr>
              <a:t>的</a:t>
            </a:r>
            <a:r>
              <a:rPr lang="zh-CN" altLang="zh-CN" sz="2400" b="1" dirty="0">
                <a:effectLst>
                  <a:outerShdw blurRad="38100" dist="38100" dir="2700000" algn="tl">
                    <a:srgbClr val="000000">
                      <a:alpha val="43137"/>
                    </a:srgbClr>
                  </a:outerShdw>
                </a:effectLst>
              </a:rPr>
              <a:t>：</a:t>
            </a:r>
          </a:p>
          <a:p>
            <a:pPr indent="542925" eaLnBrk="1" hangingPunct="1">
              <a:lnSpc>
                <a:spcPct val="110000"/>
              </a:lnSpc>
              <a:buFontTx/>
              <a:buNone/>
              <a:defRPr/>
            </a:pPr>
            <a:r>
              <a:rPr lang="en-US" altLang="zh-CN" sz="2200" b="1" dirty="0" err="1">
                <a:solidFill>
                  <a:srgbClr val="FF0000"/>
                </a:solidFill>
                <a:effectLst>
                  <a:outerShdw blurRad="38100" dist="38100" dir="2700000" algn="tl">
                    <a:srgbClr val="000000">
                      <a:alpha val="43137"/>
                    </a:srgbClr>
                  </a:outerShdw>
                </a:effectLst>
              </a:rPr>
              <a:t>int</a:t>
            </a:r>
            <a:r>
              <a:rPr lang="en-US" altLang="zh-CN" sz="2200" b="1" dirty="0">
                <a:solidFill>
                  <a:srgbClr val="FF0000"/>
                </a:solidFill>
                <a:effectLst>
                  <a:outerShdw blurRad="38100" dist="38100" dir="2700000" algn="tl">
                    <a:srgbClr val="000000">
                      <a:alpha val="43137"/>
                    </a:srgbClr>
                  </a:outerShdw>
                </a:effectLst>
              </a:rPr>
              <a:t> a;   </a:t>
            </a:r>
            <a:r>
              <a:rPr lang="zh-CN" altLang="zh-CN" sz="2200" b="1" dirty="0">
                <a:solidFill>
                  <a:srgbClr val="FF0000"/>
                </a:solidFill>
                <a:effectLst>
                  <a:outerShdw blurRad="38100" dist="38100" dir="2700000" algn="tl">
                    <a:srgbClr val="000000">
                      <a:alpha val="43137"/>
                    </a:srgbClr>
                  </a:outerShdw>
                </a:effectLst>
              </a:rPr>
              <a:t>（先定义整型变量</a:t>
            </a:r>
            <a:r>
              <a:rPr lang="en-US" altLang="zh-CN" sz="2200" b="1" dirty="0">
                <a:solidFill>
                  <a:srgbClr val="FF0000"/>
                </a:solidFill>
                <a:effectLst>
                  <a:outerShdw blurRad="38100" dist="38100" dir="2700000" algn="tl">
                    <a:srgbClr val="000000">
                      <a:alpha val="43137"/>
                    </a:srgbClr>
                  </a:outerShdw>
                </a:effectLst>
              </a:rPr>
              <a:t>a</a:t>
            </a:r>
            <a:r>
              <a:rPr lang="zh-CN" altLang="zh-CN" sz="2200" b="1" dirty="0">
                <a:solidFill>
                  <a:srgbClr val="FF0000"/>
                </a:solidFill>
                <a:effectLst>
                  <a:outerShdw blurRad="38100" dist="38100" dir="2700000" algn="tl">
                    <a:srgbClr val="000000">
                      <a:alpha val="43137"/>
                    </a:srgbClr>
                  </a:outerShdw>
                </a:effectLst>
              </a:rPr>
              <a:t>）</a:t>
            </a:r>
          </a:p>
          <a:p>
            <a:pPr indent="542925" eaLnBrk="1" hangingPunct="1">
              <a:lnSpc>
                <a:spcPct val="110000"/>
              </a:lnSpc>
              <a:buFontTx/>
              <a:buNone/>
              <a:defRPr/>
            </a:pPr>
            <a:r>
              <a:rPr lang="en-US" altLang="zh-CN" sz="2200" b="1" dirty="0">
                <a:solidFill>
                  <a:srgbClr val="FF0000"/>
                </a:solidFill>
                <a:effectLst>
                  <a:outerShdw blurRad="38100" dist="38100" dir="2700000" algn="tl">
                    <a:srgbClr val="000000">
                      <a:alpha val="43137"/>
                    </a:srgbClr>
                  </a:outerShdw>
                </a:effectLst>
              </a:rPr>
              <a:t>static a; </a:t>
            </a:r>
            <a:r>
              <a:rPr lang="zh-CN" altLang="zh-CN" sz="2200" b="1" dirty="0">
                <a:solidFill>
                  <a:srgbClr val="FF0000"/>
                </a:solidFill>
                <a:effectLst>
                  <a:outerShdw blurRad="38100" dist="38100" dir="2700000" algn="tl">
                    <a:srgbClr val="000000">
                      <a:alpha val="43137"/>
                    </a:srgbClr>
                  </a:outerShdw>
                </a:effectLst>
              </a:rPr>
              <a:t>（企图再对</a:t>
            </a:r>
            <a:r>
              <a:rPr lang="en-US" altLang="zh-CN" sz="2200" b="1" dirty="0">
                <a:solidFill>
                  <a:srgbClr val="FF0000"/>
                </a:solidFill>
                <a:effectLst>
                  <a:outerShdw blurRad="38100" dist="38100" dir="2700000" algn="tl">
                    <a:srgbClr val="000000">
                      <a:alpha val="43137"/>
                    </a:srgbClr>
                  </a:outerShdw>
                </a:effectLst>
              </a:rPr>
              <a:t>a</a:t>
            </a:r>
            <a:r>
              <a:rPr lang="zh-CN" altLang="zh-CN" sz="2200" b="1" dirty="0">
                <a:solidFill>
                  <a:srgbClr val="FF0000"/>
                </a:solidFill>
                <a:effectLst>
                  <a:outerShdw blurRad="38100" dist="38100" dir="2700000" algn="tl">
                    <a:srgbClr val="000000">
                      <a:alpha val="43137"/>
                    </a:srgbClr>
                  </a:outerShdw>
                </a:effectLst>
              </a:rPr>
              <a:t>声明为静态变量）</a:t>
            </a:r>
          </a:p>
          <a:p>
            <a:pPr eaLnBrk="1" hangingPunct="1">
              <a:lnSpc>
                <a:spcPct val="110000"/>
              </a:lnSpc>
              <a:buFontTx/>
              <a:buNone/>
              <a:defRPr/>
            </a:pPr>
            <a:r>
              <a:rPr lang="zh-CN" altLang="zh-CN" sz="2400" b="1" dirty="0">
                <a:effectLst>
                  <a:outerShdw blurRad="38100" dist="38100" dir="2700000" algn="tl">
                    <a:srgbClr val="000000">
                      <a:alpha val="43137"/>
                    </a:srgbClr>
                  </a:outerShdw>
                </a:effectLst>
              </a:rPr>
              <a:t>这样做会被编译器认为是“重新定义”。</a:t>
            </a:r>
            <a:r>
              <a:rPr lang="zh-CN" altLang="zh-CN" sz="2400" b="1" dirty="0">
                <a:solidFill>
                  <a:srgbClr val="0000FF"/>
                </a:solidFill>
                <a:effectLst>
                  <a:outerShdw blurRad="38100" dist="38100" dir="2700000" algn="tl">
                    <a:srgbClr val="000000">
                      <a:alpha val="43137"/>
                    </a:srgbClr>
                  </a:outerShdw>
                </a:effectLst>
              </a:rPr>
              <a:t>正确的用法应该是</a:t>
            </a:r>
            <a:r>
              <a:rPr lang="zh-CN" altLang="zh-CN" sz="2400" b="1" dirty="0">
                <a:effectLst>
                  <a:outerShdw blurRad="38100" dist="38100" dir="2700000" algn="tl">
                    <a:srgbClr val="000000">
                      <a:alpha val="43137"/>
                    </a:srgbClr>
                  </a:outerShdw>
                </a:effectLst>
              </a:rPr>
              <a:t>：</a:t>
            </a:r>
          </a:p>
          <a:p>
            <a:pPr indent="542925" eaLnBrk="1" hangingPunct="1">
              <a:lnSpc>
                <a:spcPct val="110000"/>
              </a:lnSpc>
              <a:buFontTx/>
              <a:buNone/>
              <a:defRPr/>
            </a:pPr>
            <a:r>
              <a:rPr lang="en-US" altLang="zh-CN" sz="2200" b="1" dirty="0">
                <a:solidFill>
                  <a:srgbClr val="FF0000"/>
                </a:solidFill>
                <a:effectLst>
                  <a:outerShdw blurRad="38100" dist="38100" dir="2700000" algn="tl">
                    <a:srgbClr val="000000">
                      <a:alpha val="43137"/>
                    </a:srgbClr>
                  </a:outerShdw>
                </a:effectLst>
              </a:rPr>
              <a:t>static </a:t>
            </a:r>
            <a:r>
              <a:rPr lang="en-US" altLang="zh-CN" sz="2200" b="1" dirty="0" err="1">
                <a:solidFill>
                  <a:srgbClr val="FF0000"/>
                </a:solidFill>
                <a:effectLst>
                  <a:outerShdw blurRad="38100" dist="38100" dir="2700000" algn="tl">
                    <a:srgbClr val="000000">
                      <a:alpha val="43137"/>
                    </a:srgbClr>
                  </a:outerShdw>
                </a:effectLst>
              </a:rPr>
              <a:t>int</a:t>
            </a:r>
            <a:r>
              <a:rPr lang="en-US" altLang="zh-CN" sz="2200" b="1" dirty="0">
                <a:solidFill>
                  <a:srgbClr val="FF0000"/>
                </a:solidFill>
                <a:effectLst>
                  <a:outerShdw blurRad="38100" dist="38100" dir="2700000" algn="tl">
                    <a:srgbClr val="000000">
                      <a:alpha val="43137"/>
                    </a:srgbClr>
                  </a:outerShdw>
                </a:effectLst>
              </a:rPr>
              <a:t> a;  </a:t>
            </a:r>
            <a:endParaRPr lang="zh-CN" altLang="zh-CN" sz="2200" b="1" dirty="0">
              <a:solidFill>
                <a:srgbClr val="FF0000"/>
              </a:solidFill>
              <a:effectLst>
                <a:outerShdw blurRad="38100" dist="38100" dir="2700000" algn="tl">
                  <a:srgbClr val="000000">
                    <a:alpha val="43137"/>
                  </a:srgbClr>
                </a:outerShdw>
              </a:effectLst>
            </a:endParaRPr>
          </a:p>
          <a:p>
            <a:pPr eaLnBrk="1" hangingPunct="1">
              <a:lnSpc>
                <a:spcPct val="110000"/>
              </a:lnSpc>
              <a:buFontTx/>
              <a:buNone/>
              <a:defRPr/>
            </a:pPr>
            <a:r>
              <a:rPr lang="zh-CN" altLang="zh-CN" sz="2400" b="1" dirty="0">
                <a:effectLst>
                  <a:outerShdw blurRad="38100" dist="38100" dir="2700000" algn="tl">
                    <a:srgbClr val="000000">
                      <a:alpha val="43137"/>
                    </a:srgbClr>
                  </a:outerShdw>
                </a:effectLst>
              </a:rPr>
              <a:t>但是，</a:t>
            </a:r>
            <a:r>
              <a:rPr lang="en-US" altLang="zh-CN" sz="2400" b="1" dirty="0">
                <a:solidFill>
                  <a:srgbClr val="0000FF"/>
                </a:solidFill>
                <a:effectLst>
                  <a:outerShdw blurRad="38100" dist="38100" dir="2700000" algn="tl">
                    <a:srgbClr val="000000">
                      <a:alpha val="43137"/>
                    </a:srgbClr>
                  </a:outerShdw>
                </a:effectLst>
              </a:rPr>
              <a:t>extern</a:t>
            </a:r>
            <a:r>
              <a:rPr lang="zh-CN" altLang="zh-CN" sz="2400" b="1" dirty="0">
                <a:solidFill>
                  <a:srgbClr val="0000FF"/>
                </a:solidFill>
                <a:effectLst>
                  <a:outerShdw blurRad="38100" dist="38100" dir="2700000" algn="tl">
                    <a:srgbClr val="000000">
                      <a:alpha val="43137"/>
                    </a:srgbClr>
                  </a:outerShdw>
                </a:effectLst>
              </a:rPr>
              <a:t>却是可以单独进行声明的</a:t>
            </a:r>
            <a:r>
              <a:rPr lang="zh-CN" altLang="zh-CN" sz="2400" b="1" dirty="0">
                <a:effectLst>
                  <a:outerShdw blurRad="38100" dist="38100" dir="2700000" algn="tl">
                    <a:srgbClr val="000000">
                      <a:alpha val="43137"/>
                    </a:srgbClr>
                  </a:outerShdw>
                </a:effectLst>
              </a:rPr>
              <a:t>，它可对已定义过的变量进行作用域扩展，例如：</a:t>
            </a:r>
          </a:p>
          <a:p>
            <a:pPr indent="444500" eaLnBrk="1" hangingPunct="1">
              <a:lnSpc>
                <a:spcPct val="110000"/>
              </a:lnSpc>
              <a:buFontTx/>
              <a:buNone/>
              <a:defRPr/>
            </a:pPr>
            <a:r>
              <a:rPr lang="en-US" altLang="zh-CN" sz="2200" b="1" dirty="0" err="1">
                <a:solidFill>
                  <a:srgbClr val="FF0000"/>
                </a:solidFill>
                <a:effectLst>
                  <a:outerShdw blurRad="38100" dist="38100" dir="2700000" algn="tl">
                    <a:srgbClr val="000000">
                      <a:alpha val="43137"/>
                    </a:srgbClr>
                  </a:outerShdw>
                </a:effectLst>
              </a:rPr>
              <a:t>int</a:t>
            </a:r>
            <a:r>
              <a:rPr lang="en-US" altLang="zh-CN" sz="2200" b="1" dirty="0">
                <a:solidFill>
                  <a:srgbClr val="FF0000"/>
                </a:solidFill>
                <a:effectLst>
                  <a:outerShdw blurRad="38100" dist="38100" dir="2700000" algn="tl">
                    <a:srgbClr val="000000">
                      <a:alpha val="43137"/>
                    </a:srgbClr>
                  </a:outerShdw>
                </a:effectLst>
              </a:rPr>
              <a:t> b;</a:t>
            </a:r>
            <a:r>
              <a:rPr lang="zh-CN" altLang="zh-CN" sz="2200" b="1" dirty="0">
                <a:solidFill>
                  <a:srgbClr val="FF0000"/>
                </a:solidFill>
                <a:effectLst>
                  <a:outerShdw blurRad="38100" dist="38100" dir="2700000" algn="tl">
                    <a:srgbClr val="000000">
                      <a:alpha val="43137"/>
                    </a:srgbClr>
                  </a:outerShdw>
                </a:effectLst>
              </a:rPr>
              <a:t>（在另一程序文件或函数中定义了变量</a:t>
            </a:r>
            <a:r>
              <a:rPr lang="en-US" altLang="zh-CN" sz="2200" b="1" dirty="0">
                <a:solidFill>
                  <a:srgbClr val="FF0000"/>
                </a:solidFill>
                <a:effectLst>
                  <a:outerShdw blurRad="38100" dist="38100" dir="2700000" algn="tl">
                    <a:srgbClr val="000000">
                      <a:alpha val="43137"/>
                    </a:srgbClr>
                  </a:outerShdw>
                </a:effectLst>
              </a:rPr>
              <a:t>b</a:t>
            </a:r>
            <a:r>
              <a:rPr lang="zh-CN" altLang="zh-CN" sz="2200" b="1" dirty="0">
                <a:solidFill>
                  <a:srgbClr val="FF0000"/>
                </a:solidFill>
                <a:effectLst>
                  <a:outerShdw blurRad="38100" dist="38100" dir="2700000" algn="tl">
                    <a:srgbClr val="000000">
                      <a:alpha val="43137"/>
                    </a:srgbClr>
                  </a:outerShdw>
                </a:effectLst>
              </a:rPr>
              <a:t>）</a:t>
            </a:r>
          </a:p>
          <a:p>
            <a:pPr indent="444500" eaLnBrk="1" hangingPunct="1">
              <a:lnSpc>
                <a:spcPct val="110000"/>
              </a:lnSpc>
              <a:buFontTx/>
              <a:buNone/>
              <a:defRPr/>
            </a:pPr>
            <a:r>
              <a:rPr lang="en-US" altLang="zh-CN" sz="2200" b="1" dirty="0">
                <a:solidFill>
                  <a:srgbClr val="FF0000"/>
                </a:solidFill>
                <a:effectLst>
                  <a:outerShdw blurRad="38100" dist="38100" dir="2700000" algn="tl">
                    <a:srgbClr val="000000">
                      <a:alpha val="43137"/>
                    </a:srgbClr>
                  </a:outerShdw>
                </a:effectLst>
              </a:rPr>
              <a:t>extern b;</a:t>
            </a:r>
            <a:r>
              <a:rPr lang="zh-CN" altLang="zh-CN" sz="2200" b="1" dirty="0">
                <a:solidFill>
                  <a:srgbClr val="FF0000"/>
                </a:solidFill>
                <a:effectLst>
                  <a:outerShdw blurRad="38100" dist="38100" dir="2700000" algn="tl">
                    <a:srgbClr val="000000">
                      <a:alpha val="43137"/>
                    </a:srgbClr>
                  </a:outerShdw>
                </a:effectLst>
              </a:rPr>
              <a:t>（将变量</a:t>
            </a:r>
            <a:r>
              <a:rPr lang="en-US" altLang="zh-CN" sz="2200" b="1" dirty="0">
                <a:solidFill>
                  <a:srgbClr val="FF0000"/>
                </a:solidFill>
                <a:effectLst>
                  <a:outerShdw blurRad="38100" dist="38100" dir="2700000" algn="tl">
                    <a:srgbClr val="000000">
                      <a:alpha val="43137"/>
                    </a:srgbClr>
                  </a:outerShdw>
                </a:effectLst>
              </a:rPr>
              <a:t>b</a:t>
            </a:r>
            <a:r>
              <a:rPr lang="zh-CN" altLang="zh-CN" sz="2200" b="1" dirty="0">
                <a:solidFill>
                  <a:srgbClr val="FF0000"/>
                </a:solidFill>
                <a:effectLst>
                  <a:outerShdw blurRad="38100" dist="38100" dir="2700000" algn="tl">
                    <a:srgbClr val="000000">
                      <a:alpha val="43137"/>
                    </a:srgbClr>
                  </a:outerShdw>
                </a:effectLst>
              </a:rPr>
              <a:t>的作用域扩展至此，允许省略变量</a:t>
            </a:r>
            <a:r>
              <a:rPr lang="en-US" altLang="zh-CN" sz="2200" b="1" dirty="0">
                <a:solidFill>
                  <a:srgbClr val="FF0000"/>
                </a:solidFill>
                <a:effectLst>
                  <a:outerShdw blurRad="38100" dist="38100" dir="2700000" algn="tl">
                    <a:srgbClr val="000000">
                      <a:alpha val="43137"/>
                    </a:srgbClr>
                  </a:outerShdw>
                </a:effectLst>
              </a:rPr>
              <a:t>b</a:t>
            </a:r>
            <a:r>
              <a:rPr lang="zh-CN" altLang="zh-CN" sz="2200" b="1" dirty="0">
                <a:solidFill>
                  <a:srgbClr val="FF0000"/>
                </a:solidFill>
                <a:effectLst>
                  <a:outerShdw blurRad="38100" dist="38100" dir="2700000" algn="tl">
                    <a:srgbClr val="000000">
                      <a:alpha val="43137"/>
                    </a:srgbClr>
                  </a:outerShdw>
                </a:effectLst>
              </a:rPr>
              <a:t>的</a:t>
            </a:r>
            <a:r>
              <a:rPr lang="en-US" altLang="zh-CN" sz="2200" b="1" dirty="0" err="1">
                <a:solidFill>
                  <a:srgbClr val="FF0000"/>
                </a:solidFill>
                <a:effectLst>
                  <a:outerShdw blurRad="38100" dist="38100" dir="2700000" algn="tl">
                    <a:srgbClr val="000000">
                      <a:alpha val="43137"/>
                    </a:srgbClr>
                  </a:outerShdw>
                </a:effectLst>
              </a:rPr>
              <a:t>int</a:t>
            </a:r>
            <a:r>
              <a:rPr lang="zh-CN" altLang="zh-CN" sz="2200" b="1" dirty="0">
                <a:solidFill>
                  <a:srgbClr val="FF0000"/>
                </a:solidFill>
                <a:effectLst>
                  <a:outerShdw blurRad="38100" dist="38100" dir="2700000" algn="tl">
                    <a:srgbClr val="000000">
                      <a:alpha val="43137"/>
                    </a:srgbClr>
                  </a:outerShdw>
                </a:effectLst>
              </a:rPr>
              <a:t>类型）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randombar(horizontal)">
                                      <p:cBhvr>
                                        <p:cTn id="7" dur="500"/>
                                        <p:tgtEl>
                                          <p:spTgt spid="2">
                                            <p:bg/>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randombar(horizontal)">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37" dur="500"/>
                                        <p:tgtEl>
                                          <p:spTgt spid="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randombar(horizontal)">
                                      <p:cBhvr>
                                        <p:cTn id="42" dur="500"/>
                                        <p:tgtEl>
                                          <p:spTgt spid="2">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animEffect transition="in" filter="randombar(horizontal)">
                                      <p:cBhvr>
                                        <p:cTn id="47"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914400" y="228600"/>
            <a:ext cx="7378700" cy="609600"/>
          </a:xfrm>
          <a:prstGeom prst="rect">
            <a:avLst/>
          </a:prstGeom>
          <a:noFill/>
          <a:ln>
            <a:noFill/>
          </a:ln>
        </p:spPr>
        <p:txBody>
          <a:bodyPr anchor="ctr"/>
          <a:lstStyle/>
          <a:p>
            <a:pPr algn="ctr" eaLnBrk="1" hangingPunct="1">
              <a:defRPr/>
            </a:pPr>
            <a:r>
              <a:rPr lang="zh-CN" altLang="en-US" sz="3200" b="1" dirty="0">
                <a:solidFill>
                  <a:srgbClr val="0000FF"/>
                </a:solidFill>
                <a:effectLst>
                  <a:outerShdw blurRad="38100" dist="38100" dir="2700000" algn="tl">
                    <a:srgbClr val="C0C0C0"/>
                  </a:outerShdw>
                </a:effectLst>
                <a:latin typeface="楷体" panose="02010609060101010101" pitchFamily="49" charset="-122"/>
                <a:ea typeface="楷体" panose="02010609060101010101" pitchFamily="49" charset="-122"/>
              </a:rPr>
              <a:t>二、</a:t>
            </a:r>
            <a:r>
              <a:rPr lang="en-US" altLang="zh-CN" sz="3200" b="1" dirty="0">
                <a:solidFill>
                  <a:srgbClr val="0000FF"/>
                </a:solidFill>
                <a:effectLst>
                  <a:outerShdw blurRad="38100" dist="38100" dir="2700000" algn="tl">
                    <a:srgbClr val="C0C0C0"/>
                  </a:outerShdw>
                </a:effectLst>
                <a:latin typeface="楷体" panose="02010609060101010101" pitchFamily="49" charset="-122"/>
                <a:ea typeface="楷体" panose="02010609060101010101" pitchFamily="49" charset="-122"/>
              </a:rPr>
              <a:t>Keil C51</a:t>
            </a:r>
            <a:r>
              <a:rPr lang="zh-CN" altLang="en-US" sz="3200" b="1" dirty="0">
                <a:solidFill>
                  <a:srgbClr val="0000FF"/>
                </a:solidFill>
                <a:effectLst>
                  <a:outerShdw blurRad="38100" dist="38100" dir="2700000" algn="tl">
                    <a:srgbClr val="C0C0C0"/>
                  </a:outerShdw>
                </a:effectLst>
                <a:latin typeface="楷体" panose="02010609060101010101" pitchFamily="49" charset="-122"/>
                <a:ea typeface="楷体" panose="02010609060101010101" pitchFamily="49" charset="-122"/>
              </a:rPr>
              <a:t>支持的数据类型</a:t>
            </a:r>
            <a:endParaRPr lang="zh-CN" altLang="en-US" sz="3600" b="1" dirty="0">
              <a:solidFill>
                <a:srgbClr val="0000FF"/>
              </a:solidFill>
              <a:effectLst>
                <a:outerShdw blurRad="38100" dist="38100" dir="2700000" algn="tl">
                  <a:srgbClr val="C0C0C0"/>
                </a:outerShdw>
              </a:effectLst>
              <a:latin typeface="楷体" panose="02010609060101010101" pitchFamily="49" charset="-122"/>
              <a:ea typeface="楷体" panose="02010609060101010101" pitchFamily="49" charset="-122"/>
            </a:endParaRPr>
          </a:p>
        </p:txBody>
      </p:sp>
      <p:graphicFrame>
        <p:nvGraphicFramePr>
          <p:cNvPr id="28788" name="Group 116"/>
          <p:cNvGraphicFramePr>
            <a:graphicFrameLocks noGrp="1"/>
          </p:cNvGraphicFramePr>
          <p:nvPr/>
        </p:nvGraphicFramePr>
        <p:xfrm>
          <a:off x="301625" y="980728"/>
          <a:ext cx="8604250" cy="5334000"/>
        </p:xfrm>
        <a:graphic>
          <a:graphicData uri="http://schemas.openxmlformats.org/drawingml/2006/table">
            <a:tbl>
              <a:tblPr/>
              <a:tblGrid>
                <a:gridCol w="2259013">
                  <a:extLst>
                    <a:ext uri="{9D8B030D-6E8A-4147-A177-3AD203B41FA5}">
                      <a16:colId xmlns:a16="http://schemas.microsoft.com/office/drawing/2014/main" val="20000"/>
                    </a:ext>
                  </a:extLst>
                </a:gridCol>
                <a:gridCol w="1758950">
                  <a:extLst>
                    <a:ext uri="{9D8B030D-6E8A-4147-A177-3AD203B41FA5}">
                      <a16:colId xmlns:a16="http://schemas.microsoft.com/office/drawing/2014/main" val="20001"/>
                    </a:ext>
                  </a:extLst>
                </a:gridCol>
                <a:gridCol w="4586287">
                  <a:extLst>
                    <a:ext uri="{9D8B030D-6E8A-4147-A177-3AD203B41FA5}">
                      <a16:colId xmlns:a16="http://schemas.microsoft.com/office/drawing/2014/main" val="20002"/>
                    </a:ext>
                  </a:extLst>
                </a:gridCol>
              </a:tblGrid>
              <a:tr h="444500">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zh-CN" altLang="en-US" sz="2200" b="1" i="0" u="none" strike="noStrike" cap="none" normalizeH="0" baseline="0" dirty="0">
                          <a:ln>
                            <a:noFill/>
                          </a:ln>
                          <a:solidFill>
                            <a:schemeClr val="tx1"/>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cs typeface="Times New Roman" panose="02020603050405020304" pitchFamily="18" charset="0"/>
                        </a:rPr>
                        <a:t>基本数据类型</a:t>
                      </a:r>
                      <a:endParaRPr kumimoji="0" lang="zh-CN" altLang="en-US" sz="2200" b="1" i="0" u="none" strike="noStrike" cap="none" normalizeH="0" baseline="0" dirty="0">
                        <a:ln>
                          <a:noFill/>
                        </a:ln>
                        <a:solidFill>
                          <a:schemeClr val="tx1"/>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zh-CN" altLang="en-US" sz="2200" b="1" i="0" u="none" strike="noStrike" cap="none" normalizeH="0" baseline="0">
                          <a:ln>
                            <a:noFill/>
                          </a:ln>
                          <a:solidFill>
                            <a:schemeClr val="tx1"/>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cs typeface="Times New Roman" panose="02020603050405020304" pitchFamily="18" charset="0"/>
                        </a:rPr>
                        <a:t>长度</a:t>
                      </a:r>
                      <a:endParaRPr kumimoji="0" lang="zh-CN" altLang="en-US" sz="2200" b="1" i="0" u="none" strike="noStrike" cap="none" normalizeH="0" baseline="0">
                        <a:ln>
                          <a:noFill/>
                        </a:ln>
                        <a:solidFill>
                          <a:schemeClr val="tx1"/>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zh-CN" altLang="en-US" sz="2200" b="1" i="0" u="none" strike="noStrike" cap="none" normalizeH="0" baseline="0">
                          <a:ln>
                            <a:noFill/>
                          </a:ln>
                          <a:solidFill>
                            <a:schemeClr val="tx1"/>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cs typeface="Times New Roman" panose="02020603050405020304" pitchFamily="18" charset="0"/>
                        </a:rPr>
                        <a:t>取值范围</a:t>
                      </a:r>
                      <a:endParaRPr kumimoji="0" lang="zh-CN" altLang="en-US" sz="2200" b="1" i="0" u="none" strike="noStrike" cap="none" normalizeH="0" baseline="0">
                        <a:ln>
                          <a:noFill/>
                        </a:ln>
                        <a:solidFill>
                          <a:schemeClr val="tx1"/>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44500">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unsigned char</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字节</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0~255</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44500">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signed char</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字节</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-128~+127</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44500">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unsigned int</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字节</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0~65535</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44500">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signed int</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字节</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-32768~+32767</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44500">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unsigned long</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4</a:t>
                      </a:r>
                      <a:r>
                        <a:rPr kumimoji="0" lang="zh-CN" altLang="en-US" sz="22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字节</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0~4294967295</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444500">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signed long</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4</a:t>
                      </a:r>
                      <a:r>
                        <a:rPr kumimoji="0" lang="zh-CN" altLang="en-US"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字节</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-2147483648~+2147483647</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444500">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float</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4</a:t>
                      </a:r>
                      <a:r>
                        <a:rPr kumimoji="0" lang="zh-CN" altLang="en-US"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字节</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1.175494E-38~</a:t>
                      </a: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3.402823E+38</a:t>
                      </a:r>
                      <a:endPar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444500">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bit</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位</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0</a:t>
                      </a:r>
                      <a:r>
                        <a:rPr kumimoji="0" lang="zh-CN" altLang="en-US"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或</a:t>
                      </a: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1</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extLst>
                  <a:ext uri="{0D108BD9-81ED-4DB2-BD59-A6C34878D82A}">
                    <a16:rowId xmlns:a16="http://schemas.microsoft.com/office/drawing/2014/main" val="10008"/>
                  </a:ext>
                </a:extLst>
              </a:tr>
              <a:tr h="444500">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sbit</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位</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0</a:t>
                      </a:r>
                      <a:r>
                        <a:rPr kumimoji="0" lang="zh-CN" altLang="en-US"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或</a:t>
                      </a: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1</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extLst>
                  <a:ext uri="{0D108BD9-81ED-4DB2-BD59-A6C34878D82A}">
                    <a16:rowId xmlns:a16="http://schemas.microsoft.com/office/drawing/2014/main" val="10009"/>
                  </a:ext>
                </a:extLst>
              </a:tr>
              <a:tr h="444500">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sfr</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字节</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0~255</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extLst>
                  <a:ext uri="{0D108BD9-81ED-4DB2-BD59-A6C34878D82A}">
                    <a16:rowId xmlns:a16="http://schemas.microsoft.com/office/drawing/2014/main" val="10010"/>
                  </a:ext>
                </a:extLst>
              </a:tr>
              <a:tr h="444500">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sfr16</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200" b="1"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字节</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0" lang="en-US" altLang="zh-CN" sz="22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0~65535</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99FFCC"/>
                    </a:solidFill>
                  </a:tcPr>
                </a:tc>
                <a:extLst>
                  <a:ext uri="{0D108BD9-81ED-4DB2-BD59-A6C34878D82A}">
                    <a16:rowId xmlns:a16="http://schemas.microsoft.com/office/drawing/2014/main" val="10011"/>
                  </a:ext>
                </a:extLst>
              </a:tr>
            </a:tbl>
          </a:graphicData>
        </a:graphic>
      </p:graphicFrame>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457200" y="430213"/>
            <a:ext cx="8458200" cy="5843587"/>
          </a:xfrm>
          <a:prstGeom prst="rect">
            <a:avLst/>
          </a:prstGeom>
          <a:noFill/>
          <a:ln>
            <a:noFill/>
          </a:ln>
          <a:effectLst/>
        </p:spPr>
        <p:txBody>
          <a:bodyPr anchor="ctr">
            <a:spAutoFit/>
          </a:bodyPr>
          <a:lstStyle/>
          <a:p>
            <a:pPr eaLnBrk="1" hangingPunct="1">
              <a:lnSpc>
                <a:spcPct val="120000"/>
              </a:lnSpc>
              <a:defRPr/>
            </a:pPr>
            <a:r>
              <a:rPr lang="en-US" altLang="zh-CN" b="1" dirty="0">
                <a:solidFill>
                  <a:srgbClr val="0000FF"/>
                </a:solidFill>
                <a:effectLst>
                  <a:outerShdw blurRad="38100" dist="38100" dir="2700000" algn="tl">
                    <a:srgbClr val="000000">
                      <a:alpha val="43137"/>
                    </a:srgbClr>
                  </a:outerShdw>
                </a:effectLst>
                <a:latin typeface="Arial" panose="020B0604020202020204" pitchFamily="34" charset="0"/>
              </a:rPr>
              <a:t>1. </a:t>
            </a:r>
            <a:r>
              <a:rPr lang="zh-CN" altLang="en-GB" b="1" dirty="0">
                <a:solidFill>
                  <a:srgbClr val="0000FF"/>
                </a:solidFill>
                <a:effectLst>
                  <a:outerShdw blurRad="38100" dist="38100" dir="2700000" algn="tl">
                    <a:srgbClr val="000000">
                      <a:alpha val="43137"/>
                    </a:srgbClr>
                  </a:outerShdw>
                </a:effectLst>
                <a:latin typeface="Arial" panose="020B0604020202020204" pitchFamily="34" charset="0"/>
              </a:rPr>
              <a:t>字符型</a:t>
            </a:r>
            <a:r>
              <a:rPr lang="en-US" altLang="zh-CN" b="1" dirty="0">
                <a:solidFill>
                  <a:srgbClr val="0000FF"/>
                </a:solidFill>
                <a:effectLst>
                  <a:outerShdw blurRad="38100" dist="38100" dir="2700000" algn="tl">
                    <a:srgbClr val="000000">
                      <a:alpha val="43137"/>
                    </a:srgbClr>
                  </a:outerShdw>
                </a:effectLst>
                <a:latin typeface="Arial" panose="020B0604020202020204" pitchFamily="34" charset="0"/>
              </a:rPr>
              <a:t>char</a:t>
            </a:r>
          </a:p>
          <a:p>
            <a:pPr eaLnBrk="1" hangingPunct="1">
              <a:lnSpc>
                <a:spcPct val="120000"/>
              </a:lnSpc>
              <a:defRPr/>
            </a:pPr>
            <a:r>
              <a:rPr lang="en-US" altLang="zh-CN" sz="2600" b="1" dirty="0">
                <a:effectLst>
                  <a:outerShdw blurRad="38100" dist="38100" dir="2700000" algn="tl">
                    <a:srgbClr val="000000">
                      <a:alpha val="43137"/>
                    </a:srgbClr>
                  </a:outerShdw>
                </a:effectLst>
                <a:latin typeface="Arial" panose="020B0604020202020204" pitchFamily="34" charset="0"/>
              </a:rPr>
              <a:t>       </a:t>
            </a:r>
            <a:r>
              <a:rPr lang="zh-CN" altLang="en-US" sz="2600" b="1" dirty="0">
                <a:effectLst>
                  <a:outerShdw blurRad="38100" dist="38100" dir="2700000" algn="tl">
                    <a:srgbClr val="000000">
                      <a:alpha val="43137"/>
                    </a:srgbClr>
                  </a:outerShdw>
                </a:effectLst>
                <a:latin typeface="Arial" panose="020B0604020202020204" pitchFamily="34" charset="0"/>
              </a:rPr>
              <a:t>有</a:t>
            </a:r>
            <a:r>
              <a:rPr lang="en-US" altLang="zh-CN" sz="2600" b="1" dirty="0">
                <a:effectLst>
                  <a:outerShdw blurRad="38100" dist="38100" dir="2700000" algn="tl">
                    <a:srgbClr val="000000">
                      <a:alpha val="43137"/>
                    </a:srgbClr>
                  </a:outerShdw>
                </a:effectLst>
                <a:latin typeface="Arial" panose="020B0604020202020204" pitchFamily="34" charset="0"/>
              </a:rPr>
              <a:t>signed char</a:t>
            </a:r>
            <a:r>
              <a:rPr lang="zh-CN" altLang="en-US" sz="2600" b="1" dirty="0">
                <a:effectLst>
                  <a:outerShdw blurRad="38100" dist="38100" dir="2700000" algn="tl">
                    <a:srgbClr val="000000">
                      <a:alpha val="43137"/>
                    </a:srgbClr>
                  </a:outerShdw>
                </a:effectLst>
                <a:latin typeface="Arial" panose="020B0604020202020204" pitchFamily="34" charset="0"/>
              </a:rPr>
              <a:t>和</a:t>
            </a:r>
            <a:r>
              <a:rPr lang="en-US" altLang="zh-CN" sz="2600" b="1" dirty="0">
                <a:effectLst>
                  <a:outerShdw blurRad="38100" dist="38100" dir="2700000" algn="tl">
                    <a:srgbClr val="000000">
                      <a:alpha val="43137"/>
                    </a:srgbClr>
                  </a:outerShdw>
                </a:effectLst>
                <a:latin typeface="Arial" panose="020B0604020202020204" pitchFamily="34" charset="0"/>
              </a:rPr>
              <a:t>unsigned char</a:t>
            </a:r>
            <a:r>
              <a:rPr lang="zh-CN" altLang="en-US" sz="2600" b="1" dirty="0">
                <a:effectLst>
                  <a:outerShdw blurRad="38100" dist="38100" dir="2700000" algn="tl">
                    <a:srgbClr val="000000">
                      <a:alpha val="43137"/>
                    </a:srgbClr>
                  </a:outerShdw>
                </a:effectLst>
                <a:latin typeface="Arial" panose="020B0604020202020204" pitchFamily="34" charset="0"/>
              </a:rPr>
              <a:t>之分，默认为</a:t>
            </a:r>
            <a:r>
              <a:rPr lang="en-US" altLang="zh-CN" sz="2600" b="1" dirty="0">
                <a:effectLst>
                  <a:outerShdw blurRad="38100" dist="38100" dir="2700000" algn="tl">
                    <a:srgbClr val="000000">
                      <a:alpha val="43137"/>
                    </a:srgbClr>
                  </a:outerShdw>
                </a:effectLst>
                <a:latin typeface="Arial" panose="020B0604020202020204" pitchFamily="34" charset="0"/>
              </a:rPr>
              <a:t>signed char</a:t>
            </a:r>
            <a:r>
              <a:rPr lang="zh-CN" altLang="en-US" sz="2600" b="1" dirty="0">
                <a:effectLst>
                  <a:outerShdw blurRad="38100" dist="38100" dir="2700000" algn="tl">
                    <a:srgbClr val="000000">
                      <a:alpha val="43137"/>
                    </a:srgbClr>
                  </a:outerShdw>
                </a:effectLst>
                <a:latin typeface="Arial" panose="020B0604020202020204" pitchFamily="34" charset="0"/>
              </a:rPr>
              <a:t>。它们的长度均为一个字节，用于存放一个单字节的数据。</a:t>
            </a:r>
          </a:p>
          <a:p>
            <a:pPr eaLnBrk="1" hangingPunct="1">
              <a:lnSpc>
                <a:spcPct val="120000"/>
              </a:lnSpc>
              <a:defRPr/>
            </a:pPr>
            <a:r>
              <a:rPr lang="zh-CN" altLang="en-US" sz="2600" b="1" dirty="0">
                <a:effectLst>
                  <a:outerShdw blurRad="38100" dist="38100" dir="2700000" algn="tl">
                    <a:srgbClr val="000000">
                      <a:alpha val="43137"/>
                    </a:srgbClr>
                  </a:outerShdw>
                </a:effectLst>
                <a:latin typeface="Arial" panose="020B0604020202020204" pitchFamily="34" charset="0"/>
              </a:rPr>
              <a:t>       </a:t>
            </a:r>
            <a:r>
              <a:rPr lang="zh-CN" altLang="en-US" sz="2600" b="1" dirty="0">
                <a:solidFill>
                  <a:srgbClr val="FF0000"/>
                </a:solidFill>
                <a:effectLst>
                  <a:outerShdw blurRad="38100" dist="38100" dir="2700000" algn="tl">
                    <a:srgbClr val="000000">
                      <a:alpha val="43137"/>
                    </a:srgbClr>
                  </a:outerShdw>
                </a:effectLst>
                <a:latin typeface="Arial" panose="020B0604020202020204" pitchFamily="34" charset="0"/>
              </a:rPr>
              <a:t>对于</a:t>
            </a:r>
            <a:r>
              <a:rPr lang="en-US" altLang="zh-CN" sz="2600" b="1" dirty="0">
                <a:solidFill>
                  <a:srgbClr val="FF0000"/>
                </a:solidFill>
                <a:effectLst>
                  <a:outerShdw blurRad="38100" dist="38100" dir="2700000" algn="tl">
                    <a:srgbClr val="000000">
                      <a:alpha val="43137"/>
                    </a:srgbClr>
                  </a:outerShdw>
                </a:effectLst>
                <a:latin typeface="Arial" panose="020B0604020202020204" pitchFamily="34" charset="0"/>
              </a:rPr>
              <a:t>signed char</a:t>
            </a:r>
            <a:r>
              <a:rPr lang="zh-CN" altLang="en-US" sz="2600" b="1" dirty="0">
                <a:effectLst>
                  <a:outerShdw blurRad="38100" dist="38100" dir="2700000" algn="tl">
                    <a:srgbClr val="000000">
                      <a:alpha val="43137"/>
                    </a:srgbClr>
                  </a:outerShdw>
                </a:effectLst>
                <a:latin typeface="Arial" panose="020B0604020202020204" pitchFamily="34" charset="0"/>
              </a:rPr>
              <a:t>，它用于定义带符号字节数据，其字节的最高位为符号位，“</a:t>
            </a:r>
            <a:r>
              <a:rPr lang="en-US" altLang="zh-CN" sz="2600" b="1" dirty="0">
                <a:effectLst>
                  <a:outerShdw blurRad="38100" dist="38100" dir="2700000" algn="tl">
                    <a:srgbClr val="000000">
                      <a:alpha val="43137"/>
                    </a:srgbClr>
                  </a:outerShdw>
                </a:effectLst>
                <a:latin typeface="Arial" panose="020B0604020202020204" pitchFamily="34" charset="0"/>
              </a:rPr>
              <a:t>0”</a:t>
            </a:r>
            <a:r>
              <a:rPr lang="zh-CN" altLang="en-US" sz="2600" b="1" dirty="0">
                <a:effectLst>
                  <a:outerShdw blurRad="38100" dist="38100" dir="2700000" algn="tl">
                    <a:srgbClr val="000000">
                      <a:alpha val="43137"/>
                    </a:srgbClr>
                  </a:outerShdw>
                </a:effectLst>
                <a:latin typeface="Arial" panose="020B0604020202020204" pitchFamily="34" charset="0"/>
              </a:rPr>
              <a:t>表示正数，“</a:t>
            </a:r>
            <a:r>
              <a:rPr lang="en-US" altLang="zh-CN" sz="2600" b="1" dirty="0">
                <a:effectLst>
                  <a:outerShdw blurRad="38100" dist="38100" dir="2700000" algn="tl">
                    <a:srgbClr val="000000">
                      <a:alpha val="43137"/>
                    </a:srgbClr>
                  </a:outerShdw>
                </a:effectLst>
                <a:latin typeface="Arial" panose="020B0604020202020204" pitchFamily="34" charset="0"/>
              </a:rPr>
              <a:t>1”</a:t>
            </a:r>
            <a:r>
              <a:rPr lang="zh-CN" altLang="en-US" sz="2600" b="1" dirty="0">
                <a:effectLst>
                  <a:outerShdw blurRad="38100" dist="38100" dir="2700000" algn="tl">
                    <a:srgbClr val="000000">
                      <a:alpha val="43137"/>
                    </a:srgbClr>
                  </a:outerShdw>
                </a:effectLst>
                <a:latin typeface="Arial" panose="020B0604020202020204" pitchFamily="34" charset="0"/>
              </a:rPr>
              <a:t>表示负数，补码表示，所能表示的数值范围是</a:t>
            </a:r>
            <a:r>
              <a:rPr lang="en-US" altLang="zh-CN" sz="2600" b="1" dirty="0">
                <a:effectLst>
                  <a:outerShdw blurRad="38100" dist="38100" dir="2700000" algn="tl">
                    <a:srgbClr val="000000">
                      <a:alpha val="43137"/>
                    </a:srgbClr>
                  </a:outerShdw>
                </a:effectLst>
                <a:latin typeface="Arial" panose="020B0604020202020204" pitchFamily="34" charset="0"/>
              </a:rPr>
              <a:t>-128~+127</a:t>
            </a:r>
            <a:r>
              <a:rPr lang="zh-CN" altLang="en-US" sz="2600" b="1" dirty="0">
                <a:effectLst>
                  <a:outerShdw blurRad="38100" dist="38100" dir="2700000" algn="tl">
                    <a:srgbClr val="000000">
                      <a:alpha val="43137"/>
                    </a:srgbClr>
                  </a:outerShdw>
                </a:effectLst>
                <a:latin typeface="Arial" panose="020B0604020202020204" pitchFamily="34" charset="0"/>
              </a:rPr>
              <a:t>；</a:t>
            </a:r>
          </a:p>
          <a:p>
            <a:pPr eaLnBrk="1" hangingPunct="1">
              <a:lnSpc>
                <a:spcPct val="120000"/>
              </a:lnSpc>
              <a:defRPr/>
            </a:pPr>
            <a:r>
              <a:rPr lang="zh-CN" altLang="en-US" sz="2600" b="1" dirty="0">
                <a:effectLst>
                  <a:outerShdw blurRad="38100" dist="38100" dir="2700000" algn="tl">
                    <a:srgbClr val="000000">
                      <a:alpha val="43137"/>
                    </a:srgbClr>
                  </a:outerShdw>
                </a:effectLst>
                <a:latin typeface="Arial" panose="020B0604020202020204" pitchFamily="34" charset="0"/>
              </a:rPr>
              <a:t>       </a:t>
            </a:r>
            <a:r>
              <a:rPr lang="zh-CN" altLang="en-US" sz="2600" b="1" dirty="0">
                <a:solidFill>
                  <a:srgbClr val="FF0000"/>
                </a:solidFill>
                <a:effectLst>
                  <a:outerShdw blurRad="38100" dist="38100" dir="2700000" algn="tl">
                    <a:srgbClr val="000000">
                      <a:alpha val="43137"/>
                    </a:srgbClr>
                  </a:outerShdw>
                </a:effectLst>
                <a:latin typeface="Arial" panose="020B0604020202020204" pitchFamily="34" charset="0"/>
              </a:rPr>
              <a:t>对于</a:t>
            </a:r>
            <a:r>
              <a:rPr lang="en-US" altLang="zh-CN" sz="2600" b="1" dirty="0">
                <a:solidFill>
                  <a:srgbClr val="FF0000"/>
                </a:solidFill>
                <a:effectLst>
                  <a:outerShdw blurRad="38100" dist="38100" dir="2700000" algn="tl">
                    <a:srgbClr val="000000">
                      <a:alpha val="43137"/>
                    </a:srgbClr>
                  </a:outerShdw>
                </a:effectLst>
                <a:latin typeface="Arial" panose="020B0604020202020204" pitchFamily="34" charset="0"/>
              </a:rPr>
              <a:t>unsigned char</a:t>
            </a:r>
            <a:r>
              <a:rPr lang="zh-CN" altLang="en-US" sz="2600" b="1" dirty="0">
                <a:effectLst>
                  <a:outerShdw blurRad="38100" dist="38100" dir="2700000" algn="tl">
                    <a:srgbClr val="000000">
                      <a:alpha val="43137"/>
                    </a:srgbClr>
                  </a:outerShdw>
                </a:effectLst>
                <a:latin typeface="Arial" panose="020B0604020202020204" pitchFamily="34" charset="0"/>
              </a:rPr>
              <a:t>，它用于定义无符号字节数据或字符，可以存放一个字节的无符号数，其取值范围为</a:t>
            </a:r>
            <a:r>
              <a:rPr lang="en-US" altLang="zh-CN" sz="2600" b="1" dirty="0">
                <a:effectLst>
                  <a:outerShdw blurRad="38100" dist="38100" dir="2700000" algn="tl">
                    <a:srgbClr val="000000">
                      <a:alpha val="43137"/>
                    </a:srgbClr>
                  </a:outerShdw>
                </a:effectLst>
                <a:latin typeface="Arial" panose="020B0604020202020204" pitchFamily="34" charset="0"/>
              </a:rPr>
              <a:t>0~255</a:t>
            </a:r>
            <a:r>
              <a:rPr lang="zh-CN" altLang="en-US" sz="2600" b="1" dirty="0">
                <a:effectLst>
                  <a:outerShdw blurRad="38100" dist="38100" dir="2700000" algn="tl">
                    <a:srgbClr val="000000">
                      <a:alpha val="43137"/>
                    </a:srgbClr>
                  </a:outerShdw>
                </a:effectLst>
                <a:latin typeface="Arial" panose="020B0604020202020204" pitchFamily="34" charset="0"/>
              </a:rPr>
              <a:t>。</a:t>
            </a:r>
            <a:r>
              <a:rPr lang="en-US" altLang="zh-CN" sz="2600" b="1" dirty="0">
                <a:effectLst>
                  <a:outerShdw blurRad="38100" dist="38100" dir="2700000" algn="tl">
                    <a:srgbClr val="000000">
                      <a:alpha val="43137"/>
                    </a:srgbClr>
                  </a:outerShdw>
                </a:effectLst>
                <a:latin typeface="Arial" panose="020B0604020202020204" pitchFamily="34" charset="0"/>
              </a:rPr>
              <a:t>unsigned char</a:t>
            </a:r>
            <a:r>
              <a:rPr lang="zh-CN" altLang="en-US" sz="2600" b="1" dirty="0">
                <a:effectLst>
                  <a:outerShdw blurRad="38100" dist="38100" dir="2700000" algn="tl">
                    <a:srgbClr val="000000">
                      <a:alpha val="43137"/>
                    </a:srgbClr>
                  </a:outerShdw>
                </a:effectLst>
                <a:latin typeface="Arial" panose="020B0604020202020204" pitchFamily="34" charset="0"/>
              </a:rPr>
              <a:t>可以用来存放无符号数，也可以存放西文字符，一个西文字符占一个字节，在计算机内部用</a:t>
            </a:r>
            <a:r>
              <a:rPr lang="en-US" altLang="zh-CN" sz="2600" b="1" dirty="0">
                <a:effectLst>
                  <a:outerShdw blurRad="38100" dist="38100" dir="2700000" algn="tl">
                    <a:srgbClr val="000000">
                      <a:alpha val="43137"/>
                    </a:srgbClr>
                  </a:outerShdw>
                </a:effectLst>
                <a:latin typeface="Arial" panose="020B0604020202020204" pitchFamily="34" charset="0"/>
              </a:rPr>
              <a:t>ASCII</a:t>
            </a:r>
            <a:r>
              <a:rPr lang="zh-CN" altLang="en-US" sz="2600" b="1" dirty="0">
                <a:effectLst>
                  <a:outerShdw blurRad="38100" dist="38100" dir="2700000" algn="tl">
                    <a:srgbClr val="000000">
                      <a:alpha val="43137"/>
                    </a:srgbClr>
                  </a:outerShdw>
                </a:effectLst>
                <a:latin typeface="Arial" panose="020B0604020202020204" pitchFamily="34" charset="0"/>
              </a:rPr>
              <a:t>码存放。</a:t>
            </a:r>
            <a:r>
              <a:rPr lang="zh-CN" altLang="en-US" sz="1800" b="1" dirty="0">
                <a:effectLst>
                  <a:outerShdw blurRad="38100" dist="38100" dir="2700000" algn="tl">
                    <a:srgbClr val="000000">
                      <a:alpha val="43137"/>
                    </a:srgbClr>
                  </a:outerShdw>
                </a:effectLst>
                <a:latin typeface="Arial" panose="020B0604020202020204" pitchFamily="34" charset="0"/>
              </a:rPr>
              <a:t> </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539750" y="274638"/>
            <a:ext cx="8286750" cy="2835275"/>
          </a:xfrm>
          <a:prstGeom prst="rect">
            <a:avLst/>
          </a:prstGeom>
          <a:solidFill>
            <a:schemeClr val="bg1"/>
          </a:solidFill>
          <a:ln>
            <a:noFill/>
          </a:ln>
          <a:effectLst/>
        </p:spPr>
        <p:txBody>
          <a:bodyPr anchor="ctr">
            <a:spAutoFit/>
          </a:bodyPr>
          <a:lstStyle/>
          <a:p>
            <a:pPr eaLnBrk="1" hangingPunct="1">
              <a:lnSpc>
                <a:spcPct val="115000"/>
              </a:lnSpc>
              <a:defRPr/>
            </a:pPr>
            <a:r>
              <a:rPr lang="en-US" altLang="zh-CN" sz="2600" b="1" dirty="0">
                <a:solidFill>
                  <a:srgbClr val="0000FF"/>
                </a:solidFill>
                <a:effectLst>
                  <a:outerShdw blurRad="38100" dist="38100" dir="2700000" algn="tl">
                    <a:srgbClr val="000000">
                      <a:alpha val="43137"/>
                    </a:srgbClr>
                  </a:outerShdw>
                </a:effectLst>
                <a:latin typeface="Arial" panose="020B0604020202020204" pitchFamily="34" charset="0"/>
              </a:rPr>
              <a:t>2. int</a:t>
            </a:r>
            <a:r>
              <a:rPr lang="zh-CN" altLang="en-US" sz="2600" b="1" dirty="0">
                <a:solidFill>
                  <a:srgbClr val="0000FF"/>
                </a:solidFill>
                <a:effectLst>
                  <a:outerShdw blurRad="38100" dist="38100" dir="2700000" algn="tl">
                    <a:srgbClr val="000000">
                      <a:alpha val="43137"/>
                    </a:srgbClr>
                  </a:outerShdw>
                </a:effectLst>
                <a:latin typeface="Arial" panose="020B0604020202020204" pitchFamily="34" charset="0"/>
              </a:rPr>
              <a:t>整型</a:t>
            </a:r>
          </a:p>
          <a:p>
            <a:pPr indent="266700" eaLnBrk="1" hangingPunct="1">
              <a:lnSpc>
                <a:spcPct val="115000"/>
              </a:lnSpc>
              <a:defRPr/>
            </a:pPr>
            <a:r>
              <a:rPr lang="zh-CN" altLang="en-US" sz="2600" b="1" dirty="0">
                <a:effectLst>
                  <a:outerShdw blurRad="38100" dist="38100" dir="2700000" algn="tl">
                    <a:srgbClr val="000000">
                      <a:alpha val="43137"/>
                    </a:srgbClr>
                  </a:outerShdw>
                </a:effectLst>
                <a:latin typeface="Arial" panose="020B0604020202020204" pitchFamily="34" charset="0"/>
              </a:rPr>
              <a:t>     分</a:t>
            </a:r>
            <a:r>
              <a:rPr lang="en-US" altLang="zh-CN" sz="2600" b="1" dirty="0">
                <a:effectLst>
                  <a:outerShdw blurRad="38100" dist="38100" dir="2700000" algn="tl">
                    <a:srgbClr val="000000">
                      <a:alpha val="43137"/>
                    </a:srgbClr>
                  </a:outerShdw>
                </a:effectLst>
                <a:latin typeface="Arial" panose="020B0604020202020204" pitchFamily="34" charset="0"/>
              </a:rPr>
              <a:t>singed </a:t>
            </a:r>
            <a:r>
              <a:rPr lang="en-US" altLang="zh-CN" sz="2600" b="1" dirty="0" err="1">
                <a:effectLst>
                  <a:outerShdw blurRad="38100" dist="38100" dir="2700000" algn="tl">
                    <a:srgbClr val="000000">
                      <a:alpha val="43137"/>
                    </a:srgbClr>
                  </a:outerShdw>
                </a:effectLst>
                <a:latin typeface="Arial" panose="020B0604020202020204" pitchFamily="34" charset="0"/>
              </a:rPr>
              <a:t>int</a:t>
            </a:r>
            <a:r>
              <a:rPr lang="zh-CN" altLang="en-US" sz="2600" b="1" dirty="0">
                <a:effectLst>
                  <a:outerShdw blurRad="38100" dist="38100" dir="2700000" algn="tl">
                    <a:srgbClr val="000000">
                      <a:alpha val="43137"/>
                    </a:srgbClr>
                  </a:outerShdw>
                </a:effectLst>
                <a:latin typeface="Arial" panose="020B0604020202020204" pitchFamily="34" charset="0"/>
              </a:rPr>
              <a:t>和</a:t>
            </a:r>
            <a:r>
              <a:rPr lang="en-US" altLang="zh-CN" sz="2600" b="1" dirty="0">
                <a:effectLst>
                  <a:outerShdw blurRad="38100" dist="38100" dir="2700000" algn="tl">
                    <a:srgbClr val="000000">
                      <a:alpha val="43137"/>
                    </a:srgbClr>
                  </a:outerShdw>
                </a:effectLst>
                <a:latin typeface="Arial" panose="020B0604020202020204" pitchFamily="34" charset="0"/>
              </a:rPr>
              <a:t>unsigned </a:t>
            </a:r>
            <a:r>
              <a:rPr lang="en-US" altLang="zh-CN" sz="2600" b="1" dirty="0" err="1">
                <a:effectLst>
                  <a:outerShdw blurRad="38100" dist="38100" dir="2700000" algn="tl">
                    <a:srgbClr val="000000">
                      <a:alpha val="43137"/>
                    </a:srgbClr>
                  </a:outerShdw>
                </a:effectLst>
                <a:latin typeface="Arial" panose="020B0604020202020204" pitchFamily="34" charset="0"/>
              </a:rPr>
              <a:t>int</a:t>
            </a:r>
            <a:r>
              <a:rPr lang="zh-CN" altLang="en-US" sz="2600" b="1" dirty="0">
                <a:effectLst>
                  <a:outerShdw blurRad="38100" dist="38100" dir="2700000" algn="tl">
                    <a:srgbClr val="000000">
                      <a:alpha val="43137"/>
                    </a:srgbClr>
                  </a:outerShdw>
                </a:effectLst>
                <a:latin typeface="Arial" panose="020B0604020202020204" pitchFamily="34" charset="0"/>
              </a:rPr>
              <a:t>。默认为</a:t>
            </a:r>
            <a:r>
              <a:rPr lang="en-US" altLang="zh-CN" sz="2600" b="1" dirty="0">
                <a:effectLst>
                  <a:outerShdw blurRad="38100" dist="38100" dir="2700000" algn="tl">
                    <a:srgbClr val="000000">
                      <a:alpha val="43137"/>
                    </a:srgbClr>
                  </a:outerShdw>
                </a:effectLst>
                <a:latin typeface="Arial" panose="020B0604020202020204" pitchFamily="34" charset="0"/>
              </a:rPr>
              <a:t>signed </a:t>
            </a:r>
            <a:r>
              <a:rPr lang="en-US" altLang="zh-CN" sz="2600" b="1" dirty="0" err="1">
                <a:effectLst>
                  <a:outerShdw blurRad="38100" dist="38100" dir="2700000" algn="tl">
                    <a:srgbClr val="000000">
                      <a:alpha val="43137"/>
                    </a:srgbClr>
                  </a:outerShdw>
                </a:effectLst>
                <a:latin typeface="Arial" panose="020B0604020202020204" pitchFamily="34" charset="0"/>
              </a:rPr>
              <a:t>int</a:t>
            </a:r>
            <a:r>
              <a:rPr lang="zh-CN" altLang="en-US" sz="2600" b="1" dirty="0">
                <a:effectLst>
                  <a:outerShdw blurRad="38100" dist="38100" dir="2700000" algn="tl">
                    <a:srgbClr val="000000">
                      <a:alpha val="43137"/>
                    </a:srgbClr>
                  </a:outerShdw>
                </a:effectLst>
                <a:latin typeface="Arial" panose="020B0604020202020204" pitchFamily="34" charset="0"/>
              </a:rPr>
              <a:t>。它们的长度均为两个字节，用于存放一个双字节数据。对于</a:t>
            </a:r>
            <a:r>
              <a:rPr lang="en-US" altLang="zh-CN" sz="2600" b="1" dirty="0">
                <a:effectLst>
                  <a:outerShdw blurRad="38100" dist="38100" dir="2700000" algn="tl">
                    <a:srgbClr val="000000">
                      <a:alpha val="43137"/>
                    </a:srgbClr>
                  </a:outerShdw>
                </a:effectLst>
                <a:latin typeface="Arial" panose="020B0604020202020204" pitchFamily="34" charset="0"/>
              </a:rPr>
              <a:t>signed </a:t>
            </a:r>
            <a:r>
              <a:rPr lang="en-US" altLang="zh-CN" sz="2600" b="1" dirty="0" err="1">
                <a:effectLst>
                  <a:outerShdw blurRad="38100" dist="38100" dir="2700000" algn="tl">
                    <a:srgbClr val="000000">
                      <a:alpha val="43137"/>
                    </a:srgbClr>
                  </a:outerShdw>
                </a:effectLst>
                <a:latin typeface="Arial" panose="020B0604020202020204" pitchFamily="34" charset="0"/>
              </a:rPr>
              <a:t>int</a:t>
            </a:r>
            <a:r>
              <a:rPr lang="zh-CN" altLang="en-US" sz="2600" b="1" dirty="0">
                <a:effectLst>
                  <a:outerShdw blurRad="38100" dist="38100" dir="2700000" algn="tl">
                    <a:srgbClr val="000000">
                      <a:alpha val="43137"/>
                    </a:srgbClr>
                  </a:outerShdw>
                </a:effectLst>
                <a:latin typeface="Arial" panose="020B0604020202020204" pitchFamily="34" charset="0"/>
              </a:rPr>
              <a:t>，用于存放两字节带符号数，补码表示，数的范畴为</a:t>
            </a:r>
            <a:r>
              <a:rPr lang="en-US" altLang="zh-CN" sz="2600" b="1" dirty="0">
                <a:effectLst>
                  <a:outerShdw blurRad="38100" dist="38100" dir="2700000" algn="tl">
                    <a:srgbClr val="000000">
                      <a:alpha val="43137"/>
                    </a:srgbClr>
                  </a:outerShdw>
                </a:effectLst>
                <a:latin typeface="Arial" panose="020B0604020202020204" pitchFamily="34" charset="0"/>
              </a:rPr>
              <a:t>-32768~+32767</a:t>
            </a:r>
            <a:r>
              <a:rPr lang="zh-CN" altLang="en-US" sz="2600" b="1" dirty="0">
                <a:effectLst>
                  <a:outerShdw blurRad="38100" dist="38100" dir="2700000" algn="tl">
                    <a:srgbClr val="000000">
                      <a:alpha val="43137"/>
                    </a:srgbClr>
                  </a:outerShdw>
                </a:effectLst>
                <a:latin typeface="Arial" panose="020B0604020202020204" pitchFamily="34" charset="0"/>
              </a:rPr>
              <a:t>。对于</a:t>
            </a:r>
            <a:r>
              <a:rPr lang="en-US" altLang="zh-CN" sz="2600" b="1" dirty="0">
                <a:effectLst>
                  <a:outerShdw blurRad="38100" dist="38100" dir="2700000" algn="tl">
                    <a:srgbClr val="000000">
                      <a:alpha val="43137"/>
                    </a:srgbClr>
                  </a:outerShdw>
                </a:effectLst>
                <a:latin typeface="Arial" panose="020B0604020202020204" pitchFamily="34" charset="0"/>
              </a:rPr>
              <a:t>unsigned </a:t>
            </a:r>
            <a:r>
              <a:rPr lang="en-US" altLang="zh-CN" sz="2600" b="1" dirty="0" err="1">
                <a:effectLst>
                  <a:outerShdw blurRad="38100" dist="38100" dir="2700000" algn="tl">
                    <a:srgbClr val="000000">
                      <a:alpha val="43137"/>
                    </a:srgbClr>
                  </a:outerShdw>
                </a:effectLst>
                <a:latin typeface="Arial" panose="020B0604020202020204" pitchFamily="34" charset="0"/>
              </a:rPr>
              <a:t>int</a:t>
            </a:r>
            <a:r>
              <a:rPr lang="zh-CN" altLang="en-US" sz="2600" b="1" dirty="0">
                <a:effectLst>
                  <a:outerShdw blurRad="38100" dist="38100" dir="2700000" algn="tl">
                    <a:srgbClr val="000000">
                      <a:alpha val="43137"/>
                    </a:srgbClr>
                  </a:outerShdw>
                </a:effectLst>
                <a:latin typeface="Arial" panose="020B0604020202020204" pitchFamily="34" charset="0"/>
              </a:rPr>
              <a:t>，用于存放两字节无符号数，数的范围为</a:t>
            </a:r>
            <a:r>
              <a:rPr lang="en-US" altLang="zh-CN" sz="2600" b="1" dirty="0">
                <a:effectLst>
                  <a:outerShdw blurRad="38100" dist="38100" dir="2700000" algn="tl">
                    <a:srgbClr val="000000">
                      <a:alpha val="43137"/>
                    </a:srgbClr>
                  </a:outerShdw>
                </a:effectLst>
                <a:latin typeface="Arial" panose="020B0604020202020204" pitchFamily="34" charset="0"/>
              </a:rPr>
              <a:t>0~65535</a:t>
            </a:r>
            <a:r>
              <a:rPr lang="zh-CN" altLang="en-US" sz="2600" b="1" dirty="0">
                <a:effectLst>
                  <a:outerShdw blurRad="38100" dist="38100" dir="2700000" algn="tl">
                    <a:srgbClr val="000000">
                      <a:alpha val="43137"/>
                    </a:srgbClr>
                  </a:outerShdw>
                </a:effectLst>
                <a:latin typeface="Arial" panose="020B0604020202020204" pitchFamily="34" charset="0"/>
              </a:rPr>
              <a:t>。</a:t>
            </a:r>
          </a:p>
        </p:txBody>
      </p:sp>
      <p:sp>
        <p:nvSpPr>
          <p:cNvPr id="20483" name="Rectangle 3"/>
          <p:cNvSpPr>
            <a:spLocks noChangeArrowheads="1"/>
          </p:cNvSpPr>
          <p:nvPr/>
        </p:nvSpPr>
        <p:spPr bwMode="auto">
          <a:xfrm>
            <a:off x="539750" y="3141663"/>
            <a:ext cx="8431213" cy="3313112"/>
          </a:xfrm>
          <a:prstGeom prst="rect">
            <a:avLst/>
          </a:prstGeom>
          <a:solidFill>
            <a:schemeClr val="bg1"/>
          </a:solidFill>
          <a:ln>
            <a:noFill/>
          </a:ln>
          <a:effectLst/>
        </p:spPr>
        <p:txBody>
          <a:bodyPr>
            <a:spAutoFit/>
          </a:bodyPr>
          <a:lstStyle/>
          <a:p>
            <a:pPr eaLnBrk="1" hangingPunct="1">
              <a:lnSpc>
                <a:spcPct val="115000"/>
              </a:lnSpc>
              <a:spcBef>
                <a:spcPct val="5000"/>
              </a:spcBef>
              <a:defRPr/>
            </a:pPr>
            <a:r>
              <a:rPr lang="en-US" altLang="zh-CN" sz="2600" b="1" dirty="0">
                <a:solidFill>
                  <a:srgbClr val="0000FF"/>
                </a:solidFill>
                <a:effectLst>
                  <a:outerShdw blurRad="38100" dist="38100" dir="2700000" algn="tl">
                    <a:srgbClr val="000000">
                      <a:alpha val="43137"/>
                    </a:srgbClr>
                  </a:outerShdw>
                </a:effectLst>
                <a:latin typeface="Arial" panose="020B0604020202020204" pitchFamily="34" charset="0"/>
              </a:rPr>
              <a:t>3. long</a:t>
            </a:r>
            <a:r>
              <a:rPr lang="zh-CN" altLang="en-US" sz="2600" b="1" dirty="0">
                <a:solidFill>
                  <a:srgbClr val="0000FF"/>
                </a:solidFill>
                <a:effectLst>
                  <a:outerShdw blurRad="38100" dist="38100" dir="2700000" algn="tl">
                    <a:srgbClr val="000000">
                      <a:alpha val="43137"/>
                    </a:srgbClr>
                  </a:outerShdw>
                </a:effectLst>
                <a:latin typeface="Arial" panose="020B0604020202020204" pitchFamily="34" charset="0"/>
              </a:rPr>
              <a:t>长整型</a:t>
            </a:r>
          </a:p>
          <a:p>
            <a:pPr eaLnBrk="1" hangingPunct="1">
              <a:lnSpc>
                <a:spcPct val="115000"/>
              </a:lnSpc>
              <a:spcBef>
                <a:spcPct val="5000"/>
              </a:spcBef>
              <a:defRPr/>
            </a:pPr>
            <a:r>
              <a:rPr lang="zh-CN" altLang="en-US" sz="2600" b="1" dirty="0">
                <a:effectLst>
                  <a:outerShdw blurRad="38100" dist="38100" dir="2700000" algn="tl">
                    <a:srgbClr val="000000">
                      <a:alpha val="43137"/>
                    </a:srgbClr>
                  </a:outerShdw>
                </a:effectLst>
                <a:latin typeface="Arial" panose="020B0604020202020204" pitchFamily="34" charset="0"/>
              </a:rPr>
              <a:t>      分</a:t>
            </a:r>
            <a:r>
              <a:rPr lang="en-US" altLang="zh-CN" sz="2600" b="1" dirty="0">
                <a:effectLst>
                  <a:outerShdw blurRad="38100" dist="38100" dir="2700000" algn="tl">
                    <a:srgbClr val="000000">
                      <a:alpha val="43137"/>
                    </a:srgbClr>
                  </a:outerShdw>
                </a:effectLst>
                <a:latin typeface="Arial" panose="020B0604020202020204" pitchFamily="34" charset="0"/>
              </a:rPr>
              <a:t>singed long</a:t>
            </a:r>
            <a:r>
              <a:rPr lang="zh-CN" altLang="en-US" sz="2600" b="1" dirty="0">
                <a:effectLst>
                  <a:outerShdw blurRad="38100" dist="38100" dir="2700000" algn="tl">
                    <a:srgbClr val="000000">
                      <a:alpha val="43137"/>
                    </a:srgbClr>
                  </a:outerShdw>
                </a:effectLst>
                <a:latin typeface="Arial" panose="020B0604020202020204" pitchFamily="34" charset="0"/>
              </a:rPr>
              <a:t>和</a:t>
            </a:r>
            <a:r>
              <a:rPr lang="en-US" altLang="zh-CN" sz="2600" b="1" dirty="0">
                <a:effectLst>
                  <a:outerShdw blurRad="38100" dist="38100" dir="2700000" algn="tl">
                    <a:srgbClr val="000000">
                      <a:alpha val="43137"/>
                    </a:srgbClr>
                  </a:outerShdw>
                </a:effectLst>
                <a:latin typeface="Arial" panose="020B0604020202020204" pitchFamily="34" charset="0"/>
              </a:rPr>
              <a:t>unsigned long</a:t>
            </a:r>
            <a:r>
              <a:rPr lang="zh-CN" altLang="en-US" sz="2600" b="1" dirty="0">
                <a:effectLst>
                  <a:outerShdw blurRad="38100" dist="38100" dir="2700000" algn="tl">
                    <a:srgbClr val="000000">
                      <a:alpha val="43137"/>
                    </a:srgbClr>
                  </a:outerShdw>
                </a:effectLst>
                <a:latin typeface="Arial" panose="020B0604020202020204" pitchFamily="34" charset="0"/>
              </a:rPr>
              <a:t>。默认为</a:t>
            </a:r>
            <a:r>
              <a:rPr lang="en-US" altLang="zh-CN" sz="2600" b="1" dirty="0">
                <a:effectLst>
                  <a:outerShdw blurRad="38100" dist="38100" dir="2700000" algn="tl">
                    <a:srgbClr val="000000">
                      <a:alpha val="43137"/>
                    </a:srgbClr>
                  </a:outerShdw>
                </a:effectLst>
                <a:latin typeface="Arial" panose="020B0604020202020204" pitchFamily="34" charset="0"/>
              </a:rPr>
              <a:t>signed long</a:t>
            </a:r>
            <a:r>
              <a:rPr lang="zh-CN" altLang="en-US" sz="2600" b="1" dirty="0">
                <a:effectLst>
                  <a:outerShdw blurRad="38100" dist="38100" dir="2700000" algn="tl">
                    <a:srgbClr val="000000">
                      <a:alpha val="43137"/>
                    </a:srgbClr>
                  </a:outerShdw>
                </a:effectLst>
                <a:latin typeface="Arial" panose="020B0604020202020204" pitchFamily="34" charset="0"/>
              </a:rPr>
              <a:t>。它们的长度均为四个字节，用于存放一个四字节数据。对于</a:t>
            </a:r>
            <a:r>
              <a:rPr lang="en-US" altLang="zh-CN" sz="2600" b="1" dirty="0">
                <a:effectLst>
                  <a:outerShdw blurRad="38100" dist="38100" dir="2700000" algn="tl">
                    <a:srgbClr val="000000">
                      <a:alpha val="43137"/>
                    </a:srgbClr>
                  </a:outerShdw>
                </a:effectLst>
                <a:latin typeface="Arial" panose="020B0604020202020204" pitchFamily="34" charset="0"/>
              </a:rPr>
              <a:t>signed long</a:t>
            </a:r>
            <a:r>
              <a:rPr lang="zh-CN" altLang="en-US" sz="2600" b="1" dirty="0">
                <a:effectLst>
                  <a:outerShdw blurRad="38100" dist="38100" dir="2700000" algn="tl">
                    <a:srgbClr val="000000">
                      <a:alpha val="43137"/>
                    </a:srgbClr>
                  </a:outerShdw>
                </a:effectLst>
                <a:latin typeface="Arial" panose="020B0604020202020204" pitchFamily="34" charset="0"/>
              </a:rPr>
              <a:t>，用于存放四字节带符号数，补码表示，数的范畴为</a:t>
            </a:r>
            <a:r>
              <a:rPr lang="en-US" altLang="zh-CN" sz="2600" b="1" dirty="0">
                <a:effectLst>
                  <a:outerShdw blurRad="38100" dist="38100" dir="2700000" algn="tl">
                    <a:srgbClr val="000000">
                      <a:alpha val="43137"/>
                    </a:srgbClr>
                  </a:outerShdw>
                </a:effectLst>
                <a:latin typeface="Arial" panose="020B0604020202020204" pitchFamily="34" charset="0"/>
              </a:rPr>
              <a:t>-2147483648~+2147483647</a:t>
            </a:r>
            <a:r>
              <a:rPr lang="zh-CN" altLang="en-US" sz="2600" b="1" dirty="0">
                <a:effectLst>
                  <a:outerShdw blurRad="38100" dist="38100" dir="2700000" algn="tl">
                    <a:srgbClr val="000000">
                      <a:alpha val="43137"/>
                    </a:srgbClr>
                  </a:outerShdw>
                </a:effectLst>
                <a:latin typeface="Arial" panose="020B0604020202020204" pitchFamily="34" charset="0"/>
              </a:rPr>
              <a:t>。对于</a:t>
            </a:r>
            <a:r>
              <a:rPr lang="en-US" altLang="zh-CN" sz="2600" b="1" dirty="0">
                <a:effectLst>
                  <a:outerShdw blurRad="38100" dist="38100" dir="2700000" algn="tl">
                    <a:srgbClr val="000000">
                      <a:alpha val="43137"/>
                    </a:srgbClr>
                  </a:outerShdw>
                </a:effectLst>
                <a:latin typeface="Arial" panose="020B0604020202020204" pitchFamily="34" charset="0"/>
              </a:rPr>
              <a:t>unsigned long</a:t>
            </a:r>
            <a:r>
              <a:rPr lang="zh-CN" altLang="en-US" sz="2600" b="1" dirty="0">
                <a:effectLst>
                  <a:outerShdw blurRad="38100" dist="38100" dir="2700000" algn="tl">
                    <a:srgbClr val="000000">
                      <a:alpha val="43137"/>
                    </a:srgbClr>
                  </a:outerShdw>
                </a:effectLst>
                <a:latin typeface="Arial" panose="020B0604020202020204" pitchFamily="34" charset="0"/>
              </a:rPr>
              <a:t>，用于存放四字节无符号数，数的范围为</a:t>
            </a:r>
            <a:r>
              <a:rPr lang="en-US" altLang="zh-CN" sz="2600" b="1" dirty="0">
                <a:effectLst>
                  <a:outerShdw blurRad="38100" dist="38100" dir="2700000" algn="tl">
                    <a:srgbClr val="000000">
                      <a:alpha val="43137"/>
                    </a:srgbClr>
                  </a:outerShdw>
                </a:effectLst>
                <a:latin typeface="Arial" panose="020B0604020202020204" pitchFamily="34" charset="0"/>
              </a:rPr>
              <a:t>0~4294967295</a:t>
            </a:r>
            <a:r>
              <a:rPr lang="zh-CN" altLang="en-US" sz="2600" b="1" dirty="0">
                <a:effectLst>
                  <a:outerShdw blurRad="38100" dist="38100" dir="2700000" algn="tl">
                    <a:srgbClr val="000000">
                      <a:alpha val="43137"/>
                    </a:srgbClr>
                  </a:outerShdw>
                </a:effectLst>
                <a:latin typeface="Arial" panose="020B0604020202020204" pitchFamily="34" charset="0"/>
              </a:rPr>
              <a:t>。</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457200" y="1147445"/>
            <a:ext cx="8218488" cy="4407535"/>
          </a:xfrm>
          <a:prstGeom prst="rect">
            <a:avLst/>
          </a:prstGeom>
          <a:noFill/>
          <a:ln>
            <a:noFill/>
          </a:ln>
          <a:effectLst/>
        </p:spPr>
        <p:txBody>
          <a:bodyPr anchor="ctr">
            <a:spAutoFit/>
          </a:bodyPr>
          <a:lstStyle/>
          <a:p>
            <a:pPr indent="266700" eaLnBrk="1" hangingPunct="1">
              <a:lnSpc>
                <a:spcPct val="120000"/>
              </a:lnSpc>
              <a:defRPr/>
            </a:pPr>
            <a:r>
              <a:rPr lang="en-US" altLang="zh-CN" sz="2600" b="1" dirty="0">
                <a:solidFill>
                  <a:srgbClr val="0000FF"/>
                </a:solidFill>
                <a:effectLst>
                  <a:outerShdw blurRad="38100" dist="38100" dir="2700000" algn="tl">
                    <a:srgbClr val="000000">
                      <a:alpha val="43137"/>
                    </a:srgbClr>
                  </a:outerShdw>
                </a:effectLst>
                <a:latin typeface="Arial" panose="020B0604020202020204" pitchFamily="34" charset="0"/>
              </a:rPr>
              <a:t>4. float</a:t>
            </a:r>
            <a:r>
              <a:rPr lang="zh-CN" altLang="en-US" sz="2600" b="1" dirty="0">
                <a:solidFill>
                  <a:srgbClr val="0000FF"/>
                </a:solidFill>
                <a:effectLst>
                  <a:outerShdw blurRad="38100" dist="38100" dir="2700000" algn="tl">
                    <a:srgbClr val="000000">
                      <a:alpha val="43137"/>
                    </a:srgbClr>
                  </a:outerShdw>
                </a:effectLst>
                <a:latin typeface="Arial" panose="020B0604020202020204" pitchFamily="34" charset="0"/>
              </a:rPr>
              <a:t>浮点型</a:t>
            </a:r>
          </a:p>
          <a:p>
            <a:pPr indent="266700" eaLnBrk="1" hangingPunct="1">
              <a:lnSpc>
                <a:spcPct val="120000"/>
              </a:lnSpc>
              <a:defRPr/>
            </a:pPr>
            <a:r>
              <a:rPr lang="zh-CN" altLang="en-US" sz="2600" b="1" dirty="0">
                <a:effectLst>
                  <a:outerShdw blurRad="38100" dist="38100" dir="2700000" algn="tl">
                    <a:srgbClr val="000000">
                      <a:alpha val="43137"/>
                    </a:srgbClr>
                  </a:outerShdw>
                </a:effectLst>
                <a:latin typeface="Arial" panose="020B0604020202020204" pitchFamily="34" charset="0"/>
              </a:rPr>
              <a:t>      </a:t>
            </a:r>
            <a:r>
              <a:rPr lang="en-US" altLang="zh-CN" sz="2600" b="1" dirty="0">
                <a:effectLst>
                  <a:outerShdw blurRad="38100" dist="38100" dir="2700000" algn="tl">
                    <a:srgbClr val="000000">
                      <a:alpha val="43137"/>
                    </a:srgbClr>
                  </a:outerShdw>
                </a:effectLst>
                <a:latin typeface="Arial" panose="020B0604020202020204" pitchFamily="34" charset="0"/>
              </a:rPr>
              <a:t>float</a:t>
            </a:r>
            <a:r>
              <a:rPr lang="zh-CN" altLang="en-US" sz="2600" b="1" dirty="0">
                <a:effectLst>
                  <a:outerShdw blurRad="38100" dist="38100" dir="2700000" algn="tl">
                    <a:srgbClr val="000000">
                      <a:alpha val="43137"/>
                    </a:srgbClr>
                  </a:outerShdw>
                </a:effectLst>
                <a:latin typeface="Arial" panose="020B0604020202020204" pitchFamily="34" charset="0"/>
              </a:rPr>
              <a:t>型数据的长度为</a:t>
            </a:r>
            <a:r>
              <a:rPr lang="en-US" altLang="zh-CN" sz="2600" b="1" dirty="0">
                <a:effectLst>
                  <a:outerShdw blurRad="38100" dist="38100" dir="2700000" algn="tl">
                    <a:srgbClr val="000000">
                      <a:alpha val="43137"/>
                    </a:srgbClr>
                  </a:outerShdw>
                </a:effectLst>
                <a:latin typeface="Arial" panose="020B0604020202020204" pitchFamily="34" charset="0"/>
              </a:rPr>
              <a:t>4</a:t>
            </a:r>
            <a:r>
              <a:rPr lang="zh-CN" altLang="en-US" sz="2600" b="1" dirty="0">
                <a:effectLst>
                  <a:outerShdw blurRad="38100" dist="38100" dir="2700000" algn="tl">
                    <a:srgbClr val="000000">
                      <a:alpha val="43137"/>
                    </a:srgbClr>
                  </a:outerShdw>
                </a:effectLst>
                <a:latin typeface="Arial" panose="020B0604020202020204" pitchFamily="34" charset="0"/>
              </a:rPr>
              <a:t>个字节，格式符合</a:t>
            </a:r>
            <a:r>
              <a:rPr lang="en-US" altLang="zh-CN" sz="2600" b="1" dirty="0">
                <a:effectLst>
                  <a:outerShdw blurRad="38100" dist="38100" dir="2700000" algn="tl">
                    <a:srgbClr val="000000">
                      <a:alpha val="43137"/>
                    </a:srgbClr>
                  </a:outerShdw>
                </a:effectLst>
                <a:latin typeface="Arial" panose="020B0604020202020204" pitchFamily="34" charset="0"/>
              </a:rPr>
              <a:t>IEEE-754</a:t>
            </a:r>
            <a:r>
              <a:rPr lang="zh-CN" altLang="en-US" sz="2600" b="1" dirty="0">
                <a:effectLst>
                  <a:outerShdw blurRad="38100" dist="38100" dir="2700000" algn="tl">
                    <a:srgbClr val="000000">
                      <a:alpha val="43137"/>
                    </a:srgbClr>
                  </a:outerShdw>
                </a:effectLst>
                <a:latin typeface="Arial" panose="020B0604020202020204" pitchFamily="34" charset="0"/>
              </a:rPr>
              <a:t>标准的单精度浮点型数据，包含指数和尾数两部分，其中</a:t>
            </a:r>
            <a:r>
              <a:rPr lang="en-US" altLang="zh-CN" sz="2600" b="1" dirty="0">
                <a:effectLst>
                  <a:outerShdw blurRad="38100" dist="38100" dir="2700000" algn="tl">
                    <a:srgbClr val="000000">
                      <a:alpha val="43137"/>
                    </a:srgbClr>
                  </a:outerShdw>
                </a:effectLst>
                <a:latin typeface="Arial" panose="020B0604020202020204" pitchFamily="34" charset="0"/>
              </a:rPr>
              <a:t>8</a:t>
            </a:r>
            <a:r>
              <a:rPr lang="zh-CN" altLang="en-US" sz="2600" b="1" dirty="0">
                <a:effectLst>
                  <a:outerShdw blurRad="38100" dist="38100" dir="2700000" algn="tl">
                    <a:srgbClr val="000000">
                      <a:alpha val="43137"/>
                    </a:srgbClr>
                  </a:outerShdw>
                </a:effectLst>
                <a:latin typeface="Arial" panose="020B0604020202020204" pitchFamily="34" charset="0"/>
              </a:rPr>
              <a:t>位为阶码，</a:t>
            </a:r>
            <a:r>
              <a:rPr lang="en-US" altLang="zh-CN" sz="2600" b="1" dirty="0">
                <a:effectLst>
                  <a:outerShdw blurRad="38100" dist="38100" dir="2700000" algn="tl">
                    <a:srgbClr val="000000">
                      <a:alpha val="43137"/>
                    </a:srgbClr>
                  </a:outerShdw>
                </a:effectLst>
                <a:latin typeface="Arial" panose="020B0604020202020204" pitchFamily="34" charset="0"/>
              </a:rPr>
              <a:t>24</a:t>
            </a:r>
            <a:r>
              <a:rPr lang="zh-CN" altLang="en-US" sz="2600" b="1" dirty="0">
                <a:effectLst>
                  <a:outerShdw blurRad="38100" dist="38100" dir="2700000" algn="tl">
                    <a:srgbClr val="000000">
                      <a:alpha val="43137"/>
                    </a:srgbClr>
                  </a:outerShdw>
                </a:effectLst>
                <a:latin typeface="Arial" panose="020B0604020202020204" pitchFamily="34" charset="0"/>
              </a:rPr>
              <a:t>位（含符号位）为尾数的有效数位。 </a:t>
            </a:r>
          </a:p>
          <a:p>
            <a:pPr indent="266700" eaLnBrk="1" hangingPunct="1">
              <a:lnSpc>
                <a:spcPct val="120000"/>
              </a:lnSpc>
              <a:defRPr/>
            </a:pPr>
            <a:r>
              <a:rPr lang="en-US" altLang="zh-CN" sz="2600" b="1" dirty="0">
                <a:solidFill>
                  <a:srgbClr val="0000FF"/>
                </a:solidFill>
                <a:effectLst>
                  <a:outerShdw blurRad="38100" dist="38100" dir="2700000" algn="tl">
                    <a:srgbClr val="000000">
                      <a:alpha val="43137"/>
                    </a:srgbClr>
                  </a:outerShdw>
                </a:effectLst>
                <a:latin typeface="Arial" panose="020B0604020202020204" pitchFamily="34" charset="0"/>
              </a:rPr>
              <a:t>5.</a:t>
            </a:r>
            <a:r>
              <a:rPr lang="zh-CN" altLang="en-US" sz="2600" b="1" dirty="0">
                <a:solidFill>
                  <a:srgbClr val="0000FF"/>
                </a:solidFill>
                <a:effectLst>
                  <a:outerShdw blurRad="38100" dist="38100" dir="2700000" algn="tl">
                    <a:srgbClr val="000000">
                      <a:alpha val="43137"/>
                    </a:srgbClr>
                  </a:outerShdw>
                </a:effectLst>
                <a:latin typeface="Arial" panose="020B0604020202020204" pitchFamily="34" charset="0"/>
              </a:rPr>
              <a:t> * 指针型</a:t>
            </a:r>
          </a:p>
          <a:p>
            <a:pPr indent="266700" eaLnBrk="1" hangingPunct="1">
              <a:lnSpc>
                <a:spcPct val="120000"/>
              </a:lnSpc>
              <a:defRPr/>
            </a:pPr>
            <a:r>
              <a:rPr lang="zh-CN" altLang="en-US" sz="2600" b="1" dirty="0">
                <a:effectLst>
                  <a:outerShdw blurRad="38100" dist="38100" dir="2700000" algn="tl">
                    <a:srgbClr val="000000">
                      <a:alpha val="43137"/>
                    </a:srgbClr>
                  </a:outerShdw>
                </a:effectLst>
                <a:latin typeface="Arial" panose="020B0604020202020204" pitchFamily="34" charset="0"/>
              </a:rPr>
              <a:t>    指针型本身就是一个变量，在这个变量中存放的指向另一个数据的地址。这个指针变量要占用一定的内存单元，对不同的处理器其长度不一样，在</a:t>
            </a:r>
            <a:r>
              <a:rPr lang="en-US" altLang="zh-CN" sz="2600" b="1" dirty="0">
                <a:effectLst>
                  <a:outerShdw blurRad="38100" dist="38100" dir="2700000" algn="tl">
                    <a:srgbClr val="000000">
                      <a:alpha val="43137"/>
                    </a:srgbClr>
                  </a:outerShdw>
                </a:effectLst>
                <a:latin typeface="Arial" panose="020B0604020202020204" pitchFamily="34" charset="0"/>
              </a:rPr>
              <a:t>C51</a:t>
            </a:r>
            <a:r>
              <a:rPr lang="zh-CN" altLang="en-US" sz="2600" b="1" dirty="0">
                <a:effectLst>
                  <a:outerShdw blurRad="38100" dist="38100" dir="2700000" algn="tl">
                    <a:srgbClr val="000000">
                      <a:alpha val="43137"/>
                    </a:srgbClr>
                  </a:outerShdw>
                </a:effectLst>
                <a:latin typeface="Arial" panose="020B0604020202020204" pitchFamily="34" charset="0"/>
              </a:rPr>
              <a:t>中它的长度一般为</a:t>
            </a:r>
            <a:r>
              <a:rPr lang="en-US" altLang="zh-CN" sz="2600" b="1" dirty="0">
                <a:effectLst>
                  <a:outerShdw blurRad="38100" dist="38100" dir="2700000" algn="tl">
                    <a:srgbClr val="000000">
                      <a:alpha val="43137"/>
                    </a:srgbClr>
                  </a:outerShdw>
                </a:effectLst>
                <a:latin typeface="Arial" panose="020B0604020202020204" pitchFamily="34" charset="0"/>
              </a:rPr>
              <a:t>1~3</a:t>
            </a:r>
            <a:r>
              <a:rPr lang="zh-CN" altLang="en-US" sz="2600" b="1" dirty="0">
                <a:effectLst>
                  <a:outerShdw blurRad="38100" dist="38100" dir="2700000" algn="tl">
                    <a:srgbClr val="000000">
                      <a:alpha val="43137"/>
                    </a:srgbClr>
                  </a:outerShdw>
                </a:effectLst>
                <a:latin typeface="Arial" panose="020B0604020202020204" pitchFamily="34" charset="0"/>
              </a:rPr>
              <a:t>个字节。</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611188" y="1221066"/>
            <a:ext cx="7705725" cy="2109232"/>
          </a:xfrm>
          <a:prstGeom prst="rect">
            <a:avLst/>
          </a:prstGeom>
          <a:noFill/>
          <a:ln>
            <a:noFill/>
          </a:ln>
          <a:effectLst/>
        </p:spPr>
        <p:txBody>
          <a:bodyPr anchor="ctr">
            <a:spAutoFit/>
          </a:bodyPr>
          <a:lstStyle/>
          <a:p>
            <a:pPr indent="266700" eaLnBrk="1" hangingPunct="1">
              <a:lnSpc>
                <a:spcPct val="120000"/>
              </a:lnSpc>
              <a:defRPr/>
            </a:pPr>
            <a:r>
              <a:rPr lang="en-US" altLang="zh-CN" b="1" dirty="0">
                <a:solidFill>
                  <a:srgbClr val="0000FF"/>
                </a:solidFill>
                <a:effectLst>
                  <a:outerShdw blurRad="38100" dist="38100" dir="2700000" algn="tl">
                    <a:srgbClr val="000000">
                      <a:alpha val="43137"/>
                    </a:srgbClr>
                  </a:outerShdw>
                </a:effectLst>
                <a:latin typeface="Arial" panose="020B0604020202020204" pitchFamily="34" charset="0"/>
              </a:rPr>
              <a:t>6. </a:t>
            </a:r>
            <a:r>
              <a:rPr lang="zh-CN" altLang="en-US" b="1" dirty="0">
                <a:solidFill>
                  <a:srgbClr val="0000FF"/>
                </a:solidFill>
                <a:effectLst>
                  <a:outerShdw blurRad="38100" dist="38100" dir="2700000" algn="tl">
                    <a:srgbClr val="000000">
                      <a:alpha val="43137"/>
                    </a:srgbClr>
                  </a:outerShdw>
                </a:effectLst>
                <a:latin typeface="Arial" panose="020B0604020202020204" pitchFamily="34" charset="0"/>
              </a:rPr>
              <a:t>空类型</a:t>
            </a:r>
            <a:endParaRPr lang="en-US" altLang="zh-CN" b="1" dirty="0">
              <a:solidFill>
                <a:srgbClr val="0000FF"/>
              </a:solidFill>
              <a:effectLst>
                <a:outerShdw blurRad="38100" dist="38100" dir="2700000" algn="tl">
                  <a:srgbClr val="000000">
                    <a:alpha val="43137"/>
                  </a:srgbClr>
                </a:outerShdw>
              </a:effectLst>
              <a:latin typeface="Arial" panose="020B0604020202020204" pitchFamily="34" charset="0"/>
            </a:endParaRPr>
          </a:p>
          <a:p>
            <a:pPr indent="266700" eaLnBrk="1" hangingPunct="1">
              <a:lnSpc>
                <a:spcPct val="120000"/>
              </a:lnSpc>
              <a:defRPr/>
            </a:pPr>
            <a:r>
              <a:rPr lang="zh-CN" altLang="en-US" b="1" dirty="0">
                <a:effectLst>
                  <a:outerShdw blurRad="38100" dist="38100" dir="2700000" algn="tl">
                    <a:srgbClr val="000000">
                      <a:alpha val="43137"/>
                    </a:srgbClr>
                  </a:outerShdw>
                </a:effectLst>
                <a:latin typeface="Arial" panose="020B0604020202020204" pitchFamily="34" charset="0"/>
              </a:rPr>
              <a:t>      </a:t>
            </a:r>
            <a:r>
              <a:rPr lang="en-US" altLang="zh-CN" b="1" dirty="0">
                <a:effectLst>
                  <a:outerShdw blurRad="38100" dist="38100" dir="2700000" algn="tl">
                    <a:srgbClr val="000000">
                      <a:alpha val="43137"/>
                    </a:srgbClr>
                  </a:outerShdw>
                </a:effectLst>
                <a:latin typeface="Arial" panose="020B0604020202020204" pitchFamily="34" charset="0"/>
              </a:rPr>
              <a:t>C</a:t>
            </a:r>
            <a:r>
              <a:rPr lang="zh-CN" altLang="en-US" b="1" dirty="0">
                <a:effectLst>
                  <a:outerShdw blurRad="38100" dist="38100" dir="2700000" algn="tl">
                    <a:srgbClr val="000000">
                      <a:alpha val="43137"/>
                    </a:srgbClr>
                  </a:outerShdw>
                </a:effectLst>
                <a:latin typeface="Arial" panose="020B0604020202020204" pitchFamily="34" charset="0"/>
              </a:rPr>
              <a:t>语言使用函数时，函数通常返回一个值。但有些函数不需要返回函数值，此时这种函数称为空类型，其类型说明符为“</a:t>
            </a:r>
            <a:r>
              <a:rPr lang="en-US" altLang="zh-CN" b="1" dirty="0">
                <a:effectLst>
                  <a:outerShdw blurRad="38100" dist="38100" dir="2700000" algn="tl">
                    <a:srgbClr val="000000">
                      <a:alpha val="43137"/>
                    </a:srgbClr>
                  </a:outerShdw>
                </a:effectLst>
                <a:latin typeface="Arial" panose="020B0604020202020204" pitchFamily="34" charset="0"/>
              </a:rPr>
              <a:t>void</a:t>
            </a:r>
            <a:r>
              <a:rPr lang="zh-CN" altLang="en-US" b="1" dirty="0">
                <a:effectLst>
                  <a:outerShdw blurRad="38100" dist="38100" dir="2700000" algn="tl">
                    <a:srgbClr val="000000">
                      <a:alpha val="43137"/>
                    </a:srgbClr>
                  </a:outerShdw>
                </a:effectLst>
                <a:latin typeface="Arial" panose="020B0604020202020204" pitchFamily="34" charset="0"/>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内容占位符 1"/>
          <p:cNvSpPr>
            <a:spLocks noGrp="1"/>
          </p:cNvSpPr>
          <p:nvPr>
            <p:ph idx="4294967295"/>
          </p:nvPr>
        </p:nvSpPr>
        <p:spPr>
          <a:xfrm>
            <a:off x="0" y="260350"/>
            <a:ext cx="8893175" cy="2035175"/>
          </a:xfrm>
        </p:spPr>
        <p:txBody>
          <a:bodyPr/>
          <a:lstStyle/>
          <a:p>
            <a:pPr indent="20955" eaLnBrk="1" hangingPunct="1">
              <a:lnSpc>
                <a:spcPct val="150000"/>
              </a:lnSpc>
              <a:buFont typeface="Wingdings" panose="05000000000000000000" pitchFamily="2" charset="2"/>
              <a:buNone/>
              <a:defRPr/>
            </a:pPr>
            <a:r>
              <a:rPr lang="en-US" altLang="zh-CN"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zh-CN" altLang="en-US"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三、</a:t>
            </a:r>
            <a:r>
              <a:rPr lang="en-US" altLang="zh-CN"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C51</a:t>
            </a:r>
            <a:r>
              <a:rPr lang="zh-CN" altLang="en-US"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的扩展数据类型</a:t>
            </a:r>
          </a:p>
          <a:p>
            <a:pPr indent="20955" eaLnBrk="1" hangingPunct="1">
              <a:lnSpc>
                <a:spcPct val="150000"/>
              </a:lnSpc>
              <a:buFont typeface="Wingdings" panose="05000000000000000000" pitchFamily="2" charset="2"/>
              <a:buNone/>
              <a:defRPr/>
            </a:pPr>
            <a:r>
              <a:rPr lang="en-US" altLang="zh-CN" sz="2800" b="1"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en-US" altLang="zh-CN" b="1"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a:t>
            </a:r>
            <a:r>
              <a:rPr lang="zh-CN" altLang="en-US" b="1"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位类型</a:t>
            </a:r>
            <a:r>
              <a:rPr lang="en-US" altLang="zh-CN" b="1"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bit</a:t>
            </a:r>
          </a:p>
          <a:p>
            <a:pPr indent="20955" eaLnBrk="1" hangingPunct="1">
              <a:lnSpc>
                <a:spcPct val="150000"/>
              </a:lnSpc>
              <a:buFont typeface="Wingdings" panose="05000000000000000000" pitchFamily="2" charset="2"/>
              <a:buNone/>
              <a:defRPr/>
            </a:pPr>
            <a:r>
              <a:rPr lang="en-US" altLang="zh-CN" sz="2400" b="1" dirty="0">
                <a:effectLst>
                  <a:outerShdw blurRad="38100" dist="38100" dir="2700000" algn="tl">
                    <a:srgbClr val="000000">
                      <a:alpha val="43137"/>
                    </a:srgbClr>
                  </a:outerShdw>
                </a:effectLst>
              </a:rPr>
              <a:t>	</a:t>
            </a:r>
            <a:r>
              <a:rPr lang="en-US" altLang="zh-CN" sz="2800" b="1" dirty="0">
                <a:effectLst>
                  <a:outerShdw blurRad="38100" dist="38100" dir="2700000" algn="tl">
                    <a:srgbClr val="000000">
                      <a:alpha val="43137"/>
                    </a:srgbClr>
                  </a:outerShdw>
                </a:effectLst>
                <a:latin typeface="Times New Roman" panose="02020603050405020304" pitchFamily="18" charset="0"/>
              </a:rPr>
              <a:t>bit</a:t>
            </a:r>
            <a:r>
              <a:rPr lang="zh-CN" altLang="en-US" sz="2800" b="1" dirty="0">
                <a:effectLst>
                  <a:outerShdw blurRad="38100" dist="38100" dir="2700000" algn="tl">
                    <a:srgbClr val="000000">
                      <a:alpha val="43137"/>
                    </a:srgbClr>
                  </a:outerShdw>
                </a:effectLst>
                <a:latin typeface="Times New Roman" panose="02020603050405020304" pitchFamily="18" charset="0"/>
              </a:rPr>
              <a:t>的值可以是</a:t>
            </a:r>
            <a:r>
              <a:rPr lang="en-US" altLang="zh-CN" sz="2800" b="1" dirty="0">
                <a:effectLst>
                  <a:outerShdw blurRad="38100" dist="38100" dir="2700000" algn="tl">
                    <a:srgbClr val="000000">
                      <a:alpha val="43137"/>
                    </a:srgbClr>
                  </a:outerShdw>
                </a:effectLst>
                <a:latin typeface="Times New Roman" panose="02020603050405020304" pitchFamily="18" charset="0"/>
              </a:rPr>
              <a:t>1</a:t>
            </a:r>
            <a:r>
              <a:rPr lang="zh-CN" altLang="en-US" sz="2800" b="1" dirty="0">
                <a:effectLst>
                  <a:outerShdw blurRad="38100" dist="38100" dir="2700000" algn="tl">
                    <a:srgbClr val="000000">
                      <a:alpha val="43137"/>
                    </a:srgbClr>
                  </a:outerShdw>
                </a:effectLst>
                <a:latin typeface="Times New Roman" panose="02020603050405020304" pitchFamily="18" charset="0"/>
              </a:rPr>
              <a:t>（</a:t>
            </a:r>
            <a:r>
              <a:rPr lang="en-US" altLang="zh-CN" sz="2800" b="1" dirty="0">
                <a:effectLst>
                  <a:outerShdw blurRad="38100" dist="38100" dir="2700000" algn="tl">
                    <a:srgbClr val="000000">
                      <a:alpha val="43137"/>
                    </a:srgbClr>
                  </a:outerShdw>
                </a:effectLst>
                <a:latin typeface="Times New Roman" panose="02020603050405020304" pitchFamily="18" charset="0"/>
              </a:rPr>
              <a:t>true</a:t>
            </a:r>
            <a:r>
              <a:rPr lang="zh-CN" altLang="en-US" sz="2800" b="1" dirty="0">
                <a:effectLst>
                  <a:outerShdw blurRad="38100" dist="38100" dir="2700000" algn="tl">
                    <a:srgbClr val="000000">
                      <a:alpha val="43137"/>
                    </a:srgbClr>
                  </a:outerShdw>
                </a:effectLst>
                <a:latin typeface="Times New Roman" panose="02020603050405020304" pitchFamily="18" charset="0"/>
              </a:rPr>
              <a:t>）</a:t>
            </a:r>
            <a:r>
              <a:rPr lang="en-US" altLang="zh-CN" sz="2800" b="1" dirty="0">
                <a:effectLst>
                  <a:outerShdw blurRad="38100" dist="38100" dir="2700000" algn="tl">
                    <a:srgbClr val="000000">
                      <a:alpha val="43137"/>
                    </a:srgbClr>
                  </a:outerShdw>
                </a:effectLst>
                <a:latin typeface="Times New Roman" panose="02020603050405020304" pitchFamily="18" charset="0"/>
              </a:rPr>
              <a:t>, </a:t>
            </a:r>
            <a:r>
              <a:rPr lang="zh-CN" altLang="en-US" sz="2800" b="1" dirty="0">
                <a:effectLst>
                  <a:outerShdw blurRad="38100" dist="38100" dir="2700000" algn="tl">
                    <a:srgbClr val="000000">
                      <a:alpha val="43137"/>
                    </a:srgbClr>
                  </a:outerShdw>
                </a:effectLst>
                <a:latin typeface="Times New Roman" panose="02020603050405020304" pitchFamily="18" charset="0"/>
              </a:rPr>
              <a:t>也可以是</a:t>
            </a:r>
            <a:r>
              <a:rPr lang="en-US" altLang="zh-CN" sz="2800" b="1" dirty="0">
                <a:effectLst>
                  <a:outerShdw blurRad="38100" dist="38100" dir="2700000" algn="tl">
                    <a:srgbClr val="000000">
                      <a:alpha val="43137"/>
                    </a:srgbClr>
                  </a:outerShdw>
                </a:effectLst>
                <a:latin typeface="Times New Roman" panose="02020603050405020304" pitchFamily="18" charset="0"/>
              </a:rPr>
              <a:t>0</a:t>
            </a:r>
            <a:r>
              <a:rPr lang="zh-CN" altLang="en-US" sz="2800" b="1" dirty="0">
                <a:effectLst>
                  <a:outerShdw blurRad="38100" dist="38100" dir="2700000" algn="tl">
                    <a:srgbClr val="000000">
                      <a:alpha val="43137"/>
                    </a:srgbClr>
                  </a:outerShdw>
                </a:effectLst>
                <a:latin typeface="Times New Roman" panose="02020603050405020304" pitchFamily="18" charset="0"/>
              </a:rPr>
              <a:t>（</a:t>
            </a:r>
            <a:r>
              <a:rPr lang="en-US" altLang="zh-CN" sz="2800" b="1" dirty="0">
                <a:effectLst>
                  <a:outerShdw blurRad="38100" dist="38100" dir="2700000" algn="tl">
                    <a:srgbClr val="000000">
                      <a:alpha val="43137"/>
                    </a:srgbClr>
                  </a:outerShdw>
                </a:effectLst>
                <a:latin typeface="Times New Roman" panose="02020603050405020304" pitchFamily="18" charset="0"/>
              </a:rPr>
              <a:t>false</a:t>
            </a:r>
            <a:r>
              <a:rPr lang="zh-CN" altLang="en-US" sz="2800" b="1" dirty="0">
                <a:effectLst>
                  <a:outerShdw blurRad="38100" dist="38100" dir="2700000" algn="tl">
                    <a:srgbClr val="000000">
                      <a:alpha val="43137"/>
                    </a:srgbClr>
                  </a:outerShdw>
                </a:effectLst>
                <a:latin typeface="Times New Roman" panose="02020603050405020304" pitchFamily="18" charset="0"/>
              </a:rPr>
              <a:t>）。</a:t>
            </a:r>
          </a:p>
        </p:txBody>
      </p:sp>
      <p:sp>
        <p:nvSpPr>
          <p:cNvPr id="24579" name="灯片编号占位符 2"/>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0"/>
              </a:spcBef>
              <a:buClrTx/>
              <a:buSzTx/>
              <a:buFontTx/>
              <a:buNone/>
            </a:pPr>
            <a:fld id="{916B2A56-0F70-4CFD-852B-B4A3E2864FF0}" type="slidenum">
              <a:rPr lang="en-US" altLang="zh-CN" sz="1200">
                <a:latin typeface="Arial Black" panose="020B0A04020102020204" pitchFamily="34" charset="0"/>
                <a:cs typeface="Arial" panose="020B0604020202020204" pitchFamily="34" charset="0"/>
              </a:rPr>
              <a:t>34</a:t>
            </a:fld>
            <a:endParaRPr lang="en-US" altLang="zh-CN" sz="1200">
              <a:latin typeface="Arial Black" panose="020B0A04020102020204" pitchFamily="34" charset="0"/>
              <a:cs typeface="Arial" panose="020B0604020202020204" pitchFamily="34" charset="0"/>
            </a:endParaRPr>
          </a:p>
        </p:txBody>
      </p:sp>
      <p:sp>
        <p:nvSpPr>
          <p:cNvPr id="34824" name="Rectangle 8"/>
          <p:cNvSpPr>
            <a:spLocks noChangeArrowheads="1"/>
          </p:cNvSpPr>
          <p:nvPr/>
        </p:nvSpPr>
        <p:spPr bwMode="auto">
          <a:xfrm>
            <a:off x="539750" y="2636838"/>
            <a:ext cx="8229600" cy="965200"/>
          </a:xfrm>
          <a:prstGeom prst="rect">
            <a:avLst/>
          </a:prstGeom>
          <a:solidFill>
            <a:srgbClr val="008000"/>
          </a:solidFill>
          <a:ln>
            <a:noFill/>
          </a:ln>
          <a:effectLst/>
        </p:spPr>
        <p:txBody>
          <a:bodyPr>
            <a:spAutoFit/>
          </a:bodyPr>
          <a:lstStyle/>
          <a:p>
            <a:pPr eaLnBrk="1" hangingPunct="1">
              <a:lnSpc>
                <a:spcPct val="110000"/>
              </a:lnSpc>
              <a:spcBef>
                <a:spcPct val="30000"/>
              </a:spcBef>
              <a:defRPr/>
            </a:pPr>
            <a:r>
              <a:rPr lang="zh-CN" altLang="en-US" sz="2600" b="1" dirty="0">
                <a:solidFill>
                  <a:schemeClr val="bg1"/>
                </a:solidFill>
                <a:effectLst>
                  <a:outerShdw blurRad="38100" dist="38100" dir="2700000" algn="tl">
                    <a:srgbClr val="000000">
                      <a:alpha val="43137"/>
                    </a:srgbClr>
                  </a:outerShdw>
                </a:effectLst>
                <a:latin typeface="Arial" panose="020B0604020202020204" pitchFamily="34" charset="0"/>
              </a:rPr>
              <a:t>说明：用</a:t>
            </a:r>
            <a:r>
              <a:rPr lang="en-US" altLang="zh-CN" sz="2600" b="1" dirty="0">
                <a:solidFill>
                  <a:schemeClr val="bg1"/>
                </a:solidFill>
                <a:effectLst>
                  <a:outerShdw blurRad="38100" dist="38100" dir="2700000" algn="tl">
                    <a:srgbClr val="000000">
                      <a:alpha val="43137"/>
                    </a:srgbClr>
                  </a:outerShdw>
                </a:effectLst>
                <a:latin typeface="Arial" panose="020B0604020202020204" pitchFamily="34" charset="0"/>
              </a:rPr>
              <a:t>bit</a:t>
            </a:r>
            <a:r>
              <a:rPr lang="zh-CN" altLang="en-US" sz="2600" b="1" dirty="0">
                <a:solidFill>
                  <a:schemeClr val="bg1"/>
                </a:solidFill>
                <a:effectLst>
                  <a:outerShdw blurRad="38100" dist="38100" dir="2700000" algn="tl">
                    <a:srgbClr val="000000">
                      <a:alpha val="43137"/>
                    </a:srgbClr>
                  </a:outerShdw>
                </a:effectLst>
                <a:latin typeface="Arial" panose="020B0604020202020204" pitchFamily="34" charset="0"/>
              </a:rPr>
              <a:t>定义的位变量在</a:t>
            </a:r>
            <a:r>
              <a:rPr lang="en-US" altLang="zh-CN" sz="2600" b="1" dirty="0">
                <a:solidFill>
                  <a:schemeClr val="bg1"/>
                </a:solidFill>
                <a:effectLst>
                  <a:outerShdw blurRad="38100" dist="38100" dir="2700000" algn="tl">
                    <a:srgbClr val="000000">
                      <a:alpha val="43137"/>
                    </a:srgbClr>
                  </a:outerShdw>
                </a:effectLst>
                <a:latin typeface="Arial" panose="020B0604020202020204" pitchFamily="34" charset="0"/>
              </a:rPr>
              <a:t>C51</a:t>
            </a:r>
            <a:r>
              <a:rPr lang="zh-CN" altLang="en-US" sz="2600" b="1" dirty="0">
                <a:solidFill>
                  <a:schemeClr val="bg1"/>
                </a:solidFill>
                <a:effectLst>
                  <a:outerShdw blurRad="38100" dist="38100" dir="2700000" algn="tl">
                    <a:srgbClr val="000000">
                      <a:alpha val="43137"/>
                    </a:srgbClr>
                  </a:outerShdw>
                </a:effectLst>
                <a:latin typeface="Arial" panose="020B0604020202020204" pitchFamily="34" charset="0"/>
              </a:rPr>
              <a:t>编译器编译时，在不同的时候位地址是可以变化的</a:t>
            </a:r>
          </a:p>
        </p:txBody>
      </p:sp>
      <p:sp>
        <p:nvSpPr>
          <p:cNvPr id="2" name="文本框 1"/>
          <p:cNvSpPr txBox="1"/>
          <p:nvPr/>
        </p:nvSpPr>
        <p:spPr>
          <a:xfrm>
            <a:off x="539750" y="3943351"/>
            <a:ext cx="8229600" cy="461665"/>
          </a:xfrm>
          <a:prstGeom prst="rect">
            <a:avLst/>
          </a:prstGeom>
          <a:noFill/>
        </p:spPr>
        <p:txBody>
          <a:bodyPr wrap="square" rtlCol="0">
            <a:spAutoFit/>
          </a:bodyPr>
          <a:lstStyle/>
          <a:p>
            <a:r>
              <a:rPr lang="zh-CN" altLang="en-US" sz="2400" b="1" dirty="0">
                <a:effectLst>
                  <a:outerShdw blurRad="38100" dist="38100" dir="2700000" algn="tl">
                    <a:srgbClr val="000000">
                      <a:alpha val="43137"/>
                    </a:srgbClr>
                  </a:outerShdw>
                </a:effectLst>
              </a:rPr>
              <a:t>如：</a:t>
            </a:r>
            <a:r>
              <a:rPr lang="en-US" altLang="zh-CN" sz="2400" b="1" dirty="0">
                <a:effectLst>
                  <a:outerShdw blurRad="38100" dist="38100" dir="2700000" algn="tl">
                    <a:srgbClr val="000000">
                      <a:alpha val="43137"/>
                    </a:srgbClr>
                  </a:outerShdw>
                </a:effectLst>
              </a:rPr>
              <a:t>bit x=0;      //</a:t>
            </a:r>
            <a:r>
              <a:rPr lang="zh-CN" altLang="en-US" sz="2400" b="1" dirty="0">
                <a:effectLst>
                  <a:outerShdw blurRad="38100" dist="38100" dir="2700000" algn="tl">
                    <a:srgbClr val="000000">
                      <a:alpha val="43137"/>
                    </a:srgbClr>
                  </a:outerShdw>
                </a:effectLst>
              </a:rPr>
              <a:t>定义一个名称为</a:t>
            </a:r>
            <a:r>
              <a:rPr lang="en-US" altLang="zh-CN" sz="2400" b="1" dirty="0">
                <a:effectLst>
                  <a:outerShdw blurRad="38100" dist="38100" dir="2700000" algn="tl">
                    <a:srgbClr val="000000">
                      <a:alpha val="43137"/>
                    </a:srgbClr>
                  </a:outerShdw>
                </a:effectLst>
              </a:rPr>
              <a:t>x</a:t>
            </a:r>
            <a:r>
              <a:rPr lang="zh-CN" altLang="en-US" sz="2400" b="1" dirty="0">
                <a:effectLst>
                  <a:outerShdw blurRad="38100" dist="38100" dir="2700000" algn="tl">
                    <a:srgbClr val="000000">
                      <a:alpha val="43137"/>
                    </a:srgbClr>
                  </a:outerShdw>
                </a:effectLst>
              </a:rPr>
              <a:t>的位变量，初值为</a:t>
            </a:r>
            <a:r>
              <a:rPr lang="en-US" altLang="zh-CN" sz="2400" b="1" dirty="0">
                <a:effectLst>
                  <a:outerShdw blurRad="38100" dist="38100" dir="2700000" algn="tl">
                    <a:srgbClr val="000000">
                      <a:alpha val="43137"/>
                    </a:srgbClr>
                  </a:outerShdw>
                </a:effectLst>
              </a:rPr>
              <a:t>0</a:t>
            </a:r>
            <a:endParaRPr lang="zh-CN" altLang="en-US" sz="2400" b="1" dirty="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4"/>
          <p:cNvSpPr>
            <a:spLocks noGrp="1" noChangeArrowheads="1"/>
          </p:cNvSpPr>
          <p:nvPr>
            <p:ph type="title"/>
          </p:nvPr>
        </p:nvSpPr>
        <p:spPr>
          <a:xfrm>
            <a:off x="755650" y="981075"/>
            <a:ext cx="7129463" cy="814388"/>
          </a:xfrm>
        </p:spPr>
        <p:txBody>
          <a:bodyPr/>
          <a:lstStyle/>
          <a:p>
            <a:pPr marL="342900" indent="20955" eaLnBrk="1" hangingPunct="1">
              <a:lnSpc>
                <a:spcPct val="150000"/>
              </a:lnSpc>
              <a:spcBef>
                <a:spcPct val="20000"/>
              </a:spcBef>
              <a:buClr>
                <a:schemeClr val="folHlink"/>
              </a:buClr>
              <a:buSzPct val="60000"/>
              <a:defRPr/>
            </a:pPr>
            <a:r>
              <a:rPr lang="en-US" altLang="zh-CN" sz="32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mn-cs"/>
              </a:rPr>
              <a:t>2.</a:t>
            </a:r>
            <a:r>
              <a:rPr lang="zh-CN" altLang="en-US" sz="32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mn-cs"/>
              </a:rPr>
              <a:t>特殊功能寄存器</a:t>
            </a:r>
            <a:r>
              <a:rPr lang="en-US" altLang="zh-CN" sz="3200" b="1" dirty="0" err="1">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mn-cs"/>
              </a:rPr>
              <a:t>sfr</a:t>
            </a:r>
            <a:endParaRPr lang="en-US" altLang="zh-CN" sz="32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mn-cs"/>
            </a:endParaRPr>
          </a:p>
        </p:txBody>
      </p:sp>
      <p:sp>
        <p:nvSpPr>
          <p:cNvPr id="36869" name="Rectangle 5"/>
          <p:cNvSpPr>
            <a:spLocks noGrp="1" noChangeArrowheads="1"/>
          </p:cNvSpPr>
          <p:nvPr>
            <p:ph type="body" idx="1"/>
          </p:nvPr>
        </p:nvSpPr>
        <p:spPr>
          <a:xfrm>
            <a:off x="768350" y="1916113"/>
            <a:ext cx="7772400" cy="4435475"/>
          </a:xfrm>
        </p:spPr>
        <p:txBody>
          <a:bodyPr/>
          <a:lstStyle/>
          <a:p>
            <a:pPr eaLnBrk="1" hangingPunct="1">
              <a:defRPr/>
            </a:pPr>
            <a:r>
              <a:rPr lang="zh-CN" altLang="en-US" sz="2800" b="1" dirty="0">
                <a:effectLst>
                  <a:outerShdw blurRad="38100" dist="38100" dir="2700000" algn="tl">
                    <a:srgbClr val="C0C0C0"/>
                  </a:outerShdw>
                </a:effectLst>
                <a:latin typeface="Times New Roman" panose="02020603050405020304" pitchFamily="18" charset="0"/>
              </a:rPr>
              <a:t>特殊功能寄存器在片内</a:t>
            </a:r>
            <a:r>
              <a:rPr lang="en-US" altLang="zh-CN" sz="2800" b="1" dirty="0">
                <a:effectLst>
                  <a:outerShdw blurRad="38100" dist="38100" dir="2700000" algn="tl">
                    <a:srgbClr val="C0C0C0"/>
                  </a:outerShdw>
                </a:effectLst>
                <a:latin typeface="Times New Roman" panose="02020603050405020304" pitchFamily="18" charset="0"/>
              </a:rPr>
              <a:t>RAM</a:t>
            </a:r>
            <a:r>
              <a:rPr lang="zh-CN" altLang="en-US" sz="2800" b="1" dirty="0">
                <a:effectLst>
                  <a:outerShdw blurRad="38100" dist="38100" dir="2700000" algn="tl">
                    <a:srgbClr val="C0C0C0"/>
                  </a:outerShdw>
                </a:effectLst>
                <a:latin typeface="Times New Roman" panose="02020603050405020304" pitchFamily="18" charset="0"/>
              </a:rPr>
              <a:t>区的</a:t>
            </a:r>
            <a:r>
              <a:rPr lang="en-US" altLang="zh-CN" sz="2800" b="1" dirty="0">
                <a:effectLst>
                  <a:outerShdw blurRad="38100" dist="38100" dir="2700000" algn="tl">
                    <a:srgbClr val="C0C0C0"/>
                  </a:outerShdw>
                </a:effectLst>
                <a:latin typeface="Times New Roman" panose="02020603050405020304" pitchFamily="18" charset="0"/>
              </a:rPr>
              <a:t>80H~FFH</a:t>
            </a:r>
            <a:r>
              <a:rPr lang="zh-CN" altLang="en-US" sz="2800" b="1" dirty="0">
                <a:effectLst>
                  <a:outerShdw blurRad="38100" dist="38100" dir="2700000" algn="tl">
                    <a:srgbClr val="C0C0C0"/>
                  </a:outerShdw>
                </a:effectLst>
                <a:latin typeface="Times New Roman" panose="02020603050405020304" pitchFamily="18" charset="0"/>
              </a:rPr>
              <a:t>之间，</a:t>
            </a:r>
            <a:r>
              <a:rPr lang="zh-CN" altLang="en-US" sz="2800" b="1" dirty="0">
                <a:solidFill>
                  <a:srgbClr val="3333CC"/>
                </a:solidFill>
                <a:effectLst>
                  <a:outerShdw blurRad="38100" dist="38100" dir="2700000" algn="tl">
                    <a:srgbClr val="C0C0C0"/>
                  </a:outerShdw>
                </a:effectLst>
                <a:latin typeface="Times New Roman" panose="02020603050405020304" pitchFamily="18" charset="0"/>
              </a:rPr>
              <a:t>“</a:t>
            </a:r>
            <a:r>
              <a:rPr lang="en-US" altLang="zh-CN" sz="2800" b="1" dirty="0" err="1">
                <a:solidFill>
                  <a:srgbClr val="3333CC"/>
                </a:solidFill>
                <a:effectLst>
                  <a:outerShdw blurRad="38100" dist="38100" dir="2700000" algn="tl">
                    <a:srgbClr val="C0C0C0"/>
                  </a:outerShdw>
                </a:effectLst>
                <a:latin typeface="Times New Roman" panose="02020603050405020304" pitchFamily="18" charset="0"/>
              </a:rPr>
              <a:t>sfr</a:t>
            </a:r>
            <a:r>
              <a:rPr lang="en-US" altLang="zh-CN" sz="2800" b="1" dirty="0">
                <a:solidFill>
                  <a:srgbClr val="3333CC"/>
                </a:solidFill>
                <a:effectLst>
                  <a:outerShdw blurRad="38100" dist="38100" dir="2700000" algn="tl">
                    <a:srgbClr val="C0C0C0"/>
                  </a:outerShdw>
                </a:effectLst>
                <a:latin typeface="Times New Roman" panose="02020603050405020304" pitchFamily="18" charset="0"/>
              </a:rPr>
              <a:t>” </a:t>
            </a:r>
            <a:r>
              <a:rPr lang="zh-CN" altLang="en-US" sz="2800" b="1" dirty="0">
                <a:solidFill>
                  <a:srgbClr val="3333CC"/>
                </a:solidFill>
                <a:effectLst>
                  <a:outerShdw blurRad="38100" dist="38100" dir="2700000" algn="tl">
                    <a:srgbClr val="C0C0C0"/>
                  </a:outerShdw>
                </a:effectLst>
                <a:latin typeface="Times New Roman" panose="02020603050405020304" pitchFamily="18" charset="0"/>
              </a:rPr>
              <a:t>数据类型</a:t>
            </a:r>
            <a:r>
              <a:rPr lang="zh-CN" altLang="en-US" sz="2800" b="1" dirty="0">
                <a:effectLst>
                  <a:outerShdw blurRad="38100" dist="38100" dir="2700000" algn="tl">
                    <a:srgbClr val="C0C0C0"/>
                  </a:outerShdw>
                </a:effectLst>
                <a:latin typeface="Times New Roman" panose="02020603050405020304" pitchFamily="18" charset="0"/>
              </a:rPr>
              <a:t>占用一个内存单元。利用它可访问</a:t>
            </a:r>
            <a:r>
              <a:rPr lang="en-US" altLang="zh-CN" sz="2800" b="1" dirty="0">
                <a:effectLst>
                  <a:outerShdw blurRad="38100" dist="38100" dir="2700000" algn="tl">
                    <a:srgbClr val="C0C0C0"/>
                  </a:outerShdw>
                </a:effectLst>
                <a:latin typeface="Times New Roman" panose="02020603050405020304" pitchFamily="18" charset="0"/>
              </a:rPr>
              <a:t>8051</a:t>
            </a:r>
            <a:r>
              <a:rPr lang="zh-CN" altLang="en-US" sz="2800" b="1" dirty="0">
                <a:effectLst>
                  <a:outerShdw blurRad="38100" dist="38100" dir="2700000" algn="tl">
                    <a:srgbClr val="C0C0C0"/>
                  </a:outerShdw>
                </a:effectLst>
                <a:latin typeface="Times New Roman" panose="02020603050405020304" pitchFamily="18" charset="0"/>
              </a:rPr>
              <a:t>系列单片机内部的所有特殊功能寄存器。</a:t>
            </a:r>
            <a:endParaRPr lang="en-US" altLang="zh-CN" sz="2800" b="1" dirty="0">
              <a:effectLst>
                <a:outerShdw blurRad="38100" dist="38100" dir="2700000" algn="tl">
                  <a:srgbClr val="000000">
                    <a:alpha val="43137"/>
                  </a:srgbClr>
                </a:outerShdw>
              </a:effectLst>
              <a:latin typeface="Times New Roman" panose="02020603050405020304" pitchFamily="18" charset="0"/>
            </a:endParaRPr>
          </a:p>
          <a:p>
            <a:pPr eaLnBrk="1" hangingPunct="1">
              <a:defRPr/>
            </a:pPr>
            <a:r>
              <a:rPr lang="zh-CN" altLang="en-US" sz="2800" b="1" dirty="0">
                <a:effectLst>
                  <a:outerShdw blurRad="38100" dist="38100" dir="2700000" algn="tl">
                    <a:srgbClr val="000000">
                      <a:alpha val="43137"/>
                    </a:srgbClr>
                  </a:outerShdw>
                </a:effectLst>
                <a:latin typeface="Times New Roman" panose="02020603050405020304" pitchFamily="18" charset="0"/>
              </a:rPr>
              <a:t>格式为： </a:t>
            </a:r>
            <a:r>
              <a:rPr lang="en-US" altLang="zh-CN" sz="2800" b="1" dirty="0" err="1">
                <a:solidFill>
                  <a:schemeClr val="hlink"/>
                </a:solidFill>
                <a:effectLst>
                  <a:outerShdw blurRad="38100" dist="38100" dir="2700000" algn="tl">
                    <a:srgbClr val="000000">
                      <a:alpha val="43137"/>
                    </a:srgbClr>
                  </a:outerShdw>
                </a:effectLst>
                <a:latin typeface="Times New Roman" panose="02020603050405020304" pitchFamily="18" charset="0"/>
              </a:rPr>
              <a:t>sfr</a:t>
            </a:r>
            <a:r>
              <a:rPr lang="en-US" altLang="zh-CN" sz="2800" b="1" dirty="0">
                <a:solidFill>
                  <a:schemeClr val="hlink"/>
                </a:solidFill>
                <a:effectLst>
                  <a:outerShdw blurRad="38100" dist="38100" dir="2700000" algn="tl">
                    <a:srgbClr val="000000">
                      <a:alpha val="43137"/>
                    </a:srgbClr>
                  </a:outerShdw>
                </a:effectLst>
                <a:latin typeface="Times New Roman" panose="02020603050405020304" pitchFamily="18" charset="0"/>
              </a:rPr>
              <a:t> </a:t>
            </a:r>
            <a:r>
              <a:rPr lang="zh-CN" altLang="en-US" sz="2800" b="1" dirty="0">
                <a:solidFill>
                  <a:schemeClr val="hlink"/>
                </a:solidFill>
                <a:effectLst>
                  <a:outerShdw blurRad="38100" dist="38100" dir="2700000" algn="tl">
                    <a:srgbClr val="000000">
                      <a:alpha val="43137"/>
                    </a:srgbClr>
                  </a:outerShdw>
                </a:effectLst>
                <a:latin typeface="Times New Roman" panose="02020603050405020304" pitchFamily="18" charset="0"/>
              </a:rPr>
              <a:t>特殊功能寄存器名＝地址常数</a:t>
            </a:r>
            <a:r>
              <a:rPr lang="en-US" altLang="zh-CN" sz="2800" b="1" dirty="0">
                <a:solidFill>
                  <a:schemeClr val="hlink"/>
                </a:solidFill>
                <a:effectLst>
                  <a:outerShdw blurRad="38100" dist="38100" dir="2700000" algn="tl">
                    <a:srgbClr val="000000">
                      <a:alpha val="43137"/>
                    </a:srgbClr>
                  </a:outerShdw>
                </a:effectLst>
                <a:latin typeface="Times New Roman" panose="02020603050405020304" pitchFamily="18" charset="0"/>
              </a:rPr>
              <a:t>;</a:t>
            </a:r>
            <a:r>
              <a:rPr lang="zh-CN" altLang="en-US" sz="2800" b="1" dirty="0">
                <a:solidFill>
                  <a:schemeClr val="hlink"/>
                </a:solidFill>
                <a:effectLst>
                  <a:outerShdw blurRad="38100" dist="38100" dir="2700000" algn="tl">
                    <a:srgbClr val="000000">
                      <a:alpha val="43137"/>
                    </a:srgbClr>
                  </a:outerShdw>
                </a:effectLst>
                <a:latin typeface="Times New Roman" panose="02020603050405020304" pitchFamily="18" charset="0"/>
              </a:rPr>
              <a:t>                     </a:t>
            </a:r>
            <a:r>
              <a:rPr lang="zh-CN" altLang="en-US" sz="2800" b="1" dirty="0">
                <a:solidFill>
                  <a:srgbClr val="0000FF"/>
                </a:solidFill>
                <a:effectLst>
                  <a:outerShdw blurRad="38100" dist="38100" dir="2700000" algn="tl">
                    <a:srgbClr val="000000">
                      <a:alpha val="43137"/>
                    </a:srgbClr>
                  </a:outerShdw>
                </a:effectLst>
                <a:latin typeface="Times New Roman" panose="02020603050405020304" pitchFamily="18" charset="0"/>
              </a:rPr>
              <a:t>如   </a:t>
            </a:r>
            <a:r>
              <a:rPr lang="en-US" altLang="zh-CN" sz="2800" b="1" dirty="0" err="1">
                <a:solidFill>
                  <a:srgbClr val="0000FF"/>
                </a:solidFill>
                <a:effectLst>
                  <a:outerShdw blurRad="38100" dist="38100" dir="2700000" algn="tl">
                    <a:srgbClr val="000000">
                      <a:alpha val="43137"/>
                    </a:srgbClr>
                  </a:outerShdw>
                </a:effectLst>
                <a:latin typeface="Times New Roman" panose="02020603050405020304" pitchFamily="18" charset="0"/>
              </a:rPr>
              <a:t>sfr</a:t>
            </a:r>
            <a:r>
              <a:rPr lang="en-US" altLang="zh-CN" sz="2800" b="1" dirty="0">
                <a:solidFill>
                  <a:srgbClr val="0000FF"/>
                </a:solidFill>
                <a:effectLst>
                  <a:outerShdw blurRad="38100" dist="38100" dir="2700000" algn="tl">
                    <a:srgbClr val="000000">
                      <a:alpha val="43137"/>
                    </a:srgbClr>
                  </a:outerShdw>
                </a:effectLst>
                <a:latin typeface="Times New Roman" panose="02020603050405020304" pitchFamily="18" charset="0"/>
              </a:rPr>
              <a:t>  P0=0x80;</a:t>
            </a:r>
          </a:p>
          <a:p>
            <a:pPr eaLnBrk="1" hangingPunct="1">
              <a:defRPr/>
            </a:pPr>
            <a:r>
              <a:rPr lang="zh-CN" altLang="en-US" sz="2000" b="1" dirty="0">
                <a:solidFill>
                  <a:srgbClr val="3333CC"/>
                </a:solidFill>
                <a:effectLst>
                  <a:outerShdw blurRad="38100" dist="38100" dir="2700000" algn="tl">
                    <a:srgbClr val="000000">
                      <a:alpha val="43137"/>
                    </a:srgbClr>
                  </a:outerShdw>
                </a:effectLst>
              </a:rPr>
              <a:t>	</a:t>
            </a:r>
            <a:r>
              <a:rPr lang="en-US" altLang="zh-CN" sz="2000" b="1" dirty="0" err="1">
                <a:solidFill>
                  <a:srgbClr val="3333CC"/>
                </a:solidFill>
                <a:effectLst>
                  <a:outerShdw blurRad="38100" dist="38100" dir="2700000" algn="tl">
                    <a:srgbClr val="000000">
                      <a:alpha val="43137"/>
                    </a:srgbClr>
                  </a:outerShdw>
                </a:effectLst>
              </a:rPr>
              <a:t>sfr</a:t>
            </a:r>
            <a:r>
              <a:rPr lang="en-US" altLang="zh-CN" sz="2000" b="1" dirty="0">
                <a:solidFill>
                  <a:srgbClr val="3333CC"/>
                </a:solidFill>
                <a:effectLst>
                  <a:outerShdw blurRad="38100" dist="38100" dir="2700000" algn="tl">
                    <a:srgbClr val="000000">
                      <a:alpha val="43137"/>
                    </a:srgbClr>
                  </a:outerShdw>
                </a:effectLst>
              </a:rPr>
              <a:t>   PSW=0xd0</a:t>
            </a:r>
            <a:r>
              <a:rPr lang="zh-CN" altLang="en-US" sz="2000" b="1" dirty="0">
                <a:solidFill>
                  <a:srgbClr val="3333CC"/>
                </a:solidFill>
                <a:effectLst>
                  <a:outerShdw blurRad="38100" dist="38100" dir="2700000" algn="tl">
                    <a:srgbClr val="000000">
                      <a:alpha val="43137"/>
                    </a:srgbClr>
                  </a:outerShdw>
                </a:effectLst>
                <a:ea typeface="黑体" panose="02010609060101010101" pitchFamily="2" charset="-122"/>
              </a:rPr>
              <a:t>；</a:t>
            </a:r>
            <a:r>
              <a:rPr lang="en-US" altLang="zh-CN" sz="2000" b="1" dirty="0">
                <a:solidFill>
                  <a:srgbClr val="3333CC"/>
                </a:solidFill>
                <a:effectLst>
                  <a:outerShdw blurRad="38100" dist="38100" dir="2700000" algn="tl">
                    <a:srgbClr val="000000">
                      <a:alpha val="43137"/>
                    </a:srgbClr>
                  </a:outerShdw>
                </a:effectLst>
              </a:rPr>
              <a:t>   /*</a:t>
            </a:r>
            <a:r>
              <a:rPr lang="zh-CN" altLang="en-US" sz="2000" b="1" dirty="0">
                <a:solidFill>
                  <a:srgbClr val="3333CC"/>
                </a:solidFill>
                <a:effectLst>
                  <a:outerShdw blurRad="38100" dist="38100" dir="2700000" algn="tl">
                    <a:srgbClr val="000000">
                      <a:alpha val="43137"/>
                    </a:srgbClr>
                  </a:outerShdw>
                </a:effectLst>
                <a:ea typeface="黑体" panose="02010609060101010101" pitchFamily="2" charset="-122"/>
              </a:rPr>
              <a:t>定义</a:t>
            </a:r>
            <a:r>
              <a:rPr lang="en-US" altLang="zh-CN" sz="2000" b="1" dirty="0">
                <a:solidFill>
                  <a:srgbClr val="3333CC"/>
                </a:solidFill>
                <a:effectLst>
                  <a:outerShdw blurRad="38100" dist="38100" dir="2700000" algn="tl">
                    <a:srgbClr val="000000">
                      <a:alpha val="43137"/>
                    </a:srgbClr>
                  </a:outerShdw>
                </a:effectLst>
              </a:rPr>
              <a:t>PSW</a:t>
            </a:r>
            <a:r>
              <a:rPr lang="zh-CN" altLang="en-US" sz="2000" b="1" dirty="0">
                <a:solidFill>
                  <a:srgbClr val="3333CC"/>
                </a:solidFill>
                <a:effectLst>
                  <a:outerShdw blurRad="38100" dist="38100" dir="2700000" algn="tl">
                    <a:srgbClr val="000000">
                      <a:alpha val="43137"/>
                    </a:srgbClr>
                  </a:outerShdw>
                </a:effectLst>
                <a:ea typeface="黑体" panose="02010609060101010101" pitchFamily="2" charset="-122"/>
              </a:rPr>
              <a:t>寄存器地址为</a:t>
            </a:r>
            <a:r>
              <a:rPr lang="en-US" altLang="zh-CN" sz="2000" b="1" dirty="0">
                <a:solidFill>
                  <a:srgbClr val="3333CC"/>
                </a:solidFill>
                <a:effectLst>
                  <a:outerShdw blurRad="38100" dist="38100" dir="2700000" algn="tl">
                    <a:srgbClr val="000000">
                      <a:alpha val="43137"/>
                    </a:srgbClr>
                  </a:outerShdw>
                </a:effectLst>
              </a:rPr>
              <a:t>0xd0*/</a:t>
            </a:r>
            <a:endParaRPr lang="en-US" altLang="zh-CN" sz="2000" b="1" dirty="0">
              <a:solidFill>
                <a:srgbClr val="3333CC"/>
              </a:solidFill>
              <a:effectLst>
                <a:outerShdw blurRad="38100" dist="38100" dir="2700000" algn="tl">
                  <a:srgbClr val="000000">
                    <a:alpha val="43137"/>
                  </a:srgbClr>
                </a:outerShdw>
              </a:effectLst>
              <a:ea typeface="黑体" panose="02010609060101010101" pitchFamily="2" charset="-122"/>
            </a:endParaRPr>
          </a:p>
          <a:p>
            <a:pPr marL="0" indent="0" eaLnBrk="1" fontAlgn="b" hangingPunct="1">
              <a:lnSpc>
                <a:spcPct val="110000"/>
              </a:lnSpc>
              <a:buFont typeface="Wingdings" panose="05000000000000000000" pitchFamily="2" charset="2"/>
              <a:buNone/>
              <a:defRPr/>
            </a:pPr>
            <a:r>
              <a:rPr lang="zh-CN" altLang="en-US" sz="2800" b="1" dirty="0">
                <a:effectLst>
                  <a:outerShdw blurRad="38100" dist="38100" dir="2700000" algn="tl">
                    <a:srgbClr val="C0C0C0"/>
                  </a:outerShdw>
                </a:effectLst>
                <a:latin typeface="Times New Roman" panose="02020603050405020304" pitchFamily="18" charset="0"/>
              </a:rPr>
              <a:t>    这一语句定义</a:t>
            </a:r>
            <a:r>
              <a:rPr lang="en-US" altLang="zh-CN" sz="2800" b="1" dirty="0">
                <a:effectLst>
                  <a:outerShdw blurRad="38100" dist="38100" dir="2700000" algn="tl">
                    <a:srgbClr val="C0C0C0"/>
                  </a:outerShdw>
                </a:effectLst>
                <a:latin typeface="Times New Roman" panose="02020603050405020304" pitchFamily="18" charset="0"/>
              </a:rPr>
              <a:t>P0</a:t>
            </a:r>
            <a:r>
              <a:rPr lang="zh-CN" altLang="en-US" sz="2800" b="1" dirty="0">
                <a:effectLst>
                  <a:outerShdw blurRad="38100" dist="38100" dir="2700000" algn="tl">
                    <a:srgbClr val="C0C0C0"/>
                  </a:outerShdw>
                </a:effectLst>
                <a:latin typeface="Times New Roman" panose="02020603050405020304" pitchFamily="18" charset="0"/>
              </a:rPr>
              <a:t>口在片内的寄存器，在后面语句中可用</a:t>
            </a:r>
            <a:r>
              <a:rPr lang="zh-CN" altLang="en-US" sz="2800" b="1" dirty="0">
                <a:solidFill>
                  <a:srgbClr val="FF3300"/>
                </a:solidFill>
                <a:effectLst>
                  <a:outerShdw blurRad="38100" dist="38100" dir="2700000" algn="tl">
                    <a:srgbClr val="C0C0C0"/>
                  </a:outerShdw>
                </a:effectLst>
                <a:latin typeface="Times New Roman" panose="02020603050405020304" pitchFamily="18" charset="0"/>
              </a:rPr>
              <a:t>“</a:t>
            </a:r>
            <a:r>
              <a:rPr lang="en-US" altLang="zh-CN" sz="2800" b="1" dirty="0">
                <a:solidFill>
                  <a:srgbClr val="FF3300"/>
                </a:solidFill>
                <a:effectLst>
                  <a:outerShdw blurRad="38100" dist="38100" dir="2700000" algn="tl">
                    <a:srgbClr val="C0C0C0"/>
                  </a:outerShdw>
                </a:effectLst>
                <a:latin typeface="Times New Roman" panose="02020603050405020304" pitchFamily="18" charset="0"/>
              </a:rPr>
              <a:t>P0=0xff”</a:t>
            </a:r>
            <a:r>
              <a:rPr lang="en-US" altLang="zh-CN" sz="2800" b="1" dirty="0">
                <a:effectLst>
                  <a:outerShdw blurRad="38100" dist="38100" dir="2700000" algn="tl">
                    <a:srgbClr val="C0C0C0"/>
                  </a:outerShdw>
                </a:effectLst>
                <a:latin typeface="Times New Roman" panose="02020603050405020304" pitchFamily="18" charset="0"/>
              </a:rPr>
              <a:t>(</a:t>
            </a:r>
            <a:r>
              <a:rPr lang="zh-CN" altLang="en-US" sz="2800" b="1" dirty="0">
                <a:effectLst>
                  <a:outerShdw blurRad="38100" dist="38100" dir="2700000" algn="tl">
                    <a:srgbClr val="C0C0C0"/>
                  </a:outerShdw>
                </a:effectLst>
                <a:latin typeface="Times New Roman" panose="02020603050405020304" pitchFamily="18" charset="0"/>
              </a:rPr>
              <a:t>使</a:t>
            </a:r>
            <a:r>
              <a:rPr lang="en-US" altLang="zh-CN" sz="2800" b="1" dirty="0">
                <a:effectLst>
                  <a:outerShdw blurRad="38100" dist="38100" dir="2700000" algn="tl">
                    <a:srgbClr val="C0C0C0"/>
                  </a:outerShdw>
                </a:effectLst>
                <a:latin typeface="Times New Roman" panose="02020603050405020304" pitchFamily="18" charset="0"/>
              </a:rPr>
              <a:t>P0</a:t>
            </a:r>
            <a:r>
              <a:rPr lang="zh-CN" altLang="en-US" sz="2800" b="1" dirty="0">
                <a:effectLst>
                  <a:outerShdw blurRad="38100" dist="38100" dir="2700000" algn="tl">
                    <a:srgbClr val="C0C0C0"/>
                  </a:outerShdw>
                </a:effectLst>
                <a:latin typeface="Times New Roman" panose="02020603050405020304" pitchFamily="18" charset="0"/>
              </a:rPr>
              <a:t>的所有引脚输出</a:t>
            </a:r>
            <a:r>
              <a:rPr lang="zh-CN" altLang="en-US" sz="2800" b="1" dirty="0">
                <a:effectLst>
                  <a:outerShdw blurRad="38100" dist="38100" dir="2700000" algn="tl">
                    <a:srgbClr val="C0C0C0"/>
                  </a:outerShdw>
                </a:effectLst>
                <a:latin typeface="宋体" panose="02010600030101010101" pitchFamily="2" charset="-122"/>
              </a:rPr>
              <a:t>为高电平</a:t>
            </a:r>
            <a:r>
              <a:rPr lang="en-US" altLang="zh-CN" sz="2800" b="1" dirty="0">
                <a:effectLst>
                  <a:outerShdw blurRad="38100" dist="38100" dir="2700000" algn="tl">
                    <a:srgbClr val="C0C0C0"/>
                  </a:outerShdw>
                </a:effectLst>
                <a:latin typeface="宋体" panose="02010600030101010101" pitchFamily="2" charset="-122"/>
              </a:rPr>
              <a:t>)</a:t>
            </a:r>
            <a:r>
              <a:rPr lang="zh-CN" altLang="en-US" sz="2800" b="1" dirty="0">
                <a:effectLst>
                  <a:outerShdw blurRad="38100" dist="38100" dir="2700000" algn="tl">
                    <a:srgbClr val="C0C0C0"/>
                  </a:outerShdw>
                </a:effectLst>
                <a:latin typeface="宋体" panose="02010600030101010101" pitchFamily="2" charset="-122"/>
              </a:rPr>
              <a:t>之类的语句来操作特殊功能寄存器。</a:t>
            </a:r>
          </a:p>
          <a:p>
            <a:pPr marL="0" indent="0" eaLnBrk="1" hangingPunct="1">
              <a:lnSpc>
                <a:spcPct val="110000"/>
              </a:lnSpc>
              <a:defRPr/>
            </a:pPr>
            <a:endParaRPr lang="en-US" altLang="zh-CN" sz="2800" b="1" dirty="0">
              <a:effectLst>
                <a:outerShdw blurRad="38100" dist="38100" dir="2700000" algn="tl">
                  <a:srgbClr val="C0C0C0"/>
                </a:outerShdw>
              </a:effectLst>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6869">
                                            <p:txEl>
                                              <p:pRg st="0" end="0"/>
                                            </p:txEl>
                                          </p:spTgt>
                                        </p:tgtEl>
                                        <p:attrNameLst>
                                          <p:attrName>style.visibility</p:attrName>
                                        </p:attrNameLst>
                                      </p:cBhvr>
                                      <p:to>
                                        <p:strVal val="visible"/>
                                      </p:to>
                                    </p:set>
                                    <p:animEffect transition="in" filter="randombar(horizontal)">
                                      <p:cBhvr>
                                        <p:cTn id="7" dur="500"/>
                                        <p:tgtEl>
                                          <p:spTgt spid="3686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6869">
                                            <p:txEl>
                                              <p:pRg st="1" end="1"/>
                                            </p:txEl>
                                          </p:spTgt>
                                        </p:tgtEl>
                                        <p:attrNameLst>
                                          <p:attrName>style.visibility</p:attrName>
                                        </p:attrNameLst>
                                      </p:cBhvr>
                                      <p:to>
                                        <p:strVal val="visible"/>
                                      </p:to>
                                    </p:set>
                                    <p:animEffect transition="in" filter="randombar(horizontal)">
                                      <p:cBhvr>
                                        <p:cTn id="12" dur="500"/>
                                        <p:tgtEl>
                                          <p:spTgt spid="3686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6869">
                                            <p:txEl>
                                              <p:pRg st="2" end="2"/>
                                            </p:txEl>
                                          </p:spTgt>
                                        </p:tgtEl>
                                        <p:attrNameLst>
                                          <p:attrName>style.visibility</p:attrName>
                                        </p:attrNameLst>
                                      </p:cBhvr>
                                      <p:to>
                                        <p:strVal val="visible"/>
                                      </p:to>
                                    </p:set>
                                    <p:animEffect transition="in" filter="randombar(horizontal)">
                                      <p:cBhvr>
                                        <p:cTn id="17" dur="500"/>
                                        <p:tgtEl>
                                          <p:spTgt spid="3686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6869">
                                            <p:txEl>
                                              <p:pRg st="3" end="3"/>
                                            </p:txEl>
                                          </p:spTgt>
                                        </p:tgtEl>
                                        <p:attrNameLst>
                                          <p:attrName>style.visibility</p:attrName>
                                        </p:attrNameLst>
                                      </p:cBhvr>
                                      <p:to>
                                        <p:strVal val="visible"/>
                                      </p:to>
                                    </p:set>
                                    <p:animEffect transition="in" filter="randombar(horizontal)">
                                      <p:cBhvr>
                                        <p:cTn id="22" dur="500"/>
                                        <p:tgtEl>
                                          <p:spTgt spid="3686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9"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内容占位符 1"/>
          <p:cNvSpPr>
            <a:spLocks noGrp="1"/>
          </p:cNvSpPr>
          <p:nvPr>
            <p:ph idx="4294967295"/>
          </p:nvPr>
        </p:nvSpPr>
        <p:spPr>
          <a:xfrm>
            <a:off x="323528" y="152400"/>
            <a:ext cx="8229600" cy="6553200"/>
          </a:xfrm>
        </p:spPr>
        <p:txBody>
          <a:bodyPr/>
          <a:lstStyle/>
          <a:p>
            <a:pPr indent="20955" eaLnBrk="1" fontAlgn="b" hangingPunct="1">
              <a:lnSpc>
                <a:spcPct val="110000"/>
              </a:lnSpc>
              <a:buFont typeface="Wingdings" panose="05000000000000000000" pitchFamily="2" charset="2"/>
              <a:buNone/>
              <a:defRPr/>
            </a:pPr>
            <a:r>
              <a:rPr lang="en-US" altLang="zh-CN" b="1"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3.</a:t>
            </a:r>
            <a:r>
              <a:rPr lang="zh-CN" altLang="en-US" b="1"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特殊功能位 </a:t>
            </a:r>
            <a:r>
              <a:rPr lang="en-US" altLang="zh-CN" b="1" dirty="0" err="1">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sbit</a:t>
            </a:r>
            <a:endParaRPr lang="en-US" altLang="zh-CN" b="1" dirty="0">
              <a:solidFill>
                <a:schemeClr val="hlink"/>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indent="20955" eaLnBrk="1" fontAlgn="b" hangingPunct="1">
              <a:lnSpc>
                <a:spcPct val="110000"/>
              </a:lnSpc>
              <a:buFont typeface="Wingdings" panose="05000000000000000000" pitchFamily="2" charset="2"/>
              <a:buNone/>
              <a:defRPr/>
            </a:pPr>
            <a:r>
              <a:rPr lang="en-US" altLang="zh-CN" sz="2400" b="1" dirty="0">
                <a:effectLst>
                  <a:outerShdw blurRad="38100" dist="38100" dir="2700000" algn="tl">
                    <a:srgbClr val="000000">
                      <a:alpha val="43137"/>
                    </a:srgbClr>
                  </a:outerShdw>
                </a:effectLst>
                <a:latin typeface="宋体" panose="02010600030101010101" pitchFamily="2" charset="-122"/>
              </a:rPr>
              <a:t>	</a:t>
            </a:r>
            <a:r>
              <a:rPr lang="en-US" altLang="zh-CN" sz="2400" b="1" dirty="0" err="1">
                <a:effectLst>
                  <a:outerShdw blurRad="38100" dist="38100" dir="2700000" algn="tl">
                    <a:srgbClr val="000000">
                      <a:alpha val="43137"/>
                    </a:srgbClr>
                  </a:outerShdw>
                </a:effectLst>
                <a:latin typeface="宋体" panose="02010600030101010101" pitchFamily="2" charset="-122"/>
              </a:rPr>
              <a:t>sbit</a:t>
            </a:r>
            <a:r>
              <a:rPr lang="en-US" altLang="zh-CN" sz="2400" b="1" dirty="0">
                <a:effectLst>
                  <a:outerShdw blurRad="38100" dist="38100" dir="2700000" algn="tl">
                    <a:srgbClr val="000000">
                      <a:alpha val="43137"/>
                    </a:srgbClr>
                  </a:outerShdw>
                </a:effectLst>
                <a:latin typeface="宋体" panose="02010600030101010101" pitchFamily="2" charset="-122"/>
              </a:rPr>
              <a:t> </a:t>
            </a:r>
            <a:r>
              <a:rPr lang="zh-CN" altLang="en-US" sz="2400" b="1" dirty="0">
                <a:effectLst>
                  <a:outerShdw blurRad="38100" dist="38100" dir="2700000" algn="tl">
                    <a:srgbClr val="000000">
                      <a:alpha val="43137"/>
                    </a:srgbClr>
                  </a:outerShdw>
                </a:effectLst>
                <a:latin typeface="宋体" panose="02010600030101010101" pitchFamily="2" charset="-122"/>
              </a:rPr>
              <a:t>是指</a:t>
            </a:r>
            <a:r>
              <a:rPr lang="en-US" altLang="zh-CN" sz="2400" b="1" dirty="0">
                <a:effectLst>
                  <a:outerShdw blurRad="38100" dist="38100" dir="2700000" algn="tl">
                    <a:srgbClr val="000000">
                      <a:alpha val="43137"/>
                    </a:srgbClr>
                  </a:outerShdw>
                </a:effectLst>
                <a:latin typeface="宋体" panose="02010600030101010101" pitchFamily="2" charset="-122"/>
              </a:rPr>
              <a:t>51</a:t>
            </a:r>
            <a:r>
              <a:rPr lang="zh-CN" altLang="en-US" sz="2400" b="1" dirty="0">
                <a:effectLst>
                  <a:outerShdw blurRad="38100" dist="38100" dir="2700000" algn="tl">
                    <a:srgbClr val="000000">
                      <a:alpha val="43137"/>
                    </a:srgbClr>
                  </a:outerShdw>
                </a:effectLst>
                <a:latin typeface="宋体" panose="02010600030101010101" pitchFamily="2" charset="-122"/>
              </a:rPr>
              <a:t>单片机内特殊功能寄存器的可寻址位。</a:t>
            </a:r>
            <a:r>
              <a:rPr lang="zh-CN" altLang="en-US" sz="2400" dirty="0">
                <a:effectLst>
                  <a:outerShdw blurRad="38100" dist="38100" dir="2700000" algn="tl">
                    <a:srgbClr val="000000">
                      <a:alpha val="43137"/>
                    </a:srgbClr>
                  </a:outerShdw>
                </a:effectLst>
                <a:ea typeface="黑体" panose="02010609060101010101" pitchFamily="2" charset="-122"/>
              </a:rPr>
              <a:t>	</a:t>
            </a:r>
            <a:r>
              <a:rPr lang="zh-CN" altLang="en-US" sz="2400" b="1" dirty="0">
                <a:effectLst>
                  <a:outerShdw blurRad="38100" dist="38100" dir="2700000" algn="tl">
                    <a:srgbClr val="000000">
                      <a:alpha val="43137"/>
                    </a:srgbClr>
                  </a:outerShdw>
                </a:effectLst>
                <a:latin typeface="Times New Roman" panose="02020603050405020304" pitchFamily="18" charset="0"/>
              </a:rPr>
              <a:t>格式为</a:t>
            </a:r>
            <a:r>
              <a:rPr lang="zh-CN" altLang="en-US" sz="2400" b="1" dirty="0">
                <a:solidFill>
                  <a:schemeClr val="hlink"/>
                </a:solidFill>
                <a:effectLst>
                  <a:outerShdw blurRad="38100" dist="38100" dir="2700000" algn="tl">
                    <a:srgbClr val="000000">
                      <a:alpha val="43137"/>
                    </a:srgbClr>
                  </a:outerShdw>
                </a:effectLst>
                <a:latin typeface="Times New Roman" panose="02020603050405020304" pitchFamily="18" charset="0"/>
              </a:rPr>
              <a:t> </a:t>
            </a:r>
            <a:r>
              <a:rPr lang="en-US" altLang="zh-CN" sz="2400" b="1" dirty="0">
                <a:solidFill>
                  <a:schemeClr val="hlink"/>
                </a:solidFill>
                <a:effectLst>
                  <a:outerShdw blurRad="38100" dist="38100" dir="2700000" algn="tl">
                    <a:srgbClr val="000000">
                      <a:alpha val="43137"/>
                    </a:srgbClr>
                  </a:outerShdw>
                </a:effectLst>
                <a:latin typeface="Times New Roman" panose="02020603050405020304" pitchFamily="18" charset="0"/>
              </a:rPr>
              <a:t>:</a:t>
            </a:r>
          </a:p>
          <a:p>
            <a:pPr indent="20955" eaLnBrk="1" fontAlgn="b" hangingPunct="1">
              <a:buFont typeface="Wingdings" panose="05000000000000000000" pitchFamily="2" charset="2"/>
              <a:buNone/>
              <a:defRPr/>
            </a:pPr>
            <a:r>
              <a:rPr lang="en-US" altLang="zh-CN" sz="2400" b="1" dirty="0">
                <a:solidFill>
                  <a:schemeClr val="hlink"/>
                </a:solidFill>
                <a:effectLst>
                  <a:outerShdw blurRad="38100" dist="38100" dir="2700000" algn="tl">
                    <a:srgbClr val="000000">
                      <a:alpha val="43137"/>
                    </a:srgbClr>
                  </a:outerShdw>
                </a:effectLst>
                <a:latin typeface="Times New Roman" panose="02020603050405020304" pitchFamily="18" charset="0"/>
              </a:rPr>
              <a:t>        </a:t>
            </a:r>
            <a:r>
              <a:rPr lang="en-US" altLang="zh-CN" sz="2400" b="1" dirty="0" err="1">
                <a:solidFill>
                  <a:schemeClr val="hlink"/>
                </a:solidFill>
                <a:effectLst>
                  <a:outerShdw blurRad="38100" dist="38100" dir="2700000" algn="tl">
                    <a:srgbClr val="000000">
                      <a:alpha val="43137"/>
                    </a:srgbClr>
                  </a:outerShdw>
                </a:effectLst>
                <a:latin typeface="Times New Roman" panose="02020603050405020304" pitchFamily="18" charset="0"/>
              </a:rPr>
              <a:t>sbit</a:t>
            </a:r>
            <a:r>
              <a:rPr lang="en-US" altLang="zh-CN" sz="2400" b="1" dirty="0">
                <a:solidFill>
                  <a:schemeClr val="hlink"/>
                </a:solidFill>
                <a:effectLst>
                  <a:outerShdw blurRad="38100" dist="38100" dir="2700000" algn="tl">
                    <a:srgbClr val="000000">
                      <a:alpha val="43137"/>
                    </a:srgbClr>
                  </a:outerShdw>
                </a:effectLst>
                <a:latin typeface="Times New Roman" panose="02020603050405020304" pitchFamily="18" charset="0"/>
              </a:rPr>
              <a:t>  </a:t>
            </a:r>
            <a:r>
              <a:rPr lang="zh-CN" altLang="en-US" sz="2400" b="1" dirty="0">
                <a:solidFill>
                  <a:schemeClr val="hlink"/>
                </a:solidFill>
                <a:effectLst>
                  <a:outerShdw blurRad="38100" dist="38100" dir="2700000" algn="tl">
                    <a:srgbClr val="000000">
                      <a:alpha val="43137"/>
                    </a:srgbClr>
                  </a:outerShdw>
                </a:effectLst>
                <a:latin typeface="Times New Roman" panose="02020603050405020304" pitchFamily="18" charset="0"/>
              </a:rPr>
              <a:t>位变量名</a:t>
            </a:r>
            <a:r>
              <a:rPr lang="en-US" altLang="zh-CN" sz="2400" b="1" dirty="0">
                <a:solidFill>
                  <a:schemeClr val="hlink"/>
                </a:solidFill>
                <a:effectLst>
                  <a:outerShdw blurRad="38100" dist="38100" dir="2700000" algn="tl">
                    <a:srgbClr val="000000">
                      <a:alpha val="43137"/>
                    </a:srgbClr>
                  </a:outerShdw>
                </a:effectLst>
                <a:latin typeface="Times New Roman" panose="02020603050405020304" pitchFamily="18" charset="0"/>
              </a:rPr>
              <a:t>=</a:t>
            </a:r>
            <a:r>
              <a:rPr lang="zh-CN" altLang="en-US" sz="2400" b="1" dirty="0">
                <a:solidFill>
                  <a:schemeClr val="hlink"/>
                </a:solidFill>
                <a:effectLst>
                  <a:outerShdw blurRad="38100" dist="38100" dir="2700000" algn="tl">
                    <a:srgbClr val="000000">
                      <a:alpha val="43137"/>
                    </a:srgbClr>
                  </a:outerShdw>
                </a:effectLst>
                <a:latin typeface="Times New Roman" panose="02020603050405020304" pitchFamily="18" charset="0"/>
              </a:rPr>
              <a:t>位地址</a:t>
            </a:r>
            <a:r>
              <a:rPr lang="en-US" altLang="zh-CN" sz="2400" b="1" dirty="0">
                <a:solidFill>
                  <a:schemeClr val="hlink"/>
                </a:solidFill>
                <a:effectLst>
                  <a:outerShdw blurRad="38100" dist="38100" dir="2700000" algn="tl">
                    <a:srgbClr val="000000">
                      <a:alpha val="43137"/>
                    </a:srgbClr>
                  </a:outerShdw>
                </a:effectLst>
                <a:latin typeface="Times New Roman" panose="02020603050405020304" pitchFamily="18" charset="0"/>
              </a:rPr>
              <a:t>;</a:t>
            </a:r>
          </a:p>
          <a:p>
            <a:pPr indent="20955" eaLnBrk="1" fontAlgn="b" hangingPunct="1">
              <a:buFont typeface="Wingdings" panose="05000000000000000000" pitchFamily="2" charset="2"/>
              <a:buNone/>
              <a:defRPr/>
            </a:pPr>
            <a:r>
              <a:rPr lang="en-US" altLang="zh-CN" sz="2400" b="1" dirty="0">
                <a:solidFill>
                  <a:schemeClr val="hlink"/>
                </a:solidFill>
                <a:effectLst>
                  <a:outerShdw blurRad="38100" dist="38100" dir="2700000" algn="tl">
                    <a:srgbClr val="000000">
                      <a:alpha val="43137"/>
                    </a:srgbClr>
                  </a:outerShdw>
                </a:effectLst>
                <a:latin typeface="Times New Roman" panose="02020603050405020304" pitchFamily="18" charset="0"/>
              </a:rPr>
              <a:t>       </a:t>
            </a:r>
            <a:r>
              <a:rPr lang="zh-CN" altLang="en-US" sz="2400" b="1" dirty="0">
                <a:solidFill>
                  <a:schemeClr val="hlink"/>
                </a:solidFill>
                <a:effectLst>
                  <a:outerShdw blurRad="38100" dist="38100" dir="2700000" algn="tl">
                    <a:srgbClr val="000000">
                      <a:alpha val="43137"/>
                    </a:srgbClr>
                  </a:outerShdw>
                </a:effectLst>
                <a:latin typeface="Times New Roman" panose="02020603050405020304" pitchFamily="18" charset="0"/>
              </a:rPr>
              <a:t> </a:t>
            </a:r>
            <a:r>
              <a:rPr lang="en-US" altLang="zh-CN" sz="2400" b="1" dirty="0" err="1">
                <a:solidFill>
                  <a:schemeClr val="hlink"/>
                </a:solidFill>
                <a:effectLst>
                  <a:outerShdw blurRad="38100" dist="38100" dir="2700000" algn="tl">
                    <a:srgbClr val="000000">
                      <a:alpha val="43137"/>
                    </a:srgbClr>
                  </a:outerShdw>
                </a:effectLst>
                <a:latin typeface="Times New Roman" panose="02020603050405020304" pitchFamily="18" charset="0"/>
              </a:rPr>
              <a:t>sbit</a:t>
            </a:r>
            <a:r>
              <a:rPr lang="en-US" altLang="zh-CN" sz="2400" b="1" dirty="0">
                <a:solidFill>
                  <a:schemeClr val="hlink"/>
                </a:solidFill>
                <a:effectLst>
                  <a:outerShdw blurRad="38100" dist="38100" dir="2700000" algn="tl">
                    <a:srgbClr val="000000">
                      <a:alpha val="43137"/>
                    </a:srgbClr>
                  </a:outerShdw>
                </a:effectLst>
                <a:latin typeface="Times New Roman" panose="02020603050405020304" pitchFamily="18" charset="0"/>
              </a:rPr>
              <a:t>  </a:t>
            </a:r>
            <a:r>
              <a:rPr lang="zh-CN" altLang="en-US" sz="2400" b="1" dirty="0">
                <a:solidFill>
                  <a:schemeClr val="hlink"/>
                </a:solidFill>
                <a:effectLst>
                  <a:outerShdw blurRad="38100" dist="38100" dir="2700000" algn="tl">
                    <a:srgbClr val="000000">
                      <a:alpha val="43137"/>
                    </a:srgbClr>
                  </a:outerShdw>
                </a:effectLst>
                <a:latin typeface="Times New Roman" panose="02020603050405020304" pitchFamily="18" charset="0"/>
              </a:rPr>
              <a:t>位变量名</a:t>
            </a:r>
            <a:r>
              <a:rPr lang="en-US" altLang="zh-CN" sz="2400" b="1" dirty="0">
                <a:solidFill>
                  <a:schemeClr val="hlink"/>
                </a:solidFill>
                <a:effectLst>
                  <a:outerShdw blurRad="38100" dist="38100" dir="2700000" algn="tl">
                    <a:srgbClr val="000000">
                      <a:alpha val="43137"/>
                    </a:srgbClr>
                  </a:outerShdw>
                </a:effectLst>
                <a:latin typeface="Times New Roman" panose="02020603050405020304" pitchFamily="18" charset="0"/>
              </a:rPr>
              <a:t>=</a:t>
            </a:r>
            <a:r>
              <a:rPr lang="zh-CN" altLang="en-US" sz="2400" b="1" dirty="0">
                <a:solidFill>
                  <a:schemeClr val="hlink"/>
                </a:solidFill>
                <a:effectLst>
                  <a:outerShdw blurRad="38100" dist="38100" dir="2700000" algn="tl">
                    <a:srgbClr val="000000">
                      <a:alpha val="43137"/>
                    </a:srgbClr>
                  </a:outerShdw>
                </a:effectLst>
                <a:latin typeface="Times New Roman" panose="02020603050405020304" pitchFamily="18" charset="0"/>
              </a:rPr>
              <a:t>特殊功能寄存器名</a:t>
            </a:r>
            <a:r>
              <a:rPr lang="en-US" altLang="zh-CN" sz="2400" b="1" dirty="0">
                <a:solidFill>
                  <a:srgbClr val="0000FF"/>
                </a:solidFill>
                <a:effectLst>
                  <a:outerShdw blurRad="38100" dist="38100" dir="2700000" algn="tl">
                    <a:srgbClr val="000000">
                      <a:alpha val="43137"/>
                    </a:srgbClr>
                  </a:outerShdw>
                </a:effectLst>
                <a:latin typeface="Times New Roman" panose="02020603050405020304" pitchFamily="18" charset="0"/>
              </a:rPr>
              <a:t>^</a:t>
            </a:r>
            <a:r>
              <a:rPr lang="zh-CN" altLang="en-US" sz="2400" b="1" dirty="0">
                <a:solidFill>
                  <a:schemeClr val="hlink"/>
                </a:solidFill>
                <a:effectLst>
                  <a:outerShdw blurRad="38100" dist="38100" dir="2700000" algn="tl">
                    <a:srgbClr val="000000">
                      <a:alpha val="43137"/>
                    </a:srgbClr>
                  </a:outerShdw>
                </a:effectLst>
                <a:latin typeface="Times New Roman" panose="02020603050405020304" pitchFamily="18" charset="0"/>
              </a:rPr>
              <a:t>位位置</a:t>
            </a:r>
            <a:r>
              <a:rPr lang="en-US" altLang="zh-CN" sz="2400" b="1" dirty="0">
                <a:solidFill>
                  <a:schemeClr val="hlink"/>
                </a:solidFill>
                <a:effectLst>
                  <a:outerShdw blurRad="38100" dist="38100" dir="2700000" algn="tl">
                    <a:srgbClr val="000000">
                      <a:alpha val="43137"/>
                    </a:srgbClr>
                  </a:outerShdw>
                </a:effectLst>
                <a:latin typeface="Times New Roman" panose="02020603050405020304" pitchFamily="18" charset="0"/>
              </a:rPr>
              <a:t>;</a:t>
            </a:r>
            <a:r>
              <a:rPr lang="zh-CN" altLang="en-US" sz="2400" b="1" dirty="0">
                <a:solidFill>
                  <a:schemeClr val="hlink"/>
                </a:solidFill>
                <a:effectLst>
                  <a:outerShdw blurRad="38100" dist="38100" dir="2700000" algn="tl">
                    <a:srgbClr val="000000">
                      <a:alpha val="43137"/>
                    </a:srgbClr>
                  </a:outerShdw>
                </a:effectLst>
                <a:latin typeface="Times New Roman" panose="02020603050405020304" pitchFamily="18" charset="0"/>
              </a:rPr>
              <a:t> </a:t>
            </a:r>
            <a:endParaRPr lang="en-US" altLang="zh-CN" sz="2400" b="1" dirty="0">
              <a:solidFill>
                <a:schemeClr val="hlink"/>
              </a:solidFill>
              <a:effectLst>
                <a:outerShdw blurRad="38100" dist="38100" dir="2700000" algn="tl">
                  <a:srgbClr val="000000">
                    <a:alpha val="43137"/>
                  </a:srgbClr>
                </a:outerShdw>
              </a:effectLst>
              <a:latin typeface="Times New Roman" panose="02020603050405020304" pitchFamily="18" charset="0"/>
            </a:endParaRPr>
          </a:p>
          <a:p>
            <a:pPr indent="20955" eaLnBrk="1" fontAlgn="b" hangingPunct="1">
              <a:lnSpc>
                <a:spcPct val="110000"/>
              </a:lnSpc>
              <a:buFont typeface="Wingdings" panose="05000000000000000000" pitchFamily="2" charset="2"/>
              <a:buNone/>
              <a:defRPr/>
            </a:pPr>
            <a:r>
              <a:rPr lang="zh-CN" altLang="en-US" sz="2400" b="1" dirty="0">
                <a:solidFill>
                  <a:srgbClr val="3333CC"/>
                </a:solidFill>
                <a:effectLst>
                  <a:outerShdw blurRad="38100" dist="38100" dir="2700000" algn="tl">
                    <a:srgbClr val="000000">
                      <a:alpha val="43137"/>
                    </a:srgbClr>
                  </a:outerShdw>
                </a:effectLst>
                <a:ea typeface="黑体" panose="02010609060101010101" pitchFamily="2" charset="-122"/>
              </a:rPr>
              <a:t>例如： </a:t>
            </a:r>
          </a:p>
          <a:p>
            <a:pPr indent="20955" eaLnBrk="1" fontAlgn="b" hangingPunct="1">
              <a:buNone/>
              <a:defRPr/>
            </a:pPr>
            <a:r>
              <a:rPr lang="en-US" altLang="zh-CN" sz="2000" b="1" dirty="0">
                <a:solidFill>
                  <a:srgbClr val="3333CC"/>
                </a:solidFill>
                <a:effectLst>
                  <a:outerShdw blurRad="38100" dist="38100" dir="2700000" algn="tl">
                    <a:srgbClr val="000000">
                      <a:alpha val="43137"/>
                    </a:srgbClr>
                  </a:outerShdw>
                </a:effectLst>
                <a:ea typeface="黑体" panose="02010609060101010101" pitchFamily="2" charset="-122"/>
              </a:rPr>
              <a:t>       </a:t>
            </a:r>
            <a:r>
              <a:rPr lang="en-US" altLang="zh-CN" sz="2000" b="1" dirty="0" err="1">
                <a:solidFill>
                  <a:srgbClr val="3333CC"/>
                </a:solidFill>
                <a:effectLst>
                  <a:outerShdw blurRad="38100" dist="38100" dir="2700000" algn="tl">
                    <a:srgbClr val="000000">
                      <a:alpha val="43137"/>
                    </a:srgbClr>
                  </a:outerShdw>
                </a:effectLst>
                <a:ea typeface="黑体" panose="02010609060101010101" pitchFamily="2" charset="-122"/>
              </a:rPr>
              <a:t>sbit</a:t>
            </a:r>
            <a:r>
              <a:rPr lang="en-US" altLang="zh-CN" sz="2000" b="1" dirty="0">
                <a:solidFill>
                  <a:srgbClr val="3333CC"/>
                </a:solidFill>
                <a:effectLst>
                  <a:outerShdw blurRad="38100" dist="38100" dir="2700000" algn="tl">
                    <a:srgbClr val="000000">
                      <a:alpha val="43137"/>
                    </a:srgbClr>
                  </a:outerShdw>
                </a:effectLst>
                <a:ea typeface="黑体" panose="02010609060101010101" pitchFamily="2" charset="-122"/>
              </a:rPr>
              <a:t>  OV=0xd2;</a:t>
            </a:r>
          </a:p>
          <a:p>
            <a:pPr indent="20955" eaLnBrk="1" fontAlgn="b" hangingPunct="1">
              <a:buNone/>
              <a:defRPr/>
            </a:pPr>
            <a:r>
              <a:rPr lang="en-US" altLang="zh-CN" sz="2000" b="1" dirty="0">
                <a:solidFill>
                  <a:srgbClr val="3333CC"/>
                </a:solidFill>
                <a:effectLst>
                  <a:outerShdw blurRad="38100" dist="38100" dir="2700000" algn="tl">
                    <a:srgbClr val="000000">
                      <a:alpha val="43137"/>
                    </a:srgbClr>
                  </a:outerShdw>
                </a:effectLst>
              </a:rPr>
              <a:t>	</a:t>
            </a:r>
            <a:r>
              <a:rPr lang="en-US" altLang="zh-CN" sz="2000" b="1" dirty="0" err="1">
                <a:solidFill>
                  <a:srgbClr val="3333CC"/>
                </a:solidFill>
                <a:effectLst>
                  <a:outerShdw blurRad="38100" dist="38100" dir="2700000" algn="tl">
                    <a:srgbClr val="000000">
                      <a:alpha val="43137"/>
                    </a:srgbClr>
                  </a:outerShdw>
                </a:effectLst>
              </a:rPr>
              <a:t>sbit</a:t>
            </a:r>
            <a:r>
              <a:rPr lang="en-US" altLang="zh-CN" sz="2000" b="1" dirty="0">
                <a:solidFill>
                  <a:srgbClr val="3333CC"/>
                </a:solidFill>
                <a:effectLst>
                  <a:outerShdw blurRad="38100" dist="38100" dir="2700000" algn="tl">
                    <a:srgbClr val="000000">
                      <a:alpha val="43137"/>
                    </a:srgbClr>
                  </a:outerShdw>
                </a:effectLst>
              </a:rPr>
              <a:t>  CY=PSW ^7 </a:t>
            </a:r>
            <a:r>
              <a:rPr lang="zh-CN" altLang="en-US" sz="2000" b="1" dirty="0">
                <a:solidFill>
                  <a:srgbClr val="3333CC"/>
                </a:solidFill>
                <a:effectLst>
                  <a:outerShdw blurRad="38100" dist="38100" dir="2700000" algn="tl">
                    <a:srgbClr val="000000">
                      <a:alpha val="43137"/>
                    </a:srgbClr>
                  </a:outerShdw>
                </a:effectLst>
                <a:ea typeface="黑体" panose="02010609060101010101" pitchFamily="2" charset="-122"/>
              </a:rPr>
              <a:t>；</a:t>
            </a:r>
            <a:r>
              <a:rPr lang="en-US" altLang="zh-CN" sz="2000" b="1" dirty="0">
                <a:solidFill>
                  <a:srgbClr val="3333CC"/>
                </a:solidFill>
                <a:effectLst>
                  <a:outerShdw blurRad="38100" dist="38100" dir="2700000" algn="tl">
                    <a:srgbClr val="000000">
                      <a:alpha val="43137"/>
                    </a:srgbClr>
                  </a:outerShdw>
                </a:effectLst>
                <a:ea typeface="黑体" panose="02010609060101010101" pitchFamily="2" charset="-122"/>
              </a:rPr>
              <a:t>	</a:t>
            </a:r>
            <a:r>
              <a:rPr lang="en-US" altLang="zh-CN" sz="2000" b="1" dirty="0">
                <a:solidFill>
                  <a:srgbClr val="3333CC"/>
                </a:solidFill>
                <a:effectLst>
                  <a:outerShdw blurRad="38100" dist="38100" dir="2700000" algn="tl">
                    <a:srgbClr val="000000">
                      <a:alpha val="43137"/>
                    </a:srgbClr>
                  </a:outerShdw>
                </a:effectLst>
              </a:rPr>
              <a:t>/*</a:t>
            </a:r>
            <a:r>
              <a:rPr lang="zh-CN" altLang="en-US" sz="2000" b="1" dirty="0">
                <a:solidFill>
                  <a:srgbClr val="3333CC"/>
                </a:solidFill>
                <a:effectLst>
                  <a:outerShdw blurRad="38100" dist="38100" dir="2700000" algn="tl">
                    <a:srgbClr val="000000">
                      <a:alpha val="43137"/>
                    </a:srgbClr>
                  </a:outerShdw>
                </a:effectLst>
                <a:ea typeface="黑体" panose="02010609060101010101" pitchFamily="2" charset="-122"/>
              </a:rPr>
              <a:t>定义</a:t>
            </a:r>
            <a:r>
              <a:rPr lang="en-US" altLang="zh-CN" sz="2000" b="1" dirty="0">
                <a:solidFill>
                  <a:srgbClr val="3333CC"/>
                </a:solidFill>
                <a:effectLst>
                  <a:outerShdw blurRad="38100" dist="38100" dir="2700000" algn="tl">
                    <a:srgbClr val="000000">
                      <a:alpha val="43137"/>
                    </a:srgbClr>
                  </a:outerShdw>
                </a:effectLst>
              </a:rPr>
              <a:t>CY</a:t>
            </a:r>
            <a:r>
              <a:rPr lang="zh-CN" altLang="en-US" sz="2000" b="1" dirty="0">
                <a:solidFill>
                  <a:srgbClr val="3333CC"/>
                </a:solidFill>
                <a:effectLst>
                  <a:outerShdw blurRad="38100" dist="38100" dir="2700000" algn="tl">
                    <a:srgbClr val="000000">
                      <a:alpha val="43137"/>
                    </a:srgbClr>
                  </a:outerShdw>
                </a:effectLst>
                <a:ea typeface="黑体" panose="02010609060101010101" pitchFamily="2" charset="-122"/>
              </a:rPr>
              <a:t>位为</a:t>
            </a:r>
            <a:r>
              <a:rPr lang="en-US" altLang="zh-CN" sz="2000" b="1" dirty="0">
                <a:solidFill>
                  <a:srgbClr val="3333CC"/>
                </a:solidFill>
                <a:effectLst>
                  <a:outerShdw blurRad="38100" dist="38100" dir="2700000" algn="tl">
                    <a:srgbClr val="000000">
                      <a:alpha val="43137"/>
                    </a:srgbClr>
                  </a:outerShdw>
                </a:effectLst>
              </a:rPr>
              <a:t>PSW.7*/</a:t>
            </a:r>
          </a:p>
          <a:p>
            <a:pPr indent="20955" eaLnBrk="1" fontAlgn="b" hangingPunct="1">
              <a:lnSpc>
                <a:spcPct val="110000"/>
              </a:lnSpc>
              <a:buFont typeface="Wingdings" panose="05000000000000000000" pitchFamily="2" charset="2"/>
              <a:buNone/>
              <a:defRPr/>
            </a:pPr>
            <a:r>
              <a:rPr lang="en-US" altLang="zh-CN" sz="2400" dirty="0">
                <a:effectLst>
                  <a:outerShdw blurRad="38100" dist="38100" dir="2700000" algn="tl">
                    <a:srgbClr val="000000">
                      <a:alpha val="43137"/>
                    </a:srgbClr>
                  </a:outerShdw>
                </a:effectLst>
                <a:ea typeface="黑体" panose="02010609060101010101" pitchFamily="2" charset="-122"/>
              </a:rPr>
              <a:t>	</a:t>
            </a:r>
            <a:r>
              <a:rPr lang="zh-CN" altLang="en-US" sz="2400" b="1" dirty="0">
                <a:effectLst>
                  <a:outerShdw blurRad="38100" dist="38100" dir="2700000" algn="tl">
                    <a:srgbClr val="000000">
                      <a:alpha val="43137"/>
                    </a:srgbClr>
                  </a:outerShdw>
                </a:effectLst>
                <a:latin typeface="Times New Roman" panose="02020603050405020304" pitchFamily="18" charset="0"/>
              </a:rPr>
              <a:t>符号“</a:t>
            </a:r>
            <a:r>
              <a:rPr lang="en-US" altLang="zh-CN" sz="2400" b="1" dirty="0">
                <a:effectLst>
                  <a:outerShdw blurRad="38100" dist="38100" dir="2700000" algn="tl">
                    <a:srgbClr val="000000">
                      <a:alpha val="43137"/>
                    </a:srgbClr>
                  </a:outerShdw>
                </a:effectLst>
                <a:latin typeface="Times New Roman" panose="02020603050405020304" pitchFamily="18" charset="0"/>
              </a:rPr>
              <a:t>^”</a:t>
            </a:r>
            <a:r>
              <a:rPr lang="zh-CN" altLang="en-US" sz="2400" b="1" dirty="0">
                <a:effectLst>
                  <a:outerShdw blurRad="38100" dist="38100" dir="2700000" algn="tl">
                    <a:srgbClr val="000000">
                      <a:alpha val="43137"/>
                    </a:srgbClr>
                  </a:outerShdw>
                </a:effectLst>
                <a:latin typeface="Times New Roman" panose="02020603050405020304" pitchFamily="18" charset="0"/>
              </a:rPr>
              <a:t>前面是特殊功能寄存器的名字，“</a:t>
            </a:r>
            <a:r>
              <a:rPr lang="en-US" altLang="zh-CN" sz="2400" b="1" dirty="0">
                <a:effectLst>
                  <a:outerShdw blurRad="38100" dist="38100" dir="2700000" algn="tl">
                    <a:srgbClr val="000000">
                      <a:alpha val="43137"/>
                    </a:srgbClr>
                  </a:outerShdw>
                </a:effectLst>
                <a:latin typeface="Times New Roman" panose="02020603050405020304" pitchFamily="18" charset="0"/>
              </a:rPr>
              <a:t>^”</a:t>
            </a:r>
            <a:r>
              <a:rPr lang="zh-CN" altLang="en-US" sz="2400" b="1" dirty="0">
                <a:effectLst>
                  <a:outerShdw blurRad="38100" dist="38100" dir="2700000" algn="tl">
                    <a:srgbClr val="000000">
                      <a:alpha val="43137"/>
                    </a:srgbClr>
                  </a:outerShdw>
                </a:effectLst>
                <a:latin typeface="Times New Roman" panose="02020603050405020304" pitchFamily="18" charset="0"/>
              </a:rPr>
              <a:t>的后面数字定义特殊功能寄存器可寻址位在寄存器中的位置，取值必须是</a:t>
            </a:r>
            <a:r>
              <a:rPr lang="en-US" altLang="zh-CN" sz="2400" b="1" dirty="0">
                <a:effectLst>
                  <a:outerShdw blurRad="38100" dist="38100" dir="2700000" algn="tl">
                    <a:srgbClr val="000000">
                      <a:alpha val="43137"/>
                    </a:srgbClr>
                  </a:outerShdw>
                </a:effectLst>
                <a:latin typeface="Times New Roman" panose="02020603050405020304" pitchFamily="18" charset="0"/>
              </a:rPr>
              <a:t>0~7</a:t>
            </a:r>
            <a:r>
              <a:rPr lang="zh-CN" altLang="en-US" sz="2400" b="1" dirty="0">
                <a:effectLst>
                  <a:outerShdw blurRad="38100" dist="38100" dir="2700000" algn="tl">
                    <a:srgbClr val="000000">
                      <a:alpha val="43137"/>
                    </a:srgbClr>
                  </a:outerShdw>
                </a:effectLst>
                <a:latin typeface="Times New Roman" panose="02020603050405020304" pitchFamily="18" charset="0"/>
              </a:rPr>
              <a:t>。</a:t>
            </a:r>
          </a:p>
          <a:p>
            <a:pPr indent="20955" eaLnBrk="1" fontAlgn="b" hangingPunct="1">
              <a:lnSpc>
                <a:spcPct val="110000"/>
              </a:lnSpc>
              <a:buFont typeface="Wingdings" panose="05000000000000000000" pitchFamily="2" charset="2"/>
              <a:buNone/>
              <a:defRPr/>
            </a:pPr>
            <a:r>
              <a:rPr lang="zh-CN" altLang="en-US" sz="2400" b="1" dirty="0">
                <a:solidFill>
                  <a:srgbClr val="3333CC"/>
                </a:solidFill>
                <a:effectLst>
                  <a:outerShdw blurRad="38100" dist="38100" dir="2700000" algn="tl">
                    <a:srgbClr val="000000">
                      <a:alpha val="43137"/>
                    </a:srgbClr>
                  </a:outerShdw>
                </a:effectLst>
                <a:ea typeface="黑体" panose="02010609060101010101" pitchFamily="2" charset="-122"/>
              </a:rPr>
              <a:t>	</a:t>
            </a:r>
            <a:r>
              <a:rPr lang="zh-CN" altLang="en-US" sz="2400" b="1" dirty="0">
                <a:solidFill>
                  <a:schemeClr val="hlink"/>
                </a:solidFill>
                <a:effectLst>
                  <a:outerShdw blurRad="38100" dist="38100" dir="2700000" algn="tl">
                    <a:srgbClr val="000000">
                      <a:alpha val="43137"/>
                    </a:srgbClr>
                  </a:outerShdw>
                </a:effectLst>
                <a:latin typeface="宋体" panose="02010600030101010101" pitchFamily="2" charset="-122"/>
              </a:rPr>
              <a:t>注意，不要把</a:t>
            </a:r>
            <a:r>
              <a:rPr lang="en-US" altLang="zh-CN" sz="2400" b="1" dirty="0">
                <a:solidFill>
                  <a:schemeClr val="hlink"/>
                </a:solidFill>
                <a:effectLst>
                  <a:outerShdw blurRad="38100" dist="38100" dir="2700000" algn="tl">
                    <a:srgbClr val="000000">
                      <a:alpha val="43137"/>
                    </a:srgbClr>
                  </a:outerShdw>
                </a:effectLst>
                <a:latin typeface="宋体" panose="02010600030101010101" pitchFamily="2" charset="-122"/>
              </a:rPr>
              <a:t>bit</a:t>
            </a:r>
            <a:r>
              <a:rPr lang="zh-CN" altLang="en-US" sz="2400" b="1" dirty="0">
                <a:solidFill>
                  <a:schemeClr val="hlink"/>
                </a:solidFill>
                <a:effectLst>
                  <a:outerShdw blurRad="38100" dist="38100" dir="2700000" algn="tl">
                    <a:srgbClr val="000000">
                      <a:alpha val="43137"/>
                    </a:srgbClr>
                  </a:outerShdw>
                </a:effectLst>
                <a:latin typeface="宋体" panose="02010600030101010101" pitchFamily="2" charset="-122"/>
              </a:rPr>
              <a:t>与</a:t>
            </a:r>
            <a:r>
              <a:rPr lang="en-US" altLang="zh-CN" sz="2400" b="1" dirty="0" err="1">
                <a:solidFill>
                  <a:schemeClr val="hlink"/>
                </a:solidFill>
                <a:effectLst>
                  <a:outerShdw blurRad="38100" dist="38100" dir="2700000" algn="tl">
                    <a:srgbClr val="000000">
                      <a:alpha val="43137"/>
                    </a:srgbClr>
                  </a:outerShdw>
                </a:effectLst>
                <a:latin typeface="宋体" panose="02010600030101010101" pitchFamily="2" charset="-122"/>
              </a:rPr>
              <a:t>sbit</a:t>
            </a:r>
            <a:r>
              <a:rPr lang="zh-CN" altLang="en-US" sz="2400" b="1" dirty="0">
                <a:solidFill>
                  <a:schemeClr val="hlink"/>
                </a:solidFill>
                <a:effectLst>
                  <a:outerShdw blurRad="38100" dist="38100" dir="2700000" algn="tl">
                    <a:srgbClr val="000000">
                      <a:alpha val="43137"/>
                    </a:srgbClr>
                  </a:outerShdw>
                </a:effectLst>
                <a:latin typeface="宋体" panose="02010600030101010101" pitchFamily="2" charset="-122"/>
              </a:rPr>
              <a:t>混淆。</a:t>
            </a:r>
            <a:r>
              <a:rPr lang="en-US" altLang="zh-CN" sz="2400" b="1" dirty="0">
                <a:effectLst>
                  <a:outerShdw blurRad="38100" dist="38100" dir="2700000" algn="tl">
                    <a:srgbClr val="000000">
                      <a:alpha val="43137"/>
                    </a:srgbClr>
                  </a:outerShdw>
                </a:effectLst>
                <a:latin typeface="宋体" panose="02010600030101010101" pitchFamily="2" charset="-122"/>
              </a:rPr>
              <a:t>bit</a:t>
            </a:r>
            <a:r>
              <a:rPr lang="zh-CN" altLang="en-US" sz="2400" b="1" dirty="0">
                <a:effectLst>
                  <a:outerShdw blurRad="38100" dist="38100" dir="2700000" algn="tl">
                    <a:srgbClr val="000000">
                      <a:alpha val="43137"/>
                    </a:srgbClr>
                  </a:outerShdw>
                </a:effectLst>
                <a:latin typeface="宋体" panose="02010600030101010101" pitchFamily="2" charset="-122"/>
              </a:rPr>
              <a:t>用来定义普通的位变量，值只能是二进制的</a:t>
            </a:r>
            <a:r>
              <a:rPr lang="en-US" altLang="zh-CN" sz="2400" b="1" dirty="0">
                <a:effectLst>
                  <a:outerShdw blurRad="38100" dist="38100" dir="2700000" algn="tl">
                    <a:srgbClr val="000000">
                      <a:alpha val="43137"/>
                    </a:srgbClr>
                  </a:outerShdw>
                </a:effectLst>
                <a:latin typeface="宋体" panose="02010600030101010101" pitchFamily="2" charset="-122"/>
              </a:rPr>
              <a:t>0</a:t>
            </a:r>
            <a:r>
              <a:rPr lang="zh-CN" altLang="en-US" sz="2400" b="1" dirty="0">
                <a:effectLst>
                  <a:outerShdw blurRad="38100" dist="38100" dir="2700000" algn="tl">
                    <a:srgbClr val="000000">
                      <a:alpha val="43137"/>
                    </a:srgbClr>
                  </a:outerShdw>
                </a:effectLst>
                <a:latin typeface="宋体" panose="02010600030101010101" pitchFamily="2" charset="-122"/>
              </a:rPr>
              <a:t>或</a:t>
            </a:r>
            <a:r>
              <a:rPr lang="en-US" altLang="zh-CN" sz="2400" b="1" dirty="0">
                <a:effectLst>
                  <a:outerShdw blurRad="38100" dist="38100" dir="2700000" algn="tl">
                    <a:srgbClr val="000000">
                      <a:alpha val="43137"/>
                    </a:srgbClr>
                  </a:outerShdw>
                </a:effectLst>
                <a:latin typeface="宋体" panose="02010600030101010101" pitchFamily="2" charset="-122"/>
              </a:rPr>
              <a:t>1</a:t>
            </a:r>
            <a:r>
              <a:rPr lang="zh-CN" altLang="en-US" sz="2400" b="1" dirty="0">
                <a:effectLst>
                  <a:outerShdw blurRad="38100" dist="38100" dir="2700000" algn="tl">
                    <a:srgbClr val="000000">
                      <a:alpha val="43137"/>
                    </a:srgbClr>
                  </a:outerShdw>
                </a:effectLst>
                <a:latin typeface="宋体" panose="02010600030101010101" pitchFamily="2" charset="-122"/>
              </a:rPr>
              <a:t>。而</a:t>
            </a:r>
            <a:r>
              <a:rPr lang="en-US" altLang="zh-CN" sz="2400" b="1" dirty="0" err="1">
                <a:effectLst>
                  <a:outerShdw blurRad="38100" dist="38100" dir="2700000" algn="tl">
                    <a:srgbClr val="000000">
                      <a:alpha val="43137"/>
                    </a:srgbClr>
                  </a:outerShdw>
                </a:effectLst>
                <a:latin typeface="宋体" panose="02010600030101010101" pitchFamily="2" charset="-122"/>
              </a:rPr>
              <a:t>sbit</a:t>
            </a:r>
            <a:r>
              <a:rPr lang="zh-CN" altLang="en-US" sz="2400" b="1" dirty="0">
                <a:effectLst>
                  <a:outerShdw blurRad="38100" dist="38100" dir="2700000" algn="tl">
                    <a:srgbClr val="000000">
                      <a:alpha val="43137"/>
                    </a:srgbClr>
                  </a:outerShdw>
                </a:effectLst>
                <a:latin typeface="宋体" panose="02010600030101010101" pitchFamily="2" charset="-122"/>
              </a:rPr>
              <a:t>定义的是特殊功能寄存器的可寻址位，其值是可进行位寻址的特殊功能寄存器的位绝对地址，</a:t>
            </a:r>
            <a:r>
              <a:rPr lang="zh-CN" altLang="en-US" sz="2400" b="1" dirty="0">
                <a:solidFill>
                  <a:srgbClr val="3333CC"/>
                </a:solidFill>
                <a:effectLst>
                  <a:outerShdw blurRad="38100" dist="38100" dir="2700000" algn="tl">
                    <a:srgbClr val="000000">
                      <a:alpha val="43137"/>
                    </a:srgbClr>
                  </a:outerShdw>
                </a:effectLst>
                <a:latin typeface="宋体" panose="02010600030101010101" pitchFamily="2" charset="-122"/>
              </a:rPr>
              <a:t>例如</a:t>
            </a:r>
            <a:r>
              <a:rPr lang="en-US" altLang="zh-CN" sz="2400" b="1" dirty="0">
                <a:effectLst>
                  <a:outerShdw blurRad="38100" dist="38100" dir="2700000" algn="tl">
                    <a:srgbClr val="000000">
                      <a:alpha val="43137"/>
                    </a:srgbClr>
                  </a:outerShdw>
                </a:effectLst>
                <a:latin typeface="宋体" panose="02010600030101010101" pitchFamily="2" charset="-122"/>
              </a:rPr>
              <a:t>PSW</a:t>
            </a:r>
            <a:r>
              <a:rPr lang="zh-CN" altLang="en-US" sz="2400" b="1" dirty="0">
                <a:effectLst>
                  <a:outerShdw blurRad="38100" dist="38100" dir="2700000" algn="tl">
                    <a:srgbClr val="000000">
                      <a:alpha val="43137"/>
                    </a:srgbClr>
                  </a:outerShdw>
                </a:effectLst>
                <a:latin typeface="宋体" panose="02010600030101010101" pitchFamily="2" charset="-122"/>
              </a:rPr>
              <a:t>寄存器</a:t>
            </a:r>
            <a:r>
              <a:rPr lang="en-US" altLang="zh-CN" sz="2400" b="1" dirty="0">
                <a:effectLst>
                  <a:outerShdw blurRad="38100" dist="38100" dir="2700000" algn="tl">
                    <a:srgbClr val="000000">
                      <a:alpha val="43137"/>
                    </a:srgbClr>
                  </a:outerShdw>
                </a:effectLst>
                <a:latin typeface="宋体" panose="02010600030101010101" pitchFamily="2" charset="-122"/>
              </a:rPr>
              <a:t>OV</a:t>
            </a:r>
            <a:r>
              <a:rPr lang="zh-CN" altLang="en-US" sz="2400" b="1" dirty="0">
                <a:effectLst>
                  <a:outerShdw blurRad="38100" dist="38100" dir="2700000" algn="tl">
                    <a:srgbClr val="000000">
                      <a:alpha val="43137"/>
                    </a:srgbClr>
                  </a:outerShdw>
                </a:effectLst>
                <a:latin typeface="宋体" panose="02010600030101010101" pitchFamily="2" charset="-122"/>
              </a:rPr>
              <a:t>位的绝对地址</a:t>
            </a:r>
            <a:r>
              <a:rPr lang="en-US" altLang="zh-CN" sz="2400" b="1" dirty="0">
                <a:effectLst>
                  <a:outerShdw blurRad="38100" dist="38100" dir="2700000" algn="tl">
                    <a:srgbClr val="000000">
                      <a:alpha val="43137"/>
                    </a:srgbClr>
                  </a:outerShdw>
                </a:effectLst>
                <a:latin typeface="宋体" panose="02010600030101010101" pitchFamily="2" charset="-122"/>
              </a:rPr>
              <a:t>0xd2</a:t>
            </a:r>
            <a:r>
              <a:rPr lang="zh-CN" altLang="en-US" sz="2400" b="1" dirty="0">
                <a:effectLst>
                  <a:outerShdw blurRad="38100" dist="38100" dir="2700000" algn="tl">
                    <a:srgbClr val="000000">
                      <a:alpha val="43137"/>
                    </a:srgbClr>
                  </a:outerShdw>
                </a:effectLst>
                <a:latin typeface="宋体" panose="02010600030101010101" pitchFamily="2" charset="-122"/>
              </a:rPr>
              <a:t>。</a:t>
            </a:r>
          </a:p>
        </p:txBody>
      </p:sp>
      <p:sp>
        <p:nvSpPr>
          <p:cNvPr id="26627" name="灯片编号占位符 2"/>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0"/>
              </a:spcBef>
              <a:buClrTx/>
              <a:buSzTx/>
              <a:buFontTx/>
              <a:buNone/>
            </a:pPr>
            <a:fld id="{6DC1962F-EB6E-41F6-A38C-222D9408886B}" type="slidenum">
              <a:rPr lang="en-US" altLang="zh-CN" sz="1200">
                <a:latin typeface="Arial Black" panose="020B0A04020102020204" pitchFamily="34" charset="0"/>
                <a:cs typeface="Arial" panose="020B0604020202020204" pitchFamily="34" charset="0"/>
              </a:rPr>
              <a:t>36</a:t>
            </a:fld>
            <a:endParaRPr lang="en-US" altLang="zh-CN" sz="1200">
              <a:latin typeface="Arial Black" panose="020B0A040201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8914">
                                            <p:txEl>
                                              <p:pRg st="0" end="0"/>
                                            </p:txEl>
                                          </p:spTgt>
                                        </p:tgtEl>
                                        <p:attrNameLst>
                                          <p:attrName>style.visibility</p:attrName>
                                        </p:attrNameLst>
                                      </p:cBhvr>
                                      <p:to>
                                        <p:strVal val="visible"/>
                                      </p:to>
                                    </p:set>
                                    <p:animEffect transition="in" filter="randombar(horizontal)">
                                      <p:cBhvr>
                                        <p:cTn id="7" dur="500"/>
                                        <p:tgtEl>
                                          <p:spTgt spid="389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8914">
                                            <p:txEl>
                                              <p:pRg st="1" end="1"/>
                                            </p:txEl>
                                          </p:spTgt>
                                        </p:tgtEl>
                                        <p:attrNameLst>
                                          <p:attrName>style.visibility</p:attrName>
                                        </p:attrNameLst>
                                      </p:cBhvr>
                                      <p:to>
                                        <p:strVal val="visible"/>
                                      </p:to>
                                    </p:set>
                                    <p:animEffect transition="in" filter="randombar(horizontal)">
                                      <p:cBhvr>
                                        <p:cTn id="12" dur="500"/>
                                        <p:tgtEl>
                                          <p:spTgt spid="389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8914">
                                            <p:txEl>
                                              <p:pRg st="2" end="2"/>
                                            </p:txEl>
                                          </p:spTgt>
                                        </p:tgtEl>
                                        <p:attrNameLst>
                                          <p:attrName>style.visibility</p:attrName>
                                        </p:attrNameLst>
                                      </p:cBhvr>
                                      <p:to>
                                        <p:strVal val="visible"/>
                                      </p:to>
                                    </p:set>
                                    <p:animEffect transition="in" filter="randombar(horizontal)">
                                      <p:cBhvr>
                                        <p:cTn id="17" dur="500"/>
                                        <p:tgtEl>
                                          <p:spTgt spid="389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8914">
                                            <p:txEl>
                                              <p:pRg st="3" end="3"/>
                                            </p:txEl>
                                          </p:spTgt>
                                        </p:tgtEl>
                                        <p:attrNameLst>
                                          <p:attrName>style.visibility</p:attrName>
                                        </p:attrNameLst>
                                      </p:cBhvr>
                                      <p:to>
                                        <p:strVal val="visible"/>
                                      </p:to>
                                    </p:set>
                                    <p:animEffect transition="in" filter="randombar(horizontal)">
                                      <p:cBhvr>
                                        <p:cTn id="22" dur="500"/>
                                        <p:tgtEl>
                                          <p:spTgt spid="389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8914">
                                            <p:txEl>
                                              <p:pRg st="4" end="4"/>
                                            </p:txEl>
                                          </p:spTgt>
                                        </p:tgtEl>
                                        <p:attrNameLst>
                                          <p:attrName>style.visibility</p:attrName>
                                        </p:attrNameLst>
                                      </p:cBhvr>
                                      <p:to>
                                        <p:strVal val="visible"/>
                                      </p:to>
                                    </p:set>
                                    <p:animEffect transition="in" filter="randombar(horizontal)">
                                      <p:cBhvr>
                                        <p:cTn id="27" dur="500"/>
                                        <p:tgtEl>
                                          <p:spTgt spid="389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38914">
                                            <p:txEl>
                                              <p:pRg st="5" end="5"/>
                                            </p:txEl>
                                          </p:spTgt>
                                        </p:tgtEl>
                                        <p:attrNameLst>
                                          <p:attrName>style.visibility</p:attrName>
                                        </p:attrNameLst>
                                      </p:cBhvr>
                                      <p:to>
                                        <p:strVal val="visible"/>
                                      </p:to>
                                    </p:set>
                                    <p:animEffect transition="in" filter="randombar(horizontal)">
                                      <p:cBhvr>
                                        <p:cTn id="32" dur="500"/>
                                        <p:tgtEl>
                                          <p:spTgt spid="3891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38914">
                                            <p:txEl>
                                              <p:pRg st="6" end="6"/>
                                            </p:txEl>
                                          </p:spTgt>
                                        </p:tgtEl>
                                        <p:attrNameLst>
                                          <p:attrName>style.visibility</p:attrName>
                                        </p:attrNameLst>
                                      </p:cBhvr>
                                      <p:to>
                                        <p:strVal val="visible"/>
                                      </p:to>
                                    </p:set>
                                    <p:animEffect transition="in" filter="randombar(horizontal)">
                                      <p:cBhvr>
                                        <p:cTn id="37" dur="500"/>
                                        <p:tgtEl>
                                          <p:spTgt spid="3891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38914">
                                            <p:txEl>
                                              <p:pRg st="7" end="7"/>
                                            </p:txEl>
                                          </p:spTgt>
                                        </p:tgtEl>
                                        <p:attrNameLst>
                                          <p:attrName>style.visibility</p:attrName>
                                        </p:attrNameLst>
                                      </p:cBhvr>
                                      <p:to>
                                        <p:strVal val="visible"/>
                                      </p:to>
                                    </p:set>
                                    <p:animEffect transition="in" filter="randombar(horizontal)">
                                      <p:cBhvr>
                                        <p:cTn id="42" dur="500"/>
                                        <p:tgtEl>
                                          <p:spTgt spid="3891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38914">
                                            <p:txEl>
                                              <p:pRg st="8" end="8"/>
                                            </p:txEl>
                                          </p:spTgt>
                                        </p:tgtEl>
                                        <p:attrNameLst>
                                          <p:attrName>style.visibility</p:attrName>
                                        </p:attrNameLst>
                                      </p:cBhvr>
                                      <p:to>
                                        <p:strVal val="visible"/>
                                      </p:to>
                                    </p:set>
                                    <p:animEffect transition="in" filter="randombar(horizontal)">
                                      <p:cBhvr>
                                        <p:cTn id="47" dur="500"/>
                                        <p:tgtEl>
                                          <p:spTgt spid="3891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内容占位符 1"/>
          <p:cNvSpPr>
            <a:spLocks noGrp="1"/>
          </p:cNvSpPr>
          <p:nvPr>
            <p:ph idx="4294967295"/>
          </p:nvPr>
        </p:nvSpPr>
        <p:spPr>
          <a:xfrm>
            <a:off x="539750" y="333375"/>
            <a:ext cx="8229600" cy="4608513"/>
          </a:xfrm>
        </p:spPr>
        <p:txBody>
          <a:bodyPr/>
          <a:lstStyle/>
          <a:p>
            <a:pPr marL="0" indent="0" eaLnBrk="1" fontAlgn="b" hangingPunct="1">
              <a:lnSpc>
                <a:spcPct val="150000"/>
              </a:lnSpc>
              <a:buFont typeface="Wingdings" panose="05000000000000000000" pitchFamily="2" charset="2"/>
              <a:buNone/>
              <a:defRPr/>
            </a:pPr>
            <a:endParaRPr lang="en-US" altLang="zh-CN" sz="2400" dirty="0">
              <a:ea typeface="黑体" panose="02010609060101010101" pitchFamily="2" charset="-122"/>
            </a:endParaRPr>
          </a:p>
          <a:p>
            <a:pPr marL="0" indent="0" eaLnBrk="1" fontAlgn="b" hangingPunct="1">
              <a:lnSpc>
                <a:spcPct val="110000"/>
              </a:lnSpc>
              <a:buFont typeface="Wingdings" panose="05000000000000000000" pitchFamily="2" charset="2"/>
              <a:buNone/>
              <a:defRPr/>
            </a:pPr>
            <a:r>
              <a:rPr lang="en-US" altLang="zh-CN" b="1" dirty="0">
                <a:solidFill>
                  <a:srgbClr val="FF0000"/>
                </a:solidFill>
                <a:effectLst>
                  <a:outerShdw blurRad="38100" dist="38100" dir="2700000" algn="tl">
                    <a:srgbClr val="C0C0C0"/>
                  </a:outerShdw>
                </a:effectLst>
                <a:latin typeface="楷体" panose="02010609060101010101" pitchFamily="49" charset="-122"/>
                <a:ea typeface="楷体" panose="02010609060101010101" pitchFamily="49" charset="-122"/>
              </a:rPr>
              <a:t>   4.</a:t>
            </a:r>
            <a:r>
              <a:rPr lang="zh-CN" altLang="en-US" b="1" dirty="0">
                <a:solidFill>
                  <a:srgbClr val="FF0000"/>
                </a:solidFill>
                <a:effectLst>
                  <a:outerShdw blurRad="38100" dist="38100" dir="2700000" algn="tl">
                    <a:srgbClr val="C0C0C0"/>
                  </a:outerShdw>
                </a:effectLst>
                <a:latin typeface="楷体" panose="02010609060101010101" pitchFamily="49" charset="-122"/>
                <a:ea typeface="楷体" panose="02010609060101010101" pitchFamily="49" charset="-122"/>
              </a:rPr>
              <a:t>特殊功能寄存器</a:t>
            </a:r>
            <a:r>
              <a:rPr lang="en-US" altLang="zh-CN" b="1" dirty="0">
                <a:solidFill>
                  <a:srgbClr val="FF0000"/>
                </a:solidFill>
                <a:effectLst>
                  <a:outerShdw blurRad="38100" dist="38100" dir="2700000" algn="tl">
                    <a:srgbClr val="C0C0C0"/>
                  </a:outerShdw>
                </a:effectLst>
                <a:latin typeface="楷体" panose="02010609060101010101" pitchFamily="49" charset="-122"/>
                <a:ea typeface="楷体" panose="02010609060101010101" pitchFamily="49" charset="-122"/>
              </a:rPr>
              <a:t>sfr16</a:t>
            </a:r>
          </a:p>
          <a:p>
            <a:pPr marL="0" indent="0" eaLnBrk="1" fontAlgn="b" hangingPunct="1">
              <a:lnSpc>
                <a:spcPct val="110000"/>
              </a:lnSpc>
              <a:buFont typeface="Wingdings" panose="05000000000000000000" pitchFamily="2" charset="2"/>
              <a:buNone/>
              <a:defRPr/>
            </a:pPr>
            <a:endParaRPr lang="en-US" altLang="zh-CN" sz="1000" b="1" dirty="0">
              <a:solidFill>
                <a:srgbClr val="0000FF"/>
              </a:solidFill>
              <a:effectLst>
                <a:outerShdw blurRad="38100" dist="38100" dir="2700000" algn="tl">
                  <a:srgbClr val="C0C0C0"/>
                </a:outerShdw>
              </a:effectLst>
              <a:latin typeface="Times New Roman" panose="02020603050405020304" pitchFamily="18" charset="0"/>
            </a:endParaRPr>
          </a:p>
          <a:p>
            <a:pPr marL="0" indent="0" eaLnBrk="1" fontAlgn="b" hangingPunct="1">
              <a:lnSpc>
                <a:spcPct val="110000"/>
              </a:lnSpc>
              <a:buFont typeface="Wingdings" panose="05000000000000000000" pitchFamily="2" charset="2"/>
              <a:buNone/>
              <a:defRPr/>
            </a:pPr>
            <a:r>
              <a:rPr lang="en-US" altLang="zh-CN" sz="2800" b="1" dirty="0">
                <a:solidFill>
                  <a:srgbClr val="FF3300"/>
                </a:solidFill>
                <a:effectLst>
                  <a:outerShdw blurRad="38100" dist="38100" dir="2700000" algn="tl">
                    <a:srgbClr val="C0C0C0"/>
                  </a:outerShdw>
                </a:effectLst>
                <a:latin typeface="Times New Roman" panose="02020603050405020304" pitchFamily="18" charset="0"/>
              </a:rPr>
              <a:t>      “sfr16”</a:t>
            </a:r>
            <a:r>
              <a:rPr lang="zh-CN" altLang="en-US" sz="2800" b="1" dirty="0">
                <a:solidFill>
                  <a:srgbClr val="FF3300"/>
                </a:solidFill>
                <a:effectLst>
                  <a:outerShdw blurRad="38100" dist="38100" dir="2700000" algn="tl">
                    <a:srgbClr val="C0C0C0"/>
                  </a:outerShdw>
                </a:effectLst>
                <a:latin typeface="Times New Roman" panose="02020603050405020304" pitchFamily="18" charset="0"/>
              </a:rPr>
              <a:t>数据类型</a:t>
            </a:r>
            <a:r>
              <a:rPr lang="zh-CN" altLang="en-US" sz="2800" b="1" dirty="0">
                <a:effectLst>
                  <a:outerShdw blurRad="38100" dist="38100" dir="2700000" algn="tl">
                    <a:srgbClr val="C0C0C0"/>
                  </a:outerShdw>
                </a:effectLst>
                <a:latin typeface="Times New Roman" panose="02020603050405020304" pitchFamily="18" charset="0"/>
              </a:rPr>
              <a:t>占用两个内存单元。</a:t>
            </a:r>
            <a:r>
              <a:rPr lang="en-US" altLang="zh-CN" sz="2800" b="1" dirty="0">
                <a:effectLst>
                  <a:outerShdw blurRad="38100" dist="38100" dir="2700000" algn="tl">
                    <a:srgbClr val="C0C0C0"/>
                  </a:outerShdw>
                </a:effectLst>
                <a:latin typeface="Times New Roman" panose="02020603050405020304" pitchFamily="18" charset="0"/>
              </a:rPr>
              <a:t>sfr16</a:t>
            </a:r>
            <a:r>
              <a:rPr lang="zh-CN" altLang="en-US" sz="2800" b="1" dirty="0">
                <a:effectLst>
                  <a:outerShdw blurRad="38100" dist="38100" dir="2700000" algn="tl">
                    <a:srgbClr val="C0C0C0"/>
                  </a:outerShdw>
                </a:effectLst>
                <a:latin typeface="Times New Roman" panose="02020603050405020304" pitchFamily="18" charset="0"/>
              </a:rPr>
              <a:t>和</a:t>
            </a:r>
            <a:r>
              <a:rPr lang="en-US" altLang="zh-CN" sz="2800" b="1" dirty="0" err="1">
                <a:effectLst>
                  <a:outerShdw blurRad="38100" dist="38100" dir="2700000" algn="tl">
                    <a:srgbClr val="C0C0C0"/>
                  </a:outerShdw>
                </a:effectLst>
                <a:latin typeface="Times New Roman" panose="02020603050405020304" pitchFamily="18" charset="0"/>
              </a:rPr>
              <a:t>sfr</a:t>
            </a:r>
            <a:r>
              <a:rPr lang="zh-CN" altLang="en-US" sz="2800" b="1" dirty="0">
                <a:effectLst>
                  <a:outerShdw blurRad="38100" dist="38100" dir="2700000" algn="tl">
                    <a:srgbClr val="C0C0C0"/>
                  </a:outerShdw>
                </a:effectLst>
                <a:latin typeface="Times New Roman" panose="02020603050405020304" pitchFamily="18" charset="0"/>
              </a:rPr>
              <a:t>一样用于操作特殊功能寄存器。所不同的是它用于操作占两个字节的特殊功能寄存器。</a:t>
            </a:r>
          </a:p>
          <a:p>
            <a:pPr marL="0" indent="0" eaLnBrk="1" fontAlgn="b" hangingPunct="1">
              <a:lnSpc>
                <a:spcPct val="110000"/>
              </a:lnSpc>
              <a:buFont typeface="Wingdings" panose="05000000000000000000" pitchFamily="2" charset="2"/>
              <a:buNone/>
              <a:defRPr/>
            </a:pPr>
            <a:r>
              <a:rPr lang="zh-CN" altLang="en-US" sz="2800" b="1" dirty="0">
                <a:solidFill>
                  <a:srgbClr val="FF3300"/>
                </a:solidFill>
                <a:effectLst>
                  <a:outerShdw blurRad="38100" dist="38100" dir="2700000" algn="tl">
                    <a:srgbClr val="C0C0C0"/>
                  </a:outerShdw>
                </a:effectLst>
                <a:latin typeface="Times New Roman" panose="02020603050405020304" pitchFamily="18" charset="0"/>
              </a:rPr>
              <a:t>       例如：</a:t>
            </a:r>
            <a:r>
              <a:rPr lang="zh-CN" altLang="en-US" sz="2800" b="1" dirty="0">
                <a:effectLst>
                  <a:outerShdw blurRad="38100" dist="38100" dir="2700000" algn="tl">
                    <a:srgbClr val="C0C0C0"/>
                  </a:outerShdw>
                </a:effectLst>
                <a:latin typeface="Times New Roman" panose="02020603050405020304" pitchFamily="18" charset="0"/>
              </a:rPr>
              <a:t> </a:t>
            </a:r>
            <a:r>
              <a:rPr lang="en-US" altLang="zh-CN" sz="2800" b="1" dirty="0">
                <a:solidFill>
                  <a:srgbClr val="3333CC"/>
                </a:solidFill>
                <a:effectLst>
                  <a:outerShdw blurRad="38100" dist="38100" dir="2700000" algn="tl">
                    <a:srgbClr val="C0C0C0"/>
                  </a:outerShdw>
                </a:effectLst>
                <a:latin typeface="Times New Roman" panose="02020603050405020304" pitchFamily="18" charset="0"/>
              </a:rPr>
              <a:t>sfr16  DPTR=0x82;</a:t>
            </a:r>
            <a:r>
              <a:rPr lang="zh-CN" altLang="en-US" sz="2800" b="1" dirty="0">
                <a:effectLst>
                  <a:outerShdw blurRad="38100" dist="38100" dir="2700000" algn="tl">
                    <a:srgbClr val="C0C0C0"/>
                  </a:outerShdw>
                </a:effectLst>
                <a:latin typeface="Times New Roman" panose="02020603050405020304" pitchFamily="18" charset="0"/>
              </a:rPr>
              <a:t>语句定义了片内</a:t>
            </a:r>
            <a:r>
              <a:rPr lang="en-US" altLang="zh-CN" sz="2800" b="1" dirty="0">
                <a:effectLst>
                  <a:outerShdw blurRad="38100" dist="38100" dir="2700000" algn="tl">
                    <a:srgbClr val="C0C0C0"/>
                  </a:outerShdw>
                </a:effectLst>
                <a:latin typeface="Times New Roman" panose="02020603050405020304" pitchFamily="18" charset="0"/>
              </a:rPr>
              <a:t>16</a:t>
            </a:r>
            <a:r>
              <a:rPr lang="zh-CN" altLang="en-US" sz="2800" b="1" dirty="0">
                <a:effectLst>
                  <a:outerShdw blurRad="38100" dist="38100" dir="2700000" algn="tl">
                    <a:srgbClr val="C0C0C0"/>
                  </a:outerShdw>
                </a:effectLst>
                <a:latin typeface="Times New Roman" panose="02020603050405020304" pitchFamily="18" charset="0"/>
              </a:rPr>
              <a:t>位数据指针寄存器</a:t>
            </a:r>
            <a:r>
              <a:rPr lang="en-US" altLang="zh-CN" sz="2800" b="1" dirty="0">
                <a:effectLst>
                  <a:outerShdw blurRad="38100" dist="38100" dir="2700000" algn="tl">
                    <a:srgbClr val="C0C0C0"/>
                  </a:outerShdw>
                </a:effectLst>
                <a:latin typeface="Times New Roman" panose="02020603050405020304" pitchFamily="18" charset="0"/>
              </a:rPr>
              <a:t>DPTR</a:t>
            </a:r>
            <a:r>
              <a:rPr lang="zh-CN" altLang="en-US" sz="2800" b="1" dirty="0">
                <a:effectLst>
                  <a:outerShdw blurRad="38100" dist="38100" dir="2700000" algn="tl">
                    <a:srgbClr val="C0C0C0"/>
                  </a:outerShdw>
                </a:effectLst>
                <a:latin typeface="Times New Roman" panose="02020603050405020304" pitchFamily="18" charset="0"/>
              </a:rPr>
              <a:t>，其低</a:t>
            </a:r>
            <a:r>
              <a:rPr lang="en-US" altLang="zh-CN" sz="2800" b="1" dirty="0">
                <a:effectLst>
                  <a:outerShdw blurRad="38100" dist="38100" dir="2700000" algn="tl">
                    <a:srgbClr val="C0C0C0"/>
                  </a:outerShdw>
                </a:effectLst>
                <a:latin typeface="Times New Roman" panose="02020603050405020304" pitchFamily="18" charset="0"/>
              </a:rPr>
              <a:t>8</a:t>
            </a:r>
            <a:r>
              <a:rPr lang="zh-CN" altLang="en-US" sz="2800" b="1" dirty="0">
                <a:effectLst>
                  <a:outerShdw blurRad="38100" dist="38100" dir="2700000" algn="tl">
                    <a:srgbClr val="C0C0C0"/>
                  </a:outerShdw>
                </a:effectLst>
                <a:latin typeface="Times New Roman" panose="02020603050405020304" pitchFamily="18" charset="0"/>
              </a:rPr>
              <a:t>位字节地址为</a:t>
            </a:r>
            <a:r>
              <a:rPr lang="en-US" altLang="zh-CN" sz="2800" b="1" dirty="0">
                <a:effectLst>
                  <a:outerShdw blurRad="38100" dist="38100" dir="2700000" algn="tl">
                    <a:srgbClr val="C0C0C0"/>
                  </a:outerShdw>
                </a:effectLst>
                <a:latin typeface="Times New Roman" panose="02020603050405020304" pitchFamily="18" charset="0"/>
              </a:rPr>
              <a:t>82H</a:t>
            </a:r>
            <a:r>
              <a:rPr lang="zh-CN" altLang="en-US" sz="2800" b="1" dirty="0">
                <a:effectLst>
                  <a:outerShdw blurRad="38100" dist="38100" dir="2700000" algn="tl">
                    <a:srgbClr val="C0C0C0"/>
                  </a:outerShdw>
                </a:effectLst>
                <a:latin typeface="Times New Roman" panose="02020603050405020304" pitchFamily="18" charset="0"/>
              </a:rPr>
              <a:t>。在后面的语句中可以对</a:t>
            </a:r>
            <a:r>
              <a:rPr lang="en-US" altLang="zh-CN" sz="2800" b="1" dirty="0">
                <a:effectLst>
                  <a:outerShdw blurRad="38100" dist="38100" dir="2700000" algn="tl">
                    <a:srgbClr val="C0C0C0"/>
                  </a:outerShdw>
                </a:effectLst>
                <a:latin typeface="Times New Roman" panose="02020603050405020304" pitchFamily="18" charset="0"/>
              </a:rPr>
              <a:t>DPTR</a:t>
            </a:r>
            <a:r>
              <a:rPr lang="zh-CN" altLang="en-US" sz="2800" b="1" dirty="0">
                <a:effectLst>
                  <a:outerShdw blurRad="38100" dist="38100" dir="2700000" algn="tl">
                    <a:srgbClr val="C0C0C0"/>
                  </a:outerShdw>
                </a:effectLst>
                <a:latin typeface="Times New Roman" panose="02020603050405020304" pitchFamily="18" charset="0"/>
              </a:rPr>
              <a:t>进行操作。</a:t>
            </a:r>
            <a:endParaRPr lang="zh-CN" altLang="en-US" sz="2400" dirty="0">
              <a:ea typeface="黑体" panose="02010609060101010101" pitchFamily="2" charset="-122"/>
            </a:endParaRPr>
          </a:p>
        </p:txBody>
      </p:sp>
      <p:sp>
        <p:nvSpPr>
          <p:cNvPr id="27651" name="灯片编号占位符 2"/>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0"/>
              </a:spcBef>
              <a:buClrTx/>
              <a:buSzTx/>
              <a:buFontTx/>
              <a:buNone/>
            </a:pPr>
            <a:fld id="{DB87D374-3099-420E-924A-CFB4DED553AE}" type="slidenum">
              <a:rPr lang="en-US" altLang="zh-CN" sz="1200">
                <a:latin typeface="Arial Black" panose="020B0A04020102020204" pitchFamily="34" charset="0"/>
                <a:cs typeface="Arial" panose="020B0604020202020204" pitchFamily="34" charset="0"/>
              </a:rPr>
              <a:t>37</a:t>
            </a:fld>
            <a:endParaRPr lang="en-US" altLang="zh-CN" sz="1200">
              <a:latin typeface="Arial Black" panose="020B0A04020102020204" pitchFamily="34" charset="0"/>
              <a:cs typeface="Arial" panose="020B0604020202020204" pitchFamily="34" charset="0"/>
            </a:endParaRPr>
          </a:p>
        </p:txBody>
      </p:sp>
      <p:sp>
        <p:nvSpPr>
          <p:cNvPr id="35848" name="Text Box 8"/>
          <p:cNvSpPr txBox="1">
            <a:spLocks noChangeArrowheads="1"/>
          </p:cNvSpPr>
          <p:nvPr/>
        </p:nvSpPr>
        <p:spPr bwMode="auto">
          <a:xfrm>
            <a:off x="539750" y="4797425"/>
            <a:ext cx="7991475" cy="946150"/>
          </a:xfrm>
          <a:prstGeom prst="rect">
            <a:avLst/>
          </a:prstGeom>
          <a:noFill/>
          <a:ln>
            <a:noFill/>
          </a:ln>
          <a:effectLst/>
        </p:spPr>
        <p:txBody>
          <a:bodyPr>
            <a:spAutoFit/>
          </a:bodyPr>
          <a:lstStyle/>
          <a:p>
            <a:pPr eaLnBrk="1" hangingPunct="1">
              <a:spcBef>
                <a:spcPct val="50000"/>
              </a:spcBef>
              <a:defRPr/>
            </a:pPr>
            <a:r>
              <a:rPr lang="en-US" altLang="zh-CN" b="1">
                <a:solidFill>
                  <a:srgbClr val="0000FF"/>
                </a:solidFill>
                <a:effectLst>
                  <a:outerShdw blurRad="38100" dist="38100" dir="2700000" algn="tl">
                    <a:srgbClr val="C0C0C0"/>
                  </a:outerShdw>
                </a:effectLst>
                <a:latin typeface="Times New Roman" panose="02020603050405020304" pitchFamily="18" charset="0"/>
              </a:rPr>
              <a:t> </a:t>
            </a:r>
            <a:r>
              <a:rPr lang="zh-CN" altLang="en-US" b="1">
                <a:solidFill>
                  <a:srgbClr val="0000FF"/>
                </a:solidFill>
                <a:effectLst>
                  <a:outerShdw blurRad="38100" dist="38100" dir="2700000" algn="tl">
                    <a:srgbClr val="C0C0C0"/>
                  </a:outerShdw>
                </a:effectLst>
                <a:latin typeface="Times New Roman" panose="02020603050405020304" pitchFamily="18" charset="0"/>
              </a:rPr>
              <a:t>注意：在</a:t>
            </a:r>
            <a:r>
              <a:rPr lang="en-US" altLang="zh-CN" b="1">
                <a:solidFill>
                  <a:srgbClr val="0000FF"/>
                </a:solidFill>
                <a:effectLst>
                  <a:outerShdw blurRad="38100" dist="38100" dir="2700000" algn="tl">
                    <a:srgbClr val="C0C0C0"/>
                  </a:outerShdw>
                </a:effectLst>
                <a:latin typeface="Times New Roman" panose="02020603050405020304" pitchFamily="18" charset="0"/>
              </a:rPr>
              <a:t>C51</a:t>
            </a:r>
            <a:r>
              <a:rPr lang="zh-CN" altLang="en-US" b="1">
                <a:solidFill>
                  <a:srgbClr val="0000FF"/>
                </a:solidFill>
                <a:effectLst>
                  <a:outerShdw blurRad="38100" dist="38100" dir="2700000" algn="tl">
                    <a:srgbClr val="C0C0C0"/>
                  </a:outerShdw>
                </a:effectLst>
                <a:latin typeface="Times New Roman" panose="02020603050405020304" pitchFamily="18" charset="0"/>
              </a:rPr>
              <a:t>中对特殊功能寄存器的访问必须先用</a:t>
            </a:r>
            <a:r>
              <a:rPr lang="en-US" altLang="zh-CN" b="1">
                <a:solidFill>
                  <a:srgbClr val="0000FF"/>
                </a:solidFill>
                <a:effectLst>
                  <a:outerShdw blurRad="38100" dist="38100" dir="2700000" algn="tl">
                    <a:srgbClr val="C0C0C0"/>
                  </a:outerShdw>
                </a:effectLst>
                <a:latin typeface="Times New Roman" panose="02020603050405020304" pitchFamily="18" charset="0"/>
              </a:rPr>
              <a:t>sfr</a:t>
            </a:r>
            <a:r>
              <a:rPr lang="zh-CN" altLang="en-US" b="1">
                <a:solidFill>
                  <a:srgbClr val="0000FF"/>
                </a:solidFill>
                <a:effectLst>
                  <a:outerShdw blurRad="38100" dist="38100" dir="2700000" algn="tl">
                    <a:srgbClr val="C0C0C0"/>
                  </a:outerShdw>
                </a:effectLst>
                <a:latin typeface="Times New Roman" panose="02020603050405020304" pitchFamily="18" charset="0"/>
              </a:rPr>
              <a:t>或</a:t>
            </a:r>
            <a:r>
              <a:rPr lang="en-US" altLang="zh-CN" b="1">
                <a:solidFill>
                  <a:srgbClr val="0000FF"/>
                </a:solidFill>
                <a:effectLst>
                  <a:outerShdw blurRad="38100" dist="38100" dir="2700000" algn="tl">
                    <a:srgbClr val="C0C0C0"/>
                  </a:outerShdw>
                </a:effectLst>
                <a:latin typeface="Times New Roman" panose="02020603050405020304" pitchFamily="18" charset="0"/>
              </a:rPr>
              <a:t>sfr16</a:t>
            </a:r>
            <a:r>
              <a:rPr lang="zh-CN" altLang="en-US" b="1">
                <a:solidFill>
                  <a:srgbClr val="0000FF"/>
                </a:solidFill>
                <a:effectLst>
                  <a:outerShdw blurRad="38100" dist="38100" dir="2700000" algn="tl">
                    <a:srgbClr val="C0C0C0"/>
                  </a:outerShdw>
                </a:effectLst>
                <a:latin typeface="Times New Roman" panose="02020603050405020304" pitchFamily="18" charset="0"/>
              </a:rPr>
              <a:t>进行声明。</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358775" y="185738"/>
            <a:ext cx="8661400" cy="461962"/>
          </a:xfrm>
          <a:prstGeom prst="rect">
            <a:avLst/>
          </a:prstGeom>
          <a:noFill/>
          <a:ln>
            <a:noFill/>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defRPr/>
            </a:pPr>
            <a:r>
              <a:rPr kumimoji="1" lang="en-US" altLang="zh-CN" sz="2400" b="1" dirty="0">
                <a:effectLst>
                  <a:outerShdw blurRad="38100" dist="38100" dir="2700000" algn="tl">
                    <a:srgbClr val="000000">
                      <a:alpha val="43137"/>
                    </a:srgbClr>
                  </a:outerShdw>
                </a:effectLst>
                <a:latin typeface="Times New Roman" panose="02020603050405020304" pitchFamily="18" charset="0"/>
              </a:rPr>
              <a:t>C51</a:t>
            </a:r>
            <a:r>
              <a:rPr kumimoji="1" lang="zh-CN" altLang="en-US" sz="2400" b="1" dirty="0">
                <a:effectLst>
                  <a:outerShdw blurRad="38100" dist="38100" dir="2700000" algn="tl">
                    <a:srgbClr val="000000">
                      <a:alpha val="43137"/>
                    </a:srgbClr>
                  </a:outerShdw>
                </a:effectLst>
                <a:latin typeface="Times New Roman" panose="02020603050405020304" pitchFamily="18" charset="0"/>
              </a:rPr>
              <a:t>编译器在 “</a:t>
            </a:r>
            <a:r>
              <a:rPr kumimoji="1" lang="en-US" altLang="zh-CN" sz="2400" b="1" dirty="0">
                <a:effectLst>
                  <a:outerShdw blurRad="38100" dist="38100" dir="2700000" algn="tl">
                    <a:srgbClr val="000000">
                      <a:alpha val="43137"/>
                    </a:srgbClr>
                  </a:outerShdw>
                </a:effectLst>
                <a:latin typeface="Times New Roman" panose="02020603050405020304" pitchFamily="18" charset="0"/>
              </a:rPr>
              <a:t>reg51.h”</a:t>
            </a:r>
            <a:r>
              <a:rPr kumimoji="1" lang="zh-CN" altLang="en-US" sz="2400" b="1" dirty="0">
                <a:effectLst>
                  <a:outerShdw blurRad="38100" dist="38100" dir="2700000" algn="tl">
                    <a:srgbClr val="000000">
                      <a:alpha val="43137"/>
                    </a:srgbClr>
                  </a:outerShdw>
                </a:effectLst>
                <a:latin typeface="Times New Roman" panose="02020603050405020304" pitchFamily="18" charset="0"/>
              </a:rPr>
              <a:t>中定义了全部</a:t>
            </a:r>
            <a:r>
              <a:rPr kumimoji="1" lang="en-US" altLang="zh-CN" sz="2400" b="1" dirty="0" err="1">
                <a:effectLst>
                  <a:outerShdw blurRad="38100" dist="38100" dir="2700000" algn="tl">
                    <a:srgbClr val="000000">
                      <a:alpha val="43137"/>
                    </a:srgbClr>
                  </a:outerShdw>
                </a:effectLst>
                <a:latin typeface="Times New Roman" panose="02020603050405020304" pitchFamily="18" charset="0"/>
              </a:rPr>
              <a:t>sfr</a:t>
            </a:r>
            <a:r>
              <a:rPr kumimoji="1" lang="en-US" altLang="zh-CN" sz="2400" b="1" dirty="0">
                <a:effectLst>
                  <a:outerShdw blurRad="38100" dist="38100" dir="2700000" algn="tl">
                    <a:srgbClr val="000000">
                      <a:alpha val="43137"/>
                    </a:srgbClr>
                  </a:outerShdw>
                </a:effectLst>
                <a:latin typeface="Times New Roman" panose="02020603050405020304" pitchFamily="18" charset="0"/>
              </a:rPr>
              <a:t> / sfr16</a:t>
            </a:r>
            <a:r>
              <a:rPr kumimoji="1" lang="zh-CN" altLang="en-US" sz="2400" b="1" dirty="0">
                <a:effectLst>
                  <a:outerShdw blurRad="38100" dist="38100" dir="2700000" algn="tl">
                    <a:srgbClr val="000000">
                      <a:alpha val="43137"/>
                    </a:srgbClr>
                  </a:outerShdw>
                </a:effectLst>
                <a:latin typeface="Times New Roman" panose="02020603050405020304" pitchFamily="18" charset="0"/>
              </a:rPr>
              <a:t>和</a:t>
            </a:r>
            <a:r>
              <a:rPr kumimoji="1" lang="en-US" altLang="zh-CN" sz="2400" b="1" dirty="0" err="1">
                <a:effectLst>
                  <a:outerShdw blurRad="38100" dist="38100" dir="2700000" algn="tl">
                    <a:srgbClr val="000000">
                      <a:alpha val="43137"/>
                    </a:srgbClr>
                  </a:outerShdw>
                </a:effectLst>
                <a:latin typeface="Times New Roman" panose="02020603050405020304" pitchFamily="18" charset="0"/>
              </a:rPr>
              <a:t>sbit</a:t>
            </a:r>
            <a:r>
              <a:rPr kumimoji="1" lang="zh-CN" altLang="en-US" sz="2400" b="1" dirty="0">
                <a:effectLst>
                  <a:outerShdw blurRad="38100" dist="38100" dir="2700000" algn="tl">
                    <a:srgbClr val="000000">
                      <a:alpha val="43137"/>
                    </a:srgbClr>
                  </a:outerShdw>
                </a:effectLst>
                <a:latin typeface="Times New Roman" panose="02020603050405020304" pitchFamily="18" charset="0"/>
              </a:rPr>
              <a:t>变量。</a:t>
            </a:r>
          </a:p>
        </p:txBody>
      </p:sp>
      <p:sp>
        <p:nvSpPr>
          <p:cNvPr id="289798" name="Rectangle 6"/>
          <p:cNvSpPr>
            <a:spLocks noChangeArrowheads="1"/>
          </p:cNvSpPr>
          <p:nvPr/>
        </p:nvSpPr>
        <p:spPr bwMode="auto">
          <a:xfrm>
            <a:off x="635000" y="5300663"/>
            <a:ext cx="8108950" cy="862012"/>
          </a:xfrm>
          <a:prstGeom prst="rect">
            <a:avLst/>
          </a:prstGeom>
          <a:noFill/>
          <a:ln>
            <a:noFill/>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defRPr/>
            </a:pPr>
            <a:r>
              <a:rPr kumimoji="1" lang="zh-CN" altLang="en-US" sz="2500" b="1" dirty="0">
                <a:effectLst>
                  <a:outerShdw blurRad="38100" dist="38100" dir="2700000" algn="tl">
                    <a:srgbClr val="000000">
                      <a:alpha val="43137"/>
                    </a:srgbClr>
                  </a:outerShdw>
                </a:effectLst>
                <a:latin typeface="Times New Roman" panose="02020603050405020304" pitchFamily="18" charset="0"/>
              </a:rPr>
              <a:t>用一条预处理命令</a:t>
            </a:r>
            <a:r>
              <a:rPr kumimoji="1" lang="en-US" altLang="zh-CN" sz="2500" b="1" dirty="0">
                <a:solidFill>
                  <a:srgbClr val="CC0000"/>
                </a:solidFill>
                <a:effectLst>
                  <a:outerShdw blurRad="38100" dist="38100" dir="2700000" algn="tl">
                    <a:srgbClr val="000000">
                      <a:alpha val="43137"/>
                    </a:srgbClr>
                  </a:outerShdw>
                </a:effectLst>
                <a:latin typeface="Times New Roman" panose="02020603050405020304" pitchFamily="18" charset="0"/>
              </a:rPr>
              <a:t>#include &lt;reg51.h&gt;</a:t>
            </a:r>
            <a:r>
              <a:rPr kumimoji="1" lang="zh-CN" altLang="en-US" sz="2500" b="1" dirty="0">
                <a:effectLst>
                  <a:outerShdw blurRad="38100" dist="38100" dir="2700000" algn="tl">
                    <a:srgbClr val="000000">
                      <a:alpha val="43137"/>
                    </a:srgbClr>
                  </a:outerShdw>
                </a:effectLst>
                <a:latin typeface="Times New Roman" panose="02020603050405020304" pitchFamily="18" charset="0"/>
              </a:rPr>
              <a:t>把这个头文件包含到</a:t>
            </a:r>
            <a:r>
              <a:rPr kumimoji="1" lang="en-US" altLang="zh-CN" sz="2500" b="1" dirty="0">
                <a:effectLst>
                  <a:outerShdw blurRad="38100" dist="38100" dir="2700000" algn="tl">
                    <a:srgbClr val="000000">
                      <a:alpha val="43137"/>
                    </a:srgbClr>
                  </a:outerShdw>
                </a:effectLst>
                <a:latin typeface="Times New Roman" panose="02020603050405020304" pitchFamily="18" charset="0"/>
              </a:rPr>
              <a:t>C51</a:t>
            </a:r>
            <a:r>
              <a:rPr kumimoji="1" lang="zh-CN" altLang="en-US" sz="2500" b="1" dirty="0">
                <a:effectLst>
                  <a:outerShdw blurRad="38100" dist="38100" dir="2700000" algn="tl">
                    <a:srgbClr val="000000">
                      <a:alpha val="43137"/>
                    </a:srgbClr>
                  </a:outerShdw>
                </a:effectLst>
                <a:latin typeface="Times New Roman" panose="02020603050405020304" pitchFamily="18" charset="0"/>
              </a:rPr>
              <a:t>程序中，无需重新定义即可直接使用它们的名称。</a:t>
            </a:r>
          </a:p>
        </p:txBody>
      </p:sp>
      <p:pic>
        <p:nvPicPr>
          <p:cNvPr id="28676" name="Picture 4"/>
          <p:cNvPicPr>
            <a:picLocks noChangeAspect="1" noChangeArrowheads="1"/>
          </p:cNvPicPr>
          <p:nvPr/>
        </p:nvPicPr>
        <p:blipFill>
          <a:blip r:embed="rId2">
            <a:extLst>
              <a:ext uri="{28A0092B-C50C-407E-A947-70E740481C1C}">
                <a14:useLocalDpi xmlns:a14="http://schemas.microsoft.com/office/drawing/2010/main" val="0"/>
              </a:ext>
            </a:extLst>
          </a:blip>
          <a:srcRect l="648" t="8997" r="34044" b="3079"/>
          <a:stretch>
            <a:fillRect/>
          </a:stretch>
        </p:blipFill>
        <p:spPr bwMode="auto">
          <a:xfrm>
            <a:off x="115888" y="920750"/>
            <a:ext cx="5183187" cy="4164013"/>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99CC00"/>
                </a:solidFill>
              </a14:hiddenFill>
            </a:ext>
            <a:ext uri="{AF507438-7753-43E0-B8FC-AC1667EBCBE1}">
              <a14:hiddenEffects xmlns:a14="http://schemas.microsoft.com/office/drawing/2010/main">
                <a:effectLst>
                  <a:outerShdw dist="35921" dir="2700000" algn="ctr" rotWithShape="0">
                    <a:srgbClr val="666600"/>
                  </a:outerShdw>
                </a:effectLst>
              </a14:hiddenEffects>
            </a:ext>
          </a:extLst>
        </p:spPr>
      </p:pic>
      <p:pic>
        <p:nvPicPr>
          <p:cNvPr id="28677" name="Picture 5"/>
          <p:cNvPicPr>
            <a:picLocks noChangeAspect="1" noChangeArrowheads="1"/>
          </p:cNvPicPr>
          <p:nvPr/>
        </p:nvPicPr>
        <p:blipFill>
          <a:blip r:embed="rId3">
            <a:extLst>
              <a:ext uri="{28A0092B-C50C-407E-A947-70E740481C1C}">
                <a14:useLocalDpi xmlns:a14="http://schemas.microsoft.com/office/drawing/2010/main" val="0"/>
              </a:ext>
            </a:extLst>
          </a:blip>
          <a:srcRect l="468" t="8394" r="56091" b="14191"/>
          <a:stretch>
            <a:fillRect/>
          </a:stretch>
        </p:blipFill>
        <p:spPr bwMode="auto">
          <a:xfrm>
            <a:off x="5302250" y="893763"/>
            <a:ext cx="3717925" cy="41910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99CC00"/>
                </a:solidFill>
              </a14:hiddenFill>
            </a:ext>
            <a:ext uri="{AF507438-7753-43E0-B8FC-AC1667EBCBE1}">
              <a14:hiddenEffects xmlns:a14="http://schemas.microsoft.com/office/drawing/2010/main">
                <a:effectLst>
                  <a:outerShdw dist="35921" dir="2700000" algn="ctr" rotWithShape="0">
                    <a:srgbClr val="666600"/>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9798"/>
                                        </p:tgtEl>
                                        <p:attrNameLst>
                                          <p:attrName>style.visibility</p:attrName>
                                        </p:attrNameLst>
                                      </p:cBhvr>
                                      <p:to>
                                        <p:strVal val="visible"/>
                                      </p:to>
                                    </p:set>
                                    <p:animEffect transition="in" filter="blinds(horizontal)">
                                      <p:cBhvr>
                                        <p:cTn id="7" dur="500"/>
                                        <p:tgtEl>
                                          <p:spTgt spid="2897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79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3"/>
          <p:cNvSpPr txBox="1">
            <a:spLocks noChangeArrowheads="1"/>
          </p:cNvSpPr>
          <p:nvPr/>
        </p:nvSpPr>
        <p:spPr bwMode="auto">
          <a:xfrm>
            <a:off x="546100" y="284163"/>
            <a:ext cx="31480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800" b="1">
                <a:latin typeface="Times New Roman" panose="02020603050405020304" pitchFamily="18" charset="0"/>
              </a:rPr>
              <a:t>编程举例：</a:t>
            </a:r>
          </a:p>
        </p:txBody>
      </p:sp>
      <p:grpSp>
        <p:nvGrpSpPr>
          <p:cNvPr id="29699" name="Group 4"/>
          <p:cNvGrpSpPr/>
          <p:nvPr/>
        </p:nvGrpSpPr>
        <p:grpSpPr bwMode="auto">
          <a:xfrm>
            <a:off x="1042988" y="808038"/>
            <a:ext cx="6911975" cy="5861050"/>
            <a:chOff x="1142" y="1014"/>
            <a:chExt cx="3869" cy="2994"/>
          </a:xfrm>
        </p:grpSpPr>
        <p:pic>
          <p:nvPicPr>
            <p:cNvPr id="29700" name="Picture 5"/>
            <p:cNvPicPr>
              <a:picLocks noChangeAspect="1" noChangeArrowheads="1"/>
            </p:cNvPicPr>
            <p:nvPr/>
          </p:nvPicPr>
          <p:blipFill>
            <a:blip r:embed="rId2">
              <a:clrChange>
                <a:clrFrom>
                  <a:srgbClr val="E6E6E6"/>
                </a:clrFrom>
                <a:clrTo>
                  <a:srgbClr val="E6E6E6">
                    <a:alpha val="0"/>
                  </a:srgbClr>
                </a:clrTo>
              </a:clrChange>
              <a:extLst>
                <a:ext uri="{28A0092B-C50C-407E-A947-70E740481C1C}">
                  <a14:useLocalDpi xmlns:a14="http://schemas.microsoft.com/office/drawing/2010/main" val="0"/>
                </a:ext>
              </a:extLst>
            </a:blip>
            <a:srcRect l="3894" b="2316"/>
            <a:stretch>
              <a:fillRect/>
            </a:stretch>
          </p:blipFill>
          <p:spPr bwMode="auto">
            <a:xfrm>
              <a:off x="1655" y="1014"/>
              <a:ext cx="3356" cy="2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AutoShape 6"/>
            <p:cNvSpPr>
              <a:spLocks noChangeArrowheads="1"/>
            </p:cNvSpPr>
            <p:nvPr/>
          </p:nvSpPr>
          <p:spPr bwMode="auto">
            <a:xfrm>
              <a:off x="1142" y="1416"/>
              <a:ext cx="387" cy="123"/>
            </a:xfrm>
            <a:prstGeom prst="rightArrow">
              <a:avLst>
                <a:gd name="adj1" fmla="val 50000"/>
                <a:gd name="adj2" fmla="val 78659"/>
              </a:avLst>
            </a:prstGeom>
            <a:solidFill>
              <a:srgbClr val="FF0000"/>
            </a:solidFill>
            <a:ln w="9525">
              <a:solidFill>
                <a:schemeClr val="tx1"/>
              </a:solidFill>
              <a:miter lim="800000"/>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en-US" sz="2400">
                <a:latin typeface="Times New Roman" panose="02020603050405020304" pitchFamily="18" charset="0"/>
              </a:endParaRPr>
            </a:p>
          </p:txBody>
        </p:sp>
        <p:sp>
          <p:nvSpPr>
            <p:cNvPr id="29702" name="AutoShape 7"/>
            <p:cNvSpPr>
              <a:spLocks noChangeArrowheads="1"/>
            </p:cNvSpPr>
            <p:nvPr/>
          </p:nvSpPr>
          <p:spPr bwMode="auto">
            <a:xfrm>
              <a:off x="1685" y="1992"/>
              <a:ext cx="387" cy="123"/>
            </a:xfrm>
            <a:prstGeom prst="rightArrow">
              <a:avLst>
                <a:gd name="adj1" fmla="val 50000"/>
                <a:gd name="adj2" fmla="val 78659"/>
              </a:avLst>
            </a:prstGeom>
            <a:solidFill>
              <a:srgbClr val="FF0000"/>
            </a:solidFill>
            <a:ln w="9525">
              <a:solidFill>
                <a:schemeClr val="tx1"/>
              </a:solidFill>
              <a:miter lim="800000"/>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en-US" sz="2400">
                <a:latin typeface="Times New Roman" panose="02020603050405020304" pitchFamily="18" charset="0"/>
              </a:endParaRPr>
            </a:p>
          </p:txBody>
        </p:sp>
        <p:sp>
          <p:nvSpPr>
            <p:cNvPr id="29703" name="AutoShape 8"/>
            <p:cNvSpPr>
              <a:spLocks noChangeArrowheads="1"/>
            </p:cNvSpPr>
            <p:nvPr/>
          </p:nvSpPr>
          <p:spPr bwMode="auto">
            <a:xfrm>
              <a:off x="1693" y="2379"/>
              <a:ext cx="387" cy="123"/>
            </a:xfrm>
            <a:prstGeom prst="rightArrow">
              <a:avLst>
                <a:gd name="adj1" fmla="val 50000"/>
                <a:gd name="adj2" fmla="val 78659"/>
              </a:avLst>
            </a:prstGeom>
            <a:solidFill>
              <a:srgbClr val="FF0000"/>
            </a:solidFill>
            <a:ln w="9525">
              <a:solidFill>
                <a:schemeClr val="tx1"/>
              </a:solidFill>
              <a:miter lim="800000"/>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en-US" sz="2400">
                <a:latin typeface="Times New Roman" panose="02020603050405020304" pitchFamily="18" charset="0"/>
              </a:endParaRPr>
            </a:p>
          </p:txBody>
        </p:sp>
        <p:sp>
          <p:nvSpPr>
            <p:cNvPr id="29704" name="AutoShape 9"/>
            <p:cNvSpPr>
              <a:spLocks noChangeArrowheads="1"/>
            </p:cNvSpPr>
            <p:nvPr/>
          </p:nvSpPr>
          <p:spPr bwMode="auto">
            <a:xfrm>
              <a:off x="1159" y="1038"/>
              <a:ext cx="387" cy="123"/>
            </a:xfrm>
            <a:prstGeom prst="rightArrow">
              <a:avLst>
                <a:gd name="adj1" fmla="val 50000"/>
                <a:gd name="adj2" fmla="val 78659"/>
              </a:avLst>
            </a:prstGeom>
            <a:solidFill>
              <a:srgbClr val="FF0000"/>
            </a:solidFill>
            <a:ln w="9525">
              <a:solidFill>
                <a:schemeClr val="tx1"/>
              </a:solidFill>
              <a:miter lim="800000"/>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en-US" sz="2400">
                <a:latin typeface="Times New Roman" panose="02020603050405020304" pitchFamily="18" charset="0"/>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内容占位符 1"/>
          <p:cNvSpPr>
            <a:spLocks noGrp="1"/>
          </p:cNvSpPr>
          <p:nvPr>
            <p:ph idx="4294967295"/>
          </p:nvPr>
        </p:nvSpPr>
        <p:spPr>
          <a:xfrm>
            <a:off x="450850" y="549275"/>
            <a:ext cx="8229600" cy="4402138"/>
          </a:xfrm>
        </p:spPr>
        <p:txBody>
          <a:bodyPr/>
          <a:lstStyle/>
          <a:p>
            <a:pPr indent="20955" eaLnBrk="1" hangingPunct="1">
              <a:lnSpc>
                <a:spcPct val="150000"/>
              </a:lnSpc>
              <a:buFont typeface="Wingdings" panose="05000000000000000000" pitchFamily="2" charset="2"/>
              <a:buNone/>
              <a:defRPr/>
            </a:pPr>
            <a:r>
              <a:rPr lang="zh-CN" altLang="en-US"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四、数据的存储类型</a:t>
            </a:r>
          </a:p>
          <a:p>
            <a:pPr indent="12700" eaLnBrk="1" fontAlgn="b" hangingPunct="1">
              <a:lnSpc>
                <a:spcPct val="150000"/>
              </a:lnSpc>
              <a:buFont typeface="Wingdings" panose="05000000000000000000" pitchFamily="2" charset="2"/>
              <a:buNone/>
              <a:defRPr/>
            </a:pPr>
            <a:r>
              <a:rPr lang="zh-CN" altLang="en-US" sz="2800" dirty="0">
                <a:effectLst>
                  <a:outerShdw blurRad="38100" dist="38100" dir="2700000" algn="tl">
                    <a:srgbClr val="000000">
                      <a:alpha val="43137"/>
                    </a:srgbClr>
                  </a:outerShdw>
                </a:effectLst>
              </a:rPr>
              <a:t>	</a:t>
            </a:r>
            <a:r>
              <a:rPr lang="en-US" altLang="zh-CN" sz="2800" b="1" dirty="0">
                <a:effectLst>
                  <a:outerShdw blurRad="38100" dist="38100" dir="2700000" algn="tl">
                    <a:srgbClr val="000000">
                      <a:alpha val="43137"/>
                    </a:srgbClr>
                  </a:outerShdw>
                </a:effectLst>
                <a:latin typeface="Times New Roman" panose="02020603050405020304" pitchFamily="18" charset="0"/>
              </a:rPr>
              <a:t>C51</a:t>
            </a:r>
            <a:r>
              <a:rPr lang="zh-CN" altLang="en-US" sz="2800" b="1" dirty="0">
                <a:effectLst>
                  <a:outerShdw blurRad="38100" dist="38100" dir="2700000" algn="tl">
                    <a:srgbClr val="000000">
                      <a:alpha val="43137"/>
                    </a:srgbClr>
                  </a:outerShdw>
                </a:effectLst>
                <a:latin typeface="Times New Roman" panose="02020603050405020304" pitchFamily="18" charset="0"/>
              </a:rPr>
              <a:t>完全支持</a:t>
            </a:r>
            <a:r>
              <a:rPr lang="en-US" altLang="zh-CN" sz="2800" b="1" dirty="0">
                <a:effectLst>
                  <a:outerShdw blurRad="38100" dist="38100" dir="2700000" algn="tl">
                    <a:srgbClr val="000000">
                      <a:alpha val="43137"/>
                    </a:srgbClr>
                  </a:outerShdw>
                </a:effectLst>
                <a:latin typeface="Times New Roman" panose="02020603050405020304" pitchFamily="18" charset="0"/>
              </a:rPr>
              <a:t>51</a:t>
            </a:r>
            <a:r>
              <a:rPr lang="zh-CN" altLang="en-US" sz="2800" b="1" dirty="0">
                <a:effectLst>
                  <a:outerShdw blurRad="38100" dist="38100" dir="2700000" algn="tl">
                    <a:srgbClr val="000000">
                      <a:alpha val="43137"/>
                    </a:srgbClr>
                  </a:outerShdw>
                </a:effectLst>
                <a:latin typeface="Times New Roman" panose="02020603050405020304" pitchFamily="18" charset="0"/>
              </a:rPr>
              <a:t>单片机硬件系统的所有部分。在</a:t>
            </a:r>
            <a:r>
              <a:rPr lang="en-US" altLang="zh-CN" sz="2800" b="1" dirty="0">
                <a:effectLst>
                  <a:outerShdw blurRad="38100" dist="38100" dir="2700000" algn="tl">
                    <a:srgbClr val="000000">
                      <a:alpha val="43137"/>
                    </a:srgbClr>
                  </a:outerShdw>
                </a:effectLst>
                <a:latin typeface="Times New Roman" panose="02020603050405020304" pitchFamily="18" charset="0"/>
              </a:rPr>
              <a:t>51</a:t>
            </a:r>
            <a:r>
              <a:rPr lang="zh-CN" altLang="en-US" sz="2800" b="1" dirty="0">
                <a:effectLst>
                  <a:outerShdw blurRad="38100" dist="38100" dir="2700000" algn="tl">
                    <a:srgbClr val="000000">
                      <a:alpha val="43137"/>
                    </a:srgbClr>
                  </a:outerShdw>
                </a:effectLst>
                <a:latin typeface="Times New Roman" panose="02020603050405020304" pitchFamily="18" charset="0"/>
              </a:rPr>
              <a:t>单片机中，程序存储器与数据存储器是完全分开的，且分为</a:t>
            </a:r>
            <a:r>
              <a:rPr lang="zh-CN" altLang="en-US" sz="2800" b="1" dirty="0">
                <a:solidFill>
                  <a:srgbClr val="3333CC"/>
                </a:solidFill>
                <a:effectLst>
                  <a:outerShdw blurRad="38100" dist="38100" dir="2700000" algn="tl">
                    <a:srgbClr val="000000">
                      <a:alpha val="43137"/>
                    </a:srgbClr>
                  </a:outerShdw>
                </a:effectLst>
                <a:latin typeface="Times New Roman" panose="02020603050405020304" pitchFamily="18" charset="0"/>
              </a:rPr>
              <a:t>片内</a:t>
            </a:r>
            <a:r>
              <a:rPr lang="zh-CN" altLang="en-US" sz="2800" b="1" dirty="0">
                <a:effectLst>
                  <a:outerShdw blurRad="38100" dist="38100" dir="2700000" algn="tl">
                    <a:srgbClr val="000000">
                      <a:alpha val="43137"/>
                    </a:srgbClr>
                  </a:outerShdw>
                </a:effectLst>
                <a:latin typeface="Times New Roman" panose="02020603050405020304" pitchFamily="18" charset="0"/>
              </a:rPr>
              <a:t>和</a:t>
            </a:r>
            <a:r>
              <a:rPr lang="zh-CN" altLang="en-US" sz="2800" b="1" dirty="0">
                <a:solidFill>
                  <a:srgbClr val="3333CC"/>
                </a:solidFill>
                <a:effectLst>
                  <a:outerShdw blurRad="38100" dist="38100" dir="2700000" algn="tl">
                    <a:srgbClr val="000000">
                      <a:alpha val="43137"/>
                    </a:srgbClr>
                  </a:outerShdw>
                </a:effectLst>
                <a:latin typeface="Times New Roman" panose="02020603050405020304" pitchFamily="18" charset="0"/>
              </a:rPr>
              <a:t>片外</a:t>
            </a:r>
            <a:r>
              <a:rPr lang="zh-CN" altLang="en-US" sz="2800" b="1" dirty="0">
                <a:effectLst>
                  <a:outerShdw blurRad="38100" dist="38100" dir="2700000" algn="tl">
                    <a:srgbClr val="000000">
                      <a:alpha val="43137"/>
                    </a:srgbClr>
                  </a:outerShdw>
                </a:effectLst>
                <a:latin typeface="Times New Roman" panose="02020603050405020304" pitchFamily="18" charset="0"/>
              </a:rPr>
              <a:t>两个独立的寻址空间，特殊功能寄存器与片内</a:t>
            </a:r>
            <a:r>
              <a:rPr lang="en-US" altLang="zh-CN" sz="2800" b="1" dirty="0">
                <a:effectLst>
                  <a:outerShdw blurRad="38100" dist="38100" dir="2700000" algn="tl">
                    <a:srgbClr val="000000">
                      <a:alpha val="43137"/>
                    </a:srgbClr>
                  </a:outerShdw>
                </a:effectLst>
                <a:latin typeface="Times New Roman" panose="02020603050405020304" pitchFamily="18" charset="0"/>
              </a:rPr>
              <a:t>RAM</a:t>
            </a:r>
            <a:r>
              <a:rPr lang="zh-CN" altLang="en-US" sz="2800" b="1" dirty="0">
                <a:effectLst>
                  <a:outerShdw blurRad="38100" dist="38100" dir="2700000" algn="tl">
                    <a:srgbClr val="000000">
                      <a:alpha val="43137"/>
                    </a:srgbClr>
                  </a:outerShdw>
                </a:effectLst>
                <a:latin typeface="Times New Roman" panose="02020603050405020304" pitchFamily="18" charset="0"/>
              </a:rPr>
              <a:t>统一编址，数据存储器与</a:t>
            </a:r>
            <a:r>
              <a:rPr lang="en-US" altLang="zh-CN" sz="2800" b="1" dirty="0">
                <a:effectLst>
                  <a:outerShdw blurRad="38100" dist="38100" dir="2700000" algn="tl">
                    <a:srgbClr val="000000">
                      <a:alpha val="43137"/>
                    </a:srgbClr>
                  </a:outerShdw>
                </a:effectLst>
                <a:latin typeface="Times New Roman" panose="02020603050405020304" pitchFamily="18" charset="0"/>
              </a:rPr>
              <a:t>I/O</a:t>
            </a:r>
            <a:r>
              <a:rPr lang="zh-CN" altLang="en-US" sz="2800" b="1" dirty="0">
                <a:effectLst>
                  <a:outerShdw blurRad="38100" dist="38100" dir="2700000" algn="tl">
                    <a:srgbClr val="000000">
                      <a:alpha val="43137"/>
                    </a:srgbClr>
                  </a:outerShdw>
                </a:effectLst>
                <a:latin typeface="Times New Roman" panose="02020603050405020304" pitchFamily="18" charset="0"/>
              </a:rPr>
              <a:t>端口统一编址。</a:t>
            </a:r>
            <a:r>
              <a:rPr lang="en-US" altLang="zh-CN" sz="2800" b="1" dirty="0">
                <a:solidFill>
                  <a:srgbClr val="3333CC"/>
                </a:solidFill>
                <a:effectLst>
                  <a:outerShdw blurRad="38100" dist="38100" dir="2700000" algn="tl">
                    <a:srgbClr val="000000">
                      <a:alpha val="43137"/>
                    </a:srgbClr>
                  </a:outerShdw>
                </a:effectLst>
                <a:latin typeface="Times New Roman" panose="02020603050405020304" pitchFamily="18" charset="0"/>
              </a:rPr>
              <a:t>C51</a:t>
            </a:r>
            <a:r>
              <a:rPr lang="zh-CN" altLang="en-US" sz="2800" b="1" dirty="0">
                <a:solidFill>
                  <a:srgbClr val="3333CC"/>
                </a:solidFill>
                <a:effectLst>
                  <a:outerShdw blurRad="38100" dist="38100" dir="2700000" algn="tl">
                    <a:srgbClr val="000000">
                      <a:alpha val="43137"/>
                    </a:srgbClr>
                  </a:outerShdw>
                </a:effectLst>
                <a:latin typeface="Times New Roman" panose="02020603050405020304" pitchFamily="18" charset="0"/>
              </a:rPr>
              <a:t>编译器</a:t>
            </a:r>
            <a:r>
              <a:rPr lang="zh-CN" altLang="en-US" sz="2800" b="1" dirty="0">
                <a:effectLst>
                  <a:outerShdw blurRad="38100" dist="38100" dir="2700000" algn="tl">
                    <a:srgbClr val="000000">
                      <a:alpha val="43137"/>
                    </a:srgbClr>
                  </a:outerShdw>
                </a:effectLst>
                <a:latin typeface="Times New Roman" panose="02020603050405020304" pitchFamily="18" charset="0"/>
              </a:rPr>
              <a:t>通过将变量、常量定义成不同存储类型的方法，将它们定义在不同的存储区中。</a:t>
            </a:r>
          </a:p>
        </p:txBody>
      </p:sp>
      <p:sp>
        <p:nvSpPr>
          <p:cNvPr id="30723" name="灯片编号占位符 2"/>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0"/>
              </a:spcBef>
              <a:buClrTx/>
              <a:buSzTx/>
              <a:buFontTx/>
              <a:buNone/>
            </a:pPr>
            <a:fld id="{752DFBF2-5C15-4800-BC61-371151B237CD}" type="slidenum">
              <a:rPr lang="en-US" altLang="zh-CN" sz="1200">
                <a:latin typeface="Arial Black" panose="020B0A04020102020204" pitchFamily="34" charset="0"/>
                <a:cs typeface="Arial" panose="020B0604020202020204" pitchFamily="34" charset="0"/>
              </a:rPr>
              <a:t>40</a:t>
            </a:fld>
            <a:endParaRPr lang="en-US" altLang="zh-CN" sz="1200">
              <a:latin typeface="Arial Black" panose="020B0A04020102020204" pitchFamily="34" charset="0"/>
              <a:cs typeface="Arial" panose="020B060402020202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2"/>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0"/>
              </a:spcBef>
              <a:buClrTx/>
              <a:buSzTx/>
              <a:buFontTx/>
              <a:buNone/>
            </a:pPr>
            <a:fld id="{CD707E1E-819A-4CB5-9151-72EBEC93475A}" type="slidenum">
              <a:rPr lang="en-US" altLang="zh-CN" sz="1200">
                <a:latin typeface="Arial Black" panose="020B0A04020102020204" pitchFamily="34" charset="0"/>
                <a:cs typeface="Arial" panose="020B0604020202020204" pitchFamily="34" charset="0"/>
              </a:rPr>
              <a:t>41</a:t>
            </a:fld>
            <a:endParaRPr lang="en-US" altLang="zh-CN" sz="1200">
              <a:latin typeface="Arial Black" panose="020B0A04020102020204" pitchFamily="34" charset="0"/>
              <a:cs typeface="Arial" panose="020B0604020202020204" pitchFamily="34" charset="0"/>
            </a:endParaRPr>
          </a:p>
        </p:txBody>
      </p:sp>
      <p:pic>
        <p:nvPicPr>
          <p:cNvPr id="31747" name="Picture 3" descr="0000000"/>
          <p:cNvPicPr>
            <a:picLocks noChangeAspect="1" noChangeArrowheads="1"/>
          </p:cNvPicPr>
          <p:nvPr/>
        </p:nvPicPr>
        <p:blipFill>
          <a:blip r:embed="rId2">
            <a:lum bright="-24000" contrast="36000"/>
            <a:extLst>
              <a:ext uri="{28A0092B-C50C-407E-A947-70E740481C1C}">
                <a14:useLocalDpi xmlns:a14="http://schemas.microsoft.com/office/drawing/2010/main" val="0"/>
              </a:ext>
            </a:extLst>
          </a:blip>
          <a:srcRect/>
          <a:stretch>
            <a:fillRect/>
          </a:stretch>
        </p:blipFill>
        <p:spPr bwMode="auto">
          <a:xfrm>
            <a:off x="0" y="449263"/>
            <a:ext cx="9144000" cy="584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2" name="Text Box 8"/>
          <p:cNvSpPr txBox="1">
            <a:spLocks noChangeArrowheads="1"/>
          </p:cNvSpPr>
          <p:nvPr/>
        </p:nvSpPr>
        <p:spPr bwMode="auto">
          <a:xfrm>
            <a:off x="1116013" y="188913"/>
            <a:ext cx="7343775" cy="522287"/>
          </a:xfrm>
          <a:prstGeom prst="rect">
            <a:avLst/>
          </a:prstGeom>
          <a:solidFill>
            <a:schemeClr val="bg1"/>
          </a:solidFill>
          <a:ln>
            <a:noFill/>
          </a:ln>
          <a:effectLst/>
        </p:spPr>
        <p:txBody>
          <a:bodyPr>
            <a:spAutoFit/>
          </a:bodyPr>
          <a:lstStyle/>
          <a:p>
            <a:pPr eaLnBrk="1" hangingPunct="1">
              <a:spcBef>
                <a:spcPct val="50000"/>
              </a:spcBef>
              <a:defRPr/>
            </a:pPr>
            <a:r>
              <a:rPr lang="en-US" altLang="zh-CN" b="1" dirty="0">
                <a:solidFill>
                  <a:srgbClr val="0000FF"/>
                </a:solidFill>
                <a:effectLst>
                  <a:outerShdw blurRad="38100" dist="38100" dir="2700000" algn="tl">
                    <a:srgbClr val="000000">
                      <a:alpha val="43137"/>
                    </a:srgbClr>
                  </a:outerShdw>
                </a:effectLst>
              </a:rPr>
              <a:t>C51</a:t>
            </a:r>
            <a:r>
              <a:rPr lang="zh-CN" altLang="en-US" b="1" dirty="0">
                <a:solidFill>
                  <a:srgbClr val="0000FF"/>
                </a:solidFill>
                <a:effectLst>
                  <a:outerShdw blurRad="38100" dist="38100" dir="2700000" algn="tl">
                    <a:srgbClr val="000000">
                      <a:alpha val="43137"/>
                    </a:srgbClr>
                  </a:outerShdw>
                </a:effectLst>
              </a:rPr>
              <a:t>存储类型与</a:t>
            </a:r>
            <a:r>
              <a:rPr lang="en-US" altLang="zh-CN" b="1" dirty="0">
                <a:solidFill>
                  <a:srgbClr val="0000FF"/>
                </a:solidFill>
                <a:effectLst>
                  <a:outerShdw blurRad="38100" dist="38100" dir="2700000" algn="tl">
                    <a:srgbClr val="000000">
                      <a:alpha val="43137"/>
                    </a:srgbClr>
                  </a:outerShdw>
                </a:effectLst>
              </a:rPr>
              <a:t>MCS-51</a:t>
            </a:r>
            <a:r>
              <a:rPr lang="zh-CN" altLang="en-US" b="1" dirty="0">
                <a:solidFill>
                  <a:srgbClr val="0000FF"/>
                </a:solidFill>
                <a:effectLst>
                  <a:outerShdw blurRad="38100" dist="38100" dir="2700000" algn="tl">
                    <a:srgbClr val="000000">
                      <a:alpha val="43137"/>
                    </a:srgbClr>
                  </a:outerShdw>
                </a:effectLst>
              </a:rPr>
              <a:t>存储空间的对应关系</a:t>
            </a:r>
          </a:p>
        </p:txBody>
      </p:sp>
      <p:sp>
        <p:nvSpPr>
          <p:cNvPr id="2" name="矩形 1"/>
          <p:cNvSpPr/>
          <p:nvPr/>
        </p:nvSpPr>
        <p:spPr>
          <a:xfrm>
            <a:off x="2137861" y="2060848"/>
            <a:ext cx="1080120" cy="36004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696572" y="3754923"/>
            <a:ext cx="1763216" cy="338554"/>
          </a:xfrm>
          <a:prstGeom prst="rect">
            <a:avLst/>
          </a:prstGeom>
          <a:noFill/>
        </p:spPr>
        <p:txBody>
          <a:bodyPr wrap="square" rtlCol="0">
            <a:spAutoFit/>
          </a:bodyPr>
          <a:lstStyle/>
          <a:p>
            <a:r>
              <a:rPr lang="zh-CN" altLang="en-US" sz="1600" dirty="0">
                <a:solidFill>
                  <a:srgbClr val="FF0000"/>
                </a:solidFill>
              </a:rPr>
              <a:t>只有</a:t>
            </a:r>
            <a:r>
              <a:rPr lang="en-US" altLang="zh-CN" sz="1600" dirty="0">
                <a:solidFill>
                  <a:srgbClr val="FF0000"/>
                </a:solidFill>
              </a:rPr>
              <a:t>52</a:t>
            </a:r>
            <a:r>
              <a:rPr lang="zh-CN" altLang="en-US" sz="1600" dirty="0">
                <a:solidFill>
                  <a:srgbClr val="FF0000"/>
                </a:solidFill>
              </a:rPr>
              <a:t>系列才有</a:t>
            </a:r>
          </a:p>
        </p:txBody>
      </p:sp>
      <p:sp>
        <p:nvSpPr>
          <p:cNvPr id="7" name="文本框 6"/>
          <p:cNvSpPr txBox="1"/>
          <p:nvPr/>
        </p:nvSpPr>
        <p:spPr>
          <a:xfrm>
            <a:off x="5489850" y="1722354"/>
            <a:ext cx="872342" cy="338554"/>
          </a:xfrm>
          <a:prstGeom prst="rect">
            <a:avLst/>
          </a:prstGeom>
          <a:solidFill>
            <a:schemeClr val="bg1">
              <a:lumMod val="95000"/>
            </a:schemeClr>
          </a:solidFill>
        </p:spPr>
        <p:txBody>
          <a:bodyPr wrap="square" rtlCol="0">
            <a:spAutoFit/>
          </a:bodyPr>
          <a:lstStyle/>
          <a:p>
            <a:r>
              <a:rPr lang="en-US" altLang="zh-CN" sz="1600" dirty="0">
                <a:solidFill>
                  <a:srgbClr val="FF0000"/>
                </a:solidFill>
              </a:rPr>
              <a:t>00-7FH</a:t>
            </a:r>
            <a:endParaRPr lang="zh-CN" altLang="en-US" sz="1600" dirty="0">
              <a:solidFill>
                <a:srgbClr val="FF0000"/>
              </a:solidFill>
            </a:endParaRPr>
          </a:p>
        </p:txBody>
      </p:sp>
      <p:sp>
        <p:nvSpPr>
          <p:cNvPr id="8" name="文本框 7"/>
          <p:cNvSpPr txBox="1"/>
          <p:nvPr/>
        </p:nvSpPr>
        <p:spPr>
          <a:xfrm>
            <a:off x="5489850" y="2550416"/>
            <a:ext cx="872342" cy="338554"/>
          </a:xfrm>
          <a:prstGeom prst="rect">
            <a:avLst/>
          </a:prstGeom>
          <a:solidFill>
            <a:schemeClr val="bg1">
              <a:lumMod val="95000"/>
            </a:schemeClr>
          </a:solidFill>
        </p:spPr>
        <p:txBody>
          <a:bodyPr wrap="square" rtlCol="0">
            <a:spAutoFit/>
          </a:bodyPr>
          <a:lstStyle/>
          <a:p>
            <a:r>
              <a:rPr lang="en-US" altLang="zh-CN" sz="1600" dirty="0">
                <a:solidFill>
                  <a:srgbClr val="FF0000"/>
                </a:solidFill>
              </a:rPr>
              <a:t>20-2FH</a:t>
            </a:r>
            <a:endParaRPr lang="zh-CN" altLang="en-US" sz="1600" dirty="0">
              <a:solidFill>
                <a:srgbClr val="FF0000"/>
              </a:solidFill>
            </a:endParaRPr>
          </a:p>
        </p:txBody>
      </p:sp>
      <p:sp>
        <p:nvSpPr>
          <p:cNvPr id="9" name="文本框 8"/>
          <p:cNvSpPr txBox="1"/>
          <p:nvPr/>
        </p:nvSpPr>
        <p:spPr>
          <a:xfrm>
            <a:off x="5489294" y="3754923"/>
            <a:ext cx="872342" cy="338554"/>
          </a:xfrm>
          <a:prstGeom prst="rect">
            <a:avLst/>
          </a:prstGeom>
          <a:solidFill>
            <a:schemeClr val="bg1">
              <a:lumMod val="95000"/>
            </a:schemeClr>
          </a:solidFill>
        </p:spPr>
        <p:txBody>
          <a:bodyPr wrap="square" rtlCol="0">
            <a:spAutoFit/>
          </a:bodyPr>
          <a:lstStyle/>
          <a:p>
            <a:r>
              <a:rPr lang="en-US" altLang="zh-CN" sz="1600" dirty="0">
                <a:solidFill>
                  <a:srgbClr val="FF0000"/>
                </a:solidFill>
              </a:rPr>
              <a:t>00-FFH</a:t>
            </a:r>
            <a:endParaRPr lang="zh-CN" altLang="en-US" sz="1600" dirty="0">
              <a:solidFill>
                <a:srgbClr val="FF0000"/>
              </a:solidFill>
            </a:endParaRPr>
          </a:p>
        </p:txBody>
      </p:sp>
      <p:sp>
        <p:nvSpPr>
          <p:cNvPr id="10" name="文本框 9"/>
          <p:cNvSpPr txBox="1"/>
          <p:nvPr/>
        </p:nvSpPr>
        <p:spPr>
          <a:xfrm>
            <a:off x="6676843" y="2550416"/>
            <a:ext cx="2298104" cy="338554"/>
          </a:xfrm>
          <a:prstGeom prst="rect">
            <a:avLst/>
          </a:prstGeom>
          <a:noFill/>
        </p:spPr>
        <p:txBody>
          <a:bodyPr wrap="square" rtlCol="0">
            <a:spAutoFit/>
          </a:bodyPr>
          <a:lstStyle/>
          <a:p>
            <a:r>
              <a:rPr lang="zh-CN" altLang="en-US" sz="1600" dirty="0">
                <a:solidFill>
                  <a:srgbClr val="FF0000"/>
                </a:solidFill>
              </a:rPr>
              <a:t>允许位与字节混合访问</a:t>
            </a:r>
          </a:p>
        </p:txBody>
      </p:sp>
      <p:sp>
        <p:nvSpPr>
          <p:cNvPr id="11" name="文本框 10"/>
          <p:cNvSpPr txBox="1"/>
          <p:nvPr/>
        </p:nvSpPr>
        <p:spPr>
          <a:xfrm>
            <a:off x="6604044" y="1722294"/>
            <a:ext cx="2298104" cy="584775"/>
          </a:xfrm>
          <a:prstGeom prst="rect">
            <a:avLst/>
          </a:prstGeom>
          <a:noFill/>
        </p:spPr>
        <p:txBody>
          <a:bodyPr wrap="square" rtlCol="0">
            <a:spAutoFit/>
          </a:bodyPr>
          <a:lstStyle/>
          <a:p>
            <a:r>
              <a:rPr lang="zh-CN" altLang="en-US" sz="1600" dirty="0">
                <a:solidFill>
                  <a:srgbClr val="FF0000"/>
                </a:solidFill>
              </a:rPr>
              <a:t>常用变量或临时变量存储区</a:t>
            </a:r>
          </a:p>
        </p:txBody>
      </p:sp>
      <p:sp>
        <p:nvSpPr>
          <p:cNvPr id="12" name="文本框 11"/>
          <p:cNvSpPr txBox="1"/>
          <p:nvPr/>
        </p:nvSpPr>
        <p:spPr>
          <a:xfrm>
            <a:off x="6696572" y="4474474"/>
            <a:ext cx="2205576" cy="338554"/>
          </a:xfrm>
          <a:prstGeom prst="rect">
            <a:avLst/>
          </a:prstGeom>
          <a:noFill/>
        </p:spPr>
        <p:txBody>
          <a:bodyPr wrap="square" rtlCol="0">
            <a:spAutoFit/>
          </a:bodyPr>
          <a:lstStyle/>
          <a:p>
            <a:r>
              <a:rPr lang="zh-CN" altLang="en-US" sz="1600" dirty="0">
                <a:solidFill>
                  <a:srgbClr val="FF0000"/>
                </a:solidFill>
              </a:rPr>
              <a:t>常用于访问外部设备</a:t>
            </a:r>
          </a:p>
        </p:txBody>
      </p:sp>
      <p:sp>
        <p:nvSpPr>
          <p:cNvPr id="13" name="文本框 12"/>
          <p:cNvSpPr txBox="1"/>
          <p:nvPr/>
        </p:nvSpPr>
        <p:spPr>
          <a:xfrm>
            <a:off x="6613908" y="5290535"/>
            <a:ext cx="2370903" cy="523220"/>
          </a:xfrm>
          <a:prstGeom prst="rect">
            <a:avLst/>
          </a:prstGeom>
          <a:noFill/>
        </p:spPr>
        <p:txBody>
          <a:bodyPr wrap="square" rtlCol="0">
            <a:spAutoFit/>
          </a:bodyPr>
          <a:lstStyle/>
          <a:p>
            <a:r>
              <a:rPr lang="zh-CN" altLang="en-US" sz="1400" dirty="0">
                <a:solidFill>
                  <a:srgbClr val="FF0000"/>
                </a:solidFill>
              </a:rPr>
              <a:t>存放不常用的变量或待处理的数据</a:t>
            </a:r>
          </a:p>
        </p:txBody>
      </p:sp>
      <p:sp>
        <p:nvSpPr>
          <p:cNvPr id="14" name="文本框 13"/>
          <p:cNvSpPr txBox="1"/>
          <p:nvPr/>
        </p:nvSpPr>
        <p:spPr>
          <a:xfrm>
            <a:off x="6553200" y="5813755"/>
            <a:ext cx="2494545" cy="338554"/>
          </a:xfrm>
          <a:prstGeom prst="rect">
            <a:avLst/>
          </a:prstGeom>
          <a:noFill/>
        </p:spPr>
        <p:txBody>
          <a:bodyPr wrap="square" rtlCol="0">
            <a:spAutoFit/>
          </a:bodyPr>
          <a:lstStyle/>
          <a:p>
            <a:r>
              <a:rPr lang="zh-CN" altLang="en-US" sz="1600" dirty="0">
                <a:solidFill>
                  <a:srgbClr val="FF0000"/>
                </a:solidFill>
              </a:rPr>
              <a:t>存放数据表格等固定信息</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ChangeArrowheads="1"/>
          </p:cNvSpPr>
          <p:nvPr/>
        </p:nvSpPr>
        <p:spPr bwMode="auto">
          <a:xfrm>
            <a:off x="706438" y="420688"/>
            <a:ext cx="7848600" cy="954087"/>
          </a:xfrm>
          <a:prstGeom prst="rect">
            <a:avLst/>
          </a:prstGeom>
          <a:noFill/>
          <a:ln>
            <a:noFill/>
          </a:ln>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defRPr/>
            </a:pPr>
            <a:r>
              <a:rPr lang="zh-CN" altLang="en-US" sz="2800" b="1" dirty="0">
                <a:effectLst>
                  <a:outerShdw blurRad="38100" dist="38100" dir="2700000" algn="tl">
                    <a:srgbClr val="000000">
                      <a:alpha val="43137"/>
                    </a:srgbClr>
                  </a:outerShdw>
                </a:effectLst>
              </a:rPr>
              <a:t>存储类型体现了变量的存放区域。</a:t>
            </a:r>
            <a:r>
              <a:rPr lang="en-US" altLang="zh-CN" sz="2800" b="1" dirty="0">
                <a:effectLst>
                  <a:outerShdw blurRad="38100" dist="38100" dir="2700000" algn="tl">
                    <a:srgbClr val="000000">
                      <a:alpha val="43137"/>
                    </a:srgbClr>
                  </a:outerShdw>
                </a:effectLst>
              </a:rPr>
              <a:t>51</a:t>
            </a:r>
            <a:r>
              <a:rPr lang="zh-CN" altLang="en-US" sz="2800" b="1" dirty="0">
                <a:effectLst>
                  <a:outerShdw blurRad="38100" dist="38100" dir="2700000" algn="tl">
                    <a:srgbClr val="000000">
                      <a:alpha val="43137"/>
                    </a:srgbClr>
                  </a:outerShdw>
                </a:effectLst>
              </a:rPr>
              <a:t>系列单片机共有</a:t>
            </a:r>
            <a:r>
              <a:rPr lang="en-US" altLang="zh-CN" sz="2800" b="1" dirty="0">
                <a:effectLst>
                  <a:outerShdw blurRad="38100" dist="38100" dir="2700000" algn="tl">
                    <a:srgbClr val="000000">
                      <a:alpha val="43137"/>
                    </a:srgbClr>
                  </a:outerShdw>
                </a:effectLst>
              </a:rPr>
              <a:t>6</a:t>
            </a:r>
            <a:r>
              <a:rPr lang="zh-CN" altLang="en-US" sz="2800" b="1" dirty="0">
                <a:effectLst>
                  <a:outerShdw blurRad="38100" dist="38100" dir="2700000" algn="tl">
                    <a:srgbClr val="000000">
                      <a:alpha val="43137"/>
                    </a:srgbClr>
                  </a:outerShdw>
                </a:effectLst>
              </a:rPr>
              <a:t>个存储类型（分布在</a:t>
            </a:r>
            <a:r>
              <a:rPr lang="en-US" altLang="zh-CN" sz="2800" b="1" dirty="0">
                <a:effectLst>
                  <a:outerShdw blurRad="38100" dist="38100" dir="2700000" algn="tl">
                    <a:srgbClr val="000000">
                      <a:alpha val="43137"/>
                    </a:srgbClr>
                  </a:outerShdw>
                </a:effectLst>
              </a:rPr>
              <a:t>3</a:t>
            </a:r>
            <a:r>
              <a:rPr lang="zh-CN" altLang="en-US" sz="2800" b="1" dirty="0">
                <a:effectLst>
                  <a:outerShdw blurRad="38100" dist="38100" dir="2700000" algn="tl">
                    <a:srgbClr val="000000">
                      <a:alpha val="43137"/>
                    </a:srgbClr>
                  </a:outerShdw>
                </a:effectLst>
              </a:rPr>
              <a:t>个逻辑存储空间中）。</a:t>
            </a:r>
          </a:p>
        </p:txBody>
      </p:sp>
      <p:grpSp>
        <p:nvGrpSpPr>
          <p:cNvPr id="1291268" name="Group 4"/>
          <p:cNvGrpSpPr/>
          <p:nvPr/>
        </p:nvGrpSpPr>
        <p:grpSpPr bwMode="auto">
          <a:xfrm>
            <a:off x="0" y="4883150"/>
            <a:ext cx="1231900" cy="982663"/>
            <a:chOff x="0" y="2730"/>
            <a:chExt cx="776" cy="619"/>
          </a:xfrm>
        </p:grpSpPr>
        <p:sp>
          <p:nvSpPr>
            <p:cNvPr id="32793" name="AutoShape 5"/>
            <p:cNvSpPr/>
            <p:nvPr/>
          </p:nvSpPr>
          <p:spPr bwMode="auto">
            <a:xfrm>
              <a:off x="639" y="2730"/>
              <a:ext cx="137" cy="619"/>
            </a:xfrm>
            <a:prstGeom prst="leftBrace">
              <a:avLst>
                <a:gd name="adj1" fmla="val 37652"/>
                <a:gd name="adj2" fmla="val 50000"/>
              </a:avLst>
            </a:prstGeom>
            <a:noFill/>
            <a:ln w="34925">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en-US" sz="2400">
                <a:latin typeface="Times New Roman" panose="02020603050405020304" pitchFamily="18" charset="0"/>
              </a:endParaRPr>
            </a:p>
          </p:txBody>
        </p:sp>
        <p:sp>
          <p:nvSpPr>
            <p:cNvPr id="32794" name="Text Box 6"/>
            <p:cNvSpPr txBox="1">
              <a:spLocks noChangeArrowheads="1"/>
            </p:cNvSpPr>
            <p:nvPr/>
          </p:nvSpPr>
          <p:spPr bwMode="auto">
            <a:xfrm>
              <a:off x="0" y="2893"/>
              <a:ext cx="71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1" lang="en-US" altLang="zh-CN" sz="2400" b="1">
                  <a:solidFill>
                    <a:srgbClr val="FF3300"/>
                  </a:solidFill>
                  <a:latin typeface="Times New Roman" panose="02020603050405020304" pitchFamily="18" charset="0"/>
                </a:rPr>
                <a:t>data</a:t>
              </a:r>
              <a:r>
                <a:rPr kumimoji="1" lang="zh-CN" altLang="en-US" sz="2400">
                  <a:latin typeface="Times New Roman" panose="02020603050405020304" pitchFamily="18" charset="0"/>
                </a:rPr>
                <a:t>区</a:t>
              </a:r>
            </a:p>
          </p:txBody>
        </p:sp>
      </p:grpSp>
      <p:grpSp>
        <p:nvGrpSpPr>
          <p:cNvPr id="1291271" name="Group 7"/>
          <p:cNvGrpSpPr/>
          <p:nvPr/>
        </p:nvGrpSpPr>
        <p:grpSpPr bwMode="auto">
          <a:xfrm>
            <a:off x="4978400" y="1811338"/>
            <a:ext cx="1636713" cy="4048125"/>
            <a:chOff x="3155" y="995"/>
            <a:chExt cx="1031" cy="2328"/>
          </a:xfrm>
        </p:grpSpPr>
        <p:sp>
          <p:nvSpPr>
            <p:cNvPr id="32791" name="AutoShape 8"/>
            <p:cNvSpPr/>
            <p:nvPr/>
          </p:nvSpPr>
          <p:spPr bwMode="auto">
            <a:xfrm rot="10800000">
              <a:off x="3155" y="995"/>
              <a:ext cx="150" cy="2328"/>
            </a:xfrm>
            <a:prstGeom prst="leftBrace">
              <a:avLst>
                <a:gd name="adj1" fmla="val 129333"/>
                <a:gd name="adj2" fmla="val 50000"/>
              </a:avLst>
            </a:prstGeom>
            <a:noFill/>
            <a:ln w="34925">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en-US" sz="2400">
                <a:latin typeface="Times New Roman" panose="02020603050405020304" pitchFamily="18" charset="0"/>
              </a:endParaRPr>
            </a:p>
          </p:txBody>
        </p:sp>
        <p:sp>
          <p:nvSpPr>
            <p:cNvPr id="32792" name="Text Box 9"/>
            <p:cNvSpPr txBox="1">
              <a:spLocks noChangeArrowheads="1"/>
            </p:cNvSpPr>
            <p:nvPr/>
          </p:nvSpPr>
          <p:spPr bwMode="auto">
            <a:xfrm>
              <a:off x="3344" y="2029"/>
              <a:ext cx="842"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b="1">
                  <a:solidFill>
                    <a:srgbClr val="FF3300"/>
                  </a:solidFill>
                  <a:latin typeface="Times New Roman" panose="02020603050405020304" pitchFamily="18" charset="0"/>
                </a:rPr>
                <a:t>code</a:t>
              </a:r>
              <a:r>
                <a:rPr lang="zh-CN" altLang="en-US" sz="2400">
                  <a:latin typeface="Times New Roman" panose="02020603050405020304" pitchFamily="18" charset="0"/>
                </a:rPr>
                <a:t>区</a:t>
              </a:r>
              <a:endParaRPr kumimoji="1" lang="zh-CN" altLang="en-US" sz="2400">
                <a:latin typeface="Times New Roman" panose="02020603050405020304" pitchFamily="18" charset="0"/>
              </a:endParaRPr>
            </a:p>
          </p:txBody>
        </p:sp>
      </p:grpSp>
      <p:grpSp>
        <p:nvGrpSpPr>
          <p:cNvPr id="1291274" name="Group 10"/>
          <p:cNvGrpSpPr/>
          <p:nvPr/>
        </p:nvGrpSpPr>
        <p:grpSpPr bwMode="auto">
          <a:xfrm>
            <a:off x="7424738" y="1693863"/>
            <a:ext cx="1719262" cy="4094162"/>
            <a:chOff x="4677" y="976"/>
            <a:chExt cx="1083" cy="2328"/>
          </a:xfrm>
        </p:grpSpPr>
        <p:sp>
          <p:nvSpPr>
            <p:cNvPr id="32789" name="AutoShape 11"/>
            <p:cNvSpPr/>
            <p:nvPr/>
          </p:nvSpPr>
          <p:spPr bwMode="auto">
            <a:xfrm rot="10800000">
              <a:off x="4677" y="976"/>
              <a:ext cx="150" cy="2328"/>
            </a:xfrm>
            <a:prstGeom prst="leftBrace">
              <a:avLst>
                <a:gd name="adj1" fmla="val 129333"/>
                <a:gd name="adj2" fmla="val 50000"/>
              </a:avLst>
            </a:prstGeom>
            <a:noFill/>
            <a:ln w="34925">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en-US" sz="2400">
                <a:latin typeface="Times New Roman" panose="02020603050405020304" pitchFamily="18" charset="0"/>
              </a:endParaRPr>
            </a:p>
          </p:txBody>
        </p:sp>
        <p:sp>
          <p:nvSpPr>
            <p:cNvPr id="32790" name="Text Box 12"/>
            <p:cNvSpPr txBox="1">
              <a:spLocks noChangeArrowheads="1"/>
            </p:cNvSpPr>
            <p:nvPr/>
          </p:nvSpPr>
          <p:spPr bwMode="auto">
            <a:xfrm>
              <a:off x="4896" y="1985"/>
              <a:ext cx="8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1" lang="en-US" altLang="zh-CN" sz="2400" b="1">
                  <a:solidFill>
                    <a:srgbClr val="FF3300"/>
                  </a:solidFill>
                  <a:latin typeface="Times New Roman" panose="02020603050405020304" pitchFamily="18" charset="0"/>
                </a:rPr>
                <a:t>xdata</a:t>
              </a:r>
              <a:r>
                <a:rPr kumimoji="1" lang="zh-CN" altLang="en-US" sz="2400">
                  <a:latin typeface="Times New Roman" panose="02020603050405020304" pitchFamily="18" charset="0"/>
                </a:rPr>
                <a:t>区</a:t>
              </a:r>
            </a:p>
          </p:txBody>
        </p:sp>
      </p:grpSp>
      <p:grpSp>
        <p:nvGrpSpPr>
          <p:cNvPr id="1291277" name="Group 13"/>
          <p:cNvGrpSpPr/>
          <p:nvPr/>
        </p:nvGrpSpPr>
        <p:grpSpPr bwMode="auto">
          <a:xfrm>
            <a:off x="2471738" y="4994275"/>
            <a:ext cx="1343025" cy="573088"/>
            <a:chOff x="1596" y="2831"/>
            <a:chExt cx="846" cy="361"/>
          </a:xfrm>
        </p:grpSpPr>
        <p:sp>
          <p:nvSpPr>
            <p:cNvPr id="32787" name="Text Box 14"/>
            <p:cNvSpPr txBox="1">
              <a:spLocks noChangeArrowheads="1"/>
            </p:cNvSpPr>
            <p:nvPr/>
          </p:nvSpPr>
          <p:spPr bwMode="auto">
            <a:xfrm>
              <a:off x="1616" y="2831"/>
              <a:ext cx="82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b="1">
                  <a:solidFill>
                    <a:srgbClr val="FF3300"/>
                  </a:solidFill>
                  <a:latin typeface="Times New Roman" panose="02020603050405020304" pitchFamily="18" charset="0"/>
                </a:rPr>
                <a:t>bdata</a:t>
              </a:r>
              <a:r>
                <a:rPr lang="zh-CN" altLang="en-US" sz="2400">
                  <a:latin typeface="Times New Roman" panose="02020603050405020304" pitchFamily="18" charset="0"/>
                </a:rPr>
                <a:t>区</a:t>
              </a:r>
              <a:endParaRPr kumimoji="1" lang="zh-CN" altLang="en-US" sz="2400">
                <a:latin typeface="Times New Roman" panose="02020603050405020304" pitchFamily="18" charset="0"/>
              </a:endParaRPr>
            </a:p>
          </p:txBody>
        </p:sp>
        <p:sp>
          <p:nvSpPr>
            <p:cNvPr id="32788" name="AutoShape 15"/>
            <p:cNvSpPr>
              <a:spLocks noChangeArrowheads="1"/>
            </p:cNvSpPr>
            <p:nvPr/>
          </p:nvSpPr>
          <p:spPr bwMode="auto">
            <a:xfrm>
              <a:off x="1596" y="3093"/>
              <a:ext cx="307" cy="99"/>
            </a:xfrm>
            <a:prstGeom prst="leftArrow">
              <a:avLst>
                <a:gd name="adj1" fmla="val 50000"/>
                <a:gd name="adj2" fmla="val 77525"/>
              </a:avLst>
            </a:prstGeom>
            <a:solidFill>
              <a:schemeClr val="accent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en-US" sz="2400">
                <a:latin typeface="Times New Roman" panose="02020603050405020304" pitchFamily="18" charset="0"/>
              </a:endParaRPr>
            </a:p>
          </p:txBody>
        </p:sp>
      </p:grpSp>
      <p:grpSp>
        <p:nvGrpSpPr>
          <p:cNvPr id="1291280" name="Group 16"/>
          <p:cNvGrpSpPr/>
          <p:nvPr/>
        </p:nvGrpSpPr>
        <p:grpSpPr bwMode="auto">
          <a:xfrm>
            <a:off x="5040313" y="4745038"/>
            <a:ext cx="2003425" cy="536575"/>
            <a:chOff x="3169" y="2674"/>
            <a:chExt cx="1262" cy="338"/>
          </a:xfrm>
        </p:grpSpPr>
        <p:sp>
          <p:nvSpPr>
            <p:cNvPr id="32785" name="AutoShape 17"/>
            <p:cNvSpPr/>
            <p:nvPr/>
          </p:nvSpPr>
          <p:spPr bwMode="auto">
            <a:xfrm>
              <a:off x="3844" y="2738"/>
              <a:ext cx="137" cy="274"/>
            </a:xfrm>
            <a:prstGeom prst="leftBrace">
              <a:avLst>
                <a:gd name="adj1" fmla="val 16667"/>
                <a:gd name="adj2" fmla="val 50000"/>
              </a:avLst>
            </a:prstGeom>
            <a:noFill/>
            <a:ln w="34925">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en-US" sz="2400">
                <a:latin typeface="Times New Roman" panose="02020603050405020304" pitchFamily="18" charset="0"/>
              </a:endParaRPr>
            </a:p>
          </p:txBody>
        </p:sp>
        <p:sp>
          <p:nvSpPr>
            <p:cNvPr id="32786" name="Text Box 18"/>
            <p:cNvSpPr txBox="1">
              <a:spLocks noChangeArrowheads="1"/>
            </p:cNvSpPr>
            <p:nvPr/>
          </p:nvSpPr>
          <p:spPr bwMode="auto">
            <a:xfrm>
              <a:off x="3169" y="2674"/>
              <a:ext cx="126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kumimoji="1" lang="en-US" altLang="zh-CN" sz="2400" b="1">
                  <a:solidFill>
                    <a:srgbClr val="FF3300"/>
                  </a:solidFill>
                  <a:latin typeface="Times New Roman" panose="02020603050405020304" pitchFamily="18" charset="0"/>
                </a:rPr>
                <a:t>pdata</a:t>
              </a:r>
              <a:r>
                <a:rPr kumimoji="1" lang="zh-CN" altLang="en-US" sz="2400">
                  <a:latin typeface="Times New Roman" panose="02020603050405020304" pitchFamily="18" charset="0"/>
                </a:rPr>
                <a:t>区</a:t>
              </a:r>
            </a:p>
          </p:txBody>
        </p:sp>
      </p:grpSp>
      <p:grpSp>
        <p:nvGrpSpPr>
          <p:cNvPr id="1291283" name="Group 19"/>
          <p:cNvGrpSpPr/>
          <p:nvPr/>
        </p:nvGrpSpPr>
        <p:grpSpPr bwMode="auto">
          <a:xfrm>
            <a:off x="0" y="3959225"/>
            <a:ext cx="1411288" cy="842963"/>
            <a:chOff x="0" y="2155"/>
            <a:chExt cx="889" cy="531"/>
          </a:xfrm>
        </p:grpSpPr>
        <p:sp>
          <p:nvSpPr>
            <p:cNvPr id="32783" name="AutoShape 20"/>
            <p:cNvSpPr/>
            <p:nvPr/>
          </p:nvSpPr>
          <p:spPr bwMode="auto">
            <a:xfrm>
              <a:off x="626" y="2155"/>
              <a:ext cx="137" cy="531"/>
            </a:xfrm>
            <a:prstGeom prst="leftBrace">
              <a:avLst>
                <a:gd name="adj1" fmla="val 32299"/>
                <a:gd name="adj2" fmla="val 50000"/>
              </a:avLst>
            </a:prstGeom>
            <a:noFill/>
            <a:ln w="34925">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en-US" sz="2400">
                <a:latin typeface="Times New Roman" panose="02020603050405020304" pitchFamily="18" charset="0"/>
              </a:endParaRPr>
            </a:p>
          </p:txBody>
        </p:sp>
        <p:sp>
          <p:nvSpPr>
            <p:cNvPr id="32784" name="Text Box 21"/>
            <p:cNvSpPr txBox="1">
              <a:spLocks noChangeArrowheads="1"/>
            </p:cNvSpPr>
            <p:nvPr/>
          </p:nvSpPr>
          <p:spPr bwMode="auto">
            <a:xfrm>
              <a:off x="0" y="2249"/>
              <a:ext cx="8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b="1">
                  <a:solidFill>
                    <a:srgbClr val="FF3300"/>
                  </a:solidFill>
                  <a:latin typeface="Times New Roman" panose="02020603050405020304" pitchFamily="18" charset="0"/>
                </a:rPr>
                <a:t>idata</a:t>
              </a:r>
              <a:r>
                <a:rPr lang="zh-CN" altLang="en-US" sz="2400">
                  <a:latin typeface="Times New Roman" panose="02020603050405020304" pitchFamily="18" charset="0"/>
                </a:rPr>
                <a:t>区</a:t>
              </a:r>
              <a:endParaRPr kumimoji="1" lang="zh-CN" altLang="en-US" sz="2400">
                <a:latin typeface="Times New Roman" panose="02020603050405020304" pitchFamily="18" charset="0"/>
              </a:endParaRPr>
            </a:p>
          </p:txBody>
        </p:sp>
      </p:grpSp>
      <p:grpSp>
        <p:nvGrpSpPr>
          <p:cNvPr id="1291286" name="Group 22"/>
          <p:cNvGrpSpPr/>
          <p:nvPr/>
        </p:nvGrpSpPr>
        <p:grpSpPr bwMode="auto">
          <a:xfrm>
            <a:off x="873443" y="1556703"/>
            <a:ext cx="6757987" cy="4926012"/>
            <a:chOff x="565" y="939"/>
            <a:chExt cx="4257" cy="2841"/>
          </a:xfrm>
        </p:grpSpPr>
        <p:pic>
          <p:nvPicPr>
            <p:cNvPr id="32778" name="Picture 8" descr="未标题-2副本副本"/>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1168" t="5498" r="33617" b="7117"/>
            <a:stretch>
              <a:fillRect/>
            </a:stretch>
          </p:blipFill>
          <p:spPr bwMode="auto">
            <a:xfrm>
              <a:off x="565" y="1037"/>
              <a:ext cx="2608" cy="2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9" name="Picture 8" descr="未标题-2副本副本"/>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66447" t="4013" r="10031" b="10895"/>
            <a:stretch>
              <a:fillRect/>
            </a:stretch>
          </p:blipFill>
          <p:spPr bwMode="auto">
            <a:xfrm>
              <a:off x="3711" y="939"/>
              <a:ext cx="1111" cy="2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80" name="Picture 5"/>
            <p:cNvPicPr>
              <a:picLocks noChangeAspect="1" noChangeArrowheads="1"/>
            </p:cNvPicPr>
            <p:nvPr/>
          </p:nvPicPr>
          <p:blipFill>
            <a:blip r:embed="rId3">
              <a:clrChange>
                <a:clrFrom>
                  <a:srgbClr val="E1E1E1"/>
                </a:clrFrom>
                <a:clrTo>
                  <a:srgbClr val="E1E1E1">
                    <a:alpha val="0"/>
                  </a:srgbClr>
                </a:clrTo>
              </a:clrChange>
              <a:extLst>
                <a:ext uri="{28A0092B-C50C-407E-A947-70E740481C1C}">
                  <a14:useLocalDpi xmlns:a14="http://schemas.microsoft.com/office/drawing/2010/main" val="0"/>
                </a:ext>
              </a:extLst>
            </a:blip>
            <a:srcRect l="3822" t="91553" r="71440" b="325"/>
            <a:stretch>
              <a:fillRect/>
            </a:stretch>
          </p:blipFill>
          <p:spPr bwMode="auto">
            <a:xfrm>
              <a:off x="1139" y="3539"/>
              <a:ext cx="970"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81" name="Picture 5"/>
            <p:cNvPicPr>
              <a:picLocks noChangeAspect="1" noChangeArrowheads="1"/>
            </p:cNvPicPr>
            <p:nvPr/>
          </p:nvPicPr>
          <p:blipFill>
            <a:blip r:embed="rId3">
              <a:clrChange>
                <a:clrFrom>
                  <a:srgbClr val="E1E1E1"/>
                </a:clrFrom>
                <a:clrTo>
                  <a:srgbClr val="E1E1E1">
                    <a:alpha val="0"/>
                  </a:srgbClr>
                </a:clrTo>
              </a:clrChange>
              <a:extLst>
                <a:ext uri="{28A0092B-C50C-407E-A947-70E740481C1C}">
                  <a14:useLocalDpi xmlns:a14="http://schemas.microsoft.com/office/drawing/2010/main" val="0"/>
                </a:ext>
              </a:extLst>
            </a:blip>
            <a:srcRect l="39186" t="91942" r="37337"/>
            <a:stretch>
              <a:fillRect/>
            </a:stretch>
          </p:blipFill>
          <p:spPr bwMode="auto">
            <a:xfrm>
              <a:off x="3833" y="3532"/>
              <a:ext cx="921"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82" name="Picture 5"/>
            <p:cNvPicPr>
              <a:picLocks noChangeAspect="1" noChangeArrowheads="1"/>
            </p:cNvPicPr>
            <p:nvPr/>
          </p:nvPicPr>
          <p:blipFill>
            <a:blip r:embed="rId3">
              <a:clrChange>
                <a:clrFrom>
                  <a:srgbClr val="E1E1E1"/>
                </a:clrFrom>
                <a:clrTo>
                  <a:srgbClr val="E1E1E1">
                    <a:alpha val="0"/>
                  </a:srgbClr>
                </a:clrTo>
              </a:clrChange>
              <a:extLst>
                <a:ext uri="{28A0092B-C50C-407E-A947-70E740481C1C}">
                  <a14:useLocalDpi xmlns:a14="http://schemas.microsoft.com/office/drawing/2010/main" val="0"/>
                </a:ext>
              </a:extLst>
            </a:blip>
            <a:srcRect l="75977" t="91942" r="5165" b="-714"/>
            <a:stretch>
              <a:fillRect/>
            </a:stretch>
          </p:blipFill>
          <p:spPr bwMode="auto">
            <a:xfrm>
              <a:off x="2507" y="3536"/>
              <a:ext cx="73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3" name="直接箭头连接符 2"/>
          <p:cNvCxnSpPr/>
          <p:nvPr/>
        </p:nvCxnSpPr>
        <p:spPr>
          <a:xfrm flipH="1" flipV="1">
            <a:off x="900113" y="4565650"/>
            <a:ext cx="114300" cy="71596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flipH="1">
            <a:off x="705644" y="4108450"/>
            <a:ext cx="308769" cy="11263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flipH="1" flipV="1">
            <a:off x="884238" y="5513425"/>
            <a:ext cx="186928" cy="5393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91286"/>
                                        </p:tgtEl>
                                        <p:attrNameLst>
                                          <p:attrName>style.visibility</p:attrName>
                                        </p:attrNameLst>
                                      </p:cBhvr>
                                      <p:to>
                                        <p:strVal val="visible"/>
                                      </p:to>
                                    </p:set>
                                    <p:animEffect transition="in" filter="blinds(horizontal)">
                                      <p:cBhvr>
                                        <p:cTn id="7" dur="500"/>
                                        <p:tgtEl>
                                          <p:spTgt spid="129128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91268"/>
                                        </p:tgtEl>
                                        <p:attrNameLst>
                                          <p:attrName>style.visibility</p:attrName>
                                        </p:attrNameLst>
                                      </p:cBhvr>
                                      <p:to>
                                        <p:strVal val="visible"/>
                                      </p:to>
                                    </p:set>
                                    <p:animEffect transition="in" filter="blinds(horizontal)">
                                      <p:cBhvr>
                                        <p:cTn id="12" dur="500"/>
                                        <p:tgtEl>
                                          <p:spTgt spid="129126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91271"/>
                                        </p:tgtEl>
                                        <p:attrNameLst>
                                          <p:attrName>style.visibility</p:attrName>
                                        </p:attrNameLst>
                                      </p:cBhvr>
                                      <p:to>
                                        <p:strVal val="visible"/>
                                      </p:to>
                                    </p:set>
                                    <p:animEffect transition="in" filter="blinds(horizontal)">
                                      <p:cBhvr>
                                        <p:cTn id="17" dur="500"/>
                                        <p:tgtEl>
                                          <p:spTgt spid="129127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91274"/>
                                        </p:tgtEl>
                                        <p:attrNameLst>
                                          <p:attrName>style.visibility</p:attrName>
                                        </p:attrNameLst>
                                      </p:cBhvr>
                                      <p:to>
                                        <p:strVal val="visible"/>
                                      </p:to>
                                    </p:set>
                                    <p:animEffect transition="in" filter="blinds(horizontal)">
                                      <p:cBhvr>
                                        <p:cTn id="22" dur="500"/>
                                        <p:tgtEl>
                                          <p:spTgt spid="129127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291277"/>
                                        </p:tgtEl>
                                        <p:attrNameLst>
                                          <p:attrName>style.visibility</p:attrName>
                                        </p:attrNameLst>
                                      </p:cBhvr>
                                      <p:to>
                                        <p:strVal val="visible"/>
                                      </p:to>
                                    </p:set>
                                    <p:animEffect transition="in" filter="blinds(horizontal)">
                                      <p:cBhvr>
                                        <p:cTn id="27" dur="500"/>
                                        <p:tgtEl>
                                          <p:spTgt spid="129127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291280"/>
                                        </p:tgtEl>
                                        <p:attrNameLst>
                                          <p:attrName>style.visibility</p:attrName>
                                        </p:attrNameLst>
                                      </p:cBhvr>
                                      <p:to>
                                        <p:strVal val="visible"/>
                                      </p:to>
                                    </p:set>
                                    <p:animEffect transition="in" filter="blinds(horizontal)">
                                      <p:cBhvr>
                                        <p:cTn id="32" dur="500"/>
                                        <p:tgtEl>
                                          <p:spTgt spid="129128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291283"/>
                                        </p:tgtEl>
                                        <p:attrNameLst>
                                          <p:attrName>style.visibility</p:attrName>
                                        </p:attrNameLst>
                                      </p:cBhvr>
                                      <p:to>
                                        <p:strVal val="visible"/>
                                      </p:to>
                                    </p:set>
                                    <p:animEffect transition="in" filter="blinds(horizontal)">
                                      <p:cBhvr>
                                        <p:cTn id="37" dur="500"/>
                                        <p:tgtEl>
                                          <p:spTgt spid="129128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right)">
                                      <p:cBhvr>
                                        <p:cTn id="42" dur="500"/>
                                        <p:tgtEl>
                                          <p:spTgt spid="7"/>
                                        </p:tgtEl>
                                      </p:cBhvr>
                                    </p:animEffect>
                                  </p:childTnLst>
                                </p:cTn>
                              </p:par>
                              <p:par>
                                <p:cTn id="43" presetID="22" presetClass="entr" presetSubtype="2" fill="hold" nodeType="with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ipe(right)">
                                      <p:cBhvr>
                                        <p:cTn id="45" dur="500"/>
                                        <p:tgtEl>
                                          <p:spTgt spid="3"/>
                                        </p:tgtEl>
                                      </p:cBhvr>
                                    </p:animEffect>
                                  </p:childTnLst>
                                </p:cTn>
                              </p:par>
                              <p:par>
                                <p:cTn id="46" presetID="22" presetClass="entr" presetSubtype="2" fill="hold" nodeType="with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wipe(right)">
                                      <p:cBhvr>
                                        <p:cTn id="4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内容占位符 1"/>
          <p:cNvSpPr/>
          <p:nvPr/>
        </p:nvSpPr>
        <p:spPr bwMode="auto">
          <a:xfrm>
            <a:off x="457200" y="457200"/>
            <a:ext cx="8507413" cy="5410200"/>
          </a:xfrm>
          <a:prstGeom prst="rect">
            <a:avLst/>
          </a:prstGeom>
          <a:solidFill>
            <a:schemeClr val="bg1"/>
          </a:solidFill>
          <a:ln>
            <a:noFill/>
          </a:ln>
        </p:spPr>
        <p:txBody>
          <a:bodyPr/>
          <a:lstStyle/>
          <a:p>
            <a:pPr marL="342900" indent="12700" eaLnBrk="1" fontAlgn="b" hangingPunct="1">
              <a:lnSpc>
                <a:spcPct val="115000"/>
              </a:lnSpc>
              <a:spcBef>
                <a:spcPct val="20000"/>
              </a:spcBef>
              <a:buClr>
                <a:schemeClr val="folHlink"/>
              </a:buClr>
              <a:buSzPct val="60000"/>
              <a:buFont typeface="Wingdings" panose="05000000000000000000" pitchFamily="2" charset="2"/>
              <a:buNone/>
              <a:defRPr/>
            </a:pPr>
            <a:r>
              <a:rPr lang="en-US" altLang="zh-CN" b="1" dirty="0">
                <a:solidFill>
                  <a:srgbClr val="FF3300"/>
                </a:solidFill>
                <a:effectLst>
                  <a:outerShdw blurRad="38100" dist="38100" dir="2700000" algn="tl">
                    <a:srgbClr val="000000">
                      <a:alpha val="43137"/>
                    </a:srgbClr>
                  </a:outerShdw>
                </a:effectLst>
                <a:ea typeface="黑体" panose="02010609060101010101" pitchFamily="2" charset="-122"/>
              </a:rPr>
              <a:t>1. </a:t>
            </a:r>
            <a:r>
              <a:rPr lang="zh-CN" altLang="en-US" b="1" dirty="0">
                <a:solidFill>
                  <a:srgbClr val="FF3300"/>
                </a:solidFill>
                <a:effectLst>
                  <a:outerShdw blurRad="38100" dist="38100" dir="2700000" algn="tl">
                    <a:srgbClr val="000000">
                      <a:alpha val="43137"/>
                    </a:srgbClr>
                  </a:outerShdw>
                </a:effectLst>
                <a:ea typeface="黑体" panose="02010609060101010101" pitchFamily="2" charset="-122"/>
              </a:rPr>
              <a:t>片内数据存储器</a:t>
            </a:r>
            <a:endParaRPr lang="zh-CN" altLang="en-US" dirty="0">
              <a:solidFill>
                <a:srgbClr val="FF3300"/>
              </a:solidFill>
              <a:effectLst>
                <a:outerShdw blurRad="38100" dist="38100" dir="2700000" algn="tl">
                  <a:srgbClr val="000000">
                    <a:alpha val="43137"/>
                  </a:srgbClr>
                </a:outerShdw>
              </a:effectLst>
              <a:ea typeface="黑体" panose="02010609060101010101" pitchFamily="2" charset="-122"/>
            </a:endParaRPr>
          </a:p>
          <a:p>
            <a:pPr marL="342900" indent="12700" eaLnBrk="1" fontAlgn="b" hangingPunct="1">
              <a:lnSpc>
                <a:spcPct val="115000"/>
              </a:lnSpc>
              <a:spcBef>
                <a:spcPct val="20000"/>
              </a:spcBef>
              <a:buClr>
                <a:schemeClr val="folHlink"/>
              </a:buClr>
              <a:buSzPct val="60000"/>
              <a:buFont typeface="Wingdings" panose="05000000000000000000" pitchFamily="2" charset="2"/>
              <a:buNone/>
              <a:defRPr/>
            </a:pPr>
            <a:r>
              <a:rPr lang="zh-CN" altLang="en-US" dirty="0">
                <a:effectLst>
                  <a:outerShdw blurRad="38100" dist="38100" dir="2700000" algn="tl">
                    <a:srgbClr val="000000">
                      <a:alpha val="43137"/>
                    </a:srgbClr>
                  </a:outerShdw>
                </a:effectLst>
                <a:ea typeface="黑体" panose="02010609060101010101" pitchFamily="2" charset="-122"/>
              </a:rPr>
              <a:t>	片内</a:t>
            </a:r>
            <a:r>
              <a:rPr lang="en-US" altLang="zh-CN" dirty="0">
                <a:effectLst>
                  <a:outerShdw blurRad="38100" dist="38100" dir="2700000" algn="tl">
                    <a:srgbClr val="000000">
                      <a:alpha val="43137"/>
                    </a:srgbClr>
                  </a:outerShdw>
                </a:effectLst>
              </a:rPr>
              <a:t>RAM</a:t>
            </a:r>
            <a:r>
              <a:rPr lang="zh-CN" altLang="en-US" dirty="0">
                <a:effectLst>
                  <a:outerShdw blurRad="38100" dist="38100" dir="2700000" algn="tl">
                    <a:srgbClr val="000000">
                      <a:alpha val="43137"/>
                    </a:srgbClr>
                  </a:outerShdw>
                </a:effectLst>
                <a:ea typeface="黑体" panose="02010609060101010101" pitchFamily="2" charset="-122"/>
              </a:rPr>
              <a:t>可分为</a:t>
            </a:r>
            <a:r>
              <a:rPr lang="en-US" altLang="zh-CN" b="1" dirty="0">
                <a:solidFill>
                  <a:srgbClr val="3333CC"/>
                </a:solidFill>
                <a:effectLst>
                  <a:outerShdw blurRad="38100" dist="38100" dir="2700000" algn="tl">
                    <a:srgbClr val="000000">
                      <a:alpha val="43137"/>
                    </a:srgbClr>
                  </a:outerShdw>
                </a:effectLst>
              </a:rPr>
              <a:t>3</a:t>
            </a:r>
            <a:r>
              <a:rPr lang="zh-CN" altLang="en-US" b="1" dirty="0">
                <a:solidFill>
                  <a:srgbClr val="3333CC"/>
                </a:solidFill>
                <a:effectLst>
                  <a:outerShdw blurRad="38100" dist="38100" dir="2700000" algn="tl">
                    <a:srgbClr val="000000">
                      <a:alpha val="43137"/>
                    </a:srgbClr>
                  </a:outerShdw>
                </a:effectLst>
                <a:ea typeface="黑体" panose="02010609060101010101" pitchFamily="2" charset="-122"/>
              </a:rPr>
              <a:t>个区域</a:t>
            </a:r>
            <a:r>
              <a:rPr lang="zh-CN" altLang="en-US" dirty="0">
                <a:effectLst>
                  <a:outerShdw blurRad="38100" dist="38100" dir="2700000" algn="tl">
                    <a:srgbClr val="000000">
                      <a:alpha val="43137"/>
                    </a:srgbClr>
                  </a:outerShdw>
                </a:effectLst>
                <a:ea typeface="黑体" panose="02010609060101010101" pitchFamily="2" charset="-122"/>
              </a:rPr>
              <a:t>：</a:t>
            </a:r>
          </a:p>
          <a:p>
            <a:pPr marL="342900" indent="12700" eaLnBrk="1" fontAlgn="b" hangingPunct="1">
              <a:lnSpc>
                <a:spcPct val="115000"/>
              </a:lnSpc>
              <a:spcBef>
                <a:spcPct val="20000"/>
              </a:spcBef>
              <a:buClr>
                <a:schemeClr val="folHlink"/>
              </a:buClr>
              <a:buSzPct val="60000"/>
              <a:buFont typeface="Wingdings" panose="05000000000000000000" pitchFamily="2" charset="2"/>
              <a:buNone/>
              <a:defRPr/>
            </a:pPr>
            <a:r>
              <a:rPr lang="en-US" altLang="zh-CN" b="1" dirty="0">
                <a:solidFill>
                  <a:srgbClr val="3333CC"/>
                </a:solidFill>
                <a:effectLst>
                  <a:outerShdw blurRad="38100" dist="38100" dir="2700000" algn="tl">
                    <a:srgbClr val="000000">
                      <a:alpha val="43137"/>
                    </a:srgbClr>
                  </a:outerShdw>
                </a:effectLst>
                <a:latin typeface="+mn-ea"/>
                <a:ea typeface="+mn-ea"/>
              </a:rPr>
              <a:t>data</a:t>
            </a:r>
            <a:r>
              <a:rPr lang="zh-CN" altLang="en-US" b="1" dirty="0">
                <a:solidFill>
                  <a:srgbClr val="3333CC"/>
                </a:solidFill>
                <a:effectLst>
                  <a:outerShdw blurRad="38100" dist="38100" dir="2700000" algn="tl">
                    <a:srgbClr val="000000">
                      <a:alpha val="43137"/>
                    </a:srgbClr>
                  </a:outerShdw>
                </a:effectLst>
                <a:latin typeface="+mn-ea"/>
                <a:ea typeface="+mn-ea"/>
              </a:rPr>
              <a:t>：</a:t>
            </a:r>
            <a:r>
              <a:rPr lang="zh-CN" altLang="en-US" b="1" dirty="0">
                <a:solidFill>
                  <a:srgbClr val="FF3300"/>
                </a:solidFill>
                <a:effectLst>
                  <a:outerShdw blurRad="38100" dist="38100" dir="2700000" algn="tl">
                    <a:srgbClr val="000000">
                      <a:alpha val="43137"/>
                    </a:srgbClr>
                  </a:outerShdw>
                </a:effectLst>
                <a:latin typeface="+mn-ea"/>
                <a:ea typeface="+mn-ea"/>
              </a:rPr>
              <a:t>片内直接寻址区</a:t>
            </a:r>
            <a:r>
              <a:rPr lang="zh-CN" altLang="en-US" b="1" dirty="0">
                <a:effectLst>
                  <a:outerShdw blurRad="38100" dist="38100" dir="2700000" algn="tl">
                    <a:srgbClr val="000000">
                      <a:alpha val="43137"/>
                    </a:srgbClr>
                  </a:outerShdw>
                </a:effectLst>
                <a:latin typeface="+mn-ea"/>
                <a:ea typeface="+mn-ea"/>
              </a:rPr>
              <a:t>，位于片内</a:t>
            </a:r>
            <a:r>
              <a:rPr lang="en-US" altLang="zh-CN" b="1" dirty="0">
                <a:effectLst>
                  <a:outerShdw blurRad="38100" dist="38100" dir="2700000" algn="tl">
                    <a:srgbClr val="000000">
                      <a:alpha val="43137"/>
                    </a:srgbClr>
                  </a:outerShdw>
                </a:effectLst>
                <a:latin typeface="+mn-ea"/>
                <a:ea typeface="+mn-ea"/>
              </a:rPr>
              <a:t>RAM</a:t>
            </a:r>
            <a:r>
              <a:rPr lang="zh-CN" altLang="en-US" b="1" dirty="0">
                <a:effectLst>
                  <a:outerShdw blurRad="38100" dist="38100" dir="2700000" algn="tl">
                    <a:srgbClr val="000000">
                      <a:alpha val="43137"/>
                    </a:srgbClr>
                  </a:outerShdw>
                </a:effectLst>
                <a:latin typeface="+mn-ea"/>
                <a:ea typeface="+mn-ea"/>
              </a:rPr>
              <a:t>的低</a:t>
            </a:r>
            <a:r>
              <a:rPr lang="en-US" altLang="zh-CN" b="1" dirty="0">
                <a:effectLst>
                  <a:outerShdw blurRad="38100" dist="38100" dir="2700000" algn="tl">
                    <a:srgbClr val="000000">
                      <a:alpha val="43137"/>
                    </a:srgbClr>
                  </a:outerShdw>
                </a:effectLst>
                <a:latin typeface="+mn-ea"/>
                <a:ea typeface="+mn-ea"/>
              </a:rPr>
              <a:t>128</a:t>
            </a:r>
            <a:r>
              <a:rPr lang="zh-CN" altLang="en-US" b="1" dirty="0">
                <a:effectLst>
                  <a:outerShdw blurRad="38100" dist="38100" dir="2700000" algn="tl">
                    <a:srgbClr val="000000">
                      <a:alpha val="43137"/>
                    </a:srgbClr>
                  </a:outerShdw>
                </a:effectLst>
                <a:latin typeface="+mn-ea"/>
                <a:ea typeface="+mn-ea"/>
              </a:rPr>
              <a:t>字节。</a:t>
            </a:r>
          </a:p>
          <a:p>
            <a:pPr marL="342900" indent="12700" eaLnBrk="1" fontAlgn="b" hangingPunct="1">
              <a:lnSpc>
                <a:spcPct val="115000"/>
              </a:lnSpc>
              <a:spcBef>
                <a:spcPct val="20000"/>
              </a:spcBef>
              <a:buClr>
                <a:schemeClr val="folHlink"/>
              </a:buClr>
              <a:buSzPct val="60000"/>
              <a:buFont typeface="Wingdings" panose="05000000000000000000" pitchFamily="2" charset="2"/>
              <a:buNone/>
              <a:defRPr/>
            </a:pPr>
            <a:r>
              <a:rPr lang="en-US" altLang="zh-CN" b="1" dirty="0" err="1">
                <a:solidFill>
                  <a:srgbClr val="3333CC"/>
                </a:solidFill>
                <a:effectLst>
                  <a:outerShdw blurRad="38100" dist="38100" dir="2700000" algn="tl">
                    <a:srgbClr val="000000">
                      <a:alpha val="43137"/>
                    </a:srgbClr>
                  </a:outerShdw>
                </a:effectLst>
                <a:latin typeface="+mn-ea"/>
                <a:ea typeface="+mn-ea"/>
              </a:rPr>
              <a:t>bdata</a:t>
            </a:r>
            <a:r>
              <a:rPr lang="zh-CN" altLang="en-US" b="1" dirty="0">
                <a:solidFill>
                  <a:srgbClr val="3333CC"/>
                </a:solidFill>
                <a:effectLst>
                  <a:outerShdw blurRad="38100" dist="38100" dir="2700000" algn="tl">
                    <a:srgbClr val="000000">
                      <a:alpha val="43137"/>
                    </a:srgbClr>
                  </a:outerShdw>
                </a:effectLst>
                <a:latin typeface="+mn-ea"/>
                <a:ea typeface="+mn-ea"/>
              </a:rPr>
              <a:t>：</a:t>
            </a:r>
            <a:r>
              <a:rPr lang="zh-CN" altLang="en-US" b="1" dirty="0">
                <a:solidFill>
                  <a:srgbClr val="FF3300"/>
                </a:solidFill>
                <a:effectLst>
                  <a:outerShdw blurRad="38100" dist="38100" dir="2700000" algn="tl">
                    <a:srgbClr val="000000">
                      <a:alpha val="43137"/>
                    </a:srgbClr>
                  </a:outerShdw>
                </a:effectLst>
                <a:latin typeface="+mn-ea"/>
                <a:ea typeface="+mn-ea"/>
              </a:rPr>
              <a:t>片内位寻址区</a:t>
            </a:r>
            <a:r>
              <a:rPr lang="zh-CN" altLang="en-US" b="1" dirty="0">
                <a:effectLst>
                  <a:outerShdw blurRad="38100" dist="38100" dir="2700000" algn="tl">
                    <a:srgbClr val="000000">
                      <a:alpha val="43137"/>
                    </a:srgbClr>
                  </a:outerShdw>
                </a:effectLst>
                <a:latin typeface="+mn-ea"/>
                <a:ea typeface="+mn-ea"/>
              </a:rPr>
              <a:t>，位于片内</a:t>
            </a:r>
            <a:r>
              <a:rPr lang="en-US" altLang="zh-CN" b="1" dirty="0">
                <a:effectLst>
                  <a:outerShdw blurRad="38100" dist="38100" dir="2700000" algn="tl">
                    <a:srgbClr val="000000">
                      <a:alpha val="43137"/>
                    </a:srgbClr>
                  </a:outerShdw>
                </a:effectLst>
                <a:latin typeface="+mn-ea"/>
                <a:ea typeface="+mn-ea"/>
              </a:rPr>
              <a:t>RAM</a:t>
            </a:r>
            <a:r>
              <a:rPr lang="zh-CN" altLang="en-US" b="1" dirty="0">
                <a:effectLst>
                  <a:outerShdw blurRad="38100" dist="38100" dir="2700000" algn="tl">
                    <a:srgbClr val="000000">
                      <a:alpha val="43137"/>
                    </a:srgbClr>
                  </a:outerShdw>
                </a:effectLst>
                <a:latin typeface="+mn-ea"/>
                <a:ea typeface="+mn-ea"/>
              </a:rPr>
              <a:t>位寻址区</a:t>
            </a:r>
            <a:r>
              <a:rPr lang="en-US" altLang="zh-CN" b="1" dirty="0">
                <a:effectLst>
                  <a:outerShdw blurRad="38100" dist="38100" dir="2700000" algn="tl">
                    <a:srgbClr val="000000">
                      <a:alpha val="43137"/>
                    </a:srgbClr>
                  </a:outerShdw>
                </a:effectLst>
                <a:latin typeface="+mn-ea"/>
                <a:ea typeface="+mn-ea"/>
              </a:rPr>
              <a:t>20H~2FH</a:t>
            </a:r>
            <a:r>
              <a:rPr lang="zh-CN" altLang="en-US" b="1" dirty="0">
                <a:effectLst>
                  <a:outerShdw blurRad="38100" dist="38100" dir="2700000" algn="tl">
                    <a:srgbClr val="000000">
                      <a:alpha val="43137"/>
                    </a:srgbClr>
                  </a:outerShdw>
                </a:effectLst>
                <a:latin typeface="+mn-ea"/>
                <a:ea typeface="+mn-ea"/>
              </a:rPr>
              <a:t>。</a:t>
            </a:r>
          </a:p>
          <a:p>
            <a:pPr marL="342900" indent="12700" eaLnBrk="1" fontAlgn="b" hangingPunct="1">
              <a:lnSpc>
                <a:spcPct val="115000"/>
              </a:lnSpc>
              <a:spcBef>
                <a:spcPct val="20000"/>
              </a:spcBef>
              <a:buClr>
                <a:schemeClr val="folHlink"/>
              </a:buClr>
              <a:buSzPct val="60000"/>
              <a:buFont typeface="Wingdings" panose="05000000000000000000" pitchFamily="2" charset="2"/>
              <a:buNone/>
              <a:defRPr/>
            </a:pPr>
            <a:r>
              <a:rPr lang="en-US" altLang="zh-CN" b="1" dirty="0" err="1">
                <a:solidFill>
                  <a:srgbClr val="3333CC"/>
                </a:solidFill>
                <a:effectLst>
                  <a:outerShdw blurRad="38100" dist="38100" dir="2700000" algn="tl">
                    <a:srgbClr val="000000">
                      <a:alpha val="43137"/>
                    </a:srgbClr>
                  </a:outerShdw>
                </a:effectLst>
                <a:latin typeface="+mn-ea"/>
                <a:ea typeface="+mn-ea"/>
              </a:rPr>
              <a:t>idata</a:t>
            </a:r>
            <a:r>
              <a:rPr lang="zh-CN" altLang="en-US" b="1" dirty="0">
                <a:solidFill>
                  <a:srgbClr val="3333CC"/>
                </a:solidFill>
                <a:effectLst>
                  <a:outerShdw blurRad="38100" dist="38100" dir="2700000" algn="tl">
                    <a:srgbClr val="000000">
                      <a:alpha val="43137"/>
                    </a:srgbClr>
                  </a:outerShdw>
                </a:effectLst>
                <a:latin typeface="+mn-ea"/>
                <a:ea typeface="+mn-ea"/>
              </a:rPr>
              <a:t>：</a:t>
            </a:r>
            <a:r>
              <a:rPr lang="zh-CN" altLang="en-US" b="1" dirty="0">
                <a:solidFill>
                  <a:srgbClr val="FF3300"/>
                </a:solidFill>
                <a:effectLst>
                  <a:outerShdw blurRad="38100" dist="38100" dir="2700000" algn="tl">
                    <a:srgbClr val="000000">
                      <a:alpha val="43137"/>
                    </a:srgbClr>
                  </a:outerShdw>
                </a:effectLst>
                <a:latin typeface="+mn-ea"/>
                <a:ea typeface="+mn-ea"/>
              </a:rPr>
              <a:t>片内间接寻址区</a:t>
            </a:r>
            <a:r>
              <a:rPr lang="zh-CN" altLang="en-US" b="1" dirty="0">
                <a:effectLst>
                  <a:outerShdw blurRad="38100" dist="38100" dir="2700000" algn="tl">
                    <a:srgbClr val="000000">
                      <a:alpha val="43137"/>
                    </a:srgbClr>
                  </a:outerShdw>
                </a:effectLst>
                <a:latin typeface="+mn-ea"/>
                <a:ea typeface="+mn-ea"/>
              </a:rPr>
              <a:t>，片内</a:t>
            </a:r>
            <a:r>
              <a:rPr lang="en-US" altLang="zh-CN" b="1" dirty="0">
                <a:effectLst>
                  <a:outerShdw blurRad="38100" dist="38100" dir="2700000" algn="tl">
                    <a:srgbClr val="000000">
                      <a:alpha val="43137"/>
                    </a:srgbClr>
                  </a:outerShdw>
                </a:effectLst>
                <a:latin typeface="+mn-ea"/>
                <a:ea typeface="+mn-ea"/>
              </a:rPr>
              <a:t>RAM</a:t>
            </a:r>
            <a:r>
              <a:rPr lang="zh-CN" altLang="en-US" b="1" dirty="0">
                <a:effectLst>
                  <a:outerShdw blurRad="38100" dist="38100" dir="2700000" algn="tl">
                    <a:srgbClr val="000000">
                      <a:alpha val="43137"/>
                    </a:srgbClr>
                  </a:outerShdw>
                </a:effectLst>
                <a:latin typeface="+mn-ea"/>
                <a:ea typeface="+mn-ea"/>
              </a:rPr>
              <a:t>所有地址单元</a:t>
            </a:r>
          </a:p>
          <a:p>
            <a:pPr marL="342900" indent="12700" eaLnBrk="1" fontAlgn="b" hangingPunct="1">
              <a:lnSpc>
                <a:spcPct val="115000"/>
              </a:lnSpc>
              <a:spcBef>
                <a:spcPct val="20000"/>
              </a:spcBef>
              <a:buClr>
                <a:schemeClr val="folHlink"/>
              </a:buClr>
              <a:buSzPct val="60000"/>
              <a:buFont typeface="Wingdings" panose="05000000000000000000" pitchFamily="2" charset="2"/>
              <a:buNone/>
              <a:defRPr/>
            </a:pPr>
            <a:r>
              <a:rPr lang="zh-CN" altLang="en-US" b="1" dirty="0">
                <a:effectLst>
                  <a:outerShdw blurRad="38100" dist="38100" dir="2700000" algn="tl">
                    <a:srgbClr val="000000">
                      <a:alpha val="43137"/>
                    </a:srgbClr>
                  </a:outerShdw>
                </a:effectLst>
                <a:latin typeface="+mn-ea"/>
                <a:ea typeface="+mn-ea"/>
              </a:rPr>
              <a:t>           （</a:t>
            </a:r>
            <a:r>
              <a:rPr lang="en-US" altLang="zh-CN" b="1" dirty="0">
                <a:effectLst>
                  <a:outerShdw blurRad="38100" dist="38100" dir="2700000" algn="tl">
                    <a:srgbClr val="000000">
                      <a:alpha val="43137"/>
                    </a:srgbClr>
                  </a:outerShdw>
                </a:effectLst>
                <a:latin typeface="+mn-ea"/>
                <a:ea typeface="+mn-ea"/>
              </a:rPr>
              <a:t>00H~FFH</a:t>
            </a:r>
            <a:r>
              <a:rPr lang="zh-CN" altLang="en-US" b="1" dirty="0">
                <a:effectLst>
                  <a:outerShdw blurRad="38100" dist="38100" dir="2700000" algn="tl">
                    <a:srgbClr val="000000">
                      <a:alpha val="43137"/>
                    </a:srgbClr>
                  </a:outerShdw>
                </a:effectLst>
                <a:latin typeface="+mn-ea"/>
                <a:ea typeface="+mn-ea"/>
              </a:rPr>
              <a:t>），与</a:t>
            </a:r>
            <a:r>
              <a:rPr lang="en-US" altLang="zh-CN" b="1" dirty="0">
                <a:effectLst>
                  <a:outerShdw blurRad="38100" dist="38100" dir="2700000" algn="tl">
                    <a:srgbClr val="000000">
                      <a:alpha val="43137"/>
                    </a:srgbClr>
                  </a:outerShdw>
                </a:effectLst>
                <a:latin typeface="+mn-ea"/>
                <a:ea typeface="+mn-ea"/>
              </a:rPr>
              <a:t>data</a:t>
            </a:r>
            <a:r>
              <a:rPr lang="zh-CN" altLang="en-US" b="1" dirty="0">
                <a:effectLst>
                  <a:outerShdw blurRad="38100" dist="38100" dir="2700000" algn="tl">
                    <a:srgbClr val="000000">
                      <a:alpha val="43137"/>
                    </a:srgbClr>
                  </a:outerShdw>
                </a:effectLst>
                <a:latin typeface="+mn-ea"/>
                <a:ea typeface="+mn-ea"/>
              </a:rPr>
              <a:t>重合低</a:t>
            </a:r>
            <a:r>
              <a:rPr lang="en-US" altLang="zh-CN" b="1" dirty="0">
                <a:effectLst>
                  <a:outerShdw blurRad="38100" dist="38100" dir="2700000" algn="tl">
                    <a:srgbClr val="000000">
                      <a:alpha val="43137"/>
                    </a:srgbClr>
                  </a:outerShdw>
                </a:effectLst>
                <a:latin typeface="+mn-ea"/>
                <a:ea typeface="+mn-ea"/>
              </a:rPr>
              <a:t>128B</a:t>
            </a:r>
            <a:r>
              <a:rPr lang="zh-CN" altLang="en-US" b="1" dirty="0">
                <a:effectLst>
                  <a:outerShdw blurRad="38100" dist="38100" dir="2700000" algn="tl">
                    <a:srgbClr val="000000">
                      <a:alpha val="43137"/>
                    </a:srgbClr>
                  </a:outerShdw>
                </a:effectLst>
                <a:latin typeface="+mn-ea"/>
                <a:ea typeface="+mn-ea"/>
              </a:rPr>
              <a:t>。</a:t>
            </a:r>
          </a:p>
          <a:p>
            <a:pPr marL="342900" indent="12700" eaLnBrk="1" hangingPunct="1">
              <a:lnSpc>
                <a:spcPct val="115000"/>
              </a:lnSpc>
              <a:spcBef>
                <a:spcPct val="20000"/>
              </a:spcBef>
              <a:buClr>
                <a:schemeClr val="folHlink"/>
              </a:buClr>
              <a:buSzPct val="60000"/>
              <a:buFont typeface="Wingdings" panose="05000000000000000000" pitchFamily="2" charset="2"/>
              <a:buNone/>
              <a:defRPr/>
            </a:pPr>
            <a:endParaRPr lang="en-US" altLang="zh-CN" dirty="0">
              <a:effectLst>
                <a:outerShdw blurRad="38100" dist="38100" dir="2700000" algn="tl">
                  <a:srgbClr val="000000">
                    <a:alpha val="43137"/>
                  </a:srgbClr>
                </a:outerShdw>
              </a:effectLst>
              <a:ea typeface="黑体" panose="0201060906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内容占位符 1"/>
          <p:cNvSpPr>
            <a:spLocks noGrp="1"/>
          </p:cNvSpPr>
          <p:nvPr>
            <p:ph idx="4294967295"/>
          </p:nvPr>
        </p:nvSpPr>
        <p:spPr>
          <a:xfrm>
            <a:off x="395288" y="611188"/>
            <a:ext cx="8362950" cy="5410200"/>
          </a:xfrm>
        </p:spPr>
        <p:txBody>
          <a:bodyPr/>
          <a:lstStyle/>
          <a:p>
            <a:pPr indent="12700" eaLnBrk="1" fontAlgn="b" hangingPunct="1">
              <a:lnSpc>
                <a:spcPct val="130000"/>
              </a:lnSpc>
              <a:buFont typeface="Wingdings" panose="05000000000000000000" pitchFamily="2" charset="2"/>
              <a:buNone/>
              <a:defRPr/>
            </a:pPr>
            <a:r>
              <a:rPr lang="en-US" altLang="zh-CN" sz="2600" b="1" dirty="0">
                <a:solidFill>
                  <a:srgbClr val="FF3300"/>
                </a:solidFill>
                <a:effectLst>
                  <a:outerShdw blurRad="38100" dist="38100" dir="2700000" algn="tl">
                    <a:srgbClr val="000000">
                      <a:alpha val="43137"/>
                    </a:srgbClr>
                  </a:outerShdw>
                </a:effectLst>
                <a:ea typeface="黑体" panose="02010609060101010101" pitchFamily="2" charset="-122"/>
              </a:rPr>
              <a:t>2. </a:t>
            </a:r>
            <a:r>
              <a:rPr lang="zh-CN" altLang="en-US" sz="2600" b="1" dirty="0">
                <a:solidFill>
                  <a:srgbClr val="FF3300"/>
                </a:solidFill>
                <a:effectLst>
                  <a:outerShdw blurRad="38100" dist="38100" dir="2700000" algn="tl">
                    <a:srgbClr val="000000">
                      <a:alpha val="43137"/>
                    </a:srgbClr>
                  </a:outerShdw>
                </a:effectLst>
                <a:ea typeface="黑体" panose="02010609060101010101" pitchFamily="2" charset="-122"/>
              </a:rPr>
              <a:t>片外数据存储器</a:t>
            </a:r>
          </a:p>
          <a:p>
            <a:pPr indent="12700" eaLnBrk="1" fontAlgn="b" hangingPunct="1">
              <a:lnSpc>
                <a:spcPct val="130000"/>
              </a:lnSpc>
              <a:buFont typeface="Wingdings" panose="05000000000000000000" pitchFamily="2" charset="2"/>
              <a:buNone/>
              <a:defRPr/>
            </a:pPr>
            <a:r>
              <a:rPr lang="zh-CN" altLang="en-US" sz="2600" b="1" dirty="0">
                <a:solidFill>
                  <a:srgbClr val="3333CC"/>
                </a:solidFill>
                <a:effectLst>
                  <a:outerShdw blurRad="38100" dist="38100" dir="2700000" algn="tl">
                    <a:srgbClr val="000000">
                      <a:alpha val="43137"/>
                    </a:srgbClr>
                  </a:outerShdw>
                </a:effectLst>
              </a:rPr>
              <a:t>	</a:t>
            </a:r>
            <a:r>
              <a:rPr lang="en-US" altLang="zh-CN" sz="2600" b="1" dirty="0" err="1">
                <a:solidFill>
                  <a:srgbClr val="3333CC"/>
                </a:solidFill>
                <a:effectLst>
                  <a:outerShdw blurRad="38100" dist="38100" dir="2700000" algn="tl">
                    <a:srgbClr val="000000">
                      <a:alpha val="43137"/>
                    </a:srgbClr>
                  </a:outerShdw>
                </a:effectLst>
              </a:rPr>
              <a:t>pdata</a:t>
            </a:r>
            <a:r>
              <a:rPr lang="zh-CN" altLang="en-US" sz="2600" b="1" dirty="0">
                <a:solidFill>
                  <a:srgbClr val="3333CC"/>
                </a:solidFill>
                <a:effectLst>
                  <a:outerShdw blurRad="38100" dist="38100" dir="2700000" algn="tl">
                    <a:srgbClr val="000000">
                      <a:alpha val="43137"/>
                    </a:srgbClr>
                  </a:outerShdw>
                </a:effectLst>
                <a:ea typeface="黑体" panose="02010609060101010101" pitchFamily="2" charset="-122"/>
              </a:rPr>
              <a:t>：</a:t>
            </a:r>
            <a:r>
              <a:rPr lang="zh-CN" altLang="en-US" sz="2600" dirty="0">
                <a:effectLst>
                  <a:outerShdw blurRad="38100" dist="38100" dir="2700000" algn="tl">
                    <a:srgbClr val="000000">
                      <a:alpha val="43137"/>
                    </a:srgbClr>
                  </a:outerShdw>
                </a:effectLst>
                <a:ea typeface="黑体" panose="02010609060101010101" pitchFamily="2" charset="-122"/>
              </a:rPr>
              <a:t>片外数据存储器页，一页为</a:t>
            </a:r>
            <a:r>
              <a:rPr lang="en-US" altLang="zh-CN" sz="2600" dirty="0">
                <a:effectLst>
                  <a:outerShdw blurRad="38100" dist="38100" dir="2700000" algn="tl">
                    <a:srgbClr val="000000">
                      <a:alpha val="43137"/>
                    </a:srgbClr>
                  </a:outerShdw>
                </a:effectLst>
              </a:rPr>
              <a:t>256</a:t>
            </a:r>
            <a:r>
              <a:rPr lang="zh-CN" altLang="en-US" sz="2600" dirty="0">
                <a:effectLst>
                  <a:outerShdw blurRad="38100" dist="38100" dir="2700000" algn="tl">
                    <a:srgbClr val="000000">
                      <a:alpha val="43137"/>
                    </a:srgbClr>
                  </a:outerShdw>
                </a:effectLst>
                <a:ea typeface="黑体" panose="02010609060101010101" pitchFamily="2" charset="-122"/>
              </a:rPr>
              <a:t>字节。</a:t>
            </a:r>
          </a:p>
          <a:p>
            <a:pPr indent="12700" eaLnBrk="1" fontAlgn="b" hangingPunct="1">
              <a:lnSpc>
                <a:spcPct val="130000"/>
              </a:lnSpc>
              <a:buFont typeface="Wingdings" panose="05000000000000000000" pitchFamily="2" charset="2"/>
              <a:buNone/>
              <a:defRPr/>
            </a:pPr>
            <a:r>
              <a:rPr lang="zh-CN" altLang="en-US" sz="2600" b="1" dirty="0">
                <a:solidFill>
                  <a:srgbClr val="3333CC"/>
                </a:solidFill>
                <a:effectLst>
                  <a:outerShdw blurRad="38100" dist="38100" dir="2700000" algn="tl">
                    <a:srgbClr val="000000">
                      <a:alpha val="43137"/>
                    </a:srgbClr>
                  </a:outerShdw>
                </a:effectLst>
              </a:rPr>
              <a:t>	</a:t>
            </a:r>
            <a:r>
              <a:rPr lang="en-US" altLang="zh-CN" sz="2600" b="1" dirty="0" err="1">
                <a:solidFill>
                  <a:srgbClr val="3333CC"/>
                </a:solidFill>
                <a:effectLst>
                  <a:outerShdw blurRad="38100" dist="38100" dir="2700000" algn="tl">
                    <a:srgbClr val="000000">
                      <a:alpha val="43137"/>
                    </a:srgbClr>
                  </a:outerShdw>
                </a:effectLst>
              </a:rPr>
              <a:t>xdata</a:t>
            </a:r>
            <a:r>
              <a:rPr lang="zh-CN" altLang="en-US" sz="2600" b="1" dirty="0">
                <a:solidFill>
                  <a:srgbClr val="3333CC"/>
                </a:solidFill>
                <a:effectLst>
                  <a:outerShdw blurRad="38100" dist="38100" dir="2700000" algn="tl">
                    <a:srgbClr val="000000">
                      <a:alpha val="43137"/>
                    </a:srgbClr>
                  </a:outerShdw>
                </a:effectLst>
              </a:rPr>
              <a:t>：</a:t>
            </a:r>
            <a:r>
              <a:rPr lang="zh-CN" altLang="en-US" sz="2600" dirty="0">
                <a:effectLst>
                  <a:outerShdw blurRad="38100" dist="38100" dir="2700000" algn="tl">
                    <a:srgbClr val="000000">
                      <a:alpha val="43137"/>
                    </a:srgbClr>
                  </a:outerShdw>
                </a:effectLst>
                <a:ea typeface="黑体" panose="02010609060101010101" pitchFamily="2" charset="-122"/>
              </a:rPr>
              <a:t>片外数据存储器</a:t>
            </a:r>
            <a:r>
              <a:rPr lang="en-US" altLang="zh-CN" sz="2600" dirty="0">
                <a:effectLst>
                  <a:outerShdw blurRad="38100" dist="38100" dir="2700000" algn="tl">
                    <a:srgbClr val="000000">
                      <a:alpha val="43137"/>
                    </a:srgbClr>
                  </a:outerShdw>
                </a:effectLst>
              </a:rPr>
              <a:t>RAM</a:t>
            </a:r>
            <a:r>
              <a:rPr lang="zh-CN" altLang="en-US" sz="2600" dirty="0">
                <a:effectLst>
                  <a:outerShdw blurRad="38100" dist="38100" dir="2700000" algn="tl">
                    <a:srgbClr val="000000">
                      <a:alpha val="43137"/>
                    </a:srgbClr>
                  </a:outerShdw>
                </a:effectLst>
                <a:ea typeface="黑体" panose="02010609060101010101" pitchFamily="2" charset="-122"/>
              </a:rPr>
              <a:t>的</a:t>
            </a:r>
            <a:r>
              <a:rPr lang="en-US" altLang="zh-CN" sz="2600" dirty="0">
                <a:effectLst>
                  <a:outerShdw blurRad="38100" dist="38100" dir="2700000" algn="tl">
                    <a:srgbClr val="000000">
                      <a:alpha val="43137"/>
                    </a:srgbClr>
                  </a:outerShdw>
                </a:effectLst>
              </a:rPr>
              <a:t>64KB</a:t>
            </a:r>
            <a:r>
              <a:rPr lang="zh-CN" altLang="en-US" sz="2600" dirty="0">
                <a:effectLst>
                  <a:outerShdw blurRad="38100" dist="38100" dir="2700000" algn="tl">
                    <a:srgbClr val="000000">
                      <a:alpha val="43137"/>
                    </a:srgbClr>
                  </a:outerShdw>
                </a:effectLst>
                <a:ea typeface="黑体" panose="02010609060101010101" pitchFamily="2" charset="-122"/>
              </a:rPr>
              <a:t>空间。</a:t>
            </a:r>
          </a:p>
          <a:p>
            <a:pPr indent="12700" eaLnBrk="1" fontAlgn="b" hangingPunct="1">
              <a:lnSpc>
                <a:spcPct val="130000"/>
              </a:lnSpc>
              <a:buFont typeface="Wingdings" panose="05000000000000000000" pitchFamily="2" charset="2"/>
              <a:buNone/>
              <a:defRPr/>
            </a:pPr>
            <a:r>
              <a:rPr lang="en-US" altLang="zh-CN" sz="2600" b="1" dirty="0">
                <a:solidFill>
                  <a:srgbClr val="FF33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3.</a:t>
            </a:r>
            <a:r>
              <a:rPr lang="zh-CN" altLang="en-US" sz="2600" b="1" dirty="0">
                <a:solidFill>
                  <a:srgbClr val="FF33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片外程序存储器</a:t>
            </a:r>
          </a:p>
          <a:p>
            <a:pPr indent="12700" eaLnBrk="1" fontAlgn="b" hangingPunct="1">
              <a:lnSpc>
                <a:spcPct val="130000"/>
              </a:lnSpc>
              <a:buFont typeface="Wingdings" panose="05000000000000000000" pitchFamily="2" charset="2"/>
              <a:buNone/>
              <a:defRPr/>
            </a:pPr>
            <a:r>
              <a:rPr lang="zh-CN" altLang="en-US" sz="2600" b="1" dirty="0">
                <a:solidFill>
                  <a:srgbClr val="3333CC"/>
                </a:solidFill>
                <a:effectLst>
                  <a:outerShdw blurRad="38100" dist="38100" dir="2700000" algn="tl">
                    <a:srgbClr val="000000">
                      <a:alpha val="43137"/>
                    </a:srgbClr>
                  </a:outerShdw>
                </a:effectLst>
              </a:rPr>
              <a:t>	</a:t>
            </a:r>
            <a:r>
              <a:rPr lang="en-US" altLang="zh-CN" sz="2600" b="1" dirty="0">
                <a:solidFill>
                  <a:srgbClr val="3333CC"/>
                </a:solidFill>
                <a:effectLst>
                  <a:outerShdw blurRad="38100" dist="38100" dir="2700000" algn="tl">
                    <a:srgbClr val="000000">
                      <a:alpha val="43137"/>
                    </a:srgbClr>
                  </a:outerShdw>
                </a:effectLst>
              </a:rPr>
              <a:t>code</a:t>
            </a:r>
            <a:r>
              <a:rPr lang="zh-CN" altLang="en-US" sz="2600" b="1" dirty="0">
                <a:solidFill>
                  <a:srgbClr val="3333CC"/>
                </a:solidFill>
                <a:effectLst>
                  <a:outerShdw blurRad="38100" dist="38100" dir="2700000" algn="tl">
                    <a:srgbClr val="000000">
                      <a:alpha val="43137"/>
                    </a:srgbClr>
                  </a:outerShdw>
                </a:effectLst>
                <a:ea typeface="黑体" panose="02010609060101010101" pitchFamily="2" charset="-122"/>
              </a:rPr>
              <a:t>：</a:t>
            </a:r>
            <a:r>
              <a:rPr lang="zh-CN" altLang="en-US" sz="2600" dirty="0">
                <a:effectLst>
                  <a:outerShdw blurRad="38100" dist="38100" dir="2700000" algn="tl">
                    <a:srgbClr val="000000">
                      <a:alpha val="43137"/>
                    </a:srgbClr>
                  </a:outerShdw>
                </a:effectLst>
                <a:ea typeface="黑体" panose="02010609060101010101" pitchFamily="2" charset="-122"/>
              </a:rPr>
              <a:t>外部程序存储器的</a:t>
            </a:r>
            <a:r>
              <a:rPr lang="en-US" altLang="zh-CN" sz="2600" dirty="0">
                <a:effectLst>
                  <a:outerShdw blurRad="38100" dist="38100" dir="2700000" algn="tl">
                    <a:srgbClr val="000000">
                      <a:alpha val="43137"/>
                    </a:srgbClr>
                  </a:outerShdw>
                </a:effectLst>
              </a:rPr>
              <a:t>64KB</a:t>
            </a:r>
            <a:r>
              <a:rPr lang="zh-CN" altLang="en-US" sz="2600" dirty="0">
                <a:effectLst>
                  <a:outerShdw blurRad="38100" dist="38100" dir="2700000" algn="tl">
                    <a:srgbClr val="000000">
                      <a:alpha val="43137"/>
                    </a:srgbClr>
                  </a:outerShdw>
                </a:effectLst>
                <a:ea typeface="黑体" panose="02010609060101010101" pitchFamily="2" charset="-122"/>
              </a:rPr>
              <a:t>空间。</a:t>
            </a:r>
          </a:p>
          <a:p>
            <a:pPr indent="12700" eaLnBrk="1" fontAlgn="b" hangingPunct="1">
              <a:lnSpc>
                <a:spcPct val="130000"/>
              </a:lnSpc>
              <a:buFont typeface="Wingdings" panose="05000000000000000000" pitchFamily="2" charset="2"/>
              <a:buNone/>
              <a:defRPr/>
            </a:pPr>
            <a:r>
              <a:rPr lang="zh-CN" altLang="en-US" sz="2600" b="1" dirty="0">
                <a:effectLst>
                  <a:outerShdw blurRad="38100" dist="38100" dir="2700000" algn="tl">
                    <a:srgbClr val="000000">
                      <a:alpha val="43137"/>
                    </a:srgbClr>
                  </a:outerShdw>
                </a:effectLst>
                <a:latin typeface="+mn-ea"/>
              </a:rPr>
              <a:t>对单片机编程，</a:t>
            </a:r>
            <a:r>
              <a:rPr lang="zh-CN" altLang="en-US" sz="2600" b="1" dirty="0">
                <a:solidFill>
                  <a:srgbClr val="FF3300"/>
                </a:solidFill>
                <a:effectLst>
                  <a:outerShdw blurRad="38100" dist="38100" dir="2700000" algn="tl">
                    <a:srgbClr val="000000">
                      <a:alpha val="43137"/>
                    </a:srgbClr>
                  </a:outerShdw>
                </a:effectLst>
                <a:latin typeface="+mn-ea"/>
              </a:rPr>
              <a:t>正确地</a:t>
            </a:r>
            <a:r>
              <a:rPr lang="zh-CN" altLang="en-US" sz="2600" b="1" dirty="0">
                <a:solidFill>
                  <a:srgbClr val="3333CC"/>
                </a:solidFill>
                <a:effectLst>
                  <a:outerShdw blurRad="38100" dist="38100" dir="2700000" algn="tl">
                    <a:srgbClr val="000000">
                      <a:alpha val="43137"/>
                    </a:srgbClr>
                  </a:outerShdw>
                </a:effectLst>
                <a:latin typeface="+mn-ea"/>
              </a:rPr>
              <a:t>定义数据类型</a:t>
            </a:r>
            <a:r>
              <a:rPr lang="zh-CN" altLang="en-US" sz="2600" b="1" dirty="0">
                <a:solidFill>
                  <a:srgbClr val="FF3300"/>
                </a:solidFill>
                <a:effectLst>
                  <a:outerShdw blurRad="38100" dist="38100" dir="2700000" algn="tl">
                    <a:srgbClr val="000000">
                      <a:alpha val="43137"/>
                    </a:srgbClr>
                  </a:outerShdw>
                </a:effectLst>
                <a:latin typeface="+mn-ea"/>
              </a:rPr>
              <a:t>以及</a:t>
            </a:r>
            <a:r>
              <a:rPr lang="zh-CN" altLang="en-US" sz="2600" b="1" dirty="0">
                <a:solidFill>
                  <a:srgbClr val="3333CC"/>
                </a:solidFill>
                <a:effectLst>
                  <a:outerShdw blurRad="38100" dist="38100" dir="2700000" algn="tl">
                    <a:srgbClr val="000000">
                      <a:alpha val="43137"/>
                    </a:srgbClr>
                  </a:outerShdw>
                </a:effectLst>
                <a:latin typeface="+mn-ea"/>
              </a:rPr>
              <a:t>存储类型</a:t>
            </a:r>
            <a:r>
              <a:rPr lang="zh-CN" altLang="en-US" sz="2600" b="1" dirty="0">
                <a:effectLst>
                  <a:outerShdw blurRad="38100" dist="38100" dir="2700000" algn="tl">
                    <a:srgbClr val="000000">
                      <a:alpha val="43137"/>
                    </a:srgbClr>
                  </a:outerShdw>
                </a:effectLst>
                <a:latin typeface="+mn-ea"/>
              </a:rPr>
              <a:t>，是所有编程者在编程前</a:t>
            </a:r>
            <a:r>
              <a:rPr lang="zh-CN" altLang="en-US" sz="2600" b="1" dirty="0">
                <a:solidFill>
                  <a:srgbClr val="3333CC"/>
                </a:solidFill>
                <a:effectLst>
                  <a:outerShdw blurRad="38100" dist="38100" dir="2700000" algn="tl">
                    <a:srgbClr val="000000">
                      <a:alpha val="43137"/>
                    </a:srgbClr>
                  </a:outerShdw>
                </a:effectLst>
                <a:latin typeface="+mn-ea"/>
              </a:rPr>
              <a:t>都需要</a:t>
            </a:r>
            <a:r>
              <a:rPr lang="zh-CN" altLang="en-US" sz="2600" b="1" dirty="0">
                <a:solidFill>
                  <a:srgbClr val="FF3300"/>
                </a:solidFill>
                <a:effectLst>
                  <a:outerShdw blurRad="38100" dist="38100" dir="2700000" algn="tl">
                    <a:srgbClr val="000000">
                      <a:alpha val="43137"/>
                    </a:srgbClr>
                  </a:outerShdw>
                </a:effectLst>
                <a:latin typeface="+mn-ea"/>
              </a:rPr>
              <a:t>首先考虑</a:t>
            </a:r>
            <a:r>
              <a:rPr lang="zh-CN" altLang="en-US" sz="2600" b="1" dirty="0">
                <a:solidFill>
                  <a:srgbClr val="3333CC"/>
                </a:solidFill>
                <a:effectLst>
                  <a:outerShdw blurRad="38100" dist="38100" dir="2700000" algn="tl">
                    <a:srgbClr val="000000">
                      <a:alpha val="43137"/>
                    </a:srgbClr>
                  </a:outerShdw>
                </a:effectLst>
                <a:latin typeface="+mn-ea"/>
              </a:rPr>
              <a:t>的问题。</a:t>
            </a:r>
            <a:r>
              <a:rPr lang="zh-CN" altLang="en-US" sz="2600" b="1" dirty="0">
                <a:effectLst>
                  <a:outerShdw blurRad="38100" dist="38100" dir="2700000" algn="tl">
                    <a:srgbClr val="000000">
                      <a:alpha val="43137"/>
                    </a:srgbClr>
                  </a:outerShdw>
                </a:effectLst>
                <a:latin typeface="+mn-ea"/>
              </a:rPr>
              <a:t>在资源有限的条件下，如何节省存储单元并保证运行效率，是对开发者的一个考验。只有对</a:t>
            </a:r>
            <a:r>
              <a:rPr lang="en-US" altLang="zh-CN" sz="2600" b="1" dirty="0">
                <a:effectLst>
                  <a:outerShdw blurRad="38100" dist="38100" dir="2700000" algn="tl">
                    <a:srgbClr val="000000">
                      <a:alpha val="43137"/>
                    </a:srgbClr>
                  </a:outerShdw>
                </a:effectLst>
                <a:latin typeface="+mn-ea"/>
              </a:rPr>
              <a:t>C51</a:t>
            </a:r>
            <a:r>
              <a:rPr lang="zh-CN" altLang="en-US" sz="2600" b="1" dirty="0">
                <a:effectLst>
                  <a:outerShdw blurRad="38100" dist="38100" dir="2700000" algn="tl">
                    <a:srgbClr val="000000">
                      <a:alpha val="43137"/>
                    </a:srgbClr>
                  </a:outerShdw>
                </a:effectLst>
                <a:latin typeface="+mn-ea"/>
              </a:rPr>
              <a:t>中的各种数据类型以及存储类型非常熟练的掌握，才能运用自如。</a:t>
            </a:r>
          </a:p>
          <a:p>
            <a:pPr indent="12700" eaLnBrk="1" hangingPunct="1">
              <a:lnSpc>
                <a:spcPct val="130000"/>
              </a:lnSpc>
              <a:buFont typeface="Wingdings" panose="05000000000000000000" pitchFamily="2" charset="2"/>
              <a:buNone/>
              <a:defRPr/>
            </a:pPr>
            <a:endParaRPr lang="en-US" altLang="zh-CN" sz="2600" dirty="0">
              <a:effectLst>
                <a:outerShdw blurRad="38100" dist="38100" dir="2700000" algn="tl">
                  <a:srgbClr val="000000">
                    <a:alpha val="43137"/>
                  </a:srgbClr>
                </a:outerShdw>
              </a:effectLst>
              <a:ea typeface="黑体" panose="02010609060101010101" pitchFamily="2" charset="-122"/>
            </a:endParaRPr>
          </a:p>
        </p:txBody>
      </p:sp>
      <p:sp>
        <p:nvSpPr>
          <p:cNvPr id="34819" name="灯片编号占位符 2"/>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0"/>
              </a:spcBef>
              <a:buClrTx/>
              <a:buSzTx/>
              <a:buFontTx/>
              <a:buNone/>
            </a:pPr>
            <a:fld id="{6DD25C3E-1075-4285-8F39-4A2B99F728C5}" type="slidenum">
              <a:rPr lang="en-US" altLang="zh-CN" sz="1200">
                <a:latin typeface="Arial Black" panose="020B0A04020102020204" pitchFamily="34" charset="0"/>
                <a:cs typeface="Arial" panose="020B0604020202020204" pitchFamily="34" charset="0"/>
              </a:rPr>
              <a:t>44</a:t>
            </a:fld>
            <a:endParaRPr lang="en-US" altLang="zh-CN" sz="1200">
              <a:latin typeface="Arial Black" panose="020B0A04020102020204" pitchFamily="34" charset="0"/>
              <a:cs typeface="Arial" panose="020B0604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body" idx="1"/>
          </p:nvPr>
        </p:nvSpPr>
        <p:spPr>
          <a:xfrm>
            <a:off x="685800" y="836613"/>
            <a:ext cx="7772400" cy="5043487"/>
          </a:xfrm>
        </p:spPr>
        <p:txBody>
          <a:bodyPr/>
          <a:lstStyle/>
          <a:p>
            <a:pPr eaLnBrk="1" hangingPunct="1">
              <a:lnSpc>
                <a:spcPct val="120000"/>
              </a:lnSpc>
              <a:defRPr/>
            </a:pPr>
            <a:r>
              <a:rPr kumimoji="1" lang="zh-CN" altLang="en-US" sz="2800" b="1" dirty="0">
                <a:effectLst>
                  <a:outerShdw blurRad="38100" dist="38100" dir="2700000" algn="tl">
                    <a:srgbClr val="000000">
                      <a:alpha val="43137"/>
                    </a:srgbClr>
                  </a:outerShdw>
                </a:effectLst>
                <a:latin typeface="Times New Roman" panose="02020603050405020304" pitchFamily="18" charset="0"/>
              </a:rPr>
              <a:t>在编程时，如果只强调运算速度而不进行负数运算时，</a:t>
            </a:r>
            <a:r>
              <a:rPr kumimoji="1" lang="zh-CN" altLang="en-US" sz="2800" b="1" dirty="0">
                <a:solidFill>
                  <a:srgbClr val="0000FF"/>
                </a:solidFill>
                <a:effectLst>
                  <a:outerShdw blurRad="38100" dist="38100" dir="2700000" algn="tl">
                    <a:srgbClr val="000000">
                      <a:alpha val="43137"/>
                    </a:srgbClr>
                  </a:outerShdw>
                </a:effectLst>
                <a:latin typeface="Times New Roman" panose="02020603050405020304" pitchFamily="18" charset="0"/>
              </a:rPr>
              <a:t>最好采用无符号</a:t>
            </a:r>
            <a:r>
              <a:rPr kumimoji="1" lang="en-US" altLang="zh-CN" sz="2800" b="1" dirty="0">
                <a:solidFill>
                  <a:srgbClr val="0000FF"/>
                </a:solidFill>
                <a:effectLst>
                  <a:outerShdw blurRad="38100" dist="38100" dir="2700000" algn="tl">
                    <a:srgbClr val="000000">
                      <a:alpha val="43137"/>
                    </a:srgbClr>
                  </a:outerShdw>
                </a:effectLst>
                <a:latin typeface="Times New Roman" panose="02020603050405020304" pitchFamily="18" charset="0"/>
              </a:rPr>
              <a:t>(unsigned)</a:t>
            </a:r>
            <a:r>
              <a:rPr kumimoji="1" lang="zh-CN" altLang="en-US" sz="2800" b="1" dirty="0">
                <a:solidFill>
                  <a:srgbClr val="0000FF"/>
                </a:solidFill>
                <a:effectLst>
                  <a:outerShdw blurRad="38100" dist="38100" dir="2700000" algn="tl">
                    <a:srgbClr val="000000">
                      <a:alpha val="43137"/>
                    </a:srgbClr>
                  </a:outerShdw>
                </a:effectLst>
                <a:latin typeface="Times New Roman" panose="02020603050405020304" pitchFamily="18" charset="0"/>
              </a:rPr>
              <a:t>格式。</a:t>
            </a:r>
          </a:p>
          <a:p>
            <a:pPr eaLnBrk="1" hangingPunct="1">
              <a:lnSpc>
                <a:spcPct val="120000"/>
              </a:lnSpc>
              <a:defRPr/>
            </a:pPr>
            <a:r>
              <a:rPr kumimoji="1" lang="zh-CN" altLang="en-US" sz="2800" b="1" dirty="0">
                <a:effectLst>
                  <a:outerShdw blurRad="38100" dist="38100" dir="2700000" algn="tl">
                    <a:srgbClr val="000000">
                      <a:alpha val="43137"/>
                    </a:srgbClr>
                  </a:outerShdw>
                </a:effectLst>
                <a:latin typeface="Times New Roman" panose="02020603050405020304" pitchFamily="18" charset="0"/>
              </a:rPr>
              <a:t>无符号字符类型的使用：无论何时，应尽可能使用无符号字符变量，因为</a:t>
            </a:r>
            <a:r>
              <a:rPr kumimoji="1" lang="zh-CN" altLang="en-US" sz="2800" b="1" dirty="0">
                <a:solidFill>
                  <a:srgbClr val="0000FF"/>
                </a:solidFill>
                <a:effectLst>
                  <a:outerShdw blurRad="38100" dist="38100" dir="2700000" algn="tl">
                    <a:srgbClr val="000000">
                      <a:alpha val="43137"/>
                    </a:srgbClr>
                  </a:outerShdw>
                </a:effectLst>
                <a:latin typeface="Times New Roman" panose="02020603050405020304" pitchFamily="18" charset="0"/>
              </a:rPr>
              <a:t>它能直接被</a:t>
            </a:r>
            <a:r>
              <a:rPr kumimoji="1" lang="en-US" altLang="zh-CN" sz="2800" b="1" dirty="0">
                <a:solidFill>
                  <a:srgbClr val="0000FF"/>
                </a:solidFill>
                <a:effectLst>
                  <a:outerShdw blurRad="38100" dist="38100" dir="2700000" algn="tl">
                    <a:srgbClr val="000000">
                      <a:alpha val="43137"/>
                    </a:srgbClr>
                  </a:outerShdw>
                </a:effectLst>
                <a:latin typeface="Times New Roman" panose="02020603050405020304" pitchFamily="18" charset="0"/>
              </a:rPr>
              <a:t>MCS-51</a:t>
            </a:r>
            <a:r>
              <a:rPr kumimoji="1" lang="zh-CN" altLang="en-US" sz="2800" b="1" dirty="0">
                <a:solidFill>
                  <a:srgbClr val="0000FF"/>
                </a:solidFill>
                <a:effectLst>
                  <a:outerShdw blurRad="38100" dist="38100" dir="2700000" algn="tl">
                    <a:srgbClr val="000000">
                      <a:alpha val="43137"/>
                    </a:srgbClr>
                  </a:outerShdw>
                </a:effectLst>
                <a:latin typeface="Times New Roman" panose="02020603050405020304" pitchFamily="18" charset="0"/>
              </a:rPr>
              <a:t>所接受。</a:t>
            </a:r>
          </a:p>
          <a:p>
            <a:pPr eaLnBrk="1" hangingPunct="1">
              <a:lnSpc>
                <a:spcPct val="120000"/>
              </a:lnSpc>
              <a:defRPr/>
            </a:pPr>
            <a:r>
              <a:rPr kumimoji="1" lang="zh-CN" altLang="en-US" sz="2800" b="1" dirty="0">
                <a:effectLst>
                  <a:outerShdw blurRad="38100" dist="38100" dir="2700000" algn="tl">
                    <a:srgbClr val="000000">
                      <a:alpha val="43137"/>
                    </a:srgbClr>
                  </a:outerShdw>
                </a:effectLst>
                <a:latin typeface="Times New Roman" panose="02020603050405020304" pitchFamily="18" charset="0"/>
              </a:rPr>
              <a:t>有符号字符变量虽然也只占用一个字节，但需要进行额外的操作来进行测试代码的符号位。这无疑会降低代码效率。</a:t>
            </a:r>
          </a:p>
        </p:txBody>
      </p:sp>
      <p:sp>
        <p:nvSpPr>
          <p:cNvPr id="26627" name="Text Box 3"/>
          <p:cNvSpPr txBox="1">
            <a:spLocks noChangeArrowheads="1"/>
          </p:cNvSpPr>
          <p:nvPr/>
        </p:nvSpPr>
        <p:spPr bwMode="auto">
          <a:xfrm>
            <a:off x="1116013" y="260350"/>
            <a:ext cx="3024187" cy="579438"/>
          </a:xfrm>
          <a:prstGeom prst="rect">
            <a:avLst/>
          </a:prstGeom>
          <a:noFill/>
          <a:ln>
            <a:noFill/>
          </a:ln>
          <a:effectLst/>
        </p:spPr>
        <p:txBody>
          <a:bodyPr>
            <a:spAutoFit/>
          </a:bodyPr>
          <a:lstStyle/>
          <a:p>
            <a:pPr eaLnBrk="1" hangingPunct="1">
              <a:spcBef>
                <a:spcPct val="50000"/>
              </a:spcBef>
              <a:defRPr/>
            </a:pPr>
            <a:r>
              <a:rPr lang="zh-CN" altLang="en-US" sz="3200" b="1" dirty="0">
                <a:solidFill>
                  <a:schemeClr val="hlink"/>
                </a:solidFill>
                <a:effectLst>
                  <a:outerShdw blurRad="38100" dist="38100" dir="2700000" algn="tl">
                    <a:srgbClr val="C0C0C0"/>
                  </a:outerShdw>
                </a:effectLst>
                <a:ea typeface="楷体_GB2312" pitchFamily="49" charset="-122"/>
              </a:rPr>
              <a:t>说明：</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body" idx="1"/>
          </p:nvPr>
        </p:nvSpPr>
        <p:spPr>
          <a:xfrm>
            <a:off x="685800" y="1052513"/>
            <a:ext cx="7772400" cy="5043487"/>
          </a:xfrm>
        </p:spPr>
        <p:txBody>
          <a:bodyPr/>
          <a:lstStyle/>
          <a:p>
            <a:pPr eaLnBrk="1" hangingPunct="1">
              <a:lnSpc>
                <a:spcPct val="115000"/>
              </a:lnSpc>
              <a:defRPr/>
            </a:pPr>
            <a:r>
              <a:rPr kumimoji="1" lang="zh-CN" altLang="en-US" b="1" dirty="0">
                <a:solidFill>
                  <a:srgbClr val="0000FF"/>
                </a:solidFill>
                <a:effectLst>
                  <a:outerShdw blurRad="38100" dist="38100" dir="2700000" algn="tl">
                    <a:srgbClr val="000000">
                      <a:alpha val="43137"/>
                    </a:srgbClr>
                  </a:outerShdw>
                </a:effectLst>
                <a:latin typeface="+mn-ea"/>
              </a:rPr>
              <a:t>使用简化形式定义数据类型</a:t>
            </a:r>
            <a:r>
              <a:rPr kumimoji="1" lang="zh-CN" altLang="en-US" b="1" dirty="0">
                <a:effectLst>
                  <a:outerShdw blurRad="38100" dist="38100" dir="2700000" algn="tl">
                    <a:srgbClr val="000000">
                      <a:alpha val="43137"/>
                    </a:srgbClr>
                  </a:outerShdw>
                </a:effectLst>
                <a:latin typeface="+mn-ea"/>
              </a:rPr>
              <a:t>。</a:t>
            </a:r>
          </a:p>
          <a:p>
            <a:pPr eaLnBrk="1" hangingPunct="1">
              <a:lnSpc>
                <a:spcPct val="115000"/>
              </a:lnSpc>
              <a:defRPr/>
            </a:pPr>
            <a:r>
              <a:rPr kumimoji="1" lang="zh-CN" altLang="en-US" b="1" dirty="0">
                <a:effectLst>
                  <a:outerShdw blurRad="38100" dist="38100" dir="2700000" algn="tl">
                    <a:srgbClr val="000000">
                      <a:alpha val="43137"/>
                    </a:srgbClr>
                  </a:outerShdw>
                </a:effectLst>
                <a:latin typeface="+mn-ea"/>
              </a:rPr>
              <a:t>其方法是在源程序开头使用</a:t>
            </a:r>
            <a:r>
              <a:rPr kumimoji="1" lang="en-US" altLang="zh-CN" b="1" dirty="0">
                <a:effectLst>
                  <a:outerShdw blurRad="38100" dist="38100" dir="2700000" algn="tl">
                    <a:srgbClr val="000000">
                      <a:alpha val="43137"/>
                    </a:srgbClr>
                  </a:outerShdw>
                </a:effectLst>
                <a:latin typeface="+mn-ea"/>
              </a:rPr>
              <a:t>#define</a:t>
            </a:r>
            <a:r>
              <a:rPr kumimoji="1" lang="zh-CN" altLang="en-US" b="1" dirty="0">
                <a:effectLst>
                  <a:outerShdw blurRad="38100" dist="38100" dir="2700000" algn="tl">
                    <a:srgbClr val="000000">
                      <a:alpha val="43137"/>
                    </a:srgbClr>
                  </a:outerShdw>
                </a:effectLst>
                <a:latin typeface="+mn-ea"/>
              </a:rPr>
              <a:t>语句自定义简化的类型标识符。例如：</a:t>
            </a:r>
          </a:p>
          <a:p>
            <a:pPr lvl="1" eaLnBrk="1" hangingPunct="1">
              <a:lnSpc>
                <a:spcPct val="115000"/>
              </a:lnSpc>
              <a:buFont typeface="Wingdings" panose="05000000000000000000" pitchFamily="2" charset="2"/>
              <a:buNone/>
              <a:defRPr/>
            </a:pPr>
            <a:r>
              <a:rPr kumimoji="1" lang="en-US" altLang="zh-CN" b="1" dirty="0">
                <a:effectLst>
                  <a:outerShdw blurRad="38100" dist="38100" dir="2700000" algn="tl">
                    <a:srgbClr val="000000">
                      <a:alpha val="43137"/>
                    </a:srgbClr>
                  </a:outerShdw>
                </a:effectLst>
                <a:latin typeface="+mn-ea"/>
              </a:rPr>
              <a:t>#define </a:t>
            </a:r>
            <a:r>
              <a:rPr kumimoji="1" lang="en-US" altLang="zh-CN" b="1" dirty="0" err="1">
                <a:effectLst>
                  <a:outerShdw blurRad="38100" dist="38100" dir="2700000" algn="tl">
                    <a:srgbClr val="000000">
                      <a:alpha val="43137"/>
                    </a:srgbClr>
                  </a:outerShdw>
                </a:effectLst>
                <a:latin typeface="+mn-ea"/>
              </a:rPr>
              <a:t>uchar</a:t>
            </a:r>
            <a:r>
              <a:rPr kumimoji="1" lang="en-US" altLang="zh-CN" b="1" dirty="0">
                <a:effectLst>
                  <a:outerShdw blurRad="38100" dist="38100" dir="2700000" algn="tl">
                    <a:srgbClr val="000000">
                      <a:alpha val="43137"/>
                    </a:srgbClr>
                  </a:outerShdw>
                </a:effectLst>
                <a:latin typeface="+mn-ea"/>
              </a:rPr>
              <a:t> unsigned char </a:t>
            </a:r>
          </a:p>
          <a:p>
            <a:pPr lvl="1" eaLnBrk="1" hangingPunct="1">
              <a:lnSpc>
                <a:spcPct val="115000"/>
              </a:lnSpc>
              <a:buFont typeface="Wingdings" panose="05000000000000000000" pitchFamily="2" charset="2"/>
              <a:buNone/>
              <a:defRPr/>
            </a:pPr>
            <a:r>
              <a:rPr kumimoji="1" lang="en-US" altLang="zh-CN" b="1" dirty="0">
                <a:effectLst>
                  <a:outerShdw blurRad="38100" dist="38100" dir="2700000" algn="tl">
                    <a:srgbClr val="000000">
                      <a:alpha val="43137"/>
                    </a:srgbClr>
                  </a:outerShdw>
                </a:effectLst>
                <a:latin typeface="+mn-ea"/>
              </a:rPr>
              <a:t>#define </a:t>
            </a:r>
            <a:r>
              <a:rPr kumimoji="1" lang="en-US" altLang="zh-CN" b="1" dirty="0" err="1">
                <a:effectLst>
                  <a:outerShdw blurRad="38100" dist="38100" dir="2700000" algn="tl">
                    <a:srgbClr val="000000">
                      <a:alpha val="43137"/>
                    </a:srgbClr>
                  </a:outerShdw>
                </a:effectLst>
                <a:latin typeface="+mn-ea"/>
              </a:rPr>
              <a:t>uint</a:t>
            </a:r>
            <a:r>
              <a:rPr kumimoji="1" lang="en-US" altLang="zh-CN" b="1" dirty="0">
                <a:effectLst>
                  <a:outerShdw blurRad="38100" dist="38100" dir="2700000" algn="tl">
                    <a:srgbClr val="000000">
                      <a:alpha val="43137"/>
                    </a:srgbClr>
                  </a:outerShdw>
                </a:effectLst>
                <a:latin typeface="+mn-ea"/>
              </a:rPr>
              <a:t> unsigned </a:t>
            </a:r>
            <a:r>
              <a:rPr kumimoji="1" lang="en-US" altLang="zh-CN" b="1" dirty="0" err="1">
                <a:effectLst>
                  <a:outerShdw blurRad="38100" dist="38100" dir="2700000" algn="tl">
                    <a:srgbClr val="000000">
                      <a:alpha val="43137"/>
                    </a:srgbClr>
                  </a:outerShdw>
                </a:effectLst>
                <a:latin typeface="+mn-ea"/>
              </a:rPr>
              <a:t>int</a:t>
            </a:r>
            <a:r>
              <a:rPr kumimoji="1" lang="en-US" altLang="zh-CN" b="1" dirty="0">
                <a:effectLst>
                  <a:outerShdw blurRad="38100" dist="38100" dir="2700000" algn="tl">
                    <a:srgbClr val="000000">
                      <a:alpha val="43137"/>
                    </a:srgbClr>
                  </a:outerShdw>
                </a:effectLst>
                <a:latin typeface="+mn-ea"/>
              </a:rPr>
              <a:t> </a:t>
            </a:r>
          </a:p>
          <a:p>
            <a:pPr eaLnBrk="1" hangingPunct="1">
              <a:lnSpc>
                <a:spcPct val="115000"/>
              </a:lnSpc>
              <a:defRPr/>
            </a:pPr>
            <a:r>
              <a:rPr kumimoji="1" lang="zh-CN" altLang="en-US" b="1" dirty="0">
                <a:effectLst>
                  <a:outerShdw blurRad="38100" dist="38100" dir="2700000" algn="tl">
                    <a:srgbClr val="000000">
                      <a:alpha val="43137"/>
                    </a:srgbClr>
                  </a:outerShdw>
                </a:effectLst>
                <a:latin typeface="+mn-ea"/>
              </a:rPr>
              <a:t>这样，在编程中，就可以用</a:t>
            </a:r>
            <a:r>
              <a:rPr kumimoji="1" lang="en-US" altLang="zh-CN" b="1" dirty="0" err="1">
                <a:effectLst>
                  <a:outerShdw blurRad="38100" dist="38100" dir="2700000" algn="tl">
                    <a:srgbClr val="000000">
                      <a:alpha val="43137"/>
                    </a:srgbClr>
                  </a:outerShdw>
                </a:effectLst>
                <a:latin typeface="+mn-ea"/>
              </a:rPr>
              <a:t>uchar</a:t>
            </a:r>
            <a:r>
              <a:rPr kumimoji="1" lang="zh-CN" altLang="en-US" b="1" dirty="0">
                <a:effectLst>
                  <a:outerShdw blurRad="38100" dist="38100" dir="2700000" algn="tl">
                    <a:srgbClr val="000000">
                      <a:alpha val="43137"/>
                    </a:srgbClr>
                  </a:outerShdw>
                </a:effectLst>
                <a:latin typeface="+mn-ea"/>
              </a:rPr>
              <a:t>代替</a:t>
            </a:r>
            <a:r>
              <a:rPr kumimoji="1" lang="en-US" altLang="zh-CN" b="1" dirty="0">
                <a:effectLst>
                  <a:outerShdw blurRad="38100" dist="38100" dir="2700000" algn="tl">
                    <a:srgbClr val="000000">
                      <a:alpha val="43137"/>
                    </a:srgbClr>
                  </a:outerShdw>
                </a:effectLst>
                <a:latin typeface="+mn-ea"/>
              </a:rPr>
              <a:t>unsigned char</a:t>
            </a:r>
            <a:r>
              <a:rPr kumimoji="1" lang="zh-CN" altLang="en-US" b="1" dirty="0">
                <a:effectLst>
                  <a:outerShdw blurRad="38100" dist="38100" dir="2700000" algn="tl">
                    <a:srgbClr val="000000">
                      <a:alpha val="43137"/>
                    </a:srgbClr>
                  </a:outerShdw>
                </a:effectLst>
                <a:latin typeface="+mn-ea"/>
              </a:rPr>
              <a:t>，用</a:t>
            </a:r>
            <a:r>
              <a:rPr kumimoji="1" lang="en-US" altLang="zh-CN" b="1" dirty="0" err="1">
                <a:effectLst>
                  <a:outerShdw blurRad="38100" dist="38100" dir="2700000" algn="tl">
                    <a:srgbClr val="000000">
                      <a:alpha val="43137"/>
                    </a:srgbClr>
                  </a:outerShdw>
                </a:effectLst>
                <a:latin typeface="+mn-ea"/>
              </a:rPr>
              <a:t>uint</a:t>
            </a:r>
            <a:r>
              <a:rPr kumimoji="1" lang="zh-CN" altLang="en-US" b="1" dirty="0">
                <a:effectLst>
                  <a:outerShdw blurRad="38100" dist="38100" dir="2700000" algn="tl">
                    <a:srgbClr val="000000">
                      <a:alpha val="43137"/>
                    </a:srgbClr>
                  </a:outerShdw>
                </a:effectLst>
                <a:latin typeface="+mn-ea"/>
              </a:rPr>
              <a:t>代替</a:t>
            </a:r>
            <a:r>
              <a:rPr kumimoji="1" lang="en-US" altLang="zh-CN" b="1" dirty="0">
                <a:effectLst>
                  <a:outerShdw blurRad="38100" dist="38100" dir="2700000" algn="tl">
                    <a:srgbClr val="000000">
                      <a:alpha val="43137"/>
                    </a:srgbClr>
                  </a:outerShdw>
                </a:effectLst>
                <a:latin typeface="+mn-ea"/>
              </a:rPr>
              <a:t>unsigned </a:t>
            </a:r>
            <a:r>
              <a:rPr kumimoji="1" lang="en-US" altLang="zh-CN" b="1" dirty="0" err="1">
                <a:effectLst>
                  <a:outerShdw blurRad="38100" dist="38100" dir="2700000" algn="tl">
                    <a:srgbClr val="000000">
                      <a:alpha val="43137"/>
                    </a:srgbClr>
                  </a:outerShdw>
                </a:effectLst>
                <a:latin typeface="+mn-ea"/>
              </a:rPr>
              <a:t>int</a:t>
            </a:r>
            <a:r>
              <a:rPr kumimoji="1" lang="zh-CN" altLang="en-US" b="1" dirty="0">
                <a:effectLst>
                  <a:outerShdw blurRad="38100" dist="38100" dir="2700000" algn="tl">
                    <a:srgbClr val="000000">
                      <a:alpha val="43137"/>
                    </a:srgbClr>
                  </a:outerShdw>
                </a:effectLst>
                <a:latin typeface="+mn-ea"/>
              </a:rPr>
              <a:t>来定义变量。</a:t>
            </a:r>
          </a:p>
        </p:txBody>
      </p:sp>
      <p:sp>
        <p:nvSpPr>
          <p:cNvPr id="36867" name="AutoShape 3">
            <a:hlinkClick r:id="rId2" action="ppaction://hlinksldjump" highlightClick="1"/>
          </p:cNvPr>
          <p:cNvSpPr>
            <a:spLocks noChangeArrowheads="1"/>
          </p:cNvSpPr>
          <p:nvPr/>
        </p:nvSpPr>
        <p:spPr bwMode="auto">
          <a:xfrm>
            <a:off x="8610600" y="6324600"/>
            <a:ext cx="533400" cy="381000"/>
          </a:xfrm>
          <a:prstGeom prst="actionButtonBackPrevious">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762000" y="457200"/>
            <a:ext cx="8382000" cy="5708650"/>
          </a:xfrm>
          <a:prstGeom prst="rect">
            <a:avLst/>
          </a:prstGeom>
          <a:solidFill>
            <a:schemeClr val="bg1"/>
          </a:solid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5000"/>
              </a:lnSpc>
              <a:spcBef>
                <a:spcPct val="50000"/>
              </a:spcBef>
              <a:defRPr/>
            </a:pPr>
            <a:r>
              <a:rPr lang="en-US" altLang="zh-CN" sz="3200" b="1">
                <a:solidFill>
                  <a:srgbClr val="0000FF"/>
                </a:solidFill>
                <a:effectLst>
                  <a:outerShdw blurRad="38100" dist="38100" dir="2700000" algn="tl">
                    <a:srgbClr val="000000">
                      <a:alpha val="43137"/>
                    </a:srgbClr>
                  </a:outerShdw>
                </a:effectLst>
                <a:latin typeface="仿宋_GB2312" pitchFamily="49" charset="-122"/>
                <a:ea typeface="仿宋_GB2312" pitchFamily="49" charset="-122"/>
              </a:rPr>
              <a:t>C-51</a:t>
            </a:r>
            <a:r>
              <a:rPr lang="zh-CN" altLang="en-US" sz="3200" b="1">
                <a:solidFill>
                  <a:srgbClr val="0000FF"/>
                </a:solidFill>
                <a:effectLst>
                  <a:outerShdw blurRad="38100" dist="38100" dir="2700000" algn="tl">
                    <a:srgbClr val="000000">
                      <a:alpha val="43137"/>
                    </a:srgbClr>
                  </a:outerShdw>
                </a:effectLst>
                <a:latin typeface="仿宋_GB2312" pitchFamily="49" charset="-122"/>
                <a:ea typeface="仿宋_GB2312" pitchFamily="49" charset="-122"/>
              </a:rPr>
              <a:t>的运算符</a:t>
            </a:r>
          </a:p>
          <a:p>
            <a:pPr eaLnBrk="1" hangingPunct="1">
              <a:lnSpc>
                <a:spcPct val="85000"/>
              </a:lnSpc>
              <a:spcBef>
                <a:spcPct val="50000"/>
              </a:spcBef>
              <a:defRPr/>
            </a:pPr>
            <a:r>
              <a:rPr lang="zh-CN" altLang="en-US" b="1">
                <a:effectLst>
                  <a:outerShdw blurRad="38100" dist="38100" dir="2700000" algn="tl">
                    <a:srgbClr val="000000">
                      <a:alpha val="43137"/>
                    </a:srgbClr>
                  </a:outerShdw>
                </a:effectLst>
                <a:latin typeface="仿宋_GB2312" pitchFamily="49" charset="-122"/>
                <a:ea typeface="仿宋_GB2312" pitchFamily="49" charset="-122"/>
              </a:rPr>
              <a:t>与</a:t>
            </a:r>
            <a:r>
              <a:rPr lang="en-US" altLang="zh-CN" b="1">
                <a:effectLst>
                  <a:outerShdw blurRad="38100" dist="38100" dir="2700000" algn="tl">
                    <a:srgbClr val="000000">
                      <a:alpha val="43137"/>
                    </a:srgbClr>
                  </a:outerShdw>
                </a:effectLst>
                <a:latin typeface="仿宋_GB2312" pitchFamily="49" charset="-122"/>
                <a:ea typeface="仿宋_GB2312" pitchFamily="49" charset="-122"/>
              </a:rPr>
              <a:t>C</a:t>
            </a:r>
            <a:r>
              <a:rPr lang="zh-CN" altLang="en-US" b="1">
                <a:effectLst>
                  <a:outerShdw blurRad="38100" dist="38100" dir="2700000" algn="tl">
                    <a:srgbClr val="000000">
                      <a:alpha val="43137"/>
                    </a:srgbClr>
                  </a:outerShdw>
                </a:effectLst>
                <a:latin typeface="仿宋_GB2312" pitchFamily="49" charset="-122"/>
                <a:ea typeface="仿宋_GB2312" pitchFamily="49" charset="-122"/>
              </a:rPr>
              <a:t>语言基本相同：</a:t>
            </a:r>
          </a:p>
          <a:p>
            <a:pPr eaLnBrk="1" hangingPunct="1">
              <a:lnSpc>
                <a:spcPct val="80000"/>
              </a:lnSpc>
              <a:spcBef>
                <a:spcPct val="50000"/>
              </a:spcBef>
              <a:defRPr/>
            </a:pPr>
            <a:r>
              <a:rPr lang="en-US" altLang="zh-CN" b="1">
                <a:effectLst>
                  <a:outerShdw blurRad="38100" dist="38100" dir="2700000" algn="tl">
                    <a:srgbClr val="000000">
                      <a:alpha val="43137"/>
                    </a:srgbClr>
                  </a:outerShdw>
                </a:effectLst>
                <a:latin typeface="宋体" panose="02010600030101010101" pitchFamily="2" charset="-122"/>
              </a:rPr>
              <a:t>+   -   *   /</a:t>
            </a:r>
            <a:r>
              <a:rPr lang="en-US" altLang="zh-CN" sz="2400" b="1">
                <a:effectLst>
                  <a:outerShdw blurRad="38100" dist="38100" dir="2700000" algn="tl">
                    <a:srgbClr val="000000">
                      <a:alpha val="43137"/>
                    </a:srgbClr>
                  </a:outerShdw>
                </a:effectLst>
                <a:latin typeface="宋体" panose="02010600030101010101" pitchFamily="2" charset="-122"/>
              </a:rPr>
              <a:t>  </a:t>
            </a:r>
            <a:r>
              <a:rPr lang="zh-CN" altLang="en-US" sz="2400" b="1">
                <a:effectLst>
                  <a:outerShdw blurRad="38100" dist="38100" dir="2700000" algn="tl">
                    <a:srgbClr val="000000">
                      <a:alpha val="43137"/>
                    </a:srgbClr>
                  </a:outerShdw>
                </a:effectLst>
                <a:latin typeface="宋体" panose="02010600030101010101" pitchFamily="2" charset="-122"/>
              </a:rPr>
              <a:t>（加 减 乘 除）</a:t>
            </a:r>
          </a:p>
          <a:p>
            <a:pPr eaLnBrk="1" hangingPunct="1">
              <a:lnSpc>
                <a:spcPct val="80000"/>
              </a:lnSpc>
              <a:spcBef>
                <a:spcPct val="50000"/>
              </a:spcBef>
              <a:buFont typeface="Wingdings" panose="05000000000000000000" pitchFamily="2" charset="2"/>
              <a:buNone/>
              <a:defRPr/>
            </a:pPr>
            <a:r>
              <a:rPr lang="en-US" altLang="zh-CN" b="1">
                <a:effectLst>
                  <a:outerShdw blurRad="38100" dist="38100" dir="2700000" algn="tl">
                    <a:srgbClr val="000000">
                      <a:alpha val="43137"/>
                    </a:srgbClr>
                  </a:outerShdw>
                </a:effectLst>
                <a:latin typeface="宋体" panose="02010600030101010101" pitchFamily="2" charset="-122"/>
              </a:rPr>
              <a:t>&gt;   &gt;=  &lt;  &lt;=</a:t>
            </a:r>
            <a:r>
              <a:rPr lang="en-US" altLang="zh-CN" sz="2400" b="1">
                <a:effectLst>
                  <a:outerShdw blurRad="38100" dist="38100" dir="2700000" algn="tl">
                    <a:srgbClr val="000000">
                      <a:alpha val="43137"/>
                    </a:srgbClr>
                  </a:outerShdw>
                </a:effectLst>
                <a:latin typeface="宋体" panose="02010600030101010101" pitchFamily="2" charset="-122"/>
              </a:rPr>
              <a:t>  </a:t>
            </a:r>
            <a:r>
              <a:rPr lang="zh-CN" altLang="en-US" sz="2400" b="1">
                <a:effectLst>
                  <a:outerShdw blurRad="38100" dist="38100" dir="2700000" algn="tl">
                    <a:srgbClr val="000000">
                      <a:alpha val="43137"/>
                    </a:srgbClr>
                  </a:outerShdw>
                </a:effectLst>
                <a:latin typeface="宋体" panose="02010600030101010101" pitchFamily="2" charset="-122"/>
              </a:rPr>
              <a:t>（大于  大于等于  小于  小于等于）</a:t>
            </a:r>
          </a:p>
          <a:p>
            <a:pPr eaLnBrk="1" hangingPunct="1">
              <a:lnSpc>
                <a:spcPct val="80000"/>
              </a:lnSpc>
              <a:spcBef>
                <a:spcPct val="50000"/>
              </a:spcBef>
              <a:buFont typeface="Wingdings" panose="05000000000000000000" pitchFamily="2" charset="2"/>
              <a:buNone/>
              <a:defRPr/>
            </a:pPr>
            <a:r>
              <a:rPr lang="en-US" altLang="zh-CN" b="1">
                <a:effectLst>
                  <a:outerShdw blurRad="38100" dist="38100" dir="2700000" algn="tl">
                    <a:srgbClr val="000000">
                      <a:alpha val="43137"/>
                    </a:srgbClr>
                  </a:outerShdw>
                </a:effectLst>
                <a:latin typeface="宋体" panose="02010600030101010101" pitchFamily="2" charset="-122"/>
              </a:rPr>
              <a:t>==  !=</a:t>
            </a:r>
            <a:r>
              <a:rPr lang="en-US" altLang="zh-CN" sz="2400" b="1">
                <a:effectLst>
                  <a:outerShdw blurRad="38100" dist="38100" dir="2700000" algn="tl">
                    <a:srgbClr val="000000">
                      <a:alpha val="43137"/>
                    </a:srgbClr>
                  </a:outerShdw>
                </a:effectLst>
                <a:latin typeface="宋体" panose="02010600030101010101" pitchFamily="2" charset="-122"/>
              </a:rPr>
              <a:t>         </a:t>
            </a:r>
            <a:r>
              <a:rPr lang="zh-CN" altLang="en-US" sz="2400" b="1">
                <a:effectLst>
                  <a:outerShdw blurRad="38100" dist="38100" dir="2700000" algn="tl">
                    <a:srgbClr val="000000">
                      <a:alpha val="43137"/>
                    </a:srgbClr>
                  </a:outerShdw>
                </a:effectLst>
                <a:latin typeface="宋体" panose="02010600030101010101" pitchFamily="2" charset="-122"/>
              </a:rPr>
              <a:t>（测试等于  测试不等于）</a:t>
            </a:r>
          </a:p>
          <a:p>
            <a:pPr eaLnBrk="1" hangingPunct="1">
              <a:lnSpc>
                <a:spcPct val="80000"/>
              </a:lnSpc>
              <a:spcBef>
                <a:spcPct val="50000"/>
              </a:spcBef>
              <a:buFont typeface="Wingdings" panose="05000000000000000000" pitchFamily="2" charset="2"/>
              <a:buNone/>
              <a:defRPr/>
            </a:pPr>
            <a:endParaRPr lang="zh-CN" altLang="en-US" sz="2400" b="1">
              <a:effectLst>
                <a:outerShdw blurRad="38100" dist="38100" dir="2700000" algn="tl">
                  <a:srgbClr val="000000">
                    <a:alpha val="43137"/>
                  </a:srgbClr>
                </a:outerShdw>
              </a:effectLst>
              <a:latin typeface="宋体" panose="02010600030101010101" pitchFamily="2" charset="-122"/>
            </a:endParaRPr>
          </a:p>
          <a:p>
            <a:pPr eaLnBrk="1" hangingPunct="1">
              <a:lnSpc>
                <a:spcPct val="80000"/>
              </a:lnSpc>
              <a:defRPr/>
            </a:pPr>
            <a:r>
              <a:rPr lang="en-US" altLang="zh-CN" b="1">
                <a:effectLst>
                  <a:outerShdw blurRad="38100" dist="38100" dir="2700000" algn="tl">
                    <a:srgbClr val="000000">
                      <a:alpha val="43137"/>
                    </a:srgbClr>
                  </a:outerShdw>
                </a:effectLst>
                <a:latin typeface="宋体" panose="02010600030101010101" pitchFamily="2" charset="-122"/>
              </a:rPr>
              <a:t>&amp;&amp;  ||  !</a:t>
            </a:r>
            <a:r>
              <a:rPr lang="en-US" altLang="zh-CN" sz="2400" b="1">
                <a:effectLst>
                  <a:outerShdw blurRad="38100" dist="38100" dir="2700000" algn="tl">
                    <a:srgbClr val="000000">
                      <a:alpha val="43137"/>
                    </a:srgbClr>
                  </a:outerShdw>
                </a:effectLst>
                <a:latin typeface="宋体" panose="02010600030101010101" pitchFamily="2" charset="-122"/>
              </a:rPr>
              <a:t>      </a:t>
            </a:r>
            <a:r>
              <a:rPr lang="zh-CN" altLang="en-US" sz="2400" b="1">
                <a:effectLst>
                  <a:outerShdw blurRad="38100" dist="38100" dir="2700000" algn="tl">
                    <a:srgbClr val="000000">
                      <a:alpha val="43137"/>
                    </a:srgbClr>
                  </a:outerShdw>
                </a:effectLst>
                <a:latin typeface="宋体" panose="02010600030101010101" pitchFamily="2" charset="-122"/>
              </a:rPr>
              <a:t>（逻辑与    逻辑或  逻辑非 ）</a:t>
            </a:r>
          </a:p>
          <a:p>
            <a:pPr eaLnBrk="1" hangingPunct="1">
              <a:lnSpc>
                <a:spcPct val="80000"/>
              </a:lnSpc>
              <a:spcBef>
                <a:spcPct val="50000"/>
              </a:spcBef>
              <a:defRPr/>
            </a:pPr>
            <a:endParaRPr lang="zh-CN" altLang="en-US" sz="2400" b="1">
              <a:effectLst>
                <a:outerShdw blurRad="38100" dist="38100" dir="2700000" algn="tl">
                  <a:srgbClr val="000000">
                    <a:alpha val="43137"/>
                  </a:srgbClr>
                </a:outerShdw>
              </a:effectLst>
              <a:latin typeface="宋体" panose="02010600030101010101" pitchFamily="2" charset="-122"/>
            </a:endParaRPr>
          </a:p>
          <a:p>
            <a:pPr eaLnBrk="1" hangingPunct="1">
              <a:lnSpc>
                <a:spcPct val="80000"/>
              </a:lnSpc>
              <a:spcBef>
                <a:spcPct val="50000"/>
              </a:spcBef>
              <a:defRPr/>
            </a:pPr>
            <a:r>
              <a:rPr lang="en-US" altLang="zh-CN" b="1">
                <a:effectLst>
                  <a:outerShdw blurRad="38100" dist="38100" dir="2700000" algn="tl">
                    <a:srgbClr val="000000">
                      <a:alpha val="43137"/>
                    </a:srgbClr>
                  </a:outerShdw>
                </a:effectLst>
                <a:latin typeface="宋体" panose="02010600030101010101" pitchFamily="2" charset="-122"/>
              </a:rPr>
              <a:t>&gt;&gt;  &lt;&lt;</a:t>
            </a:r>
            <a:r>
              <a:rPr lang="en-US" altLang="zh-CN" sz="2400" b="1">
                <a:effectLst>
                  <a:outerShdw blurRad="38100" dist="38100" dir="2700000" algn="tl">
                    <a:srgbClr val="000000">
                      <a:alpha val="43137"/>
                    </a:srgbClr>
                  </a:outerShdw>
                </a:effectLst>
                <a:latin typeface="宋体" panose="02010600030101010101" pitchFamily="2" charset="-122"/>
              </a:rPr>
              <a:t>         </a:t>
            </a:r>
            <a:r>
              <a:rPr lang="zh-CN" altLang="en-US" sz="2400" b="1">
                <a:effectLst>
                  <a:outerShdw blurRad="38100" dist="38100" dir="2700000" algn="tl">
                    <a:srgbClr val="000000">
                      <a:alpha val="43137"/>
                    </a:srgbClr>
                  </a:outerShdw>
                </a:effectLst>
                <a:latin typeface="宋体" panose="02010600030101010101" pitchFamily="2" charset="-122"/>
              </a:rPr>
              <a:t>（位右移    位左移）</a:t>
            </a:r>
          </a:p>
          <a:p>
            <a:pPr eaLnBrk="1" hangingPunct="1">
              <a:lnSpc>
                <a:spcPct val="80000"/>
              </a:lnSpc>
              <a:spcBef>
                <a:spcPct val="50000"/>
              </a:spcBef>
              <a:buFont typeface="Wingdings" panose="05000000000000000000" pitchFamily="2" charset="2"/>
              <a:buNone/>
              <a:defRPr/>
            </a:pPr>
            <a:r>
              <a:rPr lang="en-US" altLang="zh-CN" b="1">
                <a:effectLst>
                  <a:outerShdw blurRad="38100" dist="38100" dir="2700000" algn="tl">
                    <a:srgbClr val="000000">
                      <a:alpha val="43137"/>
                    </a:srgbClr>
                  </a:outerShdw>
                </a:effectLst>
                <a:latin typeface="宋体" panose="02010600030101010101" pitchFamily="2" charset="-122"/>
              </a:rPr>
              <a:t>&amp; |</a:t>
            </a:r>
            <a:r>
              <a:rPr lang="en-US" altLang="zh-CN" sz="2400" b="1">
                <a:effectLst>
                  <a:outerShdw blurRad="38100" dist="38100" dir="2700000" algn="tl">
                    <a:srgbClr val="000000">
                      <a:alpha val="43137"/>
                    </a:srgbClr>
                  </a:outerShdw>
                </a:effectLst>
                <a:latin typeface="宋体" panose="02010600030101010101" pitchFamily="2" charset="-122"/>
              </a:rPr>
              <a:t>             (</a:t>
            </a:r>
            <a:r>
              <a:rPr lang="zh-CN" altLang="en-US" sz="2400" b="1">
                <a:effectLst>
                  <a:outerShdw blurRad="38100" dist="38100" dir="2700000" algn="tl">
                    <a:srgbClr val="000000">
                      <a:alpha val="43137"/>
                    </a:srgbClr>
                  </a:outerShdw>
                </a:effectLst>
                <a:latin typeface="宋体" panose="02010600030101010101" pitchFamily="2" charset="-122"/>
              </a:rPr>
              <a:t>按位与    按位或</a:t>
            </a:r>
            <a:r>
              <a:rPr lang="en-US" altLang="zh-CN" sz="2400" b="1">
                <a:effectLst>
                  <a:outerShdw blurRad="38100" dist="38100" dir="2700000" algn="tl">
                    <a:srgbClr val="000000">
                      <a:alpha val="43137"/>
                    </a:srgbClr>
                  </a:outerShdw>
                </a:effectLst>
                <a:latin typeface="宋体" panose="02010600030101010101" pitchFamily="2" charset="-122"/>
              </a:rPr>
              <a:t>)</a:t>
            </a:r>
          </a:p>
          <a:p>
            <a:pPr eaLnBrk="1" hangingPunct="1">
              <a:lnSpc>
                <a:spcPct val="80000"/>
              </a:lnSpc>
              <a:spcBef>
                <a:spcPct val="50000"/>
              </a:spcBef>
              <a:buFont typeface="Wingdings" panose="05000000000000000000" pitchFamily="2" charset="2"/>
              <a:buNone/>
              <a:defRPr/>
            </a:pPr>
            <a:r>
              <a:rPr lang="en-US" altLang="zh-CN" b="1">
                <a:effectLst>
                  <a:outerShdw blurRad="38100" dist="38100" dir="2700000" algn="tl">
                    <a:srgbClr val="000000">
                      <a:alpha val="43137"/>
                    </a:srgbClr>
                  </a:outerShdw>
                </a:effectLst>
                <a:latin typeface="Times New Roman" panose="02020603050405020304" pitchFamily="18" charset="0"/>
              </a:rPr>
              <a:t>^</a:t>
            </a:r>
            <a:r>
              <a:rPr lang="en-US" altLang="zh-CN" b="1">
                <a:effectLst>
                  <a:outerShdw blurRad="38100" dist="38100" dir="2700000" algn="tl">
                    <a:srgbClr val="000000">
                      <a:alpha val="43137"/>
                    </a:srgbClr>
                  </a:outerShdw>
                </a:effectLst>
                <a:latin typeface="宋体" panose="02010600030101010101" pitchFamily="2" charset="-122"/>
              </a:rPr>
              <a:t> ~</a:t>
            </a:r>
            <a:r>
              <a:rPr lang="en-US" altLang="zh-CN" sz="2400" b="1">
                <a:effectLst>
                  <a:outerShdw blurRad="38100" dist="38100" dir="2700000" algn="tl">
                    <a:srgbClr val="000000">
                      <a:alpha val="43137"/>
                    </a:srgbClr>
                  </a:outerShdw>
                </a:effectLst>
                <a:latin typeface="宋体" panose="02010600030101010101" pitchFamily="2" charset="-122"/>
              </a:rPr>
              <a:t>             (</a:t>
            </a:r>
            <a:r>
              <a:rPr lang="zh-CN" altLang="en-US" sz="2400" b="1">
                <a:effectLst>
                  <a:outerShdw blurRad="38100" dist="38100" dir="2700000" algn="tl">
                    <a:srgbClr val="000000">
                      <a:alpha val="43137"/>
                    </a:srgbClr>
                  </a:outerShdw>
                </a:effectLst>
                <a:latin typeface="宋体" panose="02010600030101010101" pitchFamily="2" charset="-122"/>
              </a:rPr>
              <a:t>按位异或  按位取反</a:t>
            </a:r>
            <a:r>
              <a:rPr lang="en-US" altLang="zh-CN" sz="2400" b="1">
                <a:effectLst>
                  <a:outerShdw blurRad="38100" dist="38100" dir="2700000" algn="tl">
                    <a:srgbClr val="000000">
                      <a:alpha val="43137"/>
                    </a:srgbClr>
                  </a:outerShdw>
                </a:effectLst>
                <a:latin typeface="宋体" panose="02010600030101010101" pitchFamily="2" charset="-122"/>
              </a:rPr>
              <a:t>)</a:t>
            </a:r>
          </a:p>
        </p:txBody>
      </p:sp>
      <p:sp>
        <p:nvSpPr>
          <p:cNvPr id="37891" name="AutoShape 3"/>
          <p:cNvSpPr/>
          <p:nvPr/>
        </p:nvSpPr>
        <p:spPr bwMode="auto">
          <a:xfrm>
            <a:off x="533400" y="4702126"/>
            <a:ext cx="152400" cy="1524000"/>
          </a:xfrm>
          <a:prstGeom prst="leftBrace">
            <a:avLst>
              <a:gd name="adj1" fmla="val 83333"/>
              <a:gd name="adj2" fmla="val 50000"/>
            </a:avLst>
          </a:prstGeom>
          <a:noFill/>
          <a:ln w="2857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lang="zh-CN" altLang="zh-CN" sz="1800">
              <a:latin typeface="Arial" panose="020B0604020202020204" pitchFamily="34" charset="0"/>
            </a:endParaRPr>
          </a:p>
        </p:txBody>
      </p:sp>
      <p:sp>
        <p:nvSpPr>
          <p:cNvPr id="37892" name="AutoShape 4"/>
          <p:cNvSpPr/>
          <p:nvPr/>
        </p:nvSpPr>
        <p:spPr bwMode="auto">
          <a:xfrm>
            <a:off x="533400" y="1752600"/>
            <a:ext cx="152400" cy="1447800"/>
          </a:xfrm>
          <a:prstGeom prst="leftBrace">
            <a:avLst>
              <a:gd name="adj1" fmla="val 79167"/>
              <a:gd name="adj2" fmla="val 50000"/>
            </a:avLst>
          </a:prstGeom>
          <a:noFill/>
          <a:ln w="28575">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lang="zh-CN" altLang="zh-CN" sz="1800">
              <a:latin typeface="Arial" panose="020B0604020202020204" pitchFamily="34" charset="0"/>
            </a:endParaRPr>
          </a:p>
        </p:txBody>
      </p:sp>
      <p:sp>
        <p:nvSpPr>
          <p:cNvPr id="30725" name="Line 5"/>
          <p:cNvSpPr>
            <a:spLocks noChangeShapeType="1"/>
          </p:cNvSpPr>
          <p:nvPr/>
        </p:nvSpPr>
        <p:spPr bwMode="auto">
          <a:xfrm>
            <a:off x="827088" y="5084763"/>
            <a:ext cx="5400675" cy="0"/>
          </a:xfrm>
          <a:prstGeom prst="line">
            <a:avLst/>
          </a:prstGeom>
          <a:noFill/>
          <a:ln w="349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26" name="Line 6"/>
          <p:cNvSpPr>
            <a:spLocks noChangeShapeType="1"/>
          </p:cNvSpPr>
          <p:nvPr/>
        </p:nvSpPr>
        <p:spPr bwMode="auto">
          <a:xfrm>
            <a:off x="827088" y="5589588"/>
            <a:ext cx="5400675" cy="0"/>
          </a:xfrm>
          <a:prstGeom prst="line">
            <a:avLst/>
          </a:prstGeom>
          <a:noFill/>
          <a:ln w="349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27" name="Line 7"/>
          <p:cNvSpPr>
            <a:spLocks noChangeShapeType="1"/>
          </p:cNvSpPr>
          <p:nvPr/>
        </p:nvSpPr>
        <p:spPr bwMode="auto">
          <a:xfrm>
            <a:off x="827088" y="6165850"/>
            <a:ext cx="5400675" cy="0"/>
          </a:xfrm>
          <a:prstGeom prst="line">
            <a:avLst/>
          </a:prstGeom>
          <a:noFill/>
          <a:ln w="349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725"/>
                                        </p:tgtEl>
                                        <p:attrNameLst>
                                          <p:attrName>style.visibility</p:attrName>
                                        </p:attrNameLst>
                                      </p:cBhvr>
                                      <p:to>
                                        <p:strVal val="visible"/>
                                      </p:to>
                                    </p:set>
                                    <p:animEffect transition="in" filter="wipe(left)">
                                      <p:cBhvr>
                                        <p:cTn id="7" dur="500"/>
                                        <p:tgtEl>
                                          <p:spTgt spid="307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726"/>
                                        </p:tgtEl>
                                        <p:attrNameLst>
                                          <p:attrName>style.visibility</p:attrName>
                                        </p:attrNameLst>
                                      </p:cBhvr>
                                      <p:to>
                                        <p:strVal val="visible"/>
                                      </p:to>
                                    </p:set>
                                    <p:animEffect transition="in" filter="wipe(left)">
                                      <p:cBhvr>
                                        <p:cTn id="12" dur="500"/>
                                        <p:tgtEl>
                                          <p:spTgt spid="307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727"/>
                                        </p:tgtEl>
                                        <p:attrNameLst>
                                          <p:attrName>style.visibility</p:attrName>
                                        </p:attrNameLst>
                                      </p:cBhvr>
                                      <p:to>
                                        <p:strVal val="visible"/>
                                      </p:to>
                                    </p:set>
                                    <p:animEffect transition="in" filter="wipe(left)">
                                      <p:cBhvr>
                                        <p:cTn id="17" dur="500"/>
                                        <p:tgtEl>
                                          <p:spTgt spid="307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Text Box 4"/>
          <p:cNvSpPr txBox="1">
            <a:spLocks noChangeArrowheads="1"/>
          </p:cNvSpPr>
          <p:nvPr/>
        </p:nvSpPr>
        <p:spPr bwMode="auto">
          <a:xfrm>
            <a:off x="1042988" y="1196975"/>
            <a:ext cx="7416800" cy="1587500"/>
          </a:xfrm>
          <a:prstGeom prst="rect">
            <a:avLst/>
          </a:prstGeom>
          <a:noFill/>
          <a:ln>
            <a:noFill/>
          </a:ln>
          <a:effectLst/>
        </p:spPr>
        <p:txBody>
          <a:bodyPr>
            <a:spAutoFit/>
          </a:bodyPr>
          <a:lstStyle/>
          <a:p>
            <a:pPr eaLnBrk="1" hangingPunct="1">
              <a:spcBef>
                <a:spcPct val="50000"/>
              </a:spcBef>
              <a:defRPr/>
            </a:pPr>
            <a:r>
              <a:rPr lang="zh-CN" altLang="en-US" b="1">
                <a:effectLst>
                  <a:outerShdw blurRad="38100" dist="38100" dir="2700000" algn="tl">
                    <a:srgbClr val="C0C0C0"/>
                  </a:outerShdw>
                </a:effectLst>
                <a:latin typeface="Times New Roman" panose="02020603050405020304" pitchFamily="18" charset="0"/>
              </a:rPr>
              <a:t>简单赋值运算符：</a:t>
            </a:r>
            <a:r>
              <a:rPr lang="zh-CN" altLang="en-US" b="1">
                <a:solidFill>
                  <a:srgbClr val="0000FF"/>
                </a:solidFill>
                <a:effectLst>
                  <a:outerShdw blurRad="38100" dist="38100" dir="2700000" algn="tl">
                    <a:srgbClr val="C0C0C0"/>
                  </a:outerShdw>
                </a:effectLst>
                <a:latin typeface="Times New Roman" panose="02020603050405020304" pitchFamily="18" charset="0"/>
              </a:rPr>
              <a:t>＝</a:t>
            </a:r>
          </a:p>
          <a:p>
            <a:pPr eaLnBrk="1" hangingPunct="1">
              <a:spcBef>
                <a:spcPct val="50000"/>
              </a:spcBef>
              <a:defRPr/>
            </a:pPr>
            <a:r>
              <a:rPr lang="zh-CN" altLang="en-US" b="1">
                <a:effectLst>
                  <a:outerShdw blurRad="38100" dist="38100" dir="2700000" algn="tl">
                    <a:srgbClr val="C0C0C0"/>
                  </a:outerShdw>
                </a:effectLst>
                <a:latin typeface="Times New Roman" panose="02020603050405020304" pitchFamily="18" charset="0"/>
              </a:rPr>
              <a:t>复合赋值运算符： </a:t>
            </a:r>
            <a:r>
              <a:rPr lang="en-US" altLang="zh-CN" b="1">
                <a:solidFill>
                  <a:srgbClr val="0000FF"/>
                </a:solidFill>
                <a:effectLst>
                  <a:outerShdw blurRad="38100" dist="38100" dir="2700000" algn="tl">
                    <a:srgbClr val="C0C0C0"/>
                  </a:outerShdw>
                </a:effectLst>
                <a:latin typeface="Times New Roman" panose="02020603050405020304" pitchFamily="18" charset="0"/>
              </a:rPr>
              <a:t>+</a:t>
            </a:r>
            <a:r>
              <a:rPr lang="zh-CN" altLang="en-US" b="1">
                <a:solidFill>
                  <a:srgbClr val="0000FF"/>
                </a:solidFill>
                <a:effectLst>
                  <a:outerShdw blurRad="38100" dist="38100" dir="2700000" algn="tl">
                    <a:srgbClr val="C0C0C0"/>
                  </a:outerShdw>
                </a:effectLst>
                <a:latin typeface="Times New Roman" panose="02020603050405020304" pitchFamily="18" charset="0"/>
              </a:rPr>
              <a:t>＝、－＝、*＝、</a:t>
            </a:r>
            <a:r>
              <a:rPr lang="en-US" altLang="zh-CN" b="1">
                <a:solidFill>
                  <a:srgbClr val="0000FF"/>
                </a:solidFill>
                <a:effectLst>
                  <a:outerShdw blurRad="38100" dist="38100" dir="2700000" algn="tl">
                    <a:srgbClr val="C0C0C0"/>
                  </a:outerShdw>
                </a:effectLst>
                <a:latin typeface="Times New Roman" panose="02020603050405020304" pitchFamily="18" charset="0"/>
              </a:rPr>
              <a:t>/</a:t>
            </a:r>
            <a:r>
              <a:rPr lang="zh-CN" altLang="en-US" b="1">
                <a:solidFill>
                  <a:srgbClr val="0000FF"/>
                </a:solidFill>
                <a:effectLst>
                  <a:outerShdw blurRad="38100" dist="38100" dir="2700000" algn="tl">
                    <a:srgbClr val="C0C0C0"/>
                  </a:outerShdw>
                </a:effectLst>
                <a:latin typeface="Times New Roman" panose="02020603050405020304" pitchFamily="18" charset="0"/>
              </a:rPr>
              <a:t>＝、％＝、</a:t>
            </a:r>
            <a:r>
              <a:rPr lang="en-US" altLang="zh-CN" b="1">
                <a:solidFill>
                  <a:srgbClr val="0000FF"/>
                </a:solidFill>
                <a:effectLst>
                  <a:outerShdw blurRad="38100" dist="38100" dir="2700000" algn="tl">
                    <a:srgbClr val="C0C0C0"/>
                  </a:outerShdw>
                </a:effectLst>
                <a:latin typeface="Times New Roman" panose="02020603050405020304" pitchFamily="18" charset="0"/>
              </a:rPr>
              <a:t>&amp;</a:t>
            </a:r>
            <a:r>
              <a:rPr lang="zh-CN" altLang="en-US" b="1">
                <a:solidFill>
                  <a:srgbClr val="0000FF"/>
                </a:solidFill>
                <a:effectLst>
                  <a:outerShdw blurRad="38100" dist="38100" dir="2700000" algn="tl">
                    <a:srgbClr val="C0C0C0"/>
                  </a:outerShdw>
                </a:effectLst>
                <a:latin typeface="Times New Roman" panose="02020603050405020304" pitchFamily="18" charset="0"/>
              </a:rPr>
              <a:t>＝、</a:t>
            </a:r>
            <a:r>
              <a:rPr lang="en-US" altLang="zh-CN" b="1">
                <a:solidFill>
                  <a:srgbClr val="0000FF"/>
                </a:solidFill>
                <a:effectLst>
                  <a:outerShdw blurRad="38100" dist="38100" dir="2700000" algn="tl">
                    <a:srgbClr val="C0C0C0"/>
                  </a:outerShdw>
                </a:effectLst>
                <a:latin typeface="Times New Roman" panose="02020603050405020304" pitchFamily="18" charset="0"/>
              </a:rPr>
              <a:t>^=</a:t>
            </a:r>
            <a:r>
              <a:rPr lang="zh-CN" altLang="en-US" b="1">
                <a:solidFill>
                  <a:srgbClr val="0000FF"/>
                </a:solidFill>
                <a:effectLst>
                  <a:outerShdw blurRad="38100" dist="38100" dir="2700000" algn="tl">
                    <a:srgbClr val="C0C0C0"/>
                  </a:outerShdw>
                </a:effectLst>
                <a:latin typeface="Times New Roman" panose="02020603050405020304" pitchFamily="18" charset="0"/>
              </a:rPr>
              <a:t>、</a:t>
            </a:r>
            <a:r>
              <a:rPr lang="en-US" altLang="zh-CN" b="1">
                <a:solidFill>
                  <a:srgbClr val="0000FF"/>
                </a:solidFill>
                <a:effectLst>
                  <a:outerShdw blurRad="38100" dist="38100" dir="2700000" algn="tl">
                    <a:srgbClr val="C0C0C0"/>
                  </a:outerShdw>
                </a:effectLst>
                <a:latin typeface="Times New Roman" panose="02020603050405020304" pitchFamily="18" charset="0"/>
              </a:rPr>
              <a:t>&gt;&gt;=</a:t>
            </a:r>
            <a:r>
              <a:rPr lang="zh-CN" altLang="en-US" b="1">
                <a:solidFill>
                  <a:srgbClr val="0000FF"/>
                </a:solidFill>
                <a:effectLst>
                  <a:outerShdw blurRad="38100" dist="38100" dir="2700000" algn="tl">
                    <a:srgbClr val="C0C0C0"/>
                  </a:outerShdw>
                </a:effectLst>
                <a:latin typeface="Times New Roman" panose="02020603050405020304" pitchFamily="18" charset="0"/>
              </a:rPr>
              <a:t>、</a:t>
            </a:r>
            <a:r>
              <a:rPr lang="en-US" altLang="zh-CN" b="1">
                <a:solidFill>
                  <a:srgbClr val="0000FF"/>
                </a:solidFill>
                <a:effectLst>
                  <a:outerShdw blurRad="38100" dist="38100" dir="2700000" algn="tl">
                    <a:srgbClr val="C0C0C0"/>
                  </a:outerShdw>
                </a:effectLst>
                <a:latin typeface="Times New Roman" panose="02020603050405020304" pitchFamily="18" charset="0"/>
              </a:rPr>
              <a:t>&lt;&lt;=</a:t>
            </a:r>
            <a:r>
              <a:rPr lang="zh-CN" altLang="en-US" b="1">
                <a:effectLst>
                  <a:outerShdw blurRad="38100" dist="38100" dir="2700000" algn="tl">
                    <a:srgbClr val="C0C0C0"/>
                  </a:outerShdw>
                </a:effectLst>
                <a:latin typeface="Times New Roman" panose="02020603050405020304" pitchFamily="18" charset="0"/>
              </a:rPr>
              <a:t>等</a:t>
            </a:r>
          </a:p>
        </p:txBody>
      </p:sp>
      <p:sp>
        <p:nvSpPr>
          <p:cNvPr id="44037" name="Text Box 5"/>
          <p:cNvSpPr txBox="1">
            <a:spLocks noChangeArrowheads="1"/>
          </p:cNvSpPr>
          <p:nvPr/>
        </p:nvSpPr>
        <p:spPr bwMode="auto">
          <a:xfrm>
            <a:off x="1042988" y="2924175"/>
            <a:ext cx="8101012" cy="519113"/>
          </a:xfrm>
          <a:prstGeom prst="rect">
            <a:avLst/>
          </a:prstGeom>
          <a:noFill/>
          <a:ln>
            <a:noFill/>
          </a:ln>
          <a:effectLst/>
        </p:spPr>
        <p:txBody>
          <a:bodyPr>
            <a:spAutoFit/>
          </a:bodyPr>
          <a:lstStyle/>
          <a:p>
            <a:pPr eaLnBrk="1" hangingPunct="1">
              <a:spcBef>
                <a:spcPct val="50000"/>
              </a:spcBef>
              <a:defRPr/>
            </a:pPr>
            <a:r>
              <a:rPr lang="zh-CN" altLang="en-US" b="1">
                <a:effectLst>
                  <a:outerShdw blurRad="38100" dist="38100" dir="2700000" algn="tl">
                    <a:srgbClr val="C0C0C0"/>
                  </a:outerShdw>
                </a:effectLst>
                <a:latin typeface="Times New Roman" panose="02020603050405020304" pitchFamily="18" charset="0"/>
              </a:rPr>
              <a:t>逗号运算符：</a:t>
            </a:r>
            <a:r>
              <a:rPr lang="zh-CN" altLang="en-US" b="1">
                <a:solidFill>
                  <a:srgbClr val="0000FF"/>
                </a:solidFill>
                <a:effectLst>
                  <a:outerShdw blurRad="38100" dist="38100" dir="2700000" algn="tl">
                    <a:srgbClr val="C0C0C0"/>
                  </a:outerShdw>
                </a:effectLst>
                <a:latin typeface="Times New Roman" panose="02020603050405020304" pitchFamily="18" charset="0"/>
              </a:rPr>
              <a:t>表达式</a:t>
            </a:r>
            <a:r>
              <a:rPr lang="en-US" altLang="zh-CN" b="1">
                <a:solidFill>
                  <a:srgbClr val="0000FF"/>
                </a:solidFill>
                <a:effectLst>
                  <a:outerShdw blurRad="38100" dist="38100" dir="2700000" algn="tl">
                    <a:srgbClr val="C0C0C0"/>
                  </a:outerShdw>
                </a:effectLst>
                <a:latin typeface="Times New Roman" panose="02020603050405020304" pitchFamily="18" charset="0"/>
              </a:rPr>
              <a:t>1</a:t>
            </a:r>
            <a:r>
              <a:rPr lang="zh-CN" altLang="en-US" b="1">
                <a:solidFill>
                  <a:srgbClr val="0000FF"/>
                </a:solidFill>
                <a:effectLst>
                  <a:outerShdw blurRad="38100" dist="38100" dir="2700000" algn="tl">
                    <a:srgbClr val="C0C0C0"/>
                  </a:outerShdw>
                </a:effectLst>
                <a:latin typeface="Times New Roman" panose="02020603050405020304" pitchFamily="18" charset="0"/>
              </a:rPr>
              <a:t>，表达式</a:t>
            </a:r>
            <a:r>
              <a:rPr lang="en-US" altLang="zh-CN" b="1">
                <a:solidFill>
                  <a:srgbClr val="0000FF"/>
                </a:solidFill>
                <a:effectLst>
                  <a:outerShdw blurRad="38100" dist="38100" dir="2700000" algn="tl">
                    <a:srgbClr val="C0C0C0"/>
                  </a:outerShdw>
                </a:effectLst>
                <a:latin typeface="Times New Roman" panose="02020603050405020304" pitchFamily="18" charset="0"/>
              </a:rPr>
              <a:t>2</a:t>
            </a:r>
            <a:r>
              <a:rPr lang="zh-CN" altLang="en-US" b="1">
                <a:solidFill>
                  <a:srgbClr val="0000FF"/>
                </a:solidFill>
                <a:effectLst>
                  <a:outerShdw blurRad="38100" dist="38100" dir="2700000" algn="tl">
                    <a:srgbClr val="C0C0C0"/>
                  </a:outerShdw>
                </a:effectLst>
                <a:latin typeface="Times New Roman" panose="02020603050405020304" pitchFamily="18" charset="0"/>
              </a:rPr>
              <a:t>，</a:t>
            </a:r>
            <a:r>
              <a:rPr lang="en-US" altLang="zh-CN" b="1">
                <a:solidFill>
                  <a:srgbClr val="0000FF"/>
                </a:solidFill>
                <a:effectLst>
                  <a:outerShdw blurRad="38100" dist="38100" dir="2700000" algn="tl">
                    <a:srgbClr val="C0C0C0"/>
                  </a:outerShdw>
                </a:effectLst>
                <a:latin typeface="Times New Roman" panose="02020603050405020304" pitchFamily="18" charset="0"/>
              </a:rPr>
              <a:t>…</a:t>
            </a:r>
            <a:r>
              <a:rPr lang="zh-CN" altLang="en-US" b="1">
                <a:solidFill>
                  <a:srgbClr val="0000FF"/>
                </a:solidFill>
                <a:effectLst>
                  <a:outerShdw blurRad="38100" dist="38100" dir="2700000" algn="tl">
                    <a:srgbClr val="C0C0C0"/>
                  </a:outerShdw>
                </a:effectLst>
                <a:latin typeface="Times New Roman" panose="02020603050405020304" pitchFamily="18" charset="0"/>
              </a:rPr>
              <a:t>，表达式</a:t>
            </a:r>
            <a:r>
              <a:rPr lang="en-US" altLang="zh-CN" b="1">
                <a:solidFill>
                  <a:srgbClr val="0000FF"/>
                </a:solidFill>
                <a:effectLst>
                  <a:outerShdw blurRad="38100" dist="38100" dir="2700000" algn="tl">
                    <a:srgbClr val="C0C0C0"/>
                  </a:outerShdw>
                </a:effectLst>
                <a:latin typeface="Times New Roman" panose="02020603050405020304" pitchFamily="18" charset="0"/>
              </a:rPr>
              <a:t>n</a:t>
            </a:r>
          </a:p>
        </p:txBody>
      </p:sp>
      <p:sp>
        <p:nvSpPr>
          <p:cNvPr id="44038" name="Text Box 6"/>
          <p:cNvSpPr txBox="1">
            <a:spLocks noChangeArrowheads="1"/>
          </p:cNvSpPr>
          <p:nvPr/>
        </p:nvSpPr>
        <p:spPr bwMode="auto">
          <a:xfrm>
            <a:off x="1042988" y="3573463"/>
            <a:ext cx="8101012" cy="519112"/>
          </a:xfrm>
          <a:prstGeom prst="rect">
            <a:avLst/>
          </a:prstGeom>
          <a:noFill/>
          <a:ln>
            <a:noFill/>
          </a:ln>
          <a:effectLst/>
        </p:spPr>
        <p:txBody>
          <a:bodyPr>
            <a:spAutoFit/>
          </a:bodyPr>
          <a:lstStyle/>
          <a:p>
            <a:pPr eaLnBrk="1" hangingPunct="1">
              <a:spcBef>
                <a:spcPct val="50000"/>
              </a:spcBef>
              <a:defRPr/>
            </a:pPr>
            <a:r>
              <a:rPr lang="zh-CN" altLang="en-US" b="1">
                <a:effectLst>
                  <a:outerShdw blurRad="38100" dist="38100" dir="2700000" algn="tl">
                    <a:srgbClr val="C0C0C0"/>
                  </a:outerShdw>
                </a:effectLst>
                <a:latin typeface="Times New Roman" panose="02020603050405020304" pitchFamily="18" charset="0"/>
              </a:rPr>
              <a:t>条件运算符：</a:t>
            </a:r>
            <a:r>
              <a:rPr lang="zh-CN" altLang="en-US" b="1">
                <a:solidFill>
                  <a:srgbClr val="0000FF"/>
                </a:solidFill>
                <a:effectLst>
                  <a:outerShdw blurRad="38100" dist="38100" dir="2700000" algn="tl">
                    <a:srgbClr val="C0C0C0"/>
                  </a:outerShdw>
                </a:effectLst>
                <a:latin typeface="Times New Roman" panose="02020603050405020304" pitchFamily="18" charset="0"/>
              </a:rPr>
              <a:t>逻辑表达式？表达式</a:t>
            </a:r>
            <a:r>
              <a:rPr lang="en-US" altLang="zh-CN" b="1">
                <a:solidFill>
                  <a:srgbClr val="0000FF"/>
                </a:solidFill>
                <a:effectLst>
                  <a:outerShdw blurRad="38100" dist="38100" dir="2700000" algn="tl">
                    <a:srgbClr val="C0C0C0"/>
                  </a:outerShdw>
                </a:effectLst>
                <a:latin typeface="Times New Roman" panose="02020603050405020304" pitchFamily="18" charset="0"/>
              </a:rPr>
              <a:t>1</a:t>
            </a:r>
            <a:r>
              <a:rPr lang="zh-CN" altLang="en-US" b="1">
                <a:solidFill>
                  <a:srgbClr val="0000FF"/>
                </a:solidFill>
                <a:effectLst>
                  <a:outerShdw blurRad="38100" dist="38100" dir="2700000" algn="tl">
                    <a:srgbClr val="C0C0C0"/>
                  </a:outerShdw>
                </a:effectLst>
                <a:latin typeface="Times New Roman" panose="02020603050405020304" pitchFamily="18" charset="0"/>
              </a:rPr>
              <a:t>：表达式</a:t>
            </a:r>
            <a:r>
              <a:rPr lang="en-US" altLang="zh-CN" b="1">
                <a:solidFill>
                  <a:srgbClr val="0000FF"/>
                </a:solidFill>
                <a:effectLst>
                  <a:outerShdw blurRad="38100" dist="38100" dir="2700000" algn="tl">
                    <a:srgbClr val="C0C0C0"/>
                  </a:outerShdw>
                </a:effectLst>
                <a:latin typeface="Times New Roman" panose="02020603050405020304" pitchFamily="18" charset="0"/>
              </a:rPr>
              <a:t>2</a:t>
            </a:r>
          </a:p>
        </p:txBody>
      </p:sp>
      <p:sp>
        <p:nvSpPr>
          <p:cNvPr id="44039" name="Text Box 7"/>
          <p:cNvSpPr txBox="1">
            <a:spLocks noChangeArrowheads="1"/>
          </p:cNvSpPr>
          <p:nvPr/>
        </p:nvSpPr>
        <p:spPr bwMode="auto">
          <a:xfrm>
            <a:off x="1042988" y="4221163"/>
            <a:ext cx="8101012" cy="519112"/>
          </a:xfrm>
          <a:prstGeom prst="rect">
            <a:avLst/>
          </a:prstGeom>
          <a:noFill/>
          <a:ln>
            <a:noFill/>
          </a:ln>
          <a:effectLst/>
        </p:spPr>
        <p:txBody>
          <a:bodyPr>
            <a:spAutoFit/>
          </a:bodyPr>
          <a:lstStyle/>
          <a:p>
            <a:pPr eaLnBrk="1" hangingPunct="1">
              <a:spcBef>
                <a:spcPct val="50000"/>
              </a:spcBef>
              <a:defRPr/>
            </a:pPr>
            <a:r>
              <a:rPr lang="zh-CN" altLang="en-US" b="1">
                <a:effectLst>
                  <a:outerShdw blurRad="38100" dist="38100" dir="2700000" algn="tl">
                    <a:srgbClr val="C0C0C0"/>
                  </a:outerShdw>
                </a:effectLst>
                <a:latin typeface="Times New Roman" panose="02020603050405020304" pitchFamily="18" charset="0"/>
              </a:rPr>
              <a:t>强制转换运算符</a:t>
            </a:r>
            <a:r>
              <a:rPr lang="zh-CN" altLang="en-US" b="1">
                <a:effectLst>
                  <a:outerShdw blurRad="38100" dist="38100" dir="2700000" algn="tl">
                    <a:srgbClr val="C0C0C0"/>
                  </a:outerShdw>
                </a:effectLst>
                <a:latin typeface="Times New Roman" panose="02020603050405020304" pitchFamily="18" charset="0"/>
                <a:sym typeface="Wingdings" panose="05000000000000000000" pitchFamily="2" charset="2"/>
              </a:rPr>
              <a:t>：</a:t>
            </a:r>
            <a:r>
              <a:rPr lang="zh-CN" altLang="en-US" b="1">
                <a:solidFill>
                  <a:srgbClr val="0000FF"/>
                </a:solidFill>
                <a:effectLst>
                  <a:outerShdw blurRad="38100" dist="38100" dir="2700000" algn="tl">
                    <a:srgbClr val="C0C0C0"/>
                  </a:outerShdw>
                </a:effectLst>
                <a:latin typeface="Times New Roman" panose="02020603050405020304" pitchFamily="18" charset="0"/>
                <a:sym typeface="Wingdings" panose="05000000000000000000" pitchFamily="2" charset="2"/>
              </a:rPr>
              <a:t>（类型名）（表达式）</a:t>
            </a:r>
            <a:endParaRPr lang="zh-CN" altLang="en-US" b="1">
              <a:solidFill>
                <a:srgbClr val="0000FF"/>
              </a:solidFill>
              <a:effectLst>
                <a:outerShdw blurRad="38100" dist="38100" dir="2700000" algn="tl">
                  <a:srgbClr val="C0C0C0"/>
                </a:outerShdw>
              </a:effectLst>
              <a:latin typeface="Times New Roman" panose="02020603050405020304" pitchFamily="18" charset="0"/>
            </a:endParaRPr>
          </a:p>
        </p:txBody>
      </p:sp>
      <p:sp>
        <p:nvSpPr>
          <p:cNvPr id="44040" name="Text Box 8"/>
          <p:cNvSpPr txBox="1">
            <a:spLocks noChangeArrowheads="1"/>
          </p:cNvSpPr>
          <p:nvPr/>
        </p:nvSpPr>
        <p:spPr bwMode="auto">
          <a:xfrm>
            <a:off x="1042988" y="4868863"/>
            <a:ext cx="8101012" cy="946150"/>
          </a:xfrm>
          <a:prstGeom prst="rect">
            <a:avLst/>
          </a:prstGeom>
          <a:noFill/>
          <a:ln>
            <a:noFill/>
          </a:ln>
          <a:effectLst/>
        </p:spPr>
        <p:txBody>
          <a:bodyPr>
            <a:spAutoFit/>
          </a:bodyPr>
          <a:lstStyle/>
          <a:p>
            <a:pPr eaLnBrk="1" hangingPunct="1">
              <a:spcBef>
                <a:spcPct val="50000"/>
              </a:spcBef>
              <a:defRPr/>
            </a:pPr>
            <a:r>
              <a:rPr lang="zh-CN" altLang="en-US" b="1">
                <a:effectLst>
                  <a:outerShdw blurRad="38100" dist="38100" dir="2700000" algn="tl">
                    <a:srgbClr val="C0C0C0"/>
                  </a:outerShdw>
                </a:effectLst>
                <a:latin typeface="Times New Roman" panose="02020603050405020304" pitchFamily="18" charset="0"/>
              </a:rPr>
              <a:t>自动类型转换</a:t>
            </a:r>
            <a:r>
              <a:rPr lang="zh-CN" altLang="en-US" b="1">
                <a:effectLst>
                  <a:outerShdw blurRad="38100" dist="38100" dir="2700000" algn="tl">
                    <a:srgbClr val="C0C0C0"/>
                  </a:outerShdw>
                </a:effectLst>
                <a:latin typeface="Times New Roman" panose="02020603050405020304" pitchFamily="18" charset="0"/>
                <a:sym typeface="Wingdings" panose="05000000000000000000" pitchFamily="2" charset="2"/>
              </a:rPr>
              <a:t>：</a:t>
            </a:r>
            <a:r>
              <a:rPr lang="en-US" altLang="zh-CN" b="1">
                <a:solidFill>
                  <a:srgbClr val="0000FF"/>
                </a:solidFill>
                <a:effectLst>
                  <a:outerShdw blurRad="38100" dist="38100" dir="2700000" algn="tl">
                    <a:srgbClr val="C0C0C0"/>
                  </a:outerShdw>
                </a:effectLst>
                <a:latin typeface="Times New Roman" panose="02020603050405020304" pitchFamily="18" charset="0"/>
                <a:sym typeface="Wingdings" panose="05000000000000000000" pitchFamily="2" charset="2"/>
              </a:rPr>
              <a:t>charintunsignedlongdouble</a:t>
            </a:r>
            <a:endParaRPr lang="en-US" altLang="zh-CN" b="1">
              <a:solidFill>
                <a:srgbClr val="0000FF"/>
              </a:solidFill>
              <a:effectLst>
                <a:outerShdw blurRad="38100" dist="38100" dir="2700000" algn="tl">
                  <a:srgbClr val="C0C0C0"/>
                </a:outerShdw>
              </a:effectLst>
              <a:latin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defRPr/>
            </a:pPr>
            <a:r>
              <a:rPr lang="en-US" altLang="zh-CN" sz="3600" b="1" dirty="0">
                <a:solidFill>
                  <a:srgbClr val="0000FF"/>
                </a:solidFill>
                <a:effectLst>
                  <a:outerShdw blurRad="38100" dist="38100" dir="2700000" algn="tl">
                    <a:srgbClr val="C0C0C0"/>
                  </a:outerShdw>
                </a:effectLst>
                <a:latin typeface="楷体" panose="02010609060101010101" pitchFamily="49" charset="-122"/>
                <a:ea typeface="楷体" panose="02010609060101010101" pitchFamily="49" charset="-122"/>
              </a:rPr>
              <a:t>C</a:t>
            </a:r>
            <a:r>
              <a:rPr lang="zh-CN" altLang="en-US" sz="3600" b="1" dirty="0">
                <a:solidFill>
                  <a:srgbClr val="0000FF"/>
                </a:solidFill>
                <a:effectLst>
                  <a:outerShdw blurRad="38100" dist="38100" dir="2700000" algn="tl">
                    <a:srgbClr val="C0C0C0"/>
                  </a:outerShdw>
                </a:effectLst>
                <a:latin typeface="楷体" panose="02010609060101010101" pitchFamily="49" charset="-122"/>
                <a:ea typeface="楷体" panose="02010609060101010101" pitchFamily="49" charset="-122"/>
              </a:rPr>
              <a:t>语言的语句</a:t>
            </a:r>
          </a:p>
        </p:txBody>
      </p:sp>
      <p:sp>
        <p:nvSpPr>
          <p:cNvPr id="50179" name="Rectangle 3"/>
          <p:cNvSpPr>
            <a:spLocks noGrp="1" noChangeArrowheads="1"/>
          </p:cNvSpPr>
          <p:nvPr>
            <p:ph type="body" idx="1"/>
          </p:nvPr>
        </p:nvSpPr>
        <p:spPr>
          <a:xfrm>
            <a:off x="1182688" y="2017713"/>
            <a:ext cx="7277100" cy="3427412"/>
          </a:xfrm>
        </p:spPr>
        <p:txBody>
          <a:bodyPr/>
          <a:lstStyle/>
          <a:p>
            <a:pPr eaLnBrk="1" hangingPunct="1">
              <a:lnSpc>
                <a:spcPct val="90000"/>
              </a:lnSpc>
              <a:defRPr/>
            </a:pPr>
            <a:r>
              <a:rPr lang="zh-CN" altLang="en-US" sz="2800" b="1" dirty="0">
                <a:effectLst>
                  <a:outerShdw blurRad="38100" dist="38100" dir="2700000" algn="tl">
                    <a:srgbClr val="000000">
                      <a:alpha val="43137"/>
                    </a:srgbClr>
                  </a:outerShdw>
                </a:effectLst>
              </a:rPr>
              <a:t>控制语句</a:t>
            </a:r>
          </a:p>
          <a:p>
            <a:pPr eaLnBrk="1" hangingPunct="1">
              <a:lnSpc>
                <a:spcPct val="90000"/>
              </a:lnSpc>
              <a:defRPr/>
            </a:pPr>
            <a:r>
              <a:rPr lang="zh-CN" altLang="en-US" sz="2800" b="1" dirty="0">
                <a:effectLst>
                  <a:outerShdw blurRad="38100" dist="38100" dir="2700000" algn="tl">
                    <a:srgbClr val="000000">
                      <a:alpha val="43137"/>
                    </a:srgbClr>
                  </a:outerShdw>
                </a:effectLst>
              </a:rPr>
              <a:t>函数调用语句：函数名（［参数］）</a:t>
            </a:r>
            <a:r>
              <a:rPr lang="en-US" altLang="zh-CN" sz="2800" b="1" dirty="0">
                <a:effectLst>
                  <a:outerShdw blurRad="38100" dist="38100" dir="2700000" algn="tl">
                    <a:srgbClr val="000000">
                      <a:alpha val="43137"/>
                    </a:srgbClr>
                  </a:outerShdw>
                </a:effectLst>
                <a:latin typeface="宋体" panose="02010600030101010101" pitchFamily="2" charset="-122"/>
              </a:rPr>
              <a:t>;</a:t>
            </a:r>
          </a:p>
          <a:p>
            <a:pPr eaLnBrk="1" hangingPunct="1">
              <a:lnSpc>
                <a:spcPct val="90000"/>
              </a:lnSpc>
              <a:defRPr/>
            </a:pPr>
            <a:r>
              <a:rPr lang="zh-CN" altLang="en-US" sz="2800" b="1" dirty="0">
                <a:effectLst>
                  <a:outerShdw blurRad="38100" dist="38100" dir="2700000" algn="tl">
                    <a:srgbClr val="000000">
                      <a:alpha val="43137"/>
                    </a:srgbClr>
                  </a:outerShdw>
                </a:effectLst>
                <a:latin typeface="宋体" panose="02010600030101010101" pitchFamily="2" charset="-122"/>
              </a:rPr>
              <a:t>表达式语句：如  </a:t>
            </a:r>
            <a:r>
              <a:rPr lang="en-US" altLang="zh-CN" sz="2800" b="1" dirty="0">
                <a:effectLst>
                  <a:outerShdw blurRad="38100" dist="38100" dir="2700000" algn="tl">
                    <a:srgbClr val="000000">
                      <a:alpha val="43137"/>
                    </a:srgbClr>
                  </a:outerShdw>
                </a:effectLst>
                <a:latin typeface="宋体" panose="02010600030101010101" pitchFamily="2" charset="-122"/>
              </a:rPr>
              <a:t>sum=</a:t>
            </a:r>
            <a:r>
              <a:rPr lang="en-US" altLang="zh-CN" sz="2800" b="1" dirty="0" err="1">
                <a:effectLst>
                  <a:outerShdw blurRad="38100" dist="38100" dir="2700000" algn="tl">
                    <a:srgbClr val="000000">
                      <a:alpha val="43137"/>
                    </a:srgbClr>
                  </a:outerShdw>
                </a:effectLst>
                <a:latin typeface="宋体" panose="02010600030101010101" pitchFamily="2" charset="-122"/>
              </a:rPr>
              <a:t>x+y</a:t>
            </a:r>
            <a:r>
              <a:rPr lang="en-US" altLang="zh-CN" sz="2800" b="1" dirty="0">
                <a:effectLst>
                  <a:outerShdw blurRad="38100" dist="38100" dir="2700000" algn="tl">
                    <a:srgbClr val="000000">
                      <a:alpha val="43137"/>
                    </a:srgbClr>
                  </a:outerShdw>
                </a:effectLst>
                <a:latin typeface="宋体" panose="02010600030101010101" pitchFamily="2" charset="-122"/>
              </a:rPr>
              <a:t>;</a:t>
            </a:r>
          </a:p>
          <a:p>
            <a:pPr eaLnBrk="1" hangingPunct="1">
              <a:lnSpc>
                <a:spcPct val="90000"/>
              </a:lnSpc>
              <a:defRPr/>
            </a:pPr>
            <a:r>
              <a:rPr lang="zh-CN" altLang="en-US" sz="2800" b="1" dirty="0">
                <a:effectLst>
                  <a:outerShdw blurRad="38100" dist="38100" dir="2700000" algn="tl">
                    <a:srgbClr val="000000">
                      <a:alpha val="43137"/>
                    </a:srgbClr>
                  </a:outerShdw>
                </a:effectLst>
                <a:latin typeface="宋体" panose="02010600030101010101" pitchFamily="2" charset="-122"/>
              </a:rPr>
              <a:t>空语句</a:t>
            </a:r>
          </a:p>
          <a:p>
            <a:pPr eaLnBrk="1" hangingPunct="1">
              <a:lnSpc>
                <a:spcPct val="90000"/>
              </a:lnSpc>
              <a:defRPr/>
            </a:pPr>
            <a:r>
              <a:rPr lang="zh-CN" altLang="en-US" sz="2800" b="1" dirty="0">
                <a:effectLst>
                  <a:outerShdw blurRad="38100" dist="38100" dir="2700000" algn="tl">
                    <a:srgbClr val="000000">
                      <a:alpha val="43137"/>
                    </a:srgbClr>
                  </a:outerShdw>
                </a:effectLst>
                <a:latin typeface="宋体" panose="02010600030101010101" pitchFamily="2" charset="-122"/>
              </a:rPr>
              <a:t>复合语句：用</a:t>
            </a:r>
            <a:r>
              <a:rPr lang="en-US" altLang="zh-CN" sz="2800" b="1" dirty="0">
                <a:effectLst>
                  <a:outerShdw blurRad="38100" dist="38100" dir="2700000" algn="tl">
                    <a:srgbClr val="000000">
                      <a:alpha val="43137"/>
                    </a:srgbClr>
                  </a:outerShdw>
                </a:effectLst>
                <a:latin typeface="宋体" panose="02010600030101010101" pitchFamily="2" charset="-122"/>
              </a:rPr>
              <a:t>{}</a:t>
            </a:r>
            <a:r>
              <a:rPr lang="zh-CN" altLang="en-US" sz="2800" b="1" dirty="0">
                <a:effectLst>
                  <a:outerShdw blurRad="38100" dist="38100" dir="2700000" algn="tl">
                    <a:srgbClr val="000000">
                      <a:alpha val="43137"/>
                    </a:srgbClr>
                  </a:outerShdw>
                </a:effectLst>
                <a:latin typeface="宋体" panose="02010600030101010101" pitchFamily="2" charset="-122"/>
              </a:rPr>
              <a:t>括起来。</a:t>
            </a:r>
          </a:p>
          <a:p>
            <a:pPr eaLnBrk="1" hangingPunct="1">
              <a:lnSpc>
                <a:spcPct val="90000"/>
              </a:lnSpc>
              <a:buFont typeface="Wingdings" panose="05000000000000000000" pitchFamily="2" charset="2"/>
              <a:buNone/>
              <a:defRPr/>
            </a:pPr>
            <a:r>
              <a:rPr lang="zh-CN" altLang="en-US" sz="2800" dirty="0">
                <a:effectLst>
                  <a:outerShdw blurRad="38100" dist="38100" dir="2700000" algn="tl">
                    <a:srgbClr val="000000">
                      <a:alpha val="43137"/>
                    </a:srgbClr>
                  </a:outerShdw>
                </a:effectLst>
              </a:rPr>
              <a:t>   </a:t>
            </a:r>
          </a:p>
        </p:txBody>
      </p:sp>
      <p:sp>
        <p:nvSpPr>
          <p:cNvPr id="50180" name="Text Box 4"/>
          <p:cNvSpPr txBox="1">
            <a:spLocks noChangeArrowheads="1"/>
          </p:cNvSpPr>
          <p:nvPr/>
        </p:nvSpPr>
        <p:spPr bwMode="auto">
          <a:xfrm>
            <a:off x="5435600" y="1844675"/>
            <a:ext cx="2663825" cy="3935413"/>
          </a:xfrm>
          <a:prstGeom prst="rect">
            <a:avLst/>
          </a:prstGeom>
          <a:solidFill>
            <a:srgbClr val="333399"/>
          </a:solidFill>
          <a:ln>
            <a:noFill/>
          </a:ln>
          <a:effectLst/>
        </p:spPr>
        <p:txBody>
          <a:bodyPr>
            <a:spAutoFit/>
          </a:bodyPr>
          <a:lstStyle/>
          <a:p>
            <a:pPr eaLnBrk="1" hangingPunct="1">
              <a:defRPr/>
            </a:pPr>
            <a:r>
              <a:rPr lang="en-US" altLang="zh-CN" b="1" dirty="0">
                <a:solidFill>
                  <a:schemeClr val="bg1"/>
                </a:solidFill>
                <a:effectLst>
                  <a:outerShdw blurRad="38100" dist="38100" dir="2700000" algn="tl">
                    <a:srgbClr val="000000">
                      <a:alpha val="43137"/>
                    </a:srgbClr>
                  </a:outerShdw>
                </a:effectLst>
              </a:rPr>
              <a:t>   if()</a:t>
            </a:r>
            <a:r>
              <a:rPr lang="en-US" altLang="zh-CN" b="1" dirty="0">
                <a:solidFill>
                  <a:schemeClr val="bg1"/>
                </a:solidFill>
                <a:effectLst>
                  <a:outerShdw blurRad="38100" dist="38100" dir="2700000" algn="tl">
                    <a:srgbClr val="000000">
                      <a:alpha val="43137"/>
                    </a:srgbClr>
                  </a:outerShdw>
                </a:effectLst>
                <a:latin typeface="Arial" panose="020B0604020202020204"/>
              </a:rPr>
              <a:t>…</a:t>
            </a:r>
            <a:r>
              <a:rPr lang="en-US" altLang="zh-CN" b="1" dirty="0">
                <a:solidFill>
                  <a:schemeClr val="bg1"/>
                </a:solidFill>
                <a:effectLst>
                  <a:outerShdw blurRad="38100" dist="38100" dir="2700000" algn="tl">
                    <a:srgbClr val="000000">
                      <a:alpha val="43137"/>
                    </a:srgbClr>
                  </a:outerShdw>
                </a:effectLst>
              </a:rPr>
              <a:t>else</a:t>
            </a:r>
          </a:p>
          <a:p>
            <a:pPr eaLnBrk="1" hangingPunct="1">
              <a:defRPr/>
            </a:pPr>
            <a:r>
              <a:rPr lang="en-US" altLang="zh-CN" b="1" dirty="0">
                <a:solidFill>
                  <a:schemeClr val="bg1"/>
                </a:solidFill>
                <a:effectLst>
                  <a:outerShdw blurRad="38100" dist="38100" dir="2700000" algn="tl">
                    <a:srgbClr val="000000">
                      <a:alpha val="43137"/>
                    </a:srgbClr>
                  </a:outerShdw>
                </a:effectLst>
              </a:rPr>
              <a:t>   for() </a:t>
            </a:r>
            <a:r>
              <a:rPr lang="en-US" altLang="zh-CN" b="1" dirty="0">
                <a:solidFill>
                  <a:schemeClr val="bg1"/>
                </a:solidFill>
                <a:effectLst>
                  <a:outerShdw blurRad="38100" dist="38100" dir="2700000" algn="tl">
                    <a:srgbClr val="000000">
                      <a:alpha val="43137"/>
                    </a:srgbClr>
                  </a:outerShdw>
                </a:effectLst>
                <a:latin typeface="Arial" panose="020B0604020202020204"/>
              </a:rPr>
              <a:t>…</a:t>
            </a:r>
            <a:endParaRPr lang="en-US" altLang="zh-CN" b="1" dirty="0">
              <a:solidFill>
                <a:schemeClr val="bg1"/>
              </a:solidFill>
              <a:effectLst>
                <a:outerShdw blurRad="38100" dist="38100" dir="2700000" algn="tl">
                  <a:srgbClr val="000000">
                    <a:alpha val="43137"/>
                  </a:srgbClr>
                </a:outerShdw>
              </a:effectLst>
            </a:endParaRPr>
          </a:p>
          <a:p>
            <a:pPr eaLnBrk="1" hangingPunct="1">
              <a:defRPr/>
            </a:pPr>
            <a:r>
              <a:rPr lang="en-US" altLang="zh-CN" b="1" dirty="0">
                <a:solidFill>
                  <a:schemeClr val="bg1"/>
                </a:solidFill>
                <a:effectLst>
                  <a:outerShdw blurRad="38100" dist="38100" dir="2700000" algn="tl">
                    <a:srgbClr val="000000">
                      <a:alpha val="43137"/>
                    </a:srgbClr>
                  </a:outerShdw>
                </a:effectLst>
              </a:rPr>
              <a:t>   while()</a:t>
            </a:r>
            <a:r>
              <a:rPr lang="en-US" altLang="zh-CN" b="1" dirty="0">
                <a:solidFill>
                  <a:schemeClr val="bg1"/>
                </a:solidFill>
                <a:effectLst>
                  <a:outerShdw blurRad="38100" dist="38100" dir="2700000" algn="tl">
                    <a:srgbClr val="000000">
                      <a:alpha val="43137"/>
                    </a:srgbClr>
                  </a:outerShdw>
                </a:effectLst>
                <a:latin typeface="Arial" panose="020B0604020202020204"/>
              </a:rPr>
              <a:t>…</a:t>
            </a:r>
            <a:endParaRPr lang="en-US" altLang="zh-CN" b="1" dirty="0">
              <a:solidFill>
                <a:schemeClr val="bg1"/>
              </a:solidFill>
              <a:effectLst>
                <a:outerShdw blurRad="38100" dist="38100" dir="2700000" algn="tl">
                  <a:srgbClr val="000000">
                    <a:alpha val="43137"/>
                  </a:srgbClr>
                </a:outerShdw>
              </a:effectLst>
            </a:endParaRPr>
          </a:p>
          <a:p>
            <a:pPr eaLnBrk="1" hangingPunct="1">
              <a:defRPr/>
            </a:pPr>
            <a:r>
              <a:rPr lang="en-US" altLang="zh-CN" b="1" dirty="0">
                <a:solidFill>
                  <a:schemeClr val="bg1"/>
                </a:solidFill>
                <a:effectLst>
                  <a:outerShdw blurRad="38100" dist="38100" dir="2700000" algn="tl">
                    <a:srgbClr val="000000">
                      <a:alpha val="43137"/>
                    </a:srgbClr>
                  </a:outerShdw>
                </a:effectLst>
              </a:rPr>
              <a:t>   do</a:t>
            </a:r>
            <a:r>
              <a:rPr lang="en-US" altLang="zh-CN" b="1" dirty="0">
                <a:solidFill>
                  <a:schemeClr val="bg1"/>
                </a:solidFill>
                <a:effectLst>
                  <a:outerShdw blurRad="38100" dist="38100" dir="2700000" algn="tl">
                    <a:srgbClr val="000000">
                      <a:alpha val="43137"/>
                    </a:srgbClr>
                  </a:outerShdw>
                </a:effectLst>
                <a:latin typeface="Arial" panose="020B0604020202020204"/>
              </a:rPr>
              <a:t>…</a:t>
            </a:r>
            <a:r>
              <a:rPr lang="en-US" altLang="zh-CN" b="1" dirty="0">
                <a:solidFill>
                  <a:schemeClr val="bg1"/>
                </a:solidFill>
                <a:effectLst>
                  <a:outerShdw blurRad="38100" dist="38100" dir="2700000" algn="tl">
                    <a:srgbClr val="000000">
                      <a:alpha val="43137"/>
                    </a:srgbClr>
                  </a:outerShdw>
                </a:effectLst>
              </a:rPr>
              <a:t>while()</a:t>
            </a:r>
          </a:p>
          <a:p>
            <a:pPr eaLnBrk="1" hangingPunct="1">
              <a:defRPr/>
            </a:pPr>
            <a:r>
              <a:rPr lang="en-US" altLang="zh-CN" b="1" dirty="0">
                <a:solidFill>
                  <a:schemeClr val="bg1"/>
                </a:solidFill>
                <a:effectLst>
                  <a:outerShdw blurRad="38100" dist="38100" dir="2700000" algn="tl">
                    <a:srgbClr val="000000">
                      <a:alpha val="43137"/>
                    </a:srgbClr>
                  </a:outerShdw>
                </a:effectLst>
              </a:rPr>
              <a:t>   continue</a:t>
            </a:r>
          </a:p>
          <a:p>
            <a:pPr eaLnBrk="1" hangingPunct="1">
              <a:defRPr/>
            </a:pPr>
            <a:r>
              <a:rPr lang="en-US" altLang="zh-CN" b="1" dirty="0">
                <a:solidFill>
                  <a:schemeClr val="bg1"/>
                </a:solidFill>
                <a:effectLst>
                  <a:outerShdw blurRad="38100" dist="38100" dir="2700000" algn="tl">
                    <a:srgbClr val="000000">
                      <a:alpha val="43137"/>
                    </a:srgbClr>
                  </a:outerShdw>
                </a:effectLst>
              </a:rPr>
              <a:t>   break</a:t>
            </a:r>
          </a:p>
          <a:p>
            <a:pPr eaLnBrk="1" hangingPunct="1">
              <a:defRPr/>
            </a:pPr>
            <a:r>
              <a:rPr lang="en-US" altLang="zh-CN" b="1" dirty="0">
                <a:solidFill>
                  <a:schemeClr val="bg1"/>
                </a:solidFill>
                <a:effectLst>
                  <a:outerShdw blurRad="38100" dist="38100" dir="2700000" algn="tl">
                    <a:srgbClr val="000000">
                      <a:alpha val="43137"/>
                    </a:srgbClr>
                  </a:outerShdw>
                </a:effectLst>
              </a:rPr>
              <a:t>   switch</a:t>
            </a:r>
          </a:p>
          <a:p>
            <a:pPr eaLnBrk="1" hangingPunct="1">
              <a:defRPr/>
            </a:pPr>
            <a:r>
              <a:rPr lang="en-US" altLang="zh-CN" b="1" dirty="0">
                <a:solidFill>
                  <a:schemeClr val="bg1"/>
                </a:solidFill>
                <a:effectLst>
                  <a:outerShdw blurRad="38100" dist="38100" dir="2700000" algn="tl">
                    <a:srgbClr val="000000">
                      <a:alpha val="43137"/>
                    </a:srgbClr>
                  </a:outerShdw>
                </a:effectLst>
              </a:rPr>
              <a:t>   </a:t>
            </a:r>
            <a:r>
              <a:rPr lang="en-US" altLang="zh-CN" b="1" dirty="0" err="1">
                <a:solidFill>
                  <a:schemeClr val="bg1"/>
                </a:solidFill>
                <a:effectLst>
                  <a:outerShdw blurRad="38100" dist="38100" dir="2700000" algn="tl">
                    <a:srgbClr val="000000">
                      <a:alpha val="43137"/>
                    </a:srgbClr>
                  </a:outerShdw>
                </a:effectLst>
              </a:rPr>
              <a:t>goto</a:t>
            </a:r>
            <a:endParaRPr lang="en-US" altLang="zh-CN" b="1" dirty="0">
              <a:solidFill>
                <a:schemeClr val="bg1"/>
              </a:solidFill>
              <a:effectLst>
                <a:outerShdw blurRad="38100" dist="38100" dir="2700000" algn="tl">
                  <a:srgbClr val="000000">
                    <a:alpha val="43137"/>
                  </a:srgbClr>
                </a:outerShdw>
              </a:effectLst>
            </a:endParaRPr>
          </a:p>
          <a:p>
            <a:pPr eaLnBrk="1" hangingPunct="1">
              <a:defRPr/>
            </a:pPr>
            <a:r>
              <a:rPr lang="en-US" altLang="zh-CN" b="1" dirty="0">
                <a:solidFill>
                  <a:schemeClr val="bg1"/>
                </a:solidFill>
                <a:effectLst>
                  <a:outerShdw blurRad="38100" dist="38100" dir="2700000" algn="tl">
                    <a:srgbClr val="000000">
                      <a:alpha val="43137"/>
                    </a:srgbClr>
                  </a:outerShdw>
                </a:effectLst>
              </a:rPr>
              <a:t>   return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0180"/>
                                        </p:tgtEl>
                                        <p:attrNameLst>
                                          <p:attrName>style.visibility</p:attrName>
                                        </p:attrNameLst>
                                      </p:cBhvr>
                                      <p:to>
                                        <p:strVal val="visible"/>
                                      </p:to>
                                    </p:set>
                                    <p:animEffect transition="in" filter="wipe(up)">
                                      <p:cBhvr>
                                        <p:cTn id="7" dur="500"/>
                                        <p:tgtEl>
                                          <p:spTgt spid="50180"/>
                                        </p:tgtEl>
                                      </p:cBhvr>
                                    </p:animEffect>
                                  </p:childTnLst>
                                  <p:subTnLst>
                                    <p:set>
                                      <p:cBhvr override="childStyle">
                                        <p:cTn dur="1" fill="hold" display="0" masterRel="nextClick" afterEffect="1"/>
                                        <p:tgtEl>
                                          <p:spTgt spid="5018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defRPr/>
            </a:pPr>
            <a:r>
              <a:rPr lang="zh-CN" altLang="en-US" sz="3600" b="1" dirty="0">
                <a:solidFill>
                  <a:srgbClr val="0000FF"/>
                </a:solidFill>
                <a:effectLst>
                  <a:outerShdw blurRad="38100" dist="38100" dir="2700000" algn="tl">
                    <a:srgbClr val="C0C0C0"/>
                  </a:outerShdw>
                </a:effectLst>
              </a:rPr>
              <a:t>延时程序</a:t>
            </a:r>
          </a:p>
        </p:txBody>
      </p:sp>
      <p:sp>
        <p:nvSpPr>
          <p:cNvPr id="51203" name="Rectangle 3"/>
          <p:cNvSpPr>
            <a:spLocks noGrp="1" noChangeArrowheads="1"/>
          </p:cNvSpPr>
          <p:nvPr>
            <p:ph type="body" idx="1"/>
          </p:nvPr>
        </p:nvSpPr>
        <p:spPr>
          <a:xfrm>
            <a:off x="1182688" y="2017713"/>
            <a:ext cx="5765800" cy="4114800"/>
          </a:xfrm>
        </p:spPr>
        <p:txBody>
          <a:bodyPr/>
          <a:lstStyle/>
          <a:p>
            <a:pPr eaLnBrk="1" hangingPunct="1">
              <a:defRPr/>
            </a:pPr>
            <a:r>
              <a:rPr lang="en-US" altLang="zh-CN"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#include&lt;reg51.h&gt;</a:t>
            </a:r>
          </a:p>
          <a:p>
            <a:pPr eaLnBrk="1" hangingPunct="1">
              <a:defRPr/>
            </a:pPr>
            <a:r>
              <a:rPr lang="en-US" altLang="zh-CN"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void main(void)</a:t>
            </a:r>
          </a:p>
          <a:p>
            <a:pPr eaLnBrk="1" hangingPunct="1">
              <a:defRPr/>
            </a:pPr>
            <a:r>
              <a:rPr lang="en-US" altLang="zh-CN"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t>
            </a:r>
          </a:p>
          <a:p>
            <a:pPr eaLnBrk="1" hangingPunct="1">
              <a:defRPr/>
            </a:pPr>
            <a:r>
              <a:rPr lang="en-US" altLang="zh-CN"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unsigned char </a:t>
            </a:r>
            <a:r>
              <a:rPr lang="en-US" altLang="zh-CN" b="1" dirty="0" err="1">
                <a:effectLst>
                  <a:outerShdw blurRad="38100" dist="38100" dir="2700000" algn="tl">
                    <a:srgbClr val="000000">
                      <a:alpha val="43137"/>
                    </a:srgbClr>
                  </a:outerShdw>
                </a:effectLst>
                <a:latin typeface="Arial" panose="020B0604020202020204" pitchFamily="34" charset="0"/>
                <a:cs typeface="Arial" panose="020B0604020202020204" pitchFamily="34" charset="0"/>
              </a:rPr>
              <a:t>i</a:t>
            </a:r>
            <a:r>
              <a:rPr lang="en-US" altLang="zh-CN"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t>
            </a:r>
          </a:p>
          <a:p>
            <a:pPr eaLnBrk="1" hangingPunct="1">
              <a:defRPr/>
            </a:pPr>
            <a:r>
              <a:rPr lang="en-US" altLang="zh-CN"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for(</a:t>
            </a:r>
            <a:r>
              <a:rPr lang="en-US" altLang="zh-CN" b="1" dirty="0" err="1">
                <a:effectLst>
                  <a:outerShdw blurRad="38100" dist="38100" dir="2700000" algn="tl">
                    <a:srgbClr val="000000">
                      <a:alpha val="43137"/>
                    </a:srgbClr>
                  </a:outerShdw>
                </a:effectLst>
                <a:latin typeface="Arial" panose="020B0604020202020204" pitchFamily="34" charset="0"/>
                <a:cs typeface="Arial" panose="020B0604020202020204" pitchFamily="34" charset="0"/>
              </a:rPr>
              <a:t>i</a:t>
            </a:r>
            <a:r>
              <a:rPr lang="en-US" altLang="zh-CN"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=0;i&lt;100;i++)</a:t>
            </a:r>
          </a:p>
          <a:p>
            <a:pPr eaLnBrk="1" hangingPunct="1">
              <a:defRPr/>
            </a:pPr>
            <a:r>
              <a:rPr lang="en-US" altLang="zh-CN"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p>
          <a:p>
            <a:pPr eaLnBrk="1" hangingPunct="1">
              <a:defRPr/>
            </a:pPr>
            <a:r>
              <a:rPr lang="en-US" altLang="zh-CN"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755650" y="188913"/>
            <a:ext cx="7793038" cy="838200"/>
          </a:xfrm>
        </p:spPr>
        <p:txBody>
          <a:bodyPr/>
          <a:lstStyle/>
          <a:p>
            <a:pPr eaLnBrk="1" hangingPunct="1">
              <a:defRPr/>
            </a:pPr>
            <a:r>
              <a:rPr lang="zh-CN" altLang="en-US" sz="3600" b="1" dirty="0">
                <a:effectLst>
                  <a:outerShdw blurRad="38100" dist="38100" dir="2700000" algn="tl">
                    <a:srgbClr val="000000">
                      <a:alpha val="43137"/>
                    </a:srgbClr>
                  </a:outerShdw>
                </a:effectLst>
              </a:rPr>
              <a:t>反汇编</a:t>
            </a:r>
          </a:p>
        </p:txBody>
      </p:sp>
      <p:pic>
        <p:nvPicPr>
          <p:cNvPr id="41987" name="Picture 4"/>
          <p:cNvPicPr>
            <a:picLocks noChangeAspect="1" noChangeArrowheads="1"/>
          </p:cNvPicPr>
          <p:nvPr/>
        </p:nvPicPr>
        <p:blipFill>
          <a:blip r:embed="rId2">
            <a:lum bright="-12000" contrast="24000"/>
            <a:extLst>
              <a:ext uri="{28A0092B-C50C-407E-A947-70E740481C1C}">
                <a14:useLocalDpi xmlns:a14="http://schemas.microsoft.com/office/drawing/2010/main" val="0"/>
              </a:ext>
            </a:extLst>
          </a:blip>
          <a:srcRect/>
          <a:stretch>
            <a:fillRect/>
          </a:stretch>
        </p:blipFill>
        <p:spPr bwMode="auto">
          <a:xfrm>
            <a:off x="395288" y="1125538"/>
            <a:ext cx="8281987" cy="1727200"/>
          </a:xfrm>
          <a:prstGeom prst="rect">
            <a:avLst/>
          </a:prstGeom>
          <a:noFill/>
          <a:ln w="1587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2229" name="Text Box 5"/>
          <p:cNvSpPr txBox="1">
            <a:spLocks noChangeArrowheads="1"/>
          </p:cNvSpPr>
          <p:nvPr/>
        </p:nvSpPr>
        <p:spPr bwMode="auto">
          <a:xfrm>
            <a:off x="395288" y="2852738"/>
            <a:ext cx="3455987" cy="2000250"/>
          </a:xfrm>
          <a:prstGeom prst="rect">
            <a:avLst/>
          </a:prstGeom>
          <a:noFill/>
          <a:ln w="9525">
            <a:solidFill>
              <a:srgbClr val="800000"/>
            </a:solidFill>
            <a:miter lim="800000"/>
          </a:ln>
          <a:effectLst/>
        </p:spPr>
        <p:txBody>
          <a:bodyPr>
            <a:spAutoFit/>
          </a:bodyPr>
          <a:lstStyle/>
          <a:p>
            <a:pPr eaLnBrk="1" hangingPunct="1">
              <a:spcBef>
                <a:spcPct val="15000"/>
              </a:spcBef>
              <a:defRPr/>
            </a:pPr>
            <a:r>
              <a:rPr lang="en-US" altLang="zh-CN" b="1">
                <a:effectLst>
                  <a:outerShdw blurRad="38100" dist="38100" dir="2700000" algn="tl">
                    <a:srgbClr val="000000">
                      <a:alpha val="43137"/>
                    </a:srgbClr>
                  </a:outerShdw>
                </a:effectLst>
                <a:latin typeface="Times New Roman" panose="02020603050405020304" pitchFamily="18" charset="0"/>
              </a:rPr>
              <a:t>CLR</a:t>
            </a:r>
            <a:r>
              <a:rPr lang="zh-CN" altLang="en-US" b="1">
                <a:effectLst>
                  <a:outerShdw blurRad="38100" dist="38100" dir="2700000" algn="tl">
                    <a:srgbClr val="000000">
                      <a:alpha val="43137"/>
                    </a:srgbClr>
                  </a:outerShdw>
                </a:effectLst>
                <a:latin typeface="Times New Roman" panose="02020603050405020304" pitchFamily="18" charset="0"/>
              </a:rPr>
              <a:t>：</a:t>
            </a:r>
            <a:r>
              <a:rPr lang="en-US" altLang="zh-CN" b="1">
                <a:effectLst>
                  <a:outerShdw blurRad="38100" dist="38100" dir="2700000" algn="tl">
                    <a:srgbClr val="000000">
                      <a:alpha val="43137"/>
                    </a:srgbClr>
                  </a:outerShdw>
                </a:effectLst>
                <a:latin typeface="Times New Roman" panose="02020603050405020304" pitchFamily="18" charset="0"/>
              </a:rPr>
              <a:t>1</a:t>
            </a:r>
            <a:r>
              <a:rPr lang="zh-CN" altLang="en-US" b="1">
                <a:effectLst>
                  <a:outerShdw blurRad="38100" dist="38100" dir="2700000" algn="tl">
                    <a:srgbClr val="000000">
                      <a:alpha val="43137"/>
                    </a:srgbClr>
                  </a:outerShdw>
                </a:effectLst>
                <a:latin typeface="Times New Roman" panose="02020603050405020304" pitchFamily="18" charset="0"/>
              </a:rPr>
              <a:t>个机器周期</a:t>
            </a:r>
          </a:p>
          <a:p>
            <a:pPr eaLnBrk="1" hangingPunct="1">
              <a:spcBef>
                <a:spcPct val="15000"/>
              </a:spcBef>
              <a:defRPr/>
            </a:pPr>
            <a:r>
              <a:rPr lang="en-US" altLang="zh-CN" b="1">
                <a:effectLst>
                  <a:outerShdw blurRad="38100" dist="38100" dir="2700000" algn="tl">
                    <a:srgbClr val="000000">
                      <a:alpha val="43137"/>
                    </a:srgbClr>
                  </a:outerShdw>
                </a:effectLst>
                <a:latin typeface="Times New Roman" panose="02020603050405020304" pitchFamily="18" charset="0"/>
              </a:rPr>
              <a:t>MOV</a:t>
            </a:r>
            <a:r>
              <a:rPr lang="zh-CN" altLang="en-US" b="1">
                <a:effectLst>
                  <a:outerShdw blurRad="38100" dist="38100" dir="2700000" algn="tl">
                    <a:srgbClr val="000000">
                      <a:alpha val="43137"/>
                    </a:srgbClr>
                  </a:outerShdw>
                </a:effectLst>
                <a:latin typeface="Times New Roman" panose="02020603050405020304" pitchFamily="18" charset="0"/>
              </a:rPr>
              <a:t>：</a:t>
            </a:r>
            <a:r>
              <a:rPr lang="en-US" altLang="zh-CN" b="1">
                <a:effectLst>
                  <a:outerShdw blurRad="38100" dist="38100" dir="2700000" algn="tl">
                    <a:srgbClr val="000000">
                      <a:alpha val="43137"/>
                    </a:srgbClr>
                  </a:outerShdw>
                </a:effectLst>
                <a:latin typeface="Times New Roman" panose="02020603050405020304" pitchFamily="18" charset="0"/>
              </a:rPr>
              <a:t>1</a:t>
            </a:r>
            <a:r>
              <a:rPr lang="zh-CN" altLang="en-US" b="1">
                <a:effectLst>
                  <a:outerShdw blurRad="38100" dist="38100" dir="2700000" algn="tl">
                    <a:srgbClr val="000000">
                      <a:alpha val="43137"/>
                    </a:srgbClr>
                  </a:outerShdw>
                </a:effectLst>
                <a:latin typeface="Times New Roman" panose="02020603050405020304" pitchFamily="18" charset="0"/>
              </a:rPr>
              <a:t>个机器周期</a:t>
            </a:r>
          </a:p>
          <a:p>
            <a:pPr eaLnBrk="1" hangingPunct="1">
              <a:spcBef>
                <a:spcPct val="15000"/>
              </a:spcBef>
              <a:defRPr/>
            </a:pPr>
            <a:r>
              <a:rPr lang="en-US" altLang="zh-CN" b="1">
                <a:effectLst>
                  <a:outerShdw blurRad="38100" dist="38100" dir="2700000" algn="tl">
                    <a:srgbClr val="000000">
                      <a:alpha val="43137"/>
                    </a:srgbClr>
                  </a:outerShdw>
                </a:effectLst>
                <a:latin typeface="Times New Roman" panose="02020603050405020304" pitchFamily="18" charset="0"/>
              </a:rPr>
              <a:t>INC</a:t>
            </a:r>
            <a:r>
              <a:rPr lang="zh-CN" altLang="en-US" b="1">
                <a:effectLst>
                  <a:outerShdw blurRad="38100" dist="38100" dir="2700000" algn="tl">
                    <a:srgbClr val="000000">
                      <a:alpha val="43137"/>
                    </a:srgbClr>
                  </a:outerShdw>
                </a:effectLst>
                <a:latin typeface="Times New Roman" panose="02020603050405020304" pitchFamily="18" charset="0"/>
              </a:rPr>
              <a:t>：</a:t>
            </a:r>
            <a:r>
              <a:rPr lang="en-US" altLang="zh-CN" b="1">
                <a:effectLst>
                  <a:outerShdw blurRad="38100" dist="38100" dir="2700000" algn="tl">
                    <a:srgbClr val="000000">
                      <a:alpha val="43137"/>
                    </a:srgbClr>
                  </a:outerShdw>
                </a:effectLst>
                <a:latin typeface="Times New Roman" panose="02020603050405020304" pitchFamily="18" charset="0"/>
              </a:rPr>
              <a:t>1</a:t>
            </a:r>
            <a:r>
              <a:rPr lang="zh-CN" altLang="en-US" b="1">
                <a:effectLst>
                  <a:outerShdw blurRad="38100" dist="38100" dir="2700000" algn="tl">
                    <a:srgbClr val="000000">
                      <a:alpha val="43137"/>
                    </a:srgbClr>
                  </a:outerShdw>
                </a:effectLst>
                <a:latin typeface="Times New Roman" panose="02020603050405020304" pitchFamily="18" charset="0"/>
              </a:rPr>
              <a:t>个机器周期</a:t>
            </a:r>
          </a:p>
          <a:p>
            <a:pPr eaLnBrk="1" hangingPunct="1">
              <a:spcBef>
                <a:spcPct val="15000"/>
              </a:spcBef>
              <a:defRPr/>
            </a:pPr>
            <a:r>
              <a:rPr lang="en-US" altLang="zh-CN" b="1">
                <a:effectLst>
                  <a:outerShdw blurRad="38100" dist="38100" dir="2700000" algn="tl">
                    <a:srgbClr val="000000">
                      <a:alpha val="43137"/>
                    </a:srgbClr>
                  </a:outerShdw>
                </a:effectLst>
                <a:latin typeface="Times New Roman" panose="02020603050405020304" pitchFamily="18" charset="0"/>
              </a:rPr>
              <a:t>CJNE</a:t>
            </a:r>
            <a:r>
              <a:rPr lang="zh-CN" altLang="en-US" b="1">
                <a:effectLst>
                  <a:outerShdw blurRad="38100" dist="38100" dir="2700000" algn="tl">
                    <a:srgbClr val="000000">
                      <a:alpha val="43137"/>
                    </a:srgbClr>
                  </a:outerShdw>
                </a:effectLst>
                <a:latin typeface="Times New Roman" panose="02020603050405020304" pitchFamily="18" charset="0"/>
              </a:rPr>
              <a:t>：</a:t>
            </a:r>
            <a:r>
              <a:rPr lang="en-US" altLang="zh-CN" b="1">
                <a:effectLst>
                  <a:outerShdw blurRad="38100" dist="38100" dir="2700000" algn="tl">
                    <a:srgbClr val="000000">
                      <a:alpha val="43137"/>
                    </a:srgbClr>
                  </a:outerShdw>
                </a:effectLst>
                <a:latin typeface="Times New Roman" panose="02020603050405020304" pitchFamily="18" charset="0"/>
              </a:rPr>
              <a:t>2</a:t>
            </a:r>
            <a:r>
              <a:rPr lang="zh-CN" altLang="en-US" b="1">
                <a:effectLst>
                  <a:outerShdw blurRad="38100" dist="38100" dir="2700000" algn="tl">
                    <a:srgbClr val="000000">
                      <a:alpha val="43137"/>
                    </a:srgbClr>
                  </a:outerShdw>
                </a:effectLst>
                <a:latin typeface="Times New Roman" panose="02020603050405020304" pitchFamily="18" charset="0"/>
              </a:rPr>
              <a:t>个机器周期</a:t>
            </a:r>
          </a:p>
        </p:txBody>
      </p:sp>
      <p:sp>
        <p:nvSpPr>
          <p:cNvPr id="52230" name="Text Box 6"/>
          <p:cNvSpPr txBox="1">
            <a:spLocks noChangeArrowheads="1"/>
          </p:cNvSpPr>
          <p:nvPr/>
        </p:nvSpPr>
        <p:spPr bwMode="auto">
          <a:xfrm>
            <a:off x="4211638" y="2852738"/>
            <a:ext cx="4464050" cy="1382712"/>
          </a:xfrm>
          <a:prstGeom prst="rect">
            <a:avLst/>
          </a:prstGeom>
          <a:noFill/>
          <a:ln w="9525">
            <a:solidFill>
              <a:srgbClr val="800000"/>
            </a:solidFill>
            <a:miter lim="800000"/>
          </a:ln>
          <a:effectLst/>
        </p:spPr>
        <p:txBody>
          <a:bodyPr>
            <a:spAutoFit/>
          </a:bodyPr>
          <a:lstStyle/>
          <a:p>
            <a:pPr eaLnBrk="1" hangingPunct="1">
              <a:spcBef>
                <a:spcPct val="15000"/>
              </a:spcBef>
              <a:defRPr/>
            </a:pPr>
            <a:r>
              <a:rPr lang="zh-CN" altLang="en-US" b="1">
                <a:effectLst>
                  <a:outerShdw blurRad="38100" dist="38100" dir="2700000" algn="tl">
                    <a:srgbClr val="000000">
                      <a:alpha val="43137"/>
                    </a:srgbClr>
                  </a:outerShdw>
                </a:effectLst>
                <a:latin typeface="Times New Roman" panose="02020603050405020304" pitchFamily="18" charset="0"/>
              </a:rPr>
              <a:t>其中，第</a:t>
            </a:r>
            <a:r>
              <a:rPr lang="en-US" altLang="zh-CN" b="1">
                <a:effectLst>
                  <a:outerShdw blurRad="38100" dist="38100" dir="2700000" algn="tl">
                    <a:srgbClr val="000000">
                      <a:alpha val="43137"/>
                    </a:srgbClr>
                  </a:outerShdw>
                </a:effectLst>
                <a:latin typeface="Times New Roman" panose="02020603050405020304" pitchFamily="18" charset="0"/>
              </a:rPr>
              <a:t>3</a:t>
            </a:r>
            <a:r>
              <a:rPr lang="zh-CN" altLang="en-US" b="1">
                <a:effectLst>
                  <a:outerShdw blurRad="38100" dist="38100" dir="2700000" algn="tl">
                    <a:srgbClr val="000000">
                      <a:alpha val="43137"/>
                    </a:srgbClr>
                  </a:outerShdw>
                </a:effectLst>
                <a:latin typeface="Times New Roman" panose="02020603050405020304" pitchFamily="18" charset="0"/>
              </a:rPr>
              <a:t>行和</a:t>
            </a:r>
            <a:r>
              <a:rPr lang="en-US" altLang="zh-CN" b="1">
                <a:effectLst>
                  <a:outerShdw blurRad="38100" dist="38100" dir="2700000" algn="tl">
                    <a:srgbClr val="000000">
                      <a:alpha val="43137"/>
                    </a:srgbClr>
                  </a:outerShdw>
                </a:effectLst>
                <a:latin typeface="Times New Roman" panose="02020603050405020304" pitchFamily="18" charset="0"/>
              </a:rPr>
              <a:t>4</a:t>
            </a:r>
            <a:r>
              <a:rPr lang="zh-CN" altLang="en-US" b="1">
                <a:effectLst>
                  <a:outerShdw blurRad="38100" dist="38100" dir="2700000" algn="tl">
                    <a:srgbClr val="000000">
                      <a:alpha val="43137"/>
                    </a:srgbClr>
                  </a:outerShdw>
                </a:effectLst>
                <a:latin typeface="Times New Roman" panose="02020603050405020304" pitchFamily="18" charset="0"/>
              </a:rPr>
              <a:t>行要执行</a:t>
            </a:r>
            <a:r>
              <a:rPr lang="en-US" altLang="zh-CN" b="1">
                <a:effectLst>
                  <a:outerShdw blurRad="38100" dist="38100" dir="2700000" algn="tl">
                    <a:srgbClr val="000000">
                      <a:alpha val="43137"/>
                    </a:srgbClr>
                  </a:outerShdw>
                </a:effectLst>
                <a:latin typeface="Times New Roman" panose="02020603050405020304" pitchFamily="18" charset="0"/>
              </a:rPr>
              <a:t>100</a:t>
            </a:r>
            <a:r>
              <a:rPr lang="zh-CN" altLang="en-US" b="1">
                <a:effectLst>
                  <a:outerShdw blurRad="38100" dist="38100" dir="2700000" algn="tl">
                    <a:srgbClr val="000000">
                      <a:alpha val="43137"/>
                    </a:srgbClr>
                  </a:outerShdw>
                </a:effectLst>
                <a:latin typeface="Times New Roman" panose="02020603050405020304" pitchFamily="18" charset="0"/>
              </a:rPr>
              <a:t>次，则共需要消耗总时间为：</a:t>
            </a:r>
          </a:p>
        </p:txBody>
      </p:sp>
      <p:sp>
        <p:nvSpPr>
          <p:cNvPr id="52231" name="Text Box 7"/>
          <p:cNvSpPr txBox="1">
            <a:spLocks noChangeArrowheads="1"/>
          </p:cNvSpPr>
          <p:nvPr/>
        </p:nvSpPr>
        <p:spPr bwMode="auto">
          <a:xfrm>
            <a:off x="4211638" y="4292600"/>
            <a:ext cx="4464050" cy="519113"/>
          </a:xfrm>
          <a:prstGeom prst="rect">
            <a:avLst/>
          </a:prstGeom>
          <a:solidFill>
            <a:srgbClr val="CCFFFF"/>
          </a:solidFill>
          <a:ln>
            <a:noFill/>
          </a:ln>
          <a:effectLst/>
        </p:spPr>
        <p:txBody>
          <a:bodyPr>
            <a:spAutoFit/>
          </a:bodyPr>
          <a:lstStyle/>
          <a:p>
            <a:pPr eaLnBrk="1" hangingPunct="1">
              <a:spcBef>
                <a:spcPct val="15000"/>
              </a:spcBef>
              <a:defRPr/>
            </a:pPr>
            <a:r>
              <a:rPr lang="en-US" altLang="zh-CN" b="1">
                <a:effectLst>
                  <a:outerShdw blurRad="38100" dist="38100" dir="2700000" algn="tl">
                    <a:srgbClr val="000000">
                      <a:alpha val="43137"/>
                    </a:srgbClr>
                  </a:outerShdw>
                </a:effectLst>
                <a:latin typeface="Times New Roman" panose="02020603050405020304" pitchFamily="18" charset="0"/>
              </a:rPr>
              <a:t>N</a:t>
            </a:r>
            <a:r>
              <a:rPr lang="zh-CN" altLang="en-US" b="1">
                <a:effectLst>
                  <a:outerShdw blurRad="38100" dist="38100" dir="2700000" algn="tl">
                    <a:srgbClr val="000000">
                      <a:alpha val="43137"/>
                    </a:srgbClr>
                  </a:outerShdw>
                </a:effectLst>
                <a:latin typeface="Times New Roman" panose="02020603050405020304" pitchFamily="18" charset="0"/>
              </a:rPr>
              <a:t>＝</a:t>
            </a:r>
            <a:r>
              <a:rPr lang="en-US" altLang="zh-CN" b="1">
                <a:effectLst>
                  <a:outerShdw blurRad="38100" dist="38100" dir="2700000" algn="tl">
                    <a:srgbClr val="000000">
                      <a:alpha val="43137"/>
                    </a:srgbClr>
                  </a:outerShdw>
                </a:effectLst>
                <a:latin typeface="Times New Roman" panose="02020603050405020304" pitchFamily="18" charset="0"/>
              </a:rPr>
              <a:t>1+1+</a:t>
            </a:r>
            <a:r>
              <a:rPr lang="zh-CN" altLang="en-US" b="1">
                <a:effectLst>
                  <a:outerShdw blurRad="38100" dist="38100" dir="2700000" algn="tl">
                    <a:srgbClr val="000000">
                      <a:alpha val="43137"/>
                    </a:srgbClr>
                  </a:outerShdw>
                </a:effectLst>
                <a:latin typeface="Times New Roman" panose="02020603050405020304" pitchFamily="18" charset="0"/>
              </a:rPr>
              <a:t>（</a:t>
            </a:r>
            <a:r>
              <a:rPr lang="en-US" altLang="zh-CN" b="1">
                <a:effectLst>
                  <a:outerShdw blurRad="38100" dist="38100" dir="2700000" algn="tl">
                    <a:srgbClr val="000000">
                      <a:alpha val="43137"/>
                    </a:srgbClr>
                  </a:outerShdw>
                </a:effectLst>
                <a:latin typeface="Times New Roman" panose="02020603050405020304" pitchFamily="18" charset="0"/>
              </a:rPr>
              <a:t>1+2</a:t>
            </a:r>
            <a:r>
              <a:rPr lang="zh-CN" altLang="en-US" b="1">
                <a:effectLst>
                  <a:outerShdw blurRad="38100" dist="38100" dir="2700000" algn="tl">
                    <a:srgbClr val="000000">
                      <a:alpha val="43137"/>
                    </a:srgbClr>
                  </a:outerShdw>
                </a:effectLst>
                <a:latin typeface="Times New Roman" panose="02020603050405020304" pitchFamily="18" charset="0"/>
              </a:rPr>
              <a:t>）*</a:t>
            </a:r>
            <a:r>
              <a:rPr lang="en-US" altLang="zh-CN" b="1">
                <a:effectLst>
                  <a:outerShdw blurRad="38100" dist="38100" dir="2700000" algn="tl">
                    <a:srgbClr val="000000">
                      <a:alpha val="43137"/>
                    </a:srgbClr>
                  </a:outerShdw>
                </a:effectLst>
                <a:latin typeface="Times New Roman" panose="02020603050405020304" pitchFamily="18" charset="0"/>
              </a:rPr>
              <a:t>100</a:t>
            </a:r>
            <a:r>
              <a:rPr lang="zh-CN" altLang="en-US" b="1">
                <a:effectLst>
                  <a:outerShdw blurRad="38100" dist="38100" dir="2700000" algn="tl">
                    <a:srgbClr val="000000">
                      <a:alpha val="43137"/>
                    </a:srgbClr>
                  </a:outerShdw>
                </a:effectLst>
                <a:latin typeface="Times New Roman" panose="02020603050405020304" pitchFamily="18" charset="0"/>
              </a:rPr>
              <a:t>＝</a:t>
            </a:r>
            <a:r>
              <a:rPr lang="en-US" altLang="zh-CN" b="1">
                <a:effectLst>
                  <a:outerShdw blurRad="38100" dist="38100" dir="2700000" algn="tl">
                    <a:srgbClr val="000000">
                      <a:alpha val="43137"/>
                    </a:srgbClr>
                  </a:outerShdw>
                </a:effectLst>
                <a:latin typeface="Times New Roman" panose="02020603050405020304" pitchFamily="18" charset="0"/>
              </a:rPr>
              <a:t>302</a:t>
            </a:r>
          </a:p>
        </p:txBody>
      </p:sp>
      <p:sp>
        <p:nvSpPr>
          <p:cNvPr id="52232" name="Text Box 8"/>
          <p:cNvSpPr txBox="1">
            <a:spLocks noChangeArrowheads="1"/>
          </p:cNvSpPr>
          <p:nvPr/>
        </p:nvSpPr>
        <p:spPr bwMode="auto">
          <a:xfrm>
            <a:off x="3708400" y="4868863"/>
            <a:ext cx="4967288" cy="1881187"/>
          </a:xfrm>
          <a:prstGeom prst="rect">
            <a:avLst/>
          </a:prstGeom>
          <a:solidFill>
            <a:srgbClr val="FFFFCC"/>
          </a:solidFill>
          <a:ln>
            <a:noFill/>
          </a:ln>
          <a:effectLst/>
        </p:spPr>
        <p:txBody>
          <a:bodyPr>
            <a:spAutoFit/>
          </a:bodyPr>
          <a:lstStyle/>
          <a:p>
            <a:pPr eaLnBrk="1" hangingPunct="1">
              <a:spcBef>
                <a:spcPct val="5000"/>
              </a:spcBef>
              <a:defRPr/>
            </a:pPr>
            <a:r>
              <a:rPr lang="zh-CN" altLang="en-US" b="1">
                <a:effectLst>
                  <a:outerShdw blurRad="38100" dist="38100" dir="2700000" algn="tl">
                    <a:srgbClr val="000000">
                      <a:alpha val="43137"/>
                    </a:srgbClr>
                  </a:outerShdw>
                </a:effectLst>
                <a:latin typeface="Times New Roman" panose="02020603050405020304" pitchFamily="18" charset="0"/>
              </a:rPr>
              <a:t>所以，</a:t>
            </a:r>
          </a:p>
          <a:p>
            <a:pPr eaLnBrk="1" hangingPunct="1">
              <a:spcBef>
                <a:spcPct val="5000"/>
              </a:spcBef>
              <a:defRPr/>
            </a:pPr>
            <a:r>
              <a:rPr lang="en-US" altLang="zh-CN" b="1">
                <a:effectLst>
                  <a:outerShdw blurRad="38100" dist="38100" dir="2700000" algn="tl">
                    <a:srgbClr val="000000">
                      <a:alpha val="43137"/>
                    </a:srgbClr>
                  </a:outerShdw>
                </a:effectLst>
                <a:latin typeface="Times New Roman" panose="02020603050405020304" pitchFamily="18" charset="0"/>
              </a:rPr>
              <a:t>for(i=0;i&lt;100;i++)</a:t>
            </a:r>
          </a:p>
          <a:p>
            <a:pPr eaLnBrk="1" hangingPunct="1">
              <a:spcBef>
                <a:spcPct val="5000"/>
              </a:spcBef>
              <a:defRPr/>
            </a:pPr>
            <a:r>
              <a:rPr lang="en-US" altLang="zh-CN" b="1">
                <a:effectLst>
                  <a:outerShdw blurRad="38100" dist="38100" dir="2700000" algn="tl">
                    <a:srgbClr val="000000">
                      <a:alpha val="43137"/>
                    </a:srgbClr>
                  </a:outerShdw>
                </a:effectLst>
                <a:latin typeface="Times New Roman" panose="02020603050405020304" pitchFamily="18" charset="0"/>
              </a:rPr>
              <a:t>    ;</a:t>
            </a:r>
          </a:p>
          <a:p>
            <a:pPr eaLnBrk="1" hangingPunct="1">
              <a:spcBef>
                <a:spcPct val="5000"/>
              </a:spcBef>
              <a:defRPr/>
            </a:pPr>
            <a:r>
              <a:rPr lang="zh-CN" altLang="en-US" b="1">
                <a:effectLst>
                  <a:outerShdw blurRad="38100" dist="38100" dir="2700000" algn="tl">
                    <a:srgbClr val="000000">
                      <a:alpha val="43137"/>
                    </a:srgbClr>
                  </a:outerShdw>
                </a:effectLst>
                <a:latin typeface="Times New Roman" panose="02020603050405020304" pitchFamily="18" charset="0"/>
              </a:rPr>
              <a:t>所消耗的机器周期数</a:t>
            </a:r>
            <a:r>
              <a:rPr lang="en-US" altLang="zh-CN" b="1">
                <a:effectLst>
                  <a:outerShdw blurRad="38100" dist="38100" dir="2700000" algn="tl">
                    <a:srgbClr val="000000">
                      <a:alpha val="43137"/>
                    </a:srgbClr>
                  </a:outerShdw>
                </a:effectLst>
                <a:latin typeface="Times New Roman" panose="02020603050405020304" pitchFamily="18" charset="0"/>
              </a:rPr>
              <a:t>N</a:t>
            </a:r>
            <a:r>
              <a:rPr lang="zh-CN" altLang="en-US" b="1">
                <a:effectLst>
                  <a:outerShdw blurRad="38100" dist="38100" dir="2700000" algn="tl">
                    <a:srgbClr val="000000">
                      <a:alpha val="43137"/>
                    </a:srgbClr>
                  </a:outerShdw>
                </a:effectLst>
                <a:latin typeface="Times New Roman" panose="02020603050405020304" pitchFamily="18" charset="0"/>
              </a:rPr>
              <a:t>＝</a:t>
            </a:r>
            <a:r>
              <a:rPr lang="en-US" altLang="zh-CN" b="1">
                <a:effectLst>
                  <a:outerShdw blurRad="38100" dist="38100" dir="2700000" algn="tl">
                    <a:srgbClr val="000000">
                      <a:alpha val="43137"/>
                    </a:srgbClr>
                  </a:outerShdw>
                </a:effectLst>
                <a:latin typeface="Times New Roman" panose="02020603050405020304" pitchFamily="18" charset="0"/>
              </a:rPr>
              <a:t>3*n+2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2229"/>
                                        </p:tgtEl>
                                        <p:attrNameLst>
                                          <p:attrName>style.visibility</p:attrName>
                                        </p:attrNameLst>
                                      </p:cBhvr>
                                      <p:to>
                                        <p:strVal val="visible"/>
                                      </p:to>
                                    </p:set>
                                    <p:animEffect transition="in" filter="checkerboard(across)">
                                      <p:cBhvr>
                                        <p:cTn id="7" dur="500"/>
                                        <p:tgtEl>
                                          <p:spTgt spid="5222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2230"/>
                                        </p:tgtEl>
                                        <p:attrNameLst>
                                          <p:attrName>style.visibility</p:attrName>
                                        </p:attrNameLst>
                                      </p:cBhvr>
                                      <p:to>
                                        <p:strVal val="visible"/>
                                      </p:to>
                                    </p:set>
                                    <p:animEffect transition="in" filter="blinds(horizontal)">
                                      <p:cBhvr>
                                        <p:cTn id="12" dur="500"/>
                                        <p:tgtEl>
                                          <p:spTgt spid="52230"/>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2231"/>
                                        </p:tgtEl>
                                        <p:attrNameLst>
                                          <p:attrName>style.visibility</p:attrName>
                                        </p:attrNameLst>
                                      </p:cBhvr>
                                      <p:to>
                                        <p:strVal val="visible"/>
                                      </p:to>
                                    </p:set>
                                    <p:animEffect transition="in" filter="checkerboard(across)">
                                      <p:cBhvr>
                                        <p:cTn id="17" dur="500"/>
                                        <p:tgtEl>
                                          <p:spTgt spid="52231"/>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52232"/>
                                        </p:tgtEl>
                                        <p:attrNameLst>
                                          <p:attrName>style.visibility</p:attrName>
                                        </p:attrNameLst>
                                      </p:cBhvr>
                                      <p:to>
                                        <p:strVal val="visible"/>
                                      </p:to>
                                    </p:set>
                                    <p:animEffect transition="in" filter="diamond(in)">
                                      <p:cBhvr>
                                        <p:cTn id="22" dur="1000"/>
                                        <p:tgtEl>
                                          <p:spTgt spid="52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animBg="1"/>
      <p:bldP spid="52230" grpId="0" animBg="1"/>
      <p:bldP spid="52231" grpId="0" animBg="1"/>
      <p:bldP spid="5223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D2F4346E-593A-422F-985D-43191AD5502E}"/>
              </a:ext>
            </a:extLst>
          </p:cNvPr>
          <p:cNvSpPr txBox="1">
            <a:spLocks noChangeArrowheads="1"/>
          </p:cNvSpPr>
          <p:nvPr/>
        </p:nvSpPr>
        <p:spPr>
          <a:xfrm>
            <a:off x="899592" y="404664"/>
            <a:ext cx="7793037" cy="695672"/>
          </a:xfrm>
          <a:prstGeom prst="rect">
            <a:avLst/>
          </a:prstGeom>
        </p:spPr>
        <p:txBody>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a:lstStyle>
          <a:p>
            <a:pPr eaLnBrk="1" hangingPunct="1">
              <a:defRPr/>
            </a:pPr>
            <a:r>
              <a:rPr lang="zh-CN" altLang="en-US" sz="2800" b="1" kern="0" dirty="0">
                <a:solidFill>
                  <a:schemeClr val="tx1"/>
                </a:solidFill>
                <a:effectLst>
                  <a:outerShdw blurRad="38100" dist="38100" dir="2700000" algn="tl">
                    <a:srgbClr val="C0C0C0"/>
                  </a:outerShdw>
                </a:effectLst>
              </a:rPr>
              <a:t>例</a:t>
            </a:r>
            <a:r>
              <a:rPr lang="en-US" altLang="zh-CN" sz="2800" b="1" kern="0" dirty="0">
                <a:solidFill>
                  <a:schemeClr val="tx1"/>
                </a:solidFill>
                <a:effectLst>
                  <a:outerShdw blurRad="38100" dist="38100" dir="2700000" algn="tl">
                    <a:srgbClr val="C0C0C0"/>
                  </a:outerShdw>
                </a:effectLst>
              </a:rPr>
              <a:t>1</a:t>
            </a:r>
            <a:r>
              <a:rPr lang="zh-CN" altLang="en-US" sz="2800" b="1" kern="0" dirty="0">
                <a:solidFill>
                  <a:schemeClr val="tx1"/>
                </a:solidFill>
                <a:effectLst>
                  <a:outerShdw blurRad="38100" dist="38100" dir="2700000" algn="tl">
                    <a:srgbClr val="C0C0C0"/>
                  </a:outerShdw>
                </a:effectLst>
              </a:rPr>
              <a:t>：使用</a:t>
            </a:r>
            <a:r>
              <a:rPr lang="en-US" altLang="zh-CN" sz="2800" b="1" kern="0" dirty="0">
                <a:solidFill>
                  <a:schemeClr val="tx1"/>
                </a:solidFill>
                <a:effectLst>
                  <a:outerShdw blurRad="38100" dist="38100" dir="2700000" algn="tl">
                    <a:srgbClr val="C0C0C0"/>
                  </a:outerShdw>
                </a:effectLst>
              </a:rPr>
              <a:t>51</a:t>
            </a:r>
            <a:r>
              <a:rPr lang="zh-CN" altLang="en-US" sz="2800" b="1" kern="0" dirty="0">
                <a:solidFill>
                  <a:schemeClr val="tx1"/>
                </a:solidFill>
                <a:effectLst>
                  <a:outerShdw blurRad="38100" dist="38100" dir="2700000" algn="tl">
                    <a:srgbClr val="C0C0C0"/>
                  </a:outerShdw>
                </a:effectLst>
              </a:rPr>
              <a:t>单片机内部并行口，分别连接发光二极管和开关，采用无条件传输方式，实现开关控制发光二极管的变化。</a:t>
            </a:r>
          </a:p>
        </p:txBody>
      </p:sp>
      <p:pic>
        <p:nvPicPr>
          <p:cNvPr id="6" name="图片 5">
            <a:extLst>
              <a:ext uri="{FF2B5EF4-FFF2-40B4-BE49-F238E27FC236}">
                <a16:creationId xmlns:a16="http://schemas.microsoft.com/office/drawing/2014/main" id="{A5317284-424B-421E-8291-6DF72D8867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3928" y="1844824"/>
            <a:ext cx="4389680" cy="4434397"/>
          </a:xfrm>
          <a:prstGeom prst="rect">
            <a:avLst/>
          </a:prstGeom>
        </p:spPr>
      </p:pic>
      <p:sp>
        <p:nvSpPr>
          <p:cNvPr id="7" name="文本框 6">
            <a:extLst>
              <a:ext uri="{FF2B5EF4-FFF2-40B4-BE49-F238E27FC236}">
                <a16:creationId xmlns:a16="http://schemas.microsoft.com/office/drawing/2014/main" id="{2909B5A8-B527-4EFF-AAA0-4FA8EC3D2E63}"/>
              </a:ext>
            </a:extLst>
          </p:cNvPr>
          <p:cNvSpPr txBox="1"/>
          <p:nvPr/>
        </p:nvSpPr>
        <p:spPr>
          <a:xfrm>
            <a:off x="539552" y="2348880"/>
            <a:ext cx="3096344" cy="3579057"/>
          </a:xfrm>
          <a:prstGeom prst="rect">
            <a:avLst/>
          </a:prstGeom>
          <a:noFill/>
        </p:spPr>
        <p:txBody>
          <a:bodyPr wrap="square" rtlCol="0">
            <a:spAutoFit/>
          </a:bodyPr>
          <a:lstStyle/>
          <a:p>
            <a:pPr>
              <a:lnSpc>
                <a:spcPct val="120000"/>
              </a:lnSpc>
            </a:pPr>
            <a:r>
              <a:rPr lang="zh-CN" altLang="en-US" sz="2400" b="1" dirty="0">
                <a:effectLst>
                  <a:outerShdw blurRad="38100" dist="38100" dir="2700000" algn="tl">
                    <a:srgbClr val="000000">
                      <a:alpha val="43137"/>
                    </a:srgbClr>
                  </a:outerShdw>
                </a:effectLst>
                <a:latin typeface="+mn-ea"/>
                <a:ea typeface="+mn-ea"/>
              </a:rPr>
              <a:t>无条件传输方式：</a:t>
            </a:r>
            <a:endParaRPr lang="en-US" altLang="zh-CN" sz="2400" b="1" dirty="0">
              <a:effectLst>
                <a:outerShdw blurRad="38100" dist="38100" dir="2700000" algn="tl">
                  <a:srgbClr val="000000">
                    <a:alpha val="43137"/>
                  </a:srgbClr>
                </a:outerShdw>
              </a:effectLst>
              <a:latin typeface="+mn-ea"/>
              <a:ea typeface="+mn-ea"/>
            </a:endParaRPr>
          </a:p>
          <a:p>
            <a:pPr>
              <a:lnSpc>
                <a:spcPct val="120000"/>
              </a:lnSpc>
            </a:pPr>
            <a:r>
              <a:rPr lang="en-US" altLang="zh-CN" sz="2400" b="1" dirty="0">
                <a:effectLst>
                  <a:outerShdw blurRad="38100" dist="38100" dir="2700000" algn="tl">
                    <a:srgbClr val="000000">
                      <a:alpha val="43137"/>
                    </a:srgbClr>
                  </a:outerShdw>
                </a:effectLst>
                <a:latin typeface="+mn-ea"/>
                <a:ea typeface="+mn-ea"/>
              </a:rPr>
              <a:t>CPU</a:t>
            </a:r>
            <a:r>
              <a:rPr lang="zh-CN" altLang="en-US" sz="2400" b="1" dirty="0">
                <a:effectLst>
                  <a:outerShdw blurRad="38100" dist="38100" dir="2700000" algn="tl">
                    <a:srgbClr val="000000">
                      <a:alpha val="43137"/>
                    </a:srgbClr>
                  </a:outerShdw>
                </a:effectLst>
                <a:latin typeface="+mn-ea"/>
                <a:ea typeface="+mn-ea"/>
              </a:rPr>
              <a:t>无需查询外设的状态即可直接对其进行数据的输入和输出操作。外设处于准备就绪状态。即：外设被认为是始终准备好接收或发送数据的。</a:t>
            </a:r>
          </a:p>
        </p:txBody>
      </p:sp>
    </p:spTree>
    <p:extLst>
      <p:ext uri="{BB962C8B-B14F-4D97-AF65-F5344CB8AC3E}">
        <p14:creationId xmlns:p14="http://schemas.microsoft.com/office/powerpoint/2010/main" val="15183550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165263B-35A2-43A3-8CC8-4385E239650D}"/>
              </a:ext>
            </a:extLst>
          </p:cNvPr>
          <p:cNvSpPr txBox="1"/>
          <p:nvPr/>
        </p:nvSpPr>
        <p:spPr>
          <a:xfrm>
            <a:off x="1187624" y="1268760"/>
            <a:ext cx="6552728" cy="2862322"/>
          </a:xfrm>
          <a:prstGeom prst="rect">
            <a:avLst/>
          </a:prstGeom>
          <a:noFill/>
        </p:spPr>
        <p:txBody>
          <a:bodyPr wrap="square" rtlCol="0">
            <a:spAutoFit/>
          </a:bodyPr>
          <a:lstStyle/>
          <a:p>
            <a:r>
              <a:rPr lang="en-US" altLang="zh-CN" sz="3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#include &lt;reg51.h&gt;</a:t>
            </a:r>
          </a:p>
          <a:p>
            <a:r>
              <a:rPr lang="en-US" altLang="zh-CN" sz="3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void main(void)</a:t>
            </a:r>
          </a:p>
          <a:p>
            <a:r>
              <a:rPr lang="en-US" altLang="zh-CN" sz="3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p>
          <a:p>
            <a:r>
              <a:rPr lang="en-US" altLang="zh-CN" sz="3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while(1)</a:t>
            </a:r>
          </a:p>
          <a:p>
            <a:r>
              <a:rPr lang="en-US" altLang="zh-CN" sz="3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P0=P1;  </a:t>
            </a:r>
          </a:p>
          <a:p>
            <a:r>
              <a:rPr lang="en-US" altLang="zh-CN" sz="3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zh-CN" altLang="en-US" sz="3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FF4BABD3-0CEA-4D40-9DF8-6550B231FAD1}"/>
              </a:ext>
            </a:extLst>
          </p:cNvPr>
          <p:cNvSpPr txBox="1"/>
          <p:nvPr/>
        </p:nvSpPr>
        <p:spPr>
          <a:xfrm>
            <a:off x="3779912" y="2951946"/>
            <a:ext cx="4248472" cy="954107"/>
          </a:xfrm>
          <a:prstGeom prst="rect">
            <a:avLst/>
          </a:prstGeom>
          <a:noFill/>
        </p:spPr>
        <p:txBody>
          <a:bodyPr wrap="square" rtlCol="0">
            <a:spAutoFit/>
          </a:bodyPr>
          <a:lstStyle/>
          <a:p>
            <a:r>
              <a:rPr lang="zh-CN" altLang="en-US" b="1" dirty="0">
                <a:solidFill>
                  <a:srgbClr val="C00000"/>
                </a:solidFill>
                <a:effectLst>
                  <a:outerShdw blurRad="38100" dist="38100" dir="2700000" algn="tl">
                    <a:srgbClr val="000000">
                      <a:alpha val="43137"/>
                    </a:srgbClr>
                  </a:outerShdw>
                </a:effectLst>
                <a:highlight>
                  <a:srgbClr val="00FFFF"/>
                </a:highlight>
              </a:rPr>
              <a:t>读取</a:t>
            </a:r>
            <a:r>
              <a:rPr lang="en-US" altLang="zh-CN" b="1" dirty="0">
                <a:solidFill>
                  <a:srgbClr val="C00000"/>
                </a:solidFill>
                <a:effectLst>
                  <a:outerShdw blurRad="38100" dist="38100" dir="2700000" algn="tl">
                    <a:srgbClr val="000000">
                      <a:alpha val="43137"/>
                    </a:srgbClr>
                  </a:outerShdw>
                </a:effectLst>
                <a:highlight>
                  <a:srgbClr val="00FFFF"/>
                </a:highlight>
              </a:rPr>
              <a:t>P1</a:t>
            </a:r>
            <a:r>
              <a:rPr lang="zh-CN" altLang="en-US" b="1" dirty="0">
                <a:solidFill>
                  <a:srgbClr val="C00000"/>
                </a:solidFill>
                <a:effectLst>
                  <a:outerShdw blurRad="38100" dist="38100" dir="2700000" algn="tl">
                    <a:srgbClr val="000000">
                      <a:alpha val="43137"/>
                    </a:srgbClr>
                  </a:outerShdw>
                </a:effectLst>
                <a:highlight>
                  <a:srgbClr val="00FFFF"/>
                </a:highlight>
              </a:rPr>
              <a:t>口开关状态，</a:t>
            </a:r>
            <a:endParaRPr lang="en-US" altLang="zh-CN" b="1" dirty="0">
              <a:solidFill>
                <a:srgbClr val="C00000"/>
              </a:solidFill>
              <a:effectLst>
                <a:outerShdw blurRad="38100" dist="38100" dir="2700000" algn="tl">
                  <a:srgbClr val="000000">
                    <a:alpha val="43137"/>
                  </a:srgbClr>
                </a:outerShdw>
              </a:effectLst>
              <a:highlight>
                <a:srgbClr val="00FFFF"/>
              </a:highlight>
            </a:endParaRPr>
          </a:p>
          <a:p>
            <a:r>
              <a:rPr lang="zh-CN" altLang="en-US" b="1" dirty="0">
                <a:solidFill>
                  <a:srgbClr val="C00000"/>
                </a:solidFill>
                <a:effectLst>
                  <a:outerShdw blurRad="38100" dist="38100" dir="2700000" algn="tl">
                    <a:srgbClr val="000000">
                      <a:alpha val="43137"/>
                    </a:srgbClr>
                  </a:outerShdw>
                </a:effectLst>
                <a:highlight>
                  <a:srgbClr val="00FFFF"/>
                </a:highlight>
              </a:rPr>
              <a:t>送入</a:t>
            </a:r>
            <a:r>
              <a:rPr lang="en-US" altLang="zh-CN" b="1" dirty="0">
                <a:solidFill>
                  <a:srgbClr val="C00000"/>
                </a:solidFill>
                <a:effectLst>
                  <a:outerShdw blurRad="38100" dist="38100" dir="2700000" algn="tl">
                    <a:srgbClr val="000000">
                      <a:alpha val="43137"/>
                    </a:srgbClr>
                  </a:outerShdw>
                </a:effectLst>
                <a:highlight>
                  <a:srgbClr val="00FFFF"/>
                </a:highlight>
              </a:rPr>
              <a:t>P0</a:t>
            </a:r>
            <a:r>
              <a:rPr lang="zh-CN" altLang="en-US" b="1" dirty="0">
                <a:solidFill>
                  <a:srgbClr val="C00000"/>
                </a:solidFill>
                <a:effectLst>
                  <a:outerShdw blurRad="38100" dist="38100" dir="2700000" algn="tl">
                    <a:srgbClr val="000000">
                      <a:alpha val="43137"/>
                    </a:srgbClr>
                  </a:outerShdw>
                </a:effectLst>
                <a:highlight>
                  <a:srgbClr val="00FFFF"/>
                </a:highlight>
              </a:rPr>
              <a:t>口发光二极管</a:t>
            </a:r>
          </a:p>
        </p:txBody>
      </p:sp>
    </p:spTree>
    <p:extLst>
      <p:ext uri="{BB962C8B-B14F-4D97-AF65-F5344CB8AC3E}">
        <p14:creationId xmlns:p14="http://schemas.microsoft.com/office/powerpoint/2010/main" val="7254830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532302D-2369-4C2C-A0BB-93A3F586A513}"/>
              </a:ext>
            </a:extLst>
          </p:cNvPr>
          <p:cNvSpPr txBox="1">
            <a:spLocks noChangeArrowheads="1"/>
          </p:cNvSpPr>
          <p:nvPr/>
        </p:nvSpPr>
        <p:spPr>
          <a:xfrm>
            <a:off x="916531" y="683150"/>
            <a:ext cx="7793037" cy="1008112"/>
          </a:xfrm>
          <a:prstGeom prst="rect">
            <a:avLst/>
          </a:prstGeom>
        </p:spPr>
        <p:txBody>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a:lstStyle>
          <a:p>
            <a:pPr eaLnBrk="1" hangingPunct="1">
              <a:defRPr/>
            </a:pPr>
            <a:r>
              <a:rPr lang="zh-CN" altLang="en-US" sz="2800" b="1" kern="0" dirty="0">
                <a:solidFill>
                  <a:schemeClr val="tx1"/>
                </a:solidFill>
                <a:effectLst>
                  <a:outerShdw blurRad="38100" dist="38100" dir="2700000" algn="tl">
                    <a:srgbClr val="C0C0C0"/>
                  </a:outerShdw>
                </a:effectLst>
              </a:rPr>
              <a:t>例</a:t>
            </a:r>
            <a:r>
              <a:rPr lang="en-US" altLang="zh-CN" sz="2800" b="1" kern="0" dirty="0">
                <a:solidFill>
                  <a:schemeClr val="tx1"/>
                </a:solidFill>
                <a:effectLst>
                  <a:outerShdw blurRad="38100" dist="38100" dir="2700000" algn="tl">
                    <a:srgbClr val="C0C0C0"/>
                  </a:outerShdw>
                </a:effectLst>
              </a:rPr>
              <a:t>2</a:t>
            </a:r>
            <a:r>
              <a:rPr lang="zh-CN" altLang="en-US" sz="2800" b="1" kern="0" dirty="0">
                <a:solidFill>
                  <a:schemeClr val="tx1"/>
                </a:solidFill>
                <a:effectLst>
                  <a:outerShdw blurRad="38100" dist="38100" dir="2700000" algn="tl">
                    <a:srgbClr val="C0C0C0"/>
                  </a:outerShdw>
                </a:effectLst>
              </a:rPr>
              <a:t>：使用</a:t>
            </a:r>
            <a:r>
              <a:rPr lang="en-US" altLang="zh-CN" sz="2800" b="1" kern="0" dirty="0">
                <a:solidFill>
                  <a:schemeClr val="tx1"/>
                </a:solidFill>
                <a:effectLst>
                  <a:outerShdw blurRad="38100" dist="38100" dir="2700000" algn="tl">
                    <a:srgbClr val="C0C0C0"/>
                  </a:outerShdw>
                </a:effectLst>
              </a:rPr>
              <a:t>51</a:t>
            </a:r>
            <a:r>
              <a:rPr lang="zh-CN" altLang="en-US" sz="2800" b="1" kern="0" dirty="0">
                <a:solidFill>
                  <a:schemeClr val="tx1"/>
                </a:solidFill>
                <a:effectLst>
                  <a:outerShdw blurRad="38100" dist="38100" dir="2700000" algn="tl">
                    <a:srgbClr val="C0C0C0"/>
                  </a:outerShdw>
                </a:effectLst>
              </a:rPr>
              <a:t>单片机内部并行口作输出，熟悉</a:t>
            </a:r>
            <a:r>
              <a:rPr lang="zh-CN" altLang="en-US" sz="2800" b="1" kern="0" dirty="0">
                <a:solidFill>
                  <a:schemeClr val="tx1"/>
                </a:solidFill>
                <a:effectLst>
                  <a:outerShdw blurRad="38100" dist="38100" dir="2700000" algn="tl">
                    <a:srgbClr val="C0C0C0"/>
                  </a:outerShdw>
                </a:effectLst>
                <a:highlight>
                  <a:srgbClr val="00FFFF"/>
                </a:highlight>
              </a:rPr>
              <a:t>位运算符</a:t>
            </a:r>
            <a:r>
              <a:rPr lang="zh-CN" altLang="en-US" sz="2800" b="1" kern="0" dirty="0">
                <a:solidFill>
                  <a:schemeClr val="tx1"/>
                </a:solidFill>
                <a:effectLst>
                  <a:outerShdw blurRad="38100" dist="38100" dir="2700000" algn="tl">
                    <a:srgbClr val="C0C0C0"/>
                  </a:outerShdw>
                </a:effectLst>
              </a:rPr>
              <a:t>的使用。通过发光二极管观察运算结果。</a:t>
            </a:r>
          </a:p>
        </p:txBody>
      </p:sp>
      <p:pic>
        <p:nvPicPr>
          <p:cNvPr id="11" name="图片 10">
            <a:extLst>
              <a:ext uri="{FF2B5EF4-FFF2-40B4-BE49-F238E27FC236}">
                <a16:creationId xmlns:a16="http://schemas.microsoft.com/office/drawing/2014/main" id="{2D383650-CDE3-488B-9E57-D8FCCEA93524}"/>
              </a:ext>
            </a:extLst>
          </p:cNvPr>
          <p:cNvPicPr>
            <a:picLocks noChangeAspect="1"/>
          </p:cNvPicPr>
          <p:nvPr/>
        </p:nvPicPr>
        <p:blipFill>
          <a:blip r:embed="rId2"/>
          <a:stretch>
            <a:fillRect/>
          </a:stretch>
        </p:blipFill>
        <p:spPr>
          <a:xfrm>
            <a:off x="916531" y="1988840"/>
            <a:ext cx="4230204" cy="3725608"/>
          </a:xfrm>
          <a:prstGeom prst="rect">
            <a:avLst/>
          </a:prstGeom>
        </p:spPr>
      </p:pic>
      <p:pic>
        <p:nvPicPr>
          <p:cNvPr id="12" name="图片 11">
            <a:extLst>
              <a:ext uri="{FF2B5EF4-FFF2-40B4-BE49-F238E27FC236}">
                <a16:creationId xmlns:a16="http://schemas.microsoft.com/office/drawing/2014/main" id="{79015FD7-CBBF-4F83-9086-A19477C536AC}"/>
              </a:ext>
            </a:extLst>
          </p:cNvPr>
          <p:cNvPicPr>
            <a:picLocks noChangeAspect="1"/>
          </p:cNvPicPr>
          <p:nvPr/>
        </p:nvPicPr>
        <p:blipFill>
          <a:blip r:embed="rId3"/>
          <a:stretch>
            <a:fillRect/>
          </a:stretch>
        </p:blipFill>
        <p:spPr>
          <a:xfrm>
            <a:off x="5508104" y="1907286"/>
            <a:ext cx="3384376" cy="2457818"/>
          </a:xfrm>
          <a:prstGeom prst="rect">
            <a:avLst/>
          </a:prstGeom>
        </p:spPr>
      </p:pic>
      <p:pic>
        <p:nvPicPr>
          <p:cNvPr id="13" name="图片 12">
            <a:extLst>
              <a:ext uri="{FF2B5EF4-FFF2-40B4-BE49-F238E27FC236}">
                <a16:creationId xmlns:a16="http://schemas.microsoft.com/office/drawing/2014/main" id="{A1CC79E9-1E2A-488C-8BE8-1E481AFC067F}"/>
              </a:ext>
            </a:extLst>
          </p:cNvPr>
          <p:cNvPicPr>
            <a:picLocks noChangeAspect="1"/>
          </p:cNvPicPr>
          <p:nvPr/>
        </p:nvPicPr>
        <p:blipFill>
          <a:blip r:embed="rId4"/>
          <a:stretch>
            <a:fillRect/>
          </a:stretch>
        </p:blipFill>
        <p:spPr>
          <a:xfrm>
            <a:off x="5724128" y="4581128"/>
            <a:ext cx="2088232" cy="1328874"/>
          </a:xfrm>
          <a:prstGeom prst="rect">
            <a:avLst/>
          </a:prstGeom>
        </p:spPr>
      </p:pic>
    </p:spTree>
    <p:extLst>
      <p:ext uri="{BB962C8B-B14F-4D97-AF65-F5344CB8AC3E}">
        <p14:creationId xmlns:p14="http://schemas.microsoft.com/office/powerpoint/2010/main" val="2262532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arn(outHorizontal)">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5A314AD5-51B5-4353-87DD-9A7BA2FD6567}"/>
              </a:ext>
            </a:extLst>
          </p:cNvPr>
          <p:cNvPicPr>
            <a:picLocks noChangeAspect="1"/>
          </p:cNvPicPr>
          <p:nvPr/>
        </p:nvPicPr>
        <p:blipFill>
          <a:blip r:embed="rId2"/>
          <a:stretch>
            <a:fillRect/>
          </a:stretch>
        </p:blipFill>
        <p:spPr>
          <a:xfrm>
            <a:off x="1115616" y="1922075"/>
            <a:ext cx="4928820" cy="570821"/>
          </a:xfrm>
          <a:prstGeom prst="rect">
            <a:avLst/>
          </a:prstGeom>
        </p:spPr>
      </p:pic>
      <p:pic>
        <p:nvPicPr>
          <p:cNvPr id="3" name="图片 2">
            <a:extLst>
              <a:ext uri="{FF2B5EF4-FFF2-40B4-BE49-F238E27FC236}">
                <a16:creationId xmlns:a16="http://schemas.microsoft.com/office/drawing/2014/main" id="{AD603BAB-C94E-4CBF-817A-52A30D2B1C5E}"/>
              </a:ext>
            </a:extLst>
          </p:cNvPr>
          <p:cNvPicPr>
            <a:picLocks noChangeAspect="1"/>
          </p:cNvPicPr>
          <p:nvPr/>
        </p:nvPicPr>
        <p:blipFill>
          <a:blip r:embed="rId3"/>
          <a:stretch>
            <a:fillRect/>
          </a:stretch>
        </p:blipFill>
        <p:spPr>
          <a:xfrm>
            <a:off x="1115616" y="4217610"/>
            <a:ext cx="4176464" cy="477310"/>
          </a:xfrm>
          <a:prstGeom prst="rect">
            <a:avLst/>
          </a:prstGeom>
        </p:spPr>
      </p:pic>
      <p:sp>
        <p:nvSpPr>
          <p:cNvPr id="4" name="文本框 3">
            <a:extLst>
              <a:ext uri="{FF2B5EF4-FFF2-40B4-BE49-F238E27FC236}">
                <a16:creationId xmlns:a16="http://schemas.microsoft.com/office/drawing/2014/main" id="{E65269EE-4F47-4E74-9120-B8946170E7E7}"/>
              </a:ext>
            </a:extLst>
          </p:cNvPr>
          <p:cNvSpPr txBox="1"/>
          <p:nvPr/>
        </p:nvSpPr>
        <p:spPr>
          <a:xfrm>
            <a:off x="899592" y="826784"/>
            <a:ext cx="8064896" cy="830997"/>
          </a:xfrm>
          <a:prstGeom prst="rect">
            <a:avLst/>
          </a:prstGeom>
          <a:noFill/>
        </p:spPr>
        <p:txBody>
          <a:bodyPr wrap="square" rtlCol="0">
            <a:spAutoFit/>
          </a:bodyPr>
          <a:lstStyle/>
          <a:p>
            <a:r>
              <a:rPr lang="zh-CN" altLang="en-US" sz="2400" b="1" dirty="0">
                <a:effectLst>
                  <a:outerShdw blurRad="38100" dist="38100" dir="2700000" algn="tl">
                    <a:srgbClr val="000000">
                      <a:alpha val="43137"/>
                    </a:srgbClr>
                  </a:outerShdw>
                </a:effectLst>
                <a:highlight>
                  <a:srgbClr val="00FFFF"/>
                </a:highlight>
              </a:rPr>
              <a:t>按位与</a:t>
            </a:r>
            <a:r>
              <a:rPr lang="en-US" altLang="zh-CN" sz="2400" b="1" dirty="0">
                <a:effectLst>
                  <a:outerShdw blurRad="38100" dist="38100" dir="2700000" algn="tl">
                    <a:srgbClr val="000000">
                      <a:alpha val="43137"/>
                    </a:srgbClr>
                  </a:outerShdw>
                </a:effectLst>
                <a:highlight>
                  <a:srgbClr val="00FFFF"/>
                </a:highlight>
              </a:rPr>
              <a:t>(&amp;)</a:t>
            </a:r>
            <a:r>
              <a:rPr lang="zh-CN" altLang="en-US" sz="2400" b="1" dirty="0">
                <a:effectLst>
                  <a:outerShdw blurRad="38100" dist="38100" dir="2700000" algn="tl">
                    <a:srgbClr val="000000">
                      <a:alpha val="43137"/>
                    </a:srgbClr>
                  </a:outerShdw>
                </a:effectLst>
              </a:rPr>
              <a:t>：两个操作数的二进制数对应位进行与运算。只有当两者都为真时结果才为真。</a:t>
            </a:r>
          </a:p>
        </p:txBody>
      </p:sp>
      <p:sp>
        <p:nvSpPr>
          <p:cNvPr id="6" name="文本框 5">
            <a:extLst>
              <a:ext uri="{FF2B5EF4-FFF2-40B4-BE49-F238E27FC236}">
                <a16:creationId xmlns:a16="http://schemas.microsoft.com/office/drawing/2014/main" id="{76533C48-8324-4FE5-9D01-D4AF16F08644}"/>
              </a:ext>
            </a:extLst>
          </p:cNvPr>
          <p:cNvSpPr txBox="1"/>
          <p:nvPr/>
        </p:nvSpPr>
        <p:spPr>
          <a:xfrm>
            <a:off x="899592" y="3154708"/>
            <a:ext cx="8064896" cy="830997"/>
          </a:xfrm>
          <a:prstGeom prst="rect">
            <a:avLst/>
          </a:prstGeom>
          <a:noFill/>
        </p:spPr>
        <p:txBody>
          <a:bodyPr wrap="square" rtlCol="0">
            <a:spAutoFit/>
          </a:bodyPr>
          <a:lstStyle/>
          <a:p>
            <a:r>
              <a:rPr lang="zh-CN" altLang="en-US" sz="2400" b="1" dirty="0">
                <a:effectLst>
                  <a:outerShdw blurRad="38100" dist="38100" dir="2700000" algn="tl">
                    <a:srgbClr val="000000">
                      <a:alpha val="43137"/>
                    </a:srgbClr>
                  </a:outerShdw>
                </a:effectLst>
                <a:highlight>
                  <a:srgbClr val="00FFFF"/>
                </a:highlight>
              </a:rPr>
              <a:t>按位或</a:t>
            </a:r>
            <a:r>
              <a:rPr lang="en-US" altLang="zh-CN" sz="2400" b="1" dirty="0">
                <a:effectLst>
                  <a:outerShdw blurRad="38100" dist="38100" dir="2700000" algn="tl">
                    <a:srgbClr val="000000">
                      <a:alpha val="43137"/>
                    </a:srgbClr>
                  </a:outerShdw>
                </a:effectLst>
                <a:highlight>
                  <a:srgbClr val="00FFFF"/>
                </a:highlight>
              </a:rPr>
              <a:t>(|)</a:t>
            </a:r>
            <a:r>
              <a:rPr lang="zh-CN" altLang="en-US" sz="2400" b="1" dirty="0">
                <a:effectLst>
                  <a:outerShdw blurRad="38100" dist="38100" dir="2700000" algn="tl">
                    <a:srgbClr val="000000">
                      <a:alpha val="43137"/>
                    </a:srgbClr>
                  </a:outerShdw>
                </a:effectLst>
              </a:rPr>
              <a:t>：两个操作数的二进制数对应位进行或运算。只要两者有一个为真结果就为真。</a:t>
            </a:r>
          </a:p>
        </p:txBody>
      </p:sp>
      <p:pic>
        <p:nvPicPr>
          <p:cNvPr id="8" name="图片 7">
            <a:extLst>
              <a:ext uri="{FF2B5EF4-FFF2-40B4-BE49-F238E27FC236}">
                <a16:creationId xmlns:a16="http://schemas.microsoft.com/office/drawing/2014/main" id="{20D3B543-5565-4B7C-831C-CE13F8A69328}"/>
              </a:ext>
            </a:extLst>
          </p:cNvPr>
          <p:cNvPicPr>
            <a:picLocks noChangeAspect="1"/>
          </p:cNvPicPr>
          <p:nvPr/>
        </p:nvPicPr>
        <p:blipFill>
          <a:blip r:embed="rId4"/>
          <a:stretch>
            <a:fillRect/>
          </a:stretch>
        </p:blipFill>
        <p:spPr>
          <a:xfrm>
            <a:off x="5940152" y="4093883"/>
            <a:ext cx="2762880" cy="1388749"/>
          </a:xfrm>
          <a:prstGeom prst="rect">
            <a:avLst/>
          </a:prstGeom>
        </p:spPr>
      </p:pic>
      <p:pic>
        <p:nvPicPr>
          <p:cNvPr id="9" name="图片 8">
            <a:extLst>
              <a:ext uri="{FF2B5EF4-FFF2-40B4-BE49-F238E27FC236}">
                <a16:creationId xmlns:a16="http://schemas.microsoft.com/office/drawing/2014/main" id="{E77B8749-C73E-4FD0-8FB1-4A826A7FD3B5}"/>
              </a:ext>
            </a:extLst>
          </p:cNvPr>
          <p:cNvPicPr>
            <a:picLocks noChangeAspect="1"/>
          </p:cNvPicPr>
          <p:nvPr/>
        </p:nvPicPr>
        <p:blipFill>
          <a:blip r:embed="rId5"/>
          <a:stretch>
            <a:fillRect/>
          </a:stretch>
        </p:blipFill>
        <p:spPr>
          <a:xfrm>
            <a:off x="6164709" y="1681440"/>
            <a:ext cx="2592288" cy="1372387"/>
          </a:xfrm>
          <a:prstGeom prst="rect">
            <a:avLst/>
          </a:prstGeom>
        </p:spPr>
      </p:pic>
    </p:spTree>
    <p:extLst>
      <p:ext uri="{BB962C8B-B14F-4D97-AF65-F5344CB8AC3E}">
        <p14:creationId xmlns:p14="http://schemas.microsoft.com/office/powerpoint/2010/main" val="3356546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BC7819A-A25A-4221-BFAD-67E2D4E583A2}"/>
              </a:ext>
            </a:extLst>
          </p:cNvPr>
          <p:cNvSpPr txBox="1">
            <a:spLocks noChangeArrowheads="1"/>
          </p:cNvSpPr>
          <p:nvPr/>
        </p:nvSpPr>
        <p:spPr>
          <a:xfrm>
            <a:off x="899592" y="548680"/>
            <a:ext cx="7793037" cy="1440160"/>
          </a:xfrm>
          <a:prstGeom prst="rect">
            <a:avLst/>
          </a:prstGeom>
        </p:spPr>
        <p:txBody>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a:lstStyle>
          <a:p>
            <a:pPr eaLnBrk="1" hangingPunct="1">
              <a:defRPr/>
            </a:pPr>
            <a:r>
              <a:rPr lang="zh-CN" altLang="en-US" sz="2800" b="1" kern="0" dirty="0">
                <a:solidFill>
                  <a:schemeClr val="tx1"/>
                </a:solidFill>
                <a:effectLst>
                  <a:outerShdw blurRad="38100" dist="38100" dir="2700000" algn="tl">
                    <a:srgbClr val="C0C0C0"/>
                  </a:outerShdw>
                </a:effectLst>
              </a:rPr>
              <a:t>例</a:t>
            </a:r>
            <a:r>
              <a:rPr lang="en-US" altLang="zh-CN" sz="2800" b="1" kern="0" dirty="0">
                <a:solidFill>
                  <a:schemeClr val="tx1"/>
                </a:solidFill>
                <a:effectLst>
                  <a:outerShdw blurRad="38100" dist="38100" dir="2700000" algn="tl">
                    <a:srgbClr val="C0C0C0"/>
                  </a:outerShdw>
                </a:effectLst>
              </a:rPr>
              <a:t>3</a:t>
            </a:r>
            <a:r>
              <a:rPr lang="zh-CN" altLang="en-US" sz="2800" b="1" kern="0" dirty="0">
                <a:solidFill>
                  <a:schemeClr val="tx1"/>
                </a:solidFill>
                <a:effectLst>
                  <a:outerShdw blurRad="38100" dist="38100" dir="2700000" algn="tl">
                    <a:srgbClr val="C0C0C0"/>
                  </a:outerShdw>
                </a:effectLst>
              </a:rPr>
              <a:t>：使用</a:t>
            </a:r>
            <a:r>
              <a:rPr lang="en-US" altLang="zh-CN" sz="2800" b="1" kern="0" dirty="0">
                <a:solidFill>
                  <a:schemeClr val="tx1"/>
                </a:solidFill>
                <a:effectLst>
                  <a:outerShdw blurRad="38100" dist="38100" dir="2700000" algn="tl">
                    <a:srgbClr val="C0C0C0"/>
                  </a:outerShdw>
                </a:effectLst>
              </a:rPr>
              <a:t>51</a:t>
            </a:r>
            <a:r>
              <a:rPr lang="zh-CN" altLang="en-US" sz="2800" b="1" kern="0" dirty="0">
                <a:solidFill>
                  <a:schemeClr val="tx1"/>
                </a:solidFill>
                <a:effectLst>
                  <a:outerShdw blurRad="38100" dist="38100" dir="2700000" algn="tl">
                    <a:srgbClr val="C0C0C0"/>
                  </a:outerShdw>
                </a:effectLst>
              </a:rPr>
              <a:t>单片机内部并行口作输出，控制</a:t>
            </a:r>
            <a:r>
              <a:rPr lang="en-US" altLang="zh-CN" sz="2800" b="1" kern="0" dirty="0">
                <a:solidFill>
                  <a:schemeClr val="tx1"/>
                </a:solidFill>
                <a:effectLst>
                  <a:outerShdw blurRad="38100" dist="38100" dir="2700000" algn="tl">
                    <a:srgbClr val="C0C0C0"/>
                  </a:outerShdw>
                </a:effectLst>
              </a:rPr>
              <a:t>8</a:t>
            </a:r>
            <a:r>
              <a:rPr lang="zh-CN" altLang="en-US" sz="2800" b="1" kern="0" dirty="0">
                <a:solidFill>
                  <a:schemeClr val="tx1"/>
                </a:solidFill>
                <a:effectLst>
                  <a:outerShdw blurRad="38100" dist="38100" dir="2700000" algn="tl">
                    <a:srgbClr val="C0C0C0"/>
                  </a:outerShdw>
                </a:effectLst>
              </a:rPr>
              <a:t>个发光二极管流水点亮，设计两种点亮时长。编写两个延时子程序（长延时、短延时）。</a:t>
            </a:r>
          </a:p>
        </p:txBody>
      </p:sp>
      <p:pic>
        <p:nvPicPr>
          <p:cNvPr id="3" name="图片 2">
            <a:extLst>
              <a:ext uri="{FF2B5EF4-FFF2-40B4-BE49-F238E27FC236}">
                <a16:creationId xmlns:a16="http://schemas.microsoft.com/office/drawing/2014/main" id="{28C43D7D-77A9-410A-9828-2470AE0D66E8}"/>
              </a:ext>
            </a:extLst>
          </p:cNvPr>
          <p:cNvPicPr>
            <a:picLocks noChangeAspect="1"/>
          </p:cNvPicPr>
          <p:nvPr/>
        </p:nvPicPr>
        <p:blipFill>
          <a:blip r:embed="rId2"/>
          <a:stretch>
            <a:fillRect/>
          </a:stretch>
        </p:blipFill>
        <p:spPr>
          <a:xfrm>
            <a:off x="2195736" y="2089071"/>
            <a:ext cx="4752528" cy="4188345"/>
          </a:xfrm>
          <a:prstGeom prst="rect">
            <a:avLst/>
          </a:prstGeom>
        </p:spPr>
      </p:pic>
    </p:spTree>
    <p:extLst>
      <p:ext uri="{BB962C8B-B14F-4D97-AF65-F5344CB8AC3E}">
        <p14:creationId xmlns:p14="http://schemas.microsoft.com/office/powerpoint/2010/main" val="18757002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B36AC95B-49D1-4662-A46C-1439048AFDDE}"/>
              </a:ext>
            </a:extLst>
          </p:cNvPr>
          <p:cNvPicPr>
            <a:picLocks noChangeAspect="1"/>
          </p:cNvPicPr>
          <p:nvPr/>
        </p:nvPicPr>
        <p:blipFill>
          <a:blip r:embed="rId2"/>
          <a:stretch>
            <a:fillRect/>
          </a:stretch>
        </p:blipFill>
        <p:spPr>
          <a:xfrm>
            <a:off x="395536" y="332656"/>
            <a:ext cx="6812652" cy="3816424"/>
          </a:xfrm>
          <a:prstGeom prst="rect">
            <a:avLst/>
          </a:prstGeom>
        </p:spPr>
      </p:pic>
      <p:pic>
        <p:nvPicPr>
          <p:cNvPr id="3" name="图片 2">
            <a:extLst>
              <a:ext uri="{FF2B5EF4-FFF2-40B4-BE49-F238E27FC236}">
                <a16:creationId xmlns:a16="http://schemas.microsoft.com/office/drawing/2014/main" id="{5629947B-D200-4697-9DB3-7214132BDFE6}"/>
              </a:ext>
            </a:extLst>
          </p:cNvPr>
          <p:cNvPicPr>
            <a:picLocks noChangeAspect="1"/>
          </p:cNvPicPr>
          <p:nvPr/>
        </p:nvPicPr>
        <p:blipFill>
          <a:blip r:embed="rId3"/>
          <a:stretch>
            <a:fillRect/>
          </a:stretch>
        </p:blipFill>
        <p:spPr>
          <a:xfrm>
            <a:off x="5292080" y="1772816"/>
            <a:ext cx="3125623" cy="1800200"/>
          </a:xfrm>
          <a:prstGeom prst="rect">
            <a:avLst/>
          </a:prstGeom>
        </p:spPr>
      </p:pic>
      <p:pic>
        <p:nvPicPr>
          <p:cNvPr id="4" name="图片 3">
            <a:extLst>
              <a:ext uri="{FF2B5EF4-FFF2-40B4-BE49-F238E27FC236}">
                <a16:creationId xmlns:a16="http://schemas.microsoft.com/office/drawing/2014/main" id="{3CC93711-590A-4460-BD91-1AEAD32F1D50}"/>
              </a:ext>
            </a:extLst>
          </p:cNvPr>
          <p:cNvPicPr>
            <a:picLocks noChangeAspect="1"/>
          </p:cNvPicPr>
          <p:nvPr/>
        </p:nvPicPr>
        <p:blipFill>
          <a:blip r:embed="rId4"/>
          <a:stretch>
            <a:fillRect/>
          </a:stretch>
        </p:blipFill>
        <p:spPr>
          <a:xfrm>
            <a:off x="5292080" y="4224148"/>
            <a:ext cx="2952328" cy="2055052"/>
          </a:xfrm>
          <a:prstGeom prst="rect">
            <a:avLst/>
          </a:prstGeom>
        </p:spPr>
      </p:pic>
      <p:sp>
        <p:nvSpPr>
          <p:cNvPr id="5" name="文本框 4">
            <a:extLst>
              <a:ext uri="{FF2B5EF4-FFF2-40B4-BE49-F238E27FC236}">
                <a16:creationId xmlns:a16="http://schemas.microsoft.com/office/drawing/2014/main" id="{39E08688-9306-45D9-8E85-B0EF6C0942B4}"/>
              </a:ext>
            </a:extLst>
          </p:cNvPr>
          <p:cNvSpPr txBox="1"/>
          <p:nvPr/>
        </p:nvSpPr>
        <p:spPr>
          <a:xfrm>
            <a:off x="395536" y="4437112"/>
            <a:ext cx="3960440" cy="1200329"/>
          </a:xfrm>
          <a:prstGeom prst="rect">
            <a:avLst/>
          </a:prstGeom>
          <a:noFill/>
        </p:spPr>
        <p:txBody>
          <a:bodyPr wrap="square" rtlCol="0">
            <a:spAutoFit/>
          </a:bodyPr>
          <a:lstStyle/>
          <a:p>
            <a:r>
              <a:rPr lang="zh-CN" altLang="en-US" sz="2400" b="1" dirty="0">
                <a:effectLst>
                  <a:outerShdw blurRad="38100" dist="38100" dir="2700000" algn="tl">
                    <a:srgbClr val="000000">
                      <a:alpha val="43137"/>
                    </a:srgbClr>
                  </a:outerShdw>
                </a:effectLst>
                <a:highlight>
                  <a:srgbClr val="00FFFF"/>
                </a:highlight>
              </a:rPr>
              <a:t>按位取反</a:t>
            </a:r>
            <a:r>
              <a:rPr lang="en-US" altLang="zh-CN" sz="2400" b="1" dirty="0">
                <a:effectLst>
                  <a:outerShdw blurRad="38100" dist="38100" dir="2700000" algn="tl">
                    <a:srgbClr val="000000">
                      <a:alpha val="43137"/>
                    </a:srgbClr>
                  </a:outerShdw>
                </a:effectLst>
                <a:highlight>
                  <a:srgbClr val="00FFFF"/>
                </a:highlight>
              </a:rPr>
              <a:t>(~)</a:t>
            </a:r>
            <a:r>
              <a:rPr lang="zh-CN" altLang="en-US" sz="2400" b="1" dirty="0">
                <a:effectLst>
                  <a:outerShdw blurRad="38100" dist="38100" dir="2700000" algn="tl">
                    <a:srgbClr val="000000">
                      <a:alpha val="43137"/>
                    </a:srgbClr>
                  </a:outerShdw>
                </a:effectLst>
              </a:rPr>
              <a:t> ：</a:t>
            </a:r>
            <a:endParaRPr lang="en-US" altLang="zh-CN" sz="2400" b="1" dirty="0">
              <a:effectLst>
                <a:outerShdw blurRad="38100" dist="38100" dir="2700000" algn="tl">
                  <a:srgbClr val="000000">
                    <a:alpha val="43137"/>
                  </a:srgbClr>
                </a:outerShdw>
              </a:effectLst>
            </a:endParaRPr>
          </a:p>
          <a:p>
            <a:r>
              <a:rPr lang="zh-CN" altLang="en-US" sz="2400" b="1" dirty="0">
                <a:effectLst>
                  <a:outerShdw blurRad="38100" dist="38100" dir="2700000" algn="tl">
                    <a:srgbClr val="000000">
                      <a:alpha val="43137"/>
                    </a:srgbClr>
                  </a:outerShdw>
                </a:effectLst>
              </a:rPr>
              <a:t>一元运算符，对应的二进制位，</a:t>
            </a:r>
            <a:r>
              <a:rPr lang="en-US" altLang="zh-CN" sz="2400" b="1" dirty="0">
                <a:effectLst>
                  <a:outerShdw blurRad="38100" dist="38100" dir="2700000" algn="tl">
                    <a:srgbClr val="000000">
                      <a:alpha val="43137"/>
                    </a:srgbClr>
                  </a:outerShdw>
                </a:effectLst>
              </a:rPr>
              <a:t>0</a:t>
            </a:r>
            <a:r>
              <a:rPr lang="zh-CN" altLang="en-US" sz="2400" b="1" dirty="0">
                <a:effectLst>
                  <a:outerShdw blurRad="38100" dist="38100" dir="2700000" algn="tl">
                    <a:srgbClr val="000000">
                      <a:alpha val="43137"/>
                    </a:srgbClr>
                  </a:outerShdw>
                </a:effectLst>
              </a:rPr>
              <a:t>变为</a:t>
            </a:r>
            <a:r>
              <a:rPr lang="en-US" altLang="zh-CN" sz="2400" b="1" dirty="0">
                <a:effectLst>
                  <a:outerShdw blurRad="38100" dist="38100" dir="2700000" algn="tl">
                    <a:srgbClr val="000000">
                      <a:alpha val="43137"/>
                    </a:srgbClr>
                  </a:outerShdw>
                </a:effectLst>
              </a:rPr>
              <a:t>1</a:t>
            </a:r>
            <a:r>
              <a:rPr lang="zh-CN" altLang="en-US" sz="2400" b="1" dirty="0">
                <a:effectLst>
                  <a:outerShdw blurRad="38100" dist="38100" dir="2700000" algn="tl">
                    <a:srgbClr val="000000">
                      <a:alpha val="43137"/>
                    </a:srgbClr>
                  </a:outerShdw>
                </a:effectLst>
              </a:rPr>
              <a:t>，</a:t>
            </a:r>
            <a:r>
              <a:rPr lang="en-US" altLang="zh-CN" sz="2400" b="1" dirty="0">
                <a:effectLst>
                  <a:outerShdw blurRad="38100" dist="38100" dir="2700000" algn="tl">
                    <a:srgbClr val="000000">
                      <a:alpha val="43137"/>
                    </a:srgbClr>
                  </a:outerShdw>
                </a:effectLst>
              </a:rPr>
              <a:t>1</a:t>
            </a:r>
            <a:r>
              <a:rPr lang="zh-CN" altLang="en-US" sz="2400" b="1" dirty="0">
                <a:effectLst>
                  <a:outerShdw blurRad="38100" dist="38100" dir="2700000" algn="tl">
                    <a:srgbClr val="000000">
                      <a:alpha val="43137"/>
                    </a:srgbClr>
                  </a:outerShdw>
                </a:effectLst>
              </a:rPr>
              <a:t>变为</a:t>
            </a:r>
            <a:r>
              <a:rPr lang="en-US" altLang="zh-CN" sz="2400" b="1" dirty="0">
                <a:effectLst>
                  <a:outerShdw blurRad="38100" dist="38100" dir="2700000" algn="tl">
                    <a:srgbClr val="000000">
                      <a:alpha val="43137"/>
                    </a:srgbClr>
                  </a:outerShdw>
                </a:effectLst>
              </a:rPr>
              <a:t>0</a:t>
            </a:r>
            <a:r>
              <a:rPr lang="zh-CN" altLang="en-US" sz="2400" b="1"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116039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3D31282-0B2B-4840-B196-A2DB2FF5BF67}"/>
              </a:ext>
            </a:extLst>
          </p:cNvPr>
          <p:cNvSpPr txBox="1">
            <a:spLocks noChangeArrowheads="1"/>
          </p:cNvSpPr>
          <p:nvPr/>
        </p:nvSpPr>
        <p:spPr>
          <a:xfrm>
            <a:off x="899592" y="548680"/>
            <a:ext cx="7793037" cy="1872208"/>
          </a:xfrm>
          <a:prstGeom prst="rect">
            <a:avLst/>
          </a:prstGeom>
        </p:spPr>
        <p:txBody>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a:lstStyle>
          <a:p>
            <a:pPr eaLnBrk="1" hangingPunct="1">
              <a:defRPr/>
            </a:pPr>
            <a:r>
              <a:rPr lang="zh-CN" altLang="en-US" sz="2800" b="1" kern="0" dirty="0">
                <a:solidFill>
                  <a:schemeClr val="tx1"/>
                </a:solidFill>
                <a:effectLst>
                  <a:outerShdw blurRad="38100" dist="38100" dir="2700000" algn="tl">
                    <a:srgbClr val="C0C0C0"/>
                  </a:outerShdw>
                </a:effectLst>
              </a:rPr>
              <a:t>例</a:t>
            </a:r>
            <a:r>
              <a:rPr lang="en-US" altLang="zh-CN" sz="2800" b="1" kern="0" dirty="0">
                <a:solidFill>
                  <a:schemeClr val="tx1"/>
                </a:solidFill>
                <a:effectLst>
                  <a:outerShdw blurRad="38100" dist="38100" dir="2700000" algn="tl">
                    <a:srgbClr val="C0C0C0"/>
                  </a:outerShdw>
                </a:effectLst>
              </a:rPr>
              <a:t>4</a:t>
            </a:r>
            <a:r>
              <a:rPr lang="zh-CN" altLang="en-US" sz="2800" b="1" kern="0" dirty="0">
                <a:solidFill>
                  <a:schemeClr val="tx1"/>
                </a:solidFill>
                <a:effectLst>
                  <a:outerShdw blurRad="38100" dist="38100" dir="2700000" algn="tl">
                    <a:srgbClr val="C0C0C0"/>
                  </a:outerShdw>
                </a:effectLst>
              </a:rPr>
              <a:t>：在例</a:t>
            </a:r>
            <a:r>
              <a:rPr lang="en-US" altLang="zh-CN" sz="2800" b="1" kern="0" dirty="0">
                <a:solidFill>
                  <a:schemeClr val="tx1"/>
                </a:solidFill>
                <a:effectLst>
                  <a:outerShdw blurRad="38100" dist="38100" dir="2700000" algn="tl">
                    <a:srgbClr val="C0C0C0"/>
                  </a:outerShdw>
                </a:effectLst>
              </a:rPr>
              <a:t>1</a:t>
            </a:r>
            <a:r>
              <a:rPr lang="zh-CN" altLang="en-US" sz="2800" b="1" kern="0" dirty="0">
                <a:solidFill>
                  <a:schemeClr val="tx1"/>
                </a:solidFill>
                <a:effectLst>
                  <a:outerShdw blurRad="38100" dist="38100" dir="2700000" algn="tl">
                    <a:srgbClr val="C0C0C0"/>
                  </a:outerShdw>
                </a:effectLst>
              </a:rPr>
              <a:t>的基础上，改为</a:t>
            </a:r>
            <a:r>
              <a:rPr lang="zh-CN" altLang="en-US" sz="2800" b="1" kern="0" dirty="0">
                <a:solidFill>
                  <a:schemeClr val="tx1"/>
                </a:solidFill>
                <a:effectLst>
                  <a:outerShdw blurRad="38100" dist="38100" dir="2700000" algn="tl">
                    <a:srgbClr val="C0C0C0"/>
                  </a:outerShdw>
                </a:effectLst>
                <a:highlight>
                  <a:srgbClr val="00FFFF"/>
                </a:highlight>
              </a:rPr>
              <a:t>有条件传输</a:t>
            </a:r>
            <a:r>
              <a:rPr lang="zh-CN" altLang="en-US" sz="2800" b="1" kern="0" dirty="0">
                <a:solidFill>
                  <a:schemeClr val="tx1"/>
                </a:solidFill>
                <a:effectLst>
                  <a:outerShdw blurRad="38100" dist="38100" dir="2700000" algn="tl">
                    <a:srgbClr val="C0C0C0"/>
                  </a:outerShdw>
                </a:effectLst>
              </a:rPr>
              <a:t>方式，即设置条件（并口某引脚接</a:t>
            </a:r>
            <a:r>
              <a:rPr lang="en-US" altLang="zh-CN" sz="2800" b="1" kern="0" dirty="0">
                <a:solidFill>
                  <a:schemeClr val="tx1"/>
                </a:solidFill>
                <a:effectLst>
                  <a:outerShdw blurRad="38100" dist="38100" dir="2700000" algn="tl">
                    <a:srgbClr val="C0C0C0"/>
                  </a:outerShdw>
                </a:effectLst>
              </a:rPr>
              <a:t>Button</a:t>
            </a:r>
            <a:r>
              <a:rPr lang="zh-CN" altLang="en-US" sz="2800" b="1" kern="0" dirty="0">
                <a:solidFill>
                  <a:schemeClr val="tx1"/>
                </a:solidFill>
                <a:effectLst>
                  <a:outerShdw blurRad="38100" dist="38100" dir="2700000" algn="tl">
                    <a:srgbClr val="C0C0C0"/>
                  </a:outerShdw>
                </a:effectLst>
              </a:rPr>
              <a:t>，作总开关）。当条件成立（总开关闭合）时，分开关可以控制发光二极管的变化，否则不能。</a:t>
            </a:r>
          </a:p>
        </p:txBody>
      </p:sp>
      <p:pic>
        <p:nvPicPr>
          <p:cNvPr id="4" name="图片 3">
            <a:extLst>
              <a:ext uri="{FF2B5EF4-FFF2-40B4-BE49-F238E27FC236}">
                <a16:creationId xmlns:a16="http://schemas.microsoft.com/office/drawing/2014/main" id="{AA789803-764C-47DB-A736-96E9315EC8C8}"/>
              </a:ext>
            </a:extLst>
          </p:cNvPr>
          <p:cNvPicPr>
            <a:picLocks noChangeAspect="1"/>
          </p:cNvPicPr>
          <p:nvPr/>
        </p:nvPicPr>
        <p:blipFill>
          <a:blip r:embed="rId2"/>
          <a:stretch>
            <a:fillRect/>
          </a:stretch>
        </p:blipFill>
        <p:spPr>
          <a:xfrm>
            <a:off x="2231740" y="2420888"/>
            <a:ext cx="4680520" cy="3809224"/>
          </a:xfrm>
          <a:prstGeom prst="rect">
            <a:avLst/>
          </a:prstGeom>
        </p:spPr>
      </p:pic>
    </p:spTree>
    <p:extLst>
      <p:ext uri="{BB962C8B-B14F-4D97-AF65-F5344CB8AC3E}">
        <p14:creationId xmlns:p14="http://schemas.microsoft.com/office/powerpoint/2010/main" val="7850982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FC05CD1-DA1C-4279-8ED5-9081AB7BCCFA}"/>
              </a:ext>
            </a:extLst>
          </p:cNvPr>
          <p:cNvPicPr>
            <a:picLocks noChangeAspect="1"/>
          </p:cNvPicPr>
          <p:nvPr/>
        </p:nvPicPr>
        <p:blipFill>
          <a:blip r:embed="rId2"/>
          <a:stretch>
            <a:fillRect/>
          </a:stretch>
        </p:blipFill>
        <p:spPr>
          <a:xfrm>
            <a:off x="2123727" y="980728"/>
            <a:ext cx="5217281" cy="4248472"/>
          </a:xfrm>
          <a:prstGeom prst="rect">
            <a:avLst/>
          </a:prstGeom>
        </p:spPr>
      </p:pic>
    </p:spTree>
    <p:extLst>
      <p:ext uri="{BB962C8B-B14F-4D97-AF65-F5344CB8AC3E}">
        <p14:creationId xmlns:p14="http://schemas.microsoft.com/office/powerpoint/2010/main" val="10854664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042988" y="476250"/>
            <a:ext cx="7900987" cy="911225"/>
          </a:xfrm>
        </p:spPr>
        <p:txBody>
          <a:bodyPr/>
          <a:lstStyle/>
          <a:p>
            <a:pPr eaLnBrk="1" hangingPunct="1">
              <a:defRPr/>
            </a:pPr>
            <a:r>
              <a:rPr lang="zh-CN" altLang="en-US" sz="2800" b="1" dirty="0">
                <a:solidFill>
                  <a:schemeClr val="tx1"/>
                </a:solidFill>
                <a:effectLst>
                  <a:outerShdw blurRad="38100" dist="38100" dir="2700000" algn="tl">
                    <a:srgbClr val="000000">
                      <a:alpha val="43137"/>
                    </a:srgbClr>
                  </a:outerShdw>
                </a:effectLst>
                <a:latin typeface="宋体" panose="02010600030101010101" pitchFamily="2" charset="-122"/>
              </a:rPr>
              <a:t>例</a:t>
            </a:r>
            <a:r>
              <a:rPr lang="en-US" altLang="zh-CN" sz="2800" b="1" dirty="0">
                <a:solidFill>
                  <a:schemeClr val="tx1"/>
                </a:solidFill>
                <a:effectLst>
                  <a:outerShdw blurRad="38100" dist="38100" dir="2700000" algn="tl">
                    <a:srgbClr val="000000">
                      <a:alpha val="43137"/>
                    </a:srgbClr>
                  </a:outerShdw>
                </a:effectLst>
                <a:latin typeface="宋体" panose="02010600030101010101" pitchFamily="2" charset="-122"/>
              </a:rPr>
              <a:t>5</a:t>
            </a:r>
            <a:r>
              <a:rPr lang="zh-CN" altLang="en-US" sz="2800" b="1" dirty="0">
                <a:solidFill>
                  <a:schemeClr val="tx1"/>
                </a:solidFill>
                <a:effectLst>
                  <a:outerShdw blurRad="38100" dist="38100" dir="2700000" algn="tl">
                    <a:srgbClr val="000000">
                      <a:alpha val="43137"/>
                    </a:srgbClr>
                  </a:outerShdw>
                </a:effectLst>
                <a:latin typeface="宋体" panose="02010600030101010101" pitchFamily="2" charset="-122"/>
              </a:rPr>
              <a:t>：使用不同数据类型的变量控制</a:t>
            </a:r>
            <a:r>
              <a:rPr lang="en-US" altLang="zh-CN" sz="2800" b="1" dirty="0">
                <a:solidFill>
                  <a:schemeClr val="tx1"/>
                </a:solidFill>
                <a:effectLst>
                  <a:outerShdw blurRad="38100" dist="38100" dir="2700000" algn="tl">
                    <a:srgbClr val="000000">
                      <a:alpha val="43137"/>
                    </a:srgbClr>
                  </a:outerShdw>
                </a:effectLst>
                <a:latin typeface="宋体" panose="02010600030101010101" pitchFamily="2" charset="-122"/>
              </a:rPr>
              <a:t>LED</a:t>
            </a:r>
            <a:r>
              <a:rPr lang="zh-CN" altLang="en-US" sz="2800" b="1" dirty="0">
                <a:solidFill>
                  <a:schemeClr val="tx1"/>
                </a:solidFill>
                <a:effectLst>
                  <a:outerShdw blurRad="38100" dist="38100" dir="2700000" algn="tl">
                    <a:srgbClr val="000000">
                      <a:alpha val="43137"/>
                    </a:srgbClr>
                  </a:outerShdw>
                </a:effectLst>
                <a:latin typeface="宋体" panose="02010600030101010101" pitchFamily="2" charset="-122"/>
              </a:rPr>
              <a:t>灯闪烁。（两种延时程序）</a:t>
            </a:r>
          </a:p>
        </p:txBody>
      </p:sp>
      <p:pic>
        <p:nvPicPr>
          <p:cNvPr id="43011" name="Picture 5"/>
          <p:cNvPicPr>
            <a:picLocks noChangeAspect="1" noChangeArrowheads="1"/>
          </p:cNvPicPr>
          <p:nvPr/>
        </p:nvPicPr>
        <p:blipFill>
          <a:blip r:embed="rId2">
            <a:lum bright="-12000" contrast="18000"/>
            <a:extLst>
              <a:ext uri="{28A0092B-C50C-407E-A947-70E740481C1C}">
                <a14:useLocalDpi xmlns:a14="http://schemas.microsoft.com/office/drawing/2010/main" val="0"/>
              </a:ext>
            </a:extLst>
          </a:blip>
          <a:srcRect/>
          <a:stretch>
            <a:fillRect/>
          </a:stretch>
        </p:blipFill>
        <p:spPr bwMode="auto">
          <a:xfrm>
            <a:off x="1187450" y="1773238"/>
            <a:ext cx="6769100" cy="416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4"/>
          <p:cNvPicPr>
            <a:picLocks noChangeAspect="1" noChangeArrowheads="1"/>
          </p:cNvPicPr>
          <p:nvPr/>
        </p:nvPicPr>
        <p:blipFill>
          <a:blip r:embed="rId2">
            <a:lum bright="-12000" contrast="18000"/>
            <a:extLst>
              <a:ext uri="{28A0092B-C50C-407E-A947-70E740481C1C}">
                <a14:useLocalDpi xmlns:a14="http://schemas.microsoft.com/office/drawing/2010/main" val="0"/>
              </a:ext>
            </a:extLst>
          </a:blip>
          <a:srcRect/>
          <a:stretch>
            <a:fillRect/>
          </a:stretch>
        </p:blipFill>
        <p:spPr bwMode="auto">
          <a:xfrm>
            <a:off x="1187450" y="1196975"/>
            <a:ext cx="6696075" cy="413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Text Box 4"/>
          <p:cNvSpPr txBox="1">
            <a:spLocks noChangeArrowheads="1"/>
          </p:cNvSpPr>
          <p:nvPr/>
        </p:nvSpPr>
        <p:spPr bwMode="auto">
          <a:xfrm>
            <a:off x="900113" y="765175"/>
            <a:ext cx="7775575" cy="3908425"/>
          </a:xfrm>
          <a:prstGeom prst="rect">
            <a:avLst/>
          </a:prstGeom>
          <a:noFill/>
          <a:ln>
            <a:noFill/>
          </a:ln>
          <a:effectLst/>
        </p:spPr>
        <p:txBody>
          <a:bodyPr>
            <a:spAutoFit/>
          </a:bodyPr>
          <a:lstStyle/>
          <a:p>
            <a:pPr eaLnBrk="1" hangingPunct="1">
              <a:defRPr/>
            </a:pPr>
            <a:r>
              <a:rPr lang="en-US" altLang="zh-CN" b="1" noProof="1">
                <a:effectLst>
                  <a:outerShdw blurRad="38100" dist="38100" dir="2700000" algn="tl">
                    <a:srgbClr val="000000">
                      <a:alpha val="43137"/>
                    </a:srgbClr>
                  </a:outerShdw>
                </a:effectLst>
                <a:latin typeface="Times New Roman" panose="02020603050405020304" pitchFamily="18" charset="0"/>
              </a:rPr>
              <a:t>#include&lt;reg51.h&gt;   </a:t>
            </a:r>
            <a:r>
              <a:rPr lang="en-US" altLang="zh-CN" sz="2400" b="1" noProof="1">
                <a:solidFill>
                  <a:srgbClr val="0000FF"/>
                </a:solidFill>
                <a:effectLst>
                  <a:outerShdw blurRad="38100" dist="38100" dir="2700000" algn="tl">
                    <a:srgbClr val="000000">
                      <a:alpha val="43137"/>
                    </a:srgbClr>
                  </a:outerShdw>
                </a:effectLst>
                <a:latin typeface="Times New Roman" panose="02020603050405020304" pitchFamily="18" charset="0"/>
              </a:rPr>
              <a:t>//</a:t>
            </a:r>
            <a:r>
              <a:rPr lang="zh-CN" altLang="en-US" sz="2400" b="1" noProof="1">
                <a:solidFill>
                  <a:srgbClr val="0000FF"/>
                </a:solidFill>
                <a:effectLst>
                  <a:outerShdw blurRad="38100" dist="38100" dir="2700000" algn="tl">
                    <a:srgbClr val="000000">
                      <a:alpha val="43137"/>
                    </a:srgbClr>
                  </a:outerShdw>
                </a:effectLst>
                <a:latin typeface="Times New Roman" panose="02020603050405020304" pitchFamily="18" charset="0"/>
              </a:rPr>
              <a:t>包含单片机寄存器的头文件</a:t>
            </a:r>
          </a:p>
          <a:p>
            <a:pPr eaLnBrk="1" hangingPunct="1">
              <a:defRPr/>
            </a:pPr>
            <a:endParaRPr lang="zh-CN" altLang="zh-CN" sz="2400" b="1" noProof="1">
              <a:effectLst>
                <a:outerShdw blurRad="38100" dist="38100" dir="2700000" algn="tl">
                  <a:srgbClr val="000000">
                    <a:alpha val="43137"/>
                  </a:srgbClr>
                </a:outerShdw>
              </a:effectLst>
              <a:latin typeface="Times New Roman" panose="02020603050405020304" pitchFamily="18" charset="0"/>
            </a:endParaRPr>
          </a:p>
          <a:p>
            <a:pPr eaLnBrk="1" hangingPunct="1">
              <a:defRPr/>
            </a:pPr>
            <a:r>
              <a:rPr lang="en-US" altLang="zh-CN" b="1" noProof="1">
                <a:effectLst>
                  <a:outerShdw blurRad="38100" dist="38100" dir="2700000" algn="tl">
                    <a:srgbClr val="000000">
                      <a:alpha val="43137"/>
                    </a:srgbClr>
                  </a:outerShdw>
                </a:effectLst>
                <a:latin typeface="Times New Roman" panose="02020603050405020304" pitchFamily="18" charset="0"/>
              </a:rPr>
              <a:t>void int_delay(void) </a:t>
            </a:r>
            <a:r>
              <a:rPr lang="en-US" altLang="zh-CN" sz="2400" b="1" noProof="1">
                <a:solidFill>
                  <a:srgbClr val="0000FF"/>
                </a:solidFill>
                <a:effectLst>
                  <a:outerShdw blurRad="38100" dist="38100" dir="2700000" algn="tl">
                    <a:srgbClr val="000000">
                      <a:alpha val="43137"/>
                    </a:srgbClr>
                  </a:outerShdw>
                </a:effectLst>
                <a:latin typeface="Times New Roman" panose="02020603050405020304" pitchFamily="18" charset="0"/>
              </a:rPr>
              <a:t>//</a:t>
            </a:r>
            <a:r>
              <a:rPr lang="zh-CN" altLang="en-US" sz="2400" b="1" noProof="1">
                <a:solidFill>
                  <a:srgbClr val="0000FF"/>
                </a:solidFill>
                <a:effectLst>
                  <a:outerShdw blurRad="38100" dist="38100" dir="2700000" algn="tl">
                    <a:srgbClr val="000000">
                      <a:alpha val="43137"/>
                    </a:srgbClr>
                  </a:outerShdw>
                </a:effectLst>
                <a:latin typeface="Times New Roman" panose="02020603050405020304" pitchFamily="18" charset="0"/>
              </a:rPr>
              <a:t>延时一段较长的时间</a:t>
            </a:r>
          </a:p>
          <a:p>
            <a:pPr eaLnBrk="1" hangingPunct="1">
              <a:defRPr/>
            </a:pPr>
            <a:r>
              <a:rPr lang="zh-CN" altLang="zh-CN" b="1" noProof="1">
                <a:effectLst>
                  <a:outerShdw blurRad="38100" dist="38100" dir="2700000" algn="tl">
                    <a:srgbClr val="000000">
                      <a:alpha val="43137"/>
                    </a:srgbClr>
                  </a:outerShdw>
                </a:effectLst>
                <a:latin typeface="Times New Roman" panose="02020603050405020304" pitchFamily="18" charset="0"/>
              </a:rPr>
              <a:t>{</a:t>
            </a:r>
          </a:p>
          <a:p>
            <a:pPr eaLnBrk="1" hangingPunct="1">
              <a:defRPr/>
            </a:pPr>
            <a:r>
              <a:rPr lang="en-US" altLang="zh-CN" b="1" noProof="1">
                <a:effectLst>
                  <a:outerShdw blurRad="38100" dist="38100" dir="2700000" algn="tl">
                    <a:srgbClr val="000000">
                      <a:alpha val="43137"/>
                    </a:srgbClr>
                  </a:outerShdw>
                </a:effectLst>
                <a:latin typeface="Times New Roman" panose="02020603050405020304" pitchFamily="18" charset="0"/>
              </a:rPr>
              <a:t>  </a:t>
            </a:r>
            <a:r>
              <a:rPr lang="en-US" altLang="zh-CN" b="1" noProof="1">
                <a:solidFill>
                  <a:srgbClr val="FF0000"/>
                </a:solidFill>
                <a:effectLst>
                  <a:outerShdw blurRad="38100" dist="38100" dir="2700000" algn="tl">
                    <a:srgbClr val="000000">
                      <a:alpha val="43137"/>
                    </a:srgbClr>
                  </a:outerShdw>
                </a:effectLst>
                <a:latin typeface="Times New Roman" panose="02020603050405020304" pitchFamily="18" charset="0"/>
              </a:rPr>
              <a:t>unsigned int m;   </a:t>
            </a:r>
            <a:endParaRPr lang="en-US" altLang="zh-CN" b="1" dirty="0">
              <a:solidFill>
                <a:srgbClr val="FF0000"/>
              </a:solidFill>
              <a:effectLst>
                <a:outerShdw blurRad="38100" dist="38100" dir="2700000" algn="tl">
                  <a:srgbClr val="000000">
                    <a:alpha val="43137"/>
                  </a:srgbClr>
                </a:outerShdw>
              </a:effectLst>
              <a:latin typeface="Times New Roman" panose="02020603050405020304" pitchFamily="18" charset="0"/>
            </a:endParaRPr>
          </a:p>
          <a:p>
            <a:pPr eaLnBrk="1" hangingPunct="1">
              <a:defRPr/>
            </a:pPr>
            <a:r>
              <a:rPr lang="en-US" altLang="zh-CN" b="1" noProof="1">
                <a:effectLst>
                  <a:outerShdw blurRad="38100" dist="38100" dir="2700000" algn="tl">
                    <a:srgbClr val="000000">
                      <a:alpha val="43137"/>
                    </a:srgbClr>
                  </a:outerShdw>
                </a:effectLst>
                <a:latin typeface="Times New Roman" panose="02020603050405020304" pitchFamily="18" charset="0"/>
              </a:rPr>
              <a:t>  </a:t>
            </a:r>
            <a:r>
              <a:rPr lang="en-US" altLang="zh-CN" sz="2400" b="1" noProof="1">
                <a:solidFill>
                  <a:srgbClr val="0000FF"/>
                </a:solidFill>
                <a:effectLst>
                  <a:outerShdw blurRad="38100" dist="38100" dir="2700000" algn="tl">
                    <a:srgbClr val="000000">
                      <a:alpha val="43137"/>
                    </a:srgbClr>
                  </a:outerShdw>
                </a:effectLst>
                <a:latin typeface="Times New Roman" panose="02020603050405020304" pitchFamily="18" charset="0"/>
              </a:rPr>
              <a:t>//</a:t>
            </a:r>
            <a:r>
              <a:rPr lang="zh-CN" altLang="en-US" sz="2400" b="1" noProof="1">
                <a:solidFill>
                  <a:srgbClr val="0000FF"/>
                </a:solidFill>
                <a:effectLst>
                  <a:outerShdw blurRad="38100" dist="38100" dir="2700000" algn="tl">
                    <a:srgbClr val="000000">
                      <a:alpha val="43137"/>
                    </a:srgbClr>
                  </a:outerShdw>
                </a:effectLst>
                <a:latin typeface="Times New Roman" panose="02020603050405020304" pitchFamily="18" charset="0"/>
              </a:rPr>
              <a:t>定义无符号整形变量，双字节数据，值域为</a:t>
            </a:r>
            <a:r>
              <a:rPr lang="en-US" altLang="zh-CN" sz="2400" b="1" noProof="1">
                <a:solidFill>
                  <a:srgbClr val="0000FF"/>
                </a:solidFill>
                <a:effectLst>
                  <a:outerShdw blurRad="38100" dist="38100" dir="2700000" algn="tl">
                    <a:srgbClr val="000000">
                      <a:alpha val="43137"/>
                    </a:srgbClr>
                  </a:outerShdw>
                </a:effectLst>
                <a:latin typeface="Times New Roman" panose="02020603050405020304" pitchFamily="18" charset="0"/>
              </a:rPr>
              <a:t>0</a:t>
            </a:r>
            <a:r>
              <a:rPr lang="zh-CN" altLang="zh-CN" sz="2400" b="1" noProof="1">
                <a:solidFill>
                  <a:srgbClr val="0000FF"/>
                </a:solidFill>
                <a:effectLst>
                  <a:outerShdw blurRad="38100" dist="38100" dir="2700000" algn="tl">
                    <a:srgbClr val="000000">
                      <a:alpha val="43137"/>
                    </a:srgbClr>
                  </a:outerShdw>
                </a:effectLst>
                <a:latin typeface="Times New Roman" panose="02020603050405020304" pitchFamily="18" charset="0"/>
              </a:rPr>
              <a:t>~65535</a:t>
            </a:r>
          </a:p>
          <a:p>
            <a:pPr eaLnBrk="1" hangingPunct="1">
              <a:defRPr/>
            </a:pPr>
            <a:r>
              <a:rPr lang="en-US" altLang="zh-CN" b="1" noProof="1">
                <a:effectLst>
                  <a:outerShdw blurRad="38100" dist="38100" dir="2700000" algn="tl">
                    <a:srgbClr val="000000">
                      <a:alpha val="43137"/>
                    </a:srgbClr>
                  </a:outerShdw>
                </a:effectLst>
                <a:latin typeface="Times New Roman" panose="02020603050405020304" pitchFamily="18" charset="0"/>
              </a:rPr>
              <a:t>  for(m=0;m&lt;36000;m++)</a:t>
            </a:r>
          </a:p>
          <a:p>
            <a:pPr eaLnBrk="1" hangingPunct="1">
              <a:defRPr/>
            </a:pPr>
            <a:r>
              <a:rPr lang="en-US" altLang="zh-CN" b="1" noProof="1">
                <a:effectLst>
                  <a:outerShdw blurRad="38100" dist="38100" dir="2700000" algn="tl">
                    <a:srgbClr val="000000">
                      <a:alpha val="43137"/>
                    </a:srgbClr>
                  </a:outerShdw>
                </a:effectLst>
                <a:latin typeface="Times New Roman" panose="02020603050405020304" pitchFamily="18" charset="0"/>
              </a:rPr>
              <a:t>	 ;          </a:t>
            </a:r>
            <a:r>
              <a:rPr lang="en-US" altLang="zh-CN" sz="2400" b="1" noProof="1">
                <a:solidFill>
                  <a:srgbClr val="0000FF"/>
                </a:solidFill>
                <a:effectLst>
                  <a:outerShdw blurRad="38100" dist="38100" dir="2700000" algn="tl">
                    <a:srgbClr val="000000">
                      <a:alpha val="43137"/>
                    </a:srgbClr>
                  </a:outerShdw>
                </a:effectLst>
                <a:latin typeface="Times New Roman" panose="02020603050405020304" pitchFamily="18" charset="0"/>
              </a:rPr>
              <a:t>//</a:t>
            </a:r>
            <a:r>
              <a:rPr lang="zh-CN" altLang="en-US" sz="2400" b="1" noProof="1">
                <a:solidFill>
                  <a:srgbClr val="0000FF"/>
                </a:solidFill>
                <a:effectLst>
                  <a:outerShdw blurRad="38100" dist="38100" dir="2700000" algn="tl">
                    <a:srgbClr val="000000">
                      <a:alpha val="43137"/>
                    </a:srgbClr>
                  </a:outerShdw>
                </a:effectLst>
                <a:latin typeface="Times New Roman" panose="02020603050405020304" pitchFamily="18" charset="0"/>
              </a:rPr>
              <a:t>空操作</a:t>
            </a:r>
            <a:r>
              <a:rPr lang="zh-CN" altLang="en-US" b="1" noProof="1">
                <a:effectLst>
                  <a:outerShdw blurRad="38100" dist="38100" dir="2700000" algn="tl">
                    <a:srgbClr val="000000">
                      <a:alpha val="43137"/>
                    </a:srgbClr>
                  </a:outerShdw>
                </a:effectLst>
                <a:latin typeface="Times New Roman" panose="02020603050405020304" pitchFamily="18" charset="0"/>
              </a:rPr>
              <a:t>     </a:t>
            </a:r>
          </a:p>
          <a:p>
            <a:pPr eaLnBrk="1" hangingPunct="1">
              <a:defRPr/>
            </a:pPr>
            <a:r>
              <a:rPr lang="zh-CN" altLang="zh-CN" b="1" noProof="1">
                <a:effectLst>
                  <a:outerShdw blurRad="38100" dist="38100" dir="2700000" algn="tl">
                    <a:srgbClr val="000000">
                      <a:alpha val="43137"/>
                    </a:srgbClr>
                  </a:outerShdw>
                </a:effectLst>
                <a:latin typeface="Times New Roman" panose="02020603050405020304" pitchFamily="18" charset="0"/>
              </a:rPr>
              <a:t>}</a:t>
            </a:r>
            <a:endParaRPr lang="en-US" altLang="zh-CN" b="1" dirty="0">
              <a:effectLst>
                <a:outerShdw blurRad="38100" dist="38100" dir="2700000" algn="tl">
                  <a:srgbClr val="000000">
                    <a:alpha val="43137"/>
                  </a:srgbClr>
                </a:outerShdw>
              </a:effectLst>
              <a:latin typeface="Times New Roman" panose="02020603050405020304" pitchFamily="18" charset="0"/>
            </a:endParaRPr>
          </a:p>
        </p:txBody>
      </p:sp>
      <p:sp>
        <p:nvSpPr>
          <p:cNvPr id="47109" name="AutoShape 5"/>
          <p:cNvSpPr>
            <a:spLocks noChangeArrowheads="1"/>
          </p:cNvSpPr>
          <p:nvPr/>
        </p:nvSpPr>
        <p:spPr bwMode="auto">
          <a:xfrm>
            <a:off x="3708400" y="1052513"/>
            <a:ext cx="4967288" cy="1296987"/>
          </a:xfrm>
          <a:prstGeom prst="wedgeRoundRectCallout">
            <a:avLst>
              <a:gd name="adj1" fmla="val -64352"/>
              <a:gd name="adj2" fmla="val -38250"/>
              <a:gd name="adj3" fmla="val 16667"/>
            </a:avLst>
          </a:prstGeom>
          <a:solidFill>
            <a:srgbClr val="FF9900"/>
          </a:solidFill>
          <a:ln w="9525">
            <a:solidFill>
              <a:schemeClr val="tx1"/>
            </a:solidFill>
            <a:miter lim="800000"/>
          </a:ln>
          <a:effectLst/>
        </p:spPr>
        <p:txBody>
          <a:bodyPr/>
          <a:lstStyle/>
          <a:p>
            <a:pPr eaLnBrk="1" hangingPunct="1">
              <a:defRPr/>
            </a:pPr>
            <a:r>
              <a:rPr lang="zh-CN" altLang="en-US" sz="2400" b="1">
                <a:effectLst>
                  <a:outerShdw blurRad="38100" dist="38100" dir="2700000" algn="tl">
                    <a:srgbClr val="000000">
                      <a:alpha val="43137"/>
                    </a:srgbClr>
                  </a:outerShdw>
                </a:effectLst>
              </a:rPr>
              <a:t>文件</a:t>
            </a:r>
            <a:r>
              <a:rPr lang="zh-CN" altLang="en-US" sz="2400" b="1">
                <a:effectLst>
                  <a:outerShdw blurRad="38100" dist="38100" dir="2700000" algn="tl">
                    <a:srgbClr val="000000">
                      <a:alpha val="43137"/>
                    </a:srgbClr>
                  </a:outerShdw>
                </a:effectLst>
                <a:latin typeface="Arial" panose="020B0604020202020204"/>
              </a:rPr>
              <a:t>“</a:t>
            </a:r>
            <a:r>
              <a:rPr lang="en-US" altLang="zh-CN" sz="2400" b="1">
                <a:effectLst>
                  <a:outerShdw blurRad="38100" dist="38100" dir="2700000" algn="tl">
                    <a:srgbClr val="000000">
                      <a:alpha val="43137"/>
                    </a:srgbClr>
                  </a:outerShdw>
                </a:effectLst>
              </a:rPr>
              <a:t>reg51.h</a:t>
            </a:r>
            <a:r>
              <a:rPr lang="en-US" altLang="zh-CN" sz="2400" b="1">
                <a:effectLst>
                  <a:outerShdw blurRad="38100" dist="38100" dir="2700000" algn="tl">
                    <a:srgbClr val="000000">
                      <a:alpha val="43137"/>
                    </a:srgbClr>
                  </a:outerShdw>
                </a:effectLst>
                <a:latin typeface="Arial" panose="020B0604020202020204"/>
              </a:rPr>
              <a:t>”</a:t>
            </a:r>
            <a:r>
              <a:rPr lang="zh-CN" altLang="en-US" sz="2400" b="1">
                <a:effectLst>
                  <a:outerShdw blurRad="38100" dist="38100" dir="2700000" algn="tl">
                    <a:srgbClr val="000000">
                      <a:alpha val="43137"/>
                    </a:srgbClr>
                  </a:outerShdw>
                </a:effectLst>
              </a:rPr>
              <a:t>包含了</a:t>
            </a:r>
            <a:r>
              <a:rPr lang="en-US" altLang="zh-CN" sz="2400" b="1">
                <a:effectLst>
                  <a:outerShdw blurRad="38100" dist="38100" dir="2700000" algn="tl">
                    <a:srgbClr val="000000">
                      <a:alpha val="43137"/>
                    </a:srgbClr>
                  </a:outerShdw>
                </a:effectLst>
              </a:rPr>
              <a:t>51</a:t>
            </a:r>
            <a:r>
              <a:rPr lang="zh-CN" altLang="en-US" sz="2400" b="1">
                <a:effectLst>
                  <a:outerShdw blurRad="38100" dist="38100" dir="2700000" algn="tl">
                    <a:srgbClr val="000000">
                      <a:alpha val="43137"/>
                    </a:srgbClr>
                  </a:outerShdw>
                </a:effectLst>
              </a:rPr>
              <a:t>单片机全部的特殊功能寄存器的字节地址及可寻址位的位地址定义。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7109"/>
                                        </p:tgtEl>
                                        <p:attrNameLst>
                                          <p:attrName>style.visibility</p:attrName>
                                        </p:attrNameLst>
                                      </p:cBhvr>
                                      <p:to>
                                        <p:strVal val="visible"/>
                                      </p:to>
                                    </p:set>
                                    <p:animEffect transition="in" filter="checkerboard(across)">
                                      <p:cBhvr>
                                        <p:cTn id="7" dur="500"/>
                                        <p:tgtEl>
                                          <p:spTgt spid="47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9"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Text Box 4"/>
          <p:cNvSpPr txBox="1">
            <a:spLocks noChangeArrowheads="1"/>
          </p:cNvSpPr>
          <p:nvPr/>
        </p:nvSpPr>
        <p:spPr bwMode="auto">
          <a:xfrm>
            <a:off x="1043608" y="908720"/>
            <a:ext cx="7561263" cy="4810125"/>
          </a:xfrm>
          <a:prstGeom prst="rect">
            <a:avLst/>
          </a:prstGeom>
          <a:noFill/>
          <a:ln>
            <a:noFill/>
          </a:ln>
          <a:effectLst/>
        </p:spPr>
        <p:txBody>
          <a:bodyPr>
            <a:spAutoFit/>
          </a:bodyPr>
          <a:lstStyle/>
          <a:p>
            <a:pPr eaLnBrk="1" hangingPunct="1">
              <a:lnSpc>
                <a:spcPct val="115000"/>
              </a:lnSpc>
              <a:spcBef>
                <a:spcPct val="25000"/>
              </a:spcBef>
              <a:defRPr/>
            </a:pPr>
            <a:r>
              <a:rPr lang="en-US" altLang="zh-CN" b="1" noProof="1">
                <a:effectLst>
                  <a:outerShdw blurRad="38100" dist="38100" dir="2700000" algn="tl">
                    <a:srgbClr val="000000">
                      <a:alpha val="43137"/>
                    </a:srgbClr>
                  </a:outerShdw>
                </a:effectLst>
                <a:latin typeface="Times New Roman" panose="02020603050405020304" pitchFamily="18" charset="0"/>
              </a:rPr>
              <a:t>void char_delay(void) //</a:t>
            </a:r>
            <a:r>
              <a:rPr lang="zh-CN" altLang="en-US" b="1" noProof="1">
                <a:effectLst>
                  <a:outerShdw blurRad="38100" dist="38100" dir="2700000" algn="tl">
                    <a:srgbClr val="000000">
                      <a:alpha val="43137"/>
                    </a:srgbClr>
                  </a:outerShdw>
                </a:effectLst>
                <a:latin typeface="Times New Roman" panose="02020603050405020304" pitchFamily="18" charset="0"/>
              </a:rPr>
              <a:t>延时一段较短的时间</a:t>
            </a:r>
          </a:p>
          <a:p>
            <a:pPr eaLnBrk="1" hangingPunct="1">
              <a:lnSpc>
                <a:spcPct val="115000"/>
              </a:lnSpc>
              <a:spcBef>
                <a:spcPct val="25000"/>
              </a:spcBef>
              <a:defRPr/>
            </a:pPr>
            <a:r>
              <a:rPr lang="zh-CN" altLang="zh-CN" b="1" noProof="1">
                <a:effectLst>
                  <a:outerShdw blurRad="38100" dist="38100" dir="2700000" algn="tl">
                    <a:srgbClr val="000000">
                      <a:alpha val="43137"/>
                    </a:srgbClr>
                  </a:outerShdw>
                </a:effectLst>
                <a:latin typeface="Times New Roman" panose="02020603050405020304" pitchFamily="18" charset="0"/>
              </a:rPr>
              <a:t>{</a:t>
            </a:r>
          </a:p>
          <a:p>
            <a:pPr eaLnBrk="1" hangingPunct="1">
              <a:lnSpc>
                <a:spcPct val="115000"/>
              </a:lnSpc>
              <a:spcBef>
                <a:spcPct val="25000"/>
              </a:spcBef>
              <a:defRPr/>
            </a:pPr>
            <a:r>
              <a:rPr lang="en-US" altLang="zh-CN" b="1" noProof="1">
                <a:effectLst>
                  <a:outerShdw blurRad="38100" dist="38100" dir="2700000" algn="tl">
                    <a:srgbClr val="000000">
                      <a:alpha val="43137"/>
                    </a:srgbClr>
                  </a:outerShdw>
                </a:effectLst>
                <a:latin typeface="Times New Roman" panose="02020603050405020304" pitchFamily="18" charset="0"/>
              </a:rPr>
              <a:t>   </a:t>
            </a:r>
            <a:r>
              <a:rPr lang="en-US" altLang="zh-CN" b="1" noProof="1">
                <a:solidFill>
                  <a:srgbClr val="FF0000"/>
                </a:solidFill>
                <a:effectLst>
                  <a:outerShdw blurRad="38100" dist="38100" dir="2700000" algn="tl">
                    <a:srgbClr val="000000">
                      <a:alpha val="43137"/>
                    </a:srgbClr>
                  </a:outerShdw>
                </a:effectLst>
                <a:latin typeface="Times New Roman" panose="02020603050405020304" pitchFamily="18" charset="0"/>
              </a:rPr>
              <a:t>unsigned char i , j;   </a:t>
            </a:r>
            <a:endParaRPr lang="en-US" altLang="zh-CN" b="1" dirty="0">
              <a:solidFill>
                <a:srgbClr val="FF0000"/>
              </a:solidFill>
              <a:effectLst>
                <a:outerShdw blurRad="38100" dist="38100" dir="2700000" algn="tl">
                  <a:srgbClr val="000000">
                    <a:alpha val="43137"/>
                  </a:srgbClr>
                </a:outerShdw>
              </a:effectLst>
              <a:latin typeface="Times New Roman" panose="02020603050405020304" pitchFamily="18" charset="0"/>
            </a:endParaRPr>
          </a:p>
          <a:p>
            <a:pPr eaLnBrk="1" hangingPunct="1">
              <a:lnSpc>
                <a:spcPct val="115000"/>
              </a:lnSpc>
              <a:spcBef>
                <a:spcPct val="25000"/>
              </a:spcBef>
              <a:defRPr/>
            </a:pPr>
            <a:r>
              <a:rPr lang="en-US" altLang="zh-CN" b="1" dirty="0">
                <a:effectLst>
                  <a:outerShdw blurRad="38100" dist="38100" dir="2700000" algn="tl">
                    <a:srgbClr val="000000">
                      <a:alpha val="43137"/>
                    </a:srgbClr>
                  </a:outerShdw>
                </a:effectLst>
                <a:latin typeface="Times New Roman" panose="02020603050405020304" pitchFamily="18" charset="0"/>
              </a:rPr>
              <a:t>    </a:t>
            </a:r>
            <a:r>
              <a:rPr lang="en-US" altLang="zh-CN" sz="2400" b="1" noProof="1">
                <a:solidFill>
                  <a:srgbClr val="0000FF"/>
                </a:solidFill>
                <a:effectLst>
                  <a:outerShdw blurRad="38100" dist="38100" dir="2700000" algn="tl">
                    <a:srgbClr val="000000">
                      <a:alpha val="43137"/>
                    </a:srgbClr>
                  </a:outerShdw>
                </a:effectLst>
                <a:latin typeface="Times New Roman" panose="02020603050405020304" pitchFamily="18" charset="0"/>
              </a:rPr>
              <a:t>//</a:t>
            </a:r>
            <a:r>
              <a:rPr lang="zh-CN" altLang="en-US" sz="2400" b="1" noProof="1">
                <a:solidFill>
                  <a:srgbClr val="0000FF"/>
                </a:solidFill>
                <a:effectLst>
                  <a:outerShdw blurRad="38100" dist="38100" dir="2700000" algn="tl">
                    <a:srgbClr val="000000">
                      <a:alpha val="43137"/>
                    </a:srgbClr>
                  </a:outerShdw>
                </a:effectLst>
                <a:latin typeface="Times New Roman" panose="02020603050405020304" pitchFamily="18" charset="0"/>
              </a:rPr>
              <a:t>定义无符号字符型变量，单字节数据，值域</a:t>
            </a:r>
            <a:r>
              <a:rPr lang="en-US" altLang="zh-CN" sz="2400" b="1" noProof="1">
                <a:solidFill>
                  <a:srgbClr val="0000FF"/>
                </a:solidFill>
                <a:effectLst>
                  <a:outerShdw blurRad="38100" dist="38100" dir="2700000" algn="tl">
                    <a:srgbClr val="000000">
                      <a:alpha val="43137"/>
                    </a:srgbClr>
                  </a:outerShdw>
                </a:effectLst>
                <a:latin typeface="Times New Roman" panose="02020603050405020304" pitchFamily="18" charset="0"/>
              </a:rPr>
              <a:t>0</a:t>
            </a:r>
            <a:r>
              <a:rPr lang="zh-CN" altLang="zh-CN" sz="2400" b="1" noProof="1">
                <a:solidFill>
                  <a:srgbClr val="0000FF"/>
                </a:solidFill>
                <a:effectLst>
                  <a:outerShdw blurRad="38100" dist="38100" dir="2700000" algn="tl">
                    <a:srgbClr val="000000">
                      <a:alpha val="43137"/>
                    </a:srgbClr>
                  </a:outerShdw>
                </a:effectLst>
                <a:latin typeface="Times New Roman" panose="02020603050405020304" pitchFamily="18" charset="0"/>
              </a:rPr>
              <a:t>~255</a:t>
            </a:r>
          </a:p>
          <a:p>
            <a:pPr eaLnBrk="1" hangingPunct="1">
              <a:lnSpc>
                <a:spcPct val="115000"/>
              </a:lnSpc>
              <a:spcBef>
                <a:spcPct val="25000"/>
              </a:spcBef>
              <a:defRPr/>
            </a:pPr>
            <a:r>
              <a:rPr lang="en-US" altLang="zh-CN" b="1" noProof="1">
                <a:effectLst>
                  <a:outerShdw blurRad="38100" dist="38100" dir="2700000" algn="tl">
                    <a:srgbClr val="000000">
                      <a:alpha val="43137"/>
                    </a:srgbClr>
                  </a:outerShdw>
                </a:effectLst>
                <a:latin typeface="Times New Roman" panose="02020603050405020304" pitchFamily="18" charset="0"/>
              </a:rPr>
              <a:t>	for(i=0;i&lt;200;i++)</a:t>
            </a:r>
          </a:p>
          <a:p>
            <a:pPr eaLnBrk="1" hangingPunct="1">
              <a:lnSpc>
                <a:spcPct val="115000"/>
              </a:lnSpc>
              <a:spcBef>
                <a:spcPct val="25000"/>
              </a:spcBef>
              <a:defRPr/>
            </a:pPr>
            <a:r>
              <a:rPr lang="en-US" altLang="zh-CN" b="1" noProof="1">
                <a:effectLst>
                  <a:outerShdw blurRad="38100" dist="38100" dir="2700000" algn="tl">
                    <a:srgbClr val="000000">
                      <a:alpha val="43137"/>
                    </a:srgbClr>
                  </a:outerShdw>
                </a:effectLst>
                <a:latin typeface="Times New Roman" panose="02020603050405020304" pitchFamily="18" charset="0"/>
              </a:rPr>
              <a:t>	  for(j=0;j&lt;180;j++)</a:t>
            </a:r>
          </a:p>
          <a:p>
            <a:pPr eaLnBrk="1" hangingPunct="1">
              <a:lnSpc>
                <a:spcPct val="115000"/>
              </a:lnSpc>
              <a:spcBef>
                <a:spcPct val="25000"/>
              </a:spcBef>
              <a:defRPr/>
            </a:pPr>
            <a:r>
              <a:rPr lang="en-US" altLang="zh-CN" b="1" noProof="1">
                <a:effectLst>
                  <a:outerShdw blurRad="38100" dist="38100" dir="2700000" algn="tl">
                    <a:srgbClr val="000000">
                      <a:alpha val="43137"/>
                    </a:srgbClr>
                  </a:outerShdw>
                </a:effectLst>
                <a:latin typeface="Times New Roman" panose="02020603050405020304" pitchFamily="18" charset="0"/>
              </a:rPr>
              <a:t>			   ;        //</a:t>
            </a:r>
            <a:r>
              <a:rPr lang="zh-CN" altLang="en-US" b="1" noProof="1">
                <a:effectLst>
                  <a:outerShdw blurRad="38100" dist="38100" dir="2700000" algn="tl">
                    <a:srgbClr val="000000">
                      <a:alpha val="43137"/>
                    </a:srgbClr>
                  </a:outerShdw>
                </a:effectLst>
                <a:latin typeface="Times New Roman" panose="02020603050405020304" pitchFamily="18" charset="0"/>
              </a:rPr>
              <a:t>空操作</a:t>
            </a:r>
          </a:p>
          <a:p>
            <a:pPr eaLnBrk="1" hangingPunct="1">
              <a:lnSpc>
                <a:spcPct val="115000"/>
              </a:lnSpc>
              <a:spcBef>
                <a:spcPct val="25000"/>
              </a:spcBef>
              <a:defRPr/>
            </a:pPr>
            <a:r>
              <a:rPr lang="zh-CN" altLang="zh-CN" b="1" noProof="1">
                <a:effectLst>
                  <a:outerShdw blurRad="38100" dist="38100" dir="2700000" algn="tl">
                    <a:srgbClr val="000000">
                      <a:alpha val="43137"/>
                    </a:srgbClr>
                  </a:outerShdw>
                </a:effectLst>
                <a:latin typeface="Times New Roman" panose="02020603050405020304" pitchFamily="18" charset="0"/>
              </a:rPr>
              <a:t>}</a:t>
            </a:r>
            <a:endParaRPr lang="en-US" altLang="zh-CN" b="1" dirty="0">
              <a:effectLst>
                <a:outerShdw blurRad="38100" dist="38100" dir="2700000" algn="tl">
                  <a:srgbClr val="000000">
                    <a:alpha val="43137"/>
                  </a:srgbClr>
                </a:outerShdw>
              </a:effectLst>
              <a:latin typeface="Times New Roman" panose="0202060305040502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Text Box 4"/>
          <p:cNvSpPr txBox="1">
            <a:spLocks noChangeArrowheads="1"/>
          </p:cNvSpPr>
          <p:nvPr/>
        </p:nvSpPr>
        <p:spPr bwMode="auto">
          <a:xfrm>
            <a:off x="827088" y="0"/>
            <a:ext cx="7777162" cy="6757988"/>
          </a:xfrm>
          <a:prstGeom prst="rect">
            <a:avLst/>
          </a:prstGeom>
          <a:noFill/>
          <a:ln>
            <a:noFill/>
          </a:ln>
          <a:effectLst/>
        </p:spPr>
        <p:txBody>
          <a:bodyPr>
            <a:spAutoFit/>
          </a:bodyPr>
          <a:lstStyle/>
          <a:p>
            <a:pPr eaLnBrk="1" hangingPunct="1">
              <a:lnSpc>
                <a:spcPct val="95000"/>
              </a:lnSpc>
              <a:defRPr/>
            </a:pPr>
            <a:r>
              <a:rPr lang="en-US" altLang="zh-CN" sz="2400" b="1" noProof="1">
                <a:effectLst>
                  <a:outerShdw blurRad="38100" dist="38100" dir="2700000" algn="tl">
                    <a:srgbClr val="000000">
                      <a:alpha val="43137"/>
                    </a:srgbClr>
                  </a:outerShdw>
                </a:effectLst>
                <a:latin typeface="Times New Roman" panose="02020603050405020304" pitchFamily="18" charset="0"/>
              </a:rPr>
              <a:t>void main(void)  </a:t>
            </a:r>
          </a:p>
          <a:p>
            <a:pPr eaLnBrk="1" hangingPunct="1">
              <a:lnSpc>
                <a:spcPct val="95000"/>
              </a:lnSpc>
              <a:defRPr/>
            </a:pPr>
            <a:r>
              <a:rPr lang="en-US" altLang="zh-CN" sz="2400" b="1" noProof="1">
                <a:effectLst>
                  <a:outerShdw blurRad="38100" dist="38100" dir="2700000" algn="tl">
                    <a:srgbClr val="000000">
                      <a:alpha val="43137"/>
                    </a:srgbClr>
                  </a:outerShdw>
                </a:effectLst>
                <a:latin typeface="Times New Roman" panose="02020603050405020304" pitchFamily="18" charset="0"/>
              </a:rPr>
              <a:t>{  unsigned char i;</a:t>
            </a:r>
          </a:p>
          <a:p>
            <a:pPr eaLnBrk="1" hangingPunct="1">
              <a:lnSpc>
                <a:spcPct val="95000"/>
              </a:lnSpc>
              <a:defRPr/>
            </a:pPr>
            <a:r>
              <a:rPr lang="en-US" altLang="zh-CN" sz="2400" b="1" noProof="1">
                <a:effectLst>
                  <a:outerShdw blurRad="38100" dist="38100" dir="2700000" algn="tl">
                    <a:srgbClr val="000000">
                      <a:alpha val="43137"/>
                    </a:srgbClr>
                  </a:outerShdw>
                </a:effectLst>
                <a:latin typeface="Times New Roman" panose="02020603050405020304" pitchFamily="18" charset="0"/>
              </a:rPr>
              <a:t>    while(1)</a:t>
            </a:r>
          </a:p>
          <a:p>
            <a:pPr eaLnBrk="1" hangingPunct="1">
              <a:lnSpc>
                <a:spcPct val="95000"/>
              </a:lnSpc>
              <a:defRPr/>
            </a:pPr>
            <a:r>
              <a:rPr lang="en-US" altLang="zh-CN" sz="2400" b="1" noProof="1">
                <a:effectLst>
                  <a:outerShdw blurRad="38100" dist="38100" dir="2700000" algn="tl">
                    <a:srgbClr val="000000">
                      <a:alpha val="43137"/>
                    </a:srgbClr>
                  </a:outerShdw>
                </a:effectLst>
                <a:latin typeface="Times New Roman" panose="02020603050405020304" pitchFamily="18" charset="0"/>
              </a:rPr>
              <a:t>	{ for(i=0;i&lt;3;i++)</a:t>
            </a:r>
          </a:p>
          <a:p>
            <a:pPr eaLnBrk="1" hangingPunct="1">
              <a:lnSpc>
                <a:spcPct val="95000"/>
              </a:lnSpc>
              <a:defRPr/>
            </a:pPr>
            <a:r>
              <a:rPr lang="en-US" altLang="zh-CN" sz="2400" b="1" noProof="1">
                <a:effectLst>
                  <a:outerShdw blurRad="38100" dist="38100" dir="2700000" algn="tl">
                    <a:srgbClr val="000000">
                      <a:alpha val="43137"/>
                    </a:srgbClr>
                  </a:outerShdw>
                </a:effectLst>
                <a:latin typeface="Times New Roman" panose="02020603050405020304" pitchFamily="18" charset="0"/>
              </a:rPr>
              <a:t>		 {</a:t>
            </a:r>
          </a:p>
          <a:p>
            <a:pPr eaLnBrk="1" hangingPunct="1">
              <a:lnSpc>
                <a:spcPct val="95000"/>
              </a:lnSpc>
              <a:defRPr/>
            </a:pPr>
            <a:r>
              <a:rPr lang="en-US" altLang="zh-CN" sz="2400" b="1" noProof="1">
                <a:effectLst>
                  <a:outerShdw blurRad="38100" dist="38100" dir="2700000" algn="tl">
                    <a:srgbClr val="000000">
                      <a:alpha val="43137"/>
                    </a:srgbClr>
                  </a:outerShdw>
                </a:effectLst>
                <a:latin typeface="Times New Roman" panose="02020603050405020304" pitchFamily="18" charset="0"/>
              </a:rPr>
              <a:t>	     </a:t>
            </a:r>
            <a:r>
              <a:rPr lang="en-US" altLang="zh-CN" sz="2400" b="1" dirty="0">
                <a:effectLst>
                  <a:outerShdw blurRad="38100" dist="38100" dir="2700000" algn="tl">
                    <a:srgbClr val="000000">
                      <a:alpha val="43137"/>
                    </a:srgbClr>
                  </a:outerShdw>
                </a:effectLst>
                <a:latin typeface="Times New Roman" panose="02020603050405020304" pitchFamily="18" charset="0"/>
              </a:rPr>
              <a:t>         </a:t>
            </a:r>
            <a:r>
              <a:rPr lang="en-US" altLang="zh-CN" sz="2400" b="1" noProof="1">
                <a:effectLst>
                  <a:outerShdw blurRad="38100" dist="38100" dir="2700000" algn="tl">
                    <a:srgbClr val="000000">
                      <a:alpha val="43137"/>
                    </a:srgbClr>
                  </a:outerShdw>
                </a:effectLst>
                <a:latin typeface="Times New Roman" panose="02020603050405020304" pitchFamily="18" charset="0"/>
              </a:rPr>
              <a:t>P1=0xfe;     </a:t>
            </a:r>
            <a:r>
              <a:rPr lang="en-US" altLang="zh-CN" sz="2400" b="1" noProof="1">
                <a:solidFill>
                  <a:schemeClr val="hlink"/>
                </a:solidFill>
                <a:effectLst>
                  <a:outerShdw blurRad="38100" dist="38100" dir="2700000" algn="tl">
                    <a:srgbClr val="000000">
                      <a:alpha val="43137"/>
                    </a:srgbClr>
                  </a:outerShdw>
                </a:effectLst>
                <a:latin typeface="Times New Roman" panose="02020603050405020304" pitchFamily="18" charset="0"/>
              </a:rPr>
              <a:t>//P1.0</a:t>
            </a:r>
            <a:r>
              <a:rPr lang="zh-CN" altLang="en-US" sz="2400" b="1" noProof="1">
                <a:solidFill>
                  <a:schemeClr val="hlink"/>
                </a:solidFill>
                <a:effectLst>
                  <a:outerShdw blurRad="38100" dist="38100" dir="2700000" algn="tl">
                    <a:srgbClr val="000000">
                      <a:alpha val="43137"/>
                    </a:srgbClr>
                  </a:outerShdw>
                </a:effectLst>
                <a:latin typeface="Times New Roman" panose="02020603050405020304" pitchFamily="18" charset="0"/>
              </a:rPr>
              <a:t>口的灯点亮</a:t>
            </a:r>
          </a:p>
          <a:p>
            <a:pPr eaLnBrk="1" hangingPunct="1">
              <a:lnSpc>
                <a:spcPct val="95000"/>
              </a:lnSpc>
              <a:defRPr/>
            </a:pPr>
            <a:r>
              <a:rPr lang="zh-CN" altLang="en-US" sz="2400" b="1" noProof="1">
                <a:effectLst>
                  <a:outerShdw blurRad="38100" dist="38100" dir="2700000" algn="tl">
                    <a:srgbClr val="000000">
                      <a:alpha val="43137"/>
                    </a:srgbClr>
                  </a:outerShdw>
                </a:effectLst>
                <a:latin typeface="Times New Roman" panose="02020603050405020304" pitchFamily="18" charset="0"/>
              </a:rPr>
              <a:t>		  </a:t>
            </a:r>
            <a:r>
              <a:rPr lang="en-US" altLang="zh-CN" sz="2400" b="1" noProof="1">
                <a:effectLst>
                  <a:outerShdw blurRad="38100" dist="38100" dir="2700000" algn="tl">
                    <a:srgbClr val="000000">
                      <a:alpha val="43137"/>
                    </a:srgbClr>
                  </a:outerShdw>
                </a:effectLst>
                <a:latin typeface="Times New Roman" panose="02020603050405020304" pitchFamily="18" charset="0"/>
              </a:rPr>
              <a:t>int_delay(); //</a:t>
            </a:r>
            <a:r>
              <a:rPr lang="zh-CN" altLang="en-US" sz="2400" b="1" noProof="1">
                <a:effectLst>
                  <a:outerShdw blurRad="38100" dist="38100" dir="2700000" algn="tl">
                    <a:srgbClr val="000000">
                      <a:alpha val="43137"/>
                    </a:srgbClr>
                  </a:outerShdw>
                </a:effectLst>
                <a:latin typeface="Times New Roman" panose="02020603050405020304" pitchFamily="18" charset="0"/>
              </a:rPr>
              <a:t>延时一段较长的时间</a:t>
            </a:r>
          </a:p>
          <a:p>
            <a:pPr eaLnBrk="1" hangingPunct="1">
              <a:lnSpc>
                <a:spcPct val="95000"/>
              </a:lnSpc>
              <a:defRPr/>
            </a:pPr>
            <a:r>
              <a:rPr lang="zh-CN" altLang="en-US" sz="2400" b="1" noProof="1">
                <a:effectLst>
                  <a:outerShdw blurRad="38100" dist="38100" dir="2700000" algn="tl">
                    <a:srgbClr val="000000">
                      <a:alpha val="43137"/>
                    </a:srgbClr>
                  </a:outerShdw>
                </a:effectLst>
                <a:latin typeface="Times New Roman" panose="02020603050405020304" pitchFamily="18" charset="0"/>
              </a:rPr>
              <a:t>		  </a:t>
            </a:r>
            <a:r>
              <a:rPr lang="en-US" altLang="zh-CN" sz="2400" b="1" noProof="1">
                <a:effectLst>
                  <a:outerShdw blurRad="38100" dist="38100" dir="2700000" algn="tl">
                    <a:srgbClr val="000000">
                      <a:alpha val="43137"/>
                    </a:srgbClr>
                  </a:outerShdw>
                </a:effectLst>
                <a:latin typeface="Times New Roman" panose="02020603050405020304" pitchFamily="18" charset="0"/>
              </a:rPr>
              <a:t>P1=0xff;     </a:t>
            </a:r>
            <a:r>
              <a:rPr lang="en-US" altLang="zh-CN" sz="2400" b="1" noProof="1">
                <a:solidFill>
                  <a:schemeClr val="hlink"/>
                </a:solidFill>
                <a:effectLst>
                  <a:outerShdw blurRad="38100" dist="38100" dir="2700000" algn="tl">
                    <a:srgbClr val="000000">
                      <a:alpha val="43137"/>
                    </a:srgbClr>
                  </a:outerShdw>
                </a:effectLst>
                <a:latin typeface="Times New Roman" panose="02020603050405020304" pitchFamily="18" charset="0"/>
              </a:rPr>
              <a:t>//</a:t>
            </a:r>
            <a:r>
              <a:rPr lang="zh-CN" altLang="en-US" sz="2400" b="1" noProof="1">
                <a:solidFill>
                  <a:schemeClr val="hlink"/>
                </a:solidFill>
                <a:effectLst>
                  <a:outerShdw blurRad="38100" dist="38100" dir="2700000" algn="tl">
                    <a:srgbClr val="000000">
                      <a:alpha val="43137"/>
                    </a:srgbClr>
                  </a:outerShdw>
                </a:effectLst>
                <a:latin typeface="Times New Roman" panose="02020603050405020304" pitchFamily="18" charset="0"/>
              </a:rPr>
              <a:t>熄灭</a:t>
            </a:r>
          </a:p>
          <a:p>
            <a:pPr eaLnBrk="1" hangingPunct="1">
              <a:lnSpc>
                <a:spcPct val="95000"/>
              </a:lnSpc>
              <a:defRPr/>
            </a:pPr>
            <a:r>
              <a:rPr lang="zh-CN" altLang="en-US" sz="2400" b="1" noProof="1">
                <a:effectLst>
                  <a:outerShdw blurRad="38100" dist="38100" dir="2700000" algn="tl">
                    <a:srgbClr val="000000">
                      <a:alpha val="43137"/>
                    </a:srgbClr>
                  </a:outerShdw>
                </a:effectLst>
                <a:latin typeface="Times New Roman" panose="02020603050405020304" pitchFamily="18" charset="0"/>
              </a:rPr>
              <a:t>		  </a:t>
            </a:r>
            <a:r>
              <a:rPr lang="en-US" altLang="zh-CN" sz="2400" b="1" noProof="1">
                <a:effectLst>
                  <a:outerShdw blurRad="38100" dist="38100" dir="2700000" algn="tl">
                    <a:srgbClr val="000000">
                      <a:alpha val="43137"/>
                    </a:srgbClr>
                  </a:outerShdw>
                </a:effectLst>
                <a:latin typeface="Times New Roman" panose="02020603050405020304" pitchFamily="18" charset="0"/>
              </a:rPr>
              <a:t>int_delay(); //</a:t>
            </a:r>
            <a:r>
              <a:rPr lang="zh-CN" altLang="en-US" sz="2400" b="1" noProof="1">
                <a:effectLst>
                  <a:outerShdw blurRad="38100" dist="38100" dir="2700000" algn="tl">
                    <a:srgbClr val="000000">
                      <a:alpha val="43137"/>
                    </a:srgbClr>
                  </a:outerShdw>
                </a:effectLst>
                <a:latin typeface="Times New Roman" panose="02020603050405020304" pitchFamily="18" charset="0"/>
              </a:rPr>
              <a:t>延时一段较长的时间</a:t>
            </a:r>
          </a:p>
          <a:p>
            <a:pPr eaLnBrk="1" hangingPunct="1">
              <a:lnSpc>
                <a:spcPct val="95000"/>
              </a:lnSpc>
              <a:defRPr/>
            </a:pPr>
            <a:r>
              <a:rPr lang="zh-CN" altLang="en-US" sz="2400" b="1" noProof="1">
                <a:effectLst>
                  <a:outerShdw blurRad="38100" dist="38100" dir="2700000" algn="tl">
                    <a:srgbClr val="000000">
                      <a:alpha val="43137"/>
                    </a:srgbClr>
                  </a:outerShdw>
                </a:effectLst>
                <a:latin typeface="Times New Roman" panose="02020603050405020304" pitchFamily="18" charset="0"/>
              </a:rPr>
              <a:t>		 </a:t>
            </a:r>
            <a:r>
              <a:rPr lang="zh-CN" altLang="zh-CN" sz="2400" b="1" noProof="1">
                <a:effectLst>
                  <a:outerShdw blurRad="38100" dist="38100" dir="2700000" algn="tl">
                    <a:srgbClr val="000000">
                      <a:alpha val="43137"/>
                    </a:srgbClr>
                  </a:outerShdw>
                </a:effectLst>
                <a:latin typeface="Times New Roman" panose="02020603050405020304" pitchFamily="18" charset="0"/>
              </a:rPr>
              <a:t>}</a:t>
            </a:r>
          </a:p>
          <a:p>
            <a:pPr eaLnBrk="1" hangingPunct="1">
              <a:lnSpc>
                <a:spcPct val="95000"/>
              </a:lnSpc>
              <a:defRPr/>
            </a:pPr>
            <a:r>
              <a:rPr lang="zh-CN" altLang="zh-CN" sz="2400" b="1" noProof="1">
                <a:effectLst>
                  <a:outerShdw blurRad="38100" dist="38100" dir="2700000" algn="tl">
                    <a:srgbClr val="000000">
                      <a:alpha val="43137"/>
                    </a:srgbClr>
                  </a:outerShdw>
                </a:effectLst>
                <a:latin typeface="Times New Roman" panose="02020603050405020304" pitchFamily="18" charset="0"/>
              </a:rPr>
              <a:t>     </a:t>
            </a:r>
            <a:r>
              <a:rPr lang="en-US" altLang="zh-CN" sz="2400" b="1" dirty="0">
                <a:effectLst>
                  <a:outerShdw blurRad="38100" dist="38100" dir="2700000" algn="tl">
                    <a:srgbClr val="000000">
                      <a:alpha val="43137"/>
                    </a:srgbClr>
                  </a:outerShdw>
                </a:effectLst>
                <a:latin typeface="Times New Roman" panose="02020603050405020304" pitchFamily="18" charset="0"/>
              </a:rPr>
              <a:t>         </a:t>
            </a:r>
            <a:r>
              <a:rPr lang="en-US" altLang="zh-CN" sz="2400" b="1" noProof="1">
                <a:effectLst>
                  <a:outerShdw blurRad="38100" dist="38100" dir="2700000" algn="tl">
                    <a:srgbClr val="000000">
                      <a:alpha val="43137"/>
                    </a:srgbClr>
                  </a:outerShdw>
                </a:effectLst>
                <a:latin typeface="Times New Roman" panose="02020603050405020304" pitchFamily="18" charset="0"/>
              </a:rPr>
              <a:t>for(i=0;i&lt;3;i++)</a:t>
            </a:r>
          </a:p>
          <a:p>
            <a:pPr eaLnBrk="1" hangingPunct="1">
              <a:lnSpc>
                <a:spcPct val="95000"/>
              </a:lnSpc>
              <a:defRPr/>
            </a:pPr>
            <a:r>
              <a:rPr lang="en-US" altLang="zh-CN" sz="2400" b="1" noProof="1">
                <a:effectLst>
                  <a:outerShdw blurRad="38100" dist="38100" dir="2700000" algn="tl">
                    <a:srgbClr val="000000">
                      <a:alpha val="43137"/>
                    </a:srgbClr>
                  </a:outerShdw>
                </a:effectLst>
                <a:latin typeface="Times New Roman" panose="02020603050405020304" pitchFamily="18" charset="0"/>
              </a:rPr>
              <a:t>		 {</a:t>
            </a:r>
          </a:p>
          <a:p>
            <a:pPr eaLnBrk="1" hangingPunct="1">
              <a:lnSpc>
                <a:spcPct val="95000"/>
              </a:lnSpc>
              <a:defRPr/>
            </a:pPr>
            <a:r>
              <a:rPr lang="en-US" altLang="zh-CN" sz="2400" b="1" noProof="1">
                <a:effectLst>
                  <a:outerShdw blurRad="38100" dist="38100" dir="2700000" algn="tl">
                    <a:srgbClr val="000000">
                      <a:alpha val="43137"/>
                    </a:srgbClr>
                  </a:outerShdw>
                </a:effectLst>
                <a:latin typeface="Times New Roman" panose="02020603050405020304" pitchFamily="18" charset="0"/>
              </a:rPr>
              <a:t>	     </a:t>
            </a:r>
            <a:r>
              <a:rPr lang="en-US" altLang="zh-CN" sz="2400" b="1" dirty="0">
                <a:effectLst>
                  <a:outerShdw blurRad="38100" dist="38100" dir="2700000" algn="tl">
                    <a:srgbClr val="000000">
                      <a:alpha val="43137"/>
                    </a:srgbClr>
                  </a:outerShdw>
                </a:effectLst>
                <a:latin typeface="Times New Roman" panose="02020603050405020304" pitchFamily="18" charset="0"/>
              </a:rPr>
              <a:t>         </a:t>
            </a:r>
            <a:r>
              <a:rPr lang="en-US" altLang="zh-CN" sz="2400" b="1" noProof="1">
                <a:effectLst>
                  <a:outerShdw blurRad="38100" dist="38100" dir="2700000" algn="tl">
                    <a:srgbClr val="000000">
                      <a:alpha val="43137"/>
                    </a:srgbClr>
                  </a:outerShdw>
                </a:effectLst>
                <a:latin typeface="Times New Roman" panose="02020603050405020304" pitchFamily="18" charset="0"/>
              </a:rPr>
              <a:t>P1=0xef;     //P1.4</a:t>
            </a:r>
            <a:r>
              <a:rPr lang="zh-CN" altLang="en-US" sz="2400" b="1" noProof="1">
                <a:effectLst>
                  <a:outerShdw blurRad="38100" dist="38100" dir="2700000" algn="tl">
                    <a:srgbClr val="000000">
                      <a:alpha val="43137"/>
                    </a:srgbClr>
                  </a:outerShdw>
                </a:effectLst>
                <a:latin typeface="Times New Roman" panose="02020603050405020304" pitchFamily="18" charset="0"/>
              </a:rPr>
              <a:t>口的灯点亮</a:t>
            </a:r>
          </a:p>
          <a:p>
            <a:pPr eaLnBrk="1" hangingPunct="1">
              <a:lnSpc>
                <a:spcPct val="95000"/>
              </a:lnSpc>
              <a:defRPr/>
            </a:pPr>
            <a:r>
              <a:rPr lang="zh-CN" altLang="en-US" sz="2400" b="1" noProof="1">
                <a:effectLst>
                  <a:outerShdw blurRad="38100" dist="38100" dir="2700000" algn="tl">
                    <a:srgbClr val="000000">
                      <a:alpha val="43137"/>
                    </a:srgbClr>
                  </a:outerShdw>
                </a:effectLst>
                <a:latin typeface="Times New Roman" panose="02020603050405020304" pitchFamily="18" charset="0"/>
              </a:rPr>
              <a:t>		  </a:t>
            </a:r>
            <a:r>
              <a:rPr lang="en-US" altLang="zh-CN" sz="2400" b="1" noProof="1">
                <a:effectLst>
                  <a:outerShdw blurRad="38100" dist="38100" dir="2700000" algn="tl">
                    <a:srgbClr val="000000">
                      <a:alpha val="43137"/>
                    </a:srgbClr>
                  </a:outerShdw>
                </a:effectLst>
                <a:latin typeface="Times New Roman" panose="02020603050405020304" pitchFamily="18" charset="0"/>
              </a:rPr>
              <a:t>char_delay(); //</a:t>
            </a:r>
            <a:r>
              <a:rPr lang="zh-CN" altLang="en-US" sz="2400" b="1" noProof="1">
                <a:effectLst>
                  <a:outerShdw blurRad="38100" dist="38100" dir="2700000" algn="tl">
                    <a:srgbClr val="000000">
                      <a:alpha val="43137"/>
                    </a:srgbClr>
                  </a:outerShdw>
                </a:effectLst>
                <a:latin typeface="Times New Roman" panose="02020603050405020304" pitchFamily="18" charset="0"/>
              </a:rPr>
              <a:t>延时一段较长的时间</a:t>
            </a:r>
          </a:p>
          <a:p>
            <a:pPr eaLnBrk="1" hangingPunct="1">
              <a:lnSpc>
                <a:spcPct val="95000"/>
              </a:lnSpc>
              <a:defRPr/>
            </a:pPr>
            <a:r>
              <a:rPr lang="zh-CN" altLang="en-US" sz="2400" b="1" noProof="1">
                <a:effectLst>
                  <a:outerShdw blurRad="38100" dist="38100" dir="2700000" algn="tl">
                    <a:srgbClr val="000000">
                      <a:alpha val="43137"/>
                    </a:srgbClr>
                  </a:outerShdw>
                </a:effectLst>
                <a:latin typeface="Times New Roman" panose="02020603050405020304" pitchFamily="18" charset="0"/>
              </a:rPr>
              <a:t>		  </a:t>
            </a:r>
            <a:r>
              <a:rPr lang="en-US" altLang="zh-CN" sz="2400" b="1" noProof="1">
                <a:effectLst>
                  <a:outerShdw blurRad="38100" dist="38100" dir="2700000" algn="tl">
                    <a:srgbClr val="000000">
                      <a:alpha val="43137"/>
                    </a:srgbClr>
                  </a:outerShdw>
                </a:effectLst>
                <a:latin typeface="Times New Roman" panose="02020603050405020304" pitchFamily="18" charset="0"/>
              </a:rPr>
              <a:t>P1=0xff;     //</a:t>
            </a:r>
            <a:r>
              <a:rPr lang="zh-CN" altLang="en-US" sz="2400" b="1" noProof="1">
                <a:effectLst>
                  <a:outerShdw blurRad="38100" dist="38100" dir="2700000" algn="tl">
                    <a:srgbClr val="000000">
                      <a:alpha val="43137"/>
                    </a:srgbClr>
                  </a:outerShdw>
                </a:effectLst>
                <a:latin typeface="Times New Roman" panose="02020603050405020304" pitchFamily="18" charset="0"/>
              </a:rPr>
              <a:t>熄灭</a:t>
            </a:r>
          </a:p>
          <a:p>
            <a:pPr eaLnBrk="1" hangingPunct="1">
              <a:lnSpc>
                <a:spcPct val="95000"/>
              </a:lnSpc>
              <a:defRPr/>
            </a:pPr>
            <a:r>
              <a:rPr lang="zh-CN" altLang="en-US" sz="2400" b="1" noProof="1">
                <a:effectLst>
                  <a:outerShdw blurRad="38100" dist="38100" dir="2700000" algn="tl">
                    <a:srgbClr val="000000">
                      <a:alpha val="43137"/>
                    </a:srgbClr>
                  </a:outerShdw>
                </a:effectLst>
                <a:latin typeface="Times New Roman" panose="02020603050405020304" pitchFamily="18" charset="0"/>
              </a:rPr>
              <a:t>		  </a:t>
            </a:r>
            <a:r>
              <a:rPr lang="en-US" altLang="zh-CN" sz="2400" b="1" noProof="1">
                <a:effectLst>
                  <a:outerShdw blurRad="38100" dist="38100" dir="2700000" algn="tl">
                    <a:srgbClr val="000000">
                      <a:alpha val="43137"/>
                    </a:srgbClr>
                  </a:outerShdw>
                </a:effectLst>
                <a:latin typeface="Times New Roman" panose="02020603050405020304" pitchFamily="18" charset="0"/>
              </a:rPr>
              <a:t>char_delay(); //</a:t>
            </a:r>
            <a:r>
              <a:rPr lang="zh-CN" altLang="en-US" sz="2400" b="1" noProof="1">
                <a:effectLst>
                  <a:outerShdw blurRad="38100" dist="38100" dir="2700000" algn="tl">
                    <a:srgbClr val="000000">
                      <a:alpha val="43137"/>
                    </a:srgbClr>
                  </a:outerShdw>
                </a:effectLst>
                <a:latin typeface="Times New Roman" panose="02020603050405020304" pitchFamily="18" charset="0"/>
              </a:rPr>
              <a:t>延时一段较长的时间</a:t>
            </a:r>
          </a:p>
          <a:p>
            <a:pPr eaLnBrk="1" hangingPunct="1">
              <a:lnSpc>
                <a:spcPct val="95000"/>
              </a:lnSpc>
              <a:defRPr/>
            </a:pPr>
            <a:r>
              <a:rPr lang="zh-CN" altLang="en-US" sz="2400" b="1" noProof="1">
                <a:effectLst>
                  <a:outerShdw blurRad="38100" dist="38100" dir="2700000" algn="tl">
                    <a:srgbClr val="000000">
                      <a:alpha val="43137"/>
                    </a:srgbClr>
                  </a:outerShdw>
                </a:effectLst>
                <a:latin typeface="Times New Roman" panose="02020603050405020304" pitchFamily="18" charset="0"/>
              </a:rPr>
              <a:t>		 </a:t>
            </a:r>
            <a:r>
              <a:rPr lang="zh-CN" altLang="zh-CN" sz="2400" b="1" noProof="1">
                <a:effectLst>
                  <a:outerShdw blurRad="38100" dist="38100" dir="2700000" algn="tl">
                    <a:srgbClr val="000000">
                      <a:alpha val="43137"/>
                    </a:srgbClr>
                  </a:outerShdw>
                </a:effectLst>
                <a:latin typeface="Times New Roman" panose="02020603050405020304" pitchFamily="18" charset="0"/>
              </a:rPr>
              <a:t>}	 </a:t>
            </a:r>
          </a:p>
          <a:p>
            <a:pPr eaLnBrk="1" hangingPunct="1">
              <a:lnSpc>
                <a:spcPct val="95000"/>
              </a:lnSpc>
              <a:defRPr/>
            </a:pPr>
            <a:r>
              <a:rPr lang="zh-CN" altLang="zh-CN" sz="2400" b="1" noProof="1">
                <a:effectLst>
                  <a:outerShdw blurRad="38100" dist="38100" dir="2700000" algn="tl">
                    <a:srgbClr val="000000">
                      <a:alpha val="43137"/>
                    </a:srgbClr>
                  </a:outerShdw>
                </a:effectLst>
                <a:latin typeface="Times New Roman" panose="02020603050405020304" pitchFamily="18" charset="0"/>
              </a:rPr>
              <a:t>	  }</a:t>
            </a:r>
          </a:p>
          <a:p>
            <a:pPr eaLnBrk="1" hangingPunct="1">
              <a:lnSpc>
                <a:spcPct val="95000"/>
              </a:lnSpc>
              <a:defRPr/>
            </a:pPr>
            <a:r>
              <a:rPr lang="zh-CN" altLang="zh-CN" sz="2400" b="1" noProof="1">
                <a:effectLst>
                  <a:outerShdw blurRad="38100" dist="38100" dir="2700000" algn="tl">
                    <a:srgbClr val="000000">
                      <a:alpha val="43137"/>
                    </a:srgbClr>
                  </a:outerShdw>
                </a:effectLst>
                <a:latin typeface="Times New Roman" panose="02020603050405020304" pitchFamily="18" charset="0"/>
              </a:rPr>
              <a:t> }</a:t>
            </a:r>
            <a:endParaRPr lang="en-US" altLang="zh-CN" sz="2400" b="1" dirty="0">
              <a:effectLst>
                <a:outerShdw blurRad="38100" dist="38100" dir="2700000" algn="tl">
                  <a:srgbClr val="000000">
                    <a:alpha val="43137"/>
                  </a:srgbClr>
                </a:outerShdw>
              </a:effectLst>
              <a:latin typeface="Times New Roman" panose="0202060305040502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611188" y="441325"/>
            <a:ext cx="8188325" cy="622300"/>
          </a:xfrm>
          <a:prstGeom prst="rect">
            <a:avLst/>
          </a:prstGeom>
        </p:spPr>
        <p:txBody>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a:lstStyle>
          <a:p>
            <a:pPr eaLnBrk="1" hangingPunct="1">
              <a:defRPr/>
            </a:pPr>
            <a:r>
              <a:rPr lang="zh-CN" altLang="en-US" sz="3200" b="1" dirty="0">
                <a:solidFill>
                  <a:schemeClr val="tx1"/>
                </a:solidFill>
                <a:effectLst>
                  <a:outerShdw blurRad="38100" dist="38100" dir="2700000" algn="tl">
                    <a:srgbClr val="000000">
                      <a:alpha val="43137"/>
                    </a:srgbClr>
                  </a:outerShdw>
                </a:effectLst>
                <a:latin typeface="宋体" panose="02010600030101010101" pitchFamily="2" charset="-122"/>
              </a:rPr>
              <a:t>例</a:t>
            </a:r>
            <a:r>
              <a:rPr lang="en-US" altLang="zh-CN" sz="3200" b="1" dirty="0">
                <a:solidFill>
                  <a:schemeClr val="tx1"/>
                </a:solidFill>
                <a:effectLst>
                  <a:outerShdw blurRad="38100" dist="38100" dir="2700000" algn="tl">
                    <a:srgbClr val="000000">
                      <a:alpha val="43137"/>
                    </a:srgbClr>
                  </a:outerShdw>
                </a:effectLst>
                <a:latin typeface="宋体" panose="02010600030101010101" pitchFamily="2" charset="-122"/>
              </a:rPr>
              <a:t>6</a:t>
            </a:r>
            <a:r>
              <a:rPr lang="zh-CN" altLang="en-US" sz="3200" b="1" dirty="0">
                <a:solidFill>
                  <a:schemeClr val="tx1"/>
                </a:solidFill>
                <a:effectLst>
                  <a:outerShdw blurRad="38100" dist="38100" dir="2700000" algn="tl">
                    <a:srgbClr val="000000">
                      <a:alpha val="43137"/>
                    </a:srgbClr>
                  </a:outerShdw>
                </a:effectLst>
                <a:latin typeface="宋体" panose="02010600030101010101" pitchFamily="2" charset="-122"/>
              </a:rPr>
              <a:t>：用自增运算控制</a:t>
            </a:r>
            <a:r>
              <a:rPr lang="en-US" altLang="zh-CN" sz="3200" b="1" dirty="0">
                <a:solidFill>
                  <a:schemeClr val="tx1"/>
                </a:solidFill>
                <a:effectLst>
                  <a:outerShdw blurRad="38100" dist="38100" dir="2700000" algn="tl">
                    <a:srgbClr val="000000">
                      <a:alpha val="43137"/>
                    </a:srgbClr>
                  </a:outerShdw>
                </a:effectLst>
                <a:latin typeface="宋体" panose="02010600030101010101" pitchFamily="2" charset="-122"/>
              </a:rPr>
              <a:t>P0</a:t>
            </a:r>
            <a:r>
              <a:rPr lang="zh-CN" altLang="en-US" sz="3200" b="1" dirty="0">
                <a:solidFill>
                  <a:schemeClr val="tx1"/>
                </a:solidFill>
                <a:effectLst>
                  <a:outerShdw blurRad="38100" dist="38100" dir="2700000" algn="tl">
                    <a:srgbClr val="000000">
                      <a:alpha val="43137"/>
                    </a:srgbClr>
                  </a:outerShdw>
                </a:effectLst>
                <a:latin typeface="宋体" panose="02010600030101010101" pitchFamily="2" charset="-122"/>
              </a:rPr>
              <a:t>口</a:t>
            </a:r>
            <a:r>
              <a:rPr lang="en-US" altLang="zh-CN" sz="3200" b="1" dirty="0">
                <a:solidFill>
                  <a:schemeClr val="tx1"/>
                </a:solidFill>
                <a:effectLst>
                  <a:outerShdw blurRad="38100" dist="38100" dir="2700000" algn="tl">
                    <a:srgbClr val="000000">
                      <a:alpha val="43137"/>
                    </a:srgbClr>
                  </a:outerShdw>
                </a:effectLst>
                <a:latin typeface="宋体" panose="02010600030101010101" pitchFamily="2" charset="-122"/>
              </a:rPr>
              <a:t>8</a:t>
            </a:r>
            <a:r>
              <a:rPr lang="zh-CN" altLang="en-US" sz="3200" b="1" dirty="0">
                <a:solidFill>
                  <a:schemeClr val="tx1"/>
                </a:solidFill>
                <a:effectLst>
                  <a:outerShdw blurRad="38100" dist="38100" dir="2700000" algn="tl">
                    <a:srgbClr val="000000">
                      <a:alpha val="43137"/>
                    </a:srgbClr>
                  </a:outerShdw>
                </a:effectLst>
                <a:latin typeface="宋体" panose="02010600030101010101" pitchFamily="2" charset="-122"/>
              </a:rPr>
              <a:t>位</a:t>
            </a:r>
            <a:r>
              <a:rPr lang="en-US" altLang="zh-CN" sz="3200" b="1" dirty="0">
                <a:solidFill>
                  <a:schemeClr val="tx1"/>
                </a:solidFill>
                <a:effectLst>
                  <a:outerShdw blurRad="38100" dist="38100" dir="2700000" algn="tl">
                    <a:srgbClr val="000000">
                      <a:alpha val="43137"/>
                    </a:srgbClr>
                  </a:outerShdw>
                </a:effectLst>
                <a:latin typeface="宋体" panose="02010600030101010101" pitchFamily="2" charset="-122"/>
              </a:rPr>
              <a:t>LED</a:t>
            </a:r>
            <a:r>
              <a:rPr lang="zh-CN" altLang="en-US" sz="3200" b="1" dirty="0">
                <a:solidFill>
                  <a:schemeClr val="tx1"/>
                </a:solidFill>
                <a:effectLst>
                  <a:outerShdw blurRad="38100" dist="38100" dir="2700000" algn="tl">
                    <a:srgbClr val="000000">
                      <a:alpha val="43137"/>
                    </a:srgbClr>
                  </a:outerShdw>
                </a:effectLst>
                <a:latin typeface="宋体" panose="02010600030101010101" pitchFamily="2" charset="-122"/>
              </a:rPr>
              <a:t>灯花样闪烁</a:t>
            </a:r>
          </a:p>
        </p:txBody>
      </p:sp>
      <p:pic>
        <p:nvPicPr>
          <p:cNvPr id="4813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7375" y="1641475"/>
            <a:ext cx="5410200" cy="415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3756025"/>
            <a:ext cx="4392612" cy="218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1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404813"/>
            <a:ext cx="7561262" cy="315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DlhNzhkNzI3NzgzMjVmNTVjOTdmNzdiNmViZTJjM2MifQ=="/>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Blends</Template>
  <TotalTime>276</TotalTime>
  <Words>4356</Words>
  <Application>Microsoft Office PowerPoint</Application>
  <PresentationFormat>全屏显示(4:3)</PresentationFormat>
  <Paragraphs>380</Paragraphs>
  <Slides>66</Slides>
  <Notes>13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66</vt:i4>
      </vt:variant>
    </vt:vector>
  </HeadingPairs>
  <TitlesOfParts>
    <vt:vector size="79" baseType="lpstr">
      <vt:lpstr>仿宋_GB2312</vt:lpstr>
      <vt:lpstr>黑体</vt:lpstr>
      <vt:lpstr>楷体</vt:lpstr>
      <vt:lpstr>楷体_GB2312</vt:lpstr>
      <vt:lpstr>宋体</vt:lpstr>
      <vt:lpstr>Arial</vt:lpstr>
      <vt:lpstr>Arial Black</vt:lpstr>
      <vt:lpstr>Calibri</vt:lpstr>
      <vt:lpstr>Symbol</vt:lpstr>
      <vt:lpstr>Tahoma</vt:lpstr>
      <vt:lpstr>Times New Roman</vt:lpstr>
      <vt:lpstr>Wingdings</vt:lpstr>
      <vt:lpstr>Blends</vt:lpstr>
      <vt:lpstr>PowerPoint 演示文稿</vt:lpstr>
      <vt:lpstr>3.1 C51语言概述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C51语言源程序的结构</vt:lpstr>
      <vt:lpstr>PowerPoint 演示文稿</vt:lpstr>
      <vt:lpstr>3.4 C51的变量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2.特殊功能寄存器sfr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C语言的语句</vt:lpstr>
      <vt:lpstr>延时程序</vt:lpstr>
      <vt:lpstr>反汇编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例5：使用不同数据类型的变量控制LED灯闪烁。（两种延时程序）</vt:lpstr>
      <vt:lpstr>PowerPoint 演示文稿</vt:lpstr>
      <vt:lpstr>PowerPoint 演示文稿</vt:lpstr>
      <vt:lpstr>PowerPoint 演示文稿</vt:lpstr>
      <vt:lpstr>PowerPoint 演示文稿</vt:lpstr>
      <vt:lpstr>PowerPoint 演示文稿</vt:lpstr>
      <vt:lpstr>PowerPoint 演示文稿</vt:lpstr>
    </vt:vector>
  </TitlesOfParts>
  <Company>Lenovo (Beijing)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Lenovo User</dc:creator>
  <cp:lastModifiedBy>admin</cp:lastModifiedBy>
  <cp:revision>90</cp:revision>
  <dcterms:created xsi:type="dcterms:W3CDTF">2013-01-22T03:14:00Z</dcterms:created>
  <dcterms:modified xsi:type="dcterms:W3CDTF">2025-03-04T13:18:25Z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22A01A7F5E6C466D8E2C50D52496D735</vt:lpwstr>
  </property>
  <property fmtid="{D5CDD505-2E9C-101B-9397-08002B2CF9AE}" pid="3" name="KSOProductBuildVer">
    <vt:lpwstr>2052-11.1.0.12358</vt:lpwstr>
  </property>
</Properties>
</file>