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8"/>
  </p:notesMasterIdLst>
  <p:sldIdLst>
    <p:sldId id="327" r:id="rId2"/>
    <p:sldId id="328" r:id="rId3"/>
    <p:sldId id="379" r:id="rId4"/>
    <p:sldId id="331" r:id="rId5"/>
    <p:sldId id="429" r:id="rId6"/>
    <p:sldId id="428" r:id="rId7"/>
    <p:sldId id="344" r:id="rId8"/>
    <p:sldId id="430" r:id="rId9"/>
    <p:sldId id="1359" r:id="rId10"/>
    <p:sldId id="403" r:id="rId11"/>
    <p:sldId id="404" r:id="rId12"/>
    <p:sldId id="380" r:id="rId13"/>
    <p:sldId id="381" r:id="rId14"/>
    <p:sldId id="383" r:id="rId15"/>
    <p:sldId id="384" r:id="rId16"/>
    <p:sldId id="385" r:id="rId17"/>
    <p:sldId id="405" r:id="rId18"/>
    <p:sldId id="420" r:id="rId19"/>
    <p:sldId id="421" r:id="rId20"/>
    <p:sldId id="1360" r:id="rId21"/>
    <p:sldId id="402" r:id="rId22"/>
    <p:sldId id="398" r:id="rId23"/>
    <p:sldId id="334" r:id="rId24"/>
    <p:sldId id="335" r:id="rId25"/>
    <p:sldId id="350" r:id="rId26"/>
    <p:sldId id="339" r:id="rId2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CC"/>
    <a:srgbClr val="FFCC00"/>
    <a:srgbClr val="0000FF"/>
    <a:srgbClr val="FF00FF"/>
    <a:srgbClr val="FFFF00"/>
    <a:srgbClr val="00006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013" autoAdjust="0"/>
  </p:normalViewPr>
  <p:slideViewPr>
    <p:cSldViewPr>
      <p:cViewPr varScale="1">
        <p:scale>
          <a:sx n="52" d="100"/>
          <a:sy n="52" d="100"/>
        </p:scale>
        <p:origin x="37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2.xml"/><Relationship Id="rId2" Type="http://schemas.openxmlformats.org/officeDocument/2006/relationships/slide" Target="slides/slide4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emf"/><Relationship Id="rId4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104C422-0F19-4717-A72E-41BE20A50E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F9C90546-13B0-40D0-89DD-90AA68975E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580464A-CE7D-49EB-9674-A1A6EA42953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5A7F6E68-E52C-49E7-997F-7CD7BD5C33D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FE748DA9-E2DA-4A96-92E0-5A79B4D96C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>
            <a:extLst>
              <a:ext uri="{FF2B5EF4-FFF2-40B4-BE49-F238E27FC236}">
                <a16:creationId xmlns:a16="http://schemas.microsoft.com/office/drawing/2014/main" id="{20B80B51-7D54-4B97-AD8D-992A786F72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anose="02020603050405020304" pitchFamily="18" charset="0"/>
              </a:defRPr>
            </a:lvl1pPr>
          </a:lstStyle>
          <a:p>
            <a:fld id="{1BBD0EDF-D966-45DE-AE07-1E967DA1394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6812F39-48B5-4224-82F3-98495C37D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19CEC6E-F7D7-4DD1-B524-F125B6B4B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E61D483-B371-442B-BE3F-623979D910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5779D0C-9BD4-4374-A343-242C91375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D46BC55-2F0B-4233-9AF3-865781B059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7867900-08E3-4D67-9DC2-ACCF3E14D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126F975-2547-4CC4-81AC-C62944DFBE1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1703A7B-E8D6-4B60-BC04-8FA662CE56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969AEEFA-5211-4D56-9E43-0FE857A3CD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5E68F357-18D3-4F68-BCDB-5F4A8A2AB4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F4521FE-9F52-44A1-A723-7CB3C4E5EC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8 w 1722"/>
                <a:gd name="T1" fmla="*/ 64 h 66"/>
                <a:gd name="T2" fmla="*/ 1718 w 1722"/>
                <a:gd name="T3" fmla="*/ 58 h 66"/>
                <a:gd name="T4" fmla="*/ 0 w 1722"/>
                <a:gd name="T5" fmla="*/ 0 h 66"/>
                <a:gd name="T6" fmla="*/ 0 w 1722"/>
                <a:gd name="T7" fmla="*/ 46 h 66"/>
                <a:gd name="T8" fmla="*/ 1718 w 1722"/>
                <a:gd name="T9" fmla="*/ 64 h 66"/>
                <a:gd name="T10" fmla="*/ 1718 w 1722"/>
                <a:gd name="T11" fmla="*/ 64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6F29CD8-8498-45A9-82EB-8C12EEE21C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32D126F4-A6BD-4F34-93F4-2766018453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3 w 975"/>
                <a:gd name="T1" fmla="*/ 48 h 101"/>
                <a:gd name="T2" fmla="*/ 973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3 w 975"/>
                <a:gd name="T9" fmla="*/ 48 h 101"/>
                <a:gd name="T10" fmla="*/ 973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C234808-29CF-4448-A999-A606628711D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7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7 w 2141"/>
                <a:gd name="T7" fmla="*/ 0 h 198"/>
                <a:gd name="T8" fmla="*/ 2137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97749873-8ED8-4925-8490-0CA700D8D3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29CD0F9-76E2-4758-8C23-A126889368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6 w 2517"/>
                <a:gd name="T1" fmla="*/ 276 h 276"/>
                <a:gd name="T2" fmla="*/ 2511 w 2517"/>
                <a:gd name="T3" fmla="*/ 204 h 276"/>
                <a:gd name="T4" fmla="*/ 2254 w 2517"/>
                <a:gd name="T5" fmla="*/ 0 h 276"/>
                <a:gd name="T6" fmla="*/ 0 w 2517"/>
                <a:gd name="T7" fmla="*/ 276 h 276"/>
                <a:gd name="T8" fmla="*/ 2176 w 2517"/>
                <a:gd name="T9" fmla="*/ 276 h 276"/>
                <a:gd name="T10" fmla="*/ 2176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9AA033A-AD8D-4FD8-800E-642FEDCDCF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2B6DA5F3-E117-450B-A64D-BEEC94D6AF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7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7 w 729"/>
                <a:gd name="T7" fmla="*/ 240 h 240"/>
                <a:gd name="T8" fmla="*/ 727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5F392ECC-95EB-4E52-8ABF-22A81502F2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5E4A90AE-3C9C-4BFD-B8F9-29BEE85DE28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7 w 729"/>
                <a:gd name="T1" fmla="*/ 318 h 318"/>
                <a:gd name="T2" fmla="*/ 727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7 w 729"/>
                <a:gd name="T9" fmla="*/ 318 h 318"/>
                <a:gd name="T10" fmla="*/ 727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2191B92-986C-4E36-900F-C072C5B4F9B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F6A501B-CA2D-4955-9A91-4FA0653499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A7429EB8-8319-4914-879F-F6B25B4816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408A52DF-01BF-47D6-804D-D94BDA51C8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BAE1A8D9-FE1C-409C-9F4B-7BCC19E798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6E380EC-3C8A-4AF6-8A39-B32F652A44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6CFDE5E8-8F9C-423F-BA3F-C9D389B4EB2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9C1C253A-3FF7-4E1E-9C66-F27CE05EB4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B49780FD-E4F8-44AE-8A21-4A2D5F7313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234B0362-7E3F-4FC3-8890-DA2F04967C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9A0AE8F0-36A5-465A-A360-F7426BDDA3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6408F08-6675-471F-8B50-6379E737FD3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81EA527F-4492-4123-85D4-7F151AC53C8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0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7DB3B701-DF5D-4415-B72B-1567B3FD24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1551BB1A-CDB8-45CA-BC69-626E4C94523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B05E84EF-B8D8-4CC9-A4D1-57F82FC262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06A6EDF5-815C-4A60-A6E5-7557B21DC0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752573C9-E4ED-46F7-AC41-4BADD61425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5E43AE6F-9480-49B1-94B3-BDC9F6C9A9C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A29F2C1D-4E4E-4B27-B905-E63A8513464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22B0CCBF-DBA3-43B3-8E92-5A7F90E78D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840302A6-0538-4D5C-A0E8-09A8967508E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B5024B55-04AE-41E5-B896-5FA2AD5DB1F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1E9B4DE7-2D13-4D11-8D0A-CC1DEB80BED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621083A5-C2E4-4E66-AFEA-6381FD2F81D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FB0022CD-4404-4980-B6CE-93605E9C993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69674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9675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22A4E303-8BE9-4852-BFA9-D37D54B6F16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8DB12-F7D1-4C98-9FD7-64C2A9AC3C0C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3164F07F-BB56-4F5E-9939-6F1957AF5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3CEA4C88-F116-4345-A95A-E72C7C6653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0C1BDF-A12D-4F52-9881-804F236151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6226307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4EC6EA71-E219-4187-A35B-4FA7B9F28C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22EB2-1C87-4E0A-B0E3-B33D23A11120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A03BD3BA-6860-4EC2-AF2A-DC47003CB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1C9D0791-EB54-4C5E-9993-12C96EDEEA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235AB-5960-4FD5-A0DB-1773C4BB3C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086990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936D37E0-0AC4-40FB-9362-963B85A44F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E4669-4F20-4ADA-A8E7-C42F1090A974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04D79352-DC13-4B6A-AE12-26F39959D7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C471A9D0-B172-478B-A2FA-9DA5C097C1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47E8D0-1152-45CD-AB4A-E7D1EE576E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5192549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C28856BA-8F7A-4999-B41F-12954BC149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C9524-3AF3-4FBF-A005-57E32F136EC2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B8A61D01-AE7F-481E-B15A-1314F577F4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70B1ACED-3CA2-4D8A-8190-D5D38DDE1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6E02C4-8721-4BB0-80A0-D654D2B2B5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8129512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523E87B2-EC5B-4F41-9954-67ED696C71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44A84-EE49-4573-B0EA-D3CC5D93D96C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C474AEE2-4178-49FD-8D5A-FA5B3B3641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93D620BE-131A-4E3D-A2A5-5786AB680F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4D3066-84DD-440A-B457-DF4172249F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565611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A070244C-7636-4F22-A69F-032368F833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1EE9A-C30F-4A35-962E-BD2C0CA6A88D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2CFD109B-C982-4024-A258-8AEF635EF1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C7B6DE1E-E876-4079-A3FA-C637550B0C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FC81B8-03C9-4E22-93A2-9FC13E3A66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03756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E5478C26-0D8C-4468-92F3-DD5608B6C3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59AF1-EB62-4C20-BF62-F90E793F11EC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BB6FF318-D880-4626-8F97-DA78A9666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4ED4992A-D31E-4B48-8864-D2C1094EE9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D89297-7B85-4BEB-9245-3071BE7FFD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4539550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4DA547A0-B525-4B7C-AFD2-DE7561F89A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4F946-AC44-45F3-AB28-F36DC16B6C21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AEE072B8-175E-4913-AE2A-BB73ECB2B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2553CC89-1B74-4201-B53F-7D25EAA873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D508EF-A6D3-453E-850D-C50B3DE7A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849173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3FFF82C0-CFB5-4E43-B37C-74B16DB428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09190-4826-42D8-AE59-42AFABBD29A2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A19E020F-4805-465C-8A06-7408182E4F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2C21DBF1-01A3-44A3-B17F-9F1FC667E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623C3B-6B0B-47D4-A159-611072EE00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52335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CD6A3DB7-9102-4090-9095-5F9B6DE2EF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8DC0B-58D7-4E0C-B759-743CF0270D76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A7275613-11F6-4492-879D-3BD0039748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FA9E2DB0-FBD4-49FA-B26C-7EDC26E6D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F420A7-138F-4798-BD36-5584651751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265494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F80D3529-4512-49B8-A28F-230B79339C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3964C9-01E0-47ED-88DB-C90C412E57BF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6840DEF3-EC95-43BD-AE44-D049C94642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39557517-CB44-4B50-8019-D25DF1682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084A58-96B7-4F9E-A5ED-CB33463651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78326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31130E7-62B2-4181-A811-DF1857A4B0A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68611" name="Freeform 3">
              <a:extLst>
                <a:ext uri="{FF2B5EF4-FFF2-40B4-BE49-F238E27FC236}">
                  <a16:creationId xmlns:a16="http://schemas.microsoft.com/office/drawing/2014/main" id="{C86E579C-DBC0-43C9-AE05-8A4721B7662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12" name="Freeform 4">
              <a:extLst>
                <a:ext uri="{FF2B5EF4-FFF2-40B4-BE49-F238E27FC236}">
                  <a16:creationId xmlns:a16="http://schemas.microsoft.com/office/drawing/2014/main" id="{43477FA2-B9B0-4625-B5C6-6EA4B08D6C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13" name="Freeform 5">
              <a:extLst>
                <a:ext uri="{FF2B5EF4-FFF2-40B4-BE49-F238E27FC236}">
                  <a16:creationId xmlns:a16="http://schemas.microsoft.com/office/drawing/2014/main" id="{9AB8B710-715A-4592-9151-79D745D0876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DF40D437-0059-43D5-877E-9F360428ED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8 w 1722"/>
                <a:gd name="T1" fmla="*/ 64 h 66"/>
                <a:gd name="T2" fmla="*/ 1718 w 1722"/>
                <a:gd name="T3" fmla="*/ 58 h 66"/>
                <a:gd name="T4" fmla="*/ 0 w 1722"/>
                <a:gd name="T5" fmla="*/ 0 h 66"/>
                <a:gd name="T6" fmla="*/ 0 w 1722"/>
                <a:gd name="T7" fmla="*/ 46 h 66"/>
                <a:gd name="T8" fmla="*/ 1718 w 1722"/>
                <a:gd name="T9" fmla="*/ 64 h 66"/>
                <a:gd name="T10" fmla="*/ 1718 w 1722"/>
                <a:gd name="T11" fmla="*/ 64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5" name="Freeform 7">
              <a:extLst>
                <a:ext uri="{FF2B5EF4-FFF2-40B4-BE49-F238E27FC236}">
                  <a16:creationId xmlns:a16="http://schemas.microsoft.com/office/drawing/2014/main" id="{D3EDAA39-CC26-4519-BE82-27DA02D2D0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2D0B60C3-4EDA-4980-95F0-D5C06E2C050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3 w 975"/>
                <a:gd name="T1" fmla="*/ 48 h 101"/>
                <a:gd name="T2" fmla="*/ 973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3 w 975"/>
                <a:gd name="T9" fmla="*/ 48 h 101"/>
                <a:gd name="T10" fmla="*/ 973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049485AD-DF3C-4E8C-9177-382B3A97AA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7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7 w 2141"/>
                <a:gd name="T7" fmla="*/ 0 h 198"/>
                <a:gd name="T8" fmla="*/ 2137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8" name="Freeform 10">
              <a:extLst>
                <a:ext uri="{FF2B5EF4-FFF2-40B4-BE49-F238E27FC236}">
                  <a16:creationId xmlns:a16="http://schemas.microsoft.com/office/drawing/2014/main" id="{42E7E4EF-A0B2-4879-BA0D-288C573EDAB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835E6FB4-2C6C-492B-BE7E-16633DA0744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6 w 2517"/>
                <a:gd name="T1" fmla="*/ 276 h 276"/>
                <a:gd name="T2" fmla="*/ 2511 w 2517"/>
                <a:gd name="T3" fmla="*/ 204 h 276"/>
                <a:gd name="T4" fmla="*/ 2254 w 2517"/>
                <a:gd name="T5" fmla="*/ 0 h 276"/>
                <a:gd name="T6" fmla="*/ 0 w 2517"/>
                <a:gd name="T7" fmla="*/ 276 h 276"/>
                <a:gd name="T8" fmla="*/ 2176 w 2517"/>
                <a:gd name="T9" fmla="*/ 276 h 276"/>
                <a:gd name="T10" fmla="*/ 2176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0" name="Freeform 12">
              <a:extLst>
                <a:ext uri="{FF2B5EF4-FFF2-40B4-BE49-F238E27FC236}">
                  <a16:creationId xmlns:a16="http://schemas.microsoft.com/office/drawing/2014/main" id="{995C0DF6-F567-49EB-9D9B-386444AF0A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DA58B162-A2A6-4F8F-A09B-C807370BA3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7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7 w 729"/>
                <a:gd name="T7" fmla="*/ 240 h 240"/>
                <a:gd name="T8" fmla="*/ 727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Freeform 14">
              <a:extLst>
                <a:ext uri="{FF2B5EF4-FFF2-40B4-BE49-F238E27FC236}">
                  <a16:creationId xmlns:a16="http://schemas.microsoft.com/office/drawing/2014/main" id="{FD010CCF-691A-4718-9266-63E476B27D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899AA8B8-512C-43F1-9946-F9982C3B047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7 w 729"/>
                <a:gd name="T1" fmla="*/ 318 h 318"/>
                <a:gd name="T2" fmla="*/ 727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7 w 729"/>
                <a:gd name="T9" fmla="*/ 318 h 318"/>
                <a:gd name="T10" fmla="*/ 727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Freeform 16">
              <a:extLst>
                <a:ext uri="{FF2B5EF4-FFF2-40B4-BE49-F238E27FC236}">
                  <a16:creationId xmlns:a16="http://schemas.microsoft.com/office/drawing/2014/main" id="{268AD5E9-BC32-4F05-9B84-9B6D6DDCAA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25" name="Freeform 17">
              <a:extLst>
                <a:ext uri="{FF2B5EF4-FFF2-40B4-BE49-F238E27FC236}">
                  <a16:creationId xmlns:a16="http://schemas.microsoft.com/office/drawing/2014/main" id="{7B3E2845-6B78-4AB9-A318-94DD4729D9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26" name="Freeform 18">
              <a:extLst>
                <a:ext uri="{FF2B5EF4-FFF2-40B4-BE49-F238E27FC236}">
                  <a16:creationId xmlns:a16="http://schemas.microsoft.com/office/drawing/2014/main" id="{6F37D17D-C2CE-4E10-B544-A8CCA988902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B5B79A81-3BF9-42B7-BF9D-26A7858AE1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Freeform 20">
              <a:extLst>
                <a:ext uri="{FF2B5EF4-FFF2-40B4-BE49-F238E27FC236}">
                  <a16:creationId xmlns:a16="http://schemas.microsoft.com/office/drawing/2014/main" id="{FC545AD9-4DF0-446C-B11B-BCEB5B4EA4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534525DB-6750-4A9A-B52D-5121B5397E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0" name="Freeform 22">
              <a:extLst>
                <a:ext uri="{FF2B5EF4-FFF2-40B4-BE49-F238E27FC236}">
                  <a16:creationId xmlns:a16="http://schemas.microsoft.com/office/drawing/2014/main" id="{D21EBDCB-A7B2-4408-9B21-93388BA92E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31" name="Freeform 23">
              <a:extLst>
                <a:ext uri="{FF2B5EF4-FFF2-40B4-BE49-F238E27FC236}">
                  <a16:creationId xmlns:a16="http://schemas.microsoft.com/office/drawing/2014/main" id="{467F62A6-72CD-4F00-A21C-C9591090425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32" name="Freeform 24">
              <a:extLst>
                <a:ext uri="{FF2B5EF4-FFF2-40B4-BE49-F238E27FC236}">
                  <a16:creationId xmlns:a16="http://schemas.microsoft.com/office/drawing/2014/main" id="{C2B4DD52-5A61-4FB3-8805-D64DC48478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2421E598-6F61-49FE-B53C-E4082821FB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4" name="Freeform 26">
              <a:extLst>
                <a:ext uri="{FF2B5EF4-FFF2-40B4-BE49-F238E27FC236}">
                  <a16:creationId xmlns:a16="http://schemas.microsoft.com/office/drawing/2014/main" id="{C5D68E19-04B3-43B2-A934-74BFE89BAE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35" name="Freeform 27">
              <a:extLst>
                <a:ext uri="{FF2B5EF4-FFF2-40B4-BE49-F238E27FC236}">
                  <a16:creationId xmlns:a16="http://schemas.microsoft.com/office/drawing/2014/main" id="{4BA7A131-2002-4784-8912-E35AE5DC015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06898BBB-1028-436D-BA79-74F7E1EB584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0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7" name="Freeform 29">
              <a:extLst>
                <a:ext uri="{FF2B5EF4-FFF2-40B4-BE49-F238E27FC236}">
                  <a16:creationId xmlns:a16="http://schemas.microsoft.com/office/drawing/2014/main" id="{6EE945CB-87BA-4A8D-8C15-834712FC6C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9F88478C-2393-4647-9C6D-17FDA08ADD0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9" name="Freeform 31">
              <a:extLst>
                <a:ext uri="{FF2B5EF4-FFF2-40B4-BE49-F238E27FC236}">
                  <a16:creationId xmlns:a16="http://schemas.microsoft.com/office/drawing/2014/main" id="{3E79F18A-5E8B-4281-9DE0-2587ABDBCA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0" name="Freeform 32">
              <a:extLst>
                <a:ext uri="{FF2B5EF4-FFF2-40B4-BE49-F238E27FC236}">
                  <a16:creationId xmlns:a16="http://schemas.microsoft.com/office/drawing/2014/main" id="{997DA224-73EC-4F15-B66E-56D190ECD95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1" name="Freeform 33">
              <a:extLst>
                <a:ext uri="{FF2B5EF4-FFF2-40B4-BE49-F238E27FC236}">
                  <a16:creationId xmlns:a16="http://schemas.microsoft.com/office/drawing/2014/main" id="{A1946F2A-7511-4A5D-9A62-096CA948BD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2" name="Freeform 34">
              <a:extLst>
                <a:ext uri="{FF2B5EF4-FFF2-40B4-BE49-F238E27FC236}">
                  <a16:creationId xmlns:a16="http://schemas.microsoft.com/office/drawing/2014/main" id="{54A2AEE4-4390-447F-86C6-50A52F837CE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3" name="Freeform 35">
              <a:extLst>
                <a:ext uri="{FF2B5EF4-FFF2-40B4-BE49-F238E27FC236}">
                  <a16:creationId xmlns:a16="http://schemas.microsoft.com/office/drawing/2014/main" id="{28C4BAF3-0C5D-4AAD-8BD0-A23716D39B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4" name="Freeform 36">
              <a:extLst>
                <a:ext uri="{FF2B5EF4-FFF2-40B4-BE49-F238E27FC236}">
                  <a16:creationId xmlns:a16="http://schemas.microsoft.com/office/drawing/2014/main" id="{0F182309-4CEE-4F81-B312-A9F47D4E24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5" name="Freeform 37">
              <a:extLst>
                <a:ext uri="{FF2B5EF4-FFF2-40B4-BE49-F238E27FC236}">
                  <a16:creationId xmlns:a16="http://schemas.microsoft.com/office/drawing/2014/main" id="{15D43F55-B11D-4CB1-8E50-533A6128B34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646" name="Freeform 38">
              <a:extLst>
                <a:ext uri="{FF2B5EF4-FFF2-40B4-BE49-F238E27FC236}">
                  <a16:creationId xmlns:a16="http://schemas.microsoft.com/office/drawing/2014/main" id="{2941011A-533A-4F7A-B14D-E146006BD0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519048BE-F89E-4CAD-AB17-0670C88C9D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68648" name="Freeform 40">
                <a:extLst>
                  <a:ext uri="{FF2B5EF4-FFF2-40B4-BE49-F238E27FC236}">
                    <a16:creationId xmlns:a16="http://schemas.microsoft.com/office/drawing/2014/main" id="{8B201D1A-7BBB-4A5F-9344-201C128A742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68649" name="Freeform 41">
                <a:extLst>
                  <a:ext uri="{FF2B5EF4-FFF2-40B4-BE49-F238E27FC236}">
                    <a16:creationId xmlns:a16="http://schemas.microsoft.com/office/drawing/2014/main" id="{4D83C3AC-AEBA-4F6E-AEAF-296D7611A01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68650" name="Rectangle 42">
            <a:extLst>
              <a:ext uri="{FF2B5EF4-FFF2-40B4-BE49-F238E27FC236}">
                <a16:creationId xmlns:a16="http://schemas.microsoft.com/office/drawing/2014/main" id="{2F4DFB08-6E0B-4411-8485-3C4259F69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8651" name="Rectangle 43">
            <a:extLst>
              <a:ext uri="{FF2B5EF4-FFF2-40B4-BE49-F238E27FC236}">
                <a16:creationId xmlns:a16="http://schemas.microsoft.com/office/drawing/2014/main" id="{5C3CC4EF-A299-42C7-A0F4-B751D7306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8652" name="Rectangle 44">
            <a:extLst>
              <a:ext uri="{FF2B5EF4-FFF2-40B4-BE49-F238E27FC236}">
                <a16:creationId xmlns:a16="http://schemas.microsoft.com/office/drawing/2014/main" id="{270AB516-882F-4F4F-A424-31F4DBBDFB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5137D06E-E20B-4B10-A130-4A118CD8E553}" type="datetime1">
              <a:rPr lang="zh-CN" altLang="en-US"/>
              <a:pPr>
                <a:defRPr/>
              </a:pPr>
              <a:t>2024/5/19</a:t>
            </a:fld>
            <a:endParaRPr lang="en-US" altLang="zh-CN"/>
          </a:p>
        </p:txBody>
      </p:sp>
      <p:sp>
        <p:nvSpPr>
          <p:cNvPr id="68653" name="Rectangle 45">
            <a:extLst>
              <a:ext uri="{FF2B5EF4-FFF2-40B4-BE49-F238E27FC236}">
                <a16:creationId xmlns:a16="http://schemas.microsoft.com/office/drawing/2014/main" id="{9CA75C89-A6BF-4BF4-87F6-CF5F328AD6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54" name="Rectangle 46">
            <a:extLst>
              <a:ext uri="{FF2B5EF4-FFF2-40B4-BE49-F238E27FC236}">
                <a16:creationId xmlns:a16="http://schemas.microsoft.com/office/drawing/2014/main" id="{0EEF04AD-A5F6-4C31-AF2E-C48700951A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F468535A-5CF3-4A60-B36C-860FEE42677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7.emf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FC6CF-A309-442D-9351-8EADF7E7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9EE39E-8B55-4A62-A9D7-B7FDC4A71835}" type="slidenum">
              <a:rPr lang="en-US" altLang="zh-CN" b="0"/>
              <a:pPr/>
              <a:t>1</a:t>
            </a:fld>
            <a:endParaRPr lang="en-US" altLang="zh-CN" b="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0F6E0A09-DB9D-429F-8A17-FCACF7E64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836613"/>
            <a:ext cx="7620000" cy="560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b="1" dirty="0">
                <a:solidFill>
                  <a:srgbClr val="FFFF00"/>
                </a:solidFill>
              </a:rPr>
              <a:t>数</a:t>
            </a:r>
            <a:r>
              <a:rPr lang="en-US" altLang="zh-CN" sz="3200" b="1" dirty="0">
                <a:solidFill>
                  <a:srgbClr val="FFFF00"/>
                </a:solidFill>
              </a:rPr>
              <a:t>-</a:t>
            </a:r>
            <a:r>
              <a:rPr lang="zh-CN" altLang="en-US" sz="3200" b="1" dirty="0">
                <a:solidFill>
                  <a:srgbClr val="FFFF00"/>
                </a:solidFill>
              </a:rPr>
              <a:t>模</a:t>
            </a:r>
            <a:r>
              <a:rPr lang="en-US" altLang="zh-CN" sz="3200" b="1" dirty="0">
                <a:solidFill>
                  <a:srgbClr val="FFFF00"/>
                </a:solidFill>
              </a:rPr>
              <a:t>/</a:t>
            </a:r>
            <a:r>
              <a:rPr lang="zh-CN" altLang="en-US" sz="3200" b="1" dirty="0">
                <a:solidFill>
                  <a:srgbClr val="FFFF00"/>
                </a:solidFill>
              </a:rPr>
              <a:t>模</a:t>
            </a:r>
            <a:r>
              <a:rPr lang="en-US" altLang="zh-CN" sz="3200" b="1" dirty="0">
                <a:solidFill>
                  <a:srgbClr val="FFFF00"/>
                </a:solidFill>
              </a:rPr>
              <a:t>-</a:t>
            </a:r>
            <a:r>
              <a:rPr lang="zh-CN" altLang="en-US" sz="3200" b="1" dirty="0">
                <a:solidFill>
                  <a:srgbClr val="FFFF00"/>
                </a:solidFill>
              </a:rPr>
              <a:t>数转换及其接口</a:t>
            </a:r>
            <a:br>
              <a:rPr lang="zh-CN" altLang="en-US" sz="3200" b="1" dirty="0">
                <a:solidFill>
                  <a:srgbClr val="FFFF00"/>
                </a:solidFill>
              </a:rPr>
            </a:br>
            <a:endParaRPr lang="zh-CN" altLang="en-US" sz="3200" b="1" dirty="0">
              <a:solidFill>
                <a:srgbClr val="FFFF00"/>
              </a:solidFill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7031D88E-BD22-46D9-88A8-6C3DEA0EB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620000" cy="4038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主要内容：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FF00"/>
                </a:solidFill>
                <a:sym typeface="Wingdings 2" panose="05020102010507070707" pitchFamily="18" charset="2"/>
              </a:rPr>
              <a:t> </a:t>
            </a:r>
            <a:r>
              <a:rPr lang="zh-CN" altLang="en-US" sz="2800" b="1" dirty="0"/>
              <a:t>模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数转换和数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模转换的概念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FF00"/>
                </a:solidFill>
                <a:sym typeface="Wingdings 2" panose="05020102010507070707" pitchFamily="18" charset="2"/>
              </a:rPr>
              <a:t> </a:t>
            </a:r>
            <a:r>
              <a:rPr lang="zh-CN" altLang="en-US" sz="2800" b="1" dirty="0"/>
              <a:t>模拟接口在微机控制系统中的应用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FF00"/>
                </a:solidFill>
                <a:sym typeface="Wingdings 2" panose="05020102010507070707" pitchFamily="18" charset="2"/>
              </a:rPr>
              <a:t>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DAC0832</a:t>
            </a:r>
            <a:r>
              <a:rPr lang="zh-CN" altLang="en-US" sz="2800" b="1" dirty="0"/>
              <a:t>芯片的外特性、数据输出方式及 同</a:t>
            </a:r>
            <a:r>
              <a:rPr lang="en-US" altLang="zh-CN" sz="2800" b="1" dirty="0"/>
              <a:t>CPU</a:t>
            </a:r>
            <a:r>
              <a:rPr lang="zh-CN" altLang="en-US" sz="2800" b="1" dirty="0"/>
              <a:t>的连接（ </a:t>
            </a:r>
            <a:r>
              <a:rPr lang="zh-CN" altLang="en-US" sz="2800" b="1" dirty="0">
                <a:solidFill>
                  <a:srgbClr val="FF0066"/>
                </a:solidFill>
                <a:sym typeface="Wingdings 2" panose="05020102010507070707" pitchFamily="18" charset="2"/>
              </a:rPr>
              <a:t></a:t>
            </a:r>
            <a:r>
              <a:rPr lang="zh-CN" altLang="en-US" sz="2800" b="1" dirty="0"/>
              <a:t> ）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FF00"/>
                </a:solidFill>
                <a:sym typeface="Wingdings 2" panose="05020102010507070707" pitchFamily="18" charset="2"/>
              </a:rPr>
              <a:t>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ADC0809</a:t>
            </a:r>
            <a:r>
              <a:rPr lang="zh-CN" altLang="en-US" sz="2800" b="1" dirty="0"/>
              <a:t>芯片的外特性、工作过程及同</a:t>
            </a:r>
            <a:r>
              <a:rPr lang="en-US" altLang="zh-CN" sz="2800" b="1" dirty="0"/>
              <a:t>CPU</a:t>
            </a:r>
            <a:r>
              <a:rPr lang="zh-CN" altLang="en-US" sz="2800" b="1" dirty="0"/>
              <a:t>的接口技术（ </a:t>
            </a:r>
            <a:r>
              <a:rPr lang="zh-CN" altLang="en-US" sz="2800" b="1" dirty="0">
                <a:solidFill>
                  <a:srgbClr val="FF0066"/>
                </a:solidFill>
                <a:sym typeface="Wingdings 2" panose="05020102010507070707" pitchFamily="18" charset="2"/>
              </a:rPr>
              <a:t></a:t>
            </a:r>
            <a:r>
              <a:rPr lang="zh-CN" altLang="en-US" sz="2800" b="1" dirty="0"/>
              <a:t> ）</a:t>
            </a:r>
          </a:p>
        </p:txBody>
      </p:sp>
      <p:pic>
        <p:nvPicPr>
          <p:cNvPr id="86020" name="Picture 4" descr="PE07677_">
            <a:extLst>
              <a:ext uri="{FF2B5EF4-FFF2-40B4-BE49-F238E27FC236}">
                <a16:creationId xmlns:a16="http://schemas.microsoft.com/office/drawing/2014/main" id="{F522A042-E976-4AC2-B2C1-33C650ED5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029200"/>
            <a:ext cx="129540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CBF6F4CE-889A-43C9-A106-5CB279A5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58E241F-C1F0-4471-B9C6-3A943B97B50F}" type="slidenum">
              <a:rPr lang="en-US" altLang="zh-CN" b="0"/>
              <a:pPr/>
              <a:t>2</a:t>
            </a:fld>
            <a:endParaRPr lang="en-US" altLang="zh-CN" b="0"/>
          </a:p>
        </p:txBody>
      </p:sp>
      <p:sp>
        <p:nvSpPr>
          <p:cNvPr id="5123" name="Text Box 4">
            <a:extLst>
              <a:ext uri="{FF2B5EF4-FFF2-40B4-BE49-F238E27FC236}">
                <a16:creationId xmlns:a16="http://schemas.microsoft.com/office/drawing/2014/main" id="{2C405261-CEB6-4F1F-BBBE-BEBED1F8C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0999"/>
            <a:ext cx="5562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</a:rPr>
              <a:t>模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</a:rPr>
              <a:t>数和数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</a:rPr>
              <a:t>模转换的概念</a:t>
            </a:r>
            <a:r>
              <a:rPr lang="zh-CN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87045" name="Text Box 5">
            <a:extLst>
              <a:ext uri="{FF2B5EF4-FFF2-40B4-BE49-F238E27FC236}">
                <a16:creationId xmlns:a16="http://schemas.microsoft.com/office/drawing/2014/main" id="{4B90999A-12D9-4C50-86EE-84C0A6E50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1075"/>
            <a:ext cx="84582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300" dirty="0"/>
              <a:t>数</a:t>
            </a:r>
            <a:r>
              <a:rPr lang="en-US" altLang="zh-CN" sz="2300" dirty="0"/>
              <a:t>/</a:t>
            </a:r>
            <a:r>
              <a:rPr lang="zh-CN" altLang="en-US" sz="2300" dirty="0"/>
              <a:t>模转换和模</a:t>
            </a:r>
            <a:r>
              <a:rPr lang="en-US" altLang="zh-CN" sz="2300" dirty="0"/>
              <a:t>/</a:t>
            </a:r>
            <a:r>
              <a:rPr lang="zh-CN" altLang="en-US" sz="2300" dirty="0"/>
              <a:t>数转换技术主要用于计算机控制和检测系统中。</a:t>
            </a:r>
          </a:p>
        </p:txBody>
      </p:sp>
      <p:sp>
        <p:nvSpPr>
          <p:cNvPr id="87046" name="Text Box 6">
            <a:extLst>
              <a:ext uri="{FF2B5EF4-FFF2-40B4-BE49-F238E27FC236}">
                <a16:creationId xmlns:a16="http://schemas.microsoft.com/office/drawing/2014/main" id="{CA584473-F810-476E-BE14-921D39E6C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43075"/>
            <a:ext cx="8305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</a:rPr>
              <a:t>计算机处理并输出的是数字量，为了使该输出信号去调节或控制生产过程，常常要将该</a:t>
            </a:r>
            <a:r>
              <a:rPr lang="zh-CN" altLang="en-US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数字量</a:t>
            </a:r>
            <a:r>
              <a:rPr lang="zh-CN" altLang="en-US" sz="2400" dirty="0">
                <a:latin typeface="Times New Roman" panose="02020603050405020304" pitchFamily="18" charset="0"/>
              </a:rPr>
              <a:t>转换成对应的</a:t>
            </a:r>
            <a:r>
              <a:rPr lang="zh-CN" altLang="en-US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模拟量</a:t>
            </a:r>
            <a:r>
              <a:rPr lang="zh-CN" altLang="en-US" sz="2400" dirty="0">
                <a:latin typeface="Times New Roman" panose="02020603050405020304" pitchFamily="18" charset="0"/>
              </a:rPr>
              <a:t>，为此必须进行</a:t>
            </a:r>
            <a:r>
              <a:rPr lang="zh-CN" altLang="en-US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数</a:t>
            </a:r>
            <a:r>
              <a:rPr lang="en-US" altLang="zh-CN" sz="2400" dirty="0">
                <a:solidFill>
                  <a:srgbClr val="FFC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模</a:t>
            </a:r>
            <a:r>
              <a:rPr lang="zh-CN" altLang="en-US" sz="2400" dirty="0">
                <a:latin typeface="Times New Roman" panose="02020603050405020304" pitchFamily="18" charset="0"/>
              </a:rPr>
              <a:t>转换，简称</a:t>
            </a:r>
            <a:r>
              <a:rPr lang="en-US" altLang="zh-CN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D/A</a:t>
            </a:r>
            <a:r>
              <a:rPr lang="zh-CN" altLang="en-US" sz="2400" dirty="0">
                <a:latin typeface="Times New Roman" panose="02020603050405020304" pitchFamily="18" charset="0"/>
              </a:rPr>
              <a:t>转换。</a:t>
            </a:r>
            <a:endParaRPr lang="zh-CN" altLang="en-US" sz="2400" dirty="0"/>
          </a:p>
        </p:txBody>
      </p:sp>
      <p:sp>
        <p:nvSpPr>
          <p:cNvPr id="87047" name="Text Box 7">
            <a:extLst>
              <a:ext uri="{FF2B5EF4-FFF2-40B4-BE49-F238E27FC236}">
                <a16:creationId xmlns:a16="http://schemas.microsoft.com/office/drawing/2014/main" id="{53F2E301-EE98-4A52-B2C1-532FC2E94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u="sng" dirty="0">
                <a:latin typeface="+mn-ea"/>
                <a:ea typeface="+mn-ea"/>
              </a:rPr>
              <a:t>D/A</a:t>
            </a:r>
            <a:r>
              <a:rPr lang="zh-CN" altLang="en-US" sz="2400" u="sng" dirty="0">
                <a:latin typeface="+mn-ea"/>
                <a:ea typeface="+mn-ea"/>
              </a:rPr>
              <a:t>转换器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把数字量转换为模拟量的器件（简称</a:t>
            </a:r>
            <a:r>
              <a:rPr lang="en-US" altLang="zh-CN" sz="2400" dirty="0">
                <a:latin typeface="+mn-ea"/>
                <a:ea typeface="+mn-ea"/>
              </a:rPr>
              <a:t>DAC</a:t>
            </a:r>
            <a:r>
              <a:rPr lang="zh-CN" altLang="en-US" sz="2400" dirty="0">
                <a:latin typeface="+mn-ea"/>
                <a:ea typeface="+mn-ea"/>
              </a:rPr>
              <a:t>）。</a:t>
            </a:r>
          </a:p>
        </p:txBody>
      </p:sp>
      <p:sp>
        <p:nvSpPr>
          <p:cNvPr id="87048" name="Text Box 8">
            <a:extLst>
              <a:ext uri="{FF2B5EF4-FFF2-40B4-BE49-F238E27FC236}">
                <a16:creationId xmlns:a16="http://schemas.microsoft.com/office/drawing/2014/main" id="{377D12D7-0928-4440-AA4A-0C58345C0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3419475"/>
            <a:ext cx="8001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        </a:t>
            </a:r>
            <a:r>
              <a:rPr lang="zh-CN" altLang="en-US" sz="2400"/>
              <a:t>日常生活中和工业现场内接触到的大量物理量，如电压、电流、温度、压力、速度等都是随时间连续变化的，由于人们经常采用电压或电流来模拟这些物理量，所以通常所讲的</a:t>
            </a:r>
            <a:r>
              <a:rPr lang="zh-CN" altLang="en-US" sz="2400">
                <a:solidFill>
                  <a:srgbClr val="FFCC00"/>
                </a:solidFill>
              </a:rPr>
              <a:t>模拟量</a:t>
            </a:r>
            <a:r>
              <a:rPr lang="zh-CN" altLang="en-US" sz="2400"/>
              <a:t>主要指电压或电流。在控制系统中，将传感器输出的</a:t>
            </a:r>
            <a:r>
              <a:rPr lang="zh-CN" altLang="en-US" sz="2400">
                <a:solidFill>
                  <a:srgbClr val="FFFF00"/>
                </a:solidFill>
              </a:rPr>
              <a:t>模拟量</a:t>
            </a:r>
            <a:r>
              <a:rPr lang="en-US" altLang="zh-CN" sz="2400"/>
              <a:t>(</a:t>
            </a:r>
            <a:r>
              <a:rPr lang="zh-CN" altLang="en-US" sz="2400"/>
              <a:t>电压或电流</a:t>
            </a:r>
            <a:r>
              <a:rPr lang="en-US" altLang="zh-CN" sz="2400"/>
              <a:t>)</a:t>
            </a:r>
            <a:r>
              <a:rPr lang="zh-CN" altLang="en-US" sz="2400"/>
              <a:t>转换成对应的二进制</a:t>
            </a:r>
            <a:r>
              <a:rPr lang="zh-CN" altLang="en-US" sz="2400">
                <a:solidFill>
                  <a:srgbClr val="FFFF00"/>
                </a:solidFill>
              </a:rPr>
              <a:t>数字量</a:t>
            </a:r>
            <a:r>
              <a:rPr lang="zh-CN" altLang="en-US" sz="2400"/>
              <a:t>，就是</a:t>
            </a:r>
            <a:r>
              <a:rPr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模</a:t>
            </a:r>
            <a:r>
              <a:rPr lang="en-US" altLang="zh-CN" sz="2400">
                <a:solidFill>
                  <a:srgbClr val="FFCC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数转换</a:t>
            </a:r>
            <a:r>
              <a:rPr lang="zh-CN" altLang="en-US" sz="2400"/>
              <a:t>，简称</a:t>
            </a:r>
            <a:r>
              <a:rPr lang="en-US" altLang="zh-CN" sz="2400">
                <a:solidFill>
                  <a:srgbClr val="FFCC00"/>
                </a:solidFill>
              </a:rPr>
              <a:t>A/D</a:t>
            </a:r>
            <a:r>
              <a:rPr lang="zh-CN" altLang="en-US" sz="2400"/>
              <a:t>转换。</a:t>
            </a:r>
          </a:p>
        </p:txBody>
      </p:sp>
      <p:sp>
        <p:nvSpPr>
          <p:cNvPr id="87049" name="Text Box 9">
            <a:extLst>
              <a:ext uri="{FF2B5EF4-FFF2-40B4-BE49-F238E27FC236}">
                <a16:creationId xmlns:a16="http://schemas.microsoft.com/office/drawing/2014/main" id="{BE029ADA-A20E-4DEB-82A2-6D10C332B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" y="5705475"/>
            <a:ext cx="80895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u="sng" dirty="0">
                <a:latin typeface="+mn-ea"/>
                <a:ea typeface="+mn-ea"/>
                <a:cs typeface="Times New Roman" panose="02020603050405020304" pitchFamily="18" charset="0"/>
              </a:rPr>
              <a:t>A/D</a:t>
            </a:r>
            <a:r>
              <a:rPr lang="zh-CN" altLang="en-US" sz="2400" u="sng" dirty="0">
                <a:latin typeface="+mn-ea"/>
                <a:ea typeface="+mn-ea"/>
              </a:rPr>
              <a:t>转换器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把模拟量转换为数字量的器件 （简称</a:t>
            </a:r>
            <a:r>
              <a:rPr lang="en-US" altLang="zh-CN" sz="2400" dirty="0">
                <a:latin typeface="+mn-ea"/>
                <a:ea typeface="+mn-ea"/>
              </a:rPr>
              <a:t>ADC</a:t>
            </a:r>
            <a:r>
              <a:rPr lang="zh-CN" altLang="en-US" sz="2400" dirty="0">
                <a:latin typeface="+mn-ea"/>
                <a:ea typeface="+mn-ea"/>
              </a:rPr>
              <a:t>）。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utoUpdateAnimBg="0"/>
      <p:bldP spid="87046" grpId="0" autoUpdateAnimBg="0"/>
      <p:bldP spid="87047" grpId="0" autoUpdateAnimBg="0"/>
      <p:bldP spid="87048" grpId="0" autoUpdateAnimBg="0"/>
      <p:bldP spid="8704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D0FAF715-A35E-4D7B-BACB-3B02D592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0C0932-AEF3-4D51-A96E-A63ED9D206B2}" type="slidenum">
              <a:rPr lang="en-US" altLang="zh-CN" b="0"/>
              <a:pPr/>
              <a:t>3</a:t>
            </a:fld>
            <a:endParaRPr lang="en-US" altLang="zh-CN" b="0"/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C6A8B609-67F2-4FD2-8ED7-EF01769D9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b="1"/>
              <a:t>模拟量与数字量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B32A4C6D-2E58-44D8-B5C7-3F5D640A4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600200"/>
            <a:ext cx="586105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模拟量</a:t>
            </a:r>
            <a:r>
              <a:rPr lang="en-US" altLang="zh-CN"/>
              <a:t>——</a:t>
            </a:r>
            <a:r>
              <a:rPr lang="zh-CN" altLang="en-US"/>
              <a:t>连续变化的物理量</a:t>
            </a:r>
          </a:p>
        </p:txBody>
      </p:sp>
      <p:sp>
        <p:nvSpPr>
          <p:cNvPr id="6149" name="Rectangle 6">
            <a:extLst>
              <a:ext uri="{FF2B5EF4-FFF2-40B4-BE49-F238E27FC236}">
                <a16:creationId xmlns:a16="http://schemas.microsoft.com/office/drawing/2014/main" id="{64F10E8A-EE02-4A27-BEE4-987B5967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75" y="4953000"/>
            <a:ext cx="7389813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>
                <a:latin typeface="Tahoma" panose="020B0604030504040204" pitchFamily="34" charset="0"/>
              </a:rPr>
              <a:t>数字量</a:t>
            </a:r>
            <a:r>
              <a:rPr kumimoji="1" lang="en-US" altLang="zh-CN">
                <a:latin typeface="Times New Roman" panose="02020603050405020304" pitchFamily="18" charset="0"/>
              </a:rPr>
              <a:t>——</a:t>
            </a:r>
            <a:r>
              <a:rPr kumimoji="1" lang="zh-CN" altLang="en-US">
                <a:latin typeface="Tahoma" panose="020B0604030504040204" pitchFamily="34" charset="0"/>
              </a:rPr>
              <a:t>时间和数值上都离散的量</a:t>
            </a:r>
          </a:p>
        </p:txBody>
      </p:sp>
      <p:pic>
        <p:nvPicPr>
          <p:cNvPr id="6150" name="Picture 7" descr="0">
            <a:extLst>
              <a:ext uri="{FF2B5EF4-FFF2-40B4-BE49-F238E27FC236}">
                <a16:creationId xmlns:a16="http://schemas.microsoft.com/office/drawing/2014/main" id="{0FC0BDFC-3A50-47D7-9E60-131C541529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4491038"/>
            <a:ext cx="34067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8" descr="168">
            <a:extLst>
              <a:ext uri="{FF2B5EF4-FFF2-40B4-BE49-F238E27FC236}">
                <a16:creationId xmlns:a16="http://schemas.microsoft.com/office/drawing/2014/main" id="{5BADB77C-91C6-4CC2-9D27-DBAC9A1E836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465388"/>
            <a:ext cx="3714750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1328" name="Group 16">
            <a:extLst>
              <a:ext uri="{FF2B5EF4-FFF2-40B4-BE49-F238E27FC236}">
                <a16:creationId xmlns:a16="http://schemas.microsoft.com/office/drawing/2014/main" id="{005C3B74-6E7B-44C3-AF09-EDE950F1E159}"/>
              </a:ext>
            </a:extLst>
          </p:cNvPr>
          <p:cNvGrpSpPr>
            <a:grpSpLocks/>
          </p:cNvGrpSpPr>
          <p:nvPr/>
        </p:nvGrpSpPr>
        <p:grpSpPr bwMode="auto">
          <a:xfrm>
            <a:off x="4027488" y="2932113"/>
            <a:ext cx="3740150" cy="1270000"/>
            <a:chOff x="2537" y="1847"/>
            <a:chExt cx="2356" cy="800"/>
          </a:xfrm>
        </p:grpSpPr>
        <p:sp>
          <p:nvSpPr>
            <p:cNvPr id="6156" name="Line 10">
              <a:extLst>
                <a:ext uri="{FF2B5EF4-FFF2-40B4-BE49-F238E27FC236}">
                  <a16:creationId xmlns:a16="http://schemas.microsoft.com/office/drawing/2014/main" id="{51142166-319D-439F-BC8D-EF47EFC00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1851"/>
              <a:ext cx="1468" cy="796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57" name="Text Box 11">
              <a:extLst>
                <a:ext uri="{FF2B5EF4-FFF2-40B4-BE49-F238E27FC236}">
                  <a16:creationId xmlns:a16="http://schemas.microsoft.com/office/drawing/2014/main" id="{4C522E0D-658B-4A5B-B0DA-DBA866CA4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" y="1847"/>
              <a:ext cx="1813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800">
                  <a:solidFill>
                    <a:srgbClr val="FFFF00"/>
                  </a:solidFill>
                  <a:latin typeface="Tahoma" panose="020B0604030504040204" pitchFamily="34" charset="0"/>
                </a:rPr>
                <a:t>模拟</a:t>
              </a:r>
              <a:r>
                <a:rPr kumimoji="1" lang="en-US" altLang="zh-CN" sz="2800">
                  <a:solidFill>
                    <a:srgbClr val="FFFF00"/>
                  </a:solidFill>
                  <a:latin typeface="Tahoma" panose="020B0604030504040204" pitchFamily="34" charset="0"/>
                </a:rPr>
                <a:t>/</a:t>
              </a:r>
              <a:r>
                <a:rPr kumimoji="1" lang="zh-CN" altLang="en-US" sz="2800">
                  <a:solidFill>
                    <a:srgbClr val="FFFF00"/>
                  </a:solidFill>
                  <a:latin typeface="Tahoma" panose="020B0604030504040204" pitchFamily="34" charset="0"/>
                </a:rPr>
                <a:t>数字转换器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FFF00"/>
                  </a:solidFill>
                  <a:latin typeface="Tahoma" panose="020B0604030504040204" pitchFamily="34" charset="0"/>
                </a:rPr>
                <a:t>ADC</a:t>
              </a:r>
            </a:p>
          </p:txBody>
        </p:sp>
      </p:grpSp>
      <p:grpSp>
        <p:nvGrpSpPr>
          <p:cNvPr id="141327" name="Group 15">
            <a:extLst>
              <a:ext uri="{FF2B5EF4-FFF2-40B4-BE49-F238E27FC236}">
                <a16:creationId xmlns:a16="http://schemas.microsoft.com/office/drawing/2014/main" id="{F52D4756-7860-4969-9DCD-C29A83DF2415}"/>
              </a:ext>
            </a:extLst>
          </p:cNvPr>
          <p:cNvGrpSpPr>
            <a:grpSpLocks/>
          </p:cNvGrpSpPr>
          <p:nvPr/>
        </p:nvGrpSpPr>
        <p:grpSpPr bwMode="auto">
          <a:xfrm>
            <a:off x="1406525" y="2916238"/>
            <a:ext cx="3929063" cy="1263650"/>
            <a:chOff x="886" y="1837"/>
            <a:chExt cx="2475" cy="796"/>
          </a:xfrm>
        </p:grpSpPr>
        <p:sp>
          <p:nvSpPr>
            <p:cNvPr id="6154" name="Text Box 13">
              <a:extLst>
                <a:ext uri="{FF2B5EF4-FFF2-40B4-BE49-F238E27FC236}">
                  <a16:creationId xmlns:a16="http://schemas.microsoft.com/office/drawing/2014/main" id="{671B063D-C097-441D-8EDB-1B0E6C130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2025"/>
              <a:ext cx="1813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FFF00"/>
                  </a:solidFill>
                  <a:latin typeface="Tahoma" panose="020B0604030504040204" pitchFamily="34" charset="0"/>
                </a:rPr>
                <a:t>DAC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800">
                  <a:solidFill>
                    <a:srgbClr val="FFFF00"/>
                  </a:solidFill>
                  <a:latin typeface="Tahoma" panose="020B0604030504040204" pitchFamily="34" charset="0"/>
                </a:rPr>
                <a:t>数字</a:t>
              </a:r>
              <a:r>
                <a:rPr kumimoji="1" lang="en-US" altLang="zh-CN" sz="2800">
                  <a:solidFill>
                    <a:srgbClr val="FFFF00"/>
                  </a:solidFill>
                  <a:latin typeface="Tahoma" panose="020B0604030504040204" pitchFamily="34" charset="0"/>
                </a:rPr>
                <a:t>/</a:t>
              </a:r>
              <a:r>
                <a:rPr kumimoji="1" lang="zh-CN" altLang="en-US" sz="2800">
                  <a:solidFill>
                    <a:srgbClr val="FFFF00"/>
                  </a:solidFill>
                  <a:latin typeface="Tahoma" panose="020B0604030504040204" pitchFamily="34" charset="0"/>
                </a:rPr>
                <a:t>模拟转换器</a:t>
              </a:r>
            </a:p>
          </p:txBody>
        </p:sp>
        <p:sp>
          <p:nvSpPr>
            <p:cNvPr id="6155" name="Line 14">
              <a:extLst>
                <a:ext uri="{FF2B5EF4-FFF2-40B4-BE49-F238E27FC236}">
                  <a16:creationId xmlns:a16="http://schemas.microsoft.com/office/drawing/2014/main" id="{B9C257E6-206A-4958-A333-535AA2694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93" y="1837"/>
              <a:ext cx="1468" cy="796"/>
            </a:xfrm>
            <a:prstGeom prst="line">
              <a:avLst/>
            </a:prstGeom>
            <a:noFill/>
            <a:ln w="41275">
              <a:solidFill>
                <a:srgbClr val="FFFF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F5FCE-7B8E-469B-8E20-F7B9F90A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919285-4F70-47AC-B99E-7DB5B8589527}" type="slidenum">
              <a:rPr lang="en-US" altLang="zh-CN" b="0"/>
              <a:pPr/>
              <a:t>4</a:t>
            </a:fld>
            <a:endParaRPr lang="en-US" altLang="zh-CN" b="0"/>
          </a:p>
        </p:txBody>
      </p:sp>
      <p:sp>
        <p:nvSpPr>
          <p:cNvPr id="90116" name="Text Box 4">
            <a:extLst>
              <a:ext uri="{FF2B5EF4-FFF2-40B4-BE49-F238E27FC236}">
                <a16:creationId xmlns:a16="http://schemas.microsoft.com/office/drawing/2014/main" id="{BEA40929-E0EB-4099-906E-D610A4472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982" y="462126"/>
            <a:ext cx="807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1"/>
                </a:solidFill>
                <a:highlight>
                  <a:srgbClr val="FFFF00"/>
                </a:highlight>
              </a:rPr>
              <a:t>8.3   D/A</a:t>
            </a:r>
            <a:r>
              <a:rPr lang="zh-CN" altLang="en-US" dirty="0">
                <a:solidFill>
                  <a:schemeClr val="bg1"/>
                </a:solidFill>
                <a:highlight>
                  <a:srgbClr val="FFFF00"/>
                </a:highlight>
              </a:rPr>
              <a:t>转换与</a:t>
            </a:r>
            <a:r>
              <a:rPr lang="en-US" altLang="zh-CN" dirty="0">
                <a:solidFill>
                  <a:schemeClr val="bg1"/>
                </a:solidFill>
                <a:highlight>
                  <a:srgbClr val="FFFF00"/>
                </a:highlight>
              </a:rPr>
              <a:t>DAC0832</a:t>
            </a:r>
            <a:endParaRPr lang="zh-CN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90117" name="Text Box 5">
            <a:extLst>
              <a:ext uri="{FF2B5EF4-FFF2-40B4-BE49-F238E27FC236}">
                <a16:creationId xmlns:a16="http://schemas.microsoft.com/office/drawing/2014/main" id="{CA4973DE-7903-46EB-BAA1-B5205D5B3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845978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/>
              <a:t>一、</a:t>
            </a:r>
            <a:r>
              <a:rPr lang="en-US" altLang="zh-CN" sz="2800" dirty="0"/>
              <a:t>D/A</a:t>
            </a:r>
            <a:r>
              <a:rPr lang="zh-CN" altLang="en-US" sz="2800" dirty="0"/>
              <a:t>转换器的性能参数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）分辨率：指</a:t>
            </a:r>
            <a:r>
              <a:rPr lang="en-US" altLang="zh-CN" sz="2800" dirty="0"/>
              <a:t>D/A</a:t>
            </a:r>
            <a:r>
              <a:rPr lang="zh-CN" altLang="en-US" sz="2800" dirty="0"/>
              <a:t>转换器能转换的二进制数的位数，位数越多分辨率也越高。例如：一个</a:t>
            </a:r>
            <a:r>
              <a:rPr lang="en-US" altLang="zh-CN" sz="2800" dirty="0"/>
              <a:t>D/A</a:t>
            </a:r>
            <a:r>
              <a:rPr lang="zh-CN" altLang="en-US" sz="2800" dirty="0"/>
              <a:t>转换器能转换</a:t>
            </a:r>
            <a:r>
              <a:rPr lang="en-US" altLang="zh-CN" sz="2800" dirty="0"/>
              <a:t>8</a:t>
            </a:r>
            <a:r>
              <a:rPr lang="zh-CN" altLang="en-US" sz="2800" dirty="0"/>
              <a:t>位二进制数，若转换后的电压满量程是</a:t>
            </a:r>
            <a:r>
              <a:rPr lang="en-US" altLang="zh-CN" sz="2800" dirty="0"/>
              <a:t>5V</a:t>
            </a:r>
            <a:r>
              <a:rPr lang="zh-CN" altLang="en-US" sz="2800" dirty="0"/>
              <a:t>，则能分辨的最小电压＝</a:t>
            </a:r>
            <a:r>
              <a:rPr lang="en-US" altLang="zh-CN" sz="2800" dirty="0"/>
              <a:t>5V/256=20mV</a:t>
            </a:r>
            <a:r>
              <a:rPr lang="zh-CN" altLang="en-US" sz="2800" dirty="0"/>
              <a:t>。</a:t>
            </a:r>
          </a:p>
        </p:txBody>
      </p:sp>
      <p:sp>
        <p:nvSpPr>
          <p:cNvPr id="90124" name="Text Box 12">
            <a:extLst>
              <a:ext uri="{FF2B5EF4-FFF2-40B4-BE49-F238E27FC236}">
                <a16:creationId xmlns:a16="http://schemas.microsoft.com/office/drawing/2014/main" id="{2236AAEE-C65C-4AB7-8502-292E13A92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68" y="3803651"/>
            <a:ext cx="860425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）转换时间：指数字量输入到完成转换需要的时间。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autoUpdateAnimBg="0"/>
      <p:bldP spid="90117" grpId="0"/>
      <p:bldP spid="901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14">
            <a:extLst>
              <a:ext uri="{FF2B5EF4-FFF2-40B4-BE49-F238E27FC236}">
                <a16:creationId xmlns:a16="http://schemas.microsoft.com/office/drawing/2014/main" id="{EF43DCF5-BC2B-4832-BEA9-F12F9A72D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709"/>
            <a:ext cx="9144000" cy="68580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5B667A-0279-4506-BBDD-EF79C39D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F205C-D1A8-460B-88A8-4D923DFB497D}" type="slidenum">
              <a:rPr lang="en-US" altLang="zh-CN" b="0"/>
              <a:pPr/>
              <a:t>5</a:t>
            </a:fld>
            <a:endParaRPr lang="en-US" altLang="zh-CN" b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54C7C-5C57-444D-93F1-357D62107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" y="209600"/>
            <a:ext cx="34628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电流输出型</a:t>
            </a:r>
            <a:r>
              <a:rPr kumimoji="0" lang="en-US" altLang="zh-CN" sz="2400" dirty="0">
                <a:solidFill>
                  <a:schemeClr val="bg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DA</a:t>
            </a:r>
            <a:r>
              <a:rPr kumimoji="0"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转换原理</a:t>
            </a:r>
            <a:endParaRPr kumimoji="0" lang="en-US" altLang="zh-CN" sz="2000" dirty="0">
              <a:solidFill>
                <a:schemeClr val="bg1">
                  <a:lumMod val="60000"/>
                  <a:lumOff val="40000"/>
                </a:schemeClr>
              </a:solidFill>
              <a:latin typeface="Verdana" panose="020B0604030504040204" pitchFamily="34" charset="0"/>
            </a:endParaRPr>
          </a:p>
        </p:txBody>
      </p:sp>
      <p:grpSp>
        <p:nvGrpSpPr>
          <p:cNvPr id="9221" name="Group 12">
            <a:extLst>
              <a:ext uri="{FF2B5EF4-FFF2-40B4-BE49-F238E27FC236}">
                <a16:creationId xmlns:a16="http://schemas.microsoft.com/office/drawing/2014/main" id="{54224DC2-1D2F-4723-9DCF-A86C37612A8E}"/>
              </a:ext>
            </a:extLst>
          </p:cNvPr>
          <p:cNvGrpSpPr>
            <a:grpSpLocks/>
          </p:cNvGrpSpPr>
          <p:nvPr/>
        </p:nvGrpSpPr>
        <p:grpSpPr bwMode="auto">
          <a:xfrm>
            <a:off x="1169404" y="643732"/>
            <a:ext cx="7154546" cy="3240088"/>
            <a:chOff x="527" y="901"/>
            <a:chExt cx="4173" cy="1808"/>
          </a:xfrm>
        </p:grpSpPr>
        <p:sp>
          <p:nvSpPr>
            <p:cNvPr id="9233" name="Line 16">
              <a:extLst>
                <a:ext uri="{FF2B5EF4-FFF2-40B4-BE49-F238E27FC236}">
                  <a16:creationId xmlns:a16="http://schemas.microsoft.com/office/drawing/2014/main" id="{62B0B5A9-5E73-4B2A-BE86-76FD1BFA09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5" y="910"/>
              <a:ext cx="0" cy="831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4" name="Line 17">
              <a:extLst>
                <a:ext uri="{FF2B5EF4-FFF2-40B4-BE49-F238E27FC236}">
                  <a16:creationId xmlns:a16="http://schemas.microsoft.com/office/drawing/2014/main" id="{6D94ACA2-C9A2-4A32-B44F-76BF35036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" y="901"/>
              <a:ext cx="411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Line 18">
              <a:extLst>
                <a:ext uri="{FF2B5EF4-FFF2-40B4-BE49-F238E27FC236}">
                  <a16:creationId xmlns:a16="http://schemas.microsoft.com/office/drawing/2014/main" id="{E701F260-7989-4319-89CE-B0524F24A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909"/>
              <a:ext cx="0" cy="839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Line 19">
              <a:extLst>
                <a:ext uri="{FF2B5EF4-FFF2-40B4-BE49-F238E27FC236}">
                  <a16:creationId xmlns:a16="http://schemas.microsoft.com/office/drawing/2014/main" id="{803027BC-2E88-45AB-BC20-75F8D10AE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" y="1756"/>
              <a:ext cx="4131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37" name="Object 20">
              <a:extLst>
                <a:ext uri="{FF2B5EF4-FFF2-40B4-BE49-F238E27FC236}">
                  <a16:creationId xmlns:a16="http://schemas.microsoft.com/office/drawing/2014/main" id="{0C976340-FEF5-4C48-9721-74473FF58C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" y="1034"/>
            <a:ext cx="4142" cy="1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2" name="Visio" r:id="rId3" imgW="3088243" imgH="1081326" progId="Visio.Drawing.6">
                    <p:embed/>
                  </p:oleObj>
                </mc:Choice>
                <mc:Fallback>
                  <p:oleObj name="Visio" r:id="rId3" imgW="3088243" imgH="1081326" progId="Visio.Drawing.6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13129" b="-1025"/>
                        <a:stretch>
                          <a:fillRect/>
                        </a:stretch>
                      </p:blipFill>
                      <p:spPr bwMode="auto">
                        <a:xfrm>
                          <a:off x="537" y="1034"/>
                          <a:ext cx="4142" cy="1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27">
            <a:extLst>
              <a:ext uri="{FF2B5EF4-FFF2-40B4-BE49-F238E27FC236}">
                <a16:creationId xmlns:a16="http://schemas.microsoft.com/office/drawing/2014/main" id="{7DFC0014-D96F-4344-AC3F-EFE34B95D185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3795713"/>
            <a:ext cx="8016875" cy="700087"/>
            <a:chOff x="560" y="2718"/>
            <a:chExt cx="5050" cy="441"/>
          </a:xfrm>
        </p:grpSpPr>
        <p:graphicFrame>
          <p:nvGraphicFramePr>
            <p:cNvPr id="9226" name="Object 4">
              <a:extLst>
                <a:ext uri="{FF2B5EF4-FFF2-40B4-BE49-F238E27FC236}">
                  <a16:creationId xmlns:a16="http://schemas.microsoft.com/office/drawing/2014/main" id="{B57BB70D-7BBE-41DE-AAA5-45937D4AAA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8" y="2718"/>
            <a:ext cx="619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" name="公式" r:id="rId5" imgW="774364" imgH="533169" progId="Equation.3">
                    <p:embed/>
                  </p:oleObj>
                </mc:Choice>
                <mc:Fallback>
                  <p:oleObj name="公式" r:id="rId5" imgW="774364" imgH="533169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8" y="2718"/>
                          <a:ext cx="619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FBD456CC-F52B-44EB-95A0-0996809E3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" y="2780"/>
              <a:ext cx="8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0" lang="zh-CN" alt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总电流</a:t>
              </a:r>
            </a:p>
          </p:txBody>
        </p:sp>
        <p:grpSp>
          <p:nvGrpSpPr>
            <p:cNvPr id="9228" name="Group 25">
              <a:extLst>
                <a:ext uri="{FF2B5EF4-FFF2-40B4-BE49-F238E27FC236}">
                  <a16:creationId xmlns:a16="http://schemas.microsoft.com/office/drawing/2014/main" id="{F62DDA43-D5F7-4627-854E-D07C38A1C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4" y="2760"/>
              <a:ext cx="3336" cy="399"/>
              <a:chOff x="559" y="3097"/>
              <a:chExt cx="3336" cy="399"/>
            </a:xfrm>
          </p:grpSpPr>
          <p:pic>
            <p:nvPicPr>
              <p:cNvPr id="9229" name="Picture 7">
                <a:extLst>
                  <a:ext uri="{FF2B5EF4-FFF2-40B4-BE49-F238E27FC236}">
                    <a16:creationId xmlns:a16="http://schemas.microsoft.com/office/drawing/2014/main" id="{73345A10-4A4B-4ACA-B363-35B255E2E5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922" t="48167" r="63528" b="45026"/>
              <a:stretch>
                <a:fillRect/>
              </a:stretch>
            </p:blipFill>
            <p:spPr bwMode="auto">
              <a:xfrm>
                <a:off x="1380" y="3097"/>
                <a:ext cx="1500" cy="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9">
                <a:extLst>
                  <a:ext uri="{FF2B5EF4-FFF2-40B4-BE49-F238E27FC236}">
                    <a16:creationId xmlns:a16="http://schemas.microsoft.com/office/drawing/2014/main" id="{4BBB3301-1C6C-4D43-83BA-43065D3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" y="3155"/>
                <a:ext cx="101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spcBef>
                    <a:spcPct val="50000"/>
                  </a:spcBef>
                  <a:buFontTx/>
                  <a:buNone/>
                  <a:defRPr kumimoji="0" sz="24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latin typeface="Times New Roman" panose="02020603050405020304" pitchFamily="18" charset="0"/>
                  </a:defRPr>
                </a:lvl9pPr>
              </a:lstStyle>
              <a:p>
                <a:r>
                  <a:rPr lang="zh-CN" altLang="en-US" dirty="0"/>
                  <a:t>分支电流</a:t>
                </a:r>
              </a:p>
            </p:txBody>
          </p:sp>
          <p:sp>
            <p:nvSpPr>
              <p:cNvPr id="22" name="Text Box 10">
                <a:extLst>
                  <a:ext uri="{FF2B5EF4-FFF2-40B4-BE49-F238E27FC236}">
                    <a16:creationId xmlns:a16="http://schemas.microsoft.com/office/drawing/2014/main" id="{7B3EF40A-362F-4E5C-B11A-DB5B256047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3" y="3097"/>
                <a:ext cx="7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kumimoji="0" lang="en-US" altLang="zh-CN" sz="240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……</a:t>
                </a:r>
              </a:p>
            </p:txBody>
          </p:sp>
          <p:graphicFrame>
            <p:nvGraphicFramePr>
              <p:cNvPr id="9232" name="Object 4">
                <a:extLst>
                  <a:ext uri="{FF2B5EF4-FFF2-40B4-BE49-F238E27FC236}">
                    <a16:creationId xmlns:a16="http://schemas.microsoft.com/office/drawing/2014/main" id="{CB424859-99B3-4541-96A0-0D07CB5C5D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18" y="3132"/>
              <a:ext cx="477" cy="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4" name="公式" r:id="rId8" imgW="596900" imgH="457200" progId="Equation.3">
                      <p:embed/>
                    </p:oleObj>
                  </mc:Choice>
                  <mc:Fallback>
                    <p:oleObj name="公式" r:id="rId8" imgW="596900" imgH="4572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18" y="3132"/>
                            <a:ext cx="477" cy="3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F7C4DF41-FC5C-4705-8F98-2BF628E9B1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0738" y="4460875"/>
          <a:ext cx="517525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公式" r:id="rId10" imgW="3695700" imgH="863600" progId="Equation.3">
                  <p:embed/>
                </p:oleObj>
              </mc:Choice>
              <mc:Fallback>
                <p:oleObj name="公式" r:id="rId10" imgW="3695700" imgH="863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4460875"/>
                        <a:ext cx="5175250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8">
            <a:extLst>
              <a:ext uri="{FF2B5EF4-FFF2-40B4-BE49-F238E27FC236}">
                <a16:creationId xmlns:a16="http://schemas.microsoft.com/office/drawing/2014/main" id="{B53B773A-9870-46E2-9A7F-F91D4A343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46178"/>
            <a:ext cx="8120063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转换电流</a:t>
            </a:r>
            <a:r>
              <a:rPr lang="en-US" altLang="zh-CN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I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01</a:t>
            </a:r>
            <a:r>
              <a:rPr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与“逻辑开关”为</a:t>
            </a:r>
            <a:r>
              <a:rPr lang="en-US" altLang="zh-CN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1</a:t>
            </a:r>
            <a:r>
              <a:rPr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的各支路电流的总和成正比，即转换电流与</a:t>
            </a:r>
            <a:r>
              <a:rPr lang="en-US" altLang="zh-CN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D0</a:t>
            </a:r>
            <a:r>
              <a:rPr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～</a:t>
            </a:r>
            <a:r>
              <a:rPr lang="en-US" altLang="zh-CN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D7</a:t>
            </a:r>
            <a:r>
              <a:rPr lang="zh-CN" altLang="en-US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成正比。 </a:t>
            </a: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363FFB84-43CB-4736-B1EB-C13F29AB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4471988"/>
            <a:ext cx="11731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1800">
                <a:solidFill>
                  <a:schemeClr val="bg1">
                    <a:lumMod val="60000"/>
                    <a:lumOff val="40000"/>
                  </a:schemeClr>
                </a:solidFill>
              </a:rPr>
              <a:t>转换电流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4C470-5487-461D-A7C4-4CF1D8DB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46DF6B-6F5E-4DB6-8B0B-B84E4D500361}" type="slidenum">
              <a:rPr lang="en-US" altLang="zh-CN" b="0"/>
              <a:pPr/>
              <a:t>6</a:t>
            </a:fld>
            <a:endParaRPr lang="en-US" altLang="zh-CN" b="0"/>
          </a:p>
        </p:txBody>
      </p:sp>
      <p:pic>
        <p:nvPicPr>
          <p:cNvPr id="10243" name="图片 4">
            <a:extLst>
              <a:ext uri="{FF2B5EF4-FFF2-40B4-BE49-F238E27FC236}">
                <a16:creationId xmlns:a16="http://schemas.microsoft.com/office/drawing/2014/main" id="{B370DF32-D5DD-4A27-B9A7-7C3D14218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04813"/>
            <a:ext cx="8780463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2020437-382A-4D10-ADAB-D97F43596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824288"/>
            <a:ext cx="77057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62A5D17-7B92-4A9C-8F74-7BCBEB5BE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5275263"/>
            <a:ext cx="7799388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34AF82E7-6057-4623-848E-C5BE038AE506}"/>
              </a:ext>
            </a:extLst>
          </p:cNvPr>
          <p:cNvGrpSpPr/>
          <p:nvPr/>
        </p:nvGrpSpPr>
        <p:grpSpPr>
          <a:xfrm>
            <a:off x="611188" y="4704135"/>
            <a:ext cx="7480821" cy="491381"/>
            <a:chOff x="611188" y="4704135"/>
            <a:chExt cx="7480821" cy="49138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B399229-3D4D-4549-A445-FD39C33AC7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82" t="7877" r="-832"/>
            <a:stretch/>
          </p:blipFill>
          <p:spPr bwMode="auto">
            <a:xfrm>
              <a:off x="611188" y="4704135"/>
              <a:ext cx="7480821" cy="491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8135587-64A3-4B26-8D17-CBF0B7B53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6052" y="4770739"/>
              <a:ext cx="720080" cy="358171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64C09F5-74AF-4CFE-A817-43A2727A51BB}"/>
                </a:ext>
              </a:extLst>
            </p:cNvPr>
            <p:cNvSpPr txBox="1"/>
            <p:nvPr/>
          </p:nvSpPr>
          <p:spPr>
            <a:xfrm>
              <a:off x="2699792" y="4818746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REF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712FEE46-BBA8-462A-99A6-DA709E12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D5A93E-886B-4486-B892-B9E588ACE9B4}" type="slidenum">
              <a:rPr lang="en-US" altLang="zh-CN" b="0"/>
              <a:pPr/>
              <a:t>7</a:t>
            </a:fld>
            <a:endParaRPr lang="en-US" altLang="zh-CN" b="0"/>
          </a:p>
        </p:txBody>
      </p:sp>
      <p:sp>
        <p:nvSpPr>
          <p:cNvPr id="103426" name="Text Box 2">
            <a:extLst>
              <a:ext uri="{FF2B5EF4-FFF2-40B4-BE49-F238E27FC236}">
                <a16:creationId xmlns:a16="http://schemas.microsoft.com/office/drawing/2014/main" id="{56295A15-1696-4120-82A9-2B001D46B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79625"/>
            <a:ext cx="77724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/>
              <a:t>是</a:t>
            </a:r>
            <a:r>
              <a:rPr lang="en-US" altLang="zh-CN"/>
              <a:t>8</a:t>
            </a:r>
            <a:r>
              <a:rPr lang="zh-CN" altLang="en-US"/>
              <a:t>位双缓冲器</a:t>
            </a:r>
            <a:r>
              <a:rPr lang="en-US" altLang="zh-CN"/>
              <a:t>D/A</a:t>
            </a:r>
            <a:r>
              <a:rPr lang="zh-CN" altLang="en-US"/>
              <a:t>转换器。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/>
              <a:t>主要性能参数：分辨率</a:t>
            </a:r>
            <a:r>
              <a:rPr lang="en-US" altLang="zh-CN"/>
              <a:t>8</a:t>
            </a:r>
            <a:r>
              <a:rPr lang="zh-CN" altLang="en-US"/>
              <a:t>位；转换时间</a:t>
            </a:r>
            <a:r>
              <a:rPr lang="en-US" altLang="zh-CN"/>
              <a:t>1us</a:t>
            </a:r>
            <a:r>
              <a:rPr lang="zh-CN" altLang="en-US"/>
              <a:t>；参考电压</a:t>
            </a:r>
            <a:r>
              <a:rPr lang="en-US" altLang="zh-CN"/>
              <a:t>±10V</a:t>
            </a:r>
            <a:r>
              <a:rPr lang="zh-CN" altLang="en-US"/>
              <a:t>；单电源＋</a:t>
            </a:r>
            <a:r>
              <a:rPr lang="en-US" altLang="zh-CN"/>
              <a:t>5V</a:t>
            </a:r>
            <a:r>
              <a:rPr lang="zh-CN" altLang="en-US"/>
              <a:t>～</a:t>
            </a:r>
            <a:r>
              <a:rPr lang="en-US" altLang="zh-CN"/>
              <a:t>+15V</a:t>
            </a:r>
            <a:r>
              <a:rPr lang="zh-CN" altLang="en-US"/>
              <a:t>供电，功耗</a:t>
            </a:r>
            <a:r>
              <a:rPr lang="en-US" altLang="zh-CN"/>
              <a:t>20mw</a:t>
            </a:r>
            <a:r>
              <a:rPr lang="zh-CN" altLang="en-US"/>
              <a:t>。</a:t>
            </a:r>
          </a:p>
        </p:txBody>
      </p:sp>
      <p:sp>
        <p:nvSpPr>
          <p:cNvPr id="103427" name="Text Box 3">
            <a:extLst>
              <a:ext uri="{FF2B5EF4-FFF2-40B4-BE49-F238E27FC236}">
                <a16:creationId xmlns:a16="http://schemas.microsoft.com/office/drawing/2014/main" id="{3F1E1950-52DB-42DE-96F7-F51D43841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" y="1409700"/>
            <a:ext cx="7240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DAC0832</a:t>
            </a:r>
            <a:r>
              <a:rPr lang="zh-CN" altLang="en-US" dirty="0"/>
              <a:t>的结构</a:t>
            </a:r>
          </a:p>
        </p:txBody>
      </p:sp>
      <p:sp>
        <p:nvSpPr>
          <p:cNvPr id="103428" name="Text Box 4">
            <a:extLst>
              <a:ext uri="{FF2B5EF4-FFF2-40B4-BE49-F238E27FC236}">
                <a16:creationId xmlns:a16="http://schemas.microsoft.com/office/drawing/2014/main" id="{841C2EE1-4ACF-44DA-BACB-550781C15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"/>
            <a:ext cx="807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二、</a:t>
            </a:r>
            <a:r>
              <a:rPr lang="en-US" altLang="zh-CN" dirty="0"/>
              <a:t>D/A</a:t>
            </a:r>
            <a:r>
              <a:rPr lang="zh-CN" altLang="en-US" dirty="0"/>
              <a:t>转换器芯片 </a:t>
            </a:r>
            <a:r>
              <a:rPr lang="en-US" altLang="zh-CN" dirty="0"/>
              <a:t>——DAC0832</a:t>
            </a:r>
          </a:p>
        </p:txBody>
      </p:sp>
      <p:sp>
        <p:nvSpPr>
          <p:cNvPr id="103430" name="Text Box 6">
            <a:extLst>
              <a:ext uri="{FF2B5EF4-FFF2-40B4-BE49-F238E27FC236}">
                <a16:creationId xmlns:a16="http://schemas.microsoft.com/office/drawing/2014/main" id="{10BC6063-5BC1-4E4B-A10A-326D23C8C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81525"/>
            <a:ext cx="748823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DAC0832</a:t>
            </a:r>
            <a:r>
              <a:rPr kumimoji="1" lang="zh-CN" altLang="en-US"/>
              <a:t>是典型的</a:t>
            </a:r>
            <a:r>
              <a:rPr kumimoji="1" lang="en-US" altLang="zh-CN"/>
              <a:t>8</a:t>
            </a:r>
            <a:r>
              <a:rPr kumimoji="1" lang="zh-CN" altLang="en-US"/>
              <a:t>位电流输出型通用</a:t>
            </a:r>
            <a:r>
              <a:rPr kumimoji="1" lang="en-US" altLang="zh-CN"/>
              <a:t>DAC</a:t>
            </a:r>
            <a:r>
              <a:rPr kumimoji="1" lang="zh-CN" altLang="en-US"/>
              <a:t>芯片。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autoUpdateAnimBg="0"/>
      <p:bldP spid="103427" grpId="0" autoUpdateAnimBg="0"/>
      <p:bldP spid="103428" grpId="0" autoUpdateAnimBg="0"/>
      <p:bldP spid="1034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EAEB3C-C985-4F2A-9870-273F7633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9297-7B85-4BEB-9245-3071BE7FFD67}" type="slidenum">
              <a:rPr lang="en-US" altLang="zh-CN" smtClean="0"/>
              <a:pPr/>
              <a:t>8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8BBABB-E9C8-4BF4-9ECC-C72C2A864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7" y="980728"/>
            <a:ext cx="3994373" cy="4104456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94F2FB7B-31E2-46FC-9CCE-8C466ED2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983804"/>
            <a:ext cx="4244975" cy="430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 dirty="0"/>
              <a:t>主要特性参数</a:t>
            </a:r>
          </a:p>
          <a:p>
            <a:pPr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转换器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分辨率 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19.5mV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400" dirty="0">
                <a:latin typeface="宋体" panose="02010600030101010101" pitchFamily="2" charset="-122"/>
                <a:cs typeface="Times New Roman" panose="02020603050405020304" pitchFamily="18" charset="0"/>
              </a:rPr>
              <a:t>REF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=5V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） 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转换时间  １</a:t>
            </a:r>
            <a:r>
              <a:rPr lang="en-US" altLang="zh-CN" sz="240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μS</a:t>
            </a:r>
            <a:endParaRPr lang="en-US" altLang="zh-CN" sz="24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/>
              <a:t>电流输出型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数字量并行输入方式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参考电压  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-10V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～＋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10V</a:t>
            </a: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工作电压  ＋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5V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～＋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15V</a:t>
            </a:r>
            <a:endParaRPr lang="zh-CN" altLang="en-US" sz="24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功耗 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20m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Ｗ</a:t>
            </a:r>
            <a:r>
              <a:rPr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1091218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493630CF-4A66-4DD8-BD93-616DAA4B9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59" y="317500"/>
            <a:ext cx="781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FontTx/>
              <a:buNone/>
            </a:pPr>
            <a:r>
              <a:rPr kumimoji="0" lang="en-US" altLang="zh-CN" sz="2400" dirty="0">
                <a:latin typeface="Verdana" panose="020B0604030504040204" pitchFamily="34" charset="0"/>
              </a:rPr>
              <a:t>DAC0832</a:t>
            </a:r>
            <a:r>
              <a:rPr kumimoji="0" lang="zh-CN" altLang="en-US" sz="2400" dirty="0">
                <a:latin typeface="Verdana" panose="020B0604030504040204" pitchFamily="34" charset="0"/>
              </a:rPr>
              <a:t>的结构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956722D-FFC6-409C-9630-666A4032C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第</a:t>
            </a:r>
            <a:r>
              <a:rPr lang="en-US" altLang="zh-CN" sz="1600"/>
              <a:t>8</a:t>
            </a:r>
            <a:r>
              <a:rPr lang="zh-CN" altLang="en-US" sz="1600"/>
              <a:t>章  单片机接口技术</a:t>
            </a:r>
          </a:p>
        </p:txBody>
      </p:sp>
      <p:sp>
        <p:nvSpPr>
          <p:cNvPr id="1473542" name="Rectangle 6">
            <a:extLst>
              <a:ext uri="{FF2B5EF4-FFF2-40B4-BE49-F238E27FC236}">
                <a16:creationId xmlns:a16="http://schemas.microsoft.com/office/drawing/2014/main" id="{6A6BBF11-8CE7-44A0-83BF-70A418C20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1628800"/>
            <a:ext cx="3305175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FontTx/>
              <a:buNone/>
            </a:pPr>
            <a:r>
              <a:rPr kumimoji="0" lang="zh-CN" altLang="en-US" sz="2400" dirty="0"/>
              <a:t>内部组成：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kumimoji="0" lang="en-US" altLang="zh-CN" sz="2400" dirty="0"/>
              <a:t>1</a:t>
            </a:r>
            <a:r>
              <a:rPr kumimoji="0" lang="zh-CN" altLang="en-US" sz="2400" dirty="0"/>
              <a:t>个</a:t>
            </a:r>
            <a:r>
              <a:rPr kumimoji="0" lang="en-US" altLang="zh-CN" sz="2400" dirty="0"/>
              <a:t>8</a:t>
            </a:r>
            <a:r>
              <a:rPr kumimoji="0" lang="zh-CN" altLang="en-US" sz="2400" dirty="0"/>
              <a:t>位输入锁存器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kumimoji="0" lang="en-US" altLang="zh-CN" sz="2400" dirty="0"/>
              <a:t>1</a:t>
            </a:r>
            <a:r>
              <a:rPr kumimoji="0" lang="zh-CN" altLang="en-US" sz="2400" dirty="0"/>
              <a:t>个</a:t>
            </a:r>
            <a:r>
              <a:rPr kumimoji="0" lang="en-US" altLang="zh-CN" sz="2400" dirty="0"/>
              <a:t>8</a:t>
            </a:r>
            <a:r>
              <a:rPr kumimoji="0" lang="zh-CN" altLang="en-US" sz="2400" dirty="0"/>
              <a:t>位</a:t>
            </a:r>
            <a:r>
              <a:rPr kumimoji="0" lang="en-US" altLang="zh-CN" sz="2400" dirty="0"/>
              <a:t>DAC</a:t>
            </a:r>
            <a:r>
              <a:rPr kumimoji="0" lang="zh-CN" altLang="en-US" sz="2400" dirty="0"/>
              <a:t>寄存器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kumimoji="0" lang="en-US" altLang="zh-CN" sz="2400" dirty="0"/>
              <a:t>1</a:t>
            </a:r>
            <a:r>
              <a:rPr kumimoji="0" lang="zh-CN" altLang="en-US" sz="2400" dirty="0"/>
              <a:t>个</a:t>
            </a:r>
            <a:r>
              <a:rPr kumimoji="0" lang="en-US" altLang="zh-CN" sz="2400" dirty="0"/>
              <a:t>8</a:t>
            </a:r>
            <a:r>
              <a:rPr kumimoji="0" lang="zh-CN" altLang="en-US" sz="2400" dirty="0"/>
              <a:t>位</a:t>
            </a:r>
            <a:r>
              <a:rPr kumimoji="0" lang="en-US" altLang="zh-CN" sz="2400" dirty="0"/>
              <a:t>D/A</a:t>
            </a:r>
            <a:r>
              <a:rPr kumimoji="0" lang="zh-CN" altLang="en-US" sz="2400" dirty="0"/>
              <a:t>转换器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kumimoji="0" lang="en-US" altLang="zh-CN" sz="2400" dirty="0"/>
              <a:t>5</a:t>
            </a:r>
            <a:r>
              <a:rPr kumimoji="0" lang="zh-CN" altLang="en-US" sz="2400" dirty="0"/>
              <a:t>个</a:t>
            </a:r>
            <a:r>
              <a:rPr lang="zh-CN" altLang="en-US" sz="2400" dirty="0"/>
              <a:t>控制端（</a:t>
            </a:r>
            <a:r>
              <a:rPr lang="en-US" altLang="zh-CN" sz="2400" dirty="0"/>
              <a:t>2</a:t>
            </a:r>
            <a:r>
              <a:rPr lang="zh-CN" altLang="en-US" sz="2400" dirty="0"/>
              <a:t>级控制）</a:t>
            </a:r>
          </a:p>
        </p:txBody>
      </p:sp>
      <p:sp>
        <p:nvSpPr>
          <p:cNvPr id="1473543" name="Text Box 7">
            <a:extLst>
              <a:ext uri="{FF2B5EF4-FFF2-40B4-BE49-F238E27FC236}">
                <a16:creationId xmlns:a16="http://schemas.microsoft.com/office/drawing/2014/main" id="{A0EA5ADD-2E84-4A72-A63E-CF2175B63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75" y="4100513"/>
            <a:ext cx="7213600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工作过程</a:t>
            </a:r>
            <a:r>
              <a:rPr lang="zh-CN" alt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：</a:t>
            </a:r>
          </a:p>
          <a:p>
            <a:pPr eaLnBrk="1" hangingPunct="1">
              <a:spcBef>
                <a:spcPct val="10000"/>
              </a:spcBef>
              <a:buFontTx/>
              <a:buAutoNum type="circleNumDbPlain"/>
            </a:pPr>
            <a:r>
              <a:rPr lang="en-US" altLang="zh-CN" sz="2400" dirty="0"/>
              <a:t>8</a:t>
            </a:r>
            <a:r>
              <a:rPr lang="zh-CN" altLang="en-US" sz="2400" dirty="0"/>
              <a:t>位并行数据到达</a:t>
            </a:r>
            <a:r>
              <a:rPr lang="zh-CN" altLang="en-US" sz="2400" b="1" dirty="0">
                <a:solidFill>
                  <a:srgbClr val="FFFF00"/>
                </a:solidFill>
              </a:rPr>
              <a:t>输入锁存器</a:t>
            </a:r>
            <a:r>
              <a:rPr lang="zh-CN" altLang="en-US" sz="2400" dirty="0"/>
              <a:t>输入端；</a:t>
            </a:r>
          </a:p>
          <a:p>
            <a:pPr eaLnBrk="1" hangingPunct="1">
              <a:spcBef>
                <a:spcPct val="10000"/>
              </a:spcBef>
              <a:buFontTx/>
              <a:buAutoNum type="circleNumDbPlain"/>
            </a:pPr>
            <a:r>
              <a:rPr lang="en-US" altLang="zh-CN" sz="2400" dirty="0"/>
              <a:t>1</a:t>
            </a:r>
            <a:r>
              <a:rPr lang="zh-CN" altLang="en-US" sz="2400" dirty="0"/>
              <a:t>级控制允许后，数据到达</a:t>
            </a:r>
            <a:r>
              <a:rPr lang="en-US" altLang="zh-CN" sz="2400" b="1" dirty="0">
                <a:solidFill>
                  <a:srgbClr val="FFFF00"/>
                </a:solidFill>
              </a:rPr>
              <a:t>DAC</a:t>
            </a:r>
            <a:r>
              <a:rPr lang="zh-CN" altLang="en-US" sz="2400" b="1" dirty="0">
                <a:solidFill>
                  <a:srgbClr val="FFFF00"/>
                </a:solidFill>
              </a:rPr>
              <a:t>寄存器</a:t>
            </a:r>
            <a:r>
              <a:rPr lang="zh-CN" altLang="en-US" sz="2400" dirty="0"/>
              <a:t>输入端；</a:t>
            </a:r>
            <a:endParaRPr lang="zh-CN" altLang="en-US" sz="2400" b="1" dirty="0">
              <a:solidFill>
                <a:srgbClr val="CC3300"/>
              </a:solidFill>
            </a:endParaRPr>
          </a:p>
          <a:p>
            <a:pPr eaLnBrk="1" hangingPunct="1">
              <a:spcBef>
                <a:spcPct val="10000"/>
              </a:spcBef>
              <a:buFontTx/>
              <a:buAutoNum type="circleNumDbPlain"/>
            </a:pPr>
            <a:r>
              <a:rPr lang="en-US" altLang="zh-CN" sz="2400" dirty="0"/>
              <a:t>2</a:t>
            </a:r>
            <a:r>
              <a:rPr lang="zh-CN" altLang="en-US" sz="2400" dirty="0"/>
              <a:t>级控制允许后，数据达到</a:t>
            </a:r>
            <a:r>
              <a:rPr lang="en-US" altLang="zh-CN" sz="2400" b="1" dirty="0">
                <a:solidFill>
                  <a:srgbClr val="FFFF00"/>
                </a:solidFill>
              </a:rPr>
              <a:t>D/A</a:t>
            </a:r>
            <a:r>
              <a:rPr lang="zh-CN" altLang="en-US" sz="2400" b="1" dirty="0">
                <a:solidFill>
                  <a:srgbClr val="FFFF00"/>
                </a:solidFill>
              </a:rPr>
              <a:t>转换器</a:t>
            </a:r>
            <a:r>
              <a:rPr lang="zh-CN" altLang="en-US" sz="2400" b="1" dirty="0">
                <a:solidFill>
                  <a:srgbClr val="CC3300"/>
                </a:solidFill>
              </a:rPr>
              <a:t>；</a:t>
            </a:r>
          </a:p>
          <a:p>
            <a:pPr eaLnBrk="1" hangingPunct="1">
              <a:spcBef>
                <a:spcPct val="10000"/>
              </a:spcBef>
              <a:buFontTx/>
              <a:buAutoNum type="circleNumDbPlain"/>
            </a:pPr>
            <a:r>
              <a:rPr lang="zh-CN" altLang="en-US" sz="2400" dirty="0"/>
              <a:t>１</a:t>
            </a:r>
            <a:r>
              <a:rPr lang="el-GR" altLang="zh-CN" sz="2400" dirty="0">
                <a:cs typeface="Times New Roman" panose="02020603050405020304" pitchFamily="18" charset="0"/>
              </a:rPr>
              <a:t>μ</a:t>
            </a:r>
            <a:r>
              <a:rPr lang="en-US" altLang="zh-CN" sz="2400" dirty="0"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cs typeface="Times New Roman" panose="02020603050405020304" pitchFamily="18" charset="0"/>
              </a:rPr>
              <a:t>后，</a:t>
            </a:r>
            <a:r>
              <a:rPr lang="zh-CN" altLang="en-US" sz="2400" dirty="0"/>
              <a:t>转换电流由</a:t>
            </a:r>
            <a:r>
              <a:rPr lang="en-US" altLang="zh-CN" sz="2400" b="1" dirty="0">
                <a:solidFill>
                  <a:srgbClr val="FFFF00"/>
                </a:solidFill>
              </a:rPr>
              <a:t>Iout1</a:t>
            </a:r>
            <a:r>
              <a:rPr lang="zh-CN" altLang="en-US" sz="2400" dirty="0"/>
              <a:t>引脚输出；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DF6FA7-D231-4942-B210-D7666645E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" y="895350"/>
            <a:ext cx="6218459" cy="320516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3542" grpId="0"/>
      <p:bldP spid="14735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8DA17F8-54C5-454C-888C-EE323FAD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014382-7384-4F59-A08A-6C9FCDCE38B7}" type="slidenum">
              <a:rPr lang="en-US" altLang="zh-CN" b="0"/>
              <a:pPr/>
              <a:t>10</a:t>
            </a:fld>
            <a:endParaRPr lang="en-US" altLang="zh-CN" b="0"/>
          </a:p>
        </p:txBody>
      </p:sp>
      <p:pic>
        <p:nvPicPr>
          <p:cNvPr id="12291" name="Picture 4" descr="8t20">
            <a:extLst>
              <a:ext uri="{FF2B5EF4-FFF2-40B4-BE49-F238E27FC236}">
                <a16:creationId xmlns:a16="http://schemas.microsoft.com/office/drawing/2014/main" id="{989E80A9-0133-4DAA-B5BE-BEFD25869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78402"/>
            <a:ext cx="8893175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 Box 5">
            <a:extLst>
              <a:ext uri="{FF2B5EF4-FFF2-40B4-BE49-F238E27FC236}">
                <a16:creationId xmlns:a16="http://schemas.microsoft.com/office/drawing/2014/main" id="{03BC7781-8839-4CE9-BC96-DF77153AC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31" y="6167730"/>
            <a:ext cx="7704138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FFFF00"/>
                </a:solidFill>
              </a:rPr>
              <a:t>DAC0832</a:t>
            </a:r>
            <a:r>
              <a:rPr lang="zh-CN" altLang="en-US" dirty="0">
                <a:solidFill>
                  <a:srgbClr val="FFFF00"/>
                </a:solidFill>
              </a:rPr>
              <a:t>内部结构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12293" name="Text Box 7">
            <a:extLst>
              <a:ext uri="{FF2B5EF4-FFF2-40B4-BE49-F238E27FC236}">
                <a16:creationId xmlns:a16="http://schemas.microsoft.com/office/drawing/2014/main" id="{6D541F56-3565-427E-A820-CEA4C5A19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6" y="1989138"/>
            <a:ext cx="863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LE1</a:t>
            </a:r>
          </a:p>
        </p:txBody>
      </p:sp>
      <p:sp>
        <p:nvSpPr>
          <p:cNvPr id="12294" name="Text Box 8">
            <a:extLst>
              <a:ext uri="{FF2B5EF4-FFF2-40B4-BE49-F238E27FC236}">
                <a16:creationId xmlns:a16="http://schemas.microsoft.com/office/drawing/2014/main" id="{F67C19B7-5128-466A-95D7-6EB52824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89138"/>
            <a:ext cx="10081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LE2</a:t>
            </a:r>
          </a:p>
        </p:txBody>
      </p:sp>
      <p:sp>
        <p:nvSpPr>
          <p:cNvPr id="169993" name="Text Box 9">
            <a:extLst>
              <a:ext uri="{FF2B5EF4-FFF2-40B4-BE49-F238E27FC236}">
                <a16:creationId xmlns:a16="http://schemas.microsoft.com/office/drawing/2014/main" id="{46E24B07-D7D6-42FA-9A9F-BB04C444B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2349500"/>
            <a:ext cx="12954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</a:rPr>
              <a:t>跟随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0</a:t>
            </a:r>
            <a:r>
              <a:rPr lang="zh-CN" altLang="en-US" sz="2400">
                <a:solidFill>
                  <a:srgbClr val="0000FF"/>
                </a:solidFill>
              </a:rPr>
              <a:t>锁存</a:t>
            </a:r>
          </a:p>
        </p:txBody>
      </p:sp>
      <p:sp>
        <p:nvSpPr>
          <p:cNvPr id="12296" name="Text Box 10">
            <a:extLst>
              <a:ext uri="{FF2B5EF4-FFF2-40B4-BE49-F238E27FC236}">
                <a16:creationId xmlns:a16="http://schemas.microsoft.com/office/drawing/2014/main" id="{C35AC30C-5A44-4F25-A5C7-EEE5C1D86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357563"/>
            <a:ext cx="50403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pic>
        <p:nvPicPr>
          <p:cNvPr id="169999" name="Picture 15">
            <a:extLst>
              <a:ext uri="{FF2B5EF4-FFF2-40B4-BE49-F238E27FC236}">
                <a16:creationId xmlns:a16="http://schemas.microsoft.com/office/drawing/2014/main" id="{DEF3F511-BD50-4F28-A8B2-DC1D354F7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56" y="4832710"/>
            <a:ext cx="6769100" cy="135431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000" name="Text Box 16">
            <a:extLst>
              <a:ext uri="{FF2B5EF4-FFF2-40B4-BE49-F238E27FC236}">
                <a16:creationId xmlns:a16="http://schemas.microsoft.com/office/drawing/2014/main" id="{4F347FA3-9349-43B2-A4BE-3218CED5B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55863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0002" name="Text Box 18">
            <a:extLst>
              <a:ext uri="{FF2B5EF4-FFF2-40B4-BE49-F238E27FC236}">
                <a16:creationId xmlns:a16="http://schemas.microsoft.com/office/drawing/2014/main" id="{6A43B124-DE74-4B59-BDAD-CB1680367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3908425"/>
            <a:ext cx="576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170003" name="Text Box 19">
            <a:extLst>
              <a:ext uri="{FF2B5EF4-FFF2-40B4-BE49-F238E27FC236}">
                <a16:creationId xmlns:a16="http://schemas.microsoft.com/office/drawing/2014/main" id="{FCACF3E0-0786-4947-A17E-8E445AF75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636838"/>
            <a:ext cx="576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0004" name="Text Box 20">
            <a:extLst>
              <a:ext uri="{FF2B5EF4-FFF2-40B4-BE49-F238E27FC236}">
                <a16:creationId xmlns:a16="http://schemas.microsoft.com/office/drawing/2014/main" id="{88FFECAF-3F5E-46B9-93CB-DC5208206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327525"/>
            <a:ext cx="576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0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500"/>
                                        <p:tgtEl>
                                          <p:spTgt spid="17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3" grpId="0" autoUpdateAnimBg="0"/>
      <p:bldP spid="170000" grpId="0"/>
      <p:bldP spid="170002" grpId="0"/>
      <p:bldP spid="170003" grpId="0"/>
      <p:bldP spid="1700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AEFF5FFA-5A76-4CB2-8286-00838887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26D21A-42E6-48CA-A555-64BDDE4F210B}" type="slidenum">
              <a:rPr lang="en-US" altLang="zh-CN" b="0"/>
              <a:pPr/>
              <a:t>11</a:t>
            </a:fld>
            <a:endParaRPr lang="en-US" altLang="zh-CN" b="0"/>
          </a:p>
        </p:txBody>
      </p:sp>
      <p:pic>
        <p:nvPicPr>
          <p:cNvPr id="13315" name="Picture 2" descr="8t20">
            <a:extLst>
              <a:ext uri="{FF2B5EF4-FFF2-40B4-BE49-F238E27FC236}">
                <a16:creationId xmlns:a16="http://schemas.microsoft.com/office/drawing/2014/main" id="{9D12B368-B831-4F80-8964-6E4007EC4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88913"/>
            <a:ext cx="8893175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 Box 3">
            <a:extLst>
              <a:ext uri="{FF2B5EF4-FFF2-40B4-BE49-F238E27FC236}">
                <a16:creationId xmlns:a16="http://schemas.microsoft.com/office/drawing/2014/main" id="{10304269-B809-4955-B7BA-3E7865629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165850"/>
            <a:ext cx="7704138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FFFF00"/>
                </a:solidFill>
              </a:rPr>
              <a:t>DAC0832</a:t>
            </a:r>
            <a:r>
              <a:rPr lang="zh-CN" altLang="en-US" dirty="0">
                <a:solidFill>
                  <a:srgbClr val="FFFF00"/>
                </a:solidFill>
              </a:rPr>
              <a:t>内部结构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6E95379C-0243-4F4E-AA9D-0B30805EE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1989138"/>
            <a:ext cx="71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FF"/>
                </a:solidFill>
              </a:rPr>
              <a:t>LE1</a:t>
            </a:r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B64695A1-349D-42B0-9C19-785A70724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89138"/>
            <a:ext cx="86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FF"/>
                </a:solidFill>
              </a:rPr>
              <a:t>LE2</a:t>
            </a:r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4A4428E0-642D-43D5-B6C7-C69D5392F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2349500"/>
            <a:ext cx="12954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zh-CN" altLang="en-US" sz="2400">
                <a:solidFill>
                  <a:srgbClr val="0000FF"/>
                </a:solidFill>
              </a:rPr>
              <a:t>跟随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0</a:t>
            </a:r>
            <a:r>
              <a:rPr lang="zh-CN" altLang="en-US" sz="2400">
                <a:solidFill>
                  <a:srgbClr val="0000FF"/>
                </a:solidFill>
              </a:rPr>
              <a:t>锁存</a:t>
            </a:r>
          </a:p>
        </p:txBody>
      </p:sp>
      <p:sp>
        <p:nvSpPr>
          <p:cNvPr id="172042" name="Text Box 10">
            <a:extLst>
              <a:ext uri="{FF2B5EF4-FFF2-40B4-BE49-F238E27FC236}">
                <a16:creationId xmlns:a16="http://schemas.microsoft.com/office/drawing/2014/main" id="{F59DC237-DF56-4159-9943-51781C73B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724400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172044" name="Text Box 12">
            <a:extLst>
              <a:ext uri="{FF2B5EF4-FFF2-40B4-BE49-F238E27FC236}">
                <a16:creationId xmlns:a16="http://schemas.microsoft.com/office/drawing/2014/main" id="{FC95EA5C-3996-4896-9DC1-694850364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157788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0</a:t>
            </a:r>
          </a:p>
        </p:txBody>
      </p:sp>
      <p:grpSp>
        <p:nvGrpSpPr>
          <p:cNvPr id="172050" name="Group 18">
            <a:extLst>
              <a:ext uri="{FF2B5EF4-FFF2-40B4-BE49-F238E27FC236}">
                <a16:creationId xmlns:a16="http://schemas.microsoft.com/office/drawing/2014/main" id="{74533B5C-114E-442F-8718-301EE572B9CA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3357563"/>
            <a:ext cx="5545137" cy="2314575"/>
            <a:chOff x="2018" y="2069"/>
            <a:chExt cx="3493" cy="1458"/>
          </a:xfrm>
        </p:grpSpPr>
        <p:sp>
          <p:nvSpPr>
            <p:cNvPr id="13324" name="Text Box 7">
              <a:extLst>
                <a:ext uri="{FF2B5EF4-FFF2-40B4-BE49-F238E27FC236}">
                  <a16:creationId xmlns:a16="http://schemas.microsoft.com/office/drawing/2014/main" id="{AFAD7F40-9702-4587-AEF7-BECD4EEAB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2115"/>
              <a:ext cx="31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13325" name="Text Box 11">
              <a:extLst>
                <a:ext uri="{FF2B5EF4-FFF2-40B4-BE49-F238E27FC236}">
                  <a16:creationId xmlns:a16="http://schemas.microsoft.com/office/drawing/2014/main" id="{186B1432-6F5E-4842-B8DE-D2955CE92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13"/>
              <a:ext cx="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66"/>
                  </a:solidFill>
                </a:rPr>
                <a:t>1</a:t>
              </a:r>
            </a:p>
          </p:txBody>
        </p:sp>
        <p:sp>
          <p:nvSpPr>
            <p:cNvPr id="13326" name="Text Box 13">
              <a:extLst>
                <a:ext uri="{FF2B5EF4-FFF2-40B4-BE49-F238E27FC236}">
                  <a16:creationId xmlns:a16="http://schemas.microsoft.com/office/drawing/2014/main" id="{028C7267-2AAA-469D-923E-CC9D46FB2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069"/>
              <a:ext cx="3447" cy="1458"/>
            </a:xfrm>
            <a:prstGeom prst="rect">
              <a:avLst/>
            </a:prstGeom>
            <a:solidFill>
              <a:srgbClr val="FFCC99"/>
            </a:solidFill>
            <a:ln w="317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5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WR2#</a:t>
              </a:r>
              <a:r>
                <a:rPr lang="zh-CN" altLang="en-US" sz="2400" dirty="0">
                  <a:solidFill>
                    <a:srgbClr val="0000FF"/>
                  </a:solidFill>
                </a:rPr>
                <a:t>和</a:t>
              </a:r>
              <a:r>
                <a:rPr lang="en-US" altLang="zh-CN" sz="2400" dirty="0">
                  <a:solidFill>
                    <a:srgbClr val="0000FF"/>
                  </a:solidFill>
                </a:rPr>
                <a:t>XFER#</a:t>
              </a:r>
              <a:r>
                <a:rPr lang="zh-CN" altLang="en-US" sz="2400" dirty="0">
                  <a:solidFill>
                    <a:srgbClr val="0000FF"/>
                  </a:solidFill>
                </a:rPr>
                <a:t>同时有效时，</a:t>
              </a:r>
              <a:r>
                <a:rPr lang="en-US" altLang="zh-CN" sz="2400" dirty="0">
                  <a:solidFill>
                    <a:srgbClr val="0000FF"/>
                  </a:solidFill>
                </a:rPr>
                <a:t>LE2=1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DAC</a:t>
              </a:r>
              <a:r>
                <a:rPr lang="zh-CN" altLang="en-US" sz="2400" dirty="0">
                  <a:solidFill>
                    <a:srgbClr val="0000FF"/>
                  </a:solidFill>
                </a:rPr>
                <a:t>寄存器输出随输入而变化；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0000FF"/>
                  </a:solidFill>
                </a:rPr>
                <a:t>当</a:t>
              </a:r>
              <a:r>
                <a:rPr lang="en-US" altLang="zh-CN" sz="2400" dirty="0">
                  <a:solidFill>
                    <a:srgbClr val="0000FF"/>
                  </a:solidFill>
                </a:rPr>
                <a:t>WR2#        </a:t>
              </a:r>
              <a:r>
                <a:rPr lang="zh-CN" altLang="en-US" sz="2400" dirty="0">
                  <a:solidFill>
                    <a:srgbClr val="0000FF"/>
                  </a:solidFill>
                </a:rPr>
                <a:t>时，</a:t>
              </a:r>
              <a:r>
                <a:rPr lang="en-US" altLang="zh-CN" sz="2400" dirty="0">
                  <a:solidFill>
                    <a:srgbClr val="0000FF"/>
                  </a:solidFill>
                </a:rPr>
                <a:t>LE2=0</a:t>
              </a:r>
              <a:r>
                <a:rPr lang="zh-CN" altLang="en-US" sz="2400" dirty="0">
                  <a:solidFill>
                    <a:srgbClr val="0000FF"/>
                  </a:solidFill>
                </a:rPr>
                <a:t>，数据锁存到</a:t>
              </a:r>
              <a:r>
                <a:rPr lang="en-US" altLang="zh-CN" sz="2400" dirty="0">
                  <a:solidFill>
                    <a:srgbClr val="0000FF"/>
                  </a:solidFill>
                </a:rPr>
                <a:t>DAC</a:t>
              </a:r>
              <a:r>
                <a:rPr lang="zh-CN" altLang="en-US" sz="2400" dirty="0">
                  <a:solidFill>
                    <a:srgbClr val="0000FF"/>
                  </a:solidFill>
                </a:rPr>
                <a:t>寄存器，数据进入</a:t>
              </a:r>
              <a:r>
                <a:rPr lang="en-US" altLang="zh-CN" sz="2400" dirty="0">
                  <a:solidFill>
                    <a:srgbClr val="0000FF"/>
                  </a:solidFill>
                </a:rPr>
                <a:t>D/A</a:t>
              </a:r>
              <a:r>
                <a:rPr lang="zh-CN" altLang="en-US" sz="2400" dirty="0">
                  <a:solidFill>
                    <a:srgbClr val="0000FF"/>
                  </a:solidFill>
                </a:rPr>
                <a:t>转换器，开始转换</a:t>
              </a:r>
            </a:p>
          </p:txBody>
        </p:sp>
        <p:sp>
          <p:nvSpPr>
            <p:cNvPr id="13327" name="Line 15">
              <a:extLst>
                <a:ext uri="{FF2B5EF4-FFF2-40B4-BE49-F238E27FC236}">
                  <a16:creationId xmlns:a16="http://schemas.microsoft.com/office/drawing/2014/main" id="{F27BD68E-5EDC-4FA1-A2C7-EBE6D8532E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2750"/>
              <a:ext cx="0" cy="22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3328" name="Group 17">
              <a:extLst>
                <a:ext uri="{FF2B5EF4-FFF2-40B4-BE49-F238E27FC236}">
                  <a16:creationId xmlns:a16="http://schemas.microsoft.com/office/drawing/2014/main" id="{D82B1E72-CE39-4D8A-AFEB-A462E65B5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2750"/>
              <a:ext cx="318" cy="226"/>
              <a:chOff x="2925" y="2750"/>
              <a:chExt cx="318" cy="226"/>
            </a:xfrm>
          </p:grpSpPr>
          <p:sp>
            <p:nvSpPr>
              <p:cNvPr id="13329" name="Line 14">
                <a:extLst>
                  <a:ext uri="{FF2B5EF4-FFF2-40B4-BE49-F238E27FC236}">
                    <a16:creationId xmlns:a16="http://schemas.microsoft.com/office/drawing/2014/main" id="{1A2DDBF0-9EC9-40C2-83F0-C39C41985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5" y="2976"/>
                <a:ext cx="1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330" name="Line 16">
                <a:extLst>
                  <a:ext uri="{FF2B5EF4-FFF2-40B4-BE49-F238E27FC236}">
                    <a16:creationId xmlns:a16="http://schemas.microsoft.com/office/drawing/2014/main" id="{605FF022-B855-46CE-AFF9-B0B86E55E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2750"/>
                <a:ext cx="18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72051" name="Text Box 19">
            <a:extLst>
              <a:ext uri="{FF2B5EF4-FFF2-40B4-BE49-F238E27FC236}">
                <a16:creationId xmlns:a16="http://schemas.microsoft.com/office/drawing/2014/main" id="{AF5FFC6D-1CC6-433C-8A03-869FB5C4A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4868863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66"/>
                </a:solidFill>
              </a:rPr>
              <a:t>1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7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2" grpId="0"/>
      <p:bldP spid="172044" grpId="0"/>
      <p:bldP spid="1720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EC1E771-FBE2-48F8-9A77-D0E64EF2C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1F3A87-14C4-4C4F-AD4E-46A40FE952BF}" type="slidenum">
              <a:rPr lang="en-US" altLang="zh-CN" b="0"/>
              <a:pPr/>
              <a:t>12</a:t>
            </a:fld>
            <a:endParaRPr lang="en-US" altLang="zh-CN" b="0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F6D60D6F-9929-4399-9E08-81CB0F0B8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2150" y="1516063"/>
            <a:ext cx="8056563" cy="441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FFFF00"/>
                </a:solidFill>
              </a:rPr>
              <a:t>8</a:t>
            </a:r>
            <a:r>
              <a:rPr lang="zh-CN" altLang="en-US" b="1" dirty="0">
                <a:solidFill>
                  <a:srgbClr val="FFFF00"/>
                </a:solidFill>
              </a:rPr>
              <a:t>位数据输入端</a:t>
            </a:r>
          </a:p>
          <a:p>
            <a:pPr lvl="1" eaLnBrk="1" hangingPunct="1">
              <a:defRPr/>
            </a:pPr>
            <a:r>
              <a:rPr lang="en-US" altLang="zh-CN" dirty="0"/>
              <a:t>DI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DI</a:t>
            </a:r>
            <a:r>
              <a:rPr lang="en-US" altLang="zh-CN" baseline="-25000" dirty="0"/>
              <a:t>7</a:t>
            </a:r>
            <a:r>
              <a:rPr lang="zh-CN" altLang="en-US" dirty="0"/>
              <a:t>（</a:t>
            </a:r>
            <a:r>
              <a:rPr lang="en-US" altLang="zh-CN" dirty="0"/>
              <a:t>DI</a:t>
            </a:r>
            <a:r>
              <a:rPr lang="en-US" altLang="zh-CN" baseline="-25000" dirty="0"/>
              <a:t>0</a:t>
            </a:r>
            <a:r>
              <a:rPr lang="zh-CN" altLang="en-US" dirty="0"/>
              <a:t>为最低位）</a:t>
            </a:r>
          </a:p>
          <a:p>
            <a:pPr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输入寄存器（第</a:t>
            </a:r>
            <a:r>
              <a:rPr lang="en-US" altLang="zh-CN" b="1" dirty="0">
                <a:solidFill>
                  <a:srgbClr val="FFFF00"/>
                </a:solidFill>
              </a:rPr>
              <a:t>1</a:t>
            </a:r>
            <a:r>
              <a:rPr lang="zh-CN" altLang="en-US" b="1" dirty="0">
                <a:solidFill>
                  <a:srgbClr val="FFFF00"/>
                </a:solidFill>
              </a:rPr>
              <a:t>级锁存）的控制端</a:t>
            </a:r>
          </a:p>
          <a:p>
            <a:pPr lvl="1" eaLnBrk="1" hangingPunct="1">
              <a:defRPr/>
            </a:pPr>
            <a:r>
              <a:rPr lang="en-US" altLang="zh-CN" dirty="0"/>
              <a:t>ILE </a:t>
            </a:r>
            <a:r>
              <a:rPr lang="zh-CN" altLang="en-US" dirty="0"/>
              <a:t>：</a:t>
            </a:r>
            <a:r>
              <a:rPr lang="zh-CN" altLang="en-US" dirty="0">
                <a:latin typeface="宋体" panose="02010600030101010101" pitchFamily="2" charset="-122"/>
              </a:rPr>
              <a:t>数据允许锁存信号，高电平有效</a:t>
            </a:r>
            <a:r>
              <a:rPr lang="zh-CN" altLang="en-US" dirty="0"/>
              <a:t> </a:t>
            </a:r>
          </a:p>
          <a:p>
            <a:pPr lvl="1" eaLnBrk="1" hangingPunct="1">
              <a:defRPr/>
            </a:pPr>
            <a:r>
              <a:rPr lang="en-US" altLang="zh-CN" dirty="0"/>
              <a:t>CS #</a:t>
            </a:r>
            <a:r>
              <a:rPr lang="zh-CN" altLang="en-US" dirty="0"/>
              <a:t>：  </a:t>
            </a:r>
            <a:r>
              <a:rPr lang="zh-CN" altLang="en-US" dirty="0">
                <a:latin typeface="宋体" panose="02010600030101010101" pitchFamily="2" charset="-122"/>
              </a:rPr>
              <a:t>输入寄存器选择信号，低电平有效</a:t>
            </a:r>
            <a:endParaRPr lang="zh-CN" altLang="en-US" dirty="0"/>
          </a:p>
          <a:p>
            <a:pPr lvl="1" eaLnBrk="1" hangingPunct="1">
              <a:defRPr/>
            </a:pPr>
            <a:r>
              <a:rPr lang="en-US" altLang="zh-CN" dirty="0"/>
              <a:t>WR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宋体" panose="02010600030101010101" pitchFamily="2" charset="-122"/>
              </a:rPr>
              <a:t>#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dirty="0"/>
              <a:t> </a:t>
            </a:r>
            <a:r>
              <a:rPr lang="zh-CN" altLang="en-US" dirty="0">
                <a:latin typeface="宋体" panose="02010600030101010101" pitchFamily="2" charset="-122"/>
              </a:rPr>
              <a:t>输入寄存器的写选通信号， </a:t>
            </a:r>
            <a:r>
              <a:rPr lang="en-US" altLang="zh-CN" dirty="0"/>
              <a:t>WR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宋体" panose="02010600030101010101" pitchFamily="2" charset="-122"/>
              </a:rPr>
              <a:t>#</a:t>
            </a:r>
            <a:r>
              <a:rPr lang="zh-CN" altLang="en-US" dirty="0">
                <a:latin typeface="宋体" panose="02010600030101010101" pitchFamily="2" charset="-122"/>
              </a:rPr>
              <a:t>必须和</a:t>
            </a:r>
            <a:r>
              <a:rPr lang="en-US" altLang="zh-CN" dirty="0"/>
              <a:t>CS#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、</a:t>
            </a:r>
            <a:r>
              <a:rPr lang="en-US" altLang="zh-CN" dirty="0"/>
              <a:t>ILE</a:t>
            </a:r>
            <a:r>
              <a:rPr lang="zh-CN" altLang="en-US" dirty="0">
                <a:latin typeface="宋体" panose="02010600030101010101" pitchFamily="2" charset="-122"/>
              </a:rPr>
              <a:t>同时有效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F17E5F-6487-487A-A363-9D70DDD2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F43F1D-C9C2-40C7-B5CE-BA0B154EEF56}" type="slidenum">
              <a:rPr lang="en-US" altLang="zh-CN" b="0"/>
              <a:pPr/>
              <a:t>13</a:t>
            </a:fld>
            <a:endParaRPr lang="en-US" altLang="zh-CN" b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AD97BE7-9920-4106-A5F8-EB16D1154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1743075"/>
            <a:ext cx="8297863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</a:t>
            </a: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寄存器（第</a:t>
            </a:r>
            <a:r>
              <a:rPr kumimoji="1" lang="en-US" altLang="zh-C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级锁存）的控制端</a:t>
            </a:r>
          </a:p>
          <a:p>
            <a:pPr lvl="1" eaLnBrk="1" hangingPunct="1">
              <a:lnSpc>
                <a:spcPct val="130000"/>
              </a:lnSpc>
              <a:spcBef>
                <a:spcPct val="1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XFER# 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：传送控制信号，</a:t>
            </a:r>
          </a:p>
          <a:p>
            <a:pPr lvl="1" eaLnBrk="1" hangingPunct="1">
              <a:lnSpc>
                <a:spcPct val="130000"/>
              </a:lnSpc>
              <a:spcBef>
                <a:spcPct val="1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</a:t>
            </a:r>
            <a:r>
              <a:rPr kumimoji="1"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寄存器的写选通信号， 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</a:t>
            </a:r>
            <a:r>
              <a:rPr kumimoji="1"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必须和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XFER#</a:t>
            </a: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同时有效 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D4A08F74-3AF7-4821-97C7-252F4A04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1B6238-A903-4153-96F3-84C24CDB1A60}" type="slidenum">
              <a:rPr lang="en-US" altLang="zh-CN" b="0"/>
              <a:pPr/>
              <a:t>14</a:t>
            </a:fld>
            <a:endParaRPr lang="en-US" altLang="zh-CN" b="0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EE00E34B-96DC-485A-A56B-E40B1AAAB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/>
              <a:t>DAC0832</a:t>
            </a:r>
            <a:r>
              <a:rPr lang="zh-CN" altLang="en-US" sz="3600"/>
              <a:t>的工作方式：直通方式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1E662445-F294-4B69-A387-6294AAF14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600200"/>
            <a:ext cx="7345363" cy="15351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LE1</a:t>
            </a:r>
            <a:r>
              <a:rPr lang="zh-CN" altLang="en-US"/>
              <a:t>＝</a:t>
            </a:r>
            <a:r>
              <a:rPr lang="en-US" altLang="zh-CN"/>
              <a:t>LE2</a:t>
            </a:r>
            <a:r>
              <a:rPr lang="zh-CN" altLang="en-US"/>
              <a:t>＝</a:t>
            </a:r>
            <a:r>
              <a:rPr lang="en-US" altLang="zh-CN"/>
              <a:t>1</a:t>
            </a:r>
          </a:p>
          <a:p>
            <a:pPr eaLnBrk="1" hangingPunct="1">
              <a:defRPr/>
            </a:pPr>
            <a:r>
              <a:rPr lang="zh-CN" altLang="en-US"/>
              <a:t>输入的数字数据直接进入</a:t>
            </a:r>
            <a:r>
              <a:rPr lang="en-US" altLang="zh-CN"/>
              <a:t>D/A</a:t>
            </a:r>
            <a:r>
              <a:rPr lang="zh-CN" altLang="en-US"/>
              <a:t>转换器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0B7BAA96-D432-4A0B-8D5F-9352077F8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5260975"/>
            <a:ext cx="766763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LE2</a:t>
            </a:r>
          </a:p>
        </p:txBody>
      </p:sp>
      <p:sp>
        <p:nvSpPr>
          <p:cNvPr id="16390" name="Rectangle 8">
            <a:extLst>
              <a:ext uri="{FF2B5EF4-FFF2-40B4-BE49-F238E27FC236}">
                <a16:creationId xmlns:a16="http://schemas.microsoft.com/office/drawing/2014/main" id="{4B38C6D9-94AA-47DE-88D3-64391404E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5260975"/>
            <a:ext cx="7683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LE1</a:t>
            </a:r>
          </a:p>
        </p:txBody>
      </p:sp>
      <p:sp>
        <p:nvSpPr>
          <p:cNvPr id="16391" name="Rectangle 9">
            <a:extLst>
              <a:ext uri="{FF2B5EF4-FFF2-40B4-BE49-F238E27FC236}">
                <a16:creationId xmlns:a16="http://schemas.microsoft.com/office/drawing/2014/main" id="{E25F6AEB-468C-4581-8D78-B90D0F753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5246688"/>
            <a:ext cx="1716087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DAC0832</a:t>
            </a:r>
          </a:p>
        </p:txBody>
      </p:sp>
      <p:sp>
        <p:nvSpPr>
          <p:cNvPr id="16392" name="Rectangle 10">
            <a:extLst>
              <a:ext uri="{FF2B5EF4-FFF2-40B4-BE49-F238E27FC236}">
                <a16:creationId xmlns:a16="http://schemas.microsoft.com/office/drawing/2014/main" id="{59497DC5-CD35-49F0-9838-A8C350649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298825"/>
            <a:ext cx="890587" cy="1900238"/>
          </a:xfrm>
          <a:prstGeom prst="rect">
            <a:avLst/>
          </a:prstGeom>
          <a:noFill/>
          <a:ln w="41275">
            <a:solidFill>
              <a:srgbClr val="FF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输入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6393" name="Rectangle 11">
            <a:extLst>
              <a:ext uri="{FF2B5EF4-FFF2-40B4-BE49-F238E27FC236}">
                <a16:creationId xmlns:a16="http://schemas.microsoft.com/office/drawing/2014/main" id="{DD89F946-0BC6-40F9-A69C-342D51D0D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7938"/>
            <a:ext cx="1665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DI0</a:t>
            </a:r>
            <a:r>
              <a:rPr lang="zh-CN" altLang="en-US" sz="2400">
                <a:latin typeface="Times New Roman" panose="02020603050405020304" pitchFamily="18" charset="0"/>
              </a:rPr>
              <a:t>～</a:t>
            </a:r>
            <a:r>
              <a:rPr lang="en-US" altLang="zh-CN" sz="2400">
                <a:latin typeface="Times New Roman" panose="02020603050405020304" pitchFamily="18" charset="0"/>
              </a:rPr>
              <a:t>DI7</a:t>
            </a:r>
          </a:p>
        </p:txBody>
      </p:sp>
      <p:sp>
        <p:nvSpPr>
          <p:cNvPr id="16394" name="Freeform 12">
            <a:extLst>
              <a:ext uri="{FF2B5EF4-FFF2-40B4-BE49-F238E27FC236}">
                <a16:creationId xmlns:a16="http://schemas.microsoft.com/office/drawing/2014/main" id="{5FB294C7-A2B9-42E4-9F67-21633DF3757A}"/>
              </a:ext>
            </a:extLst>
          </p:cNvPr>
          <p:cNvSpPr>
            <a:spLocks/>
          </p:cNvSpPr>
          <p:nvPr/>
        </p:nvSpPr>
        <p:spPr bwMode="auto">
          <a:xfrm>
            <a:off x="2717800" y="5222875"/>
            <a:ext cx="42863" cy="446088"/>
          </a:xfrm>
          <a:custGeom>
            <a:avLst/>
            <a:gdLst>
              <a:gd name="T0" fmla="*/ 91191 w 20000"/>
              <a:gd name="T1" fmla="*/ 0 h 20000"/>
              <a:gd name="T2" fmla="*/ 91191 w 20000"/>
              <a:gd name="T3" fmla="*/ 9920863 h 20000"/>
              <a:gd name="T4" fmla="*/ 0 w 20000"/>
              <a:gd name="T5" fmla="*/ 9920863 h 2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00" h="20000">
                <a:moveTo>
                  <a:pt x="19854" y="0"/>
                </a:moveTo>
                <a:lnTo>
                  <a:pt x="19854" y="19942"/>
                </a:lnTo>
                <a:lnTo>
                  <a:pt x="0" y="19942"/>
                </a:lnTo>
              </a:path>
            </a:pathLst>
          </a:custGeom>
          <a:noFill/>
          <a:ln w="41275" cap="flat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Freeform 13">
            <a:extLst>
              <a:ext uri="{FF2B5EF4-FFF2-40B4-BE49-F238E27FC236}">
                <a16:creationId xmlns:a16="http://schemas.microsoft.com/office/drawing/2014/main" id="{B8DA7BDC-C9FF-4FED-BC6A-34AAF9594A8A}"/>
              </a:ext>
            </a:extLst>
          </p:cNvPr>
          <p:cNvSpPr>
            <a:spLocks/>
          </p:cNvSpPr>
          <p:nvPr/>
        </p:nvSpPr>
        <p:spPr bwMode="auto">
          <a:xfrm>
            <a:off x="4205288" y="5197475"/>
            <a:ext cx="42862" cy="500063"/>
          </a:xfrm>
          <a:custGeom>
            <a:avLst/>
            <a:gdLst>
              <a:gd name="T0" fmla="*/ 91761 w 20000"/>
              <a:gd name="T1" fmla="*/ 0 h 20000"/>
              <a:gd name="T2" fmla="*/ 91761 w 20000"/>
              <a:gd name="T3" fmla="*/ 12493774 h 20000"/>
              <a:gd name="T4" fmla="*/ 0 w 20000"/>
              <a:gd name="T5" fmla="*/ 12493774 h 2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00" h="20000">
                <a:moveTo>
                  <a:pt x="19979" y="0"/>
                </a:moveTo>
                <a:lnTo>
                  <a:pt x="19979" y="19985"/>
                </a:lnTo>
                <a:lnTo>
                  <a:pt x="0" y="19985"/>
                </a:lnTo>
              </a:path>
            </a:pathLst>
          </a:custGeom>
          <a:noFill/>
          <a:ln w="44450" cap="flat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Line 14">
            <a:extLst>
              <a:ext uri="{FF2B5EF4-FFF2-40B4-BE49-F238E27FC236}">
                <a16:creationId xmlns:a16="http://schemas.microsoft.com/office/drawing/2014/main" id="{6BBDDD5E-7E01-4BBC-8447-920F97C6A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235450"/>
            <a:ext cx="522288" cy="31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Rectangle 15">
            <a:extLst>
              <a:ext uri="{FF2B5EF4-FFF2-40B4-BE49-F238E27FC236}">
                <a16:creationId xmlns:a16="http://schemas.microsoft.com/office/drawing/2014/main" id="{43B7A73D-540B-44B7-9625-406A7FE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3298825"/>
            <a:ext cx="890588" cy="1900238"/>
          </a:xfrm>
          <a:prstGeom prst="rect">
            <a:avLst/>
          </a:prstGeom>
          <a:noFill/>
          <a:ln w="412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D/A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转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6398" name="Rectangle 16">
            <a:extLst>
              <a:ext uri="{FF2B5EF4-FFF2-40B4-BE49-F238E27FC236}">
                <a16:creationId xmlns:a16="http://schemas.microsoft.com/office/drawing/2014/main" id="{192576D7-27BE-420F-87D1-7EC26C30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298825"/>
            <a:ext cx="889000" cy="1900238"/>
          </a:xfrm>
          <a:prstGeom prst="rect">
            <a:avLst/>
          </a:prstGeom>
          <a:noFill/>
          <a:ln w="41275">
            <a:solidFill>
              <a:srgbClr val="FF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DAC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6399" name="Line 17">
            <a:extLst>
              <a:ext uri="{FF2B5EF4-FFF2-40B4-BE49-F238E27FC236}">
                <a16:creationId xmlns:a16="http://schemas.microsoft.com/office/drawing/2014/main" id="{2A171AE2-B38A-4590-B2B8-CA3191725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113" y="4235450"/>
            <a:ext cx="522287" cy="31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Rectangle 18">
            <a:extLst>
              <a:ext uri="{FF2B5EF4-FFF2-40B4-BE49-F238E27FC236}">
                <a16:creationId xmlns:a16="http://schemas.microsoft.com/office/drawing/2014/main" id="{87367124-DBF5-485E-8829-3C1F6E67C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3068638"/>
            <a:ext cx="4797425" cy="2830512"/>
          </a:xfrm>
          <a:prstGeom prst="rect">
            <a:avLst/>
          </a:prstGeom>
          <a:noFill/>
          <a:ln w="44450">
            <a:solidFill>
              <a:srgbClr val="FFFF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6401" name="Line 19">
            <a:extLst>
              <a:ext uri="{FF2B5EF4-FFF2-40B4-BE49-F238E27FC236}">
                <a16:creationId xmlns:a16="http://schemas.microsoft.com/office/drawing/2014/main" id="{269B1544-3581-4186-9A2D-D3457F843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7275" y="4213225"/>
            <a:ext cx="898525" cy="0"/>
          </a:xfrm>
          <a:prstGeom prst="line">
            <a:avLst/>
          </a:prstGeom>
          <a:noFill/>
          <a:ln w="41275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2" name="Rectangle 20">
            <a:extLst>
              <a:ext uri="{FF2B5EF4-FFF2-40B4-BE49-F238E27FC236}">
                <a16:creationId xmlns:a16="http://schemas.microsoft.com/office/drawing/2014/main" id="{98C2BED2-59CC-4AF2-9F38-2710B3A6E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4243388"/>
            <a:ext cx="8763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Iout1</a:t>
            </a:r>
          </a:p>
        </p:txBody>
      </p:sp>
      <p:sp>
        <p:nvSpPr>
          <p:cNvPr id="16403" name="Line 21">
            <a:extLst>
              <a:ext uri="{FF2B5EF4-FFF2-40B4-BE49-F238E27FC236}">
                <a16:creationId xmlns:a16="http://schemas.microsoft.com/office/drawing/2014/main" id="{92DA6BD1-E441-4CE7-BE95-31CF9AFDE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7950" y="4233863"/>
            <a:ext cx="960438" cy="4762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8" name="Line 22">
            <a:extLst>
              <a:ext uri="{FF2B5EF4-FFF2-40B4-BE49-F238E27FC236}">
                <a16:creationId xmlns:a16="http://schemas.microsoft.com/office/drawing/2014/main" id="{EE2F7222-4F45-4D66-81D8-060131FFF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4225925"/>
            <a:ext cx="3825875" cy="0"/>
          </a:xfrm>
          <a:prstGeom prst="line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triangle" w="med" len="med"/>
          </a:ln>
          <a:effectLst>
            <a:outerShdw dist="35921" dir="2700000" algn="ctr" rotWithShape="0">
              <a:srgbClr val="A6ADC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405" name="Oval 23">
            <a:extLst>
              <a:ext uri="{FF2B5EF4-FFF2-40B4-BE49-F238E27FC236}">
                <a16:creationId xmlns:a16="http://schemas.microsoft.com/office/drawing/2014/main" id="{39D2BE67-60CE-49D3-B6E4-81851AFF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8" y="5197475"/>
            <a:ext cx="138112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6406" name="Oval 24">
            <a:extLst>
              <a:ext uri="{FF2B5EF4-FFF2-40B4-BE49-F238E27FC236}">
                <a16:creationId xmlns:a16="http://schemas.microsoft.com/office/drawing/2014/main" id="{D4FD3D5C-091D-4A16-8B3B-CEBC7AFDA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5156200"/>
            <a:ext cx="138113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87C7FA04-B699-4E36-BDA4-52AC2A33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331A1A-696D-480B-A942-4EDE588A4B76}" type="slidenum">
              <a:rPr lang="en-US" altLang="zh-CN" b="0"/>
              <a:pPr/>
              <a:t>15</a:t>
            </a:fld>
            <a:endParaRPr lang="en-US" altLang="zh-CN" b="0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EACE5034-91D5-4590-BCD7-81B95FCDCE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/>
              <a:t>DAC0832</a:t>
            </a:r>
            <a:r>
              <a:rPr lang="zh-CN" altLang="en-US" sz="3600" b="1" dirty="0"/>
              <a:t>的工作方式：单缓冲方式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C82CE83C-B642-4FD2-A811-0FE8FE88C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600200"/>
            <a:ext cx="7345363" cy="15351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b="1" dirty="0"/>
              <a:t>LE1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，或者</a:t>
            </a:r>
            <a:r>
              <a:rPr lang="en-US" altLang="zh-CN" sz="2800" b="1" dirty="0"/>
              <a:t>LE2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1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b="1" dirty="0"/>
              <a:t>两个寄存器之一始终处于直通状态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b="1" dirty="0"/>
              <a:t>另一个寄存器处于受控状态（缓冲状态）</a:t>
            </a:r>
          </a:p>
        </p:txBody>
      </p:sp>
      <p:sp>
        <p:nvSpPr>
          <p:cNvPr id="17413" name="Rectangle 26">
            <a:extLst>
              <a:ext uri="{FF2B5EF4-FFF2-40B4-BE49-F238E27FC236}">
                <a16:creationId xmlns:a16="http://schemas.microsoft.com/office/drawing/2014/main" id="{AA08F679-F246-489F-8CF8-655211F9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5688013"/>
            <a:ext cx="766763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LE2</a:t>
            </a:r>
          </a:p>
        </p:txBody>
      </p:sp>
      <p:sp>
        <p:nvSpPr>
          <p:cNvPr id="17414" name="Rectangle 27">
            <a:extLst>
              <a:ext uri="{FF2B5EF4-FFF2-40B4-BE49-F238E27FC236}">
                <a16:creationId xmlns:a16="http://schemas.microsoft.com/office/drawing/2014/main" id="{5FE45E0B-5097-4214-A7D7-248ABD408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5688013"/>
            <a:ext cx="7683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LE1</a:t>
            </a:r>
          </a:p>
        </p:txBody>
      </p:sp>
      <p:sp>
        <p:nvSpPr>
          <p:cNvPr id="17415" name="Rectangle 28">
            <a:extLst>
              <a:ext uri="{FF2B5EF4-FFF2-40B4-BE49-F238E27FC236}">
                <a16:creationId xmlns:a16="http://schemas.microsoft.com/office/drawing/2014/main" id="{DA132C2F-F206-4CF1-842F-6DDB453D4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5673725"/>
            <a:ext cx="1716087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DAC0832</a:t>
            </a:r>
          </a:p>
        </p:txBody>
      </p:sp>
      <p:sp>
        <p:nvSpPr>
          <p:cNvPr id="17416" name="Rectangle 29">
            <a:extLst>
              <a:ext uri="{FF2B5EF4-FFF2-40B4-BE49-F238E27FC236}">
                <a16:creationId xmlns:a16="http://schemas.microsoft.com/office/drawing/2014/main" id="{BFB97FA2-6D3D-4B6D-9A88-B1812EC00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725863"/>
            <a:ext cx="890587" cy="1900237"/>
          </a:xfrm>
          <a:prstGeom prst="rect">
            <a:avLst/>
          </a:prstGeom>
          <a:noFill/>
          <a:ln w="41275">
            <a:solidFill>
              <a:srgbClr val="FF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输入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7417" name="Rectangle 30">
            <a:extLst>
              <a:ext uri="{FF2B5EF4-FFF2-40B4-BE49-F238E27FC236}">
                <a16:creationId xmlns:a16="http://schemas.microsoft.com/office/drawing/2014/main" id="{8863B71C-82F9-4469-85F4-349F9EFC6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44975"/>
            <a:ext cx="1665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DI0</a:t>
            </a:r>
            <a:r>
              <a:rPr lang="zh-CN" altLang="en-US" sz="2400">
                <a:latin typeface="Times New Roman" panose="02020603050405020304" pitchFamily="18" charset="0"/>
              </a:rPr>
              <a:t>～</a:t>
            </a:r>
            <a:r>
              <a:rPr lang="en-US" altLang="zh-CN" sz="2400">
                <a:latin typeface="Times New Roman" panose="02020603050405020304" pitchFamily="18" charset="0"/>
              </a:rPr>
              <a:t>DI7</a:t>
            </a:r>
          </a:p>
        </p:txBody>
      </p:sp>
      <p:sp>
        <p:nvSpPr>
          <p:cNvPr id="17418" name="Freeform 31">
            <a:extLst>
              <a:ext uri="{FF2B5EF4-FFF2-40B4-BE49-F238E27FC236}">
                <a16:creationId xmlns:a16="http://schemas.microsoft.com/office/drawing/2014/main" id="{B587C4B7-8826-4D30-9D0E-377CDDE5D9CC}"/>
              </a:ext>
            </a:extLst>
          </p:cNvPr>
          <p:cNvSpPr>
            <a:spLocks/>
          </p:cNvSpPr>
          <p:nvPr/>
        </p:nvSpPr>
        <p:spPr bwMode="auto">
          <a:xfrm>
            <a:off x="2717800" y="5649913"/>
            <a:ext cx="42863" cy="446087"/>
          </a:xfrm>
          <a:custGeom>
            <a:avLst/>
            <a:gdLst>
              <a:gd name="T0" fmla="*/ 91191 w 20000"/>
              <a:gd name="T1" fmla="*/ 0 h 20000"/>
              <a:gd name="T2" fmla="*/ 91191 w 20000"/>
              <a:gd name="T3" fmla="*/ 9920819 h 20000"/>
              <a:gd name="T4" fmla="*/ 0 w 20000"/>
              <a:gd name="T5" fmla="*/ 9920819 h 2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00" h="20000">
                <a:moveTo>
                  <a:pt x="19854" y="0"/>
                </a:moveTo>
                <a:lnTo>
                  <a:pt x="19854" y="19942"/>
                </a:lnTo>
                <a:lnTo>
                  <a:pt x="0" y="19942"/>
                </a:lnTo>
              </a:path>
            </a:pathLst>
          </a:custGeom>
          <a:noFill/>
          <a:ln w="41275" cap="flat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Freeform 32">
            <a:extLst>
              <a:ext uri="{FF2B5EF4-FFF2-40B4-BE49-F238E27FC236}">
                <a16:creationId xmlns:a16="http://schemas.microsoft.com/office/drawing/2014/main" id="{D9946152-F285-4293-AFC9-3041A06775D8}"/>
              </a:ext>
            </a:extLst>
          </p:cNvPr>
          <p:cNvSpPr>
            <a:spLocks/>
          </p:cNvSpPr>
          <p:nvPr/>
        </p:nvSpPr>
        <p:spPr bwMode="auto">
          <a:xfrm>
            <a:off x="4205288" y="5624513"/>
            <a:ext cx="42862" cy="500062"/>
          </a:xfrm>
          <a:custGeom>
            <a:avLst/>
            <a:gdLst>
              <a:gd name="T0" fmla="*/ 91761 w 20000"/>
              <a:gd name="T1" fmla="*/ 0 h 20000"/>
              <a:gd name="T2" fmla="*/ 91761 w 20000"/>
              <a:gd name="T3" fmla="*/ 12493724 h 20000"/>
              <a:gd name="T4" fmla="*/ 0 w 20000"/>
              <a:gd name="T5" fmla="*/ 12493724 h 2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00" h="20000">
                <a:moveTo>
                  <a:pt x="19979" y="0"/>
                </a:moveTo>
                <a:lnTo>
                  <a:pt x="19979" y="19985"/>
                </a:lnTo>
                <a:lnTo>
                  <a:pt x="0" y="19985"/>
                </a:lnTo>
              </a:path>
            </a:pathLst>
          </a:custGeom>
          <a:noFill/>
          <a:ln w="44450" cap="flat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0" name="Line 33">
            <a:extLst>
              <a:ext uri="{FF2B5EF4-FFF2-40B4-BE49-F238E27FC236}">
                <a16:creationId xmlns:a16="http://schemas.microsoft.com/office/drawing/2014/main" id="{D5318485-BA0F-499F-A905-6F57EE708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662488"/>
            <a:ext cx="522288" cy="31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1" name="Rectangle 34">
            <a:extLst>
              <a:ext uri="{FF2B5EF4-FFF2-40B4-BE49-F238E27FC236}">
                <a16:creationId xmlns:a16="http://schemas.microsoft.com/office/drawing/2014/main" id="{29FA4492-1170-4717-84F9-C7CC1201C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3725863"/>
            <a:ext cx="890588" cy="1900237"/>
          </a:xfrm>
          <a:prstGeom prst="rect">
            <a:avLst/>
          </a:prstGeom>
          <a:noFill/>
          <a:ln w="412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D/A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转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7422" name="Rectangle 35">
            <a:extLst>
              <a:ext uri="{FF2B5EF4-FFF2-40B4-BE49-F238E27FC236}">
                <a16:creationId xmlns:a16="http://schemas.microsoft.com/office/drawing/2014/main" id="{40CC75A5-AE70-4C0C-ADCA-260C9E7DF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725863"/>
            <a:ext cx="889000" cy="1900237"/>
          </a:xfrm>
          <a:prstGeom prst="rect">
            <a:avLst/>
          </a:prstGeom>
          <a:noFill/>
          <a:ln w="41275">
            <a:solidFill>
              <a:srgbClr val="FF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DAC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7423" name="Line 36">
            <a:extLst>
              <a:ext uri="{FF2B5EF4-FFF2-40B4-BE49-F238E27FC236}">
                <a16:creationId xmlns:a16="http://schemas.microsoft.com/office/drawing/2014/main" id="{56E81234-F4F6-4B48-B98A-74B6074D8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113" y="4662488"/>
            <a:ext cx="522287" cy="31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7B8BBF1B-F275-431D-8FD0-16F15516A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3495675"/>
            <a:ext cx="4797425" cy="2830513"/>
          </a:xfrm>
          <a:prstGeom prst="rect">
            <a:avLst/>
          </a:prstGeom>
          <a:noFill/>
          <a:ln w="44450">
            <a:solidFill>
              <a:srgbClr val="FFFF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425" name="Line 38">
            <a:extLst>
              <a:ext uri="{FF2B5EF4-FFF2-40B4-BE49-F238E27FC236}">
                <a16:creationId xmlns:a16="http://schemas.microsoft.com/office/drawing/2014/main" id="{37B3E9ED-945D-451A-94F4-B0A3DB14E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7275" y="4640263"/>
            <a:ext cx="898525" cy="0"/>
          </a:xfrm>
          <a:prstGeom prst="line">
            <a:avLst/>
          </a:prstGeom>
          <a:noFill/>
          <a:ln w="41275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6" name="Rectangle 39">
            <a:extLst>
              <a:ext uri="{FF2B5EF4-FFF2-40B4-BE49-F238E27FC236}">
                <a16:creationId xmlns:a16="http://schemas.microsoft.com/office/drawing/2014/main" id="{C95609AE-4C47-44A3-94E0-9D4ED19AD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4670425"/>
            <a:ext cx="8763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Iout1</a:t>
            </a:r>
          </a:p>
        </p:txBody>
      </p:sp>
      <p:sp>
        <p:nvSpPr>
          <p:cNvPr id="17427" name="Line 40">
            <a:extLst>
              <a:ext uri="{FF2B5EF4-FFF2-40B4-BE49-F238E27FC236}">
                <a16:creationId xmlns:a16="http://schemas.microsoft.com/office/drawing/2014/main" id="{47AC0FF5-B869-4A2B-83B8-537850894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7950" y="4660900"/>
            <a:ext cx="960438" cy="476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8" name="Oval 42">
            <a:extLst>
              <a:ext uri="{FF2B5EF4-FFF2-40B4-BE49-F238E27FC236}">
                <a16:creationId xmlns:a16="http://schemas.microsoft.com/office/drawing/2014/main" id="{4C2AC704-8131-4CA2-A284-D4E0A1EF9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8" y="5624513"/>
            <a:ext cx="138112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429" name="Oval 43">
            <a:extLst>
              <a:ext uri="{FF2B5EF4-FFF2-40B4-BE49-F238E27FC236}">
                <a16:creationId xmlns:a16="http://schemas.microsoft.com/office/drawing/2014/main" id="{AA1F9730-7701-4516-B08A-FE599DDA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5583238"/>
            <a:ext cx="138113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080EDE8C-23F3-41A8-9160-6B43F946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019BF1-D5BD-4D2A-A5D1-2CA4E43803F6}" type="slidenum">
              <a:rPr lang="en-US" altLang="zh-CN" b="0"/>
              <a:pPr/>
              <a:t>16</a:t>
            </a:fld>
            <a:endParaRPr lang="en-US" altLang="zh-CN" b="0"/>
          </a:p>
        </p:txBody>
      </p: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60149029-6946-47F5-A7C8-4539007B3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/>
              <a:t>DAC0832</a:t>
            </a:r>
            <a:r>
              <a:rPr lang="zh-CN" altLang="en-US" sz="3600" b="1"/>
              <a:t>的工作方式：双缓冲方式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726FC1AF-E14E-4C76-A005-DB7F8D042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600200"/>
            <a:ext cx="7345363" cy="1535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/>
              <a:t>两个寄存器都处于受控（缓冲）状态</a:t>
            </a:r>
          </a:p>
          <a:p>
            <a:pPr eaLnBrk="1" hangingPunct="1">
              <a:defRPr/>
            </a:pPr>
            <a:r>
              <a:rPr lang="zh-CN" altLang="en-US" sz="2800" b="1" dirty="0"/>
              <a:t>能够对一个数据进行</a:t>
            </a:r>
            <a:r>
              <a:rPr lang="en-US" altLang="zh-CN" sz="2800" b="1" dirty="0"/>
              <a:t>D/A</a:t>
            </a:r>
            <a:r>
              <a:rPr lang="zh-CN" altLang="en-US" sz="2800" b="1" dirty="0"/>
              <a:t>转换的同时；输入另一个数据</a:t>
            </a:r>
          </a:p>
        </p:txBody>
      </p:sp>
      <p:sp>
        <p:nvSpPr>
          <p:cNvPr id="18437" name="Rectangle 27">
            <a:extLst>
              <a:ext uri="{FF2B5EF4-FFF2-40B4-BE49-F238E27FC236}">
                <a16:creationId xmlns:a16="http://schemas.microsoft.com/office/drawing/2014/main" id="{52B53C3E-B844-4B40-B765-2547A94BD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5688013"/>
            <a:ext cx="766763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LE2</a:t>
            </a:r>
          </a:p>
        </p:txBody>
      </p:sp>
      <p:sp>
        <p:nvSpPr>
          <p:cNvPr id="18438" name="Rectangle 28">
            <a:extLst>
              <a:ext uri="{FF2B5EF4-FFF2-40B4-BE49-F238E27FC236}">
                <a16:creationId xmlns:a16="http://schemas.microsoft.com/office/drawing/2014/main" id="{29B1CDDD-6D24-4265-B228-574E00B5C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575" y="5688013"/>
            <a:ext cx="7683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LE1</a:t>
            </a:r>
          </a:p>
        </p:txBody>
      </p:sp>
      <p:sp>
        <p:nvSpPr>
          <p:cNvPr id="18439" name="Rectangle 29">
            <a:extLst>
              <a:ext uri="{FF2B5EF4-FFF2-40B4-BE49-F238E27FC236}">
                <a16:creationId xmlns:a16="http://schemas.microsoft.com/office/drawing/2014/main" id="{4AB1C9AA-906C-493A-97E6-326710AD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5673725"/>
            <a:ext cx="1716087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DAC0832</a:t>
            </a:r>
          </a:p>
        </p:txBody>
      </p:sp>
      <p:sp>
        <p:nvSpPr>
          <p:cNvPr id="18440" name="Rectangle 30">
            <a:extLst>
              <a:ext uri="{FF2B5EF4-FFF2-40B4-BE49-F238E27FC236}">
                <a16:creationId xmlns:a16="http://schemas.microsoft.com/office/drawing/2014/main" id="{DD823BCD-6CC1-46CE-A8B9-88334B082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725863"/>
            <a:ext cx="890587" cy="1900237"/>
          </a:xfrm>
          <a:prstGeom prst="rect">
            <a:avLst/>
          </a:prstGeom>
          <a:noFill/>
          <a:ln w="41275">
            <a:solidFill>
              <a:srgbClr val="FF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输入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8441" name="Rectangle 31">
            <a:extLst>
              <a:ext uri="{FF2B5EF4-FFF2-40B4-BE49-F238E27FC236}">
                <a16:creationId xmlns:a16="http://schemas.microsoft.com/office/drawing/2014/main" id="{012C6FB0-56D1-4935-B0B8-F69787AB6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44975"/>
            <a:ext cx="1665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DI0</a:t>
            </a:r>
            <a:r>
              <a:rPr lang="zh-CN" altLang="en-US" sz="2400">
                <a:latin typeface="Times New Roman" panose="02020603050405020304" pitchFamily="18" charset="0"/>
              </a:rPr>
              <a:t>～</a:t>
            </a:r>
            <a:r>
              <a:rPr lang="en-US" altLang="zh-CN" sz="2400">
                <a:latin typeface="Times New Roman" panose="02020603050405020304" pitchFamily="18" charset="0"/>
              </a:rPr>
              <a:t>DI7</a:t>
            </a:r>
          </a:p>
        </p:txBody>
      </p:sp>
      <p:sp>
        <p:nvSpPr>
          <p:cNvPr id="18442" name="Freeform 32">
            <a:extLst>
              <a:ext uri="{FF2B5EF4-FFF2-40B4-BE49-F238E27FC236}">
                <a16:creationId xmlns:a16="http://schemas.microsoft.com/office/drawing/2014/main" id="{EFE6F1EA-0E88-49DD-9DE2-311FA7828C7F}"/>
              </a:ext>
            </a:extLst>
          </p:cNvPr>
          <p:cNvSpPr>
            <a:spLocks/>
          </p:cNvSpPr>
          <p:nvPr/>
        </p:nvSpPr>
        <p:spPr bwMode="auto">
          <a:xfrm>
            <a:off x="2717800" y="5649913"/>
            <a:ext cx="42863" cy="446087"/>
          </a:xfrm>
          <a:custGeom>
            <a:avLst/>
            <a:gdLst>
              <a:gd name="T0" fmla="*/ 91191 w 20000"/>
              <a:gd name="T1" fmla="*/ 0 h 20000"/>
              <a:gd name="T2" fmla="*/ 91191 w 20000"/>
              <a:gd name="T3" fmla="*/ 9920819 h 20000"/>
              <a:gd name="T4" fmla="*/ 0 w 20000"/>
              <a:gd name="T5" fmla="*/ 9920819 h 2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00" h="20000">
                <a:moveTo>
                  <a:pt x="19854" y="0"/>
                </a:moveTo>
                <a:lnTo>
                  <a:pt x="19854" y="19942"/>
                </a:lnTo>
                <a:lnTo>
                  <a:pt x="0" y="19942"/>
                </a:lnTo>
              </a:path>
            </a:pathLst>
          </a:custGeom>
          <a:noFill/>
          <a:ln w="41275" cap="flat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Freeform 33">
            <a:extLst>
              <a:ext uri="{FF2B5EF4-FFF2-40B4-BE49-F238E27FC236}">
                <a16:creationId xmlns:a16="http://schemas.microsoft.com/office/drawing/2014/main" id="{64201710-6025-4930-8A0B-7EEEC2FA9563}"/>
              </a:ext>
            </a:extLst>
          </p:cNvPr>
          <p:cNvSpPr>
            <a:spLocks/>
          </p:cNvSpPr>
          <p:nvPr/>
        </p:nvSpPr>
        <p:spPr bwMode="auto">
          <a:xfrm>
            <a:off x="4205288" y="5624513"/>
            <a:ext cx="42862" cy="500062"/>
          </a:xfrm>
          <a:custGeom>
            <a:avLst/>
            <a:gdLst>
              <a:gd name="T0" fmla="*/ 91761 w 20000"/>
              <a:gd name="T1" fmla="*/ 0 h 20000"/>
              <a:gd name="T2" fmla="*/ 91761 w 20000"/>
              <a:gd name="T3" fmla="*/ 12493724 h 20000"/>
              <a:gd name="T4" fmla="*/ 0 w 20000"/>
              <a:gd name="T5" fmla="*/ 12493724 h 2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000" h="20000">
                <a:moveTo>
                  <a:pt x="19979" y="0"/>
                </a:moveTo>
                <a:lnTo>
                  <a:pt x="19979" y="19985"/>
                </a:lnTo>
                <a:lnTo>
                  <a:pt x="0" y="19985"/>
                </a:lnTo>
              </a:path>
            </a:pathLst>
          </a:custGeom>
          <a:noFill/>
          <a:ln w="44450" cap="flat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Line 34">
            <a:extLst>
              <a:ext uri="{FF2B5EF4-FFF2-40B4-BE49-F238E27FC236}">
                <a16:creationId xmlns:a16="http://schemas.microsoft.com/office/drawing/2014/main" id="{90A80F26-9439-48A8-AF6D-7AAAF985D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5" y="4662488"/>
            <a:ext cx="522288" cy="31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Rectangle 35">
            <a:extLst>
              <a:ext uri="{FF2B5EF4-FFF2-40B4-BE49-F238E27FC236}">
                <a16:creationId xmlns:a16="http://schemas.microsoft.com/office/drawing/2014/main" id="{E5BBD717-D0DE-4F64-9679-3075E0E20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3725863"/>
            <a:ext cx="890588" cy="1900237"/>
          </a:xfrm>
          <a:prstGeom prst="rect">
            <a:avLst/>
          </a:prstGeom>
          <a:noFill/>
          <a:ln w="412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D/A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转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8446" name="Rectangle 36">
            <a:extLst>
              <a:ext uri="{FF2B5EF4-FFF2-40B4-BE49-F238E27FC236}">
                <a16:creationId xmlns:a16="http://schemas.microsoft.com/office/drawing/2014/main" id="{9BE1D46D-6E60-458B-87B0-FCADF8F7B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725863"/>
            <a:ext cx="889000" cy="1900237"/>
          </a:xfrm>
          <a:prstGeom prst="rect">
            <a:avLst/>
          </a:prstGeom>
          <a:noFill/>
          <a:ln w="41275">
            <a:solidFill>
              <a:srgbClr val="FF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DAC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寄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8447" name="Line 37">
            <a:extLst>
              <a:ext uri="{FF2B5EF4-FFF2-40B4-BE49-F238E27FC236}">
                <a16:creationId xmlns:a16="http://schemas.microsoft.com/office/drawing/2014/main" id="{9DAF442E-906C-4324-885E-EA6BE53DE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113" y="4662488"/>
            <a:ext cx="522287" cy="31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8" name="Rectangle 38">
            <a:extLst>
              <a:ext uri="{FF2B5EF4-FFF2-40B4-BE49-F238E27FC236}">
                <a16:creationId xmlns:a16="http://schemas.microsoft.com/office/drawing/2014/main" id="{BF757119-CBE7-4208-A77D-87292EDE0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3495675"/>
            <a:ext cx="4797425" cy="2830513"/>
          </a:xfrm>
          <a:prstGeom prst="rect">
            <a:avLst/>
          </a:prstGeom>
          <a:noFill/>
          <a:ln w="44450">
            <a:solidFill>
              <a:srgbClr val="FFFF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8449" name="Line 39">
            <a:extLst>
              <a:ext uri="{FF2B5EF4-FFF2-40B4-BE49-F238E27FC236}">
                <a16:creationId xmlns:a16="http://schemas.microsoft.com/office/drawing/2014/main" id="{D5BE856C-A7F6-4DBE-938E-177A5347A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7275" y="4640263"/>
            <a:ext cx="898525" cy="0"/>
          </a:xfrm>
          <a:prstGeom prst="line">
            <a:avLst/>
          </a:prstGeom>
          <a:noFill/>
          <a:ln w="41275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0" name="Rectangle 40">
            <a:extLst>
              <a:ext uri="{FF2B5EF4-FFF2-40B4-BE49-F238E27FC236}">
                <a16:creationId xmlns:a16="http://schemas.microsoft.com/office/drawing/2014/main" id="{CCF00C1E-5CC3-4DFA-98E7-066CD7690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4670425"/>
            <a:ext cx="8763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Iout1</a:t>
            </a:r>
          </a:p>
        </p:txBody>
      </p:sp>
      <p:sp>
        <p:nvSpPr>
          <p:cNvPr id="18451" name="Line 41">
            <a:extLst>
              <a:ext uri="{FF2B5EF4-FFF2-40B4-BE49-F238E27FC236}">
                <a16:creationId xmlns:a16="http://schemas.microsoft.com/office/drawing/2014/main" id="{22F76ECE-B872-499F-B2F0-392DE4C6D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7950" y="4660900"/>
            <a:ext cx="960438" cy="476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Oval 43">
            <a:extLst>
              <a:ext uri="{FF2B5EF4-FFF2-40B4-BE49-F238E27FC236}">
                <a16:creationId xmlns:a16="http://schemas.microsoft.com/office/drawing/2014/main" id="{D23A2759-C2C2-4591-AA10-929C0AA2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8" y="5624513"/>
            <a:ext cx="138112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8453" name="Oval 44">
            <a:extLst>
              <a:ext uri="{FF2B5EF4-FFF2-40B4-BE49-F238E27FC236}">
                <a16:creationId xmlns:a16="http://schemas.microsoft.com/office/drawing/2014/main" id="{E4428773-F519-4FFF-A2C2-90413F93C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5583238"/>
            <a:ext cx="138113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BCC94-ABBA-43DC-B6F7-D784D6B8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3A556D-4C25-460F-B4B3-DEE8EEDD31BA}" type="slidenum">
              <a:rPr lang="en-US" altLang="zh-CN" b="0"/>
              <a:pPr/>
              <a:t>17</a:t>
            </a:fld>
            <a:endParaRPr lang="en-US" altLang="zh-CN" b="0"/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4C921566-5B4B-413F-976C-6F585225A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8913"/>
            <a:ext cx="8137525" cy="602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61" name="Text Box 5">
            <a:extLst>
              <a:ext uri="{FF2B5EF4-FFF2-40B4-BE49-F238E27FC236}">
                <a16:creationId xmlns:a16="http://schemas.microsoft.com/office/drawing/2014/main" id="{A56E851E-92CA-4E37-92A8-8E7D527E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076700"/>
            <a:ext cx="5400675" cy="1570038"/>
          </a:xfrm>
          <a:prstGeom prst="rect">
            <a:avLst/>
          </a:prstGeom>
          <a:solidFill>
            <a:srgbClr val="FFCC99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转换一个数据的程序段：</a:t>
            </a:r>
            <a:endParaRPr lang="en-US" altLang="zh-CN" sz="240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XBYTE[0xfeff]=num;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假设</a:t>
            </a:r>
            <a:r>
              <a:rPr lang="en-US" altLang="zh-CN" sz="2400">
                <a:solidFill>
                  <a:srgbClr val="0000FF"/>
                </a:solidFill>
              </a:rPr>
              <a:t>0xfeff</a:t>
            </a:r>
            <a:r>
              <a:rPr lang="zh-CN" altLang="en-US" sz="2400">
                <a:solidFill>
                  <a:srgbClr val="0000FF"/>
                </a:solidFill>
              </a:rPr>
              <a:t>为</a:t>
            </a:r>
            <a:r>
              <a:rPr lang="en-US" altLang="zh-CN" sz="2400">
                <a:solidFill>
                  <a:srgbClr val="0000FF"/>
                </a:solidFill>
              </a:rPr>
              <a:t>DAC0832</a:t>
            </a:r>
            <a:r>
              <a:rPr lang="zh-CN" altLang="en-US" sz="2400">
                <a:solidFill>
                  <a:srgbClr val="0000FF"/>
                </a:solidFill>
              </a:rPr>
              <a:t>的访问地址</a:t>
            </a:r>
          </a:p>
        </p:txBody>
      </p:sp>
      <p:sp>
        <p:nvSpPr>
          <p:cNvPr id="19461" name="Text Box 6">
            <a:extLst>
              <a:ext uri="{FF2B5EF4-FFF2-40B4-BE49-F238E27FC236}">
                <a16:creationId xmlns:a16="http://schemas.microsoft.com/office/drawing/2014/main" id="{BB5BC1D8-0334-489A-8ACB-6639F508E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2636838"/>
            <a:ext cx="611188" cy="35290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单缓冲方式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06E27544-9D20-4874-A0B5-E453A3479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3375"/>
            <a:ext cx="7875588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000" dirty="0">
                <a:latin typeface="Verdana" panose="020B0604030504040204" pitchFamily="34" charset="0"/>
              </a:rPr>
              <a:t>例</a:t>
            </a:r>
            <a:r>
              <a:rPr lang="en-US" altLang="zh-CN" sz="3000" dirty="0">
                <a:latin typeface="Verdana" panose="020B0604030504040204" pitchFamily="34" charset="0"/>
              </a:rPr>
              <a:t>1</a:t>
            </a:r>
            <a:r>
              <a:rPr lang="zh-CN" altLang="en-US" sz="3000" dirty="0">
                <a:latin typeface="Verdana" panose="020B0604030504040204" pitchFamily="34" charset="0"/>
              </a:rPr>
              <a:t>：</a:t>
            </a:r>
            <a:r>
              <a:rPr lang="zh-CN" altLang="en-US" sz="3000" dirty="0">
                <a:latin typeface="Times New Roman" panose="02020603050405020304" pitchFamily="18" charset="0"/>
              </a:rPr>
              <a:t>根据如下电路，编程实现由</a:t>
            </a:r>
            <a:r>
              <a:rPr lang="en-US" altLang="zh-CN" sz="3000" dirty="0">
                <a:latin typeface="Times New Roman" panose="02020603050405020304" pitchFamily="18" charset="0"/>
              </a:rPr>
              <a:t>DAC0832</a:t>
            </a:r>
            <a:r>
              <a:rPr lang="zh-CN" altLang="en-US" sz="3000" dirty="0">
                <a:latin typeface="Times New Roman" panose="02020603050405020304" pitchFamily="18" charset="0"/>
              </a:rPr>
              <a:t>输出一路</a:t>
            </a:r>
            <a:r>
              <a:rPr lang="zh-CN" altLang="en-US" sz="3000" dirty="0">
                <a:latin typeface="Verdana" panose="020B0604030504040204" pitchFamily="34" charset="0"/>
              </a:rPr>
              <a:t>三角波的功能</a:t>
            </a:r>
          </a:p>
        </p:txBody>
      </p:sp>
      <p:pic>
        <p:nvPicPr>
          <p:cNvPr id="20483" name="Picture 4">
            <a:extLst>
              <a:ext uri="{FF2B5EF4-FFF2-40B4-BE49-F238E27FC236}">
                <a16:creationId xmlns:a16="http://schemas.microsoft.com/office/drawing/2014/main" id="{6411E5F4-1AF6-4431-B5EC-28B944BF0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7" t="22261" r="7137" b="15248"/>
          <a:stretch>
            <a:fillRect/>
          </a:stretch>
        </p:blipFill>
        <p:spPr bwMode="auto">
          <a:xfrm>
            <a:off x="2070100" y="1268413"/>
            <a:ext cx="6345238" cy="387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40743" name="Text Box 7">
            <a:extLst>
              <a:ext uri="{FF2B5EF4-FFF2-40B4-BE49-F238E27FC236}">
                <a16:creationId xmlns:a16="http://schemas.microsoft.com/office/drawing/2014/main" id="{D80F1940-D024-4215-81A8-61521DE56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652963"/>
            <a:ext cx="8404225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</a:rPr>
              <a:t>电路分析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、总线方式（数据端接</a:t>
            </a:r>
            <a:r>
              <a:rPr kumimoji="1" lang="en-US" altLang="zh-CN" sz="2800">
                <a:latin typeface="Times New Roman" panose="02020603050405020304" pitchFamily="18" charset="0"/>
              </a:rPr>
              <a:t>P0,</a:t>
            </a:r>
            <a:r>
              <a:rPr kumimoji="1" lang="zh-CN" altLang="en-US" sz="2800">
                <a:latin typeface="Times New Roman" panose="02020603050405020304" pitchFamily="18" charset="0"/>
              </a:rPr>
              <a:t>无上拉电阻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启用</a:t>
            </a:r>
            <a:r>
              <a:rPr kumimoji="1" lang="en-US" altLang="zh-CN" sz="2800">
                <a:latin typeface="Times New Roman" panose="02020603050405020304" pitchFamily="18" charset="0"/>
              </a:rPr>
              <a:t>/WR</a:t>
            </a:r>
            <a:r>
              <a:rPr kumimoji="1" lang="zh-CN" altLang="en-US" sz="2800">
                <a:latin typeface="Times New Roman" panose="02020603050405020304" pitchFamily="18" charset="0"/>
              </a:rPr>
              <a:t>和地址线）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、第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级受控，高</a:t>
            </a:r>
            <a:r>
              <a:rPr lang="en-US" altLang="zh-CN" sz="2800">
                <a:latin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</a:rPr>
              <a:t>位地址为 </a:t>
            </a:r>
            <a:r>
              <a:rPr lang="en-US" altLang="zh-CN" sz="2800">
                <a:latin typeface="Times New Roman" panose="02020603050405020304" pitchFamily="18" charset="0"/>
              </a:rPr>
              <a:t>1111111</a:t>
            </a:r>
            <a:r>
              <a:rPr lang="en-US" altLang="zh-CN" sz="2800">
                <a:solidFill>
                  <a:srgbClr val="FFFF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>
                <a:latin typeface="Times New Roman" panose="02020603050405020304" pitchFamily="18" charset="0"/>
              </a:rPr>
              <a:t> B</a:t>
            </a:r>
            <a:r>
              <a:rPr lang="zh-CN" altLang="en-US" sz="2800">
                <a:latin typeface="Times New Roman" panose="02020603050405020304" pitchFamily="18" charset="0"/>
              </a:rPr>
              <a:t>，第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级直通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0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0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40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88761C7A-8AEF-47C6-BCF0-A412E69D3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49275"/>
            <a:ext cx="78755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Verdana" panose="020B0604030504040204" pitchFamily="34" charset="0"/>
              </a:rPr>
              <a:t>例</a:t>
            </a:r>
            <a:r>
              <a:rPr lang="en-US" altLang="zh-CN" sz="2800" dirty="0">
                <a:latin typeface="Verdana" panose="020B0604030504040204" pitchFamily="34" charset="0"/>
              </a:rPr>
              <a:t>1 </a:t>
            </a:r>
            <a:r>
              <a:rPr lang="zh-CN" altLang="en-US" sz="2800" dirty="0">
                <a:latin typeface="Verdana" panose="020B0604030504040204" pitchFamily="34" charset="0"/>
              </a:rPr>
              <a:t>参考程序</a:t>
            </a:r>
          </a:p>
        </p:txBody>
      </p:sp>
      <p:pic>
        <p:nvPicPr>
          <p:cNvPr id="22531" name="Picture 5">
            <a:extLst>
              <a:ext uri="{FF2B5EF4-FFF2-40B4-BE49-F238E27FC236}">
                <a16:creationId xmlns:a16="http://schemas.microsoft.com/office/drawing/2014/main" id="{9CBFE0AB-AD66-4DE4-A5AE-B7669AD8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6" t="23524" r="7033" b="37343"/>
          <a:stretch>
            <a:fillRect/>
          </a:stretch>
        </p:blipFill>
        <p:spPr bwMode="auto">
          <a:xfrm>
            <a:off x="619125" y="1495425"/>
            <a:ext cx="8201025" cy="4525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41767F-CF9B-4379-8E4E-90C6696B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9297-7B85-4BEB-9245-3071BE7FFD67}" type="slidenum">
              <a:rPr lang="en-US" altLang="zh-CN" smtClean="0"/>
              <a:pPr/>
              <a:t>20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E47163-CA7A-42B7-9BEE-AE259CAE6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836712"/>
            <a:ext cx="7408937" cy="483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58790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422989F-3B42-4179-A613-306503A2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5AC970-32B0-468E-B517-83AA83DB89F9}" type="slidenum">
              <a:rPr lang="en-US" altLang="zh-CN" b="0"/>
              <a:pPr/>
              <a:t>21</a:t>
            </a:fld>
            <a:endParaRPr lang="en-US" altLang="zh-CN" b="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E5C6FB78-ABBB-45D2-B014-F3AD693C4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>
                <a:solidFill>
                  <a:schemeClr val="tx1"/>
                </a:solidFill>
              </a:rPr>
              <a:t>DAC0831</a:t>
            </a:r>
            <a:r>
              <a:rPr lang="zh-CN" altLang="en-US" sz="3600" b="1">
                <a:solidFill>
                  <a:schemeClr val="tx1"/>
                </a:solidFill>
              </a:rPr>
              <a:t>双缓冲方式的连接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3C1BB6ED-A592-4CEB-9840-699B568F6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8407400" cy="513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2D60D8B6-26CD-468A-B74E-5ADC410B4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55816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600" b="1">
                <a:effectLst/>
              </a:rPr>
              <a:t>DAC0832</a:t>
            </a:r>
            <a:r>
              <a:rPr lang="zh-CN" altLang="en-US" sz="2600" b="1">
                <a:effectLst/>
              </a:rPr>
              <a:t>双数据缓冲结构用于</a:t>
            </a:r>
            <a:r>
              <a:rPr lang="zh-CN" altLang="en-US" sz="2600" b="1">
                <a:solidFill>
                  <a:srgbClr val="FFFF00"/>
                </a:solidFill>
                <a:effectLst/>
              </a:rPr>
              <a:t>多片</a:t>
            </a:r>
            <a:r>
              <a:rPr lang="en-US" altLang="zh-CN" sz="2600" b="1">
                <a:solidFill>
                  <a:srgbClr val="FFFF00"/>
                </a:solidFill>
                <a:effectLst/>
              </a:rPr>
              <a:t>D/A</a:t>
            </a:r>
            <a:r>
              <a:rPr lang="zh-CN" altLang="en-US" sz="2600" b="1">
                <a:solidFill>
                  <a:srgbClr val="FFFF00"/>
                </a:solidFill>
                <a:effectLst/>
              </a:rPr>
              <a:t>转换器需要同步输出的场合</a:t>
            </a:r>
            <a:r>
              <a:rPr lang="zh-CN" altLang="en-US" sz="2600" b="1">
                <a:effectLst/>
              </a:rPr>
              <a:t>。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600" b="1">
                <a:effectLst/>
              </a:rPr>
              <a:t>DAC0832</a:t>
            </a:r>
            <a:r>
              <a:rPr lang="zh-CN" altLang="en-US" sz="2600" b="1">
                <a:effectLst/>
              </a:rPr>
              <a:t>的第一级数据输入寄存器用来锁存</a:t>
            </a:r>
            <a:r>
              <a:rPr lang="en-US" altLang="zh-CN" sz="2600" b="1">
                <a:effectLst/>
              </a:rPr>
              <a:t>CPU</a:t>
            </a:r>
            <a:r>
              <a:rPr lang="zh-CN" altLang="en-US" sz="2600" b="1">
                <a:effectLst/>
              </a:rPr>
              <a:t>送来的数据，第二级</a:t>
            </a:r>
            <a:r>
              <a:rPr lang="en-US" altLang="zh-CN" sz="2600" b="1">
                <a:effectLst/>
              </a:rPr>
              <a:t>DAC</a:t>
            </a:r>
            <a:r>
              <a:rPr lang="zh-CN" altLang="en-US" sz="2600" b="1">
                <a:effectLst/>
              </a:rPr>
              <a:t>寄存器用作同步寄存器。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600" b="1">
                <a:effectLst/>
              </a:rPr>
              <a:t>在多片</a:t>
            </a:r>
            <a:r>
              <a:rPr lang="en-US" altLang="zh-CN" sz="2600" b="1">
                <a:effectLst/>
              </a:rPr>
              <a:t>DAC0832</a:t>
            </a:r>
            <a:r>
              <a:rPr lang="zh-CN" altLang="en-US" sz="2600" b="1">
                <a:effectLst/>
              </a:rPr>
              <a:t>的系统中，如果希望多片</a:t>
            </a:r>
            <a:r>
              <a:rPr lang="en-US" altLang="zh-CN" sz="2600" b="1">
                <a:effectLst/>
              </a:rPr>
              <a:t>D/A</a:t>
            </a:r>
            <a:r>
              <a:rPr lang="zh-CN" altLang="en-US" sz="2600" b="1">
                <a:effectLst/>
              </a:rPr>
              <a:t>转换器同步输出，只要首先将数据分别写入各个</a:t>
            </a:r>
            <a:r>
              <a:rPr lang="en-US" altLang="zh-CN" sz="2600" b="1">
                <a:effectLst/>
              </a:rPr>
              <a:t>D/A</a:t>
            </a:r>
            <a:r>
              <a:rPr lang="zh-CN" altLang="en-US" sz="2600" b="1">
                <a:effectLst/>
              </a:rPr>
              <a:t>转换芯片的输入寄存器，然后使各片的</a:t>
            </a:r>
            <a:r>
              <a:rPr lang="en-US" altLang="zh-CN" sz="2600" b="1">
                <a:effectLst/>
              </a:rPr>
              <a:t>WR2#</a:t>
            </a:r>
            <a:r>
              <a:rPr lang="zh-CN" altLang="en-US" sz="2600" b="1">
                <a:effectLst/>
              </a:rPr>
              <a:t>和</a:t>
            </a:r>
            <a:r>
              <a:rPr lang="en-US" altLang="zh-CN" sz="2600" b="1">
                <a:effectLst/>
              </a:rPr>
              <a:t>XFER#</a:t>
            </a:r>
            <a:r>
              <a:rPr lang="zh-CN" altLang="en-US" sz="2600" b="1">
                <a:effectLst/>
              </a:rPr>
              <a:t>同时有效，这样，期望的数据值便从各个芯片的输入寄存器被同时送入它们的</a:t>
            </a:r>
            <a:r>
              <a:rPr lang="en-US" altLang="zh-CN" sz="2600" b="1">
                <a:effectLst/>
              </a:rPr>
              <a:t>DAC</a:t>
            </a:r>
            <a:r>
              <a:rPr lang="zh-CN" altLang="en-US" sz="2600" b="1">
                <a:effectLst/>
              </a:rPr>
              <a:t>寄存器，在各个</a:t>
            </a:r>
            <a:r>
              <a:rPr lang="en-US" altLang="zh-CN" sz="2600" b="1">
                <a:effectLst/>
              </a:rPr>
              <a:t>D/A</a:t>
            </a:r>
            <a:r>
              <a:rPr lang="zh-CN" altLang="en-US" sz="2600" b="1">
                <a:effectLst/>
              </a:rPr>
              <a:t>转换通道的运算放大器上同时产生相应的电压变化。</a:t>
            </a:r>
            <a:br>
              <a:rPr lang="zh-CN" altLang="en-US" sz="2600" b="1">
                <a:effectLst/>
              </a:rPr>
            </a:br>
            <a:endParaRPr lang="zh-CN" altLang="en-US" sz="2600" b="1">
              <a:effectLst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89B4567F-375F-4118-B220-56095222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2CBF95-749A-4BA8-A689-CEB16171B5FC}" type="slidenum">
              <a:rPr lang="en-US" altLang="zh-CN" b="0"/>
              <a:pPr/>
              <a:t>23</a:t>
            </a:fld>
            <a:endParaRPr lang="en-US" altLang="zh-CN" b="0"/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3CD56BC6-C818-44A1-BDDF-4A6A82DD6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16" y="620713"/>
            <a:ext cx="754482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 dirty="0"/>
              <a:t>2</a:t>
            </a:r>
            <a:r>
              <a:rPr lang="zh-CN" altLang="en-US" sz="2600" dirty="0"/>
              <a:t>、</a:t>
            </a:r>
            <a:r>
              <a:rPr lang="en-US" altLang="zh-CN" sz="2600" dirty="0"/>
              <a:t>DAC0832</a:t>
            </a:r>
            <a:r>
              <a:rPr lang="zh-CN" altLang="en-US" sz="2600" dirty="0"/>
              <a:t>的引脚信号</a:t>
            </a:r>
          </a:p>
        </p:txBody>
      </p:sp>
      <p:sp>
        <p:nvSpPr>
          <p:cNvPr id="93189" name="Text Box 5">
            <a:extLst>
              <a:ext uri="{FF2B5EF4-FFF2-40B4-BE49-F238E27FC236}">
                <a16:creationId xmlns:a16="http://schemas.microsoft.com/office/drawing/2014/main" id="{E8B1B12E-A011-489F-AAEA-04C1F1123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603875"/>
            <a:ext cx="6324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/>
              <a:t>D</a:t>
            </a:r>
            <a:r>
              <a:rPr lang="en-US" altLang="zh-CN" sz="2600">
                <a:latin typeface="Courier New" panose="02070309020205020404" pitchFamily="49" charset="0"/>
              </a:rPr>
              <a:t>I</a:t>
            </a:r>
            <a:r>
              <a:rPr lang="en-US" altLang="zh-CN" sz="2600" baseline="-25000"/>
              <a:t>0-7</a:t>
            </a:r>
            <a:r>
              <a:rPr lang="zh-CN" altLang="en-US" sz="2600"/>
              <a:t>：</a:t>
            </a:r>
            <a:r>
              <a:rPr lang="en-US" altLang="zh-CN" sz="2600"/>
              <a:t>8</a:t>
            </a:r>
            <a:r>
              <a:rPr lang="zh-CN" altLang="en-US" sz="2600"/>
              <a:t>位数字量数据输入端。</a:t>
            </a:r>
          </a:p>
        </p:txBody>
      </p:sp>
      <p:sp>
        <p:nvSpPr>
          <p:cNvPr id="93193" name="Text Box 9">
            <a:extLst>
              <a:ext uri="{FF2B5EF4-FFF2-40B4-BE49-F238E27FC236}">
                <a16:creationId xmlns:a16="http://schemas.microsoft.com/office/drawing/2014/main" id="{F8511F58-F31B-451B-A5BA-EC34C6C81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76475"/>
            <a:ext cx="6096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600">
                <a:latin typeface="Courier New" panose="02070309020205020404" pitchFamily="49" charset="0"/>
              </a:rPr>
              <a:t>ILE</a:t>
            </a:r>
            <a:r>
              <a:rPr lang="zh-CN" altLang="en-US" sz="2600"/>
              <a:t>：允许锁存信号，高电平有效。</a:t>
            </a:r>
            <a:endParaRPr lang="zh-CN" altLang="en-US" sz="2600" b="0"/>
          </a:p>
        </p:txBody>
      </p:sp>
      <p:grpSp>
        <p:nvGrpSpPr>
          <p:cNvPr id="93195" name="Group 11">
            <a:extLst>
              <a:ext uri="{FF2B5EF4-FFF2-40B4-BE49-F238E27FC236}">
                <a16:creationId xmlns:a16="http://schemas.microsoft.com/office/drawing/2014/main" id="{4082D817-37FF-4BE5-A7C4-F507D9E40946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196975"/>
            <a:ext cx="8839200" cy="885825"/>
            <a:chOff x="192" y="912"/>
            <a:chExt cx="5376" cy="558"/>
          </a:xfrm>
        </p:grpSpPr>
        <p:sp>
          <p:nvSpPr>
            <p:cNvPr id="26640" name="Text Box 3">
              <a:extLst>
                <a:ext uri="{FF2B5EF4-FFF2-40B4-BE49-F238E27FC236}">
                  <a16:creationId xmlns:a16="http://schemas.microsoft.com/office/drawing/2014/main" id="{663A5ED7-DF32-49EF-83D1-F7391A9A8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912"/>
              <a:ext cx="5376" cy="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/>
                <a:t>CS</a:t>
              </a:r>
              <a:r>
                <a:rPr lang="zh-CN" altLang="en-US" sz="2600"/>
                <a:t>：片选信号，和允许锁存信号</a:t>
              </a:r>
              <a:r>
                <a:rPr lang="en-US" altLang="zh-CN" sz="2600"/>
                <a:t>ILE</a:t>
              </a:r>
              <a:r>
                <a:rPr lang="zh-CN" altLang="en-US" sz="2600"/>
                <a:t>组合决定</a:t>
              </a:r>
              <a:r>
                <a:rPr lang="en-US" altLang="zh-CN" sz="2600"/>
                <a:t>WR1</a:t>
              </a:r>
              <a:r>
                <a:rPr lang="zh-CN" altLang="en-US" sz="2600"/>
                <a:t>是否起作用。</a:t>
              </a:r>
            </a:p>
          </p:txBody>
        </p:sp>
        <p:sp>
          <p:nvSpPr>
            <p:cNvPr id="26641" name="Line 10">
              <a:extLst>
                <a:ext uri="{FF2B5EF4-FFF2-40B4-BE49-F238E27FC236}">
                  <a16:creationId xmlns:a16="http://schemas.microsoft.com/office/drawing/2014/main" id="{81567E96-93D8-414B-82D7-B5051DC23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" y="9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3197" name="Group 13">
            <a:extLst>
              <a:ext uri="{FF2B5EF4-FFF2-40B4-BE49-F238E27FC236}">
                <a16:creationId xmlns:a16="http://schemas.microsoft.com/office/drawing/2014/main" id="{D35722C9-82A8-4532-BEE9-419FA9724B3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811713"/>
            <a:ext cx="6781800" cy="488950"/>
            <a:chOff x="192" y="2736"/>
            <a:chExt cx="4272" cy="308"/>
          </a:xfrm>
        </p:grpSpPr>
        <p:sp>
          <p:nvSpPr>
            <p:cNvPr id="26638" name="Text Box 6">
              <a:extLst>
                <a:ext uri="{FF2B5EF4-FFF2-40B4-BE49-F238E27FC236}">
                  <a16:creationId xmlns:a16="http://schemas.microsoft.com/office/drawing/2014/main" id="{2198BE8C-AE83-4BFE-9790-81F4C1932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427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/>
                <a:t>XFER</a:t>
              </a:r>
              <a:r>
                <a:rPr lang="zh-CN" altLang="en-US" sz="2600"/>
                <a:t>：数据转移制信号，用来控制</a:t>
              </a:r>
              <a:r>
                <a:rPr lang="en-US" altLang="zh-CN" sz="2600"/>
                <a:t>WR2</a:t>
              </a:r>
              <a:r>
                <a:rPr lang="zh-CN" altLang="en-US" sz="2600"/>
                <a:t>。</a:t>
              </a:r>
            </a:p>
          </p:txBody>
        </p:sp>
        <p:sp>
          <p:nvSpPr>
            <p:cNvPr id="26639" name="Line 12">
              <a:extLst>
                <a:ext uri="{FF2B5EF4-FFF2-40B4-BE49-F238E27FC236}">
                  <a16:creationId xmlns:a16="http://schemas.microsoft.com/office/drawing/2014/main" id="{EF861768-1C28-4168-9F53-E451EA1AF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78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3199" name="Group 15">
            <a:extLst>
              <a:ext uri="{FF2B5EF4-FFF2-40B4-BE49-F238E27FC236}">
                <a16:creationId xmlns:a16="http://schemas.microsoft.com/office/drawing/2014/main" id="{1D457C22-0D83-413C-9D0F-C8394E3561E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948113"/>
            <a:ext cx="8229600" cy="488950"/>
            <a:chOff x="192" y="2160"/>
            <a:chExt cx="5184" cy="308"/>
          </a:xfrm>
        </p:grpSpPr>
        <p:sp>
          <p:nvSpPr>
            <p:cNvPr id="26636" name="Text Box 7">
              <a:extLst>
                <a:ext uri="{FF2B5EF4-FFF2-40B4-BE49-F238E27FC236}">
                  <a16:creationId xmlns:a16="http://schemas.microsoft.com/office/drawing/2014/main" id="{9E88D80B-81D4-4E6B-A8D9-1F59AE03D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160"/>
              <a:ext cx="518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/>
                <a:t>WR</a:t>
              </a:r>
              <a:r>
                <a:rPr lang="en-US" altLang="zh-CN" sz="2600" baseline="-25000"/>
                <a:t>2</a:t>
              </a:r>
              <a:r>
                <a:rPr lang="zh-CN" altLang="en-US" sz="2600"/>
                <a:t>：写信号</a:t>
              </a:r>
              <a:r>
                <a:rPr lang="en-US" altLang="zh-CN" sz="2600"/>
                <a:t>2</a:t>
              </a:r>
              <a:r>
                <a:rPr lang="zh-CN" altLang="en-US" sz="2600"/>
                <a:t>，</a:t>
              </a:r>
              <a:r>
                <a:rPr lang="en-US" altLang="zh-CN" sz="2600"/>
                <a:t>DAC</a:t>
              </a:r>
              <a:r>
                <a:rPr lang="zh-CN" altLang="en-US" sz="2600"/>
                <a:t>寄存器的写选通信号。</a:t>
              </a:r>
              <a:endParaRPr lang="zh-CN" altLang="en-US" sz="2600" b="0"/>
            </a:p>
          </p:txBody>
        </p:sp>
        <p:sp>
          <p:nvSpPr>
            <p:cNvPr id="26637" name="Line 14">
              <a:extLst>
                <a:ext uri="{FF2B5EF4-FFF2-40B4-BE49-F238E27FC236}">
                  <a16:creationId xmlns:a16="http://schemas.microsoft.com/office/drawing/2014/main" id="{68764155-EF07-4533-9D13-ABAE12777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21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3201" name="Group 17">
            <a:extLst>
              <a:ext uri="{FF2B5EF4-FFF2-40B4-BE49-F238E27FC236}">
                <a16:creationId xmlns:a16="http://schemas.microsoft.com/office/drawing/2014/main" id="{FCB3FF4F-1350-40BC-9834-F43A0B00651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903538"/>
            <a:ext cx="8458200" cy="885825"/>
            <a:chOff x="192" y="1632"/>
            <a:chExt cx="5328" cy="558"/>
          </a:xfrm>
        </p:grpSpPr>
        <p:sp>
          <p:nvSpPr>
            <p:cNvPr id="26634" name="Text Box 8">
              <a:extLst>
                <a:ext uri="{FF2B5EF4-FFF2-40B4-BE49-F238E27FC236}">
                  <a16:creationId xmlns:a16="http://schemas.microsoft.com/office/drawing/2014/main" id="{6DFACDB3-ED7E-4E6D-973C-0416F2DDF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632"/>
              <a:ext cx="5328" cy="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/>
                <a:t>WR</a:t>
              </a:r>
              <a:r>
                <a:rPr lang="en-US" altLang="zh-CN" sz="2600" baseline="-25000"/>
                <a:t>1</a:t>
              </a:r>
              <a:r>
                <a:rPr lang="zh-CN" altLang="en-US" sz="2600"/>
                <a:t>：写信号</a:t>
              </a:r>
              <a:r>
                <a:rPr lang="en-US" altLang="zh-CN" sz="2600"/>
                <a:t>1</a:t>
              </a:r>
              <a:r>
                <a:rPr lang="zh-CN" altLang="en-US" sz="2600"/>
                <a:t>，作为第一级锁存信号，将输入数据锁存到输入寄存器。</a:t>
              </a:r>
              <a:endParaRPr lang="zh-CN" altLang="en-US" sz="2600" b="0"/>
            </a:p>
          </p:txBody>
        </p:sp>
        <p:sp>
          <p:nvSpPr>
            <p:cNvPr id="26635" name="Line 16">
              <a:extLst>
                <a:ext uri="{FF2B5EF4-FFF2-40B4-BE49-F238E27FC236}">
                  <a16:creationId xmlns:a16="http://schemas.microsoft.com/office/drawing/2014/main" id="{E7E1A6B1-FC7C-4473-8FA8-B74A7751B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autoUpdateAnimBg="0"/>
      <p:bldP spid="9319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B7834-4304-4EA3-9A51-9590B851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00C4AA-92BB-4507-8A37-D72BF5327220}" type="slidenum">
              <a:rPr lang="en-US" altLang="zh-CN" b="0"/>
              <a:pPr/>
              <a:t>24</a:t>
            </a:fld>
            <a:endParaRPr lang="en-US" altLang="zh-CN" b="0"/>
          </a:p>
        </p:txBody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B0DA6E96-9777-4A03-9AB5-87AFB7CD6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05163"/>
            <a:ext cx="76962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/>
              <a:t>R</a:t>
            </a:r>
            <a:r>
              <a:rPr lang="en-US" altLang="zh-CN" sz="2800" baseline="-25000" dirty="0"/>
              <a:t>FB</a:t>
            </a:r>
            <a:r>
              <a:rPr lang="zh-CN" altLang="en-US" sz="2800" dirty="0"/>
              <a:t>：反馈电阻引出端。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REF</a:t>
            </a:r>
            <a:r>
              <a:rPr lang="zh-CN" altLang="en-US" sz="2800" dirty="0"/>
              <a:t>：参考电压输入端，可接电压</a:t>
            </a:r>
            <a:r>
              <a:rPr lang="en-US" altLang="zh-CN" sz="2400" dirty="0"/>
              <a:t>±</a:t>
            </a:r>
            <a:r>
              <a:rPr lang="en-US" altLang="zh-CN" sz="2800" dirty="0"/>
              <a:t> 10V</a:t>
            </a:r>
            <a:r>
              <a:rPr lang="zh-CN" altLang="en-US" sz="2800" dirty="0"/>
              <a:t>。</a:t>
            </a: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5C0E04A1-723C-4667-AE96-534F88E3F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06913"/>
            <a:ext cx="7010400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V</a:t>
            </a:r>
            <a:r>
              <a:rPr lang="en-US" altLang="zh-CN" sz="2800" baseline="-25000"/>
              <a:t>CC</a:t>
            </a:r>
            <a:r>
              <a:rPr lang="zh-CN" altLang="en-US" sz="2800"/>
              <a:t>：芯片供电电压端，＋</a:t>
            </a:r>
            <a:r>
              <a:rPr lang="en-US" altLang="zh-CN" sz="2800"/>
              <a:t>5V</a:t>
            </a:r>
            <a:r>
              <a:rPr lang="zh-CN" altLang="en-US" sz="2800"/>
              <a:t>～</a:t>
            </a:r>
            <a:r>
              <a:rPr lang="en-US" altLang="zh-CN" sz="2800"/>
              <a:t>+15V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AGND</a:t>
            </a:r>
            <a:r>
              <a:rPr lang="zh-CN" altLang="en-US" sz="2800"/>
              <a:t>：模拟地，即模拟电路接地端。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DGND</a:t>
            </a:r>
            <a:r>
              <a:rPr lang="zh-CN" altLang="en-US" sz="2800"/>
              <a:t>：数字地，即数字电路接地端。</a:t>
            </a:r>
          </a:p>
        </p:txBody>
      </p:sp>
      <p:sp>
        <p:nvSpPr>
          <p:cNvPr id="94218" name="Text Box 10">
            <a:extLst>
              <a:ext uri="{FF2B5EF4-FFF2-40B4-BE49-F238E27FC236}">
                <a16:creationId xmlns:a16="http://schemas.microsoft.com/office/drawing/2014/main" id="{ED64121C-AAA8-4CDB-8895-8896665F3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87375"/>
            <a:ext cx="8351838" cy="248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/>
              <a:t>Iout1</a:t>
            </a:r>
            <a:r>
              <a:rPr kumimoji="1" lang="zh-CN" altLang="en-US" sz="2800"/>
              <a:t>、</a:t>
            </a:r>
            <a:r>
              <a:rPr kumimoji="1" lang="en-US" altLang="zh-CN" sz="2800"/>
              <a:t>Iout2——</a:t>
            </a:r>
            <a:r>
              <a:rPr kumimoji="1" lang="zh-CN" altLang="en-US" sz="2800"/>
              <a:t>模拟电流输出端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/>
              <a:t>   </a:t>
            </a:r>
            <a:r>
              <a:rPr kumimoji="1" lang="en-US" altLang="zh-CN" sz="2800"/>
              <a:t>D/A</a:t>
            </a:r>
            <a:r>
              <a:rPr kumimoji="1" lang="zh-CN" altLang="en-US" sz="2800"/>
              <a:t>转换器输出电流端之一。</a:t>
            </a:r>
            <a:r>
              <a:rPr kumimoji="1" lang="en-US" altLang="zh-CN" sz="2800"/>
              <a:t>DAC</a:t>
            </a:r>
            <a:r>
              <a:rPr kumimoji="1" lang="zh-CN" altLang="en-US" sz="2800"/>
              <a:t>锁存的数据位为“</a:t>
            </a:r>
            <a:r>
              <a:rPr kumimoji="1" lang="en-US" altLang="zh-CN" sz="2800"/>
              <a:t>1”</a:t>
            </a:r>
            <a:r>
              <a:rPr kumimoji="1" lang="zh-CN" altLang="en-US" sz="2800"/>
              <a:t>的位电流均流出此端；当</a:t>
            </a:r>
            <a:r>
              <a:rPr kumimoji="1" lang="en-US" altLang="zh-CN" sz="2800"/>
              <a:t>DAC</a:t>
            </a:r>
            <a:r>
              <a:rPr kumimoji="1" lang="zh-CN" altLang="en-US" sz="2800"/>
              <a:t>锁存器各位全</a:t>
            </a:r>
            <a:r>
              <a:rPr kumimoji="1" lang="en-US" altLang="zh-CN" sz="2800"/>
              <a:t>1</a:t>
            </a:r>
            <a:r>
              <a:rPr kumimoji="1" lang="zh-CN" altLang="en-US" sz="2800"/>
              <a:t>时，输出电流最大，全</a:t>
            </a:r>
            <a:r>
              <a:rPr kumimoji="1" lang="en-US" altLang="zh-CN" sz="2800"/>
              <a:t>0</a:t>
            </a:r>
            <a:r>
              <a:rPr kumimoji="1" lang="zh-CN" altLang="en-US" sz="2800"/>
              <a:t>时输出为</a:t>
            </a:r>
            <a:r>
              <a:rPr kumimoji="1" lang="en-US" altLang="zh-CN" sz="2800"/>
              <a:t>0</a:t>
            </a:r>
            <a:r>
              <a:rPr kumimoji="1" lang="zh-CN" altLang="en-US" sz="2800"/>
              <a:t>； </a:t>
            </a:r>
            <a:r>
              <a:rPr kumimoji="1" lang="en-US" altLang="zh-CN" sz="2800"/>
              <a:t>Iout1</a:t>
            </a:r>
            <a:r>
              <a:rPr kumimoji="1" lang="zh-CN" altLang="en-US" sz="2800"/>
              <a:t>和</a:t>
            </a:r>
            <a:r>
              <a:rPr kumimoji="1" lang="en-US" altLang="zh-CN" sz="2800"/>
              <a:t>Iout2</a:t>
            </a:r>
            <a:r>
              <a:rPr kumimoji="1" lang="zh-CN" altLang="en-US" sz="2800"/>
              <a:t>是一个互补的关系，既</a:t>
            </a:r>
            <a:r>
              <a:rPr kumimoji="1" lang="en-US" altLang="zh-CN" sz="2800"/>
              <a:t>Iout1+Iout2=</a:t>
            </a:r>
            <a:r>
              <a:rPr kumimoji="1" lang="zh-CN" altLang="en-US" sz="2800"/>
              <a:t>常数</a:t>
            </a:r>
            <a:endParaRPr lang="zh-CN" altLang="en-US" sz="28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utoUpdateAnimBg="0"/>
      <p:bldP spid="94211" grpId="0" autoUpdateAnimBg="0"/>
      <p:bldP spid="942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>
            <a:extLst>
              <a:ext uri="{FF2B5EF4-FFF2-40B4-BE49-F238E27FC236}">
                <a16:creationId xmlns:a16="http://schemas.microsoft.com/office/drawing/2014/main" id="{534FE3A8-39BE-4DDF-A6AA-65E4F56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B2BB24-21E8-4305-B6DD-3D8441427228}" type="slidenum">
              <a:rPr lang="en-US" altLang="zh-CN" b="0"/>
              <a:pPr/>
              <a:t>25</a:t>
            </a:fld>
            <a:endParaRPr lang="en-US" altLang="zh-CN" b="0"/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065D073C-0161-4D2A-82F9-9A3B41AD3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392113"/>
            <a:ext cx="83058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3</a:t>
            </a:r>
            <a:r>
              <a:rPr lang="zh-CN" altLang="en-US" sz="2800"/>
              <a:t>、</a:t>
            </a:r>
            <a:r>
              <a:rPr lang="en-US" altLang="zh-CN" sz="2800"/>
              <a:t>DAC0832</a:t>
            </a:r>
            <a:r>
              <a:rPr lang="zh-CN" altLang="en-US" sz="2800"/>
              <a:t>的外部连接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7DC5944D-CB14-40DF-8481-02FCC92C6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484313"/>
            <a:ext cx="1371600" cy="3290887"/>
          </a:xfrm>
          <a:prstGeom prst="rect">
            <a:avLst/>
          </a:prstGeom>
          <a:noFill/>
          <a:ln w="349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grpSp>
        <p:nvGrpSpPr>
          <p:cNvPr id="28677" name="Group 4">
            <a:extLst>
              <a:ext uri="{FF2B5EF4-FFF2-40B4-BE49-F238E27FC236}">
                <a16:creationId xmlns:a16="http://schemas.microsoft.com/office/drawing/2014/main" id="{AE0D79BE-59F2-4A40-985F-1B1EF198DCC9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260600"/>
            <a:ext cx="1143000" cy="1233488"/>
            <a:chOff x="3936" y="1815"/>
            <a:chExt cx="480" cy="672"/>
          </a:xfrm>
        </p:grpSpPr>
        <p:sp>
          <p:nvSpPr>
            <p:cNvPr id="28707" name="Line 5">
              <a:extLst>
                <a:ext uri="{FF2B5EF4-FFF2-40B4-BE49-F238E27FC236}">
                  <a16:creationId xmlns:a16="http://schemas.microsoft.com/office/drawing/2014/main" id="{5C146DEF-ECE8-484A-9F1A-2A87B387F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815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8" name="Line 6">
              <a:extLst>
                <a:ext uri="{FF2B5EF4-FFF2-40B4-BE49-F238E27FC236}">
                  <a16:creationId xmlns:a16="http://schemas.microsoft.com/office/drawing/2014/main" id="{9C962248-EBAB-4006-888F-73E9F2D2D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815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9" name="Line 7">
              <a:extLst>
                <a:ext uri="{FF2B5EF4-FFF2-40B4-BE49-F238E27FC236}">
                  <a16:creationId xmlns:a16="http://schemas.microsoft.com/office/drawing/2014/main" id="{A8A04D51-117C-4FCC-BFE4-4AF5CD612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2199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8678" name="Line 8">
            <a:extLst>
              <a:ext uri="{FF2B5EF4-FFF2-40B4-BE49-F238E27FC236}">
                <a16:creationId xmlns:a16="http://schemas.microsoft.com/office/drawing/2014/main" id="{DFC5D836-3396-4231-A89B-6A85D4FD8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5511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79" name="Line 9">
            <a:extLst>
              <a:ext uri="{FF2B5EF4-FFF2-40B4-BE49-F238E27FC236}">
                <a16:creationId xmlns:a16="http://schemas.microsoft.com/office/drawing/2014/main" id="{630072B1-8EA5-4E16-8350-111C3CFC4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16071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80" name="AutoShape 10">
            <a:extLst>
              <a:ext uri="{FF2B5EF4-FFF2-40B4-BE49-F238E27FC236}">
                <a16:creationId xmlns:a16="http://schemas.microsoft.com/office/drawing/2014/main" id="{7EB492CD-60BA-49EE-AF83-A71B151EE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636713"/>
            <a:ext cx="2438400" cy="381000"/>
          </a:xfrm>
          <a:prstGeom prst="rightArrow">
            <a:avLst>
              <a:gd name="adj1" fmla="val 50000"/>
              <a:gd name="adj2" fmla="val 16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8681" name="Text Box 11">
            <a:extLst>
              <a:ext uri="{FF2B5EF4-FFF2-40B4-BE49-F238E27FC236}">
                <a16:creationId xmlns:a16="http://schemas.microsoft.com/office/drawing/2014/main" id="{F6C859BF-6848-45F2-8DEA-C4CA32E5F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84513"/>
            <a:ext cx="1219200" cy="1636712"/>
          </a:xfrm>
          <a:prstGeom prst="rect">
            <a:avLst/>
          </a:prstGeom>
          <a:noFill/>
          <a:ln w="3175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28682" name="AutoShape 12">
            <a:extLst>
              <a:ext uri="{FF2B5EF4-FFF2-40B4-BE49-F238E27FC236}">
                <a16:creationId xmlns:a16="http://schemas.microsoft.com/office/drawing/2014/main" id="{1AB1B4D6-42A0-4CBC-93F4-2805F93BB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89313"/>
            <a:ext cx="914400" cy="304800"/>
          </a:xfrm>
          <a:prstGeom prst="righ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8683" name="Text Box 13">
            <a:extLst>
              <a:ext uri="{FF2B5EF4-FFF2-40B4-BE49-F238E27FC236}">
                <a16:creationId xmlns:a16="http://schemas.microsoft.com/office/drawing/2014/main" id="{29AD524B-C9C8-43C3-BCB5-5881601CB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84513"/>
            <a:ext cx="914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译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码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器</a:t>
            </a:r>
          </a:p>
        </p:txBody>
      </p:sp>
      <p:sp>
        <p:nvSpPr>
          <p:cNvPr id="28684" name="Text Box 14">
            <a:extLst>
              <a:ext uri="{FF2B5EF4-FFF2-40B4-BE49-F238E27FC236}">
                <a16:creationId xmlns:a16="http://schemas.microsoft.com/office/drawing/2014/main" id="{5D180512-0451-49B5-962B-0A098DC71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551113"/>
            <a:ext cx="9906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DAC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0832</a:t>
            </a:r>
          </a:p>
        </p:txBody>
      </p:sp>
      <p:sp>
        <p:nvSpPr>
          <p:cNvPr id="28685" name="Line 15">
            <a:extLst>
              <a:ext uri="{FF2B5EF4-FFF2-40B4-BE49-F238E27FC236}">
                <a16:creationId xmlns:a16="http://schemas.microsoft.com/office/drawing/2014/main" id="{636FD27F-FAC8-4893-8B45-55CE51984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789113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86" name="Line 16">
            <a:extLst>
              <a:ext uri="{FF2B5EF4-FFF2-40B4-BE49-F238E27FC236}">
                <a16:creationId xmlns:a16="http://schemas.microsoft.com/office/drawing/2014/main" id="{384606A5-B79E-410D-ADC5-609CB1D53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96068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87" name="Line 17">
            <a:extLst>
              <a:ext uri="{FF2B5EF4-FFF2-40B4-BE49-F238E27FC236}">
                <a16:creationId xmlns:a16="http://schemas.microsoft.com/office/drawing/2014/main" id="{D59DB826-6C72-4938-9066-11AEC1254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1789113"/>
            <a:ext cx="0" cy="11572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88" name="Line 18">
            <a:extLst>
              <a:ext uri="{FF2B5EF4-FFF2-40B4-BE49-F238E27FC236}">
                <a16:creationId xmlns:a16="http://schemas.microsoft.com/office/drawing/2014/main" id="{F1A91D4B-59CD-4E97-A90B-9B7A3DE5B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160713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89" name="Line 19">
            <a:extLst>
              <a:ext uri="{FF2B5EF4-FFF2-40B4-BE49-F238E27FC236}">
                <a16:creationId xmlns:a16="http://schemas.microsoft.com/office/drawing/2014/main" id="{7F29780C-CF4B-438D-835E-85CF21BD6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2275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90" name="Line 20">
            <a:extLst>
              <a:ext uri="{FF2B5EF4-FFF2-40B4-BE49-F238E27FC236}">
                <a16:creationId xmlns:a16="http://schemas.microsoft.com/office/drawing/2014/main" id="{271387C4-5C8A-49AE-875D-C49A075488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3037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91" name="Line 21">
            <a:extLst>
              <a:ext uri="{FF2B5EF4-FFF2-40B4-BE49-F238E27FC236}">
                <a16:creationId xmlns:a16="http://schemas.microsoft.com/office/drawing/2014/main" id="{B11B3F93-54A9-49DA-BCB2-20436C6FA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379913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692" name="Text Box 22">
            <a:extLst>
              <a:ext uri="{FF2B5EF4-FFF2-40B4-BE49-F238E27FC236}">
                <a16:creationId xmlns:a16="http://schemas.microsoft.com/office/drawing/2014/main" id="{4E022037-B6CF-4B23-A69C-99CF05CF5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01771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FF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400" baseline="-25000">
                <a:solidFill>
                  <a:srgbClr val="FFFF00"/>
                </a:solidFill>
                <a:latin typeface="Courier New" panose="02070309020205020404" pitchFamily="49" charset="0"/>
              </a:rPr>
              <a:t>OUT1</a:t>
            </a:r>
          </a:p>
        </p:txBody>
      </p:sp>
      <p:sp>
        <p:nvSpPr>
          <p:cNvPr id="28693" name="Text Box 23">
            <a:extLst>
              <a:ext uri="{FF2B5EF4-FFF2-40B4-BE49-F238E27FC236}">
                <a16:creationId xmlns:a16="http://schemas.microsoft.com/office/drawing/2014/main" id="{456E9A71-045A-4475-B9D6-E9BA54530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70351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FF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400" baseline="-25000">
                <a:solidFill>
                  <a:srgbClr val="FFFF00"/>
                </a:solidFill>
                <a:latin typeface="Courier New" panose="02070309020205020404" pitchFamily="49" charset="0"/>
              </a:rPr>
              <a:t>OUT2</a:t>
            </a:r>
          </a:p>
        </p:txBody>
      </p:sp>
      <p:grpSp>
        <p:nvGrpSpPr>
          <p:cNvPr id="28694" name="Group 24">
            <a:extLst>
              <a:ext uri="{FF2B5EF4-FFF2-40B4-BE49-F238E27FC236}">
                <a16:creationId xmlns:a16="http://schemas.microsoft.com/office/drawing/2014/main" id="{B9741CF5-4151-4CF2-BD31-FDDE64FF33C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465513"/>
            <a:ext cx="838200" cy="457200"/>
            <a:chOff x="1632" y="2256"/>
            <a:chExt cx="528" cy="288"/>
          </a:xfrm>
        </p:grpSpPr>
        <p:sp>
          <p:nvSpPr>
            <p:cNvPr id="28704" name="Line 25">
              <a:extLst>
                <a:ext uri="{FF2B5EF4-FFF2-40B4-BE49-F238E27FC236}">
                  <a16:creationId xmlns:a16="http://schemas.microsoft.com/office/drawing/2014/main" id="{27D6F698-C911-425E-8389-85FA3CE9F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5" name="Text Box 26">
              <a:extLst>
                <a:ext uri="{FF2B5EF4-FFF2-40B4-BE49-F238E27FC236}">
                  <a16:creationId xmlns:a16="http://schemas.microsoft.com/office/drawing/2014/main" id="{4067A218-1E1D-4865-9BF3-4A60AF2DC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5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Courier New" panose="02070309020205020404" pitchFamily="49" charset="0"/>
                </a:rPr>
                <a:t>CS</a:t>
              </a:r>
            </a:p>
          </p:txBody>
        </p:sp>
        <p:sp>
          <p:nvSpPr>
            <p:cNvPr id="28706" name="Line 27">
              <a:extLst>
                <a:ext uri="{FF2B5EF4-FFF2-40B4-BE49-F238E27FC236}">
                  <a16:creationId xmlns:a16="http://schemas.microsoft.com/office/drawing/2014/main" id="{AA59524A-FEFA-440B-BC75-DD9222721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8695" name="Text Box 28">
            <a:extLst>
              <a:ext uri="{FF2B5EF4-FFF2-40B4-BE49-F238E27FC236}">
                <a16:creationId xmlns:a16="http://schemas.microsoft.com/office/drawing/2014/main" id="{0BE3F642-D768-49D2-8D56-3DBA9D656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79513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数据总线</a:t>
            </a:r>
            <a:r>
              <a:rPr lang="en-US" altLang="zh-CN" sz="2400">
                <a:solidFill>
                  <a:srgbClr val="FFFF00"/>
                </a:solidFill>
              </a:rPr>
              <a:t>D0---D7</a:t>
            </a:r>
          </a:p>
        </p:txBody>
      </p:sp>
      <p:sp>
        <p:nvSpPr>
          <p:cNvPr id="28696" name="Text Box 29">
            <a:extLst>
              <a:ext uri="{FF2B5EF4-FFF2-40B4-BE49-F238E27FC236}">
                <a16:creationId xmlns:a16="http://schemas.microsoft.com/office/drawing/2014/main" id="{CDB164AB-53BA-4BAC-8D8B-DF165CDF9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94113"/>
            <a:ext cx="1295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地址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总线</a:t>
            </a:r>
          </a:p>
        </p:txBody>
      </p:sp>
      <p:sp>
        <p:nvSpPr>
          <p:cNvPr id="28697" name="Text Box 30">
            <a:extLst>
              <a:ext uri="{FF2B5EF4-FFF2-40B4-BE49-F238E27FC236}">
                <a16:creationId xmlns:a16="http://schemas.microsoft.com/office/drawing/2014/main" id="{998EBBBF-8E99-4102-B4FB-6919780C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31913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FF00"/>
                </a:solidFill>
                <a:latin typeface="Courier New" panose="02070309020205020404" pitchFamily="49" charset="0"/>
              </a:rPr>
              <a:t>R</a:t>
            </a:r>
            <a:r>
              <a:rPr lang="en-US" altLang="zh-CN" sz="2400" baseline="-25000">
                <a:solidFill>
                  <a:srgbClr val="FFFF00"/>
                </a:solidFill>
                <a:latin typeface="Courier New" panose="02070309020205020404" pitchFamily="49" charset="0"/>
              </a:rPr>
              <a:t>FB</a:t>
            </a:r>
          </a:p>
        </p:txBody>
      </p:sp>
      <p:sp>
        <p:nvSpPr>
          <p:cNvPr id="28698" name="Text Box 31">
            <a:extLst>
              <a:ext uri="{FF2B5EF4-FFF2-40B4-BE49-F238E27FC236}">
                <a16:creationId xmlns:a16="http://schemas.microsoft.com/office/drawing/2014/main" id="{D2CBDBAA-93F1-43EE-A49A-F0600EF7E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336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输出</a:t>
            </a:r>
          </a:p>
        </p:txBody>
      </p:sp>
      <p:sp>
        <p:nvSpPr>
          <p:cNvPr id="28699" name="Oval 32">
            <a:extLst>
              <a:ext uri="{FF2B5EF4-FFF2-40B4-BE49-F238E27FC236}">
                <a16:creationId xmlns:a16="http://schemas.microsoft.com/office/drawing/2014/main" id="{7051B567-30D7-4FB6-9EB3-D3E94566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2870200"/>
            <a:ext cx="152400" cy="1524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8700" name="Text Box 33">
            <a:extLst>
              <a:ext uri="{FF2B5EF4-FFF2-40B4-BE49-F238E27FC236}">
                <a16:creationId xmlns:a16="http://schemas.microsoft.com/office/drawing/2014/main" id="{35588AD8-19FD-4691-A936-81889B42D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336800"/>
            <a:ext cx="990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701" name="Text Box 34">
            <a:extLst>
              <a:ext uri="{FF2B5EF4-FFF2-40B4-BE49-F238E27FC236}">
                <a16:creationId xmlns:a16="http://schemas.microsoft.com/office/drawing/2014/main" id="{4BA0F705-9C04-4B21-908F-1AA81ADD8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946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</a:p>
        </p:txBody>
      </p:sp>
      <p:sp>
        <p:nvSpPr>
          <p:cNvPr id="110627" name="Text Box 35">
            <a:extLst>
              <a:ext uri="{FF2B5EF4-FFF2-40B4-BE49-F238E27FC236}">
                <a16:creationId xmlns:a16="http://schemas.microsoft.com/office/drawing/2014/main" id="{1E19D74A-8ED2-4440-A1D3-6FC671EB7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89500"/>
            <a:ext cx="83058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C00"/>
                </a:solidFill>
              </a:rPr>
              <a:t>说明：</a:t>
            </a:r>
            <a:r>
              <a:rPr lang="en-US" altLang="zh-CN" sz="2800">
                <a:solidFill>
                  <a:srgbClr val="FFCC00"/>
                </a:solidFill>
              </a:rPr>
              <a:t>DAC0832</a:t>
            </a:r>
            <a:r>
              <a:rPr lang="zh-CN" altLang="en-US" sz="2800">
                <a:solidFill>
                  <a:srgbClr val="FFCC00"/>
                </a:solidFill>
              </a:rPr>
              <a:t>的输出是电流型的，直接得到的转换输出信号是模拟电流</a:t>
            </a:r>
            <a:r>
              <a:rPr lang="en-US" altLang="zh-CN" sz="2800">
                <a:solidFill>
                  <a:srgbClr val="FFCC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800" baseline="-25000">
                <a:solidFill>
                  <a:srgbClr val="FFCC00"/>
                </a:solidFill>
                <a:latin typeface="Courier New" panose="02070309020205020404" pitchFamily="49" charset="0"/>
              </a:rPr>
              <a:t>OUT1</a:t>
            </a:r>
            <a:r>
              <a:rPr lang="zh-CN" altLang="en-US" sz="2800">
                <a:solidFill>
                  <a:srgbClr val="FFCC00"/>
                </a:solidFill>
              </a:rPr>
              <a:t>和</a:t>
            </a:r>
            <a:r>
              <a:rPr lang="en-US" altLang="zh-CN" sz="2800">
                <a:solidFill>
                  <a:srgbClr val="FFCC00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800" baseline="-25000">
                <a:solidFill>
                  <a:srgbClr val="FFCC00"/>
                </a:solidFill>
                <a:latin typeface="Courier New" panose="02070309020205020404" pitchFamily="49" charset="0"/>
              </a:rPr>
              <a:t>OUT2</a:t>
            </a:r>
            <a:r>
              <a:rPr lang="zh-CN" altLang="en-US" sz="2800">
                <a:solidFill>
                  <a:srgbClr val="FFCC00"/>
                </a:solidFill>
              </a:rPr>
              <a:t>。为得到电压输出，应加一个运算放大器。</a:t>
            </a:r>
          </a:p>
        </p:txBody>
      </p:sp>
      <p:sp>
        <p:nvSpPr>
          <p:cNvPr id="28703" name="Text Box 36">
            <a:extLst>
              <a:ext uri="{FF2B5EF4-FFF2-40B4-BE49-F238E27FC236}">
                <a16:creationId xmlns:a16="http://schemas.microsoft.com/office/drawing/2014/main" id="{4E6CCCE0-DFB0-45FB-89B5-4956705AB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124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V0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2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8A34F2B1-D985-43C4-8A22-3BAE183E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543403-F2D6-4208-9BFC-3971E8880D5D}" type="slidenum">
              <a:rPr lang="en-US" altLang="zh-CN" b="0"/>
              <a:pPr/>
              <a:t>26</a:t>
            </a:fld>
            <a:endParaRPr lang="en-US" altLang="zh-CN" b="0"/>
          </a:p>
        </p:txBody>
      </p:sp>
      <p:sp>
        <p:nvSpPr>
          <p:cNvPr id="98306" name="Text Box 2">
            <a:extLst>
              <a:ext uri="{FF2B5EF4-FFF2-40B4-BE49-F238E27FC236}">
                <a16:creationId xmlns:a16="http://schemas.microsoft.com/office/drawing/2014/main" id="{01C2AB4C-9116-4F9A-BA0E-8E0055700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80645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/>
              <a:t>例：利用</a:t>
            </a:r>
            <a:r>
              <a:rPr lang="en-US" altLang="zh-CN" sz="2800"/>
              <a:t>DAC0832</a:t>
            </a:r>
            <a:r>
              <a:rPr lang="zh-CN" altLang="en-US" sz="2800"/>
              <a:t>实现锯齿波发生器，使锯齿波呈正向增长。</a:t>
            </a:r>
          </a:p>
        </p:txBody>
      </p:sp>
      <p:grpSp>
        <p:nvGrpSpPr>
          <p:cNvPr id="98322" name="Group 18">
            <a:extLst>
              <a:ext uri="{FF2B5EF4-FFF2-40B4-BE49-F238E27FC236}">
                <a16:creationId xmlns:a16="http://schemas.microsoft.com/office/drawing/2014/main" id="{46D01015-AF78-4B9E-B874-1E58A7819335}"/>
              </a:ext>
            </a:extLst>
          </p:cNvPr>
          <p:cNvGrpSpPr>
            <a:grpSpLocks/>
          </p:cNvGrpSpPr>
          <p:nvPr/>
        </p:nvGrpSpPr>
        <p:grpSpPr bwMode="auto">
          <a:xfrm>
            <a:off x="850900" y="1797050"/>
            <a:ext cx="6675438" cy="1447800"/>
            <a:chOff x="624" y="1008"/>
            <a:chExt cx="4205" cy="912"/>
          </a:xfrm>
        </p:grpSpPr>
        <p:sp>
          <p:nvSpPr>
            <p:cNvPr id="29724" name="Line 3">
              <a:extLst>
                <a:ext uri="{FF2B5EF4-FFF2-40B4-BE49-F238E27FC236}">
                  <a16:creationId xmlns:a16="http://schemas.microsoft.com/office/drawing/2014/main" id="{86E59D10-E463-415F-88C4-4D2C097FE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008"/>
              <a:ext cx="689" cy="88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5" name="Line 4">
              <a:extLst>
                <a:ext uri="{FF2B5EF4-FFF2-40B4-BE49-F238E27FC236}">
                  <a16:creationId xmlns:a16="http://schemas.microsoft.com/office/drawing/2014/main" id="{DC8E0C2F-77C9-424F-B9A6-C381F4FD5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" y="1008"/>
              <a:ext cx="0" cy="88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6" name="Line 7">
              <a:extLst>
                <a:ext uri="{FF2B5EF4-FFF2-40B4-BE49-F238E27FC236}">
                  <a16:creationId xmlns:a16="http://schemas.microsoft.com/office/drawing/2014/main" id="{C65513F5-993E-445E-BC91-45E6DCA02D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3" y="1008"/>
              <a:ext cx="688" cy="88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7" name="Line 8">
              <a:extLst>
                <a:ext uri="{FF2B5EF4-FFF2-40B4-BE49-F238E27FC236}">
                  <a16:creationId xmlns:a16="http://schemas.microsoft.com/office/drawing/2014/main" id="{E89A9526-32B1-4EC6-8DED-11F650BDB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1038"/>
              <a:ext cx="0" cy="88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8" name="Line 9">
              <a:extLst>
                <a:ext uri="{FF2B5EF4-FFF2-40B4-BE49-F238E27FC236}">
                  <a16:creationId xmlns:a16="http://schemas.microsoft.com/office/drawing/2014/main" id="{BE674924-BC41-44A8-9B0C-574992201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" y="1018"/>
              <a:ext cx="0" cy="88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9" name="Line 10">
              <a:extLst>
                <a:ext uri="{FF2B5EF4-FFF2-40B4-BE49-F238E27FC236}">
                  <a16:creationId xmlns:a16="http://schemas.microsoft.com/office/drawing/2014/main" id="{EBEFB539-ABC7-4FE2-828A-9718FA8CA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" y="1008"/>
              <a:ext cx="0" cy="88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0" name="Line 11">
              <a:extLst>
                <a:ext uri="{FF2B5EF4-FFF2-40B4-BE49-F238E27FC236}">
                  <a16:creationId xmlns:a16="http://schemas.microsoft.com/office/drawing/2014/main" id="{3159D689-4B49-4682-A734-A2A68F103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6" y="1008"/>
              <a:ext cx="0" cy="88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1" name="Line 12">
              <a:extLst>
                <a:ext uri="{FF2B5EF4-FFF2-40B4-BE49-F238E27FC236}">
                  <a16:creationId xmlns:a16="http://schemas.microsoft.com/office/drawing/2014/main" id="{FD35E749-18D0-4ADE-9880-4B1117B9CF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08"/>
              <a:ext cx="689" cy="88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2" name="Line 13">
              <a:extLst>
                <a:ext uri="{FF2B5EF4-FFF2-40B4-BE49-F238E27FC236}">
                  <a16:creationId xmlns:a16="http://schemas.microsoft.com/office/drawing/2014/main" id="{CA65F4EC-A310-4628-83D1-B91EE8A3C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038"/>
              <a:ext cx="689" cy="88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3" name="Line 14">
              <a:extLst>
                <a:ext uri="{FF2B5EF4-FFF2-40B4-BE49-F238E27FC236}">
                  <a16:creationId xmlns:a16="http://schemas.microsoft.com/office/drawing/2014/main" id="{C206906D-9AFB-4182-A94C-745F272F2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9" y="1008"/>
              <a:ext cx="689" cy="88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34" name="Line 15">
              <a:extLst>
                <a:ext uri="{FF2B5EF4-FFF2-40B4-BE49-F238E27FC236}">
                  <a16:creationId xmlns:a16="http://schemas.microsoft.com/office/drawing/2014/main" id="{37F54E4B-04A4-4810-9B74-39B41F2AA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" y="1008"/>
              <a:ext cx="689" cy="88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9" name="Text Box 2">
            <a:extLst>
              <a:ext uri="{FF2B5EF4-FFF2-40B4-BE49-F238E27FC236}">
                <a16:creationId xmlns:a16="http://schemas.microsoft.com/office/drawing/2014/main" id="{B3D7890B-AAC4-46B8-B9EE-9FA595AD1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34290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/>
              <a:t>例：利用</a:t>
            </a:r>
            <a:r>
              <a:rPr lang="en-US" altLang="zh-CN" sz="2800"/>
              <a:t>0832</a:t>
            </a:r>
            <a:r>
              <a:rPr lang="zh-CN" altLang="en-US" sz="2800"/>
              <a:t>输出方波：</a:t>
            </a:r>
          </a:p>
        </p:txBody>
      </p:sp>
      <p:grpSp>
        <p:nvGrpSpPr>
          <p:cNvPr id="20" name="Group 41">
            <a:extLst>
              <a:ext uri="{FF2B5EF4-FFF2-40B4-BE49-F238E27FC236}">
                <a16:creationId xmlns:a16="http://schemas.microsoft.com/office/drawing/2014/main" id="{A924C8C5-57BA-497C-8B16-E4A745BE4791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4278313"/>
            <a:ext cx="3417888" cy="611187"/>
            <a:chOff x="703" y="790"/>
            <a:chExt cx="2153" cy="385"/>
          </a:xfrm>
        </p:grpSpPr>
        <p:grpSp>
          <p:nvGrpSpPr>
            <p:cNvPr id="29714" name="Group 17">
              <a:extLst>
                <a:ext uri="{FF2B5EF4-FFF2-40B4-BE49-F238E27FC236}">
                  <a16:creationId xmlns:a16="http://schemas.microsoft.com/office/drawing/2014/main" id="{3274336E-F922-4614-9F68-17FF96B019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" y="798"/>
              <a:ext cx="840" cy="363"/>
              <a:chOff x="3198" y="572"/>
              <a:chExt cx="840" cy="363"/>
            </a:xfrm>
          </p:grpSpPr>
          <p:sp>
            <p:nvSpPr>
              <p:cNvPr id="29720" name="Line 7">
                <a:extLst>
                  <a:ext uri="{FF2B5EF4-FFF2-40B4-BE49-F238E27FC236}">
                    <a16:creationId xmlns:a16="http://schemas.microsoft.com/office/drawing/2014/main" id="{61F3146F-12B3-4939-8232-16FE00DD4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890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21" name="Line 8">
                <a:extLst>
                  <a:ext uri="{FF2B5EF4-FFF2-40B4-BE49-F238E27FC236}">
                    <a16:creationId xmlns:a16="http://schemas.microsoft.com/office/drawing/2014/main" id="{840C003F-0B23-4689-89AC-4919C4EB3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57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22" name="Line 9">
                <a:extLst>
                  <a:ext uri="{FF2B5EF4-FFF2-40B4-BE49-F238E27FC236}">
                    <a16:creationId xmlns:a16="http://schemas.microsoft.com/office/drawing/2014/main" id="{EBA4896D-E2B2-46A0-8C55-0D58BED20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572"/>
                <a:ext cx="4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23" name="Line 10">
                <a:extLst>
                  <a:ext uri="{FF2B5EF4-FFF2-40B4-BE49-F238E27FC236}">
                    <a16:creationId xmlns:a16="http://schemas.microsoft.com/office/drawing/2014/main" id="{D743846D-8A93-47E3-AD5C-3AFCF39BF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8" y="572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9715" name="Line 36">
              <a:extLst>
                <a:ext uri="{FF2B5EF4-FFF2-40B4-BE49-F238E27FC236}">
                  <a16:creationId xmlns:a16="http://schemas.microsoft.com/office/drawing/2014/main" id="{5CFA708F-F0BE-48A6-8488-9B97B76FF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0" y="1162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6" name="Line 37">
              <a:extLst>
                <a:ext uri="{FF2B5EF4-FFF2-40B4-BE49-F238E27FC236}">
                  <a16:creationId xmlns:a16="http://schemas.microsoft.com/office/drawing/2014/main" id="{17457FAC-B10E-4F38-9886-A9C86D562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4" y="790"/>
              <a:ext cx="0" cy="3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7" name="Line 38">
              <a:extLst>
                <a:ext uri="{FF2B5EF4-FFF2-40B4-BE49-F238E27FC236}">
                  <a16:creationId xmlns:a16="http://schemas.microsoft.com/office/drawing/2014/main" id="{575BFA6A-EFCD-479D-91FD-2AF9CF4E7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4" y="790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8" name="Line 39">
              <a:extLst>
                <a:ext uri="{FF2B5EF4-FFF2-40B4-BE49-F238E27FC236}">
                  <a16:creationId xmlns:a16="http://schemas.microsoft.com/office/drawing/2014/main" id="{41C501C5-BD23-44E5-A2DE-50AE28BFE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0" y="790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9" name="Line 40">
              <a:extLst>
                <a:ext uri="{FF2B5EF4-FFF2-40B4-BE49-F238E27FC236}">
                  <a16:creationId xmlns:a16="http://schemas.microsoft.com/office/drawing/2014/main" id="{4FF220F6-E692-4210-AB13-1A0631C5E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16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1" name="Text Box 3">
            <a:extLst>
              <a:ext uri="{FF2B5EF4-FFF2-40B4-BE49-F238E27FC236}">
                <a16:creationId xmlns:a16="http://schemas.microsoft.com/office/drawing/2014/main" id="{36DDD10D-D290-4E2C-8C2F-3AD6E231B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123825"/>
            <a:ext cx="77724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DAC0832</a:t>
            </a:r>
            <a:r>
              <a:rPr lang="zh-CN" altLang="en-US" sz="2800">
                <a:solidFill>
                  <a:srgbClr val="FFFF00"/>
                </a:solidFill>
              </a:rPr>
              <a:t>应用</a:t>
            </a:r>
          </a:p>
        </p:txBody>
      </p:sp>
      <p:sp>
        <p:nvSpPr>
          <p:cNvPr id="29704" name="Text Box 2">
            <a:extLst>
              <a:ext uri="{FF2B5EF4-FFF2-40B4-BE49-F238E27FC236}">
                <a16:creationId xmlns:a16="http://schemas.microsoft.com/office/drawing/2014/main" id="{94EA01FB-198E-4EE4-A834-F968D1E56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5099050"/>
            <a:ext cx="74676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/>
              <a:t>例：通过</a:t>
            </a:r>
            <a:r>
              <a:rPr lang="en-US" altLang="zh-CN" sz="2800"/>
              <a:t>DAC0832</a:t>
            </a:r>
            <a:r>
              <a:rPr lang="zh-CN" altLang="en-US" sz="2800"/>
              <a:t>产生梯形波：</a:t>
            </a:r>
            <a:endParaRPr lang="en-US" altLang="zh-CN" sz="2800"/>
          </a:p>
        </p:txBody>
      </p:sp>
      <p:grpSp>
        <p:nvGrpSpPr>
          <p:cNvPr id="29705" name="Group 3">
            <a:extLst>
              <a:ext uri="{FF2B5EF4-FFF2-40B4-BE49-F238E27FC236}">
                <a16:creationId xmlns:a16="http://schemas.microsoft.com/office/drawing/2014/main" id="{3F0D004E-3749-4A60-94F4-64D30F78A067}"/>
              </a:ext>
            </a:extLst>
          </p:cNvPr>
          <p:cNvGrpSpPr>
            <a:grpSpLocks/>
          </p:cNvGrpSpPr>
          <p:nvPr/>
        </p:nvGrpSpPr>
        <p:grpSpPr bwMode="auto">
          <a:xfrm>
            <a:off x="1109663" y="5754688"/>
            <a:ext cx="5062537" cy="604837"/>
            <a:chOff x="540" y="1812"/>
            <a:chExt cx="4032" cy="684"/>
          </a:xfrm>
        </p:grpSpPr>
        <p:sp>
          <p:nvSpPr>
            <p:cNvPr id="29706" name="Line 4">
              <a:extLst>
                <a:ext uri="{FF2B5EF4-FFF2-40B4-BE49-F238E27FC236}">
                  <a16:creationId xmlns:a16="http://schemas.microsoft.com/office/drawing/2014/main" id="{DDD724AA-B204-4A35-A452-F6AB55328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" y="2304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07" name="Line 5">
              <a:extLst>
                <a:ext uri="{FF2B5EF4-FFF2-40B4-BE49-F238E27FC236}">
                  <a16:creationId xmlns:a16="http://schemas.microsoft.com/office/drawing/2014/main" id="{E5862F9B-EE5C-42FA-A159-80A6F0E0C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824"/>
              <a:ext cx="24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08" name="Line 6">
              <a:extLst>
                <a:ext uri="{FF2B5EF4-FFF2-40B4-BE49-F238E27FC236}">
                  <a16:creationId xmlns:a16="http://schemas.microsoft.com/office/drawing/2014/main" id="{3DAC0A0C-BCB9-4C87-9511-82BF9EAAC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181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09" name="Line 7">
              <a:extLst>
                <a:ext uri="{FF2B5EF4-FFF2-40B4-BE49-F238E27FC236}">
                  <a16:creationId xmlns:a16="http://schemas.microsoft.com/office/drawing/2014/main" id="{22B6EDA7-A554-45A7-9882-27B7B0C10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" y="1812"/>
              <a:ext cx="24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0" name="Line 8">
              <a:extLst>
                <a:ext uri="{FF2B5EF4-FFF2-40B4-BE49-F238E27FC236}">
                  <a16:creationId xmlns:a16="http://schemas.microsoft.com/office/drawing/2014/main" id="{54C0CAD0-5C6B-48C6-8FB8-3F9C95659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6" y="2412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1" name="Line 9">
              <a:extLst>
                <a:ext uri="{FF2B5EF4-FFF2-40B4-BE49-F238E27FC236}">
                  <a16:creationId xmlns:a16="http://schemas.microsoft.com/office/drawing/2014/main" id="{DB000105-EF6D-4F77-AC56-6A720F653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920"/>
              <a:ext cx="252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2" name="Line 10">
              <a:extLst>
                <a:ext uri="{FF2B5EF4-FFF2-40B4-BE49-F238E27FC236}">
                  <a16:creationId xmlns:a16="http://schemas.microsoft.com/office/drawing/2014/main" id="{6F64FE89-B20F-492A-A350-4DEFD9768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" y="192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3" name="Line 11">
              <a:extLst>
                <a:ext uri="{FF2B5EF4-FFF2-40B4-BE49-F238E27FC236}">
                  <a16:creationId xmlns:a16="http://schemas.microsoft.com/office/drawing/2014/main" id="{80E1A8E0-E035-4996-8980-DCCF1C380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920"/>
              <a:ext cx="24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utoUpdateAnimBg="0"/>
      <p:bldP spid="19" grpId="0" autoUpdateAnimBg="0"/>
      <p:bldP spid="31" grpId="0" autoUpdateAnimBg="0"/>
    </p:bldLst>
  </p:timing>
</p:sld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3635</TotalTime>
  <Words>1490</Words>
  <Application>Microsoft Office PowerPoint</Application>
  <PresentationFormat>全屏显示(4:3)</PresentationFormat>
  <Paragraphs>226</Paragraphs>
  <Slides>26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黑体</vt:lpstr>
      <vt:lpstr>楷体_GB2312</vt:lpstr>
      <vt:lpstr>宋体</vt:lpstr>
      <vt:lpstr>Arial</vt:lpstr>
      <vt:lpstr>Courier New</vt:lpstr>
      <vt:lpstr>Tahoma</vt:lpstr>
      <vt:lpstr>Times New Roman</vt:lpstr>
      <vt:lpstr>Verdana</vt:lpstr>
      <vt:lpstr>Wingdings</vt:lpstr>
      <vt:lpstr>Wingdings 2</vt:lpstr>
      <vt:lpstr>Beam</vt:lpstr>
      <vt:lpstr>Visio</vt:lpstr>
      <vt:lpstr>公式</vt:lpstr>
      <vt:lpstr>数-模/模-数转换及其接口 </vt:lpstr>
      <vt:lpstr>PowerPoint 演示文稿</vt:lpstr>
      <vt:lpstr>模拟量与数字量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DAC0832的工作方式：直通方式</vt:lpstr>
      <vt:lpstr>DAC0832的工作方式：单缓冲方式</vt:lpstr>
      <vt:lpstr>DAC0832的工作方式：双缓冲方式</vt:lpstr>
      <vt:lpstr>PowerPoint 演示文稿</vt:lpstr>
      <vt:lpstr>PowerPoint 演示文稿</vt:lpstr>
      <vt:lpstr>PowerPoint 演示文稿</vt:lpstr>
      <vt:lpstr>PowerPoint 演示文稿</vt:lpstr>
      <vt:lpstr>DAC0831双缓冲方式的连接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 UNIV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微型计算机与外设的接口及相关芯片</dc:title>
  <dc:creator>ZHAO YANNAN</dc:creator>
  <cp:lastModifiedBy>admin</cp:lastModifiedBy>
  <cp:revision>342</cp:revision>
  <dcterms:created xsi:type="dcterms:W3CDTF">2001-03-23T13:16:30Z</dcterms:created>
  <dcterms:modified xsi:type="dcterms:W3CDTF">2024-05-19T13:04:06Z</dcterms:modified>
</cp:coreProperties>
</file>