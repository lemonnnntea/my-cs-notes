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68" r:id="rId2"/>
    <p:sldId id="334" r:id="rId3"/>
    <p:sldId id="418" r:id="rId4"/>
    <p:sldId id="276" r:id="rId5"/>
    <p:sldId id="419" r:id="rId6"/>
    <p:sldId id="385" r:id="rId7"/>
    <p:sldId id="961" r:id="rId8"/>
    <p:sldId id="387" r:id="rId9"/>
    <p:sldId id="420" r:id="rId10"/>
    <p:sldId id="306" r:id="rId11"/>
    <p:sldId id="388" r:id="rId12"/>
  </p:sldIdLst>
  <p:sldSz cx="9144000" cy="6858000" type="screen4x3"/>
  <p:notesSz cx="6858000" cy="9144000"/>
  <p:custDataLst>
    <p:tags r:id="rId15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CF37"/>
    <a:srgbClr val="FFC715"/>
    <a:srgbClr val="FFCC00"/>
    <a:srgbClr val="9900CC"/>
    <a:srgbClr val="000099"/>
    <a:srgbClr val="00FFFF"/>
    <a:srgbClr val="CC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8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3360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B3EECAC-C670-40E0-9155-2E5E0C01E05C}" type="datetimeFigureOut">
              <a:rPr lang="zh-CN" altLang="en-US"/>
              <a:t>2025/3/29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466FC3CB-85D3-475F-88E9-B86F831D72B3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19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2752A1B-6A18-4427-B89A-9B6DFFAD5DE1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2438400"/>
            <a:ext cx="9009063" cy="1052513"/>
            <a:chOff x="0" y="0"/>
            <a:chExt cx="5675" cy="663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183" y="68"/>
              <a:ext cx="448" cy="299"/>
              <a:chOff x="0" y="0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6"/>
            <p:cNvGrpSpPr/>
            <p:nvPr/>
          </p:nvGrpSpPr>
          <p:grpSpPr bwMode="auto">
            <a:xfrm>
              <a:off x="261" y="334"/>
              <a:ext cx="465" cy="299"/>
              <a:chOff x="0" y="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337" y="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288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0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518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14" name="Rectangle 17"/>
          <p:cNvSpPr>
            <a:spLocks noChangeArrowheads="1"/>
          </p:cNvSpPr>
          <p:nvPr userDrawn="1"/>
        </p:nvSpPr>
        <p:spPr bwMode="auto">
          <a:xfrm>
            <a:off x="1600200" y="0"/>
            <a:ext cx="7543800" cy="381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pic>
        <p:nvPicPr>
          <p:cNvPr id="15" name="Picture 18" descr="CITBANND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66" r="5334" b="86667"/>
          <a:stretch>
            <a:fillRect/>
          </a:stretch>
        </p:blipFill>
        <p:spPr bwMode="auto">
          <a:xfrm>
            <a:off x="2514600" y="0"/>
            <a:ext cx="6629400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19"/>
          <p:cNvSpPr>
            <a:spLocks noChangeArrowheads="1"/>
          </p:cNvSpPr>
          <p:nvPr userDrawn="1"/>
        </p:nvSpPr>
        <p:spPr bwMode="auto">
          <a:xfrm>
            <a:off x="1600200" y="381000"/>
            <a:ext cx="7543800" cy="76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7" name="Text Box 20">
            <a:hlinkClick r:id="" action="ppaction://noaction" highlightClick="1"/>
          </p:cNvPr>
          <p:cNvSpPr txBox="1">
            <a:spLocks noChangeArrowheads="1"/>
          </p:cNvSpPr>
          <p:nvPr userDrawn="1"/>
        </p:nvSpPr>
        <p:spPr bwMode="auto">
          <a:xfrm>
            <a:off x="5364163" y="115888"/>
            <a:ext cx="3779837" cy="27463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zh-CN" altLang="en-US" sz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单片机原理与应用</a:t>
            </a:r>
          </a:p>
        </p:txBody>
      </p:sp>
      <p:sp>
        <p:nvSpPr>
          <p:cNvPr id="206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C1398B97-E5D7-43EB-BA8B-CF89801AAF73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utoUpdateAnimBg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96CC27-541A-4E68-A17B-2660855C8D8F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270B1D-42CD-44B1-B194-193AB885DD44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E4FE2D-9F4B-4952-BC69-57CA33B597A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02CD26-C81E-4169-B699-9CE4F46A478C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40C01F-F4F7-4278-81A5-9CC73D9E91F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 userDrawn="1"/>
        </p:nvSpPr>
        <p:spPr bwMode="auto">
          <a:xfrm>
            <a:off x="6659563" y="138113"/>
            <a:ext cx="2484437" cy="215900"/>
          </a:xfrm>
          <a:prstGeom prst="rect">
            <a:avLst/>
          </a:prstGeom>
          <a:solidFill>
            <a:srgbClr val="FFCF37"/>
          </a:solidFill>
          <a:ln>
            <a:noFill/>
          </a:ln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zh-CN" altLang="en-US" sz="1100" dirty="0"/>
              <a:t>单片机原理及应用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75AF347-A83D-4ACF-B829-C6230AFBD0FD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rrowheads="1"/>
          </p:cNvSpPr>
          <p:nvPr userDrawn="1"/>
        </p:nvSpPr>
        <p:spPr bwMode="auto">
          <a:xfrm>
            <a:off x="6659563" y="138113"/>
            <a:ext cx="2484437" cy="215900"/>
          </a:xfrm>
          <a:prstGeom prst="rect">
            <a:avLst/>
          </a:prstGeom>
          <a:solidFill>
            <a:srgbClr val="FFCF37"/>
          </a:solidFill>
          <a:ln>
            <a:noFill/>
          </a:ln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zh-CN" altLang="en-US" sz="1100" dirty="0"/>
              <a:t>单片机原理及应用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8C16644-4230-45AC-8C97-A1AF9356E311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rrowheads="1"/>
          </p:cNvSpPr>
          <p:nvPr userDrawn="1"/>
        </p:nvSpPr>
        <p:spPr bwMode="auto">
          <a:xfrm>
            <a:off x="6659563" y="138113"/>
            <a:ext cx="2484437" cy="215900"/>
          </a:xfrm>
          <a:prstGeom prst="rect">
            <a:avLst/>
          </a:prstGeom>
          <a:solidFill>
            <a:srgbClr val="FFCF37"/>
          </a:solidFill>
          <a:ln>
            <a:noFill/>
          </a:ln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zh-CN" altLang="en-US" sz="1100" dirty="0"/>
              <a:t>单片机原理及应用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B9D072F-A63E-476B-A3E8-1FDFE133D22B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 userDrawn="1"/>
        </p:nvSpPr>
        <p:spPr bwMode="auto">
          <a:xfrm>
            <a:off x="6659563" y="138113"/>
            <a:ext cx="2484437" cy="215900"/>
          </a:xfrm>
          <a:prstGeom prst="rect">
            <a:avLst/>
          </a:prstGeom>
          <a:solidFill>
            <a:srgbClr val="FFCF37"/>
          </a:solidFill>
          <a:ln>
            <a:noFill/>
          </a:ln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zh-CN" altLang="en-US" sz="1100" dirty="0"/>
              <a:t>单片机原理及应用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AF8C992-FA53-4127-832A-3725F534E23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 userDrawn="1"/>
        </p:nvSpPr>
        <p:spPr bwMode="auto">
          <a:xfrm>
            <a:off x="6659563" y="138113"/>
            <a:ext cx="2484437" cy="215900"/>
          </a:xfrm>
          <a:prstGeom prst="rect">
            <a:avLst/>
          </a:prstGeom>
          <a:solidFill>
            <a:srgbClr val="FFCF37"/>
          </a:solidFill>
          <a:ln>
            <a:noFill/>
          </a:ln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zh-CN" altLang="en-US" sz="1100" dirty="0"/>
              <a:t>单片机原理及应用</a:t>
            </a: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925CB56-CCAE-4B77-A06A-27122BCBA9FC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 b="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 b="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 b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 b="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 b="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 b="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 b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4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4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400" b="0" smtClean="0"/>
            </a:lvl1pPr>
          </a:lstStyle>
          <a:p>
            <a:pPr>
              <a:defRPr/>
            </a:pPr>
            <a:fld id="{E010547A-9904-47DB-81BA-411AE030BCB2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1038" name="Rectangle 14"/>
          <p:cNvSpPr>
            <a:spLocks noChangeArrowheads="1"/>
          </p:cNvSpPr>
          <p:nvPr userDrawn="1"/>
        </p:nvSpPr>
        <p:spPr bwMode="auto">
          <a:xfrm>
            <a:off x="1600200" y="0"/>
            <a:ext cx="7543800" cy="381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pic>
        <p:nvPicPr>
          <p:cNvPr id="1039" name="Picture 15" descr="CITBANN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66" r="5334" b="86667"/>
          <a:stretch>
            <a:fillRect/>
          </a:stretch>
        </p:blipFill>
        <p:spPr bwMode="auto">
          <a:xfrm>
            <a:off x="2514600" y="0"/>
            <a:ext cx="6629400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0" name="Rectangle 16"/>
          <p:cNvSpPr>
            <a:spLocks noChangeArrowheads="1"/>
          </p:cNvSpPr>
          <p:nvPr userDrawn="1"/>
        </p:nvSpPr>
        <p:spPr bwMode="auto">
          <a:xfrm>
            <a:off x="1600200" y="381000"/>
            <a:ext cx="7543800" cy="76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41" name="Text Box 17"/>
          <p:cNvSpPr txBox="1">
            <a:spLocks noChangeArrowheads="1"/>
          </p:cNvSpPr>
          <p:nvPr userDrawn="1"/>
        </p:nvSpPr>
        <p:spPr bwMode="auto">
          <a:xfrm>
            <a:off x="5364163" y="115888"/>
            <a:ext cx="3779837" cy="27463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zh-CN" altLang="en-US" sz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单片机原理与应用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0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0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1" grpId="0" autoUpdateAnimBg="0"/>
    </p:bld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90E3CB7-92D4-4A0D-850A-2AB81F7F8E85}" type="slidenum">
              <a:rPr lang="zh-CN" altLang="en-US" sz="1400"/>
              <a:t>1</a:t>
            </a:fld>
            <a:endParaRPr lang="en-US" altLang="zh-CN" sz="1400"/>
          </a:p>
        </p:txBody>
      </p:sp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1763713" y="2204863"/>
            <a:ext cx="6985000" cy="2879899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定时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计数器的基本概念</a:t>
            </a:r>
          </a:p>
          <a:p>
            <a:pPr eaLnBrk="1" hangingPunct="1">
              <a:defRPr/>
            </a:pP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定时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计数器的结构及工作原理 </a:t>
            </a:r>
          </a:p>
          <a:p>
            <a:pPr eaLnBrk="1" hangingPunct="1">
              <a:defRPr/>
            </a:pP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定时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计数器的控制</a:t>
            </a:r>
          </a:p>
          <a:p>
            <a:pPr eaLnBrk="1" hangingPunct="1">
              <a:defRPr/>
            </a:pP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定时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计数器应用编程</a:t>
            </a:r>
          </a:p>
          <a:p>
            <a:pPr eaLnBrk="1" hangingPunct="1">
              <a:defRPr/>
            </a:pPr>
            <a:endParaRPr lang="zh-CN" altLang="en-US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title"/>
          </p:nvPr>
        </p:nvSpPr>
        <p:spPr>
          <a:xfrm>
            <a:off x="1331913" y="764704"/>
            <a:ext cx="6589712" cy="957734"/>
          </a:xfrm>
        </p:spPr>
        <p:txBody>
          <a:bodyPr anchor="ctr"/>
          <a:lstStyle/>
          <a:p>
            <a:pPr eaLnBrk="1" hangingPunct="1">
              <a:defRPr/>
            </a:pPr>
            <a:r>
              <a:rPr lang="zh-CN" altLang="en-US" sz="3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rPr>
              <a:t>第</a:t>
            </a:r>
            <a:r>
              <a:rPr lang="en-US" altLang="zh-CN" sz="3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rPr>
              <a:t>6</a:t>
            </a:r>
            <a:r>
              <a:rPr lang="zh-CN" altLang="en-US" sz="3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rPr>
              <a:t>章 单片机的定时</a:t>
            </a:r>
            <a:r>
              <a:rPr lang="en-US" altLang="zh-CN" sz="3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rPr>
              <a:t>/</a:t>
            </a:r>
            <a:r>
              <a:rPr lang="zh-CN" altLang="en-US" sz="3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rPr>
              <a:t>计数器</a:t>
            </a:r>
          </a:p>
        </p:txBody>
      </p:sp>
      <p:sp>
        <p:nvSpPr>
          <p:cNvPr id="10245" name="矩形 4"/>
          <p:cNvSpPr>
            <a:spLocks noChangeArrowheads="1"/>
          </p:cNvSpPr>
          <p:nvPr/>
        </p:nvSpPr>
        <p:spPr bwMode="auto">
          <a:xfrm>
            <a:off x="6659563" y="138113"/>
            <a:ext cx="2484437" cy="215900"/>
          </a:xfrm>
          <a:prstGeom prst="rect">
            <a:avLst/>
          </a:prstGeom>
          <a:solidFill>
            <a:srgbClr val="FFCF3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100"/>
              <a:t>单片机原理及应用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4F961B8-3D11-4901-9BA4-252B9EAB470A}" type="slidenum">
              <a:rPr lang="zh-CN" altLang="en-US" sz="1400"/>
              <a:t>2</a:t>
            </a:fld>
            <a:endParaRPr lang="en-US" altLang="zh-CN" sz="1400"/>
          </a:p>
        </p:txBody>
      </p:sp>
      <p:sp>
        <p:nvSpPr>
          <p:cNvPr id="11267" name="WordArt 2" descr="纸袋"/>
          <p:cNvSpPr>
            <a:spLocks noChangeArrowheads="1" noChangeShapeType="1"/>
          </p:cNvSpPr>
          <p:nvPr/>
        </p:nvSpPr>
        <p:spPr bwMode="auto">
          <a:xfrm>
            <a:off x="1619671" y="1052736"/>
            <a:ext cx="2449092" cy="57603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kern="10" dirty="0">
                <a:ln w="9525">
                  <a:solidFill>
                    <a:srgbClr val="008000"/>
                  </a:solidFill>
                  <a:round/>
                </a:ln>
                <a:blipFill dpi="0" rotWithShape="0">
                  <a:blip r:embed="rId2"/>
                  <a:srcRect/>
                  <a:tile tx="0" ty="0" sx="100000" sy="100000" flip="none" algn="tl"/>
                </a:blipFill>
                <a:effectLst>
                  <a:outerShdw dist="563972" dir="14049741" sx="125000" sy="125000" algn="tl" rotWithShape="0">
                    <a:srgbClr val="C7DFD3">
                      <a:alpha val="79999"/>
                    </a:srgb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本章要点：</a:t>
            </a:r>
          </a:p>
        </p:txBody>
      </p:sp>
      <p:sp>
        <p:nvSpPr>
          <p:cNvPr id="4100" name="Text Box 3"/>
          <p:cNvSpPr txBox="1">
            <a:spLocks noChangeArrowheads="1"/>
          </p:cNvSpPr>
          <p:nvPr/>
        </p:nvSpPr>
        <p:spPr bwMode="auto">
          <a:xfrm>
            <a:off x="1258888" y="1844675"/>
            <a:ext cx="6624637" cy="15446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0000FF"/>
              </a:buClr>
              <a:buSzPct val="85000"/>
              <a:buFont typeface="Wingdings" panose="05000000000000000000" pitchFamily="2" charset="2"/>
              <a:buChar char="l"/>
              <a:defRPr/>
            </a:pP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定时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计数器的结构及工作原理</a:t>
            </a:r>
          </a:p>
          <a:p>
            <a:pPr eaLnBrk="1" hangingPunct="1">
              <a:buClr>
                <a:srgbClr val="0000FF"/>
              </a:buClr>
              <a:buSzPct val="85000"/>
              <a:buFont typeface="Wingdings" panose="05000000000000000000" pitchFamily="2" charset="2"/>
              <a:buChar char="l"/>
              <a:defRPr/>
            </a:pP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定时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计数器的工作方式</a:t>
            </a:r>
          </a:p>
          <a:p>
            <a:pPr eaLnBrk="1" hangingPunct="1">
              <a:buClr>
                <a:srgbClr val="0000FF"/>
              </a:buClr>
              <a:buSzPct val="85000"/>
              <a:buFont typeface="Wingdings" panose="05000000000000000000" pitchFamily="2" charset="2"/>
              <a:buChar char="l"/>
              <a:defRPr/>
            </a:pP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定时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计数器的编程和应用</a:t>
            </a:r>
          </a:p>
        </p:txBody>
      </p:sp>
      <p:sp>
        <p:nvSpPr>
          <p:cNvPr id="11269" name="WordArt 4" descr="纸袋"/>
          <p:cNvSpPr>
            <a:spLocks noChangeArrowheads="1" noChangeShapeType="1"/>
          </p:cNvSpPr>
          <p:nvPr/>
        </p:nvSpPr>
        <p:spPr bwMode="auto">
          <a:xfrm>
            <a:off x="1619671" y="3917950"/>
            <a:ext cx="2447503" cy="5191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kern="10" dirty="0">
                <a:ln w="9525">
                  <a:solidFill>
                    <a:srgbClr val="008000"/>
                  </a:solidFill>
                  <a:round/>
                </a:ln>
                <a:blipFill dpi="0" rotWithShape="0">
                  <a:blip r:embed="rId2"/>
                  <a:srcRect/>
                  <a:tile tx="0" ty="0" sx="100000" sy="100000" flip="none" algn="tl"/>
                </a:blipFill>
                <a:effectLst>
                  <a:outerShdw dist="563972" dir="14049741" sx="125000" sy="125000" algn="tl" rotWithShape="0">
                    <a:srgbClr val="C7DFD3">
                      <a:alpha val="79999"/>
                    </a:srgb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本章难点：</a:t>
            </a:r>
          </a:p>
        </p:txBody>
      </p:sp>
      <p:sp>
        <p:nvSpPr>
          <p:cNvPr id="4102" name="Text Box 5"/>
          <p:cNvSpPr txBox="1">
            <a:spLocks noChangeArrowheads="1"/>
          </p:cNvSpPr>
          <p:nvPr/>
        </p:nvSpPr>
        <p:spPr bwMode="auto">
          <a:xfrm>
            <a:off x="1258888" y="4581525"/>
            <a:ext cx="633730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定时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计数器的工作方式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5AF347-A83D-4ACF-B829-C6230AFBD0FD}" type="slidenum">
              <a:rPr lang="zh-CN" altLang="en-US" smtClean="0"/>
              <a:t>3</a:t>
            </a:fld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971600" y="908720"/>
            <a:ext cx="4176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概述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71600" y="1916832"/>
            <a:ext cx="7776864" cy="3880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定时器是单片机的重要功能模块之一，在检测、控制领域有广泛应用。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定时器常用作定时时钟，以实现定时检测、定时响应、定时控制，并且可用于产生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宽的脉冲信号，驱动步进电机。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定时和计数功能最终都是通过计数实现的。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5C36066-2740-4148-9F72-9C82648F8DA0}" type="slidenum">
              <a:rPr lang="zh-CN" altLang="en-US" sz="1400"/>
              <a:t>4</a:t>
            </a:fld>
            <a:endParaRPr lang="en-US" altLang="zh-CN" sz="1400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1438274" y="354013"/>
            <a:ext cx="6697663" cy="914400"/>
          </a:xfrm>
          <a:noFill/>
        </p:spPr>
        <p:txBody>
          <a:bodyPr anchor="ctr"/>
          <a:lstStyle/>
          <a:p>
            <a:pPr algn="ctr" eaLnBrk="1" hangingPunct="1"/>
            <a:r>
              <a:rPr lang="zh-CN" altLang="en-US" sz="32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定时</a:t>
            </a:r>
            <a:r>
              <a:rPr lang="en-US" altLang="zh-CN" sz="32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32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计数器的基本概念 </a:t>
            </a:r>
          </a:p>
        </p:txBody>
      </p:sp>
      <p:sp>
        <p:nvSpPr>
          <p:cNvPr id="32775" name="Text Box 7"/>
          <p:cNvSpPr txBox="1">
            <a:spLocks noChangeArrowheads="1"/>
          </p:cNvSpPr>
          <p:nvPr/>
        </p:nvSpPr>
        <p:spPr bwMode="auto">
          <a:xfrm>
            <a:off x="900113" y="1125538"/>
            <a:ext cx="7488237" cy="15875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1. 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计数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计数一般是指对事件的统计，通常以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/>
              </a:rPr>
              <a:t>“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/>
              </a:rPr>
              <a:t>”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为单位进行累加。</a:t>
            </a:r>
          </a:p>
        </p:txBody>
      </p:sp>
      <p:sp>
        <p:nvSpPr>
          <p:cNvPr id="32776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827088" y="3286125"/>
            <a:ext cx="7777162" cy="57626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所谓计数器就是对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外部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输入脉冲的计数；</a:t>
            </a:r>
          </a:p>
        </p:txBody>
      </p:sp>
      <p:sp>
        <p:nvSpPr>
          <p:cNvPr id="32777" name="Text Box 9"/>
          <p:cNvSpPr txBox="1">
            <a:spLocks noChangeArrowheads="1"/>
          </p:cNvSpPr>
          <p:nvPr/>
        </p:nvSpPr>
        <p:spPr bwMode="auto">
          <a:xfrm>
            <a:off x="900113" y="2781300"/>
            <a:ext cx="3671887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2. 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计数器与定时器</a:t>
            </a:r>
          </a:p>
        </p:txBody>
      </p:sp>
      <p:sp>
        <p:nvSpPr>
          <p:cNvPr id="32778" name="Line 10"/>
          <p:cNvSpPr>
            <a:spLocks noChangeShapeType="1"/>
          </p:cNvSpPr>
          <p:nvPr/>
        </p:nvSpPr>
        <p:spPr bwMode="auto">
          <a:xfrm>
            <a:off x="3779838" y="3790950"/>
            <a:ext cx="3529012" cy="0"/>
          </a:xfrm>
          <a:prstGeom prst="line">
            <a:avLst/>
          </a:prstGeom>
          <a:noFill/>
          <a:ln w="349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9" name="Line 11"/>
          <p:cNvSpPr>
            <a:spLocks noChangeShapeType="1"/>
          </p:cNvSpPr>
          <p:nvPr/>
        </p:nvSpPr>
        <p:spPr bwMode="auto">
          <a:xfrm>
            <a:off x="3276600" y="4725988"/>
            <a:ext cx="3240088" cy="0"/>
          </a:xfrm>
          <a:prstGeom prst="line">
            <a:avLst/>
          </a:prstGeom>
          <a:noFill/>
          <a:ln w="349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80" name="Text Box 12"/>
          <p:cNvSpPr txBox="1">
            <a:spLocks noChangeArrowheads="1"/>
          </p:cNvSpPr>
          <p:nvPr/>
        </p:nvSpPr>
        <p:spPr bwMode="auto">
          <a:xfrm>
            <a:off x="827088" y="5230813"/>
            <a:ext cx="7920037" cy="9461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所以，定时器和计数器</a:t>
            </a:r>
            <a:r>
              <a:rPr lang="zh-CN" altLang="en-US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本质上是一致的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，在以后的叙述中将定时器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计数器统称为定时器。</a:t>
            </a:r>
          </a:p>
        </p:txBody>
      </p:sp>
      <p:sp>
        <p:nvSpPr>
          <p:cNvPr id="32781" name="Rectangle 13"/>
          <p:cNvSpPr>
            <a:spLocks noChangeArrowheads="1"/>
          </p:cNvSpPr>
          <p:nvPr/>
        </p:nvSpPr>
        <p:spPr bwMode="auto">
          <a:xfrm>
            <a:off x="827088" y="3790950"/>
            <a:ext cx="7777162" cy="136842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所谓定时器也是对脉冲进行计数完成的，计数的是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MCS-51</a:t>
            </a:r>
            <a:r>
              <a:rPr lang="zh-CN" altLang="en-US" sz="28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内部</a:t>
            </a: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产生的标准脉冲，通过</a:t>
            </a:r>
            <a:r>
              <a:rPr lang="zh-CN" altLang="en-US" sz="2800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计数脉冲个数实现定时</a:t>
            </a: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12299" name="矩形 4"/>
          <p:cNvSpPr>
            <a:spLocks noChangeArrowheads="1"/>
          </p:cNvSpPr>
          <p:nvPr/>
        </p:nvSpPr>
        <p:spPr bwMode="auto">
          <a:xfrm>
            <a:off x="6659563" y="138113"/>
            <a:ext cx="2484437" cy="215900"/>
          </a:xfrm>
          <a:prstGeom prst="rect">
            <a:avLst/>
          </a:prstGeom>
          <a:solidFill>
            <a:srgbClr val="FFCF3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100"/>
              <a:t>单片机原理及应用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27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27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27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2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27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27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27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2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32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5" grpId="0"/>
      <p:bldP spid="32776" grpId="0" build="p"/>
      <p:bldP spid="32777" grpId="0"/>
      <p:bldP spid="32780" grpId="0"/>
      <p:bldP spid="3278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96CC27-541A-4E68-A17B-2660855C8D8F}" type="slidenum">
              <a:rPr lang="zh-CN" altLang="en-US" smtClean="0"/>
              <a:t>5</a:t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899592" y="836712"/>
            <a:ext cx="77048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实现定时和计数的方法一般有：软件定时、专用硬件电路和可编程定时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计数器三种方法。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27584" y="1916832"/>
            <a:ext cx="7920880" cy="4688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软件定时：执行一个循环程序进行时间延迟。定时准确，不需要外加硬件电路，但增加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CPU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开销。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457200" indent="-457200">
              <a:lnSpc>
                <a:spcPct val="12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专用硬件电路定时：可实现精确定时和计数，但参数调节不便。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457200" indent="-457200">
              <a:lnSpc>
                <a:spcPct val="12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可编程定时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/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计数器：不占用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CPU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时间，能与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CPU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并行工作，实现精确的定时和计数，可以通过编程设置其工作方式和其它参数，使用方便。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F118019-9FE6-4782-ADD8-A6B75A2A258F}" type="slidenum">
              <a:rPr lang="zh-CN" altLang="en-US" sz="1400"/>
              <a:t>6</a:t>
            </a:fld>
            <a:endParaRPr lang="en-US" altLang="zh-CN" sz="1400"/>
          </a:p>
        </p:txBody>
      </p:sp>
      <p:sp>
        <p:nvSpPr>
          <p:cNvPr id="57348" name="Text Box 4"/>
          <p:cNvSpPr txBox="1">
            <a:spLocks noChangeArrowheads="1"/>
          </p:cNvSpPr>
          <p:nvPr/>
        </p:nvSpPr>
        <p:spPr bwMode="auto">
          <a:xfrm>
            <a:off x="395288" y="404813"/>
            <a:ext cx="5761037" cy="57943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3200" dirty="0">
                <a:solidFill>
                  <a:srgbClr val="99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6.1.1 </a:t>
            </a:r>
            <a:r>
              <a:rPr lang="zh-CN" altLang="en-US" sz="3200" dirty="0">
                <a:solidFill>
                  <a:srgbClr val="99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定时</a:t>
            </a:r>
            <a:r>
              <a:rPr lang="en-US" altLang="zh-CN" sz="3200" dirty="0">
                <a:solidFill>
                  <a:srgbClr val="99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3200" dirty="0">
                <a:solidFill>
                  <a:srgbClr val="99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计数器的结构 </a:t>
            </a:r>
          </a:p>
        </p:txBody>
      </p:sp>
      <p:sp>
        <p:nvSpPr>
          <p:cNvPr id="14340" name="Text Box 5"/>
          <p:cNvSpPr txBox="1">
            <a:spLocks noChangeArrowheads="1"/>
          </p:cNvSpPr>
          <p:nvPr/>
        </p:nvSpPr>
        <p:spPr bwMode="auto">
          <a:xfrm>
            <a:off x="395288" y="1341438"/>
            <a:ext cx="8305800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    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8051</a:t>
            </a:r>
            <a:r>
              <a:rPr lang="zh-CN" altLang="en-US" sz="2800">
                <a:latin typeface="宋体" panose="02010600030101010101" pitchFamily="2" charset="-122"/>
              </a:rPr>
              <a:t>单片机内部有两个</a:t>
            </a:r>
            <a:r>
              <a:rPr lang="zh-CN" altLang="en-US" sz="2800">
                <a:latin typeface="Arial" panose="020B0604020202020204" pitchFamily="34" charset="0"/>
                <a:cs typeface="Times New Roman" panose="02020603050405020304" pitchFamily="18" charset="0"/>
              </a:rPr>
              <a:t> 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altLang="zh-CN" sz="2800">
                <a:latin typeface="Arial" panose="020B0604020202020204" pitchFamily="34" charset="0"/>
                <a:cs typeface="Times New Roman" panose="02020603050405020304" pitchFamily="18" charset="0"/>
              </a:rPr>
              <a:t> </a:t>
            </a:r>
            <a:r>
              <a:rPr lang="zh-CN" altLang="en-US" sz="2800">
                <a:latin typeface="宋体" panose="02010600030101010101" pitchFamily="2" charset="-122"/>
              </a:rPr>
              <a:t>位的可编程定时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800">
                <a:latin typeface="宋体" panose="02010600030101010101" pitchFamily="2" charset="-122"/>
              </a:rPr>
              <a:t>计数器，称为定时器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0 (T0)</a:t>
            </a:r>
            <a:r>
              <a:rPr lang="zh-CN" altLang="en-US" sz="2800">
                <a:latin typeface="宋体" panose="02010600030101010101" pitchFamily="2" charset="-122"/>
              </a:rPr>
              <a:t>和定时器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1(T1)</a:t>
            </a:r>
            <a:r>
              <a:rPr lang="zh-CN" altLang="en-US" sz="2800">
                <a:latin typeface="宋体" panose="02010600030101010101" pitchFamily="2" charset="-122"/>
              </a:rPr>
              <a:t>，可编程选择其用作定时器或计数器，其逻辑结构如图。</a:t>
            </a:r>
          </a:p>
        </p:txBody>
      </p:sp>
      <p:pic>
        <p:nvPicPr>
          <p:cNvPr id="57350" name="Picture 6"/>
          <p:cNvPicPr>
            <a:picLocks noChangeAspect="1" noChangeArrowheads="1"/>
          </p:cNvPicPr>
          <p:nvPr/>
        </p:nvPicPr>
        <p:blipFill>
          <a:blip r:embed="rId2">
            <a:lum bright="-12000" contras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981075"/>
            <a:ext cx="8496300" cy="561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7352" name="Rectangle 8"/>
          <p:cNvSpPr>
            <a:spLocks noChangeArrowheads="1"/>
          </p:cNvSpPr>
          <p:nvPr/>
        </p:nvSpPr>
        <p:spPr bwMode="auto">
          <a:xfrm>
            <a:off x="2555875" y="1844675"/>
            <a:ext cx="2663825" cy="1800225"/>
          </a:xfrm>
          <a:prstGeom prst="rect">
            <a:avLst/>
          </a:prstGeom>
          <a:noFill/>
          <a:ln w="31750">
            <a:solidFill>
              <a:srgbClr val="FF0000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/>
          </a:p>
        </p:txBody>
      </p:sp>
      <p:sp>
        <p:nvSpPr>
          <p:cNvPr id="57353" name="Rectangle 9"/>
          <p:cNvSpPr>
            <a:spLocks noChangeArrowheads="1"/>
          </p:cNvSpPr>
          <p:nvPr/>
        </p:nvSpPr>
        <p:spPr bwMode="auto">
          <a:xfrm>
            <a:off x="5724525" y="1844675"/>
            <a:ext cx="2663825" cy="1800225"/>
          </a:xfrm>
          <a:prstGeom prst="rect">
            <a:avLst/>
          </a:prstGeom>
          <a:noFill/>
          <a:ln w="31750">
            <a:solidFill>
              <a:srgbClr val="FF0000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/>
          </a:p>
        </p:txBody>
      </p:sp>
      <p:sp>
        <p:nvSpPr>
          <p:cNvPr id="2" name="对话气泡: 圆角矩形 1"/>
          <p:cNvSpPr/>
          <p:nvPr/>
        </p:nvSpPr>
        <p:spPr bwMode="auto">
          <a:xfrm>
            <a:off x="6371951" y="785989"/>
            <a:ext cx="1440011" cy="863600"/>
          </a:xfrm>
          <a:prstGeom prst="wedgeRoundRectCallout">
            <a:avLst>
              <a:gd name="adj1" fmla="val -12210"/>
              <a:gd name="adj2" fmla="val 138317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16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位加法计数器</a:t>
            </a:r>
          </a:p>
        </p:txBody>
      </p:sp>
      <p:sp>
        <p:nvSpPr>
          <p:cNvPr id="9" name="对话气泡: 圆角矩形 8"/>
          <p:cNvSpPr/>
          <p:nvPr/>
        </p:nvSpPr>
        <p:spPr bwMode="auto">
          <a:xfrm>
            <a:off x="7091957" y="5853466"/>
            <a:ext cx="1440011" cy="863600"/>
          </a:xfrm>
          <a:prstGeom prst="wedgeRoundRectCallout">
            <a:avLst>
              <a:gd name="adj1" fmla="val -67870"/>
              <a:gd name="adj2" fmla="val -49918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dirty="0"/>
              <a:t>工作方式寄存器</a:t>
            </a:r>
            <a:endParaRPr kumimoji="0" lang="zh-CN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6142124" y="2262362"/>
            <a:ext cx="1800051" cy="863601"/>
          </a:xfrm>
          <a:prstGeom prst="rect">
            <a:avLst/>
          </a:prstGeom>
          <a:noFill/>
          <a:ln w="44450">
            <a:solidFill>
              <a:srgbClr val="0000FF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2988730" y="2265009"/>
            <a:ext cx="1800051" cy="863601"/>
          </a:xfrm>
          <a:prstGeom prst="rect">
            <a:avLst/>
          </a:prstGeom>
          <a:noFill/>
          <a:ln w="44450">
            <a:solidFill>
              <a:srgbClr val="0000FF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7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7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7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52" grpId="0" animBg="1"/>
      <p:bldP spid="57353" grpId="0" animBg="1"/>
      <p:bldP spid="2" grpId="0" animBg="1"/>
      <p:bldP spid="9" grpId="0" animBg="1"/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>
            <a:extLst>
              <a:ext uri="{FF2B5EF4-FFF2-40B4-BE49-F238E27FC236}">
                <a16:creationId xmlns:a16="http://schemas.microsoft.com/office/drawing/2014/main" id="{4CEF7D3D-1BD9-4767-9D7F-A81ECE8D3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643" y="1201142"/>
            <a:ext cx="6705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"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838200" indent="-3810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buFontTx/>
              <a:buNone/>
            </a:pPr>
            <a:r>
              <a:rPr lang="zh-CN" altLang="en-US" sz="2400" dirty="0"/>
              <a:t>单片机</a:t>
            </a:r>
            <a:r>
              <a:rPr lang="zh-CN" altLang="en-US" sz="2400" b="1" dirty="0">
                <a:solidFill>
                  <a:srgbClr val="FF3300"/>
                </a:solidFill>
              </a:rPr>
              <a:t>软硬件联合</a:t>
            </a:r>
            <a:r>
              <a:rPr lang="zh-CN" altLang="en-US" sz="2400" dirty="0"/>
              <a:t>定时</a:t>
            </a:r>
            <a:r>
              <a:rPr lang="en-US" altLang="zh-CN" sz="2400" dirty="0"/>
              <a:t>/</a:t>
            </a:r>
            <a:r>
              <a:rPr lang="zh-CN" altLang="en-US" sz="2400" dirty="0"/>
              <a:t>计数方法：</a:t>
            </a:r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48F76B9A-E2C6-4AFB-B028-4B43DFC37556}"/>
              </a:ext>
            </a:extLst>
          </p:cNvPr>
          <p:cNvGrpSpPr>
            <a:grpSpLocks/>
          </p:cNvGrpSpPr>
          <p:nvPr/>
        </p:nvGrpSpPr>
        <p:grpSpPr bwMode="auto">
          <a:xfrm>
            <a:off x="477193" y="2956917"/>
            <a:ext cx="8280400" cy="630237"/>
            <a:chOff x="329" y="1791"/>
            <a:chExt cx="5216" cy="397"/>
          </a:xfrm>
        </p:grpSpPr>
        <p:sp>
          <p:nvSpPr>
            <p:cNvPr id="21547" name="Rectangle 19">
              <a:extLst>
                <a:ext uri="{FF2B5EF4-FFF2-40B4-BE49-F238E27FC236}">
                  <a16:creationId xmlns:a16="http://schemas.microsoft.com/office/drawing/2014/main" id="{CE935952-1091-4139-AF40-4677758C9E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8" y="1933"/>
              <a:ext cx="964" cy="25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1548" name="Text Box 20">
              <a:extLst>
                <a:ext uri="{FF2B5EF4-FFF2-40B4-BE49-F238E27FC236}">
                  <a16:creationId xmlns:a16="http://schemas.microsoft.com/office/drawing/2014/main" id="{123EBED8-82FE-4A63-A61C-2D99F22D01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8" y="1933"/>
              <a:ext cx="9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0" lang="zh-CN" altLang="en-US" sz="1800">
                  <a:latin typeface="Verdana" panose="020B0604030504040204" pitchFamily="34" charset="0"/>
                </a:rPr>
                <a:t>外来信号脉冲</a:t>
              </a:r>
            </a:p>
          </p:txBody>
        </p:sp>
        <p:sp>
          <p:nvSpPr>
            <p:cNvPr id="21549" name="Rectangle 21">
              <a:extLst>
                <a:ext uri="{FF2B5EF4-FFF2-40B4-BE49-F238E27FC236}">
                  <a16:creationId xmlns:a16="http://schemas.microsoft.com/office/drawing/2014/main" id="{5D754989-02D1-43D6-9AC0-51530A8CB0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1933"/>
              <a:ext cx="851" cy="25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1550" name="Text Box 22">
              <a:extLst>
                <a:ext uri="{FF2B5EF4-FFF2-40B4-BE49-F238E27FC236}">
                  <a16:creationId xmlns:a16="http://schemas.microsoft.com/office/drawing/2014/main" id="{83F359BE-6584-4E9F-9979-53391761F3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0" y="1933"/>
              <a:ext cx="85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0" lang="zh-CN" altLang="en-US" sz="1800">
                  <a:latin typeface="Verdana" panose="020B0604030504040204" pitchFamily="34" charset="0"/>
                </a:rPr>
                <a:t>加</a:t>
              </a:r>
              <a:r>
                <a:rPr kumimoji="0" lang="en-US" altLang="zh-CN" sz="1800">
                  <a:latin typeface="Verdana" panose="020B0604030504040204" pitchFamily="34" charset="0"/>
                </a:rPr>
                <a:t>1</a:t>
              </a:r>
              <a:r>
                <a:rPr kumimoji="0" lang="zh-CN" altLang="en-US" sz="1800">
                  <a:latin typeface="Verdana" panose="020B0604030504040204" pitchFamily="34" charset="0"/>
                </a:rPr>
                <a:t>计数器</a:t>
              </a:r>
            </a:p>
          </p:txBody>
        </p:sp>
        <p:sp>
          <p:nvSpPr>
            <p:cNvPr id="21551" name="Rectangle 23">
              <a:extLst>
                <a:ext uri="{FF2B5EF4-FFF2-40B4-BE49-F238E27FC236}">
                  <a16:creationId xmlns:a16="http://schemas.microsoft.com/office/drawing/2014/main" id="{721C820B-68B9-48FE-9754-D74ED8681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1" y="1933"/>
              <a:ext cx="794" cy="25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1552" name="Text Box 24">
              <a:extLst>
                <a:ext uri="{FF2B5EF4-FFF2-40B4-BE49-F238E27FC236}">
                  <a16:creationId xmlns:a16="http://schemas.microsoft.com/office/drawing/2014/main" id="{DB095150-3113-4058-9B4E-2E58468299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8" y="1949"/>
              <a:ext cx="76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0" lang="en-US" altLang="zh-CN" sz="1800" dirty="0" err="1">
                  <a:highlight>
                    <a:srgbClr val="00FFFF"/>
                  </a:highlight>
                  <a:latin typeface="Verdana" panose="020B0604030504040204" pitchFamily="34" charset="0"/>
                </a:rPr>
                <a:t>TFx</a:t>
              </a:r>
              <a:r>
                <a:rPr kumimoji="0" lang="zh-CN" altLang="en-US" sz="1800" dirty="0">
                  <a:highlight>
                    <a:srgbClr val="00FFFF"/>
                  </a:highlight>
                  <a:latin typeface="Verdana" panose="020B0604030504040204" pitchFamily="34" charset="0"/>
                </a:rPr>
                <a:t>→</a:t>
              </a:r>
              <a:r>
                <a:rPr kumimoji="0" lang="en-US" altLang="zh-CN" sz="1800" dirty="0">
                  <a:highlight>
                    <a:srgbClr val="00FFFF"/>
                  </a:highlight>
                  <a:latin typeface="Verdana" panose="020B0604030504040204" pitchFamily="34" charset="0"/>
                </a:rPr>
                <a:t>1</a:t>
              </a:r>
            </a:p>
          </p:txBody>
        </p:sp>
        <p:sp>
          <p:nvSpPr>
            <p:cNvPr id="21553" name="Line 25">
              <a:extLst>
                <a:ext uri="{FF2B5EF4-FFF2-40B4-BE49-F238E27FC236}">
                  <a16:creationId xmlns:a16="http://schemas.microsoft.com/office/drawing/2014/main" id="{734DA350-2598-42B8-841C-875A918F35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0" y="2046"/>
              <a:ext cx="227" cy="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4" name="Line 26">
              <a:extLst>
                <a:ext uri="{FF2B5EF4-FFF2-40B4-BE49-F238E27FC236}">
                  <a16:creationId xmlns:a16="http://schemas.microsoft.com/office/drawing/2014/main" id="{FD2D040E-DCD6-4A25-88F5-A26FF4FE96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9" y="2046"/>
              <a:ext cx="227" cy="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5" name="Rectangle 27">
              <a:extLst>
                <a:ext uri="{FF2B5EF4-FFF2-40B4-BE49-F238E27FC236}">
                  <a16:creationId xmlns:a16="http://schemas.microsoft.com/office/drawing/2014/main" id="{F9294898-E55E-4A9F-95E5-B804C0EFB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2" y="1791"/>
              <a:ext cx="3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1400">
                  <a:latin typeface="Verdana" panose="020B0604030504040204" pitchFamily="34" charset="0"/>
                </a:rPr>
                <a:t>溢出</a:t>
              </a:r>
            </a:p>
          </p:txBody>
        </p:sp>
        <p:sp>
          <p:nvSpPr>
            <p:cNvPr id="21556" name="Line 28">
              <a:extLst>
                <a:ext uri="{FF2B5EF4-FFF2-40B4-BE49-F238E27FC236}">
                  <a16:creationId xmlns:a16="http://schemas.microsoft.com/office/drawing/2014/main" id="{6A49CBC4-17EB-402C-859A-5530DA32AB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0" y="2046"/>
              <a:ext cx="227" cy="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7" name="Text Box 29">
              <a:extLst>
                <a:ext uri="{FF2B5EF4-FFF2-40B4-BE49-F238E27FC236}">
                  <a16:creationId xmlns:a16="http://schemas.microsoft.com/office/drawing/2014/main" id="{2BC7B8CD-4E83-400B-8FB1-DF7C5AD458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9" y="1933"/>
              <a:ext cx="10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0" lang="zh-CN" altLang="en-US" sz="1800">
                  <a:latin typeface="Verdana" panose="020B0604030504040204" pitchFamily="34" charset="0"/>
                </a:rPr>
                <a:t>查询或中断</a:t>
              </a:r>
            </a:p>
          </p:txBody>
        </p:sp>
        <p:sp>
          <p:nvSpPr>
            <p:cNvPr id="21558" name="Rectangle 30">
              <a:extLst>
                <a:ext uri="{FF2B5EF4-FFF2-40B4-BE49-F238E27FC236}">
                  <a16:creationId xmlns:a16="http://schemas.microsoft.com/office/drawing/2014/main" id="{697622C9-CE02-4AD4-B5B3-71C933EB09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" y="1961"/>
              <a:ext cx="45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1400" b="1">
                  <a:solidFill>
                    <a:srgbClr val="FF3300"/>
                  </a:solidFill>
                  <a:latin typeface="Verdana" panose="020B0604030504040204" pitchFamily="34" charset="0"/>
                </a:rPr>
                <a:t>计数器</a:t>
              </a:r>
            </a:p>
          </p:txBody>
        </p:sp>
      </p:grpSp>
      <p:grpSp>
        <p:nvGrpSpPr>
          <p:cNvPr id="5" name="Group 31">
            <a:extLst>
              <a:ext uri="{FF2B5EF4-FFF2-40B4-BE49-F238E27FC236}">
                <a16:creationId xmlns:a16="http://schemas.microsoft.com/office/drawing/2014/main" id="{5557DED0-823B-487F-B898-0F3E8217C5D8}"/>
              </a:ext>
            </a:extLst>
          </p:cNvPr>
          <p:cNvGrpSpPr>
            <a:grpSpLocks/>
          </p:cNvGrpSpPr>
          <p:nvPr/>
        </p:nvGrpSpPr>
        <p:grpSpPr bwMode="auto">
          <a:xfrm>
            <a:off x="477193" y="3991967"/>
            <a:ext cx="8280400" cy="990600"/>
            <a:chOff x="329" y="2443"/>
            <a:chExt cx="5216" cy="624"/>
          </a:xfrm>
        </p:grpSpPr>
        <p:sp>
          <p:nvSpPr>
            <p:cNvPr id="21527" name="Rectangle 32">
              <a:extLst>
                <a:ext uri="{FF2B5EF4-FFF2-40B4-BE49-F238E27FC236}">
                  <a16:creationId xmlns:a16="http://schemas.microsoft.com/office/drawing/2014/main" id="{2F020A4C-663F-4D17-B94F-3EDCB906D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2" y="2812"/>
              <a:ext cx="964" cy="25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1528" name="Text Box 33">
              <a:extLst>
                <a:ext uri="{FF2B5EF4-FFF2-40B4-BE49-F238E27FC236}">
                  <a16:creationId xmlns:a16="http://schemas.microsoft.com/office/drawing/2014/main" id="{CFB3399D-4114-4847-AF6A-645C4D26A1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2" y="2812"/>
              <a:ext cx="9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0" lang="zh-CN" altLang="en-US" sz="1800">
                  <a:latin typeface="Verdana" panose="020B0604030504040204" pitchFamily="34" charset="0"/>
                </a:rPr>
                <a:t>外来信号脉冲</a:t>
              </a:r>
            </a:p>
          </p:txBody>
        </p:sp>
        <p:sp>
          <p:nvSpPr>
            <p:cNvPr id="21529" name="Rectangle 34">
              <a:extLst>
                <a:ext uri="{FF2B5EF4-FFF2-40B4-BE49-F238E27FC236}">
                  <a16:creationId xmlns:a16="http://schemas.microsoft.com/office/drawing/2014/main" id="{072D62E2-66F5-4A34-878A-E23FAA46E1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" y="2585"/>
              <a:ext cx="851" cy="25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1530" name="Text Box 35">
              <a:extLst>
                <a:ext uri="{FF2B5EF4-FFF2-40B4-BE49-F238E27FC236}">
                  <a16:creationId xmlns:a16="http://schemas.microsoft.com/office/drawing/2014/main" id="{00C808FD-C20F-4D81-A67F-B64358D945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8" y="2585"/>
              <a:ext cx="85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0" lang="zh-CN" altLang="en-US" sz="1800">
                  <a:latin typeface="Verdana" panose="020B0604030504040204" pitchFamily="34" charset="0"/>
                </a:rPr>
                <a:t>加</a:t>
              </a:r>
              <a:r>
                <a:rPr kumimoji="0" lang="en-US" altLang="zh-CN" sz="1800">
                  <a:latin typeface="Verdana" panose="020B0604030504040204" pitchFamily="34" charset="0"/>
                </a:rPr>
                <a:t>1</a:t>
              </a:r>
              <a:r>
                <a:rPr kumimoji="0" lang="zh-CN" altLang="en-US" sz="1800">
                  <a:latin typeface="Verdana" panose="020B0604030504040204" pitchFamily="34" charset="0"/>
                </a:rPr>
                <a:t>计数器</a:t>
              </a:r>
            </a:p>
          </p:txBody>
        </p:sp>
        <p:sp>
          <p:nvSpPr>
            <p:cNvPr id="21531" name="Rectangle 36">
              <a:extLst>
                <a:ext uri="{FF2B5EF4-FFF2-40B4-BE49-F238E27FC236}">
                  <a16:creationId xmlns:a16="http://schemas.microsoft.com/office/drawing/2014/main" id="{FC21A671-19D4-4612-8881-5DD8C05B5E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9" y="2585"/>
              <a:ext cx="794" cy="25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1532" name="Text Box 37">
              <a:extLst>
                <a:ext uri="{FF2B5EF4-FFF2-40B4-BE49-F238E27FC236}">
                  <a16:creationId xmlns:a16="http://schemas.microsoft.com/office/drawing/2014/main" id="{C6C1EC17-6303-45B0-8B71-E70D7533D4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6" y="2601"/>
              <a:ext cx="76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0" lang="en-US" altLang="zh-CN" sz="1800" dirty="0">
                  <a:highlight>
                    <a:srgbClr val="00FFFF"/>
                  </a:highlight>
                </a:rPr>
                <a:t> </a:t>
              </a:r>
              <a:r>
                <a:rPr kumimoji="0" lang="en-US" altLang="zh-CN" sz="1800" dirty="0" err="1">
                  <a:highlight>
                    <a:srgbClr val="00FFFF"/>
                  </a:highlight>
                </a:rPr>
                <a:t>TFx</a:t>
              </a:r>
              <a:r>
                <a:rPr kumimoji="0" lang="zh-CN" altLang="en-US" sz="1800" dirty="0">
                  <a:highlight>
                    <a:srgbClr val="00FFFF"/>
                  </a:highlight>
                </a:rPr>
                <a:t>→</a:t>
              </a:r>
              <a:r>
                <a:rPr kumimoji="0" lang="en-US" altLang="zh-CN" sz="1800" dirty="0">
                  <a:highlight>
                    <a:srgbClr val="00FFFF"/>
                  </a:highlight>
                </a:rPr>
                <a:t>1</a:t>
              </a:r>
              <a:endParaRPr kumimoji="0" lang="zh-CN" altLang="en-US" sz="1800" dirty="0">
                <a:highlight>
                  <a:srgbClr val="00FFFF"/>
                </a:highlight>
              </a:endParaRPr>
            </a:p>
          </p:txBody>
        </p:sp>
        <p:sp>
          <p:nvSpPr>
            <p:cNvPr id="21533" name="Line 38">
              <a:extLst>
                <a:ext uri="{FF2B5EF4-FFF2-40B4-BE49-F238E27FC236}">
                  <a16:creationId xmlns:a16="http://schemas.microsoft.com/office/drawing/2014/main" id="{733B27A4-2326-4927-AC14-4606B2DCF7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7" y="2698"/>
              <a:ext cx="227" cy="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4" name="Rectangle 39">
              <a:extLst>
                <a:ext uri="{FF2B5EF4-FFF2-40B4-BE49-F238E27FC236}">
                  <a16:creationId xmlns:a16="http://schemas.microsoft.com/office/drawing/2014/main" id="{040565B3-E553-4955-987B-04EA4C26AF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0" y="2443"/>
              <a:ext cx="3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1400">
                  <a:latin typeface="Verdana" panose="020B0604030504040204" pitchFamily="34" charset="0"/>
                </a:rPr>
                <a:t>溢出</a:t>
              </a:r>
            </a:p>
          </p:txBody>
        </p:sp>
        <p:sp>
          <p:nvSpPr>
            <p:cNvPr id="21535" name="Line 40">
              <a:extLst>
                <a:ext uri="{FF2B5EF4-FFF2-40B4-BE49-F238E27FC236}">
                  <a16:creationId xmlns:a16="http://schemas.microsoft.com/office/drawing/2014/main" id="{C92B95F5-52B2-42DF-87CA-6D9B311297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2614"/>
              <a:ext cx="1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6" name="Line 41">
              <a:extLst>
                <a:ext uri="{FF2B5EF4-FFF2-40B4-BE49-F238E27FC236}">
                  <a16:creationId xmlns:a16="http://schemas.microsoft.com/office/drawing/2014/main" id="{BB643841-18F3-40E8-BBC2-C3CBFCE33F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60" y="2727"/>
              <a:ext cx="113" cy="1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7" name="Line 42">
              <a:extLst>
                <a:ext uri="{FF2B5EF4-FFF2-40B4-BE49-F238E27FC236}">
                  <a16:creationId xmlns:a16="http://schemas.microsoft.com/office/drawing/2014/main" id="{DA91C7C7-F5C3-467D-9064-97BBC8E6E9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8" y="2698"/>
              <a:ext cx="227" cy="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8" name="Text Box 43">
              <a:extLst>
                <a:ext uri="{FF2B5EF4-FFF2-40B4-BE49-F238E27FC236}">
                  <a16:creationId xmlns:a16="http://schemas.microsoft.com/office/drawing/2014/main" id="{19D1B5E6-5229-431E-B641-1160DD8D3E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7" y="2584"/>
              <a:ext cx="10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0" lang="zh-CN" altLang="en-US" sz="1800">
                  <a:latin typeface="Verdana" panose="020B0604030504040204" pitchFamily="34" charset="0"/>
                </a:rPr>
                <a:t>查询或中断</a:t>
              </a:r>
            </a:p>
          </p:txBody>
        </p:sp>
        <p:sp>
          <p:nvSpPr>
            <p:cNvPr id="21539" name="Rectangle 44">
              <a:extLst>
                <a:ext uri="{FF2B5EF4-FFF2-40B4-BE49-F238E27FC236}">
                  <a16:creationId xmlns:a16="http://schemas.microsoft.com/office/drawing/2014/main" id="{9FC7AC4A-2C66-4604-8E1A-119EF9A635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2" y="2472"/>
              <a:ext cx="964" cy="25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1540" name="Text Box 45">
              <a:extLst>
                <a:ext uri="{FF2B5EF4-FFF2-40B4-BE49-F238E27FC236}">
                  <a16:creationId xmlns:a16="http://schemas.microsoft.com/office/drawing/2014/main" id="{602AE5E9-E267-443A-B586-D742A12AA4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2" y="2472"/>
              <a:ext cx="9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0" lang="zh-CN" altLang="en-US" sz="1800">
                  <a:latin typeface="Verdana" panose="020B0604030504040204" pitchFamily="34" charset="0"/>
                </a:rPr>
                <a:t>系统时钟脉冲</a:t>
              </a:r>
            </a:p>
          </p:txBody>
        </p:sp>
        <p:sp>
          <p:nvSpPr>
            <p:cNvPr id="21541" name="Line 46">
              <a:extLst>
                <a:ext uri="{FF2B5EF4-FFF2-40B4-BE49-F238E27FC236}">
                  <a16:creationId xmlns:a16="http://schemas.microsoft.com/office/drawing/2014/main" id="{2A9CE32D-C76D-40DD-87B4-CA3C75C40E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2897"/>
              <a:ext cx="1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42" name="Line 47">
              <a:extLst>
                <a:ext uri="{FF2B5EF4-FFF2-40B4-BE49-F238E27FC236}">
                  <a16:creationId xmlns:a16="http://schemas.microsoft.com/office/drawing/2014/main" id="{956E7D0D-C9BA-4056-AFCE-2308B5CBB9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3" y="2727"/>
              <a:ext cx="1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43" name="Oval 48">
              <a:extLst>
                <a:ext uri="{FF2B5EF4-FFF2-40B4-BE49-F238E27FC236}">
                  <a16:creationId xmlns:a16="http://schemas.microsoft.com/office/drawing/2014/main" id="{142D262A-E198-4BA7-83E7-C806AB1819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0" y="2869"/>
              <a:ext cx="56" cy="5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1544" name="Oval 49">
              <a:extLst>
                <a:ext uri="{FF2B5EF4-FFF2-40B4-BE49-F238E27FC236}">
                  <a16:creationId xmlns:a16="http://schemas.microsoft.com/office/drawing/2014/main" id="{8CBABDA9-6957-4D58-829E-90033EA2B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1" y="2585"/>
              <a:ext cx="56" cy="5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1545" name="Rectangle 50">
              <a:extLst>
                <a:ext uri="{FF2B5EF4-FFF2-40B4-BE49-F238E27FC236}">
                  <a16:creationId xmlns:a16="http://schemas.microsoft.com/office/drawing/2014/main" id="{DCD5FD6F-A951-4B2F-A517-DA6EBAA38B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6" y="2528"/>
              <a:ext cx="19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1400">
                  <a:latin typeface="Verdana" panose="020B0604030504040204" pitchFamily="34" charset="0"/>
                </a:rPr>
                <a:t>K</a:t>
              </a:r>
            </a:p>
          </p:txBody>
        </p:sp>
        <p:sp>
          <p:nvSpPr>
            <p:cNvPr id="21546" name="Rectangle 51">
              <a:extLst>
                <a:ext uri="{FF2B5EF4-FFF2-40B4-BE49-F238E27FC236}">
                  <a16:creationId xmlns:a16="http://schemas.microsoft.com/office/drawing/2014/main" id="{29E700D8-B4F6-437E-A527-51C3CDEF8F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" y="2585"/>
              <a:ext cx="454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1400" b="1">
                  <a:solidFill>
                    <a:srgbClr val="FF3300"/>
                  </a:solidFill>
                  <a:latin typeface="Verdana" panose="020B0604030504040204" pitchFamily="34" charset="0"/>
                </a:rPr>
                <a:t>定时</a:t>
              </a:r>
              <a:r>
                <a:rPr kumimoji="0" lang="en-US" altLang="zh-CN" sz="1400" b="1">
                  <a:solidFill>
                    <a:srgbClr val="FF3300"/>
                  </a:solidFill>
                  <a:latin typeface="Verdana" panose="020B0604030504040204" pitchFamily="34" charset="0"/>
                </a:rPr>
                <a:t>/</a:t>
              </a:r>
              <a:r>
                <a:rPr kumimoji="0" lang="zh-CN" altLang="en-US" sz="1400" b="1">
                  <a:solidFill>
                    <a:srgbClr val="FF3300"/>
                  </a:solidFill>
                  <a:latin typeface="Verdana" panose="020B0604030504040204" pitchFamily="34" charset="0"/>
                </a:rPr>
                <a:t>计数器</a:t>
              </a:r>
            </a:p>
          </p:txBody>
        </p:sp>
      </p:grpSp>
      <p:sp>
        <p:nvSpPr>
          <p:cNvPr id="454708" name="Rectangle 52">
            <a:extLst>
              <a:ext uri="{FF2B5EF4-FFF2-40B4-BE49-F238E27FC236}">
                <a16:creationId xmlns:a16="http://schemas.microsoft.com/office/drawing/2014/main" id="{C7227032-8CFD-4E80-B843-B2AF5F6EA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037" y="5169893"/>
            <a:ext cx="8289925" cy="817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kumimoji="0" lang="zh-CN" altLang="en-US" sz="2000" b="1" dirty="0">
                <a:solidFill>
                  <a:srgbClr val="CC0000"/>
                </a:solidFill>
                <a:latin typeface="Verdana" panose="020B0604030504040204" pitchFamily="34" charset="0"/>
              </a:rPr>
              <a:t>定时器和计数器的本质相同。定时器是对时钟脉冲计数，计数器则是对外来脉冲计数</a:t>
            </a:r>
            <a:r>
              <a:rPr kumimoji="0" lang="en-US" altLang="zh-CN" sz="2000" b="1" dirty="0">
                <a:solidFill>
                  <a:srgbClr val="CC0000"/>
                </a:solidFill>
                <a:latin typeface="Verdana" panose="020B0604030504040204" pitchFamily="34" charset="0"/>
              </a:rPr>
              <a:t>.</a:t>
            </a:r>
          </a:p>
        </p:txBody>
      </p:sp>
      <p:sp>
        <p:nvSpPr>
          <p:cNvPr id="21510" name="Rectangle 2">
            <a:extLst>
              <a:ext uri="{FF2B5EF4-FFF2-40B4-BE49-F238E27FC236}">
                <a16:creationId xmlns:a16="http://schemas.microsoft.com/office/drawing/2014/main" id="{E3136A0C-7F33-43A6-AAF4-77EE86C33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8025" y="438150"/>
            <a:ext cx="3092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600"/>
              <a:t>第</a:t>
            </a:r>
            <a:r>
              <a:rPr lang="en-US" altLang="zh-CN" sz="1600"/>
              <a:t>6</a:t>
            </a:r>
            <a:r>
              <a:rPr lang="zh-CN" altLang="en-US" sz="1600"/>
              <a:t>章单片机的定时器</a:t>
            </a:r>
            <a:r>
              <a:rPr lang="en-US" altLang="zh-CN" sz="1600"/>
              <a:t>/</a:t>
            </a:r>
            <a:r>
              <a:rPr lang="zh-CN" altLang="en-US" sz="1600"/>
              <a:t>计数器</a:t>
            </a:r>
          </a:p>
        </p:txBody>
      </p:sp>
      <p:grpSp>
        <p:nvGrpSpPr>
          <p:cNvPr id="944184" name="Group 56">
            <a:extLst>
              <a:ext uri="{FF2B5EF4-FFF2-40B4-BE49-F238E27FC236}">
                <a16:creationId xmlns:a16="http://schemas.microsoft.com/office/drawing/2014/main" id="{73A2839F-D4D7-4927-9795-351A807F470C}"/>
              </a:ext>
            </a:extLst>
          </p:cNvPr>
          <p:cNvGrpSpPr>
            <a:grpSpLocks/>
          </p:cNvGrpSpPr>
          <p:nvPr/>
        </p:nvGrpSpPr>
        <p:grpSpPr bwMode="auto">
          <a:xfrm>
            <a:off x="521643" y="1861542"/>
            <a:ext cx="8280400" cy="847725"/>
            <a:chOff x="340" y="869"/>
            <a:chExt cx="5216" cy="534"/>
          </a:xfrm>
        </p:grpSpPr>
        <p:sp>
          <p:nvSpPr>
            <p:cNvPr id="21512" name="Text Box 53">
              <a:extLst>
                <a:ext uri="{FF2B5EF4-FFF2-40B4-BE49-F238E27FC236}">
                  <a16:creationId xmlns:a16="http://schemas.microsoft.com/office/drawing/2014/main" id="{4C14F1D1-3D5F-424D-85FA-791AC684A4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8" y="869"/>
              <a:ext cx="9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800"/>
                <a:t>(</a:t>
              </a:r>
              <a:r>
                <a:rPr lang="zh-CN" altLang="en-US" sz="1400"/>
                <a:t>已知剩余空间</a:t>
              </a:r>
              <a:r>
                <a:rPr lang="en-US" altLang="zh-CN" sz="1800"/>
                <a:t>)</a:t>
              </a:r>
              <a:r>
                <a:rPr lang="en-US" altLang="zh-CN" sz="2400"/>
                <a:t> </a:t>
              </a:r>
            </a:p>
          </p:txBody>
        </p:sp>
        <p:grpSp>
          <p:nvGrpSpPr>
            <p:cNvPr id="21513" name="Group 55">
              <a:extLst>
                <a:ext uri="{FF2B5EF4-FFF2-40B4-BE49-F238E27FC236}">
                  <a16:creationId xmlns:a16="http://schemas.microsoft.com/office/drawing/2014/main" id="{6427EC35-1D6B-4489-8B95-965BEC94B0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" y="940"/>
              <a:ext cx="5216" cy="463"/>
              <a:chOff x="340" y="940"/>
              <a:chExt cx="5216" cy="463"/>
            </a:xfrm>
          </p:grpSpPr>
          <p:sp>
            <p:nvSpPr>
              <p:cNvPr id="21514" name="Text Box 5">
                <a:extLst>
                  <a:ext uri="{FF2B5EF4-FFF2-40B4-BE49-F238E27FC236}">
                    <a16:creationId xmlns:a16="http://schemas.microsoft.com/office/drawing/2014/main" id="{9FE8DF76-001B-4A30-8C81-B60AE10A0A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22" y="1134"/>
                <a:ext cx="113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zh-CN" altLang="en-US" sz="1800">
                    <a:latin typeface="Verdana" panose="020B0604030504040204" pitchFamily="34" charset="0"/>
                  </a:rPr>
                  <a:t>查询或中断</a:t>
                </a:r>
              </a:p>
            </p:txBody>
          </p:sp>
          <p:sp>
            <p:nvSpPr>
              <p:cNvPr id="21515" name="Rectangle 7">
                <a:extLst>
                  <a:ext uri="{FF2B5EF4-FFF2-40B4-BE49-F238E27FC236}">
                    <a16:creationId xmlns:a16="http://schemas.microsoft.com/office/drawing/2014/main" id="{D46ACA2B-E615-481D-AEF5-6710E3E3CA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0" y="1134"/>
                <a:ext cx="964" cy="25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21516" name="Text Box 8">
                <a:extLst>
                  <a:ext uri="{FF2B5EF4-FFF2-40B4-BE49-F238E27FC236}">
                    <a16:creationId xmlns:a16="http://schemas.microsoft.com/office/drawing/2014/main" id="{E3F59589-46AD-410B-AC05-A6834188BA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50" y="1134"/>
                <a:ext cx="99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zh-CN" altLang="en-US" sz="1800">
                    <a:latin typeface="Verdana" panose="020B0604030504040204" pitchFamily="34" charset="0"/>
                  </a:rPr>
                  <a:t>系统时钟脉冲</a:t>
                </a:r>
              </a:p>
            </p:txBody>
          </p:sp>
          <p:sp>
            <p:nvSpPr>
              <p:cNvPr id="21517" name="Rectangle 9">
                <a:extLst>
                  <a:ext uri="{FF2B5EF4-FFF2-40B4-BE49-F238E27FC236}">
                    <a16:creationId xmlns:a16="http://schemas.microsoft.com/office/drawing/2014/main" id="{D6F3CD56-93CF-4779-A8DB-B5E5694D17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25" y="1134"/>
                <a:ext cx="851" cy="25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21518" name="Text Box 10">
                <a:extLst>
                  <a:ext uri="{FF2B5EF4-FFF2-40B4-BE49-F238E27FC236}">
                    <a16:creationId xmlns:a16="http://schemas.microsoft.com/office/drawing/2014/main" id="{4EAE673B-84D3-430E-A60E-6AD70F93E8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82" y="1134"/>
                <a:ext cx="85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zh-CN" altLang="en-US" sz="1800">
                    <a:latin typeface="Verdana" panose="020B0604030504040204" pitchFamily="34" charset="0"/>
                  </a:rPr>
                  <a:t>加</a:t>
                </a:r>
                <a:r>
                  <a:rPr kumimoji="0" lang="en-US" altLang="zh-CN" sz="1800">
                    <a:latin typeface="Verdana" panose="020B0604030504040204" pitchFamily="34" charset="0"/>
                  </a:rPr>
                  <a:t>1</a:t>
                </a:r>
                <a:r>
                  <a:rPr kumimoji="0" lang="zh-CN" altLang="en-US" sz="1800">
                    <a:latin typeface="Verdana" panose="020B0604030504040204" pitchFamily="34" charset="0"/>
                  </a:rPr>
                  <a:t>计数器</a:t>
                </a:r>
              </a:p>
            </p:txBody>
          </p:sp>
          <p:sp>
            <p:nvSpPr>
              <p:cNvPr id="21519" name="Rectangle 11">
                <a:extLst>
                  <a:ext uri="{FF2B5EF4-FFF2-40B4-BE49-F238E27FC236}">
                    <a16:creationId xmlns:a16="http://schemas.microsoft.com/office/drawing/2014/main" id="{2CD3DFA9-3352-4118-899C-B4DE71C52C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73" y="1134"/>
                <a:ext cx="794" cy="25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21520" name="Text Box 12">
                <a:extLst>
                  <a:ext uri="{FF2B5EF4-FFF2-40B4-BE49-F238E27FC236}">
                    <a16:creationId xmlns:a16="http://schemas.microsoft.com/office/drawing/2014/main" id="{4D45A42D-F91C-4D39-AD34-C8204EC100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38" y="1191"/>
                <a:ext cx="864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1600" dirty="0" err="1">
                    <a:highlight>
                      <a:srgbClr val="00FFFF"/>
                    </a:highlight>
                    <a:latin typeface="Verdana" panose="020B0604030504040204" pitchFamily="34" charset="0"/>
                  </a:rPr>
                  <a:t>TFx</a:t>
                </a:r>
                <a:r>
                  <a:rPr kumimoji="0" lang="zh-CN" altLang="en-US" sz="1600" dirty="0">
                    <a:highlight>
                      <a:srgbClr val="00FFFF"/>
                    </a:highlight>
                    <a:latin typeface="Verdana" panose="020B0604030504040204" pitchFamily="34" charset="0"/>
                  </a:rPr>
                  <a:t>→</a:t>
                </a:r>
                <a:r>
                  <a:rPr kumimoji="0" lang="en-US" altLang="zh-CN" sz="1600" dirty="0">
                    <a:highlight>
                      <a:srgbClr val="00FFFF"/>
                    </a:highlight>
                    <a:latin typeface="Verdana" panose="020B0604030504040204" pitchFamily="34" charset="0"/>
                  </a:rPr>
                  <a:t>1</a:t>
                </a:r>
              </a:p>
            </p:txBody>
          </p:sp>
          <p:sp>
            <p:nvSpPr>
              <p:cNvPr id="21521" name="Line 13">
                <a:extLst>
                  <a:ext uri="{FF2B5EF4-FFF2-40B4-BE49-F238E27FC236}">
                    <a16:creationId xmlns:a16="http://schemas.microsoft.com/office/drawing/2014/main" id="{9B57C623-B821-434B-9F7C-C31F505358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42" y="1247"/>
                <a:ext cx="227" cy="1"/>
              </a:xfrm>
              <a:prstGeom prst="line">
                <a:avLst/>
              </a:prstGeom>
              <a:noFill/>
              <a:ln w="38100" cmpd="dbl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22" name="Line 14">
                <a:extLst>
                  <a:ext uri="{FF2B5EF4-FFF2-40B4-BE49-F238E27FC236}">
                    <a16:creationId xmlns:a16="http://schemas.microsoft.com/office/drawing/2014/main" id="{C00ECF2E-3BA0-499A-AA12-81E5253FB4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1" y="1247"/>
                <a:ext cx="227" cy="1"/>
              </a:xfrm>
              <a:prstGeom prst="line">
                <a:avLst/>
              </a:prstGeom>
              <a:noFill/>
              <a:ln w="38100" cmpd="dbl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23" name="Rectangle 15">
                <a:extLst>
                  <a:ext uri="{FF2B5EF4-FFF2-40B4-BE49-F238E27FC236}">
                    <a16:creationId xmlns:a16="http://schemas.microsoft.com/office/drawing/2014/main" id="{2B48E47D-0E10-437B-B0F7-C8EF338FF3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4" y="992"/>
                <a:ext cx="34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400">
                    <a:latin typeface="Verdana" panose="020B0604030504040204" pitchFamily="34" charset="0"/>
                  </a:rPr>
                  <a:t>溢出</a:t>
                </a:r>
              </a:p>
            </p:txBody>
          </p:sp>
          <p:sp>
            <p:nvSpPr>
              <p:cNvPr id="21524" name="Line 16">
                <a:extLst>
                  <a:ext uri="{FF2B5EF4-FFF2-40B4-BE49-F238E27FC236}">
                    <a16:creationId xmlns:a16="http://schemas.microsoft.com/office/drawing/2014/main" id="{C776DEAB-5C8B-4F23-9620-461A17F2C8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52" y="1247"/>
                <a:ext cx="227" cy="1"/>
              </a:xfrm>
              <a:prstGeom prst="line">
                <a:avLst/>
              </a:prstGeom>
              <a:noFill/>
              <a:ln w="38100" cmpd="dbl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25" name="Rectangle 17">
                <a:extLst>
                  <a:ext uri="{FF2B5EF4-FFF2-40B4-BE49-F238E27FC236}">
                    <a16:creationId xmlns:a16="http://schemas.microsoft.com/office/drawing/2014/main" id="{6B7CDD99-113E-4278-9AA2-B868D407E1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" y="1163"/>
                <a:ext cx="45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400" b="1" dirty="0">
                    <a:solidFill>
                      <a:srgbClr val="FF3300"/>
                    </a:solidFill>
                    <a:latin typeface="Verdana" panose="020B0604030504040204" pitchFamily="34" charset="0"/>
                  </a:rPr>
                  <a:t>定时器</a:t>
                </a:r>
              </a:p>
            </p:txBody>
          </p:sp>
          <p:sp>
            <p:nvSpPr>
              <p:cNvPr id="21526" name="Rectangle 54">
                <a:extLst>
                  <a:ext uri="{FF2B5EF4-FFF2-40B4-BE49-F238E27FC236}">
                    <a16:creationId xmlns:a16="http://schemas.microsoft.com/office/drawing/2014/main" id="{C12CD2D9-39C4-4780-B09C-5BD0EFEF93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5" y="940"/>
                <a:ext cx="897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400"/>
                  <a:t>(</a:t>
                </a:r>
                <a:r>
                  <a:rPr kumimoji="0" lang="zh-CN" altLang="en-US" sz="1400"/>
                  <a:t>中断请求标志</a:t>
                </a:r>
                <a:r>
                  <a:rPr kumimoji="0" lang="en-US" altLang="zh-CN" sz="1400"/>
                  <a:t>)</a:t>
                </a: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2C78574-F837-4078-A001-CCF043F927F4}" type="slidenum">
              <a:rPr lang="zh-CN" altLang="en-US" sz="1400"/>
              <a:t>8</a:t>
            </a:fld>
            <a:endParaRPr lang="en-US" altLang="zh-CN" sz="1400"/>
          </a:p>
        </p:txBody>
      </p:sp>
      <p:sp>
        <p:nvSpPr>
          <p:cNvPr id="59396" name="Text Box 4"/>
          <p:cNvSpPr txBox="1">
            <a:spLocks noChangeArrowheads="1"/>
          </p:cNvSpPr>
          <p:nvPr/>
        </p:nvSpPr>
        <p:spPr bwMode="auto">
          <a:xfrm>
            <a:off x="342106" y="859065"/>
            <a:ext cx="8459787" cy="513986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defRPr/>
            </a:pPr>
            <a:r>
              <a:rPr lang="zh-CN" altLang="en-US" b="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结构组成：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pPr algn="just" eaLnBrk="1" hangingPunct="1">
              <a:spcBef>
                <a:spcPct val="20000"/>
              </a:spcBef>
              <a:defRPr/>
            </a:pPr>
            <a:r>
              <a:rPr lang="zh-CN" altLang="en-US" sz="2400" b="0" dirty="0">
                <a:solidFill>
                  <a:srgbClr val="99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Webdings" panose="05030102010509060703" pitchFamily="18" charset="2"/>
              </a:rPr>
              <a:t>    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T/C0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由高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TH0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8CH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）和低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TL0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8AH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）组成 </a:t>
            </a:r>
          </a:p>
          <a:p>
            <a:pPr algn="just" eaLnBrk="1" hangingPunct="1">
              <a:spcBef>
                <a:spcPct val="20000"/>
              </a:spcBef>
              <a:defRPr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400" b="0" dirty="0">
                <a:solidFill>
                  <a:srgbClr val="99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Webdings" panose="05030102010509060703" pitchFamily="18" charset="2"/>
              </a:rPr>
              <a:t>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T/C1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由高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TH1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8DH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）和低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TL1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8BH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）组成</a:t>
            </a:r>
          </a:p>
          <a:p>
            <a:pPr>
              <a:spcBef>
                <a:spcPct val="20000"/>
              </a:spcBef>
              <a:defRPr/>
            </a:pPr>
            <a:r>
              <a:rPr lang="zh-CN" altLang="en-US" b="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软件设置：</a:t>
            </a:r>
          </a:p>
          <a:p>
            <a:pPr>
              <a:spcBef>
                <a:spcPct val="20000"/>
              </a:spcBef>
              <a:defRPr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400" b="0" dirty="0">
                <a:solidFill>
                  <a:srgbClr val="99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Webdings" panose="05030102010509060703" pitchFamily="18" charset="2"/>
              </a:rPr>
              <a:t>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计数初值： 对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TH1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TL1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TH0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、和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TL0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的初始化编程 </a:t>
            </a:r>
          </a:p>
          <a:p>
            <a:pPr>
              <a:spcBef>
                <a:spcPct val="20000"/>
              </a:spcBef>
              <a:defRPr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400" b="0" dirty="0">
                <a:solidFill>
                  <a:srgbClr val="99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Webdings" panose="05030102010509060703" pitchFamily="18" charset="2"/>
              </a:rPr>
              <a:t>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工作方式： 通过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TMOD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TCON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对每个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T/C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设置定时或计数</a:t>
            </a:r>
          </a:p>
          <a:p>
            <a:pPr>
              <a:spcBef>
                <a:spcPct val="20000"/>
              </a:spcBef>
              <a:defRPr/>
            </a:pPr>
            <a:r>
              <a:rPr lang="zh-CN" altLang="en-US" b="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特殊功能寄存器</a:t>
            </a:r>
            <a:r>
              <a:rPr lang="en-US" altLang="zh-CN" b="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TMOD(Timer Mode Register)</a:t>
            </a:r>
          </a:p>
          <a:p>
            <a:pPr>
              <a:spcBef>
                <a:spcPct val="20000"/>
              </a:spcBef>
              <a:defRPr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			TCON(Timer Control Register )</a:t>
            </a:r>
          </a:p>
          <a:p>
            <a:pPr lvl="2">
              <a:spcBef>
                <a:spcPct val="20000"/>
              </a:spcBef>
              <a:defRPr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			</a:t>
            </a:r>
            <a:r>
              <a:rPr lang="en-US" altLang="zh-CN" sz="24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THx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存放计数初值的高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</a:p>
          <a:p>
            <a:pPr>
              <a:spcBef>
                <a:spcPct val="20000"/>
              </a:spcBef>
              <a:defRPr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			</a:t>
            </a:r>
            <a:r>
              <a:rPr lang="en-US" altLang="zh-CN" sz="24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TLx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存放计数初值的低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6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5AF347-A83D-4ACF-B829-C6230AFBD0FD}" type="slidenum">
              <a:rPr lang="zh-CN" altLang="en-US" smtClean="0"/>
              <a:t>9</a:t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092" y="1268760"/>
            <a:ext cx="5595812" cy="16815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1655761" y="476672"/>
            <a:ext cx="5832475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3200" dirty="0">
                <a:solidFill>
                  <a:srgbClr val="99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6.1.2 </a:t>
            </a:r>
            <a:r>
              <a:rPr lang="zh-CN" altLang="en-US" sz="3200" dirty="0">
                <a:solidFill>
                  <a:srgbClr val="99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定时</a:t>
            </a:r>
            <a:r>
              <a:rPr lang="en-US" altLang="zh-CN" sz="3200" dirty="0">
                <a:solidFill>
                  <a:srgbClr val="99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3200" dirty="0">
                <a:solidFill>
                  <a:srgbClr val="99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计数器的工作原理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75554" y="3171378"/>
            <a:ext cx="799288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  逻辑开关闭合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（即控制信号有效）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后，脉冲信号将对加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计数器充值。当达到满计数值后产生溢出，使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TFx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置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，同时加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计数器清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如果脉冲信号是来自于单片机的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外部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信号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即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来自于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P3.4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P3.5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引脚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，可作为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计数器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使用；</a:t>
            </a:r>
          </a:p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如果脉冲信号来自单片机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内部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的时钟信号，可作为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定时器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使用。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0820D49-9B02-487B-AFD0-1EE33983FE91}" type="slidenum">
              <a:rPr lang="zh-CN" altLang="en-US" sz="1400"/>
              <a:t>10</a:t>
            </a:fld>
            <a:endParaRPr lang="en-US" altLang="zh-CN" sz="1400"/>
          </a:p>
        </p:txBody>
      </p:sp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827088" y="333375"/>
            <a:ext cx="5832475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3200" dirty="0">
                <a:solidFill>
                  <a:srgbClr val="99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6.1.2 </a:t>
            </a:r>
            <a:r>
              <a:rPr lang="zh-CN" altLang="en-US" sz="3200" dirty="0">
                <a:solidFill>
                  <a:srgbClr val="99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定时</a:t>
            </a:r>
            <a:r>
              <a:rPr lang="en-US" altLang="zh-CN" sz="3200" dirty="0">
                <a:solidFill>
                  <a:srgbClr val="99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3200" dirty="0">
                <a:solidFill>
                  <a:srgbClr val="99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计数器的工作原理 </a:t>
            </a: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323850" y="908050"/>
            <a:ext cx="8305800" cy="24415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spcBef>
                <a:spcPct val="50000"/>
              </a:spcBef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   当设置为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定时工作方式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时，</a:t>
            </a:r>
            <a:r>
              <a:rPr lang="zh-CN" altLang="en-US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计数器对内部机器周期计数，每过一个机器周期，</a:t>
            </a:r>
            <a:r>
              <a:rPr lang="zh-CN" altLang="en-US" u="sng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计数器增1</a:t>
            </a:r>
            <a:r>
              <a:rPr lang="zh-CN" altLang="en-US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，直至计数器满溢出。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定时器的定时时间与系统的振荡频率紧密相关，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MCS-51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单片机的一个机器周期由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个振荡脉冲组成，所以计数频率</a:t>
            </a:r>
            <a:r>
              <a:rPr lang="zh-CN" alt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baseline="-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GB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1/12)</a:t>
            </a:r>
            <a:r>
              <a:rPr lang="zh-CN" alt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baseline="-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osc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。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33796" name="Text Box 4"/>
          <p:cNvSpPr txBox="1">
            <a:spLocks noChangeArrowheads="1"/>
          </p:cNvSpPr>
          <p:nvPr/>
        </p:nvSpPr>
        <p:spPr bwMode="auto">
          <a:xfrm>
            <a:off x="323850" y="3505200"/>
            <a:ext cx="8305800" cy="24415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spcBef>
                <a:spcPct val="50000"/>
              </a:spcBef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   当设置为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计数工作方式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时，</a:t>
            </a:r>
            <a:r>
              <a:rPr lang="zh-CN" altLang="en-US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计数器对来自输入引脚</a:t>
            </a:r>
            <a:r>
              <a:rPr lang="en-US" altLang="zh-CN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T0(P3.4)</a:t>
            </a:r>
            <a:r>
              <a:rPr lang="zh-CN" altLang="en-US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T1(P3.5)</a:t>
            </a:r>
            <a:r>
              <a:rPr lang="zh-CN" altLang="en-US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的外部信号计数，外部脉冲的下降沿将触发计数。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在每个机器周期的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S5P2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期间采样引脚输入电平，若前一个机器周期采样值为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，后一个机器周期采样值为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，则计数器加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。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animBg="1" autoUpdateAnimBg="0"/>
      <p:bldP spid="33796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AD004E0-C8D8-4E50-888B-020A4195CC79}" type="slidenum">
              <a:rPr lang="zh-CN" altLang="en-US" sz="1400"/>
              <a:t>11</a:t>
            </a:fld>
            <a:endParaRPr lang="en-US" altLang="zh-CN" sz="1400"/>
          </a:p>
        </p:txBody>
      </p:sp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68538" y="908050"/>
            <a:ext cx="4913312" cy="768350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说  明</a:t>
            </a:r>
          </a:p>
        </p:txBody>
      </p:sp>
      <p:sp>
        <p:nvSpPr>
          <p:cNvPr id="60421" name="Text Box 5"/>
          <p:cNvSpPr txBox="1">
            <a:spLocks noChangeArrowheads="1"/>
          </p:cNvSpPr>
          <p:nvPr/>
        </p:nvSpPr>
        <p:spPr bwMode="auto">
          <a:xfrm>
            <a:off x="755650" y="1916113"/>
            <a:ext cx="7777163" cy="38957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20000"/>
              </a:lnSpc>
              <a:spcBef>
                <a:spcPct val="50000"/>
              </a:spcBef>
              <a:defRPr/>
            </a:pP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  无论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T0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或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T1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是工作于计数方式还是定时方式，它们在对内部时钟脉冲或外部脉冲进行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计数时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，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都不占用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CPU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的时间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，直到定时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/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计数器产生溢出为止。当发生溢出后，通知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CPU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暂停当前工作，去处理“时间到”或“计数满”这样的事件。</a:t>
            </a:r>
          </a:p>
          <a:p>
            <a:pPr algn="just" eaLnBrk="1" hangingPunct="1">
              <a:lnSpc>
                <a:spcPct val="120000"/>
              </a:lnSpc>
              <a:spcBef>
                <a:spcPct val="50000"/>
              </a:spcBef>
              <a:defRPr/>
            </a:pP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  因此，定时器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/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计数器的工作并不影响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CPU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其它的工作。</a:t>
            </a:r>
          </a:p>
        </p:txBody>
      </p:sp>
      <p:sp>
        <p:nvSpPr>
          <p:cNvPr id="17413" name="矩形 4"/>
          <p:cNvSpPr>
            <a:spLocks noChangeArrowheads="1"/>
          </p:cNvSpPr>
          <p:nvPr/>
        </p:nvSpPr>
        <p:spPr bwMode="auto">
          <a:xfrm>
            <a:off x="6659563" y="138113"/>
            <a:ext cx="2484437" cy="215900"/>
          </a:xfrm>
          <a:prstGeom prst="rect">
            <a:avLst/>
          </a:prstGeom>
          <a:solidFill>
            <a:srgbClr val="FFCF3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100"/>
              <a:t>单片机原理及应用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f5909522-5792-455e-ba9f-dc24f3750c2e"/>
  <p:tag name="COMMONDATA" val="eyJoZGlkIjoiZDlhNzhkNzI3NzgzMjVmNTVjOTdmNzdiNmViZTJjM2MifQ=="/>
</p:tagLst>
</file>

<file path=ppt/theme/theme1.xml><?xml version="1.0" encoding="utf-8"?>
<a:theme xmlns:a="http://schemas.openxmlformats.org/drawingml/2006/main" name="1_Blends">
  <a:themeElements>
    <a:clrScheme name="1_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zh-CN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zh-CN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41</TotalTime>
  <Words>863</Words>
  <Application>Microsoft Office PowerPoint</Application>
  <PresentationFormat>全屏显示(4:3)</PresentationFormat>
  <Paragraphs>88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5" baseType="lpstr">
      <vt:lpstr>等线</vt:lpstr>
      <vt:lpstr>黑体</vt:lpstr>
      <vt:lpstr>华文行楷</vt:lpstr>
      <vt:lpstr>楷体</vt:lpstr>
      <vt:lpstr>楷体_GB2312</vt:lpstr>
      <vt:lpstr>宋体</vt:lpstr>
      <vt:lpstr>微软雅黑</vt:lpstr>
      <vt:lpstr>Arial</vt:lpstr>
      <vt:lpstr>Tahoma</vt:lpstr>
      <vt:lpstr>Times New Roman</vt:lpstr>
      <vt:lpstr>Verdana</vt:lpstr>
      <vt:lpstr>Webdings</vt:lpstr>
      <vt:lpstr>Wingdings</vt:lpstr>
      <vt:lpstr>1_Blends</vt:lpstr>
      <vt:lpstr>第6章 单片机的定时/计数器</vt:lpstr>
      <vt:lpstr>PowerPoint 演示文稿</vt:lpstr>
      <vt:lpstr>PowerPoint 演示文稿</vt:lpstr>
      <vt:lpstr>定时/计数器的基本概念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说  明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island</dc:creator>
  <cp:lastModifiedBy>admin</cp:lastModifiedBy>
  <cp:revision>207</cp:revision>
  <cp:lastPrinted>2411-12-30T00:00:00Z</cp:lastPrinted>
  <dcterms:created xsi:type="dcterms:W3CDTF">2010-01-21T07:14:00Z</dcterms:created>
  <dcterms:modified xsi:type="dcterms:W3CDTF">2025-03-29T12:30:24Z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2052-11.1.0.12358</vt:lpwstr>
  </property>
  <property fmtid="{D5CDD505-2E9C-101B-9397-08002B2CF9AE}" pid="3" name="ICV">
    <vt:lpwstr>8A82544B6A89437CA439266A66072ABE</vt:lpwstr>
  </property>
</Properties>
</file>