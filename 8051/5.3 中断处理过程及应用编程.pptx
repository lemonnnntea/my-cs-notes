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440" r:id="rId2"/>
    <p:sldId id="494" r:id="rId3"/>
    <p:sldId id="455" r:id="rId4"/>
    <p:sldId id="456" r:id="rId5"/>
    <p:sldId id="488" r:id="rId6"/>
    <p:sldId id="451" r:id="rId7"/>
    <p:sldId id="493" r:id="rId8"/>
    <p:sldId id="443" r:id="rId9"/>
    <p:sldId id="454" r:id="rId10"/>
    <p:sldId id="445" r:id="rId11"/>
    <p:sldId id="447" r:id="rId12"/>
    <p:sldId id="391" r:id="rId13"/>
    <p:sldId id="461" r:id="rId14"/>
    <p:sldId id="459" r:id="rId15"/>
    <p:sldId id="462" r:id="rId16"/>
    <p:sldId id="392" r:id="rId17"/>
    <p:sldId id="393" r:id="rId18"/>
    <p:sldId id="469" r:id="rId19"/>
    <p:sldId id="470" r:id="rId20"/>
    <p:sldId id="474" r:id="rId21"/>
    <p:sldId id="475" r:id="rId22"/>
    <p:sldId id="395" r:id="rId23"/>
    <p:sldId id="489" r:id="rId24"/>
    <p:sldId id="490" r:id="rId25"/>
    <p:sldId id="491" r:id="rId26"/>
    <p:sldId id="492" r:id="rId27"/>
    <p:sldId id="495" r:id="rId28"/>
    <p:sldId id="496" r:id="rId29"/>
    <p:sldId id="497" r:id="rId30"/>
    <p:sldId id="423" r:id="rId31"/>
  </p:sldIdLst>
  <p:sldSz cx="9144000" cy="6858000" type="screen4x3"/>
  <p:notesSz cx="6858000" cy="9144000"/>
  <p:custDataLst>
    <p:tags r:id="rId34"/>
  </p:custDataLst>
  <p:defaultTextStyle>
    <a:defPPr>
      <a:defRPr lang="zh-CN"/>
    </a:defPPr>
    <a:lvl1pPr algn="ctr" rtl="0" fontAlgn="base">
      <a:spcBef>
        <a:spcPct val="50000"/>
      </a:spcBef>
      <a:spcAft>
        <a:spcPct val="0"/>
      </a:spcAft>
      <a:defRPr kumimoji="1" sz="2800" b="1" kern="1200">
        <a:solidFill>
          <a:schemeClr val="tx1"/>
        </a:solidFill>
        <a:latin typeface="Comic Sans MS" panose="030F0702030302020204" pitchFamily="66" charset="0"/>
        <a:ea typeface="楷体_GB2312" pitchFamily="49" charset="-122"/>
        <a:cs typeface="+mn-cs"/>
      </a:defRPr>
    </a:lvl1pPr>
    <a:lvl2pPr marL="457200" algn="ctr" rtl="0" fontAlgn="base">
      <a:spcBef>
        <a:spcPct val="50000"/>
      </a:spcBef>
      <a:spcAft>
        <a:spcPct val="0"/>
      </a:spcAft>
      <a:defRPr kumimoji="1" sz="2800" b="1" kern="1200">
        <a:solidFill>
          <a:schemeClr val="tx1"/>
        </a:solidFill>
        <a:latin typeface="Comic Sans MS" panose="030F0702030302020204" pitchFamily="66" charset="0"/>
        <a:ea typeface="楷体_GB2312" pitchFamily="49" charset="-122"/>
        <a:cs typeface="+mn-cs"/>
      </a:defRPr>
    </a:lvl2pPr>
    <a:lvl3pPr marL="914400" algn="ctr" rtl="0" fontAlgn="base">
      <a:spcBef>
        <a:spcPct val="50000"/>
      </a:spcBef>
      <a:spcAft>
        <a:spcPct val="0"/>
      </a:spcAft>
      <a:defRPr kumimoji="1" sz="2800" b="1" kern="1200">
        <a:solidFill>
          <a:schemeClr val="tx1"/>
        </a:solidFill>
        <a:latin typeface="Comic Sans MS" panose="030F0702030302020204" pitchFamily="66" charset="0"/>
        <a:ea typeface="楷体_GB2312" pitchFamily="49" charset="-122"/>
        <a:cs typeface="+mn-cs"/>
      </a:defRPr>
    </a:lvl3pPr>
    <a:lvl4pPr marL="1371600" algn="ctr" rtl="0" fontAlgn="base">
      <a:spcBef>
        <a:spcPct val="50000"/>
      </a:spcBef>
      <a:spcAft>
        <a:spcPct val="0"/>
      </a:spcAft>
      <a:defRPr kumimoji="1" sz="2800" b="1" kern="1200">
        <a:solidFill>
          <a:schemeClr val="tx1"/>
        </a:solidFill>
        <a:latin typeface="Comic Sans MS" panose="030F0702030302020204" pitchFamily="66" charset="0"/>
        <a:ea typeface="楷体_GB2312" pitchFamily="49" charset="-122"/>
        <a:cs typeface="+mn-cs"/>
      </a:defRPr>
    </a:lvl4pPr>
    <a:lvl5pPr marL="1828800" algn="ctr" rtl="0" fontAlgn="base">
      <a:spcBef>
        <a:spcPct val="50000"/>
      </a:spcBef>
      <a:spcAft>
        <a:spcPct val="0"/>
      </a:spcAft>
      <a:defRPr kumimoji="1" sz="2800" b="1" kern="1200">
        <a:solidFill>
          <a:schemeClr val="tx1"/>
        </a:solidFill>
        <a:latin typeface="Comic Sans MS" panose="030F0702030302020204" pitchFamily="66" charset="0"/>
        <a:ea typeface="楷体_GB2312" pitchFamily="49" charset="-122"/>
        <a:cs typeface="+mn-cs"/>
      </a:defRPr>
    </a:lvl5pPr>
    <a:lvl6pPr marL="2286000" algn="l" defTabSz="914400" rtl="0" eaLnBrk="1" latinLnBrk="0" hangingPunct="1">
      <a:defRPr kumimoji="1" sz="2800" b="1" kern="1200">
        <a:solidFill>
          <a:schemeClr val="tx1"/>
        </a:solidFill>
        <a:latin typeface="Comic Sans MS" panose="030F0702030302020204" pitchFamily="66" charset="0"/>
        <a:ea typeface="楷体_GB2312" pitchFamily="49" charset="-122"/>
        <a:cs typeface="+mn-cs"/>
      </a:defRPr>
    </a:lvl6pPr>
    <a:lvl7pPr marL="2743200" algn="l" defTabSz="914400" rtl="0" eaLnBrk="1" latinLnBrk="0" hangingPunct="1">
      <a:defRPr kumimoji="1" sz="2800" b="1" kern="1200">
        <a:solidFill>
          <a:schemeClr val="tx1"/>
        </a:solidFill>
        <a:latin typeface="Comic Sans MS" panose="030F0702030302020204" pitchFamily="66" charset="0"/>
        <a:ea typeface="楷体_GB2312" pitchFamily="49" charset="-122"/>
        <a:cs typeface="+mn-cs"/>
      </a:defRPr>
    </a:lvl7pPr>
    <a:lvl8pPr marL="3200400" algn="l" defTabSz="914400" rtl="0" eaLnBrk="1" latinLnBrk="0" hangingPunct="1">
      <a:defRPr kumimoji="1" sz="2800" b="1" kern="1200">
        <a:solidFill>
          <a:schemeClr val="tx1"/>
        </a:solidFill>
        <a:latin typeface="Comic Sans MS" panose="030F0702030302020204" pitchFamily="66" charset="0"/>
        <a:ea typeface="楷体_GB2312" pitchFamily="49" charset="-122"/>
        <a:cs typeface="+mn-cs"/>
      </a:defRPr>
    </a:lvl8pPr>
    <a:lvl9pPr marL="3657600" algn="l" defTabSz="914400" rtl="0" eaLnBrk="1" latinLnBrk="0" hangingPunct="1">
      <a:defRPr kumimoji="1" sz="2800" b="1" kern="1200">
        <a:solidFill>
          <a:schemeClr val="tx1"/>
        </a:solidFill>
        <a:latin typeface="Comic Sans MS" panose="030F0702030302020204" pitchFamily="66"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FF"/>
    <a:srgbClr val="6600CC"/>
    <a:srgbClr val="FFFF00"/>
    <a:srgbClr val="99FFCC"/>
    <a:srgbClr val="99CCFF"/>
    <a:srgbClr val="CC339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89" autoAdjust="0"/>
  </p:normalViewPr>
  <p:slideViewPr>
    <p:cSldViewPr>
      <p:cViewPr varScale="1">
        <p:scale>
          <a:sx n="61" d="100"/>
          <a:sy n="61" d="100"/>
        </p:scale>
        <p:origin x="1440"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8118"/>
    </p:cViewPr>
  </p:sorterViewPr>
  <p:notesViewPr>
    <p:cSldViewPr>
      <p:cViewPr varScale="1">
        <p:scale>
          <a:sx n="54" d="100"/>
          <a:sy n="54" d="100"/>
        </p:scale>
        <p:origin x="-190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26726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26726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26726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defRPr kumimoji="0" sz="1200" b="0">
                <a:latin typeface="Arial" panose="020B0604020202020204" pitchFamily="34" charset="0"/>
                <a:ea typeface="宋体" panose="02010600030101010101" pitchFamily="2" charset="-122"/>
              </a:defRPr>
            </a:lvl1pPr>
          </a:lstStyle>
          <a:p>
            <a:fld id="{4B1ADD87-FBF4-4E99-883C-C25CF081CD15}"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911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727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11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911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defRPr kumimoji="0" sz="1200" b="0">
                <a:latin typeface="Arial" panose="020B0604020202020204" pitchFamily="34" charset="0"/>
                <a:ea typeface="宋体" panose="02010600030101010101" pitchFamily="2" charset="-122"/>
              </a:defRPr>
            </a:lvl1pPr>
          </a:lstStyle>
          <a:p>
            <a:fld id="{C2F52FD6-3290-4D5F-9615-7B7654772C7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F52FD6-3290-4D5F-9615-7B7654772C7F}" type="slidenum">
              <a:rPr lang="en-US" altLang="zh-CN" smtClean="0"/>
              <a:t>8</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F52FD6-3290-4D5F-9615-7B7654772C7F}" type="slidenum">
              <a:rPr lang="en-US" altLang="zh-CN" smtClean="0"/>
              <a:t>10</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p:spPr>
        <p:txBody>
          <a:bodyPr/>
          <a:lstStyle/>
          <a:p>
            <a:endParaRPr lang="zh-CN" altLang="en-US"/>
          </a:p>
        </p:txBody>
      </p:sp>
      <p:sp>
        <p:nvSpPr>
          <p:cNvPr id="86020" name="灯片编号占位符 3"/>
          <p:cNvSpPr>
            <a:spLocks noGrp="1"/>
          </p:cNvSpPr>
          <p:nvPr>
            <p:ph type="sldNum" sz="quarter" idx="5"/>
          </p:nvPr>
        </p:nvSpPr>
        <p:spPr>
          <a:noFill/>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8851A3C5-8FAF-4ACE-9AFD-C4A022BCE654}" type="slidenum">
              <a:rPr lang="en-US" altLang="zh-CN"/>
              <a:t>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1700213"/>
            <a:ext cx="9009063" cy="1052512"/>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endParaRPr lang="zh-CN" altLang="en-US"/>
            </a:p>
          </p:txBody>
        </p:sp>
      </p:grpSp>
      <p:sp>
        <p:nvSpPr>
          <p:cNvPr id="5132" name="Rectangle 12"/>
          <p:cNvSpPr>
            <a:spLocks noGrp="1" noChangeArrowheads="1"/>
          </p:cNvSpPr>
          <p:nvPr>
            <p:ph type="ctrTitle"/>
          </p:nvPr>
        </p:nvSpPr>
        <p:spPr>
          <a:xfrm>
            <a:off x="971550" y="836613"/>
            <a:ext cx="7772400" cy="1462087"/>
          </a:xfrm>
        </p:spPr>
        <p:txBody>
          <a:bodyPr/>
          <a:lstStyle>
            <a:lvl1pPr>
              <a:defRPr/>
            </a:lvl1pPr>
          </a:lstStyle>
          <a:p>
            <a:pPr lvl="0"/>
            <a:r>
              <a:rPr lang="zh-CN" altLang="en-US" noProof="0"/>
              <a:t>单击此处编辑母版标题样式</a:t>
            </a:r>
          </a:p>
        </p:txBody>
      </p:sp>
      <p:sp>
        <p:nvSpPr>
          <p:cNvPr id="513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83C0D26C-0193-4617-918E-A425A6D7712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FA02F357-31D5-41F1-A44E-9EC0701F3CDE}"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A027A825-5EF9-4AA9-8350-63713800B77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A0857621-47FC-4BD1-BB56-48E923FC34BD}"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fld id="{08EEF5D1-E229-4D8A-B1B8-8A5580342CDA}"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fld id="{250FA711-5A77-45AA-A8AA-1032F3C5CFC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fld id="{29E83C81-4FCA-4059-A92E-2ABBBD1F575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4DE48686-DD99-4EE9-A18F-70AF35594250}"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52D2556C-CF85-4369-ABD3-137017532085}"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EEE557F8-9439-4554-AE88-3D2FEB3556F0}"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DF677AE8-7DFB-46EB-9A99-5CECE12787B8}"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EE7CE4DA-F28D-4D2F-8784-F8B8387AAA23}"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254000" y="441325"/>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27" name="Rectangle 3"/>
          <p:cNvSpPr>
            <a:spLocks noChangeArrowheads="1"/>
          </p:cNvSpPr>
          <p:nvPr/>
        </p:nvSpPr>
        <p:spPr bwMode="ltGray">
          <a:xfrm>
            <a:off x="636588" y="441325"/>
            <a:ext cx="328612"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28" name="Rectangle 4"/>
          <p:cNvSpPr>
            <a:spLocks noChangeArrowheads="1"/>
          </p:cNvSpPr>
          <p:nvPr/>
        </p:nvSpPr>
        <p:spPr bwMode="ltGray">
          <a:xfrm>
            <a:off x="377825" y="863600"/>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29" name="Rectangle 5"/>
          <p:cNvSpPr>
            <a:spLocks noChangeArrowheads="1"/>
          </p:cNvSpPr>
          <p:nvPr/>
        </p:nvSpPr>
        <p:spPr bwMode="ltGray">
          <a:xfrm>
            <a:off x="747713" y="863600"/>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30" name="Rectangle 6"/>
          <p:cNvSpPr>
            <a:spLocks noChangeArrowheads="1"/>
          </p:cNvSpPr>
          <p:nvPr/>
        </p:nvSpPr>
        <p:spPr bwMode="ltGray">
          <a:xfrm>
            <a:off x="25400" y="790575"/>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31" name="Rectangle 7"/>
          <p:cNvSpPr>
            <a:spLocks noChangeArrowheads="1"/>
          </p:cNvSpPr>
          <p:nvPr/>
        </p:nvSpPr>
        <p:spPr bwMode="gray">
          <a:xfrm>
            <a:off x="598488" y="333375"/>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32" name="Rectangle 8"/>
          <p:cNvSpPr>
            <a:spLocks noChangeArrowheads="1"/>
          </p:cNvSpPr>
          <p:nvPr/>
        </p:nvSpPr>
        <p:spPr bwMode="gray">
          <a:xfrm>
            <a:off x="279400" y="112395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defRPr kumimoji="0" sz="1400" b="0">
                <a:latin typeface="+mn-lt"/>
                <a:ea typeface="+mn-ea"/>
              </a:defRPr>
            </a:lvl1pPr>
          </a:lstStyle>
          <a:p>
            <a:pPr>
              <a:defRPr/>
            </a:pPr>
            <a:endParaRPr lang="en-US" altLang="zh-CN"/>
          </a:p>
        </p:txBody>
      </p:sp>
      <p:sp>
        <p:nvSpPr>
          <p:cNvPr id="4108"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defRPr kumimoji="0" sz="1400" b="0">
                <a:latin typeface="+mn-lt"/>
                <a:ea typeface="+mn-ea"/>
              </a:defRPr>
            </a:lvl1pPr>
          </a:lstStyle>
          <a:p>
            <a:pPr>
              <a:defRPr/>
            </a:pPr>
            <a:endParaRPr lang="en-US" altLang="zh-CN"/>
          </a:p>
        </p:txBody>
      </p:sp>
      <p:sp>
        <p:nvSpPr>
          <p:cNvPr id="410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defRPr kumimoji="0" sz="1400" b="0">
                <a:latin typeface="Tahoma" panose="020B0604030504040204" pitchFamily="34" charset="0"/>
                <a:ea typeface="宋体" panose="02010600030101010101" pitchFamily="2" charset="-122"/>
              </a:defRPr>
            </a:lvl1pPr>
          </a:lstStyle>
          <a:p>
            <a:fld id="{B38FE2FB-F69B-4339-9D1B-62959FDB658D}" type="slidenum">
              <a:rPr lang="en-US" altLang="zh-CN"/>
              <a:t>‹#›</a:t>
            </a:fld>
            <a:endParaRPr lang="en-US" altLang="zh-CN"/>
          </a:p>
        </p:txBody>
      </p:sp>
      <p:sp>
        <p:nvSpPr>
          <p:cNvPr id="1038" name="Rectangle 14"/>
          <p:cNvSpPr>
            <a:spLocks noChangeArrowheads="1"/>
          </p:cNvSpPr>
          <p:nvPr userDrawn="1"/>
        </p:nvSpPr>
        <p:spPr bwMode="gray">
          <a:xfrm rot="5400000">
            <a:off x="-1870868" y="3823494"/>
            <a:ext cx="5033962" cy="698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endParaRPr lang="zh-CN" altLang="zh-CN" sz="2400" b="0">
              <a:latin typeface="Tahom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403648" y="370681"/>
            <a:ext cx="6553200" cy="850900"/>
          </a:xfrm>
        </p:spPr>
        <p:txBody>
          <a:bodyPr anchor="ctr"/>
          <a:lstStyle/>
          <a:p>
            <a:pPr algn="ctr" eaLnBrk="1" hangingPunct="1">
              <a:defRPr/>
            </a:pPr>
            <a:r>
              <a:rPr lang="en-US" altLang="zh-CN" sz="40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5.3 </a:t>
            </a:r>
            <a:r>
              <a:rPr lang="zh-CN" altLang="en-US" sz="40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中断处理过程</a:t>
            </a:r>
          </a:p>
        </p:txBody>
      </p:sp>
      <p:sp>
        <p:nvSpPr>
          <p:cNvPr id="2" name="文本框 1"/>
          <p:cNvSpPr txBox="1"/>
          <p:nvPr/>
        </p:nvSpPr>
        <p:spPr>
          <a:xfrm>
            <a:off x="1908176" y="1556792"/>
            <a:ext cx="6048672" cy="4358437"/>
          </a:xfrm>
          <a:prstGeom prst="rect">
            <a:avLst/>
          </a:prstGeom>
          <a:noFill/>
        </p:spPr>
        <p:txBody>
          <a:bodyPr wrap="square" rtlCol="0">
            <a:spAutoFit/>
          </a:bodyPr>
          <a:lstStyle/>
          <a:p>
            <a:pPr marL="457200" indent="-457200" algn="l">
              <a:lnSpc>
                <a:spcPct val="120000"/>
              </a:lnSpc>
              <a:spcBef>
                <a:spcPts val="600"/>
              </a:spcBef>
              <a:buClr>
                <a:srgbClr val="C00000"/>
              </a:buClr>
              <a:buFont typeface="Wingdings" panose="05000000000000000000" pitchFamily="2" charset="2"/>
              <a:buChar char="p"/>
            </a:pP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中断处理过程</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响应中断的条件</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中断响应受阻的原因</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响应中断后系统执行的操作</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中断撤销</a:t>
            </a:r>
            <a:endParaRPr lang="en-US" altLang="zh-CN"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algn="l">
              <a:lnSpc>
                <a:spcPct val="120000"/>
              </a:lnSpc>
              <a:spcBef>
                <a:spcPts val="600"/>
              </a:spcBef>
              <a:buClr>
                <a:srgbClr val="C00000"/>
              </a:buClr>
              <a:buFont typeface="Wingdings" panose="05000000000000000000" pitchFamily="2" charset="2"/>
              <a:buChar char="p"/>
            </a:pPr>
            <a:r>
              <a:rPr lang="zh-CN" altLang="en-US" sz="3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中断函数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767681" y="450645"/>
            <a:ext cx="7848600" cy="1284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50000"/>
              </a:lnSpc>
              <a:defRPr/>
            </a:pP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中断处理包括：中断请求、中断判优、中断响应、中断服务和中断返回等环节。</a:t>
            </a:r>
          </a:p>
        </p:txBody>
      </p:sp>
      <p:pic>
        <p:nvPicPr>
          <p:cNvPr id="5" name="Picture 4" descr="5-01"/>
          <p:cNvPicPr>
            <a:picLocks noChangeAspect="1" noChangeArrowheads="1"/>
          </p:cNvPicPr>
          <p:nvPr/>
        </p:nvPicPr>
        <p:blipFill>
          <a:blip r:embed="rId2">
            <a:extLst>
              <a:ext uri="{28A0092B-C50C-407E-A947-70E740481C1C}">
                <a14:useLocalDpi xmlns:a14="http://schemas.microsoft.com/office/drawing/2010/main" val="0"/>
              </a:ext>
            </a:extLst>
          </a:blip>
          <a:srcRect r="9976"/>
          <a:stretch>
            <a:fillRect/>
          </a:stretch>
        </p:blipFill>
        <p:spPr bwMode="auto">
          <a:xfrm>
            <a:off x="2483768" y="1916832"/>
            <a:ext cx="3567113"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bwMode="auto">
          <a:xfrm>
            <a:off x="3853781" y="2909020"/>
            <a:ext cx="1066800" cy="1082675"/>
            <a:chOff x="4128" y="2198"/>
            <a:chExt cx="672" cy="682"/>
          </a:xfrm>
        </p:grpSpPr>
        <p:sp>
          <p:nvSpPr>
            <p:cNvPr id="7" name="Text Box 6"/>
            <p:cNvSpPr txBox="1">
              <a:spLocks noChangeArrowheads="1"/>
            </p:cNvSpPr>
            <p:nvPr/>
          </p:nvSpPr>
          <p:spPr bwMode="auto">
            <a:xfrm>
              <a:off x="4128" y="263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中</a:t>
              </a:r>
            </a:p>
          </p:txBody>
        </p:sp>
        <p:sp>
          <p:nvSpPr>
            <p:cNvPr id="8" name="Text Box 7"/>
            <p:cNvSpPr txBox="1">
              <a:spLocks noChangeArrowheads="1"/>
            </p:cNvSpPr>
            <p:nvPr/>
          </p:nvSpPr>
          <p:spPr bwMode="auto">
            <a:xfrm>
              <a:off x="4272" y="248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断</a:t>
              </a:r>
            </a:p>
          </p:txBody>
        </p:sp>
        <p:sp>
          <p:nvSpPr>
            <p:cNvPr id="9" name="Text Box 8"/>
            <p:cNvSpPr txBox="1">
              <a:spLocks noChangeArrowheads="1"/>
            </p:cNvSpPr>
            <p:nvPr/>
          </p:nvSpPr>
          <p:spPr bwMode="auto">
            <a:xfrm>
              <a:off x="4368" y="234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响</a:t>
              </a:r>
            </a:p>
          </p:txBody>
        </p:sp>
        <p:sp>
          <p:nvSpPr>
            <p:cNvPr id="10" name="Text Box 9"/>
            <p:cNvSpPr txBox="1">
              <a:spLocks noChangeArrowheads="1"/>
            </p:cNvSpPr>
            <p:nvPr/>
          </p:nvSpPr>
          <p:spPr bwMode="auto">
            <a:xfrm>
              <a:off x="4512" y="219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应</a:t>
              </a:r>
            </a:p>
          </p:txBody>
        </p:sp>
      </p:grpSp>
      <p:grpSp>
        <p:nvGrpSpPr>
          <p:cNvPr id="11" name="Group 10"/>
          <p:cNvGrpSpPr/>
          <p:nvPr/>
        </p:nvGrpSpPr>
        <p:grpSpPr bwMode="auto">
          <a:xfrm>
            <a:off x="3853781" y="3991695"/>
            <a:ext cx="1143000" cy="1066800"/>
            <a:chOff x="4128" y="2880"/>
            <a:chExt cx="720" cy="672"/>
          </a:xfrm>
        </p:grpSpPr>
        <p:sp>
          <p:nvSpPr>
            <p:cNvPr id="12" name="Text Box 11"/>
            <p:cNvSpPr txBox="1">
              <a:spLocks noChangeArrowheads="1"/>
            </p:cNvSpPr>
            <p:nvPr/>
          </p:nvSpPr>
          <p:spPr bwMode="auto">
            <a:xfrm>
              <a:off x="4128" y="288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中</a:t>
              </a:r>
            </a:p>
          </p:txBody>
        </p:sp>
        <p:sp>
          <p:nvSpPr>
            <p:cNvPr id="13" name="Text Box 12"/>
            <p:cNvSpPr txBox="1">
              <a:spLocks noChangeArrowheads="1"/>
            </p:cNvSpPr>
            <p:nvPr/>
          </p:nvSpPr>
          <p:spPr bwMode="auto">
            <a:xfrm>
              <a:off x="4272" y="301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断</a:t>
              </a:r>
            </a:p>
          </p:txBody>
        </p:sp>
        <p:sp>
          <p:nvSpPr>
            <p:cNvPr id="14" name="Text Box 13"/>
            <p:cNvSpPr txBox="1">
              <a:spLocks noChangeArrowheads="1"/>
            </p:cNvSpPr>
            <p:nvPr/>
          </p:nvSpPr>
          <p:spPr bwMode="auto">
            <a:xfrm>
              <a:off x="4416" y="316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返</a:t>
              </a:r>
            </a:p>
          </p:txBody>
        </p:sp>
        <p:sp>
          <p:nvSpPr>
            <p:cNvPr id="15" name="Text Box 14"/>
            <p:cNvSpPr txBox="1">
              <a:spLocks noChangeArrowheads="1"/>
            </p:cNvSpPr>
            <p:nvPr/>
          </p:nvSpPr>
          <p:spPr bwMode="auto">
            <a:xfrm>
              <a:off x="4560" y="330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dirty="0">
                  <a:effectLst>
                    <a:outerShdw blurRad="38100" dist="38100" dir="2700000" algn="tl">
                      <a:srgbClr val="000000">
                        <a:alpha val="43137"/>
                      </a:srgbClr>
                    </a:outerShdw>
                  </a:effectLst>
                  <a:latin typeface="Times New Roman" panose="02020603050405020304" pitchFamily="18" charset="0"/>
                </a:rPr>
                <a:t>回</a:t>
              </a:r>
            </a:p>
          </p:txBody>
        </p:sp>
      </p:grpSp>
      <p:sp>
        <p:nvSpPr>
          <p:cNvPr id="16" name="矩形: 圆角 15"/>
          <p:cNvSpPr/>
          <p:nvPr/>
        </p:nvSpPr>
        <p:spPr bwMode="auto">
          <a:xfrm>
            <a:off x="2483768" y="3534495"/>
            <a:ext cx="1522413" cy="396875"/>
          </a:xfrm>
          <a:prstGeom prst="roundRect">
            <a:avLst/>
          </a:prstGeom>
          <a:noFill/>
          <a:ln w="28575" cap="sq"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800" b="1" i="0" u="none" strike="noStrike" cap="none" normalizeH="0" baseline="0">
              <a:ln>
                <a:noFill/>
              </a:ln>
              <a:solidFill>
                <a:schemeClr val="tx1"/>
              </a:solidFill>
              <a:effectLst/>
              <a:latin typeface="Comic Sans MS" panose="030F0702030302020204" pitchFamily="66" charset="0"/>
              <a:ea typeface="楷体_GB2312" pitchFamily="49" charset="-122"/>
            </a:endParaRPr>
          </a:p>
        </p:txBody>
      </p:sp>
      <p:sp>
        <p:nvSpPr>
          <p:cNvPr id="17" name="矩形: 圆角 16"/>
          <p:cNvSpPr/>
          <p:nvPr/>
        </p:nvSpPr>
        <p:spPr bwMode="auto">
          <a:xfrm>
            <a:off x="5518275" y="2710582"/>
            <a:ext cx="381000" cy="1951038"/>
          </a:xfrm>
          <a:prstGeom prst="roundRect">
            <a:avLst/>
          </a:prstGeom>
          <a:noFill/>
          <a:ln w="28575" cap="sq"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800" b="1" i="0" u="none" strike="noStrike" cap="none" normalizeH="0" baseline="0">
              <a:ln>
                <a:noFill/>
              </a:ln>
              <a:solidFill>
                <a:schemeClr val="tx1"/>
              </a:solidFill>
              <a:effectLst/>
              <a:latin typeface="Comic Sans MS" panose="030F0702030302020204" pitchFamily="66"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899592" y="446281"/>
            <a:ext cx="8064500" cy="732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20000"/>
              </a:lnSpc>
              <a:spcBef>
                <a:spcPct val="0"/>
              </a:spcBef>
              <a:defRPr/>
            </a:pPr>
            <a:r>
              <a:rPr lang="zh-CN" altLang="en-US" sz="40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a:t>
            </a:r>
            <a:endParaRPr lang="en-US" altLang="zh-CN" sz="40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50883" name="Rectangle 3"/>
          <p:cNvSpPr>
            <a:spLocks noChangeArrowheads="1"/>
          </p:cNvSpPr>
          <p:nvPr/>
        </p:nvSpPr>
        <p:spPr bwMode="auto">
          <a:xfrm>
            <a:off x="1079587" y="2996952"/>
            <a:ext cx="6984826"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800100" indent="-34290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257300" indent="-3429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714500" indent="-3429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171700" indent="-3429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628900" indent="-3429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3086100" indent="-3429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543300" indent="-3429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4000500" indent="-3429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eaLnBrk="1" hangingPunct="1">
              <a:spcBef>
                <a:spcPts val="600"/>
              </a:spcBef>
              <a:buClr>
                <a:srgbClr val="C00000"/>
              </a:buClr>
              <a:buSzTx/>
              <a:buNone/>
              <a:defRPr/>
            </a:pPr>
            <a:r>
              <a:rPr lang="en-US" altLang="zh-CN" sz="33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a:t>
            </a:r>
            <a:r>
              <a:rPr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 </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有中断源发出中断请求。</a:t>
            </a:r>
          </a:p>
          <a:p>
            <a:pPr marL="0" indent="0" eaLnBrk="1" hangingPunct="1">
              <a:spcBef>
                <a:spcPts val="600"/>
              </a:spcBef>
              <a:buClr>
                <a:srgbClr val="C00000"/>
              </a:buClr>
              <a:buSzTx/>
              <a:buNone/>
              <a:defRPr/>
            </a:pPr>
            <a:r>
              <a:rPr lang="zh-CN" altLang="en-US" sz="33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 </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中断总允许位</a:t>
            </a:r>
            <a:r>
              <a:rPr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EA = 1</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a:t>
            </a:r>
            <a:r>
              <a:rPr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开中断。</a:t>
            </a:r>
          </a:p>
          <a:p>
            <a:pPr marL="0" indent="0" eaLnBrk="1" hangingPunct="1">
              <a:spcBef>
                <a:spcPts val="600"/>
              </a:spcBef>
              <a:buClr>
                <a:srgbClr val="C00000"/>
              </a:buClr>
              <a:buSzTx/>
              <a:buNone/>
              <a:defRPr/>
            </a:pPr>
            <a:r>
              <a:rPr lang="zh-CN" altLang="en-US" sz="33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Monotype Sorts" pitchFamily="2" charset="2"/>
              </a:rPr>
              <a:t> </a:t>
            </a:r>
            <a:r>
              <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申请中断的中断源允许。</a:t>
            </a:r>
          </a:p>
        </p:txBody>
      </p:sp>
      <p:sp>
        <p:nvSpPr>
          <p:cNvPr id="250884" name="Rectangle 4"/>
          <p:cNvSpPr>
            <a:spLocks noChangeArrowheads="1"/>
          </p:cNvSpPr>
          <p:nvPr/>
        </p:nvSpPr>
        <p:spPr bwMode="auto">
          <a:xfrm>
            <a:off x="1079773" y="5096715"/>
            <a:ext cx="7704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满足以上基本条件，</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一般会响应中断。</a:t>
            </a:r>
          </a:p>
        </p:txBody>
      </p:sp>
      <p:sp>
        <p:nvSpPr>
          <p:cNvPr id="5" name="Rectangle 4">
            <a:extLst>
              <a:ext uri="{FF2B5EF4-FFF2-40B4-BE49-F238E27FC236}">
                <a16:creationId xmlns:a16="http://schemas.microsoft.com/office/drawing/2014/main" id="{4530F77C-4A19-4549-89C9-1235FEDA9DA3}"/>
              </a:ext>
            </a:extLst>
          </p:cNvPr>
          <p:cNvSpPr>
            <a:spLocks noChangeArrowheads="1"/>
          </p:cNvSpPr>
          <p:nvPr/>
        </p:nvSpPr>
        <p:spPr bwMode="auto">
          <a:xfrm>
            <a:off x="1049156" y="1245208"/>
            <a:ext cx="77041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从发现中断请求，到</a:t>
            </a:r>
            <a:r>
              <a:rPr lang="zh-CN" altLang="en-US"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开始执行</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中断函数的过程。</a:t>
            </a:r>
          </a:p>
        </p:txBody>
      </p:sp>
      <p:sp>
        <p:nvSpPr>
          <p:cNvPr id="6" name="Rectangle 4">
            <a:extLst>
              <a:ext uri="{FF2B5EF4-FFF2-40B4-BE49-F238E27FC236}">
                <a16:creationId xmlns:a16="http://schemas.microsoft.com/office/drawing/2014/main" id="{10FC29EE-5622-4BF2-8592-FE2E7F97A3BB}"/>
              </a:ext>
            </a:extLst>
          </p:cNvPr>
          <p:cNvSpPr>
            <a:spLocks noChangeArrowheads="1"/>
          </p:cNvSpPr>
          <p:nvPr/>
        </p:nvSpPr>
        <p:spPr bwMode="auto">
          <a:xfrm>
            <a:off x="1079773" y="2342246"/>
            <a:ext cx="77041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响应中断的基本条件：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50883">
                                            <p:txEl>
                                              <p:pRg st="0" end="0"/>
                                            </p:txEl>
                                          </p:spTgt>
                                        </p:tgtEl>
                                        <p:attrNameLst>
                                          <p:attrName>style.visibility</p:attrName>
                                        </p:attrNameLst>
                                      </p:cBhvr>
                                      <p:to>
                                        <p:strVal val="visible"/>
                                      </p:to>
                                    </p:set>
                                    <p:animEffect transition="in" filter="randombar(horizontal)">
                                      <p:cBhvr>
                                        <p:cTn id="17" dur="500"/>
                                        <p:tgtEl>
                                          <p:spTgt spid="25088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50883">
                                            <p:txEl>
                                              <p:pRg st="1" end="1"/>
                                            </p:txEl>
                                          </p:spTgt>
                                        </p:tgtEl>
                                        <p:attrNameLst>
                                          <p:attrName>style.visibility</p:attrName>
                                        </p:attrNameLst>
                                      </p:cBhvr>
                                      <p:to>
                                        <p:strVal val="visible"/>
                                      </p:to>
                                    </p:set>
                                    <p:animEffect transition="in" filter="randombar(horizontal)">
                                      <p:cBhvr>
                                        <p:cTn id="22" dur="500"/>
                                        <p:tgtEl>
                                          <p:spTgt spid="25088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50883">
                                            <p:txEl>
                                              <p:pRg st="2" end="2"/>
                                            </p:txEl>
                                          </p:spTgt>
                                        </p:tgtEl>
                                        <p:attrNameLst>
                                          <p:attrName>style.visibility</p:attrName>
                                        </p:attrNameLst>
                                      </p:cBhvr>
                                      <p:to>
                                        <p:strVal val="visible"/>
                                      </p:to>
                                    </p:set>
                                    <p:animEffect transition="in" filter="randombar(horizontal)">
                                      <p:cBhvr>
                                        <p:cTn id="27" dur="500"/>
                                        <p:tgtEl>
                                          <p:spTgt spid="25088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50884"/>
                                        </p:tgtEl>
                                        <p:attrNameLst>
                                          <p:attrName>style.visibility</p:attrName>
                                        </p:attrNameLst>
                                      </p:cBhvr>
                                      <p:to>
                                        <p:strVal val="visible"/>
                                      </p:to>
                                    </p:set>
                                    <p:animEffect transition="in" filter="barn(inVertical)">
                                      <p:cBhvr>
                                        <p:cTn id="32" dur="500"/>
                                        <p:tgtEl>
                                          <p:spTgt spid="250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p:bldP spid="25088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2"/>
          <p:cNvSpPr txBox="1">
            <a:spLocks noChangeArrowheads="1"/>
          </p:cNvSpPr>
          <p:nvPr/>
        </p:nvSpPr>
        <p:spPr bwMode="auto">
          <a:xfrm>
            <a:off x="611188" y="2636838"/>
            <a:ext cx="807666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marL="457200" indent="-457200" algn="l" eaLnBrk="1" hangingPunct="1">
              <a:buClr>
                <a:srgbClr val="C00000"/>
              </a:buClr>
              <a:buFont typeface="Wingdings" panose="05000000000000000000" pitchFamily="2" charset="2"/>
              <a:buChar char="Ø"/>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正在响应同级或高优先级的中断。</a:t>
            </a:r>
          </a:p>
          <a:p>
            <a:pPr marL="457200" indent="-457200" algn="l" eaLnBrk="1" hangingPunct="1">
              <a:buClr>
                <a:srgbClr val="C00000"/>
              </a:buClr>
              <a:buFont typeface="Wingdings" panose="05000000000000000000" pitchFamily="2" charset="2"/>
              <a:buChar char="Ø"/>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当前指令未执行完。</a:t>
            </a:r>
          </a:p>
          <a:p>
            <a:pPr marL="457200" indent="-457200" algn="l" eaLnBrk="1" hangingPunct="1">
              <a:buClr>
                <a:srgbClr val="C00000"/>
              </a:buClr>
              <a:buFont typeface="Wingdings" panose="05000000000000000000" pitchFamily="2" charset="2"/>
              <a:buChar char="Ø"/>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正在执行</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RETI</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中断返回指令或访问专用寄存器</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IE</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和</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IP</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的指令。  </a:t>
            </a:r>
          </a:p>
        </p:txBody>
      </p:sp>
      <p:sp>
        <p:nvSpPr>
          <p:cNvPr id="37891" name="Rectangle 3"/>
          <p:cNvSpPr>
            <a:spLocks noChangeArrowheads="1"/>
          </p:cNvSpPr>
          <p:nvPr/>
        </p:nvSpPr>
        <p:spPr bwMode="auto">
          <a:xfrm>
            <a:off x="645670" y="1412776"/>
            <a:ext cx="77041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若有下列任何一种情况存在，则</a:t>
            </a:r>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会</a:t>
            </a:r>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受</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到</a:t>
            </a:r>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阻</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断。</a:t>
            </a:r>
          </a:p>
        </p:txBody>
      </p:sp>
      <p:sp>
        <p:nvSpPr>
          <p:cNvPr id="4" name="Text Box 2"/>
          <p:cNvSpPr txBox="1">
            <a:spLocks noChangeArrowheads="1"/>
          </p:cNvSpPr>
          <p:nvPr/>
        </p:nvSpPr>
        <p:spPr bwMode="auto">
          <a:xfrm>
            <a:off x="899591" y="332656"/>
            <a:ext cx="7788265" cy="732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20000"/>
              </a:lnSpc>
              <a:spcBef>
                <a:spcPct val="0"/>
              </a:spcBef>
              <a:defRPr/>
            </a:pPr>
            <a:r>
              <a:rPr lang="zh-CN" altLang="en-US" sz="40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中断响应受阻</a:t>
            </a:r>
            <a:endParaRPr lang="en-US" altLang="zh-CN" sz="40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06">
                                            <p:txEl>
                                              <p:pRg st="0" end="0"/>
                                            </p:txEl>
                                          </p:spTgt>
                                        </p:tgtEl>
                                        <p:attrNameLst>
                                          <p:attrName>style.visibility</p:attrName>
                                        </p:attrNameLst>
                                      </p:cBhvr>
                                      <p:to>
                                        <p:strVal val="visible"/>
                                      </p:to>
                                    </p:set>
                                    <p:anim calcmode="lin" valueType="num">
                                      <p:cBhvr additive="base">
                                        <p:cTn id="7" dur="500" fill="hold"/>
                                        <p:tgtEl>
                                          <p:spTgt spid="2519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19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1906">
                                            <p:txEl>
                                              <p:pRg st="1" end="1"/>
                                            </p:txEl>
                                          </p:spTgt>
                                        </p:tgtEl>
                                        <p:attrNameLst>
                                          <p:attrName>style.visibility</p:attrName>
                                        </p:attrNameLst>
                                      </p:cBhvr>
                                      <p:to>
                                        <p:strVal val="visible"/>
                                      </p:to>
                                    </p:set>
                                    <p:anim calcmode="lin" valueType="num">
                                      <p:cBhvr additive="base">
                                        <p:cTn id="13" dur="500" fill="hold"/>
                                        <p:tgtEl>
                                          <p:spTgt spid="25190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190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1906">
                                            <p:txEl>
                                              <p:pRg st="2" end="2"/>
                                            </p:txEl>
                                          </p:spTgt>
                                        </p:tgtEl>
                                        <p:attrNameLst>
                                          <p:attrName>style.visibility</p:attrName>
                                        </p:attrNameLst>
                                      </p:cBhvr>
                                      <p:to>
                                        <p:strVal val="visible"/>
                                      </p:to>
                                    </p:set>
                                    <p:anim calcmode="lin" valueType="num">
                                      <p:cBhvr additive="base">
                                        <p:cTn id="19" dur="500" fill="hold"/>
                                        <p:tgtEl>
                                          <p:spTgt spid="25190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190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916" name="Rectangle 2"/>
          <p:cNvSpPr>
            <a:spLocks noChangeArrowheads="1"/>
          </p:cNvSpPr>
          <p:nvPr/>
        </p:nvSpPr>
        <p:spPr bwMode="auto">
          <a:xfrm>
            <a:off x="755650" y="476250"/>
            <a:ext cx="7924800" cy="537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914400" indent="-45720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371600" indent="-4572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828800" indent="-4572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286000" indent="-4572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743200" indent="-4572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3200400" indent="-4572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657600" indent="-4572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4114800" indent="-4572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25000"/>
              </a:spcBef>
              <a:buClrTx/>
              <a:buSzTx/>
              <a:buFontTx/>
              <a:buNone/>
              <a:defRPr/>
            </a:pP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响应中断后，由硬件自动执行如下功能操作：</a:t>
            </a:r>
          </a:p>
          <a:p>
            <a:pPr eaLnBrk="1" hangingPunct="1">
              <a:spcBef>
                <a:spcPct val="25000"/>
              </a:spcBef>
              <a:buClrTx/>
              <a:buSzTx/>
              <a:buFontTx/>
              <a:buAutoNum type="arabicPeriod"/>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中断优先级查询，阻止后来的同级或低级中断请求。</a:t>
            </a:r>
          </a:p>
          <a:p>
            <a:pPr eaLnBrk="1" hangingPunct="1">
              <a:spcBef>
                <a:spcPct val="25000"/>
              </a:spcBef>
              <a:buClrTx/>
              <a:buSzTx/>
              <a:buFontTx/>
              <a:buAutoNum type="arabicPeriod"/>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保护断点，即把程序计数器</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PC</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的内容压入堆栈保存。</a:t>
            </a:r>
          </a:p>
          <a:p>
            <a:pPr eaLnBrk="1" hangingPunct="1">
              <a:spcBef>
                <a:spcPct val="25000"/>
              </a:spcBef>
              <a:buClrTx/>
              <a:buSzTx/>
              <a:buFontTx/>
              <a:buAutoNum type="arabicPeriod"/>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清除可清除的中断请求标志位。</a:t>
            </a:r>
          </a:p>
          <a:p>
            <a:pPr eaLnBrk="1" hangingPunct="1">
              <a:spcBef>
                <a:spcPct val="25000"/>
              </a:spcBef>
              <a:buClrTx/>
              <a:buSzTx/>
              <a:buFontTx/>
              <a:buAutoNum type="arabicPeriod"/>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调用中断函数并开始运行。</a:t>
            </a:r>
          </a:p>
          <a:p>
            <a:pPr eaLnBrk="1" hangingPunct="1">
              <a:spcBef>
                <a:spcPct val="25000"/>
              </a:spcBef>
              <a:buClrTx/>
              <a:buSzTx/>
              <a:buFontTx/>
              <a:buAutoNum type="arabicPeriod"/>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返回断点继续运行。</a:t>
            </a:r>
          </a:p>
          <a:p>
            <a:pPr algn="ctr" eaLnBrk="1" hangingPunct="1">
              <a:spcBef>
                <a:spcPct val="0"/>
              </a:spcBef>
              <a:buClrTx/>
              <a:buSzTx/>
              <a:buFontTx/>
              <a:buNone/>
              <a:defRPr/>
            </a:pPr>
            <a:endPar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0" indent="360045" eaLnBrk="1" hangingPunct="1">
              <a:spcBef>
                <a:spcPct val="0"/>
              </a:spcBef>
              <a:buClrTx/>
              <a:buSzTx/>
              <a:buFontTx/>
              <a:buNone/>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除中断函数运行是软件方式外，其余中断处理过程都是</a:t>
            </a:r>
            <a:r>
              <a:rPr kumimoji="0"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由单片机硬件自动完成</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 </a:t>
            </a:r>
          </a:p>
        </p:txBody>
      </p:sp>
      <p:sp>
        <p:nvSpPr>
          <p:cNvPr id="1318917" name="Rectangle 5"/>
          <p:cNvSpPr>
            <a:spLocks noChangeArrowheads="1"/>
          </p:cNvSpPr>
          <p:nvPr/>
        </p:nvSpPr>
        <p:spPr bwMode="auto">
          <a:xfrm>
            <a:off x="611560" y="450912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lang="en-US" altLang="zh-CN" sz="2400" dirty="0">
                <a:solidFill>
                  <a:srgbClr val="C00000"/>
                </a:solidFill>
                <a:effectLst>
                  <a:outerShdw blurRad="38100" dist="38100" dir="2700000" algn="tl">
                    <a:srgbClr val="000000">
                      <a:alpha val="43137"/>
                    </a:srgbClr>
                  </a:outerShdw>
                </a:effectLst>
                <a:latin typeface="Times New Roman" panose="02020603050405020304" pitchFamily="18" charset="0"/>
              </a:rPr>
              <a:t>【</a:t>
            </a:r>
            <a:r>
              <a:rPr lang="zh-CN" altLang="en-US" sz="2400" dirty="0">
                <a:solidFill>
                  <a:srgbClr val="C00000"/>
                </a:solidFill>
                <a:effectLst>
                  <a:outerShdw blurRad="38100" dist="38100" dir="2700000" algn="tl">
                    <a:srgbClr val="000000">
                      <a:alpha val="43137"/>
                    </a:srgbClr>
                  </a:outerShdw>
                </a:effectLst>
                <a:latin typeface="Times New Roman" panose="02020603050405020304" pitchFamily="18" charset="0"/>
              </a:rPr>
              <a:t>注意</a:t>
            </a:r>
            <a:r>
              <a:rPr lang="en-US" altLang="zh-CN" sz="2400" dirty="0">
                <a:solidFill>
                  <a:srgbClr val="C00000"/>
                </a:solidFill>
                <a:effectLst>
                  <a:outerShdw blurRad="38100" dist="38100" dir="2700000" algn="tl">
                    <a:srgbClr val="000000">
                      <a:alpha val="43137"/>
                    </a:srgbClr>
                  </a:outerShdw>
                </a:effectLst>
                <a:latin typeface="Times New Roman" panose="02020603050405020304" pitchFamily="18" charset="0"/>
              </a:rPr>
              <a:t>】</a:t>
            </a:r>
            <a:endParaRPr lang="zh-CN" altLang="en-US" sz="2400" dirty="0">
              <a:solidFill>
                <a:srgbClr val="C00000"/>
              </a:solidFill>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18916">
                                            <p:txEl>
                                              <p:pRg st="0" end="0"/>
                                            </p:txEl>
                                          </p:spTgt>
                                        </p:tgtEl>
                                        <p:attrNameLst>
                                          <p:attrName>style.visibility</p:attrName>
                                        </p:attrNameLst>
                                      </p:cBhvr>
                                      <p:to>
                                        <p:strVal val="visible"/>
                                      </p:to>
                                    </p:set>
                                    <p:animEffect transition="in" filter="randombar(horizontal)">
                                      <p:cBhvr>
                                        <p:cTn id="7" dur="500"/>
                                        <p:tgtEl>
                                          <p:spTgt spid="13189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18916">
                                            <p:txEl>
                                              <p:pRg st="1" end="1"/>
                                            </p:txEl>
                                          </p:spTgt>
                                        </p:tgtEl>
                                        <p:attrNameLst>
                                          <p:attrName>style.visibility</p:attrName>
                                        </p:attrNameLst>
                                      </p:cBhvr>
                                      <p:to>
                                        <p:strVal val="visible"/>
                                      </p:to>
                                    </p:set>
                                    <p:animEffect transition="in" filter="randombar(horizontal)">
                                      <p:cBhvr>
                                        <p:cTn id="12" dur="500"/>
                                        <p:tgtEl>
                                          <p:spTgt spid="13189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318916">
                                            <p:txEl>
                                              <p:pRg st="2" end="2"/>
                                            </p:txEl>
                                          </p:spTgt>
                                        </p:tgtEl>
                                        <p:attrNameLst>
                                          <p:attrName>style.visibility</p:attrName>
                                        </p:attrNameLst>
                                      </p:cBhvr>
                                      <p:to>
                                        <p:strVal val="visible"/>
                                      </p:to>
                                    </p:set>
                                    <p:animEffect transition="in" filter="randombar(horizontal)">
                                      <p:cBhvr>
                                        <p:cTn id="17" dur="500"/>
                                        <p:tgtEl>
                                          <p:spTgt spid="13189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318916">
                                            <p:txEl>
                                              <p:pRg st="3" end="3"/>
                                            </p:txEl>
                                          </p:spTgt>
                                        </p:tgtEl>
                                        <p:attrNameLst>
                                          <p:attrName>style.visibility</p:attrName>
                                        </p:attrNameLst>
                                      </p:cBhvr>
                                      <p:to>
                                        <p:strVal val="visible"/>
                                      </p:to>
                                    </p:set>
                                    <p:animEffect transition="in" filter="randombar(horizontal)">
                                      <p:cBhvr>
                                        <p:cTn id="22" dur="500"/>
                                        <p:tgtEl>
                                          <p:spTgt spid="13189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318916">
                                            <p:txEl>
                                              <p:pRg st="4" end="4"/>
                                            </p:txEl>
                                          </p:spTgt>
                                        </p:tgtEl>
                                        <p:attrNameLst>
                                          <p:attrName>style.visibility</p:attrName>
                                        </p:attrNameLst>
                                      </p:cBhvr>
                                      <p:to>
                                        <p:strVal val="visible"/>
                                      </p:to>
                                    </p:set>
                                    <p:animEffect transition="in" filter="randombar(horizontal)">
                                      <p:cBhvr>
                                        <p:cTn id="27" dur="500"/>
                                        <p:tgtEl>
                                          <p:spTgt spid="13189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18916">
                                            <p:txEl>
                                              <p:pRg st="5" end="5"/>
                                            </p:txEl>
                                          </p:spTgt>
                                        </p:tgtEl>
                                        <p:attrNameLst>
                                          <p:attrName>style.visibility</p:attrName>
                                        </p:attrNameLst>
                                      </p:cBhvr>
                                      <p:to>
                                        <p:strVal val="visible"/>
                                      </p:to>
                                    </p:set>
                                    <p:animEffect transition="in" filter="randombar(horizontal)">
                                      <p:cBhvr>
                                        <p:cTn id="32" dur="500"/>
                                        <p:tgtEl>
                                          <p:spTgt spid="13189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318916">
                                            <p:txEl>
                                              <p:pRg st="7" end="7"/>
                                            </p:txEl>
                                          </p:spTgt>
                                        </p:tgtEl>
                                        <p:attrNameLst>
                                          <p:attrName>style.visibility</p:attrName>
                                        </p:attrNameLst>
                                      </p:cBhvr>
                                      <p:to>
                                        <p:strVal val="visible"/>
                                      </p:to>
                                    </p:set>
                                    <p:animEffect transition="in" filter="randombar(horizontal)">
                                      <p:cBhvr>
                                        <p:cTn id="37" dur="500"/>
                                        <p:tgtEl>
                                          <p:spTgt spid="1318916">
                                            <p:txEl>
                                              <p:pRg st="7" end="7"/>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18917"/>
                                        </p:tgtEl>
                                        <p:attrNameLst>
                                          <p:attrName>style.visibility</p:attrName>
                                        </p:attrNameLst>
                                      </p:cBhvr>
                                      <p:to>
                                        <p:strVal val="visible"/>
                                      </p:to>
                                    </p:set>
                                    <p:animEffect transition="in" filter="blinds(horizontal)">
                                      <p:cBhvr>
                                        <p:cTn id="40" dur="500"/>
                                        <p:tgtEl>
                                          <p:spTgt spid="1318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8916" grpId="0" build="p"/>
      <p:bldP spid="13189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ChangeArrowheads="1"/>
          </p:cNvSpPr>
          <p:nvPr/>
        </p:nvSpPr>
        <p:spPr bwMode="auto">
          <a:xfrm>
            <a:off x="827584" y="409353"/>
            <a:ext cx="5184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spcBef>
                <a:spcPct val="0"/>
              </a:spcBef>
              <a:defRPr/>
            </a:pPr>
            <a:r>
              <a:rPr lang="zh-CN" altLang="en-US" sz="36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中断响应过程</a:t>
            </a:r>
          </a:p>
        </p:txBody>
      </p:sp>
      <p:sp>
        <p:nvSpPr>
          <p:cNvPr id="244739" name="Text Box 3"/>
          <p:cNvSpPr txBox="1">
            <a:spLocks noChangeArrowheads="1"/>
          </p:cNvSpPr>
          <p:nvPr/>
        </p:nvSpPr>
        <p:spPr bwMode="auto">
          <a:xfrm>
            <a:off x="659572" y="1336676"/>
            <a:ext cx="7964805" cy="2734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10000"/>
              </a:lnSpc>
              <a:spcBef>
                <a:spcPct val="0"/>
              </a:spcBef>
              <a:defRPr/>
            </a:pP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当有中断请求时，系统将置位中断请求标志位。</a:t>
            </a:r>
            <a:endPar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l" eaLnBrk="1" hangingPunct="1">
              <a:lnSpc>
                <a:spcPct val="110000"/>
              </a:lnSpc>
              <a:spcBef>
                <a:spcPct val="0"/>
              </a:spcBef>
              <a:defRPr/>
            </a:pP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在</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S6P2</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状态按一定的顺序（</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INT0</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T0</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INT1</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T1</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RI/TI</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）查询请求标志，并将有效的中断请求按优先级次序排好。</a:t>
            </a:r>
          </a:p>
        </p:txBody>
      </p:sp>
      <p:grpSp>
        <p:nvGrpSpPr>
          <p:cNvPr id="46087" name="Group 7"/>
          <p:cNvGrpSpPr/>
          <p:nvPr/>
        </p:nvGrpSpPr>
        <p:grpSpPr bwMode="auto">
          <a:xfrm>
            <a:off x="1647065" y="4269694"/>
            <a:ext cx="6273170" cy="466725"/>
            <a:chOff x="1156" y="1253"/>
            <a:chExt cx="3947" cy="294"/>
          </a:xfrm>
        </p:grpSpPr>
        <p:sp>
          <p:nvSpPr>
            <p:cNvPr id="38920" name="Text Box 8"/>
            <p:cNvSpPr txBox="1">
              <a:spLocks noChangeArrowheads="1"/>
            </p:cNvSpPr>
            <p:nvPr/>
          </p:nvSpPr>
          <p:spPr bwMode="auto">
            <a:xfrm>
              <a:off x="1156"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dirty="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TF1</a:t>
              </a:r>
            </a:p>
          </p:txBody>
        </p:sp>
        <p:sp>
          <p:nvSpPr>
            <p:cNvPr id="38921" name="Text Box 9"/>
            <p:cNvSpPr txBox="1">
              <a:spLocks noChangeArrowheads="1"/>
            </p:cNvSpPr>
            <p:nvPr/>
          </p:nvSpPr>
          <p:spPr bwMode="auto">
            <a:xfrm>
              <a:off x="1655" y="1253"/>
              <a:ext cx="453"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38922" name="Text Box 10"/>
            <p:cNvSpPr txBox="1">
              <a:spLocks noChangeArrowheads="1"/>
            </p:cNvSpPr>
            <p:nvPr/>
          </p:nvSpPr>
          <p:spPr bwMode="auto">
            <a:xfrm>
              <a:off x="2109"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dirty="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TF0</a:t>
              </a:r>
            </a:p>
          </p:txBody>
        </p:sp>
        <p:sp>
          <p:nvSpPr>
            <p:cNvPr id="38923" name="Text Box 11"/>
            <p:cNvSpPr txBox="1">
              <a:spLocks noChangeArrowheads="1"/>
            </p:cNvSpPr>
            <p:nvPr/>
          </p:nvSpPr>
          <p:spPr bwMode="auto">
            <a:xfrm>
              <a:off x="2608"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38924" name="Text Box 12"/>
            <p:cNvSpPr txBox="1">
              <a:spLocks noChangeArrowheads="1"/>
            </p:cNvSpPr>
            <p:nvPr/>
          </p:nvSpPr>
          <p:spPr bwMode="auto">
            <a:xfrm>
              <a:off x="3107"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dirty="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IE1</a:t>
              </a:r>
            </a:p>
          </p:txBody>
        </p:sp>
        <p:sp>
          <p:nvSpPr>
            <p:cNvPr id="38925" name="Text Box 13"/>
            <p:cNvSpPr txBox="1">
              <a:spLocks noChangeArrowheads="1"/>
            </p:cNvSpPr>
            <p:nvPr/>
          </p:nvSpPr>
          <p:spPr bwMode="auto">
            <a:xfrm>
              <a:off x="3606"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IT1</a:t>
              </a:r>
            </a:p>
          </p:txBody>
        </p:sp>
        <p:sp>
          <p:nvSpPr>
            <p:cNvPr id="38926" name="Text Box 14"/>
            <p:cNvSpPr txBox="1">
              <a:spLocks noChangeArrowheads="1"/>
            </p:cNvSpPr>
            <p:nvPr/>
          </p:nvSpPr>
          <p:spPr bwMode="auto">
            <a:xfrm>
              <a:off x="4105"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IE0</a:t>
              </a:r>
            </a:p>
          </p:txBody>
        </p:sp>
        <p:sp>
          <p:nvSpPr>
            <p:cNvPr id="38927" name="Text Box 15"/>
            <p:cNvSpPr txBox="1">
              <a:spLocks noChangeArrowheads="1"/>
            </p:cNvSpPr>
            <p:nvPr/>
          </p:nvSpPr>
          <p:spPr bwMode="auto">
            <a:xfrm>
              <a:off x="4604"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IT0</a:t>
              </a:r>
            </a:p>
          </p:txBody>
        </p:sp>
      </p:grpSp>
      <p:grpSp>
        <p:nvGrpSpPr>
          <p:cNvPr id="17" name="Group 4">
            <a:extLst>
              <a:ext uri="{FF2B5EF4-FFF2-40B4-BE49-F238E27FC236}">
                <a16:creationId xmlns:a16="http://schemas.microsoft.com/office/drawing/2014/main" id="{69624D4A-2382-4CCC-A564-003FC9590A75}"/>
              </a:ext>
            </a:extLst>
          </p:cNvPr>
          <p:cNvGrpSpPr/>
          <p:nvPr/>
        </p:nvGrpSpPr>
        <p:grpSpPr bwMode="auto">
          <a:xfrm>
            <a:off x="1647065" y="5054599"/>
            <a:ext cx="6265863" cy="466725"/>
            <a:chOff x="1156" y="1253"/>
            <a:chExt cx="3947" cy="294"/>
          </a:xfrm>
        </p:grpSpPr>
        <p:sp>
          <p:nvSpPr>
            <p:cNvPr id="18" name="Text Box 5">
              <a:extLst>
                <a:ext uri="{FF2B5EF4-FFF2-40B4-BE49-F238E27FC236}">
                  <a16:creationId xmlns:a16="http://schemas.microsoft.com/office/drawing/2014/main" id="{F7B18167-D5E8-4EAA-BD22-9807AF944436}"/>
                </a:ext>
              </a:extLst>
            </p:cNvPr>
            <p:cNvSpPr txBox="1">
              <a:spLocks noChangeArrowheads="1"/>
            </p:cNvSpPr>
            <p:nvPr/>
          </p:nvSpPr>
          <p:spPr bwMode="auto">
            <a:xfrm>
              <a:off x="1156"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19" name="Text Box 6">
              <a:extLst>
                <a:ext uri="{FF2B5EF4-FFF2-40B4-BE49-F238E27FC236}">
                  <a16:creationId xmlns:a16="http://schemas.microsoft.com/office/drawing/2014/main" id="{0AF446DE-921B-4EBA-A5B7-DD9DA7462872}"/>
                </a:ext>
              </a:extLst>
            </p:cNvPr>
            <p:cNvSpPr txBox="1">
              <a:spLocks noChangeArrowheads="1"/>
            </p:cNvSpPr>
            <p:nvPr/>
          </p:nvSpPr>
          <p:spPr bwMode="auto">
            <a:xfrm>
              <a:off x="1655" y="1253"/>
              <a:ext cx="453"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20" name="Text Box 7">
              <a:extLst>
                <a:ext uri="{FF2B5EF4-FFF2-40B4-BE49-F238E27FC236}">
                  <a16:creationId xmlns:a16="http://schemas.microsoft.com/office/drawing/2014/main" id="{9E1B4740-86E5-4844-A29E-26BCC0B8F0DB}"/>
                </a:ext>
              </a:extLst>
            </p:cNvPr>
            <p:cNvSpPr txBox="1">
              <a:spLocks noChangeArrowheads="1"/>
            </p:cNvSpPr>
            <p:nvPr/>
          </p:nvSpPr>
          <p:spPr bwMode="auto">
            <a:xfrm>
              <a:off x="2109"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21" name="Text Box 8">
              <a:extLst>
                <a:ext uri="{FF2B5EF4-FFF2-40B4-BE49-F238E27FC236}">
                  <a16:creationId xmlns:a16="http://schemas.microsoft.com/office/drawing/2014/main" id="{41B919AE-CD44-4436-8310-05E1FEA0A37C}"/>
                </a:ext>
              </a:extLst>
            </p:cNvPr>
            <p:cNvSpPr txBox="1">
              <a:spLocks noChangeArrowheads="1"/>
            </p:cNvSpPr>
            <p:nvPr/>
          </p:nvSpPr>
          <p:spPr bwMode="auto">
            <a:xfrm>
              <a:off x="2608"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22" name="Text Box 9">
              <a:extLst>
                <a:ext uri="{FF2B5EF4-FFF2-40B4-BE49-F238E27FC236}">
                  <a16:creationId xmlns:a16="http://schemas.microsoft.com/office/drawing/2014/main" id="{928893A0-CEC9-48FE-A035-8327547FBEC9}"/>
                </a:ext>
              </a:extLst>
            </p:cNvPr>
            <p:cNvSpPr txBox="1">
              <a:spLocks noChangeArrowheads="1"/>
            </p:cNvSpPr>
            <p:nvPr/>
          </p:nvSpPr>
          <p:spPr bwMode="auto">
            <a:xfrm>
              <a:off x="3107"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23" name="Text Box 10">
              <a:extLst>
                <a:ext uri="{FF2B5EF4-FFF2-40B4-BE49-F238E27FC236}">
                  <a16:creationId xmlns:a16="http://schemas.microsoft.com/office/drawing/2014/main" id="{42E79BE9-EA55-40D1-9DDC-4B3942896EDB}"/>
                </a:ext>
              </a:extLst>
            </p:cNvPr>
            <p:cNvSpPr txBox="1">
              <a:spLocks noChangeArrowheads="1"/>
            </p:cNvSpPr>
            <p:nvPr/>
          </p:nvSpPr>
          <p:spPr bwMode="auto">
            <a:xfrm>
              <a:off x="3606"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p>
          </p:txBody>
        </p:sp>
        <p:sp>
          <p:nvSpPr>
            <p:cNvPr id="24" name="Text Box 11">
              <a:extLst>
                <a:ext uri="{FF2B5EF4-FFF2-40B4-BE49-F238E27FC236}">
                  <a16:creationId xmlns:a16="http://schemas.microsoft.com/office/drawing/2014/main" id="{855A2183-9B3A-4F8F-9C60-EE1DA659A743}"/>
                </a:ext>
              </a:extLst>
            </p:cNvPr>
            <p:cNvSpPr txBox="1">
              <a:spLocks noChangeArrowheads="1"/>
            </p:cNvSpPr>
            <p:nvPr/>
          </p:nvSpPr>
          <p:spPr bwMode="auto">
            <a:xfrm>
              <a:off x="4105"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b="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a:t>
              </a: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TI</a:t>
              </a:r>
            </a:p>
          </p:txBody>
        </p:sp>
        <p:sp>
          <p:nvSpPr>
            <p:cNvPr id="25" name="Text Box 12">
              <a:extLst>
                <a:ext uri="{FF2B5EF4-FFF2-40B4-BE49-F238E27FC236}">
                  <a16:creationId xmlns:a16="http://schemas.microsoft.com/office/drawing/2014/main" id="{DB2668C1-C58B-4B87-8E90-AC3D9B6E98DD}"/>
                </a:ext>
              </a:extLst>
            </p:cNvPr>
            <p:cNvSpPr txBox="1">
              <a:spLocks noChangeArrowheads="1"/>
            </p:cNvSpPr>
            <p:nvPr/>
          </p:nvSpPr>
          <p:spPr bwMode="auto">
            <a:xfrm>
              <a:off x="4604" y="1253"/>
              <a:ext cx="499" cy="294"/>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a:effectLst>
                    <a:outerShdw blurRad="38100" dist="38100" dir="2700000" algn="tl">
                      <a:srgbClr val="000000">
                        <a:alpha val="43137"/>
                      </a:srgbClr>
                    </a:outerShdw>
                  </a:effectLst>
                  <a:latin typeface="Times New Roman" panose="02020603050405020304" pitchFamily="18" charset="0"/>
                  <a:ea typeface="创艺简黑体" pitchFamily="2" charset="-122"/>
                  <a:sym typeface="Wingdings 2" pitchFamily="18" charset="2"/>
                </a:rPr>
                <a:t> RI</a:t>
              </a:r>
            </a:p>
          </p:txBody>
        </p:sp>
      </p:grpSp>
      <p:sp>
        <p:nvSpPr>
          <p:cNvPr id="26" name="Text Box 14">
            <a:extLst>
              <a:ext uri="{FF2B5EF4-FFF2-40B4-BE49-F238E27FC236}">
                <a16:creationId xmlns:a16="http://schemas.microsoft.com/office/drawing/2014/main" id="{0E84994C-BAF6-45EE-A5D1-1B7CB8BF86D1}"/>
              </a:ext>
            </a:extLst>
          </p:cNvPr>
          <p:cNvSpPr txBox="1">
            <a:spLocks noChangeArrowheads="1"/>
          </p:cNvSpPr>
          <p:nvPr/>
        </p:nvSpPr>
        <p:spPr bwMode="auto">
          <a:xfrm>
            <a:off x="635508" y="4285615"/>
            <a:ext cx="1143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TCON</a:t>
            </a:r>
          </a:p>
        </p:txBody>
      </p:sp>
      <p:sp>
        <p:nvSpPr>
          <p:cNvPr id="27" name="Text Box 14">
            <a:extLst>
              <a:ext uri="{FF2B5EF4-FFF2-40B4-BE49-F238E27FC236}">
                <a16:creationId xmlns:a16="http://schemas.microsoft.com/office/drawing/2014/main" id="{BAAD5183-6598-4668-BDEC-18F793B8BB6F}"/>
              </a:ext>
            </a:extLst>
          </p:cNvPr>
          <p:cNvSpPr txBox="1">
            <a:spLocks noChangeArrowheads="1"/>
          </p:cNvSpPr>
          <p:nvPr/>
        </p:nvSpPr>
        <p:spPr bwMode="auto">
          <a:xfrm>
            <a:off x="659572" y="5065460"/>
            <a:ext cx="1143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sz="24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SCON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4738"/>
                                        </p:tgtEl>
                                        <p:attrNameLst>
                                          <p:attrName>style.visibility</p:attrName>
                                        </p:attrNameLst>
                                      </p:cBhvr>
                                      <p:to>
                                        <p:strVal val="visible"/>
                                      </p:to>
                                    </p:set>
                                    <p:animEffect transition="in" filter="barn(inVertical)">
                                      <p:cBhvr>
                                        <p:cTn id="7" dur="500"/>
                                        <p:tgtEl>
                                          <p:spTgt spid="2447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44739"/>
                                        </p:tgtEl>
                                        <p:attrNameLst>
                                          <p:attrName>style.visibility</p:attrName>
                                        </p:attrNameLst>
                                      </p:cBhvr>
                                      <p:to>
                                        <p:strVal val="visible"/>
                                      </p:to>
                                    </p:set>
                                    <p:animEffect transition="in" filter="barn(inVertical)">
                                      <p:cBhvr>
                                        <p:cTn id="12" dur="500"/>
                                        <p:tgtEl>
                                          <p:spTgt spid="24473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barn(inVertical)">
                                      <p:cBhvr>
                                        <p:cTn id="17" dur="500"/>
                                        <p:tgtEl>
                                          <p:spTgt spid="46087"/>
                                        </p:tgtEl>
                                      </p:cBhvr>
                                    </p:animEffect>
                                  </p:childTnLst>
                                </p:cTn>
                              </p:par>
                            </p:childTnLst>
                          </p:cTn>
                        </p:par>
                        <p:par>
                          <p:cTn id="18" fill="hold">
                            <p:stCondLst>
                              <p:cond delay="500"/>
                            </p:stCondLst>
                            <p:childTnLst>
                              <p:par>
                                <p:cTn id="19" presetID="12" presetClass="entr" presetSubtype="4"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slide(fromBottom)">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p:bldP spid="244739"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6213475" y="385763"/>
            <a:ext cx="26146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600" dirty="0">
                <a:solidFill>
                  <a:srgbClr val="C00000"/>
                </a:solidFill>
                <a:effectLst>
                  <a:outerShdw blurRad="38100" dist="38100" dir="2700000" algn="tl">
                    <a:srgbClr val="000000">
                      <a:alpha val="43137"/>
                    </a:srgbClr>
                  </a:outerShdw>
                </a:effectLst>
                <a:latin typeface="Times New Roman" panose="02020603050405020304" pitchFamily="18" charset="0"/>
              </a:rPr>
              <a:t>第</a:t>
            </a:r>
            <a:r>
              <a:rPr lang="en-US" altLang="zh-CN" sz="1600" dirty="0">
                <a:solidFill>
                  <a:srgbClr val="C00000"/>
                </a:solidFill>
                <a:effectLst>
                  <a:outerShdw blurRad="38100" dist="38100" dir="2700000" algn="tl">
                    <a:srgbClr val="000000">
                      <a:alpha val="43137"/>
                    </a:srgbClr>
                  </a:outerShdw>
                </a:effectLst>
                <a:latin typeface="Times New Roman" panose="02020603050405020304" pitchFamily="18" charset="0"/>
              </a:rPr>
              <a:t>5</a:t>
            </a:r>
            <a:r>
              <a:rPr lang="zh-CN" altLang="en-US" sz="1600" dirty="0">
                <a:solidFill>
                  <a:srgbClr val="C00000"/>
                </a:solidFill>
                <a:effectLst>
                  <a:outerShdw blurRad="38100" dist="38100" dir="2700000" algn="tl">
                    <a:srgbClr val="000000">
                      <a:alpha val="43137"/>
                    </a:srgbClr>
                  </a:outerShdw>
                </a:effectLst>
                <a:latin typeface="Times New Roman" panose="02020603050405020304" pitchFamily="18" charset="0"/>
              </a:rPr>
              <a:t>章 单片机的中断系统 </a:t>
            </a:r>
          </a:p>
        </p:txBody>
      </p:sp>
      <p:sp>
        <p:nvSpPr>
          <p:cNvPr id="9219" name="Rectangle 2"/>
          <p:cNvSpPr>
            <a:spLocks noChangeArrowheads="1"/>
          </p:cNvSpPr>
          <p:nvPr/>
        </p:nvSpPr>
        <p:spPr bwMode="auto">
          <a:xfrm>
            <a:off x="755576" y="392456"/>
            <a:ext cx="7924800" cy="5792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lnSpc>
                <a:spcPct val="150000"/>
              </a:lnSpc>
              <a:spcBef>
                <a:spcPts val="0"/>
              </a:spcBef>
              <a:buFontTx/>
              <a:buNone/>
              <a:defRPr/>
            </a:pPr>
            <a:r>
              <a:rPr kumimoji="0" lang="zh-CN" altLang="en-US"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响应时间</a:t>
            </a:r>
          </a:p>
          <a:p>
            <a:pPr algn="l">
              <a:lnSpc>
                <a:spcPct val="130000"/>
              </a:lnSpc>
              <a:spcBef>
                <a:spcPts val="0"/>
              </a:spcBef>
              <a:buFont typeface="Wingdings" panose="05000000000000000000" pitchFamily="2" charset="2"/>
              <a:buChar char="Ø"/>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从查询中断请求标志到执行中断函数第一条语句所经历的时间，称为中断响应时间。</a:t>
            </a:r>
          </a:p>
          <a:p>
            <a:pPr algn="l">
              <a:lnSpc>
                <a:spcPct val="130000"/>
              </a:lnSpc>
              <a:spcBef>
                <a:spcPts val="0"/>
              </a:spcBef>
              <a:buFont typeface="Wingdings" panose="05000000000000000000" pitchFamily="2" charset="2"/>
              <a:buChar char="Ø"/>
              <a:defRPr/>
            </a:pP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在每个机器周期的</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S6</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期间查询每个中断请求的标志位。</a:t>
            </a:r>
          </a:p>
          <a:p>
            <a:pPr algn="l">
              <a:lnSpc>
                <a:spcPct val="130000"/>
              </a:lnSpc>
              <a:spcBef>
                <a:spcPts val="0"/>
              </a:spcBef>
              <a:buFont typeface="Wingdings" panose="05000000000000000000" pitchFamily="2" charset="2"/>
              <a:buChar char="Ø"/>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中断响应时间 </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1</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个查询机器周期 </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+ 2</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个调用中断函数周期</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kumimoji="0" lang="en-US" altLang="zh-CN"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kumimoji="0"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个机器周期</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，这也是对中断请求做出响应所需的最短时间。</a:t>
            </a:r>
            <a:endPar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l">
              <a:lnSpc>
                <a:spcPct val="130000"/>
              </a:lnSpc>
              <a:spcBef>
                <a:spcPts val="0"/>
              </a:spcBef>
              <a:buFont typeface="Wingdings" panose="05000000000000000000" pitchFamily="2" charset="2"/>
              <a:buChar char="Ø"/>
              <a:defRPr/>
            </a:pP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如果中断响应受阻，则需要更长的响应时间，最长响应时间为</a:t>
            </a:r>
            <a:r>
              <a:rPr kumimoji="0" lang="en-US" altLang="zh-CN"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8</a:t>
            </a:r>
            <a:r>
              <a:rPr kumimoji="0"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个机器周期。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randombar(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randombar(horizontal)">
                                      <p:cBhvr>
                                        <p:cTn id="27"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0" y="0"/>
            <a:ext cx="9144000" cy="6858000"/>
          </a:xfrm>
          <a:prstGeom prst="rect">
            <a:avLst/>
          </a:prstGeom>
          <a:solidFill>
            <a:srgbClr val="FFFF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defRPr/>
            </a:pPr>
            <a:endParaRPr lang="zh-CN" altLang="zh-CN" sz="2800">
              <a:effectLst>
                <a:outerShdw blurRad="38100" dist="38100" dir="2700000" algn="tl">
                  <a:srgbClr val="000000">
                    <a:alpha val="43137"/>
                  </a:srgbClr>
                </a:outerShdw>
              </a:effectLst>
              <a:latin typeface="Comic Sans MS" panose="030F0702030302020204" pitchFamily="66" charset="0"/>
              <a:ea typeface="楷体_GB2312" pitchFamily="49" charset="-122"/>
            </a:endParaRPr>
          </a:p>
        </p:txBody>
      </p:sp>
      <p:grpSp>
        <p:nvGrpSpPr>
          <p:cNvPr id="49155" name="Group 3"/>
          <p:cNvGrpSpPr/>
          <p:nvPr/>
        </p:nvGrpSpPr>
        <p:grpSpPr bwMode="auto">
          <a:xfrm>
            <a:off x="725488" y="5266036"/>
            <a:ext cx="1655762" cy="863600"/>
            <a:chOff x="1247" y="754"/>
            <a:chExt cx="1043" cy="529"/>
          </a:xfrm>
        </p:grpSpPr>
        <p:sp>
          <p:nvSpPr>
            <p:cNvPr id="49196" name="Rectangle 4"/>
            <p:cNvSpPr>
              <a:spLocks noChangeArrowheads="1"/>
            </p:cNvSpPr>
            <p:nvPr/>
          </p:nvSpPr>
          <p:spPr bwMode="auto">
            <a:xfrm>
              <a:off x="1247" y="754"/>
              <a:ext cx="1043" cy="181"/>
            </a:xfrm>
            <a:prstGeom prst="rect">
              <a:avLst/>
            </a:prstGeom>
            <a:solidFill>
              <a:srgbClr val="99CC00">
                <a:alpha val="47058"/>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7" name="Rectangle 5"/>
            <p:cNvSpPr>
              <a:spLocks noChangeArrowheads="1"/>
            </p:cNvSpPr>
            <p:nvPr/>
          </p:nvSpPr>
          <p:spPr bwMode="auto">
            <a:xfrm>
              <a:off x="1247" y="935"/>
              <a:ext cx="1043" cy="182"/>
            </a:xfrm>
            <a:prstGeom prst="rect">
              <a:avLst/>
            </a:prstGeom>
            <a:solidFill>
              <a:srgbClr val="99CC00">
                <a:alpha val="47058"/>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8" name="Rectangle 6"/>
            <p:cNvSpPr>
              <a:spLocks noChangeArrowheads="1"/>
            </p:cNvSpPr>
            <p:nvPr/>
          </p:nvSpPr>
          <p:spPr bwMode="auto">
            <a:xfrm>
              <a:off x="1247" y="1117"/>
              <a:ext cx="1043" cy="166"/>
            </a:xfrm>
            <a:prstGeom prst="rect">
              <a:avLst/>
            </a:prstGeom>
            <a:solidFill>
              <a:srgbClr val="99CC00">
                <a:alpha val="47058"/>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64" name="Line 7"/>
          <p:cNvSpPr>
            <a:spLocks noChangeShapeType="1"/>
          </p:cNvSpPr>
          <p:nvPr/>
        </p:nvSpPr>
        <p:spPr bwMode="auto">
          <a:xfrm>
            <a:off x="2381250" y="6131223"/>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40965" name="Text Box 8"/>
          <p:cNvSpPr txBox="1">
            <a:spLocks noChangeArrowheads="1"/>
          </p:cNvSpPr>
          <p:nvPr/>
        </p:nvSpPr>
        <p:spPr bwMode="auto">
          <a:xfrm>
            <a:off x="649288" y="260648"/>
            <a:ext cx="3352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程序存储器</a:t>
            </a:r>
            <a:r>
              <a:rPr kumimoji="0" lang="en-US" altLang="zh-CN"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ROM</a:t>
            </a:r>
          </a:p>
        </p:txBody>
      </p:sp>
      <p:grpSp>
        <p:nvGrpSpPr>
          <p:cNvPr id="49158" name="Group 9"/>
          <p:cNvGrpSpPr/>
          <p:nvPr/>
        </p:nvGrpSpPr>
        <p:grpSpPr bwMode="auto">
          <a:xfrm>
            <a:off x="725488" y="4402436"/>
            <a:ext cx="1655762" cy="863600"/>
            <a:chOff x="1247" y="754"/>
            <a:chExt cx="1043" cy="529"/>
          </a:xfrm>
        </p:grpSpPr>
        <p:sp>
          <p:nvSpPr>
            <p:cNvPr id="49193" name="Rectangle 10"/>
            <p:cNvSpPr>
              <a:spLocks noChangeArrowheads="1"/>
            </p:cNvSpPr>
            <p:nvPr/>
          </p:nvSpPr>
          <p:spPr bwMode="auto">
            <a:xfrm>
              <a:off x="1247" y="754"/>
              <a:ext cx="1043" cy="181"/>
            </a:xfrm>
            <a:prstGeom prst="rect">
              <a:avLst/>
            </a:prstGeom>
            <a:solidFill>
              <a:schemeClr val="accent2">
                <a:alpha val="50195"/>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4" name="Rectangle 11"/>
            <p:cNvSpPr>
              <a:spLocks noChangeArrowheads="1"/>
            </p:cNvSpPr>
            <p:nvPr/>
          </p:nvSpPr>
          <p:spPr bwMode="auto">
            <a:xfrm>
              <a:off x="1247" y="935"/>
              <a:ext cx="1043" cy="182"/>
            </a:xfrm>
            <a:prstGeom prst="rect">
              <a:avLst/>
            </a:prstGeom>
            <a:solidFill>
              <a:schemeClr val="accent2">
                <a:alpha val="50195"/>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5" name="Rectangle 12"/>
            <p:cNvSpPr>
              <a:spLocks noChangeArrowheads="1"/>
            </p:cNvSpPr>
            <p:nvPr/>
          </p:nvSpPr>
          <p:spPr bwMode="auto">
            <a:xfrm>
              <a:off x="1247" y="1117"/>
              <a:ext cx="1043" cy="166"/>
            </a:xfrm>
            <a:prstGeom prst="rect">
              <a:avLst/>
            </a:prstGeom>
            <a:solidFill>
              <a:schemeClr val="accent2">
                <a:alpha val="50195"/>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67" name="Line 13"/>
          <p:cNvSpPr>
            <a:spLocks noChangeShapeType="1"/>
          </p:cNvSpPr>
          <p:nvPr/>
        </p:nvSpPr>
        <p:spPr bwMode="auto">
          <a:xfrm>
            <a:off x="2381250" y="5266036"/>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grpSp>
        <p:nvGrpSpPr>
          <p:cNvPr id="49160" name="Group 14"/>
          <p:cNvGrpSpPr/>
          <p:nvPr/>
        </p:nvGrpSpPr>
        <p:grpSpPr bwMode="auto">
          <a:xfrm>
            <a:off x="725488" y="3537248"/>
            <a:ext cx="1655762" cy="863600"/>
            <a:chOff x="1247" y="754"/>
            <a:chExt cx="1043" cy="529"/>
          </a:xfrm>
        </p:grpSpPr>
        <p:sp>
          <p:nvSpPr>
            <p:cNvPr id="49190" name="Rectangle 15"/>
            <p:cNvSpPr>
              <a:spLocks noChangeArrowheads="1"/>
            </p:cNvSpPr>
            <p:nvPr/>
          </p:nvSpPr>
          <p:spPr bwMode="auto">
            <a:xfrm>
              <a:off x="1247" y="754"/>
              <a:ext cx="1043" cy="181"/>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1" name="Rectangle 16"/>
            <p:cNvSpPr>
              <a:spLocks noChangeArrowheads="1"/>
            </p:cNvSpPr>
            <p:nvPr/>
          </p:nvSpPr>
          <p:spPr bwMode="auto">
            <a:xfrm>
              <a:off x="1247" y="935"/>
              <a:ext cx="1043" cy="182"/>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92" name="Rectangle 17"/>
            <p:cNvSpPr>
              <a:spLocks noChangeArrowheads="1"/>
            </p:cNvSpPr>
            <p:nvPr/>
          </p:nvSpPr>
          <p:spPr bwMode="auto">
            <a:xfrm>
              <a:off x="1247" y="1117"/>
              <a:ext cx="1043" cy="166"/>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69" name="Line 18"/>
          <p:cNvSpPr>
            <a:spLocks noChangeShapeType="1"/>
          </p:cNvSpPr>
          <p:nvPr/>
        </p:nvSpPr>
        <p:spPr bwMode="auto">
          <a:xfrm>
            <a:off x="2381250" y="4400848"/>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grpSp>
        <p:nvGrpSpPr>
          <p:cNvPr id="49162" name="Group 19"/>
          <p:cNvGrpSpPr/>
          <p:nvPr/>
        </p:nvGrpSpPr>
        <p:grpSpPr bwMode="auto">
          <a:xfrm>
            <a:off x="725488" y="2673648"/>
            <a:ext cx="1655762" cy="863600"/>
            <a:chOff x="1247" y="754"/>
            <a:chExt cx="1043" cy="529"/>
          </a:xfrm>
        </p:grpSpPr>
        <p:sp>
          <p:nvSpPr>
            <p:cNvPr id="49187" name="Rectangle 20"/>
            <p:cNvSpPr>
              <a:spLocks noChangeArrowheads="1"/>
            </p:cNvSpPr>
            <p:nvPr/>
          </p:nvSpPr>
          <p:spPr bwMode="auto">
            <a:xfrm>
              <a:off x="1247" y="754"/>
              <a:ext cx="1043" cy="181"/>
            </a:xfrm>
            <a:prstGeom prst="rect">
              <a:avLst/>
            </a:prstGeom>
            <a:solidFill>
              <a:srgbClr val="00FFFF">
                <a:alpha val="29019"/>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8" name="Rectangle 21"/>
            <p:cNvSpPr>
              <a:spLocks noChangeArrowheads="1"/>
            </p:cNvSpPr>
            <p:nvPr/>
          </p:nvSpPr>
          <p:spPr bwMode="auto">
            <a:xfrm>
              <a:off x="1247" y="935"/>
              <a:ext cx="1043" cy="182"/>
            </a:xfrm>
            <a:prstGeom prst="rect">
              <a:avLst/>
            </a:prstGeom>
            <a:solidFill>
              <a:srgbClr val="00FFFF">
                <a:alpha val="29019"/>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9" name="Rectangle 22"/>
            <p:cNvSpPr>
              <a:spLocks noChangeArrowheads="1"/>
            </p:cNvSpPr>
            <p:nvPr/>
          </p:nvSpPr>
          <p:spPr bwMode="auto">
            <a:xfrm>
              <a:off x="1247" y="1117"/>
              <a:ext cx="1043" cy="166"/>
            </a:xfrm>
            <a:prstGeom prst="rect">
              <a:avLst/>
            </a:prstGeom>
            <a:solidFill>
              <a:srgbClr val="00FFFF">
                <a:alpha val="29019"/>
              </a:srgb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71" name="Line 23"/>
          <p:cNvSpPr>
            <a:spLocks noChangeShapeType="1"/>
          </p:cNvSpPr>
          <p:nvPr/>
        </p:nvSpPr>
        <p:spPr bwMode="auto">
          <a:xfrm>
            <a:off x="2381250" y="3538836"/>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grpSp>
        <p:nvGrpSpPr>
          <p:cNvPr id="49164" name="Group 24"/>
          <p:cNvGrpSpPr/>
          <p:nvPr/>
        </p:nvGrpSpPr>
        <p:grpSpPr bwMode="auto">
          <a:xfrm>
            <a:off x="725488" y="1810048"/>
            <a:ext cx="1655762" cy="863600"/>
            <a:chOff x="1247" y="754"/>
            <a:chExt cx="1043" cy="529"/>
          </a:xfrm>
        </p:grpSpPr>
        <p:sp>
          <p:nvSpPr>
            <p:cNvPr id="49184" name="Rectangle 25"/>
            <p:cNvSpPr>
              <a:spLocks noChangeArrowheads="1"/>
            </p:cNvSpPr>
            <p:nvPr/>
          </p:nvSpPr>
          <p:spPr bwMode="auto">
            <a:xfrm>
              <a:off x="1247" y="754"/>
              <a:ext cx="1043" cy="181"/>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5" name="Rectangle 26"/>
            <p:cNvSpPr>
              <a:spLocks noChangeArrowheads="1"/>
            </p:cNvSpPr>
            <p:nvPr/>
          </p:nvSpPr>
          <p:spPr bwMode="auto">
            <a:xfrm>
              <a:off x="1247" y="935"/>
              <a:ext cx="1043" cy="182"/>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6" name="Rectangle 27"/>
            <p:cNvSpPr>
              <a:spLocks noChangeArrowheads="1"/>
            </p:cNvSpPr>
            <p:nvPr/>
          </p:nvSpPr>
          <p:spPr bwMode="auto">
            <a:xfrm>
              <a:off x="1247" y="1117"/>
              <a:ext cx="1043" cy="166"/>
            </a:xfrm>
            <a:prstGeom prst="rect">
              <a:avLst/>
            </a:prstGeom>
            <a:solidFill>
              <a:srgbClr val="FF99CC"/>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73" name="Line 28"/>
          <p:cNvSpPr>
            <a:spLocks noChangeShapeType="1"/>
          </p:cNvSpPr>
          <p:nvPr/>
        </p:nvSpPr>
        <p:spPr bwMode="auto">
          <a:xfrm>
            <a:off x="2381250" y="2673648"/>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grpSp>
        <p:nvGrpSpPr>
          <p:cNvPr id="49166" name="Group 29"/>
          <p:cNvGrpSpPr/>
          <p:nvPr/>
        </p:nvGrpSpPr>
        <p:grpSpPr bwMode="auto">
          <a:xfrm>
            <a:off x="725488" y="946448"/>
            <a:ext cx="1655762" cy="863600"/>
            <a:chOff x="864" y="1008"/>
            <a:chExt cx="1043" cy="544"/>
          </a:xfrm>
        </p:grpSpPr>
        <p:sp>
          <p:nvSpPr>
            <p:cNvPr id="49181" name="Rectangle 30"/>
            <p:cNvSpPr>
              <a:spLocks noChangeArrowheads="1"/>
            </p:cNvSpPr>
            <p:nvPr/>
          </p:nvSpPr>
          <p:spPr bwMode="auto">
            <a:xfrm>
              <a:off x="864" y="1008"/>
              <a:ext cx="1043" cy="186"/>
            </a:xfrm>
            <a:prstGeom prst="rect">
              <a:avLst/>
            </a:prstGeom>
            <a:solidFill>
              <a:srgbClr val="FFFF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2" name="Rectangle 31"/>
            <p:cNvSpPr>
              <a:spLocks noChangeArrowheads="1"/>
            </p:cNvSpPr>
            <p:nvPr/>
          </p:nvSpPr>
          <p:spPr bwMode="auto">
            <a:xfrm>
              <a:off x="864" y="1194"/>
              <a:ext cx="1043" cy="187"/>
            </a:xfrm>
            <a:prstGeom prst="rect">
              <a:avLst/>
            </a:prstGeom>
            <a:solidFill>
              <a:srgbClr val="FFFF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sp>
          <p:nvSpPr>
            <p:cNvPr id="49183" name="Rectangle 32"/>
            <p:cNvSpPr>
              <a:spLocks noChangeArrowheads="1"/>
            </p:cNvSpPr>
            <p:nvPr/>
          </p:nvSpPr>
          <p:spPr bwMode="auto">
            <a:xfrm>
              <a:off x="864" y="1381"/>
              <a:ext cx="1043" cy="171"/>
            </a:xfrm>
            <a:prstGeom prst="rect">
              <a:avLst/>
            </a:prstGeom>
            <a:solidFill>
              <a:srgbClr val="FFFF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endParaRPr lang="zh-CN" altLang="en-US" sz="2800">
                <a:latin typeface="Comic Sans MS" panose="030F0702030302020204" pitchFamily="66" charset="0"/>
                <a:ea typeface="楷体_GB2312" pitchFamily="49" charset="-122"/>
              </a:endParaRPr>
            </a:p>
          </p:txBody>
        </p:sp>
      </p:grpSp>
      <p:sp>
        <p:nvSpPr>
          <p:cNvPr id="40975" name="Line 33"/>
          <p:cNvSpPr>
            <a:spLocks noChangeShapeType="1"/>
          </p:cNvSpPr>
          <p:nvPr/>
        </p:nvSpPr>
        <p:spPr bwMode="auto">
          <a:xfrm>
            <a:off x="2381250" y="1810048"/>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40976" name="Rectangle 34"/>
          <p:cNvSpPr>
            <a:spLocks noChangeArrowheads="1"/>
          </p:cNvSpPr>
          <p:nvPr/>
        </p:nvSpPr>
        <p:spPr bwMode="auto">
          <a:xfrm>
            <a:off x="2359025" y="5747048"/>
            <a:ext cx="67810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0000H</a:t>
            </a:r>
            <a:r>
              <a:rPr kumimoji="0" lang="zh-CN" altLang="en-US"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复位后，程序的入口地址</a:t>
            </a:r>
            <a:r>
              <a:rPr kumimoji="0"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(PC=0000H)</a:t>
            </a:r>
          </a:p>
        </p:txBody>
      </p:sp>
      <p:sp>
        <p:nvSpPr>
          <p:cNvPr id="40977" name="Rectangle 35"/>
          <p:cNvSpPr>
            <a:spLocks noChangeArrowheads="1"/>
          </p:cNvSpPr>
          <p:nvPr/>
        </p:nvSpPr>
        <p:spPr bwMode="auto">
          <a:xfrm>
            <a:off x="2381250" y="1449686"/>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dirty="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0023H</a:t>
            </a:r>
            <a:r>
              <a:rPr kumimoji="0" lang="zh-CN" altLang="en-US" sz="2400" dirty="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串行口中断入口</a:t>
            </a:r>
          </a:p>
        </p:txBody>
      </p:sp>
      <p:sp>
        <p:nvSpPr>
          <p:cNvPr id="40978" name="Rectangle 36"/>
          <p:cNvSpPr>
            <a:spLocks noChangeArrowheads="1"/>
          </p:cNvSpPr>
          <p:nvPr/>
        </p:nvSpPr>
        <p:spPr bwMode="auto">
          <a:xfrm>
            <a:off x="2381250" y="4905673"/>
            <a:ext cx="3538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0003H</a:t>
            </a:r>
            <a:r>
              <a:rPr kumimoji="0" lang="zh-CN" altLang="en-US"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外部中断</a:t>
            </a:r>
            <a:r>
              <a:rPr kumimoji="0"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入口</a:t>
            </a:r>
          </a:p>
        </p:txBody>
      </p:sp>
      <p:sp>
        <p:nvSpPr>
          <p:cNvPr id="40979" name="Rectangle 37"/>
          <p:cNvSpPr>
            <a:spLocks noChangeArrowheads="1"/>
          </p:cNvSpPr>
          <p:nvPr/>
        </p:nvSpPr>
        <p:spPr bwMode="auto">
          <a:xfrm>
            <a:off x="2381250" y="4040486"/>
            <a:ext cx="44823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000BH</a:t>
            </a:r>
            <a:r>
              <a:rPr kumimoji="0" lang="zh-CN" altLang="en-US"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定时器</a:t>
            </a:r>
            <a:r>
              <a:rPr kumimoji="0"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溢出中断入口</a:t>
            </a:r>
          </a:p>
        </p:txBody>
      </p:sp>
      <p:sp>
        <p:nvSpPr>
          <p:cNvPr id="40980" name="Rectangle 38"/>
          <p:cNvSpPr>
            <a:spLocks noChangeArrowheads="1"/>
          </p:cNvSpPr>
          <p:nvPr/>
        </p:nvSpPr>
        <p:spPr bwMode="auto">
          <a:xfrm>
            <a:off x="2381250" y="3178473"/>
            <a:ext cx="3538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0013H</a:t>
            </a:r>
            <a:r>
              <a:rPr kumimoji="0" lang="zh-CN" altLang="en-US" sz="240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外部中断</a:t>
            </a:r>
            <a:r>
              <a:rPr kumimoji="0" lang="en-US" altLang="zh-CN"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kumimoji="0"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入口</a:t>
            </a:r>
          </a:p>
        </p:txBody>
      </p:sp>
      <p:sp>
        <p:nvSpPr>
          <p:cNvPr id="40981" name="Rectangle 39"/>
          <p:cNvSpPr>
            <a:spLocks noChangeArrowheads="1"/>
          </p:cNvSpPr>
          <p:nvPr/>
        </p:nvSpPr>
        <p:spPr bwMode="auto">
          <a:xfrm>
            <a:off x="2381250" y="2313286"/>
            <a:ext cx="44823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dirty="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001BH</a:t>
            </a:r>
            <a:r>
              <a:rPr kumimoji="0" lang="zh-CN" altLang="en-US" sz="2400" dirty="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0"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定时器</a:t>
            </a:r>
            <a:r>
              <a:rPr kumimoji="0"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kumimoji="0"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溢出中断入口</a:t>
            </a:r>
          </a:p>
        </p:txBody>
      </p:sp>
      <p:sp>
        <p:nvSpPr>
          <p:cNvPr id="40986" name="Line 44"/>
          <p:cNvSpPr>
            <a:spLocks noChangeShapeType="1"/>
          </p:cNvSpPr>
          <p:nvPr/>
        </p:nvSpPr>
        <p:spPr bwMode="auto">
          <a:xfrm>
            <a:off x="2381250" y="946448"/>
            <a:ext cx="10080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endParaRPr>
          </a:p>
        </p:txBody>
      </p:sp>
      <p:sp>
        <p:nvSpPr>
          <p:cNvPr id="40987" name="Rectangle 45"/>
          <p:cNvSpPr>
            <a:spLocks noChangeArrowheads="1"/>
          </p:cNvSpPr>
          <p:nvPr/>
        </p:nvSpPr>
        <p:spPr bwMode="auto">
          <a:xfrm>
            <a:off x="2381250" y="873423"/>
            <a:ext cx="12362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en-US" altLang="zh-CN" sz="2400" dirty="0">
                <a:solidFill>
                  <a:schemeClr val="hlin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002AH</a:t>
            </a:r>
          </a:p>
        </p:txBody>
      </p:sp>
      <p:sp>
        <p:nvSpPr>
          <p:cNvPr id="236590" name="Text Box 46"/>
          <p:cNvSpPr txBox="1">
            <a:spLocks noChangeArrowheads="1"/>
          </p:cNvSpPr>
          <p:nvPr/>
        </p:nvSpPr>
        <p:spPr bwMode="auto">
          <a:xfrm>
            <a:off x="4716463" y="0"/>
            <a:ext cx="4191000" cy="1570038"/>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kumimoji="0" lang="zh-CN" altLang="en-US" sz="2400" dirty="0">
                <a:solidFill>
                  <a:srgbClr val="CC0099"/>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使用时，通常在这些入口地址处存放一条跳转指令，使程序跳转到用户安排的中断服务子程序起始地址上去！</a:t>
            </a:r>
            <a:endParaRPr kumimoji="0" lang="zh-CN" altLang="en-US" sz="2400" dirty="0">
              <a:solidFill>
                <a:srgbClr val="CC0099"/>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47" name="Text Box 46"/>
          <p:cNvSpPr txBox="1">
            <a:spLocks noChangeArrowheads="1"/>
          </p:cNvSpPr>
          <p:nvPr/>
        </p:nvSpPr>
        <p:spPr bwMode="auto">
          <a:xfrm>
            <a:off x="4716463" y="1674317"/>
            <a:ext cx="4183063" cy="440120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zh-CN" altLang="en-US" sz="2000" dirty="0">
                <a:solidFill>
                  <a:srgbClr val="CC0099"/>
                </a:solidFill>
                <a:latin typeface="楷体_GB2312" pitchFamily="49" charset="-122"/>
                <a:ea typeface="楷体_GB2312" pitchFamily="49" charset="-122"/>
              </a:rPr>
              <a:t>包含</a:t>
            </a:r>
            <a:r>
              <a:rPr kumimoji="0" lang="en-US" altLang="zh-CN" sz="2000" dirty="0">
                <a:solidFill>
                  <a:srgbClr val="CC0099"/>
                </a:solidFill>
                <a:latin typeface="楷体_GB2312" pitchFamily="49" charset="-122"/>
                <a:ea typeface="楷体_GB2312" pitchFamily="49" charset="-122"/>
              </a:rPr>
              <a:t>T0</a:t>
            </a:r>
            <a:r>
              <a:rPr kumimoji="0" lang="zh-CN" altLang="en-US" sz="2000" dirty="0">
                <a:solidFill>
                  <a:srgbClr val="CC0099"/>
                </a:solidFill>
                <a:latin typeface="楷体_GB2312" pitchFamily="49" charset="-122"/>
                <a:ea typeface="楷体_GB2312" pitchFamily="49" charset="-122"/>
              </a:rPr>
              <a:t>中断服务子程序的程序结构：</a:t>
            </a:r>
          </a:p>
          <a:p>
            <a:pPr eaLnBrk="1" hangingPunct="1">
              <a:spcBef>
                <a:spcPct val="0"/>
              </a:spcBef>
              <a:buClrTx/>
              <a:buSzTx/>
              <a:buFontTx/>
              <a:buNone/>
            </a:pPr>
            <a:r>
              <a:rPr kumimoji="0" lang="zh-CN" altLang="en-US" sz="2000" dirty="0">
                <a:solidFill>
                  <a:srgbClr val="CC0099"/>
                </a:solidFill>
                <a:latin typeface="楷体_GB2312" pitchFamily="49" charset="-122"/>
                <a:ea typeface="楷体_GB2312" pitchFamily="49" charset="-122"/>
              </a:rPr>
              <a:t>	</a:t>
            </a:r>
            <a:r>
              <a:rPr kumimoji="0" lang="en-US" altLang="zh-CN" sz="2000" dirty="0">
                <a:solidFill>
                  <a:srgbClr val="FF3300"/>
                </a:solidFill>
                <a:latin typeface="楷体_GB2312" pitchFamily="49" charset="-122"/>
                <a:ea typeface="楷体_GB2312" pitchFamily="49" charset="-122"/>
              </a:rPr>
              <a:t>ORG   0000H</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AJMP  MAIN</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r>
              <a:rPr kumimoji="0" lang="en-US" altLang="zh-CN" sz="2000" dirty="0">
                <a:solidFill>
                  <a:srgbClr val="FF3300"/>
                </a:solidFill>
                <a:latin typeface="楷体_GB2312" pitchFamily="49" charset="-122"/>
                <a:ea typeface="楷体_GB2312" pitchFamily="49" charset="-122"/>
              </a:rPr>
              <a:t>ORG   000BH</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AJMP  INT_T0</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r>
              <a:rPr kumimoji="0" lang="en-US" altLang="zh-CN" sz="2000" dirty="0">
                <a:solidFill>
                  <a:srgbClr val="FF3300"/>
                </a:solidFill>
                <a:latin typeface="楷体_GB2312" pitchFamily="49" charset="-122"/>
                <a:ea typeface="楷体_GB2312" pitchFamily="49" charset="-122"/>
              </a:rPr>
              <a:t>ORG   0100H</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MAIN: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INT_T0: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RETI</a:t>
            </a:r>
          </a:p>
          <a:p>
            <a:pPr eaLnBrk="1" hangingPunct="1">
              <a:spcBef>
                <a:spcPct val="0"/>
              </a:spcBef>
              <a:buClrTx/>
              <a:buSzTx/>
              <a:buFontTx/>
              <a:buNone/>
            </a:pPr>
            <a:r>
              <a:rPr kumimoji="0" lang="en-US" altLang="zh-CN" sz="2000" dirty="0">
                <a:solidFill>
                  <a:srgbClr val="CC0099"/>
                </a:solidFill>
                <a:latin typeface="楷体_GB2312" pitchFamily="49" charset="-122"/>
                <a:ea typeface="楷体_GB2312" pitchFamily="49" charset="-122"/>
              </a:rPr>
              <a:t>     END</a:t>
            </a:r>
          </a:p>
        </p:txBody>
      </p:sp>
      <p:sp>
        <p:nvSpPr>
          <p:cNvPr id="44" name="Text Box 4"/>
          <p:cNvSpPr txBox="1">
            <a:spLocks noChangeArrowheads="1"/>
          </p:cNvSpPr>
          <p:nvPr/>
        </p:nvSpPr>
        <p:spPr bwMode="auto">
          <a:xfrm>
            <a:off x="546101" y="6115209"/>
            <a:ext cx="8208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30000"/>
              </a:lnSpc>
              <a:spcBef>
                <a:spcPct val="0"/>
              </a:spcBef>
              <a:buClr>
                <a:srgbClr val="FF3300"/>
              </a:buClr>
              <a:buFont typeface="Wingdings" panose="05000000000000000000" pitchFamily="2" charset="2"/>
              <a:buChar char="§"/>
              <a:defRPr/>
            </a:pPr>
            <a:r>
              <a:rPr kumimoji="0"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特别注意：</a:t>
            </a:r>
            <a:r>
              <a:rPr kumimoji="0"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分配入口地址是硬件自动完成的！</a:t>
            </a:r>
            <a:r>
              <a:rPr kumimoji="0"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6590"/>
                                        </p:tgtEl>
                                        <p:attrNameLst>
                                          <p:attrName>style.visibility</p:attrName>
                                        </p:attrNameLst>
                                      </p:cBhvr>
                                      <p:to>
                                        <p:strVal val="visible"/>
                                      </p:to>
                                    </p:set>
                                    <p:animEffect transition="in" filter="blinds(horizontal)">
                                      <p:cBhvr>
                                        <p:cTn id="7" dur="500"/>
                                        <p:tgtEl>
                                          <p:spTgt spid="23659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barn(inVertical)">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
                                            <p:txEl>
                                              <p:pRg st="0" end="0"/>
                                            </p:txEl>
                                          </p:spTgt>
                                        </p:tgtEl>
                                        <p:attrNameLst>
                                          <p:attrName>style.visibility</p:attrName>
                                        </p:attrNameLst>
                                      </p:cBhvr>
                                      <p:to>
                                        <p:strVal val="visible"/>
                                      </p:to>
                                    </p:set>
                                    <p:animEffect transition="in" filter="blinds(horizontal)">
                                      <p:cBhvr>
                                        <p:cTn id="17"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90" grpId="0" animBg="1" autoUpdateAnimBg="0"/>
      <p:bldP spid="47" grpId="0" animBg="1"/>
      <p:bldP spid="44"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Text Box 3"/>
          <p:cNvSpPr txBox="1">
            <a:spLocks noChangeArrowheads="1"/>
          </p:cNvSpPr>
          <p:nvPr/>
        </p:nvSpPr>
        <p:spPr bwMode="auto">
          <a:xfrm>
            <a:off x="827088" y="1125538"/>
            <a:ext cx="7632700" cy="290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10000"/>
              </a:lnSpc>
              <a:spcBef>
                <a:spcPct val="0"/>
              </a:spcBef>
              <a:defRPr/>
            </a:pPr>
            <a:r>
              <a:rPr lang="en-US" altLang="zh-CN" dirty="0">
                <a:effectLst>
                  <a:outerShdw blurRad="38100" dist="38100" dir="2700000" algn="tl">
                    <a:srgbClr val="000000">
                      <a:alpha val="43137"/>
                    </a:srgbClr>
                  </a:outerShdw>
                </a:effectLst>
                <a:latin typeface="Times New Roman" panose="02020603050405020304" pitchFamily="18" charset="0"/>
              </a:rPr>
              <a:t>    </a:t>
            </a:r>
            <a:r>
              <a:rPr lang="zh-CN" altLang="en-US" dirty="0">
                <a:effectLst>
                  <a:outerShdw blurRad="38100" dist="38100" dir="2700000" algn="tl">
                    <a:srgbClr val="000000">
                      <a:alpha val="43137"/>
                    </a:srgbClr>
                  </a:outerShdw>
                </a:effectLst>
                <a:latin typeface="Times New Roman" panose="02020603050405020304" pitchFamily="18" charset="0"/>
              </a:rPr>
              <a:t>如：            </a:t>
            </a:r>
            <a:r>
              <a:rPr lang="en-US" altLang="zh-CN" dirty="0">
                <a:effectLst>
                  <a:outerShdw blurRad="38100" dist="38100" dir="2700000" algn="tl">
                    <a:srgbClr val="000000">
                      <a:alpha val="43137"/>
                    </a:srgbClr>
                  </a:outerShdw>
                </a:effectLst>
                <a:latin typeface="Times New Roman" panose="02020603050405020304" pitchFamily="18" charset="0"/>
              </a:rPr>
              <a:t>ORG   0003H</a:t>
            </a:r>
          </a:p>
          <a:p>
            <a:pPr algn="l" eaLnBrk="1" hangingPunct="1">
              <a:lnSpc>
                <a:spcPct val="110000"/>
              </a:lnSpc>
              <a:spcBef>
                <a:spcPct val="0"/>
              </a:spcBef>
              <a:defRPr/>
            </a:pPr>
            <a:r>
              <a:rPr lang="en-US" altLang="zh-CN" dirty="0">
                <a:effectLst>
                  <a:outerShdw blurRad="38100" dist="38100" dir="2700000" algn="tl">
                    <a:srgbClr val="000000">
                      <a:alpha val="43137"/>
                    </a:srgbClr>
                  </a:outerShdw>
                </a:effectLst>
                <a:latin typeface="Times New Roman" panose="02020603050405020304" pitchFamily="18" charset="0"/>
              </a:rPr>
              <a:t>		  LJMP	</a:t>
            </a:r>
            <a:r>
              <a:rPr lang="en-US" altLang="zh-CN" dirty="0">
                <a:solidFill>
                  <a:srgbClr val="0000FF"/>
                </a:solidFill>
                <a:effectLst>
                  <a:outerShdw blurRad="38100" dist="38100" dir="2700000" algn="tl">
                    <a:srgbClr val="000000">
                      <a:alpha val="43137"/>
                    </a:srgbClr>
                  </a:outerShdw>
                </a:effectLst>
                <a:latin typeface="Times New Roman" panose="02020603050405020304" pitchFamily="18" charset="0"/>
              </a:rPr>
              <a:t>INT_T0</a:t>
            </a:r>
          </a:p>
          <a:p>
            <a:pPr algn="l" eaLnBrk="1" hangingPunct="1">
              <a:lnSpc>
                <a:spcPct val="110000"/>
              </a:lnSpc>
              <a:spcBef>
                <a:spcPct val="0"/>
              </a:spcBef>
              <a:defRPr/>
            </a:pPr>
            <a:r>
              <a:rPr lang="en-US" altLang="zh-CN" dirty="0">
                <a:effectLst>
                  <a:outerShdw blurRad="38100" dist="38100" dir="2700000" algn="tl">
                    <a:srgbClr val="000000">
                      <a:alpha val="43137"/>
                    </a:srgbClr>
                  </a:outerShdw>
                </a:effectLst>
                <a:latin typeface="Times New Roman" panose="02020603050405020304" pitchFamily="18" charset="0"/>
              </a:rPr>
              <a:t>	</a:t>
            </a:r>
            <a:r>
              <a:rPr lang="en-US" altLang="zh-CN" dirty="0">
                <a:solidFill>
                  <a:srgbClr val="0000FF"/>
                </a:solidFill>
                <a:effectLst>
                  <a:outerShdw blurRad="38100" dist="38100" dir="2700000" algn="tl">
                    <a:srgbClr val="000000">
                      <a:alpha val="43137"/>
                    </a:srgbClr>
                  </a:outerShdw>
                </a:effectLst>
                <a:latin typeface="Times New Roman" panose="02020603050405020304" pitchFamily="18" charset="0"/>
              </a:rPr>
              <a:t>INT_T0</a:t>
            </a:r>
            <a:r>
              <a:rPr lang="en-US" altLang="zh-CN" dirty="0">
                <a:effectLst>
                  <a:outerShdw blurRad="38100" dist="38100" dir="2700000" algn="tl">
                    <a:srgbClr val="000000">
                      <a:alpha val="43137"/>
                    </a:srgbClr>
                  </a:outerShdw>
                </a:effectLst>
                <a:latin typeface="Times New Roman" panose="02020603050405020304" pitchFamily="18" charset="0"/>
              </a:rPr>
              <a:t>:	… …</a:t>
            </a:r>
          </a:p>
          <a:p>
            <a:pPr algn="l" eaLnBrk="1" hangingPunct="1">
              <a:lnSpc>
                <a:spcPct val="110000"/>
              </a:lnSpc>
              <a:spcBef>
                <a:spcPct val="0"/>
              </a:spcBef>
              <a:defRPr/>
            </a:pPr>
            <a:r>
              <a:rPr lang="en-US" altLang="zh-CN" dirty="0">
                <a:effectLst>
                  <a:outerShdw blurRad="38100" dist="38100" dir="2700000" algn="tl">
                    <a:srgbClr val="000000">
                      <a:alpha val="43137"/>
                    </a:srgbClr>
                  </a:outerShdw>
                </a:effectLst>
                <a:latin typeface="Times New Roman" panose="02020603050405020304" pitchFamily="18" charset="0"/>
              </a:rPr>
              <a:t>                      //</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中断服务子程序</a:t>
            </a:r>
          </a:p>
          <a:p>
            <a:pPr algn="l" eaLnBrk="1" hangingPunct="1">
              <a:lnSpc>
                <a:spcPct val="110000"/>
              </a:lnSpc>
              <a:spcBef>
                <a:spcPct val="0"/>
              </a:spcBef>
              <a:defRPr/>
            </a:pPr>
            <a:r>
              <a:rPr lang="zh-CN" altLang="en-US" dirty="0">
                <a:effectLst>
                  <a:outerShdw blurRad="38100" dist="38100" dir="2700000" algn="tl">
                    <a:srgbClr val="000000">
                      <a:alpha val="43137"/>
                    </a:srgbClr>
                  </a:outerShdw>
                </a:effectLst>
                <a:latin typeface="Times New Roman" panose="02020603050405020304" pitchFamily="18" charset="0"/>
              </a:rPr>
              <a:t>			</a:t>
            </a:r>
            <a:r>
              <a:rPr lang="en-US" altLang="zh-CN" dirty="0">
                <a:effectLst>
                  <a:outerShdw blurRad="38100" dist="38100" dir="2700000" algn="tl">
                    <a:srgbClr val="000000">
                      <a:alpha val="43137"/>
                    </a:srgbClr>
                  </a:outerShdw>
                </a:effectLst>
                <a:latin typeface="Times New Roman" panose="02020603050405020304" pitchFamily="18" charset="0"/>
              </a:rPr>
              <a:t>… …</a:t>
            </a:r>
          </a:p>
          <a:p>
            <a:pPr algn="l" eaLnBrk="1" hangingPunct="1">
              <a:lnSpc>
                <a:spcPct val="110000"/>
              </a:lnSpc>
              <a:spcBef>
                <a:spcPct val="0"/>
              </a:spcBef>
              <a:defRPr/>
            </a:pPr>
            <a:r>
              <a:rPr lang="en-US" altLang="zh-CN" dirty="0">
                <a:effectLst>
                  <a:outerShdw blurRad="38100" dist="38100" dir="2700000" algn="tl">
                    <a:srgbClr val="000000">
                      <a:alpha val="43137"/>
                    </a:srgbClr>
                  </a:outerShdw>
                </a:effectLst>
                <a:latin typeface="Times New Roman" panose="02020603050405020304" pitchFamily="18" charset="0"/>
              </a:rPr>
              <a:t>                       </a:t>
            </a:r>
            <a:r>
              <a:rPr lang="en-US" altLang="zh-CN" dirty="0">
                <a:solidFill>
                  <a:srgbClr val="CC00FF"/>
                </a:solidFill>
                <a:effectLst>
                  <a:outerShdw blurRad="38100" dist="38100" dir="2700000" algn="tl">
                    <a:srgbClr val="000000">
                      <a:alpha val="43137"/>
                    </a:srgbClr>
                  </a:outerShdw>
                </a:effectLst>
                <a:latin typeface="Times New Roman" panose="02020603050405020304" pitchFamily="18" charset="0"/>
              </a:rPr>
              <a:t>RETI</a:t>
            </a:r>
          </a:p>
        </p:txBody>
      </p:sp>
      <p:sp>
        <p:nvSpPr>
          <p:cNvPr id="247812" name="Text Box 4"/>
          <p:cNvSpPr txBox="1">
            <a:spLocks noChangeArrowheads="1"/>
          </p:cNvSpPr>
          <p:nvPr/>
        </p:nvSpPr>
        <p:spPr bwMode="auto">
          <a:xfrm>
            <a:off x="898525" y="506125"/>
            <a:ext cx="51283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zh-CN" altLang="en-US" sz="32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中断入口地址安排跳转指令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2">
                                            <p:txEl>
                                              <p:pRg st="0" end="0"/>
                                            </p:txEl>
                                          </p:spTgt>
                                        </p:tgtEl>
                                        <p:attrNameLst>
                                          <p:attrName>style.visibility</p:attrName>
                                        </p:attrNameLst>
                                      </p:cBhvr>
                                      <p:to>
                                        <p:strVal val="visible"/>
                                      </p:to>
                                    </p:set>
                                    <p:anim calcmode="lin" valueType="num">
                                      <p:cBhvr additive="base">
                                        <p:cTn id="7" dur="500" fill="hold"/>
                                        <p:tgtEl>
                                          <p:spTgt spid="2478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781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7811"/>
                                        </p:tgtEl>
                                        <p:attrNameLst>
                                          <p:attrName>style.visibility</p:attrName>
                                        </p:attrNameLst>
                                      </p:cBhvr>
                                      <p:to>
                                        <p:strVal val="visible"/>
                                      </p:to>
                                    </p:set>
                                    <p:anim calcmode="lin" valueType="num">
                                      <p:cBhvr additive="base">
                                        <p:cTn id="13" dur="500" fill="hold"/>
                                        <p:tgtEl>
                                          <p:spTgt spid="247811"/>
                                        </p:tgtEl>
                                        <p:attrNameLst>
                                          <p:attrName>ppt_x</p:attrName>
                                        </p:attrNameLst>
                                      </p:cBhvr>
                                      <p:tavLst>
                                        <p:tav tm="0">
                                          <p:val>
                                            <p:strVal val="0-#ppt_w/2"/>
                                          </p:val>
                                        </p:tav>
                                        <p:tav tm="100000">
                                          <p:val>
                                            <p:strVal val="#ppt_x"/>
                                          </p:val>
                                        </p:tav>
                                      </p:tavLst>
                                    </p:anim>
                                    <p:anim calcmode="lin" valueType="num">
                                      <p:cBhvr additive="base">
                                        <p:cTn id="14" dur="500" fill="hold"/>
                                        <p:tgtEl>
                                          <p:spTgt spid="2478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autoUpdateAnimBg="0"/>
      <p:bldP spid="247812"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3568" y="289132"/>
            <a:ext cx="6967538" cy="706438"/>
          </a:xfrm>
        </p:spPr>
        <p:txBody>
          <a:bodyPr anchor="ctr"/>
          <a:lstStyle/>
          <a:p>
            <a:pPr eaLnBrk="1" hangingPunct="1">
              <a:defRPr/>
            </a:pPr>
            <a:r>
              <a:rPr lang="zh-CN" altLang="en-US" sz="40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二、中断处理</a:t>
            </a:r>
          </a:p>
        </p:txBody>
      </p:sp>
      <p:sp>
        <p:nvSpPr>
          <p:cNvPr id="238595" name="Text Box 3"/>
          <p:cNvSpPr txBox="1">
            <a:spLocks noChangeArrowheads="1"/>
          </p:cNvSpPr>
          <p:nvPr/>
        </p:nvSpPr>
        <p:spPr bwMode="auto">
          <a:xfrm>
            <a:off x="4572000" y="1196975"/>
            <a:ext cx="4338638" cy="474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
                <a:srgbClr val="FF3300"/>
              </a:buClr>
              <a:buFont typeface="Wingdings" panose="05000000000000000000" pitchFamily="2" charset="2"/>
              <a:buChar char="§"/>
              <a:defRPr/>
            </a:pP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中断服务程序从中断子程序</a:t>
            </a: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入口地址处</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开始执行，直到返回指令</a:t>
            </a:r>
            <a:r>
              <a:rPr kumimoji="0"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RETI</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为止，这个过程称为</a:t>
            </a: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中断处理</a:t>
            </a:r>
            <a:r>
              <a:rPr kumimoji="0" lang="en-US" altLang="zh-CN"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或中断服务</a:t>
            </a:r>
            <a:r>
              <a:rPr kumimoji="0" lang="en-US" altLang="zh-CN"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p>
          <a:p>
            <a:pPr algn="l">
              <a:lnSpc>
                <a:spcPct val="120000"/>
              </a:lnSpc>
              <a:spcBef>
                <a:spcPct val="0"/>
              </a:spcBef>
              <a:buClr>
                <a:srgbClr val="FF3300"/>
              </a:buClr>
              <a:buFont typeface="Wingdings" panose="05000000000000000000" pitchFamily="2" charset="2"/>
              <a:buChar char="§"/>
              <a:defRPr/>
            </a:pP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中断服务子程序一般包括两部分内容，</a:t>
            </a:r>
            <a:r>
              <a:rPr kumimoji="0" lang="zh-CN" altLang="en-US" dirty="0">
                <a:solidFill>
                  <a:schemeClr val="fo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一是</a:t>
            </a: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保护和恢复现场</a:t>
            </a:r>
            <a:r>
              <a:rPr kumimoji="0" lang="zh-CN" altLang="en-US" dirty="0">
                <a:solidFill>
                  <a:schemeClr val="fo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，二是</a:t>
            </a: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处理中断源的请求</a:t>
            </a:r>
            <a:r>
              <a:rPr kumimoji="0" lang="zh-CN" altLang="en-US" dirty="0">
                <a:solidFill>
                  <a:schemeClr val="fo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endPar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endParaRPr>
          </a:p>
        </p:txBody>
      </p:sp>
      <p:pic>
        <p:nvPicPr>
          <p:cNvPr id="52228" name="Picture 4" descr="5-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628775"/>
            <a:ext cx="44196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29" name="Group 5"/>
          <p:cNvGrpSpPr/>
          <p:nvPr/>
        </p:nvGrpSpPr>
        <p:grpSpPr bwMode="auto">
          <a:xfrm>
            <a:off x="1905000" y="3041650"/>
            <a:ext cx="1066800" cy="1082675"/>
            <a:chOff x="4128" y="2198"/>
            <a:chExt cx="672" cy="682"/>
          </a:xfrm>
        </p:grpSpPr>
        <p:sp>
          <p:nvSpPr>
            <p:cNvPr id="44040" name="Text Box 6"/>
            <p:cNvSpPr txBox="1">
              <a:spLocks noChangeArrowheads="1"/>
            </p:cNvSpPr>
            <p:nvPr/>
          </p:nvSpPr>
          <p:spPr bwMode="auto">
            <a:xfrm>
              <a:off x="4128" y="263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中</a:t>
              </a:r>
            </a:p>
          </p:txBody>
        </p:sp>
        <p:sp>
          <p:nvSpPr>
            <p:cNvPr id="44041" name="Text Box 7"/>
            <p:cNvSpPr txBox="1">
              <a:spLocks noChangeArrowheads="1"/>
            </p:cNvSpPr>
            <p:nvPr/>
          </p:nvSpPr>
          <p:spPr bwMode="auto">
            <a:xfrm>
              <a:off x="4272" y="248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断</a:t>
              </a:r>
            </a:p>
          </p:txBody>
        </p:sp>
        <p:sp>
          <p:nvSpPr>
            <p:cNvPr id="44042" name="Text Box 8"/>
            <p:cNvSpPr txBox="1">
              <a:spLocks noChangeArrowheads="1"/>
            </p:cNvSpPr>
            <p:nvPr/>
          </p:nvSpPr>
          <p:spPr bwMode="auto">
            <a:xfrm>
              <a:off x="4368" y="234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响</a:t>
              </a:r>
            </a:p>
          </p:txBody>
        </p:sp>
        <p:sp>
          <p:nvSpPr>
            <p:cNvPr id="44043" name="Text Box 9"/>
            <p:cNvSpPr txBox="1">
              <a:spLocks noChangeArrowheads="1"/>
            </p:cNvSpPr>
            <p:nvPr/>
          </p:nvSpPr>
          <p:spPr bwMode="auto">
            <a:xfrm>
              <a:off x="4512" y="219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kumimoji="0" lang="zh-CN" altLang="en-US" sz="2000">
                  <a:effectLst>
                    <a:outerShdw blurRad="38100" dist="38100" dir="2700000" algn="tl">
                      <a:srgbClr val="000000">
                        <a:alpha val="43137"/>
                      </a:srgbClr>
                    </a:outerShdw>
                  </a:effectLst>
                  <a:latin typeface="Times New Roman" panose="02020603050405020304" pitchFamily="18" charset="0"/>
                </a:rPr>
                <a:t>应</a:t>
              </a:r>
            </a:p>
          </p:txBody>
        </p:sp>
      </p:grpSp>
      <p:sp>
        <p:nvSpPr>
          <p:cNvPr id="44038" name="AutoShape 10"/>
          <p:cNvSpPr>
            <a:spLocks noChangeArrowheads="1"/>
          </p:cNvSpPr>
          <p:nvPr/>
        </p:nvSpPr>
        <p:spPr bwMode="auto">
          <a:xfrm>
            <a:off x="1981200" y="1000125"/>
            <a:ext cx="1752600" cy="533400"/>
          </a:xfrm>
          <a:prstGeom prst="wedgeEllipseCallout">
            <a:avLst>
              <a:gd name="adj1" fmla="val 29894"/>
              <a:gd name="adj2" fmla="val 141370"/>
            </a:avLst>
          </a:prstGeom>
          <a:solidFill>
            <a:srgbClr val="CCFFF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r>
              <a:rPr kumimoji="0" lang="zh-CN" altLang="en-US"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入口地址</a:t>
            </a:r>
          </a:p>
        </p:txBody>
      </p:sp>
      <p:sp>
        <p:nvSpPr>
          <p:cNvPr id="44039" name="AutoShape 11"/>
          <p:cNvSpPr>
            <a:spLocks noChangeArrowheads="1"/>
          </p:cNvSpPr>
          <p:nvPr/>
        </p:nvSpPr>
        <p:spPr bwMode="auto">
          <a:xfrm>
            <a:off x="2971800" y="5991225"/>
            <a:ext cx="1752600" cy="533400"/>
          </a:xfrm>
          <a:prstGeom prst="wedgeEllipseCallout">
            <a:avLst>
              <a:gd name="adj1" fmla="val -17935"/>
              <a:gd name="adj2" fmla="val -145833"/>
            </a:avLst>
          </a:prstGeom>
          <a:solidFill>
            <a:srgbClr val="CCFFFF"/>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spcBef>
                <a:spcPct val="0"/>
              </a:spcBef>
              <a:defRPr/>
            </a:pPr>
            <a:r>
              <a:rPr kumimoji="0" lang="en-US" alt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RETI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blinds(horizontal)">
                                      <p:cBhvr>
                                        <p:cTn id="7" dur="500"/>
                                        <p:tgtEl>
                                          <p:spTgt spid="238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8595">
                                            <p:txEl>
                                              <p:pRg st="1" end="1"/>
                                            </p:txEl>
                                          </p:spTgt>
                                        </p:tgtEl>
                                        <p:attrNameLst>
                                          <p:attrName>style.visibility</p:attrName>
                                        </p:attrNameLst>
                                      </p:cBhvr>
                                      <p:to>
                                        <p:strVal val="visible"/>
                                      </p:to>
                                    </p:set>
                                    <p:animEffect transition="in" filter="blinds(horizontal)">
                                      <p:cBhvr>
                                        <p:cTn id="12" dur="500"/>
                                        <p:tgtEl>
                                          <p:spTgt spid="2385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00113" y="188913"/>
            <a:ext cx="7793037" cy="841375"/>
          </a:xfrm>
        </p:spPr>
        <p:txBody>
          <a:bodyPr/>
          <a:lstStyle/>
          <a:p>
            <a:pPr eaLnBrk="1" hangingPunct="1">
              <a:defRPr/>
            </a:pPr>
            <a:r>
              <a:rPr lang="zh-CN" altLang="en-US" sz="40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三、中断返回</a:t>
            </a:r>
          </a:p>
        </p:txBody>
      </p:sp>
      <p:sp>
        <p:nvSpPr>
          <p:cNvPr id="240643" name="Text Box 3"/>
          <p:cNvSpPr txBox="1">
            <a:spLocks noChangeArrowheads="1"/>
          </p:cNvSpPr>
          <p:nvPr/>
        </p:nvSpPr>
        <p:spPr bwMode="auto">
          <a:xfrm>
            <a:off x="4787900" y="1700213"/>
            <a:ext cx="4038600" cy="401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30000"/>
              </a:lnSpc>
              <a:spcBef>
                <a:spcPct val="0"/>
              </a:spcBef>
              <a:buClr>
                <a:srgbClr val="FF3300"/>
              </a:buClr>
              <a:buFont typeface="Wingdings" panose="05000000000000000000" pitchFamily="2" charset="2"/>
              <a:buChar char="§"/>
              <a:defRPr/>
            </a:pP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 </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中断返回是指中断服务完后，计算机返回到原来暂停的位置</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即断点</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，继续执行原来的程序。</a:t>
            </a:r>
          </a:p>
          <a:p>
            <a:pPr algn="l" eaLnBrk="1" hangingPunct="1">
              <a:lnSpc>
                <a:spcPct val="130000"/>
              </a:lnSpc>
              <a:spcBef>
                <a:spcPct val="0"/>
              </a:spcBef>
              <a:buClr>
                <a:srgbClr val="FF3300"/>
              </a:buClr>
              <a:buFont typeface="Wingdings" panose="05000000000000000000" pitchFamily="2" charset="2"/>
              <a:buChar char="§"/>
              <a:defRPr/>
            </a:pP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 中断返回由专门的中断返回指令</a:t>
            </a:r>
            <a:r>
              <a:rPr kumimoji="0" lang="en-US" altLang="zh-CN"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RETI</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来实现。</a:t>
            </a:r>
          </a:p>
        </p:txBody>
      </p:sp>
      <p:pic>
        <p:nvPicPr>
          <p:cNvPr id="53252" name="Picture 4" descr="5-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557338"/>
            <a:ext cx="446405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253" name="Group 5"/>
          <p:cNvGrpSpPr/>
          <p:nvPr/>
        </p:nvGrpSpPr>
        <p:grpSpPr bwMode="auto">
          <a:xfrm>
            <a:off x="2076450" y="2303463"/>
            <a:ext cx="1066800" cy="1082675"/>
            <a:chOff x="4128" y="2198"/>
            <a:chExt cx="672" cy="682"/>
          </a:xfrm>
        </p:grpSpPr>
        <p:sp>
          <p:nvSpPr>
            <p:cNvPr id="53259" name="Text Box 6"/>
            <p:cNvSpPr txBox="1">
              <a:spLocks noChangeArrowheads="1"/>
            </p:cNvSpPr>
            <p:nvPr/>
          </p:nvSpPr>
          <p:spPr bwMode="auto">
            <a:xfrm>
              <a:off x="4128" y="263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中</a:t>
              </a:r>
            </a:p>
          </p:txBody>
        </p:sp>
        <p:sp>
          <p:nvSpPr>
            <p:cNvPr id="53260" name="Text Box 7"/>
            <p:cNvSpPr txBox="1">
              <a:spLocks noChangeArrowheads="1"/>
            </p:cNvSpPr>
            <p:nvPr/>
          </p:nvSpPr>
          <p:spPr bwMode="auto">
            <a:xfrm>
              <a:off x="4272" y="248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断</a:t>
              </a:r>
            </a:p>
          </p:txBody>
        </p:sp>
        <p:sp>
          <p:nvSpPr>
            <p:cNvPr id="53261" name="Text Box 8"/>
            <p:cNvSpPr txBox="1">
              <a:spLocks noChangeArrowheads="1"/>
            </p:cNvSpPr>
            <p:nvPr/>
          </p:nvSpPr>
          <p:spPr bwMode="auto">
            <a:xfrm>
              <a:off x="4368" y="234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响</a:t>
              </a:r>
            </a:p>
          </p:txBody>
        </p:sp>
        <p:sp>
          <p:nvSpPr>
            <p:cNvPr id="53262" name="Text Box 9"/>
            <p:cNvSpPr txBox="1">
              <a:spLocks noChangeArrowheads="1"/>
            </p:cNvSpPr>
            <p:nvPr/>
          </p:nvSpPr>
          <p:spPr bwMode="auto">
            <a:xfrm>
              <a:off x="4512" y="219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应</a:t>
              </a:r>
            </a:p>
          </p:txBody>
        </p:sp>
      </p:grpSp>
      <p:grpSp>
        <p:nvGrpSpPr>
          <p:cNvPr id="53254" name="Group 10"/>
          <p:cNvGrpSpPr/>
          <p:nvPr/>
        </p:nvGrpSpPr>
        <p:grpSpPr bwMode="auto">
          <a:xfrm>
            <a:off x="2076450" y="3386138"/>
            <a:ext cx="1143000" cy="1066800"/>
            <a:chOff x="4128" y="2880"/>
            <a:chExt cx="720" cy="672"/>
          </a:xfrm>
        </p:grpSpPr>
        <p:sp>
          <p:nvSpPr>
            <p:cNvPr id="53255" name="Text Box 11"/>
            <p:cNvSpPr txBox="1">
              <a:spLocks noChangeArrowheads="1"/>
            </p:cNvSpPr>
            <p:nvPr/>
          </p:nvSpPr>
          <p:spPr bwMode="auto">
            <a:xfrm>
              <a:off x="4128" y="288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中</a:t>
              </a:r>
            </a:p>
          </p:txBody>
        </p:sp>
        <p:sp>
          <p:nvSpPr>
            <p:cNvPr id="53256" name="Text Box 12"/>
            <p:cNvSpPr txBox="1">
              <a:spLocks noChangeArrowheads="1"/>
            </p:cNvSpPr>
            <p:nvPr/>
          </p:nvSpPr>
          <p:spPr bwMode="auto">
            <a:xfrm>
              <a:off x="4272" y="301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断</a:t>
              </a:r>
            </a:p>
          </p:txBody>
        </p:sp>
        <p:sp>
          <p:nvSpPr>
            <p:cNvPr id="53257" name="Text Box 13"/>
            <p:cNvSpPr txBox="1">
              <a:spLocks noChangeArrowheads="1"/>
            </p:cNvSpPr>
            <p:nvPr/>
          </p:nvSpPr>
          <p:spPr bwMode="auto">
            <a:xfrm>
              <a:off x="4416" y="316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返</a:t>
              </a:r>
            </a:p>
          </p:txBody>
        </p:sp>
        <p:sp>
          <p:nvSpPr>
            <p:cNvPr id="53258" name="Text Box 14"/>
            <p:cNvSpPr txBox="1">
              <a:spLocks noChangeArrowheads="1"/>
            </p:cNvSpPr>
            <p:nvPr/>
          </p:nvSpPr>
          <p:spPr bwMode="auto">
            <a:xfrm>
              <a:off x="4560" y="330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sz="2000">
                  <a:latin typeface="Times New Roman" panose="02020603050405020304" pitchFamily="18" charset="0"/>
                  <a:ea typeface="楷体_GB2312" pitchFamily="49" charset="-122"/>
                </a:rPr>
                <a:t>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Effect transition="in" filter="blinds(horizontal)">
                                      <p:cBhvr>
                                        <p:cTn id="7" dur="500"/>
                                        <p:tgtEl>
                                          <p:spTgt spid="240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0643">
                                            <p:txEl>
                                              <p:pRg st="1" end="1"/>
                                            </p:txEl>
                                          </p:spTgt>
                                        </p:tgtEl>
                                        <p:attrNameLst>
                                          <p:attrName>style.visibility</p:attrName>
                                        </p:attrNameLst>
                                      </p:cBhvr>
                                      <p:to>
                                        <p:strVal val="visible"/>
                                      </p:to>
                                    </p:set>
                                    <p:animEffect transition="in" filter="blinds(horizontal)">
                                      <p:cBhvr>
                                        <p:cTn id="12" dur="500"/>
                                        <p:tgtEl>
                                          <p:spTgt spid="2406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ChangeArrowheads="1"/>
          </p:cNvSpPr>
          <p:nvPr/>
        </p:nvSpPr>
        <p:spPr bwMode="auto">
          <a:xfrm>
            <a:off x="755650" y="297064"/>
            <a:ext cx="77771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spcBef>
                <a:spcPct val="0"/>
              </a:spcBef>
              <a:defRPr/>
            </a:pPr>
            <a:r>
              <a:rPr lang="zh-CN" altLang="en-US" sz="36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四、中断撤销</a:t>
            </a:r>
          </a:p>
        </p:txBody>
      </p:sp>
      <p:sp>
        <p:nvSpPr>
          <p:cNvPr id="169987" name="Text Box 3"/>
          <p:cNvSpPr txBox="1">
            <a:spLocks noChangeArrowheads="1"/>
          </p:cNvSpPr>
          <p:nvPr/>
        </p:nvSpPr>
        <p:spPr bwMode="auto">
          <a:xfrm>
            <a:off x="824776" y="3889889"/>
            <a:ext cx="806608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10000"/>
              </a:lnSpc>
              <a:spcBef>
                <a:spcPct val="0"/>
              </a:spcBef>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外中断包括：边沿触发方式 和电平触发方式 </a:t>
            </a:r>
          </a:p>
        </p:txBody>
      </p:sp>
      <p:sp>
        <p:nvSpPr>
          <p:cNvPr id="169988" name="Text Box 4"/>
          <p:cNvSpPr txBox="1">
            <a:spLocks noChangeArrowheads="1"/>
          </p:cNvSpPr>
          <p:nvPr/>
        </p:nvSpPr>
        <p:spPr bwMode="auto">
          <a:xfrm>
            <a:off x="755650" y="3172084"/>
            <a:ext cx="48958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defRPr/>
            </a:pP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（一）外部中断的撤除</a:t>
            </a:r>
            <a:endParaRPr lang="zh-CN" altLang="en-US" sz="3200" u="sng"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69989" name="Text Box 5"/>
          <p:cNvSpPr txBox="1">
            <a:spLocks noChangeArrowheads="1"/>
          </p:cNvSpPr>
          <p:nvPr/>
        </p:nvSpPr>
        <p:spPr bwMode="auto">
          <a:xfrm>
            <a:off x="858504" y="4509120"/>
            <a:ext cx="7489825" cy="15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lang="en-US" altLang="zh-CN"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边沿触发方式 （</a:t>
            </a:r>
            <a:r>
              <a:rPr lang="zh-CN" altLang="en-US" u="sng"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自动撤除</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a:p>
            <a:pPr algn="l">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中断响应完由</a:t>
            </a:r>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硬件自动</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将中断标志位（</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IE0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或</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IE1 </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清</a:t>
            </a:r>
            <a:r>
              <a:rPr lang="en-US" altLang="zh-CN"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sp>
        <p:nvSpPr>
          <p:cNvPr id="6" name="Text Box 3"/>
          <p:cNvSpPr txBox="1">
            <a:spLocks noChangeArrowheads="1"/>
          </p:cNvSpPr>
          <p:nvPr/>
        </p:nvSpPr>
        <p:spPr bwMode="auto">
          <a:xfrm>
            <a:off x="772740" y="2525307"/>
            <a:ext cx="8066087" cy="50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10000"/>
              </a:lnSpc>
              <a:spcBef>
                <a:spcPct val="0"/>
              </a:spcBef>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中断撤销，即</a:t>
            </a:r>
            <a:r>
              <a:rPr lang="zh-CN" altLang="en-US"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将中断请求标志位清</a:t>
            </a:r>
            <a:r>
              <a:rPr lang="en-US" altLang="zh-CN"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0</a:t>
            </a:r>
            <a:r>
              <a:rPr lang="zh-CN" altLang="en-US"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的操作</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sp>
        <p:nvSpPr>
          <p:cNvPr id="7" name="Text Box 3">
            <a:extLst>
              <a:ext uri="{FF2B5EF4-FFF2-40B4-BE49-F238E27FC236}">
                <a16:creationId xmlns:a16="http://schemas.microsoft.com/office/drawing/2014/main" id="{DE7DF132-60A4-4911-997F-DED5D82F02F6}"/>
              </a:ext>
            </a:extLst>
          </p:cNvPr>
          <p:cNvSpPr txBox="1">
            <a:spLocks noChangeArrowheads="1"/>
          </p:cNvSpPr>
          <p:nvPr/>
        </p:nvSpPr>
        <p:spPr bwMode="auto">
          <a:xfrm>
            <a:off x="773768" y="1029152"/>
            <a:ext cx="8066087" cy="145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lnSpc>
                <a:spcPct val="110000"/>
              </a:lnSpc>
              <a:spcBef>
                <a:spcPct val="0"/>
              </a:spcBef>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中断响应后，</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TCON</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和</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SCON</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中的中断请求标志应及时清</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，否则中断请求将仍然存在，并可能引起中断误响应。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9988">
                                            <p:txEl>
                                              <p:pRg st="0" end="0"/>
                                            </p:txEl>
                                          </p:spTgt>
                                        </p:tgtEl>
                                        <p:attrNameLst>
                                          <p:attrName>style.visibility</p:attrName>
                                        </p:attrNameLst>
                                      </p:cBhvr>
                                      <p:to>
                                        <p:strVal val="visible"/>
                                      </p:to>
                                    </p:set>
                                    <p:anim calcmode="lin" valueType="num">
                                      <p:cBhvr additive="base">
                                        <p:cTn id="18" dur="500" fill="hold"/>
                                        <p:tgtEl>
                                          <p:spTgt spid="169988">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99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69987">
                                            <p:txEl>
                                              <p:pRg st="0" end="0"/>
                                            </p:txEl>
                                          </p:spTgt>
                                        </p:tgtEl>
                                        <p:attrNameLst>
                                          <p:attrName>style.visibility</p:attrName>
                                        </p:attrNameLst>
                                      </p:cBhvr>
                                      <p:to>
                                        <p:strVal val="visible"/>
                                      </p:to>
                                    </p:set>
                                    <p:anim calcmode="lin" valueType="num">
                                      <p:cBhvr additive="base">
                                        <p:cTn id="24" dur="500" fill="hold"/>
                                        <p:tgtEl>
                                          <p:spTgt spid="169987">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699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69989">
                                            <p:txEl>
                                              <p:pRg st="0" end="0"/>
                                            </p:txEl>
                                          </p:spTgt>
                                        </p:tgtEl>
                                        <p:attrNameLst>
                                          <p:attrName>style.visibility</p:attrName>
                                        </p:attrNameLst>
                                      </p:cBhvr>
                                      <p:to>
                                        <p:strVal val="visible"/>
                                      </p:to>
                                    </p:set>
                                    <p:animEffect transition="in" filter="randombar(horizontal)">
                                      <p:cBhvr>
                                        <p:cTn id="30" dur="500"/>
                                        <p:tgtEl>
                                          <p:spTgt spid="16998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169989">
                                            <p:txEl>
                                              <p:pRg st="1" end="1"/>
                                            </p:txEl>
                                          </p:spTgt>
                                        </p:tgtEl>
                                        <p:attrNameLst>
                                          <p:attrName>style.visibility</p:attrName>
                                        </p:attrNameLst>
                                      </p:cBhvr>
                                      <p:to>
                                        <p:strVal val="visible"/>
                                      </p:to>
                                    </p:set>
                                    <p:animEffect transition="in" filter="randombar(horizontal)">
                                      <p:cBhvr>
                                        <p:cTn id="35" dur="500"/>
                                        <p:tgtEl>
                                          <p:spTgt spid="1699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autoUpdateAnimBg="0"/>
      <p:bldP spid="169988" grpId="0" build="p" autoUpdateAnimBg="0"/>
      <p:bldP spid="169989" grpId="0" build="p"/>
      <p:bldP spid="6" grpId="0" build="p" autoUpdateAnimBg="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9" name="Rectangle 5"/>
          <p:cNvSpPr>
            <a:spLocks noChangeArrowheads="1"/>
          </p:cNvSpPr>
          <p:nvPr/>
        </p:nvSpPr>
        <p:spPr bwMode="auto">
          <a:xfrm>
            <a:off x="900113" y="549275"/>
            <a:ext cx="2698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电平触发方式</a:t>
            </a:r>
          </a:p>
        </p:txBody>
      </p:sp>
      <p:sp>
        <p:nvSpPr>
          <p:cNvPr id="257028" name="Text Box 4"/>
          <p:cNvSpPr txBox="1">
            <a:spLocks noChangeArrowheads="1"/>
          </p:cNvSpPr>
          <p:nvPr/>
        </p:nvSpPr>
        <p:spPr bwMode="auto">
          <a:xfrm>
            <a:off x="683895" y="1483995"/>
            <a:ext cx="7988300" cy="3538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kumimoji="0" lang="en-US" altLang="zh-CN"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panose="05000000000000000000" pitchFamily="2" charset="2"/>
              </a:rPr>
              <a:t></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panose="05000000000000000000" pitchFamily="2" charset="2"/>
              </a:rPr>
              <a:t>电平触发外部中断</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撤除方法较复杂。</a:t>
            </a:r>
          </a:p>
          <a:p>
            <a:pPr algn="l">
              <a:defRPr/>
            </a:pP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    因为在电平触发方式中，</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CPU</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响应中断时不会自动清除</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IE1</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或</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IE0</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标志，所以在响应中断后应立即撤除</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INT0#</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或</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INT1#</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引脚上的低电平。</a:t>
            </a:r>
          </a:p>
          <a:p>
            <a:pPr algn="l">
              <a:defRPr/>
            </a:pPr>
            <a:r>
              <a:rPr kumimoji="0" lang="zh-CN" altLang="en-US" dirty="0">
                <a:solidFill>
                  <a:srgbClr val="FF33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panose="05000000000000000000" pitchFamily="2" charset="2"/>
              </a:rPr>
              <a:t></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 在硬件上，</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CPU</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对</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INT0#</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和</a:t>
            </a:r>
            <a:r>
              <a:rPr kumimoji="0"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INT1#</a:t>
            </a:r>
            <a:r>
              <a:rPr kumimoji="0"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rPr>
              <a:t>引脚的信号不能控制，所以这个问题要通过硬件，再配合软件来解决。</a:t>
            </a:r>
            <a:endParaRPr kumimoji="0"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sym typeface="Wingdings 2" pitchFamily="18" charset="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339975" y="45815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zh-CN" altLang="en-US" sz="24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图   撤除外部中断请求的电路</a:t>
            </a:r>
          </a:p>
        </p:txBody>
      </p:sp>
      <p:graphicFrame>
        <p:nvGraphicFramePr>
          <p:cNvPr id="57347" name="Object 3"/>
          <p:cNvGraphicFramePr>
            <a:graphicFrameLocks noChangeAspect="1"/>
          </p:cNvGraphicFramePr>
          <p:nvPr/>
        </p:nvGraphicFramePr>
        <p:xfrm>
          <a:off x="1763713" y="1125538"/>
          <a:ext cx="5791200" cy="3227387"/>
        </p:xfrm>
        <a:graphic>
          <a:graphicData uri="http://schemas.openxmlformats.org/presentationml/2006/ole">
            <mc:AlternateContent xmlns:mc="http://schemas.openxmlformats.org/markup-compatibility/2006">
              <mc:Choice xmlns:v="urn:schemas-microsoft-com:vml" Requires="v">
                <p:oleObj spid="_x0000_s1039" name="VISIO" r:id="rId3" imgW="2343785" imgH="1306195" progId="Visio.Drawing.4">
                  <p:embed/>
                </p:oleObj>
              </mc:Choice>
              <mc:Fallback>
                <p:oleObj name="VISIO" r:id="rId3" imgW="2343785" imgH="1306195"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125538"/>
                        <a:ext cx="5791200" cy="322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4980" name="AutoShape 4"/>
          <p:cNvSpPr>
            <a:spLocks noChangeArrowheads="1"/>
          </p:cNvSpPr>
          <p:nvPr/>
        </p:nvSpPr>
        <p:spPr bwMode="auto">
          <a:xfrm>
            <a:off x="4787900" y="4005263"/>
            <a:ext cx="2447925" cy="1439862"/>
          </a:xfrm>
          <a:prstGeom prst="wedgeRoundRectCallout">
            <a:avLst>
              <a:gd name="adj1" fmla="val -53565"/>
              <a:gd name="adj2" fmla="val -129713"/>
              <a:gd name="adj3" fmla="val 16667"/>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zh-CN" altLang="en-US" sz="2400">
                <a:effectLst>
                  <a:outerShdw blurRad="38100" dist="38100" dir="2700000" algn="tl">
                    <a:srgbClr val="000000">
                      <a:alpha val="43137"/>
                    </a:srgbClr>
                  </a:outerShdw>
                </a:effectLst>
                <a:latin typeface="+mn-ea"/>
                <a:ea typeface="+mn-ea"/>
              </a:rPr>
              <a:t>直接置位端，低电平有效，</a:t>
            </a:r>
            <a:r>
              <a:rPr lang="en-US" altLang="zh-CN" sz="2400">
                <a:effectLst>
                  <a:outerShdw blurRad="38100" dist="38100" dir="2700000" algn="tl">
                    <a:srgbClr val="000000">
                      <a:alpha val="43137"/>
                    </a:srgbClr>
                  </a:outerShdw>
                </a:effectLst>
                <a:latin typeface="+mn-ea"/>
                <a:ea typeface="+mn-ea"/>
              </a:rPr>
              <a:t>Q</a:t>
            </a:r>
            <a:r>
              <a:rPr lang="zh-CN" altLang="en-US" sz="2400">
                <a:effectLst>
                  <a:outerShdw blurRad="38100" dist="38100" dir="2700000" algn="tl">
                    <a:srgbClr val="000000">
                      <a:alpha val="43137"/>
                    </a:srgbClr>
                  </a:outerShdw>
                </a:effectLst>
                <a:latin typeface="+mn-ea"/>
                <a:ea typeface="+mn-ea"/>
              </a:rPr>
              <a:t>端被置</a:t>
            </a:r>
            <a:r>
              <a:rPr lang="en-US" altLang="zh-CN" sz="2400">
                <a:effectLst>
                  <a:outerShdw blurRad="38100" dist="38100" dir="2700000" algn="tl">
                    <a:srgbClr val="000000">
                      <a:alpha val="43137"/>
                    </a:srgbClr>
                  </a:outerShdw>
                </a:effectLst>
                <a:latin typeface="+mn-ea"/>
                <a:ea typeface="+mn-ea"/>
              </a:rPr>
              <a:t>1</a:t>
            </a:r>
            <a:r>
              <a:rPr lang="zh-CN" altLang="en-US" sz="2400">
                <a:effectLst>
                  <a:outerShdw blurRad="38100" dist="38100" dir="2700000" algn="tl">
                    <a:srgbClr val="000000">
                      <a:alpha val="43137"/>
                    </a:srgbClr>
                  </a:outerShdw>
                </a:effectLst>
                <a:latin typeface="+mn-ea"/>
                <a:ea typeface="+mn-ea"/>
              </a:rPr>
              <a:t>。</a:t>
            </a:r>
          </a:p>
        </p:txBody>
      </p:sp>
      <p:sp>
        <p:nvSpPr>
          <p:cNvPr id="254982" name="Text Box 6"/>
          <p:cNvSpPr txBox="1">
            <a:spLocks noChangeArrowheads="1"/>
          </p:cNvSpPr>
          <p:nvPr/>
        </p:nvSpPr>
        <p:spPr bwMode="auto">
          <a:xfrm>
            <a:off x="3635375" y="3141663"/>
            <a:ext cx="865188"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en-US" altLang="zh-CN">
                <a:solidFill>
                  <a:schemeClr val="hlink"/>
                </a:solidFill>
                <a:effectLst>
                  <a:outerShdw blurRad="38100" dist="38100" dir="2700000" algn="tl">
                    <a:srgbClr val="000000">
                      <a:alpha val="43137"/>
                    </a:srgbClr>
                  </a:outerShdw>
                </a:effectLst>
                <a:sym typeface="Wingdings" panose="05000000000000000000" pitchFamily="2" charset="2"/>
              </a:rPr>
              <a:t>0</a:t>
            </a:r>
            <a:endParaRPr lang="en-US" altLang="zh-CN">
              <a:solidFill>
                <a:schemeClr val="hlink"/>
              </a:solidFill>
              <a:effectLst>
                <a:outerShdw blurRad="38100" dist="38100" dir="2700000" algn="tl">
                  <a:srgbClr val="000000">
                    <a:alpha val="43137"/>
                  </a:srgbClr>
                </a:outerShdw>
              </a:effectLst>
            </a:endParaRPr>
          </a:p>
        </p:txBody>
      </p:sp>
      <p:sp>
        <p:nvSpPr>
          <p:cNvPr id="254983" name="Text Box 7"/>
          <p:cNvSpPr txBox="1">
            <a:spLocks noChangeArrowheads="1"/>
          </p:cNvSpPr>
          <p:nvPr/>
        </p:nvSpPr>
        <p:spPr bwMode="auto">
          <a:xfrm>
            <a:off x="3924300" y="1341438"/>
            <a:ext cx="647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en-US" altLang="zh-CN" dirty="0">
                <a:solidFill>
                  <a:schemeClr val="hlink"/>
                </a:solidFill>
                <a:effectLst>
                  <a:outerShdw blurRad="38100" dist="38100" dir="2700000" algn="tl">
                    <a:srgbClr val="000000">
                      <a:alpha val="43137"/>
                    </a:srgbClr>
                  </a:outerShdw>
                </a:effectLst>
                <a:sym typeface="Wingdings" panose="05000000000000000000" pitchFamily="2" charset="2"/>
              </a:rPr>
              <a:t>1</a:t>
            </a:r>
            <a:endParaRPr lang="en-US" altLang="zh-CN" dirty="0">
              <a:solidFill>
                <a:schemeClr val="hlink"/>
              </a:solidFill>
              <a:effectLst>
                <a:outerShdw blurRad="38100" dist="38100" dir="2700000" algn="tl">
                  <a:srgbClr val="000000">
                    <a:alpha val="43137"/>
                  </a:srgbClr>
                </a:outerShdw>
              </a:effectLst>
            </a:endParaRPr>
          </a:p>
        </p:txBody>
      </p:sp>
      <p:sp>
        <p:nvSpPr>
          <p:cNvPr id="254981" name="Text Box 5"/>
          <p:cNvSpPr txBox="1">
            <a:spLocks noChangeArrowheads="1"/>
          </p:cNvSpPr>
          <p:nvPr/>
        </p:nvSpPr>
        <p:spPr bwMode="auto">
          <a:xfrm>
            <a:off x="3635375" y="3125788"/>
            <a:ext cx="865188"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en-US" altLang="zh-CN">
                <a:solidFill>
                  <a:srgbClr val="0000FF"/>
                </a:solidFill>
                <a:effectLst>
                  <a:outerShdw blurRad="38100" dist="38100" dir="2700000" algn="tl">
                    <a:srgbClr val="000000">
                      <a:alpha val="43137"/>
                    </a:srgbClr>
                  </a:outerShdw>
                </a:effectLst>
                <a:sym typeface="Wingdings" panose="05000000000000000000" pitchFamily="2" charset="2"/>
              </a:rPr>
              <a:t>1</a:t>
            </a:r>
            <a:endParaRPr lang="en-US" altLang="zh-CN">
              <a:solidFill>
                <a:srgbClr val="0000FF"/>
              </a:solidFill>
              <a:effectLst>
                <a:outerShdw blurRad="38100" dist="38100" dir="2700000" algn="tl">
                  <a:srgbClr val="000000">
                    <a:alpha val="43137"/>
                  </a:srgbClr>
                </a:outerShdw>
              </a:effectLst>
            </a:endParaRPr>
          </a:p>
        </p:txBody>
      </p:sp>
      <p:sp>
        <p:nvSpPr>
          <p:cNvPr id="254985" name="AutoShape 9"/>
          <p:cNvSpPr>
            <a:spLocks noChangeArrowheads="1"/>
          </p:cNvSpPr>
          <p:nvPr/>
        </p:nvSpPr>
        <p:spPr bwMode="auto">
          <a:xfrm>
            <a:off x="2268538" y="4581525"/>
            <a:ext cx="2447925" cy="1439863"/>
          </a:xfrm>
          <a:prstGeom prst="wedgeRoundRectCallout">
            <a:avLst>
              <a:gd name="adj1" fmla="val 25227"/>
              <a:gd name="adj2" fmla="val -121773"/>
              <a:gd name="adj3" fmla="val 16667"/>
            </a:avLst>
          </a:prstGeom>
          <a:solidFill>
            <a:srgbClr val="CCFFFF"/>
          </a:solidFill>
          <a:ln w="28575" cap="sq" algn="ctr">
            <a:solidFill>
              <a:srgbClr val="66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algn="l" eaLnBrk="1" hangingPunct="1">
              <a:defRPr/>
            </a:pPr>
            <a:r>
              <a:rPr lang="en-US" altLang="zh-CN" sz="2400">
                <a:effectLst>
                  <a:outerShdw blurRad="38100" dist="38100" dir="2700000" algn="tl">
                    <a:srgbClr val="000000">
                      <a:alpha val="43137"/>
                    </a:srgbClr>
                  </a:outerShdw>
                </a:effectLst>
                <a:latin typeface="+mn-ea"/>
                <a:ea typeface="+mn-ea"/>
              </a:rPr>
              <a:t>SD</a:t>
            </a:r>
            <a:r>
              <a:rPr lang="en-US" altLang="zh-CN" sz="2400">
                <a:effectLst>
                  <a:outerShdw blurRad="38100" dist="38100" dir="2700000" algn="tl">
                    <a:srgbClr val="000000">
                      <a:alpha val="43137"/>
                    </a:srgbClr>
                  </a:outerShdw>
                </a:effectLst>
                <a:latin typeface="+mn-ea"/>
                <a:ea typeface="+mn-ea"/>
                <a:sym typeface="Wingdings" panose="05000000000000000000" pitchFamily="2" charset="2"/>
              </a:rPr>
              <a:t></a:t>
            </a:r>
            <a:r>
              <a:rPr lang="en-US" altLang="zh-CN" sz="2400">
                <a:effectLst>
                  <a:outerShdw blurRad="38100" dist="38100" dir="2700000" algn="tl">
                    <a:srgbClr val="000000">
                      <a:alpha val="43137"/>
                    </a:srgbClr>
                  </a:outerShdw>
                </a:effectLst>
                <a:latin typeface="+mn-ea"/>
                <a:ea typeface="+mn-ea"/>
              </a:rPr>
              <a:t>1,</a:t>
            </a:r>
            <a:r>
              <a:rPr lang="zh-CN" altLang="en-US" sz="2400">
                <a:effectLst>
                  <a:outerShdw blurRad="38100" dist="38100" dir="2700000" algn="tl">
                    <a:srgbClr val="000000">
                      <a:alpha val="43137"/>
                    </a:srgbClr>
                  </a:outerShdw>
                </a:effectLst>
                <a:latin typeface="+mn-ea"/>
                <a:ea typeface="+mn-ea"/>
              </a:rPr>
              <a:t>使新的中断请求能向单片机申请</a:t>
            </a:r>
          </a:p>
        </p:txBody>
      </p:sp>
      <p:sp>
        <p:nvSpPr>
          <p:cNvPr id="2" name="TextBox 1"/>
          <p:cNvSpPr txBox="1"/>
          <p:nvPr/>
        </p:nvSpPr>
        <p:spPr>
          <a:xfrm>
            <a:off x="6300788" y="188913"/>
            <a:ext cx="2735262" cy="2892425"/>
          </a:xfrm>
          <a:prstGeom prst="rect">
            <a:avLst/>
          </a:prstGeom>
          <a:solidFill>
            <a:schemeClr val="tx2"/>
          </a:solidFill>
        </p:spPr>
        <p:txBody>
          <a:bodyPr>
            <a:spAutoFit/>
          </a:bodyPr>
          <a:lstStyle/>
          <a:p>
            <a:pPr algn="l">
              <a:defRPr/>
            </a:pPr>
            <a:r>
              <a:rPr lang="en-US" altLang="zh-CN"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D</a:t>
            </a:r>
            <a:r>
              <a:rPr lang="zh-CN" altLang="en-US"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端恒接地，当</a:t>
            </a:r>
            <a:r>
              <a:rPr lang="en-US" altLang="zh-CN"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CLK</a:t>
            </a:r>
            <a:r>
              <a:rPr lang="zh-CN" altLang="en-US"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端出现正脉冲时，</a:t>
            </a:r>
            <a:r>
              <a:rPr lang="en-US" altLang="zh-CN"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INT0#</a:t>
            </a:r>
            <a:r>
              <a:rPr lang="zh-CN" altLang="en-US"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为低电平，发出中断请求，当</a:t>
            </a:r>
            <a:r>
              <a:rPr lang="en-US" altLang="zh-CN"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CPU</a:t>
            </a:r>
            <a:r>
              <a:rPr lang="zh-CN" altLang="en-US" sz="2600" dirty="0">
                <a:solidFill>
                  <a:schemeClr val="bg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响应中断后，需要撤除中断请求。</a:t>
            </a:r>
          </a:p>
        </p:txBody>
      </p:sp>
      <p:cxnSp>
        <p:nvCxnSpPr>
          <p:cNvPr id="57354" name="肘形连接符 3"/>
          <p:cNvCxnSpPr>
            <a:cxnSpLocks noChangeShapeType="1"/>
          </p:cNvCxnSpPr>
          <p:nvPr/>
        </p:nvCxnSpPr>
        <p:spPr bwMode="auto">
          <a:xfrm flipV="1">
            <a:off x="7524750" y="3284538"/>
            <a:ext cx="576263" cy="504825"/>
          </a:xfrm>
          <a:prstGeom prst="bentConnector3">
            <a:avLst>
              <a:gd name="adj1" fmla="val 50000"/>
            </a:avLst>
          </a:prstGeom>
          <a:noFill/>
          <a:ln w="31750" cap="sq" algn="ctr">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肘形连接符 3"/>
          <p:cNvCxnSpPr>
            <a:cxnSpLocks noChangeShapeType="1"/>
          </p:cNvCxnSpPr>
          <p:nvPr/>
        </p:nvCxnSpPr>
        <p:spPr bwMode="auto">
          <a:xfrm flipV="1">
            <a:off x="5435599" y="2660650"/>
            <a:ext cx="576263" cy="504825"/>
          </a:xfrm>
          <a:prstGeom prst="bentConnector3">
            <a:avLst>
              <a:gd name="adj1" fmla="val 50000"/>
            </a:avLst>
          </a:prstGeom>
          <a:noFill/>
          <a:ln w="31750" cap="sq" algn="ctr">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7"/>
          <p:cNvSpPr txBox="1">
            <a:spLocks noChangeArrowheads="1"/>
          </p:cNvSpPr>
          <p:nvPr/>
        </p:nvSpPr>
        <p:spPr bwMode="auto">
          <a:xfrm>
            <a:off x="4038170" y="1330054"/>
            <a:ext cx="377442" cy="430887"/>
          </a:xfrm>
          <a:prstGeom prst="rect">
            <a:avLst/>
          </a:prstGeom>
          <a:solidFill>
            <a:schemeClr val="bg1"/>
          </a:solidFill>
          <a:ln>
            <a:noFill/>
          </a:ln>
          <a:effectLst/>
        </p:spPr>
        <p:txBody>
          <a:bodyPr wrap="square" lIns="0" tIns="0" rIns="0" bIns="0">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en-US" altLang="zh-CN" dirty="0">
                <a:solidFill>
                  <a:schemeClr val="hlink"/>
                </a:solidFill>
                <a:effectLst>
                  <a:outerShdw blurRad="38100" dist="38100" dir="2700000" algn="tl">
                    <a:srgbClr val="000000">
                      <a:alpha val="43137"/>
                    </a:srgbClr>
                  </a:outerShdw>
                </a:effectLst>
                <a:sym typeface="Wingdings" panose="05000000000000000000" pitchFamily="2" charset="2"/>
              </a:rPr>
              <a:t>0</a:t>
            </a:r>
            <a:endParaRPr lang="en-US" altLang="zh-CN" dirty="0">
              <a:solidFill>
                <a:schemeClr val="hlink"/>
              </a:solidFill>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1000" fill="hold"/>
                                        <p:tgtEl>
                                          <p:spTgt spid="12"/>
                                        </p:tgtEl>
                                        <p:attrNameLst>
                                          <p:attrName>ppt_w</p:attrName>
                                        </p:attrNameLst>
                                      </p:cBhvr>
                                      <p:tavLst>
                                        <p:tav tm="0">
                                          <p:val>
                                            <p:strVal val="#ppt_w*0.70"/>
                                          </p:val>
                                        </p:tav>
                                        <p:tav tm="100000">
                                          <p:val>
                                            <p:strVal val="#ppt_w"/>
                                          </p:val>
                                        </p:tav>
                                      </p:tavLst>
                                    </p:anim>
                                    <p:anim calcmode="lin" valueType="num">
                                      <p:cBhvr>
                                        <p:cTn id="18" dur="1000" fill="hold"/>
                                        <p:tgtEl>
                                          <p:spTgt spid="12"/>
                                        </p:tgtEl>
                                        <p:attrNameLst>
                                          <p:attrName>ppt_h</p:attrName>
                                        </p:attrNameLst>
                                      </p:cBhvr>
                                      <p:tavLst>
                                        <p:tav tm="0">
                                          <p:val>
                                            <p:strVal val="#ppt_h"/>
                                          </p:val>
                                        </p:tav>
                                        <p:tav tm="100000">
                                          <p:val>
                                            <p:strVal val="#ppt_h"/>
                                          </p:val>
                                        </p:tav>
                                      </p:tavLst>
                                    </p:anim>
                                    <p:animEffect transition="in" filter="fade">
                                      <p:cBhvr>
                                        <p:cTn id="19" dur="10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254980"/>
                                        </p:tgtEl>
                                        <p:attrNameLst>
                                          <p:attrName>style.visibility</p:attrName>
                                        </p:attrNameLst>
                                      </p:cBhvr>
                                      <p:to>
                                        <p:strVal val="visible"/>
                                      </p:to>
                                    </p:set>
                                    <p:animEffect transition="in" filter="checkerboard(across)">
                                      <p:cBhvr>
                                        <p:cTn id="24" dur="500"/>
                                        <p:tgtEl>
                                          <p:spTgt spid="254980"/>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254982"/>
                                        </p:tgtEl>
                                        <p:attrNameLst>
                                          <p:attrName>style.visibility</p:attrName>
                                        </p:attrNameLst>
                                      </p:cBhvr>
                                      <p:to>
                                        <p:strVal val="visible"/>
                                      </p:to>
                                    </p:set>
                                    <p:anim calcmode="lin" valueType="num">
                                      <p:cBhvr>
                                        <p:cTn id="29" dur="1000" fill="hold"/>
                                        <p:tgtEl>
                                          <p:spTgt spid="254982"/>
                                        </p:tgtEl>
                                        <p:attrNameLst>
                                          <p:attrName>ppt_w</p:attrName>
                                        </p:attrNameLst>
                                      </p:cBhvr>
                                      <p:tavLst>
                                        <p:tav tm="0">
                                          <p:val>
                                            <p:strVal val="#ppt_w*0.70"/>
                                          </p:val>
                                        </p:tav>
                                        <p:tav tm="100000">
                                          <p:val>
                                            <p:strVal val="#ppt_w"/>
                                          </p:val>
                                        </p:tav>
                                      </p:tavLst>
                                    </p:anim>
                                    <p:anim calcmode="lin" valueType="num">
                                      <p:cBhvr>
                                        <p:cTn id="30" dur="1000" fill="hold"/>
                                        <p:tgtEl>
                                          <p:spTgt spid="254982"/>
                                        </p:tgtEl>
                                        <p:attrNameLst>
                                          <p:attrName>ppt_h</p:attrName>
                                        </p:attrNameLst>
                                      </p:cBhvr>
                                      <p:tavLst>
                                        <p:tav tm="0">
                                          <p:val>
                                            <p:strVal val="#ppt_h"/>
                                          </p:val>
                                        </p:tav>
                                        <p:tav tm="100000">
                                          <p:val>
                                            <p:strVal val="#ppt_h"/>
                                          </p:val>
                                        </p:tav>
                                      </p:tavLst>
                                    </p:anim>
                                    <p:animEffect transition="in" filter="fade">
                                      <p:cBhvr>
                                        <p:cTn id="31" dur="1000"/>
                                        <p:tgtEl>
                                          <p:spTgt spid="254982"/>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254983"/>
                                        </p:tgtEl>
                                        <p:attrNameLst>
                                          <p:attrName>style.visibility</p:attrName>
                                        </p:attrNameLst>
                                      </p:cBhvr>
                                      <p:to>
                                        <p:strVal val="visible"/>
                                      </p:to>
                                    </p:set>
                                    <p:anim calcmode="lin" valueType="num">
                                      <p:cBhvr>
                                        <p:cTn id="36" dur="1000" fill="hold"/>
                                        <p:tgtEl>
                                          <p:spTgt spid="254983"/>
                                        </p:tgtEl>
                                        <p:attrNameLst>
                                          <p:attrName>ppt_w</p:attrName>
                                        </p:attrNameLst>
                                      </p:cBhvr>
                                      <p:tavLst>
                                        <p:tav tm="0">
                                          <p:val>
                                            <p:strVal val="#ppt_w*0.70"/>
                                          </p:val>
                                        </p:tav>
                                        <p:tav tm="100000">
                                          <p:val>
                                            <p:strVal val="#ppt_w"/>
                                          </p:val>
                                        </p:tav>
                                      </p:tavLst>
                                    </p:anim>
                                    <p:anim calcmode="lin" valueType="num">
                                      <p:cBhvr>
                                        <p:cTn id="37" dur="1000" fill="hold"/>
                                        <p:tgtEl>
                                          <p:spTgt spid="254983"/>
                                        </p:tgtEl>
                                        <p:attrNameLst>
                                          <p:attrName>ppt_h</p:attrName>
                                        </p:attrNameLst>
                                      </p:cBhvr>
                                      <p:tavLst>
                                        <p:tav tm="0">
                                          <p:val>
                                            <p:strVal val="#ppt_h"/>
                                          </p:val>
                                        </p:tav>
                                        <p:tav tm="100000">
                                          <p:val>
                                            <p:strVal val="#ppt_h"/>
                                          </p:val>
                                        </p:tav>
                                      </p:tavLst>
                                    </p:anim>
                                    <p:animEffect transition="in" filter="fade">
                                      <p:cBhvr>
                                        <p:cTn id="38" dur="1000"/>
                                        <p:tgtEl>
                                          <p:spTgt spid="254983"/>
                                        </p:tgtEl>
                                      </p:cBhvr>
                                    </p:animEffect>
                                  </p:childTnLst>
                                  <p:subTnLst>
                                    <p:set>
                                      <p:cBhvr override="childStyle">
                                        <p:cTn dur="1" fill="hold" display="0" masterRel="nextClick" afterEffect="1"/>
                                        <p:tgtEl>
                                          <p:spTgt spid="254983"/>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254981"/>
                                        </p:tgtEl>
                                        <p:attrNameLst>
                                          <p:attrName>style.visibility</p:attrName>
                                        </p:attrNameLst>
                                      </p:cBhvr>
                                      <p:to>
                                        <p:strVal val="visible"/>
                                      </p:to>
                                    </p:set>
                                    <p:anim calcmode="lin" valueType="num">
                                      <p:cBhvr>
                                        <p:cTn id="43" dur="1000" fill="hold"/>
                                        <p:tgtEl>
                                          <p:spTgt spid="254981"/>
                                        </p:tgtEl>
                                        <p:attrNameLst>
                                          <p:attrName>ppt_w</p:attrName>
                                        </p:attrNameLst>
                                      </p:cBhvr>
                                      <p:tavLst>
                                        <p:tav tm="0">
                                          <p:val>
                                            <p:strVal val="#ppt_w*0.70"/>
                                          </p:val>
                                        </p:tav>
                                        <p:tav tm="100000">
                                          <p:val>
                                            <p:strVal val="#ppt_w"/>
                                          </p:val>
                                        </p:tav>
                                      </p:tavLst>
                                    </p:anim>
                                    <p:anim calcmode="lin" valueType="num">
                                      <p:cBhvr>
                                        <p:cTn id="44" dur="1000" fill="hold"/>
                                        <p:tgtEl>
                                          <p:spTgt spid="254981"/>
                                        </p:tgtEl>
                                        <p:attrNameLst>
                                          <p:attrName>ppt_h</p:attrName>
                                        </p:attrNameLst>
                                      </p:cBhvr>
                                      <p:tavLst>
                                        <p:tav tm="0">
                                          <p:val>
                                            <p:strVal val="#ppt_h"/>
                                          </p:val>
                                        </p:tav>
                                        <p:tav tm="100000">
                                          <p:val>
                                            <p:strVal val="#ppt_h"/>
                                          </p:val>
                                        </p:tav>
                                      </p:tavLst>
                                    </p:anim>
                                    <p:animEffect transition="in" filter="fade">
                                      <p:cBhvr>
                                        <p:cTn id="45" dur="1000"/>
                                        <p:tgtEl>
                                          <p:spTgt spid="254981"/>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254985"/>
                                        </p:tgtEl>
                                        <p:attrNameLst>
                                          <p:attrName>style.visibility</p:attrName>
                                        </p:attrNameLst>
                                      </p:cBhvr>
                                      <p:to>
                                        <p:strVal val="visible"/>
                                      </p:to>
                                    </p:set>
                                    <p:animEffect transition="in" filter="checkerboard(across)">
                                      <p:cBhvr>
                                        <p:cTn id="50" dur="500"/>
                                        <p:tgtEl>
                                          <p:spTgt spid="254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0" grpId="0" animBg="1"/>
      <p:bldP spid="254982" grpId="0" animBg="1"/>
      <p:bldP spid="254983" grpId="0"/>
      <p:bldP spid="254981" grpId="0" animBg="1"/>
      <p:bldP spid="254985" grpId="0" animBg="1"/>
      <p:bldP spid="2"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2" name="Rectangle 4"/>
          <p:cNvSpPr>
            <a:spLocks noChangeArrowheads="1"/>
          </p:cNvSpPr>
          <p:nvPr/>
        </p:nvSpPr>
        <p:spPr bwMode="auto">
          <a:xfrm>
            <a:off x="971550" y="620713"/>
            <a:ext cx="7416800"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当</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响应中断后，可在中断服务程序中采用两条指令：</a:t>
            </a:r>
          </a:p>
          <a:p>
            <a:pPr algn="l">
              <a:defRPr/>
            </a:pPr>
            <a:r>
              <a:rPr lang="zh-CN" altLang="en-US" dirty="0">
                <a:effectLst>
                  <a:outerShdw blurRad="38100" dist="38100" dir="2700000" algn="tl">
                    <a:srgbClr val="000000">
                      <a:alpha val="43137"/>
                    </a:srgbClr>
                  </a:outerShdw>
                </a:effectLst>
              </a:rPr>
              <a:t>        </a:t>
            </a:r>
            <a:r>
              <a:rPr lang="en-US" altLang="zh-CN" dirty="0">
                <a:effectLst>
                  <a:outerShdw blurRad="38100" dist="38100" dir="2700000" algn="tl">
                    <a:srgbClr val="000000">
                      <a:alpha val="43137"/>
                    </a:srgbClr>
                  </a:outerShdw>
                </a:effectLst>
                <a:latin typeface="Times New Roman" panose="02020603050405020304" pitchFamily="18" charset="0"/>
              </a:rPr>
              <a:t>CLR   P1.0</a:t>
            </a:r>
          </a:p>
          <a:p>
            <a:pPr algn="l">
              <a:defRPr/>
            </a:pPr>
            <a:r>
              <a:rPr lang="en-US" altLang="zh-CN" dirty="0">
                <a:effectLst>
                  <a:outerShdw blurRad="38100" dist="38100" dir="2700000" algn="tl">
                    <a:srgbClr val="000000">
                      <a:alpha val="43137"/>
                    </a:srgbClr>
                  </a:outerShdw>
                </a:effectLst>
                <a:latin typeface="Times New Roman" panose="02020603050405020304" pitchFamily="18" charset="0"/>
              </a:rPr>
              <a:t>              SETB  P1.0</a:t>
            </a:r>
          </a:p>
          <a:p>
            <a:pPr algn="l">
              <a:defRPr/>
            </a:pPr>
            <a:r>
              <a:rPr lang="zh-CN" altLang="en-US" dirty="0">
                <a:effectLst>
                  <a:outerShdw blurRad="38100" dist="38100" dir="2700000" algn="tl">
                    <a:srgbClr val="000000">
                      <a:alpha val="43137"/>
                    </a:srgbClr>
                  </a:outerShdw>
                </a:effectLst>
                <a:latin typeface="Times New Roman" panose="02020603050405020304" pitchFamily="18" charset="0"/>
              </a:rPr>
              <a:t>（</a:t>
            </a:r>
            <a:r>
              <a:rPr lang="zh-CN" altLang="en-US" dirty="0">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或</a:t>
            </a:r>
            <a:r>
              <a:rPr lang="zh-CN" altLang="en-US" dirty="0">
                <a:effectLst>
                  <a:outerShdw blurRad="38100" dist="38100" dir="2700000" algn="tl">
                    <a:srgbClr val="000000">
                      <a:alpha val="43137"/>
                    </a:srgbClr>
                  </a:outerShdw>
                </a:effectLst>
                <a:latin typeface="Times New Roman" panose="02020603050405020304" pitchFamily="18" charset="0"/>
              </a:rPr>
              <a:t>      </a:t>
            </a:r>
            <a:r>
              <a:rPr lang="en-US" altLang="zh-CN" dirty="0">
                <a:effectLst>
                  <a:outerShdw blurRad="38100" dist="38100" dir="2700000" algn="tl">
                    <a:srgbClr val="000000">
                      <a:alpha val="43137"/>
                    </a:srgbClr>
                  </a:outerShdw>
                </a:effectLst>
                <a:latin typeface="Times New Roman" panose="02020603050405020304" pitchFamily="18" charset="0"/>
              </a:rPr>
              <a:t>ANL   P1</a:t>
            </a:r>
            <a:r>
              <a:rPr lang="zh-CN" altLang="en-US" dirty="0">
                <a:effectLst>
                  <a:outerShdw blurRad="38100" dist="38100" dir="2700000" algn="tl">
                    <a:srgbClr val="000000">
                      <a:alpha val="43137"/>
                    </a:srgbClr>
                  </a:outerShdw>
                </a:effectLst>
                <a:latin typeface="Times New Roman" panose="02020603050405020304" pitchFamily="18" charset="0"/>
              </a:rPr>
              <a:t>，</a:t>
            </a:r>
            <a:r>
              <a:rPr lang="en-US" altLang="zh-CN" dirty="0">
                <a:effectLst>
                  <a:outerShdw blurRad="38100" dist="38100" dir="2700000" algn="tl">
                    <a:srgbClr val="000000">
                      <a:alpha val="43137"/>
                    </a:srgbClr>
                  </a:outerShdw>
                </a:effectLst>
                <a:latin typeface="Times New Roman" panose="02020603050405020304" pitchFamily="18" charset="0"/>
              </a:rPr>
              <a:t>#0FEH</a:t>
            </a:r>
          </a:p>
          <a:p>
            <a:pPr algn="l">
              <a:defRPr/>
            </a:pPr>
            <a:r>
              <a:rPr lang="en-US" altLang="zh-CN" dirty="0">
                <a:effectLst>
                  <a:outerShdw blurRad="38100" dist="38100" dir="2700000" algn="tl">
                    <a:srgbClr val="000000">
                      <a:alpha val="43137"/>
                    </a:srgbClr>
                  </a:outerShdw>
                </a:effectLst>
                <a:latin typeface="Times New Roman" panose="02020603050405020304" pitchFamily="18" charset="0"/>
              </a:rPr>
              <a:t>	    ORL   P1</a:t>
            </a:r>
            <a:r>
              <a:rPr lang="zh-CN" altLang="en-US" dirty="0">
                <a:effectLst>
                  <a:outerShdw blurRad="38100" dist="38100" dir="2700000" algn="tl">
                    <a:srgbClr val="000000">
                      <a:alpha val="43137"/>
                    </a:srgbClr>
                  </a:outerShdw>
                </a:effectLst>
                <a:latin typeface="Times New Roman" panose="02020603050405020304" pitchFamily="18" charset="0"/>
              </a:rPr>
              <a:t>，</a:t>
            </a:r>
            <a:r>
              <a:rPr lang="en-US" altLang="zh-CN" dirty="0">
                <a:effectLst>
                  <a:outerShdw blurRad="38100" dist="38100" dir="2700000" algn="tl">
                    <a:srgbClr val="000000">
                      <a:alpha val="43137"/>
                    </a:srgbClr>
                  </a:outerShdw>
                </a:effectLst>
                <a:latin typeface="Times New Roman" panose="02020603050405020304" pitchFamily="18" charset="0"/>
              </a:rPr>
              <a:t>#01H </a:t>
            </a:r>
            <a:r>
              <a:rPr lang="zh-CN" altLang="en-US" dirty="0">
                <a:effectLst>
                  <a:outerShdw blurRad="38100" dist="38100" dir="2700000" algn="tl">
                    <a:srgbClr val="000000">
                      <a:alpha val="43137"/>
                    </a:srgbClr>
                  </a:outerShdw>
                </a:effectLst>
                <a:latin typeface="Times New Roman" panose="02020603050405020304" pitchFamily="18" charset="0"/>
              </a:rPr>
              <a:t>）</a:t>
            </a:r>
          </a:p>
          <a:p>
            <a:pPr algn="l">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来撤除外部中断请求。</a:t>
            </a:r>
          </a:p>
        </p:txBody>
      </p:sp>
      <p:sp>
        <p:nvSpPr>
          <p:cNvPr id="258053" name="Text Box 5"/>
          <p:cNvSpPr txBox="1">
            <a:spLocks noChangeArrowheads="1"/>
          </p:cNvSpPr>
          <p:nvPr/>
        </p:nvSpPr>
        <p:spPr bwMode="auto">
          <a:xfrm>
            <a:off x="5383213" y="1268413"/>
            <a:ext cx="3095625" cy="1858962"/>
          </a:xfrm>
          <a:prstGeom prst="rect">
            <a:avLst/>
          </a:prstGeom>
          <a:solidFill>
            <a:srgbClr val="CCFFCC"/>
          </a:solidFill>
          <a:ln w="57150" cap="sq" cmpd="thinThick" algn="ctr">
            <a:solidFill>
              <a:srgbClr val="66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lang="en-US" altLang="zh-CN" sz="2800">
                <a:effectLst>
                  <a:outerShdw blurRad="38100" dist="38100" dir="2700000" algn="tl">
                    <a:srgbClr val="000000">
                      <a:alpha val="43137"/>
                    </a:srgbClr>
                  </a:outerShdw>
                </a:effectLst>
                <a:latin typeface="Times New Roman" panose="02020603050405020304" pitchFamily="18" charset="0"/>
                <a:ea typeface="楷体_GB2312" pitchFamily="49" charset="-122"/>
              </a:rPr>
              <a:t>sbit P1_0=P1^0;</a:t>
            </a:r>
          </a:p>
          <a:p>
            <a:pPr eaLnBrk="1" hangingPunct="1">
              <a:spcBef>
                <a:spcPct val="50000"/>
              </a:spcBef>
              <a:buClrTx/>
              <a:buSzTx/>
              <a:buFontTx/>
              <a:buNone/>
              <a:defRPr/>
            </a:pPr>
            <a:r>
              <a:rPr lang="en-US" altLang="zh-CN" sz="2800">
                <a:effectLst>
                  <a:outerShdw blurRad="38100" dist="38100" dir="2700000" algn="tl">
                    <a:srgbClr val="000000">
                      <a:alpha val="43137"/>
                    </a:srgbClr>
                  </a:outerShdw>
                </a:effectLst>
                <a:latin typeface="Times New Roman" panose="02020603050405020304" pitchFamily="18" charset="0"/>
                <a:ea typeface="楷体_GB2312" pitchFamily="49" charset="-122"/>
              </a:rPr>
              <a:t>P1_0=0;</a:t>
            </a:r>
          </a:p>
          <a:p>
            <a:pPr eaLnBrk="1" hangingPunct="1">
              <a:spcBef>
                <a:spcPct val="50000"/>
              </a:spcBef>
              <a:buClrTx/>
              <a:buSzTx/>
              <a:buFontTx/>
              <a:buNone/>
              <a:defRPr/>
            </a:pPr>
            <a:r>
              <a:rPr lang="en-US" altLang="zh-CN" sz="2800">
                <a:effectLst>
                  <a:outerShdw blurRad="38100" dist="38100" dir="2700000" algn="tl">
                    <a:srgbClr val="000000">
                      <a:alpha val="43137"/>
                    </a:srgbClr>
                  </a:outerShdw>
                </a:effectLst>
                <a:latin typeface="Times New Roman" panose="02020603050405020304" pitchFamily="18" charset="0"/>
                <a:ea typeface="楷体_GB2312" pitchFamily="49" charset="-122"/>
              </a:rPr>
              <a:t>P1_0=1;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58052"/>
                                        </p:tgtEl>
                                        <p:attrNameLst>
                                          <p:attrName>style.visibility</p:attrName>
                                        </p:attrNameLst>
                                      </p:cBhvr>
                                      <p:to>
                                        <p:strVal val="visible"/>
                                      </p:to>
                                    </p:set>
                                    <p:animEffect transition="in" filter="randombar(horizontal)">
                                      <p:cBhvr>
                                        <p:cTn id="7" dur="500"/>
                                        <p:tgtEl>
                                          <p:spTgt spid="258052"/>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58053"/>
                                        </p:tgtEl>
                                        <p:attrNameLst>
                                          <p:attrName>style.visibility</p:attrName>
                                        </p:attrNameLst>
                                      </p:cBhvr>
                                      <p:to>
                                        <p:strVal val="visible"/>
                                      </p:to>
                                    </p:set>
                                    <p:anim calcmode="lin" valueType="num">
                                      <p:cBhvr>
                                        <p:cTn id="12" dur="1000" fill="hold"/>
                                        <p:tgtEl>
                                          <p:spTgt spid="258053"/>
                                        </p:tgtEl>
                                        <p:attrNameLst>
                                          <p:attrName>ppt_w</p:attrName>
                                        </p:attrNameLst>
                                      </p:cBhvr>
                                      <p:tavLst>
                                        <p:tav tm="0">
                                          <p:val>
                                            <p:strVal val="#ppt_w*0.70"/>
                                          </p:val>
                                        </p:tav>
                                        <p:tav tm="100000">
                                          <p:val>
                                            <p:strVal val="#ppt_w"/>
                                          </p:val>
                                        </p:tav>
                                      </p:tavLst>
                                    </p:anim>
                                    <p:anim calcmode="lin" valueType="num">
                                      <p:cBhvr>
                                        <p:cTn id="13" dur="1000" fill="hold"/>
                                        <p:tgtEl>
                                          <p:spTgt spid="258053"/>
                                        </p:tgtEl>
                                        <p:attrNameLst>
                                          <p:attrName>ppt_h</p:attrName>
                                        </p:attrNameLst>
                                      </p:cBhvr>
                                      <p:tavLst>
                                        <p:tav tm="0">
                                          <p:val>
                                            <p:strVal val="#ppt_h"/>
                                          </p:val>
                                        </p:tav>
                                        <p:tav tm="100000">
                                          <p:val>
                                            <p:strVal val="#ppt_h"/>
                                          </p:val>
                                        </p:tav>
                                      </p:tavLst>
                                    </p:anim>
                                    <p:animEffect transition="in" filter="fade">
                                      <p:cBhvr>
                                        <p:cTn id="14" dur="1000"/>
                                        <p:tgtEl>
                                          <p:spTgt spid="258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p:bldP spid="25805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Text Box 3"/>
          <p:cNvSpPr txBox="1">
            <a:spLocks noChangeArrowheads="1"/>
          </p:cNvSpPr>
          <p:nvPr/>
        </p:nvSpPr>
        <p:spPr bwMode="auto">
          <a:xfrm>
            <a:off x="755650" y="1628775"/>
            <a:ext cx="8208963"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spcBef>
                <a:spcPct val="0"/>
              </a:spcBef>
              <a:defRPr/>
            </a:pP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即：定时中断标志位（</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TF</a:t>
            </a:r>
            <a:r>
              <a:rPr lang="en-US" altLang="zh-CN" sz="3200" baseline="-25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或</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TF</a:t>
            </a:r>
            <a:r>
              <a:rPr lang="en-US" altLang="zh-CN" sz="3200" baseline="-25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）清</a:t>
            </a: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p>
          <a:p>
            <a:pPr algn="l">
              <a:lnSpc>
                <a:spcPct val="125000"/>
              </a:lnSpc>
              <a:spcBef>
                <a:spcPct val="0"/>
              </a:spcBef>
              <a:defRPr/>
            </a:pPr>
            <a:r>
              <a:rPr lang="en-US" altLang="zh-CN"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3200" u="sng"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中断响应完由硬件自动清</a:t>
            </a:r>
            <a:r>
              <a:rPr lang="en-US" altLang="zh-CN" sz="3200" u="sng"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sz="3200" u="sng"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32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sp>
        <p:nvSpPr>
          <p:cNvPr id="171012" name="Text Box 4"/>
          <p:cNvSpPr txBox="1">
            <a:spLocks noChangeArrowheads="1"/>
          </p:cNvSpPr>
          <p:nvPr/>
        </p:nvSpPr>
        <p:spPr bwMode="auto">
          <a:xfrm>
            <a:off x="467544" y="548680"/>
            <a:ext cx="6711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defRPr/>
            </a:pPr>
            <a:r>
              <a:rPr lang="zh-CN" altLang="en-US" sz="3200"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（二）定时中断的撤除（自动撤除）</a:t>
            </a:r>
            <a:endParaRPr lang="zh-CN" altLang="en-US" sz="3200" u="sng"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1012"/>
                                        </p:tgtEl>
                                        <p:attrNameLst>
                                          <p:attrName>style.visibility</p:attrName>
                                        </p:attrNameLst>
                                      </p:cBhvr>
                                      <p:to>
                                        <p:strVal val="visible"/>
                                      </p:to>
                                    </p:set>
                                    <p:animEffect transition="in" filter="barn(inVertical)">
                                      <p:cBhvr>
                                        <p:cTn id="7" dur="500"/>
                                        <p:tgtEl>
                                          <p:spTgt spid="1710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1011"/>
                                        </p:tgtEl>
                                        <p:attrNameLst>
                                          <p:attrName>style.visibility</p:attrName>
                                        </p:attrNameLst>
                                      </p:cBhvr>
                                      <p:to>
                                        <p:strVal val="visible"/>
                                      </p:to>
                                    </p:set>
                                    <p:animEffect transition="in" filter="randombar(horizontal)">
                                      <p:cBhvr>
                                        <p:cTn id="12" dur="500"/>
                                        <p:tgtEl>
                                          <p:spTgt spid="171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p:bldP spid="1710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Text Box 3"/>
          <p:cNvSpPr txBox="1">
            <a:spLocks noChangeArrowheads="1"/>
          </p:cNvSpPr>
          <p:nvPr/>
        </p:nvSpPr>
        <p:spPr bwMode="auto">
          <a:xfrm>
            <a:off x="684213" y="1412875"/>
            <a:ext cx="8208962"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Tx/>
              <a:buNone/>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串行中断标志位（</a:t>
            </a:r>
            <a:r>
              <a:rPr lang="en-US" altLang="zh-CN"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TI</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或</a:t>
            </a:r>
            <a:r>
              <a:rPr lang="en-US" altLang="zh-CN"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RI</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）清</a:t>
            </a:r>
            <a:r>
              <a:rPr lang="en-US" altLang="zh-CN"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72036" name="Text Box 4"/>
          <p:cNvSpPr txBox="1">
            <a:spLocks noChangeArrowheads="1"/>
          </p:cNvSpPr>
          <p:nvPr/>
        </p:nvSpPr>
        <p:spPr bwMode="auto">
          <a:xfrm>
            <a:off x="593540" y="609600"/>
            <a:ext cx="44656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defRPr/>
            </a:pP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（三）串行中断的撤除</a:t>
            </a:r>
            <a:endParaRPr lang="zh-CN" altLang="en-US" sz="3200" u="sng"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72037" name="Text Box 5"/>
          <p:cNvSpPr txBox="1">
            <a:spLocks noChangeArrowheads="1"/>
          </p:cNvSpPr>
          <p:nvPr/>
        </p:nvSpPr>
        <p:spPr bwMode="auto">
          <a:xfrm>
            <a:off x="611188" y="2205038"/>
            <a:ext cx="8208962"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Tx/>
              <a:buNone/>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中断响应后，还需测试这两个标志位的状态，以判定是接收操作还是发送操作，然后才能清除。      </a:t>
            </a:r>
          </a:p>
        </p:txBody>
      </p:sp>
      <p:sp>
        <p:nvSpPr>
          <p:cNvPr id="172038" name="Text Box 6"/>
          <p:cNvSpPr txBox="1">
            <a:spLocks noChangeArrowheads="1"/>
          </p:cNvSpPr>
          <p:nvPr/>
        </p:nvSpPr>
        <p:spPr bwMode="auto">
          <a:xfrm>
            <a:off x="611188" y="4076700"/>
            <a:ext cx="8208962" cy="110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Tx/>
              <a:buNone/>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串行中断请求的撤销</a:t>
            </a:r>
            <a:r>
              <a:rPr lang="zh-CN" altLang="en-US" u="sng"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使用</a:t>
            </a:r>
            <a:r>
              <a:rPr lang="zh-CN" altLang="en-US" u="sng"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软件</a:t>
            </a:r>
            <a:r>
              <a:rPr lang="zh-CN" altLang="en-US" u="sng"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方法</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，在中断服务子程序中进行。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2036"/>
                                        </p:tgtEl>
                                        <p:attrNameLst>
                                          <p:attrName>style.visibility</p:attrName>
                                        </p:attrNameLst>
                                      </p:cBhvr>
                                      <p:to>
                                        <p:strVal val="visible"/>
                                      </p:to>
                                    </p:set>
                                    <p:animEffect transition="in" filter="barn(inVertical)">
                                      <p:cBhvr>
                                        <p:cTn id="7" dur="500"/>
                                        <p:tgtEl>
                                          <p:spTgt spid="17203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2035"/>
                                        </p:tgtEl>
                                        <p:attrNameLst>
                                          <p:attrName>style.visibility</p:attrName>
                                        </p:attrNameLst>
                                      </p:cBhvr>
                                      <p:to>
                                        <p:strVal val="visible"/>
                                      </p:to>
                                    </p:set>
                                    <p:animEffect transition="in" filter="randombar(horizontal)">
                                      <p:cBhvr>
                                        <p:cTn id="12" dur="500"/>
                                        <p:tgtEl>
                                          <p:spTgt spid="1720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72037"/>
                                        </p:tgtEl>
                                        <p:attrNameLst>
                                          <p:attrName>style.visibility</p:attrName>
                                        </p:attrNameLst>
                                      </p:cBhvr>
                                      <p:to>
                                        <p:strVal val="visible"/>
                                      </p:to>
                                    </p:set>
                                    <p:animEffect transition="in" filter="randombar(horizontal)">
                                      <p:cBhvr>
                                        <p:cTn id="17" dur="500"/>
                                        <p:tgtEl>
                                          <p:spTgt spid="17203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72038"/>
                                        </p:tgtEl>
                                        <p:attrNameLst>
                                          <p:attrName>style.visibility</p:attrName>
                                        </p:attrNameLst>
                                      </p:cBhvr>
                                      <p:to>
                                        <p:strVal val="visible"/>
                                      </p:to>
                                    </p:set>
                                    <p:animEffect transition="in" filter="randombar(horizontal)">
                                      <p:cBhvr>
                                        <p:cTn id="22" dur="500"/>
                                        <p:tgtEl>
                                          <p:spTgt spid="172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P spid="172036" grpId="0"/>
      <p:bldP spid="172037" grpId="0"/>
      <p:bldP spid="1720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Oval 2"/>
          <p:cNvSpPr>
            <a:spLocks noChangeArrowheads="1"/>
          </p:cNvSpPr>
          <p:nvPr/>
        </p:nvSpPr>
        <p:spPr bwMode="auto">
          <a:xfrm>
            <a:off x="3816350" y="4375150"/>
            <a:ext cx="1143000" cy="3810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0" lang="zh-CN" altLang="zh-CN" sz="2800" b="0">
              <a:latin typeface="Arial" panose="020B0604020202020204" pitchFamily="34" charset="0"/>
            </a:endParaRPr>
          </a:p>
        </p:txBody>
      </p:sp>
      <p:sp>
        <p:nvSpPr>
          <p:cNvPr id="61443" name="Rectangle 3"/>
          <p:cNvSpPr>
            <a:spLocks noChangeArrowheads="1"/>
          </p:cNvSpPr>
          <p:nvPr/>
        </p:nvSpPr>
        <p:spPr bwMode="auto">
          <a:xfrm>
            <a:off x="4425950" y="452755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0" lang="zh-CN" altLang="zh-CN" sz="2800" b="0">
              <a:latin typeface="Arial" panose="020B0604020202020204" pitchFamily="34" charset="0"/>
            </a:endParaRPr>
          </a:p>
        </p:txBody>
      </p:sp>
      <p:sp>
        <p:nvSpPr>
          <p:cNvPr id="265220" name="Rectangle 4"/>
          <p:cNvSpPr>
            <a:spLocks noChangeArrowheads="1"/>
          </p:cNvSpPr>
          <p:nvPr/>
        </p:nvSpPr>
        <p:spPr bwMode="auto">
          <a:xfrm>
            <a:off x="684213" y="1196975"/>
            <a:ext cx="79121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1241425"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660525"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2079625"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498725"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955925"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3413125"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870325"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4327525"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None/>
              <a:defRPr/>
            </a:pPr>
            <a:r>
              <a:rPr kumimoji="0" lang="en-US" altLang="zh-CN" sz="2600" dirty="0">
                <a:effectLst>
                  <a:outerShdw blurRad="38100" dist="38100" dir="2700000" algn="tl">
                    <a:srgbClr val="000000">
                      <a:alpha val="43137"/>
                    </a:srgbClr>
                  </a:outerShdw>
                </a:effectLst>
                <a:latin typeface="Times New Roman" panose="02020603050405020304" pitchFamily="18" charset="0"/>
              </a:rPr>
              <a:t>      </a:t>
            </a:r>
            <a:r>
              <a:rPr kumimoji="0" lang="zh-CN" altLang="en-US" sz="2600" dirty="0">
                <a:effectLst>
                  <a:outerShdw blurRad="38100" dist="38100" dir="2700000" algn="tl">
                    <a:srgbClr val="000000">
                      <a:alpha val="43137"/>
                    </a:srgbClr>
                  </a:outerShdw>
                </a:effectLst>
                <a:latin typeface="Times New Roman" panose="02020603050405020304" pitchFamily="18" charset="0"/>
              </a:rPr>
              <a:t>用户对中断的控制和管理，实际是对与中断有关的寄存器</a:t>
            </a:r>
            <a:r>
              <a:rPr kumimoji="0" lang="en-US" altLang="zh-CN"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IE</a:t>
            </a:r>
            <a:r>
              <a:rPr kumimoji="0" lang="zh-CN" altLang="en-US" sz="2600" dirty="0">
                <a:solidFill>
                  <a:srgbClr val="FF0000"/>
                </a:solidFill>
                <a:effectLst>
                  <a:outerShdw blurRad="38100" dist="38100" dir="2700000" algn="tl">
                    <a:srgbClr val="000000">
                      <a:alpha val="43137"/>
                    </a:srgbClr>
                  </a:outerShdw>
                </a:effectLst>
                <a:latin typeface="Times New Roman" panose="02020603050405020304" pitchFamily="18" charset="0"/>
              </a:rPr>
              <a:t>、</a:t>
            </a:r>
            <a:r>
              <a:rPr kumimoji="0" lang="en-US" altLang="zh-CN"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TCON</a:t>
            </a:r>
            <a:r>
              <a:rPr kumimoji="0" lang="zh-CN" altLang="en-US" sz="2600" dirty="0">
                <a:solidFill>
                  <a:srgbClr val="FF0000"/>
                </a:solidFill>
                <a:effectLst>
                  <a:outerShdw blurRad="38100" dist="38100" dir="2700000" algn="tl">
                    <a:srgbClr val="000000">
                      <a:alpha val="43137"/>
                    </a:srgbClr>
                  </a:outerShdw>
                </a:effectLst>
                <a:latin typeface="Times New Roman" panose="02020603050405020304" pitchFamily="18" charset="0"/>
              </a:rPr>
              <a:t>、</a:t>
            </a:r>
            <a:r>
              <a:rPr kumimoji="0" lang="en-US" altLang="zh-CN"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IP</a:t>
            </a:r>
            <a:r>
              <a:rPr kumimoji="0" lang="zh-CN" altLang="en-US" sz="2600" dirty="0">
                <a:solidFill>
                  <a:srgbClr val="FF0000"/>
                </a:solidFill>
                <a:effectLst>
                  <a:outerShdw blurRad="38100" dist="38100" dir="2700000" algn="tl">
                    <a:srgbClr val="000000">
                      <a:alpha val="43137"/>
                    </a:srgbClr>
                  </a:outerShdw>
                </a:effectLst>
                <a:latin typeface="Times New Roman" panose="02020603050405020304" pitchFamily="18" charset="0"/>
              </a:rPr>
              <a:t>、</a:t>
            </a:r>
            <a:r>
              <a:rPr kumimoji="0" lang="en-US" altLang="zh-CN"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SCON</a:t>
            </a:r>
            <a:r>
              <a:rPr kumimoji="0" lang="zh-CN" altLang="en-US" sz="2600" dirty="0">
                <a:effectLst>
                  <a:outerShdw blurRad="38100" dist="38100" dir="2700000" algn="tl">
                    <a:srgbClr val="000000">
                      <a:alpha val="43137"/>
                    </a:srgbClr>
                  </a:outerShdw>
                </a:effectLst>
                <a:latin typeface="Times New Roman" panose="02020603050405020304" pitchFamily="18" charset="0"/>
              </a:rPr>
              <a:t>进行控制或管理。</a:t>
            </a:r>
          </a:p>
          <a:p>
            <a:pPr eaLnBrk="1" hangingPunct="1">
              <a:lnSpc>
                <a:spcPct val="120000"/>
              </a:lnSpc>
              <a:buFont typeface="Wingdings" panose="05000000000000000000" pitchFamily="2" charset="2"/>
              <a:buNone/>
              <a:defRPr/>
            </a:pPr>
            <a:r>
              <a:rPr kumimoji="0" lang="zh-CN" altLang="en-US" sz="2600" dirty="0">
                <a:effectLst>
                  <a:outerShdw blurRad="38100" dist="38100" dir="2700000" algn="tl">
                    <a:srgbClr val="000000">
                      <a:alpha val="43137"/>
                    </a:srgbClr>
                  </a:outerShdw>
                </a:effectLst>
                <a:latin typeface="Times New Roman" panose="02020603050405020304" pitchFamily="18" charset="0"/>
              </a:rPr>
              <a:t>      为直接使用</a:t>
            </a:r>
            <a:r>
              <a:rPr kumimoji="0" lang="en-US" altLang="zh-CN" sz="2600" dirty="0">
                <a:effectLst>
                  <a:outerShdw blurRad="38100" dist="38100" dir="2700000" algn="tl">
                    <a:srgbClr val="000000">
                      <a:alpha val="43137"/>
                    </a:srgbClr>
                  </a:outerShdw>
                </a:effectLst>
                <a:latin typeface="Times New Roman" panose="02020603050405020304" pitchFamily="18" charset="0"/>
              </a:rPr>
              <a:t>C51</a:t>
            </a:r>
            <a:r>
              <a:rPr kumimoji="0" lang="zh-CN" altLang="en-US" sz="2600" dirty="0">
                <a:effectLst>
                  <a:outerShdw blurRad="38100" dist="38100" dir="2700000" algn="tl">
                    <a:srgbClr val="000000">
                      <a:alpha val="43137"/>
                    </a:srgbClr>
                  </a:outerShdw>
                </a:effectLst>
                <a:latin typeface="Times New Roman" panose="02020603050405020304" pitchFamily="18" charset="0"/>
              </a:rPr>
              <a:t>编写中断服务程序，</a:t>
            </a:r>
            <a:r>
              <a:rPr kumimoji="0" lang="en-US" altLang="zh-CN" sz="2600" dirty="0">
                <a:effectLst>
                  <a:outerShdw blurRad="38100" dist="38100" dir="2700000" algn="tl">
                    <a:srgbClr val="000000">
                      <a:alpha val="43137"/>
                    </a:srgbClr>
                  </a:outerShdw>
                </a:effectLst>
                <a:latin typeface="Times New Roman" panose="02020603050405020304" pitchFamily="18" charset="0"/>
              </a:rPr>
              <a:t>C51</a:t>
            </a:r>
            <a:r>
              <a:rPr kumimoji="0" lang="zh-CN" altLang="en-US" sz="2600" dirty="0">
                <a:effectLst>
                  <a:outerShdw blurRad="38100" dist="38100" dir="2700000" algn="tl">
                    <a:srgbClr val="000000">
                      <a:alpha val="43137"/>
                    </a:srgbClr>
                  </a:outerShdw>
                </a:effectLst>
                <a:latin typeface="Times New Roman" panose="02020603050405020304" pitchFamily="18" charset="0"/>
              </a:rPr>
              <a:t>中定义了中断函数。</a:t>
            </a:r>
            <a:endParaRPr kumimoji="0" lang="en-US" altLang="zh-CN" sz="2600" dirty="0">
              <a:effectLst>
                <a:outerShdw blurRad="38100" dist="38100" dir="2700000" algn="tl">
                  <a:srgbClr val="000000">
                    <a:alpha val="43137"/>
                  </a:srgbClr>
                </a:outerShdw>
              </a:effectLst>
              <a:latin typeface="Times New Roman" panose="02020603050405020304" pitchFamily="18" charset="0"/>
            </a:endParaRPr>
          </a:p>
          <a:p>
            <a:pPr eaLnBrk="1" hangingPunct="1">
              <a:lnSpc>
                <a:spcPct val="120000"/>
              </a:lnSpc>
              <a:buFont typeface="Wingdings" panose="05000000000000000000" pitchFamily="2" charset="2"/>
              <a:buNone/>
              <a:defRPr/>
            </a:pPr>
            <a:r>
              <a:rPr kumimoji="0" lang="en-US" altLang="zh-CN" sz="2600" dirty="0">
                <a:effectLst>
                  <a:outerShdw blurRad="38100" dist="38100" dir="2700000" algn="tl">
                    <a:srgbClr val="000000">
                      <a:alpha val="43137"/>
                    </a:srgbClr>
                  </a:outerShdw>
                </a:effectLst>
                <a:latin typeface="Times New Roman" panose="02020603050405020304" pitchFamily="18" charset="0"/>
              </a:rPr>
              <a:t>      </a:t>
            </a:r>
            <a:r>
              <a:rPr kumimoji="0" lang="zh-CN" altLang="en-US" sz="2600" dirty="0">
                <a:effectLst>
                  <a:outerShdw blurRad="38100" dist="38100" dir="2700000" algn="tl">
                    <a:srgbClr val="000000">
                      <a:alpha val="43137"/>
                    </a:srgbClr>
                  </a:outerShdw>
                </a:effectLst>
                <a:latin typeface="Times New Roman" panose="02020603050405020304" pitchFamily="18" charset="0"/>
              </a:rPr>
              <a:t>由于</a:t>
            </a:r>
            <a:r>
              <a:rPr kumimoji="0" lang="en-US" altLang="zh-CN" sz="2600" dirty="0">
                <a:effectLst>
                  <a:outerShdw blurRad="38100" dist="38100" dir="2700000" algn="tl">
                    <a:srgbClr val="000000">
                      <a:alpha val="43137"/>
                    </a:srgbClr>
                  </a:outerShdw>
                </a:effectLst>
                <a:latin typeface="Times New Roman" panose="02020603050405020304" pitchFamily="18" charset="0"/>
              </a:rPr>
              <a:t>C51</a:t>
            </a:r>
            <a:r>
              <a:rPr kumimoji="0" lang="zh-CN" altLang="en-US" sz="2600" dirty="0">
                <a:effectLst>
                  <a:outerShdw blurRad="38100" dist="38100" dir="2700000" algn="tl">
                    <a:srgbClr val="000000">
                      <a:alpha val="43137"/>
                    </a:srgbClr>
                  </a:outerShdw>
                </a:effectLst>
                <a:latin typeface="Times New Roman" panose="02020603050405020304" pitchFamily="18" charset="0"/>
              </a:rPr>
              <a:t>编译器在编译时对声明为中断服务程序的函数</a:t>
            </a:r>
            <a:r>
              <a:rPr kumimoji="0" lang="zh-CN" altLang="en-US" sz="2600" dirty="0">
                <a:solidFill>
                  <a:srgbClr val="FF0000"/>
                </a:solidFill>
                <a:effectLst>
                  <a:outerShdw blurRad="38100" dist="38100" dir="2700000" algn="tl">
                    <a:srgbClr val="000000">
                      <a:alpha val="43137"/>
                    </a:srgbClr>
                  </a:outerShdw>
                </a:effectLst>
                <a:latin typeface="Times New Roman" panose="02020603050405020304" pitchFamily="18" charset="0"/>
              </a:rPr>
              <a:t>自动添加了相应的现场保护、阻断其他中断、返回时自动恢复现场等</a:t>
            </a:r>
            <a:r>
              <a:rPr kumimoji="0" lang="zh-CN" altLang="en-US" sz="2600" dirty="0">
                <a:effectLst>
                  <a:outerShdw blurRad="38100" dist="38100" dir="2700000" algn="tl">
                    <a:srgbClr val="000000">
                      <a:alpha val="43137"/>
                    </a:srgbClr>
                  </a:outerShdw>
                </a:effectLst>
                <a:latin typeface="Times New Roman" panose="02020603050405020304" pitchFamily="18" charset="0"/>
              </a:rPr>
              <a:t>处理的程序段，因而在编写中断函数时可不必考虑这些问题。</a:t>
            </a:r>
          </a:p>
        </p:txBody>
      </p:sp>
      <p:sp>
        <p:nvSpPr>
          <p:cNvPr id="61445" name="Rectangle 5"/>
          <p:cNvSpPr>
            <a:spLocks noGrp="1" noChangeArrowheads="1"/>
          </p:cNvSpPr>
          <p:nvPr>
            <p:ph type="title"/>
          </p:nvPr>
        </p:nvSpPr>
        <p:spPr>
          <a:xfrm>
            <a:off x="892175" y="153439"/>
            <a:ext cx="7359650" cy="1073150"/>
          </a:xfrm>
          <a:noFill/>
        </p:spPr>
        <p:txBody>
          <a:bodyPr anchor="ctr"/>
          <a:lstStyle/>
          <a:p>
            <a:pPr algn="ctr" eaLnBrk="1" hangingPunct="1"/>
            <a:r>
              <a:rPr lang="zh-CN" altLang="en-US" sz="36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5220">
                                            <p:txEl>
                                              <p:pRg st="0" end="0"/>
                                            </p:txEl>
                                          </p:spTgt>
                                        </p:tgtEl>
                                        <p:attrNameLst>
                                          <p:attrName>style.visibility</p:attrName>
                                        </p:attrNameLst>
                                      </p:cBhvr>
                                      <p:to>
                                        <p:strVal val="visible"/>
                                      </p:to>
                                    </p:set>
                                    <p:animEffect transition="in" filter="randombar(horizontal)">
                                      <p:cBhvr>
                                        <p:cTn id="7" dur="500"/>
                                        <p:tgtEl>
                                          <p:spTgt spid="2652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65220">
                                            <p:txEl>
                                              <p:pRg st="1" end="1"/>
                                            </p:txEl>
                                          </p:spTgt>
                                        </p:tgtEl>
                                        <p:attrNameLst>
                                          <p:attrName>style.visibility</p:attrName>
                                        </p:attrNameLst>
                                      </p:cBhvr>
                                      <p:to>
                                        <p:strVal val="visible"/>
                                      </p:to>
                                    </p:set>
                                    <p:animEffect transition="in" filter="randombar(horizontal)">
                                      <p:cBhvr>
                                        <p:cTn id="12" dur="500"/>
                                        <p:tgtEl>
                                          <p:spTgt spid="2652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5220">
                                            <p:txEl>
                                              <p:pRg st="2" end="2"/>
                                            </p:txEl>
                                          </p:spTgt>
                                        </p:tgtEl>
                                        <p:attrNameLst>
                                          <p:attrName>style.visibility</p:attrName>
                                        </p:attrNameLst>
                                      </p:cBhvr>
                                      <p:to>
                                        <p:strVal val="visible"/>
                                      </p:to>
                                    </p:set>
                                    <p:animEffect transition="in" filter="randombar(horizontal)">
                                      <p:cBhvr>
                                        <p:cTn id="17" dur="500"/>
                                        <p:tgtEl>
                                          <p:spTgt spid="2652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827088" y="404813"/>
            <a:ext cx="7129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defRPr/>
            </a:pPr>
            <a:r>
              <a:rPr kumimoji="0" lang="zh-CN" altLang="en-US" sz="2800">
                <a:effectLst>
                  <a:outerShdw blurRad="38100" dist="38100" dir="2700000" algn="tl">
                    <a:srgbClr val="000000">
                      <a:alpha val="43137"/>
                    </a:srgbClr>
                  </a:outerShdw>
                </a:effectLst>
                <a:latin typeface="Arial" panose="020B0604020202020204" pitchFamily="34" charset="0"/>
              </a:rPr>
              <a:t>用</a:t>
            </a:r>
            <a:r>
              <a:rPr kumimoji="0" lang="en-US" altLang="zh-CN" sz="2800">
                <a:effectLst>
                  <a:outerShdw blurRad="38100" dist="38100" dir="2700000" algn="tl">
                    <a:srgbClr val="000000">
                      <a:alpha val="43137"/>
                    </a:srgbClr>
                  </a:outerShdw>
                </a:effectLst>
                <a:latin typeface="Arial" panose="020B0604020202020204" pitchFamily="34" charset="0"/>
              </a:rPr>
              <a:t>C</a:t>
            </a:r>
            <a:r>
              <a:rPr kumimoji="0" lang="zh-CN" altLang="en-US" sz="2800">
                <a:effectLst>
                  <a:outerShdw blurRad="38100" dist="38100" dir="2700000" algn="tl">
                    <a:srgbClr val="000000">
                      <a:alpha val="43137"/>
                    </a:srgbClr>
                  </a:outerShdw>
                </a:effectLst>
                <a:latin typeface="Arial" panose="020B0604020202020204" pitchFamily="34" charset="0"/>
              </a:rPr>
              <a:t>语言编写</a:t>
            </a:r>
            <a:r>
              <a:rPr kumimoji="0" lang="zh-CN" altLang="en-US" sz="2800">
                <a:effectLst>
                  <a:outerShdw blurRad="38100" dist="38100" dir="2700000" algn="tl">
                    <a:srgbClr val="000000">
                      <a:alpha val="43137"/>
                    </a:srgbClr>
                  </a:outerShdw>
                </a:effectLst>
                <a:latin typeface="宋体" panose="02010600030101010101" pitchFamily="2" charset="-122"/>
              </a:rPr>
              <a:t>中断服务函数的格式如下： </a:t>
            </a:r>
          </a:p>
        </p:txBody>
      </p:sp>
      <p:sp>
        <p:nvSpPr>
          <p:cNvPr id="54275" name="Text Box 3"/>
          <p:cNvSpPr txBox="1">
            <a:spLocks noChangeArrowheads="1"/>
          </p:cNvSpPr>
          <p:nvPr/>
        </p:nvSpPr>
        <p:spPr bwMode="auto">
          <a:xfrm>
            <a:off x="611188" y="1196975"/>
            <a:ext cx="8240712" cy="491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125000"/>
              </a:lnSpc>
              <a:buClr>
                <a:schemeClr val="bg2"/>
              </a:buClr>
              <a:buSzPct val="75000"/>
              <a:buFont typeface="Wingdings" panose="05000000000000000000" pitchFamily="2" charset="2"/>
              <a:buNone/>
              <a:defRPr/>
            </a:pPr>
            <a:r>
              <a:rPr kumimoji="0" lang="zh-CN" altLang="en-US" sz="2400" dirty="0">
                <a:solidFill>
                  <a:srgbClr val="0000FF"/>
                </a:solidFill>
                <a:effectLst>
                  <a:outerShdw blurRad="38100" dist="38100" dir="2700000" algn="tl">
                    <a:srgbClr val="000000">
                      <a:alpha val="43137"/>
                    </a:srgbClr>
                  </a:outerShdw>
                </a:effectLst>
                <a:latin typeface="Arial" panose="020B0604020202020204" pitchFamily="34" charset="0"/>
              </a:rPr>
              <a:t>函数类型</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 </a:t>
            </a:r>
            <a:r>
              <a:rPr kumimoji="0" lang="zh-CN" altLang="en-US" sz="2400" dirty="0">
                <a:solidFill>
                  <a:srgbClr val="0000FF"/>
                </a:solidFill>
                <a:effectLst>
                  <a:outerShdw blurRad="38100" dist="38100" dir="2700000" algn="tl">
                    <a:srgbClr val="000000">
                      <a:alpha val="43137"/>
                    </a:srgbClr>
                  </a:outerShdw>
                </a:effectLst>
                <a:latin typeface="Arial" panose="020B0604020202020204" pitchFamily="34" charset="0"/>
              </a:rPr>
              <a:t>函数名 </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a:t>
            </a:r>
            <a:r>
              <a:rPr kumimoji="0" lang="zh-CN" altLang="en-US" sz="2400" dirty="0">
                <a:solidFill>
                  <a:srgbClr val="0000FF"/>
                </a:solidFill>
                <a:effectLst>
                  <a:outerShdw blurRad="38100" dist="38100" dir="2700000" algn="tl">
                    <a:srgbClr val="000000">
                      <a:alpha val="43137"/>
                    </a:srgbClr>
                  </a:outerShdw>
                </a:effectLst>
                <a:latin typeface="Arial" panose="020B0604020202020204" pitchFamily="34" charset="0"/>
              </a:rPr>
              <a:t>形式参数表</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a:t>
            </a:r>
            <a:r>
              <a:rPr kumimoji="0" lang="zh-CN" altLang="en-US" sz="2400" dirty="0">
                <a:solidFill>
                  <a:srgbClr val="0000FF"/>
                </a:solidFill>
                <a:effectLst>
                  <a:outerShdw blurRad="38100" dist="38100" dir="2700000" algn="tl">
                    <a:srgbClr val="000000">
                      <a:alpha val="43137"/>
                    </a:srgbClr>
                  </a:outerShdw>
                </a:effectLst>
                <a:latin typeface="Arial" panose="020B0604020202020204" pitchFamily="34" charset="0"/>
              </a:rPr>
              <a:t> </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[interrupt </a:t>
            </a:r>
            <a:r>
              <a:rPr kumimoji="0" lang="en-US" altLang="zh-CN" sz="2400" dirty="0">
                <a:solidFill>
                  <a:srgbClr val="FF0000"/>
                </a:solidFill>
                <a:effectLst>
                  <a:outerShdw blurRad="38100" dist="38100" dir="2700000" algn="tl">
                    <a:srgbClr val="000000">
                      <a:alpha val="43137"/>
                    </a:srgbClr>
                  </a:outerShdw>
                </a:effectLst>
                <a:latin typeface="Arial" panose="020B0604020202020204" pitchFamily="34" charset="0"/>
              </a:rPr>
              <a:t>n</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 [ using </a:t>
            </a:r>
            <a:r>
              <a:rPr kumimoji="0" lang="en-US" altLang="zh-CN" sz="2400" dirty="0">
                <a:solidFill>
                  <a:srgbClr val="FF0000"/>
                </a:solidFill>
                <a:effectLst>
                  <a:outerShdw blurRad="38100" dist="38100" dir="2700000" algn="tl">
                    <a:srgbClr val="000000">
                      <a:alpha val="43137"/>
                    </a:srgbClr>
                  </a:outerShdw>
                </a:effectLst>
                <a:latin typeface="Arial" panose="020B0604020202020204" pitchFamily="34" charset="0"/>
              </a:rPr>
              <a:t>m</a:t>
            </a:r>
            <a:r>
              <a:rPr kumimoji="0" lang="en-US" altLang="zh-CN" sz="2400" dirty="0">
                <a:solidFill>
                  <a:srgbClr val="0000FF"/>
                </a:solidFill>
                <a:effectLst>
                  <a:outerShdw blurRad="38100" dist="38100" dir="2700000" algn="tl">
                    <a:srgbClr val="000000">
                      <a:alpha val="43137"/>
                    </a:srgbClr>
                  </a:outerShdw>
                </a:effectLst>
                <a:latin typeface="Arial" panose="020B0604020202020204" pitchFamily="34" charset="0"/>
              </a:rPr>
              <a:t>]</a:t>
            </a:r>
            <a:r>
              <a:rPr kumimoji="0" lang="en-US" altLang="zh-CN" sz="1800" dirty="0">
                <a:solidFill>
                  <a:srgbClr val="0000FF"/>
                </a:solidFill>
                <a:effectLst>
                  <a:outerShdw blurRad="38100" dist="38100" dir="2700000" algn="tl">
                    <a:srgbClr val="000000">
                      <a:alpha val="43137"/>
                    </a:srgbClr>
                  </a:outerShdw>
                </a:effectLst>
                <a:latin typeface="Arial" panose="020B0604020202020204" pitchFamily="34" charset="0"/>
              </a:rPr>
              <a:t> </a:t>
            </a:r>
          </a:p>
          <a:p>
            <a:pPr algn="just" eaLnBrk="1" hangingPunct="1">
              <a:lnSpc>
                <a:spcPct val="125000"/>
              </a:lnSpc>
              <a:spcBef>
                <a:spcPct val="15000"/>
              </a:spcBef>
              <a:buClrTx/>
              <a:buSzTx/>
              <a:buFontTx/>
              <a:buNone/>
              <a:defRPr/>
            </a:pPr>
            <a:r>
              <a:rPr kumimoji="0" lang="en-GB" alt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kumimoji="0" lang="en-US" altLang="zh-CN" sz="28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kumimoji="0" lang="zh-CN" alt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nterrupt n</a:t>
            </a:r>
            <a:r>
              <a:rPr kumimoji="0" lang="zh-CN" altLang="en-US" sz="2800" dirty="0">
                <a:effectLst>
                  <a:outerShdw blurRad="38100" dist="38100" dir="2700000" algn="tl">
                    <a:srgbClr val="000000">
                      <a:alpha val="43137"/>
                    </a:srgbClr>
                  </a:outerShdw>
                </a:effectLst>
                <a:latin typeface="宋体" panose="02010600030101010101" pitchFamily="2" charset="-122"/>
              </a:rPr>
              <a:t>：表示将函数声明为中断服务函数，   </a:t>
            </a:r>
            <a:r>
              <a:rPr kumimoji="0" lang="zh-CN" altLang="en-US" sz="2800" dirty="0">
                <a:effectLst>
                  <a:outerShdw blurRad="38100" dist="38100" dir="2700000" algn="tl">
                    <a:srgbClr val="000000">
                      <a:alpha val="43137"/>
                    </a:srgbClr>
                  </a:outerShdw>
                </a:effectLst>
                <a:latin typeface="Times New Roman" panose="02020603050405020304" pitchFamily="18" charset="0"/>
              </a:rPr>
              <a:t>n</a:t>
            </a:r>
            <a:r>
              <a:rPr kumimoji="0" lang="zh-CN" altLang="en-US" sz="2800" dirty="0">
                <a:effectLst>
                  <a:outerShdw blurRad="38100" dist="38100" dir="2700000" algn="tl">
                    <a:srgbClr val="000000">
                      <a:alpha val="43137"/>
                    </a:srgbClr>
                  </a:outerShdw>
                </a:effectLst>
                <a:latin typeface="宋体" panose="02010600030101010101" pitchFamily="2" charset="-122"/>
              </a:rPr>
              <a:t>为中断源编号。</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INT0</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TO</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INT1</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T1</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、串行口</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5</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个中断源对应的编号分别为</a:t>
            </a:r>
            <a:r>
              <a:rPr kumimoji="0" lang="en-US" altLang="zh-CN"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0~4</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p>
          <a:p>
            <a:pPr algn="just" eaLnBrk="1" hangingPunct="1">
              <a:lnSpc>
                <a:spcPct val="125000"/>
              </a:lnSpc>
              <a:spcBef>
                <a:spcPct val="15000"/>
              </a:spcBef>
              <a:buClrTx/>
              <a:buSzTx/>
              <a:buFontTx/>
              <a:buNone/>
              <a:defRPr/>
            </a:pPr>
            <a:r>
              <a:rPr kumimoji="0" lang="en-US" altLang="zh-CN" sz="2800" dirty="0">
                <a:effectLst>
                  <a:outerShdw blurRad="38100" dist="38100" dir="2700000" algn="tl">
                    <a:srgbClr val="000000">
                      <a:alpha val="43137"/>
                    </a:srgbClr>
                  </a:outerShdw>
                </a:effectLst>
                <a:latin typeface="Times New Roman" panose="02020603050405020304" pitchFamily="18" charset="0"/>
              </a:rPr>
              <a:t>(2)</a:t>
            </a:r>
            <a:r>
              <a:rPr kumimoji="0" lang="zh-CN" altLang="en-US" sz="2800" dirty="0">
                <a:effectLst>
                  <a:outerShdw blurRad="38100" dist="38100" dir="2700000" algn="tl">
                    <a:srgbClr val="000000">
                      <a:alpha val="43137"/>
                    </a:srgbClr>
                  </a:outerShdw>
                </a:effectLst>
                <a:latin typeface="Times New Roman" panose="02020603050405020304" pitchFamily="18" charset="0"/>
              </a:rPr>
              <a:t> </a:t>
            </a:r>
            <a:r>
              <a:rPr kumimoji="0" lang="en-US" altLang="zh-CN" sz="2800" dirty="0">
                <a:effectLst>
                  <a:outerShdw blurRad="38100" dist="38100" dir="2700000" algn="tl">
                    <a:srgbClr val="000000">
                      <a:alpha val="43137"/>
                    </a:srgbClr>
                  </a:outerShdw>
                </a:effectLst>
                <a:latin typeface="Times New Roman" panose="02020603050405020304" pitchFamily="18" charset="0"/>
              </a:rPr>
              <a:t>u</a:t>
            </a:r>
            <a:r>
              <a:rPr kumimoji="0" lang="zh-CN" altLang="en-US" sz="2800" dirty="0">
                <a:effectLst>
                  <a:outerShdw blurRad="38100" dist="38100" dir="2700000" algn="tl">
                    <a:srgbClr val="000000">
                      <a:alpha val="43137"/>
                    </a:srgbClr>
                  </a:outerShdw>
                </a:effectLst>
                <a:latin typeface="Times New Roman" panose="02020603050405020304" pitchFamily="18" charset="0"/>
              </a:rPr>
              <a:t>sing m</a:t>
            </a:r>
            <a:r>
              <a:rPr kumimoji="0" lang="zh-CN" altLang="en-US" sz="2800" dirty="0">
                <a:effectLst>
                  <a:outerShdw blurRad="38100" dist="38100" dir="2700000" algn="tl">
                    <a:srgbClr val="000000">
                      <a:alpha val="43137"/>
                    </a:srgbClr>
                  </a:outerShdw>
                </a:effectLst>
                <a:latin typeface="宋体" panose="02010600030101010101" pitchFamily="2" charset="-122"/>
              </a:rPr>
              <a:t>：定义函数使用的工作寄存器组。</a:t>
            </a:r>
            <a:r>
              <a:rPr kumimoji="0" lang="zh-CN" altLang="en-US" sz="2800"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函数入口处将当前寄存器保存，使用m指定的寄存器组，函数退出时原寄存器组恢复。</a:t>
            </a:r>
            <a:r>
              <a:rPr kumimoji="0" lang="zh-CN" altLang="en-US" sz="2800" dirty="0">
                <a:effectLst>
                  <a:outerShdw blurRad="38100" dist="38100" dir="2700000" algn="tl">
                    <a:srgbClr val="000000">
                      <a:alpha val="43137"/>
                    </a:srgbClr>
                  </a:outerShdw>
                </a:effectLst>
                <a:latin typeface="宋体" panose="02010600030101010101" pitchFamily="2" charset="-122"/>
              </a:rPr>
              <a:t>使用不同的工作寄存器组，在中断函数调用时可不必进行相关参数的保护。</a:t>
            </a:r>
            <a:r>
              <a:rPr kumimoji="0" lang="en-US" altLang="zh-CN" sz="2800" dirty="0">
                <a:solidFill>
                  <a:srgbClr val="0000FF"/>
                </a:solidFill>
                <a:effectLst>
                  <a:outerShdw blurRad="38100" dist="38100" dir="2700000" algn="tl">
                    <a:srgbClr val="000000">
                      <a:alpha val="43137"/>
                    </a:srgbClr>
                  </a:outerShdw>
                </a:effectLst>
                <a:latin typeface="宋体" panose="02010600030101010101" pitchFamily="2" charset="-122"/>
              </a:rPr>
              <a:t>(</a:t>
            </a:r>
            <a:r>
              <a:rPr kumimoji="0" lang="zh-CN" altLang="en-US" sz="2800" dirty="0">
                <a:solidFill>
                  <a:srgbClr val="0000FF"/>
                </a:solidFill>
                <a:effectLst>
                  <a:outerShdw blurRad="38100" dist="38100" dir="2700000" algn="tl">
                    <a:srgbClr val="000000">
                      <a:alpha val="43137"/>
                    </a:srgbClr>
                  </a:outerShdw>
                </a:effectLst>
                <a:latin typeface="宋体" panose="02010600030101010101" pitchFamily="2" charset="-122"/>
              </a:rPr>
              <a:t>如不声明，默认用第</a:t>
            </a:r>
            <a:r>
              <a:rPr kumimoji="0" lang="en-US" altLang="zh-CN" sz="2800" dirty="0">
                <a:solidFill>
                  <a:srgbClr val="0000FF"/>
                </a:solidFill>
                <a:effectLst>
                  <a:outerShdw blurRad="38100" dist="38100" dir="2700000" algn="tl">
                    <a:srgbClr val="000000">
                      <a:alpha val="43137"/>
                    </a:srgbClr>
                  </a:outerShdw>
                </a:effectLst>
                <a:latin typeface="宋体" panose="02010600030101010101" pitchFamily="2" charset="-122"/>
              </a:rPr>
              <a:t>0</a:t>
            </a:r>
            <a:r>
              <a:rPr kumimoji="0" lang="zh-CN" altLang="en-US" sz="2800" dirty="0">
                <a:solidFill>
                  <a:srgbClr val="0000FF"/>
                </a:solidFill>
                <a:effectLst>
                  <a:outerShdw blurRad="38100" dist="38100" dir="2700000" algn="tl">
                    <a:srgbClr val="000000">
                      <a:alpha val="43137"/>
                    </a:srgbClr>
                  </a:outerShdw>
                </a:effectLst>
                <a:latin typeface="宋体" panose="02010600030101010101" pitchFamily="2" charset="-122"/>
              </a:rPr>
              <a:t>组</a:t>
            </a:r>
            <a:r>
              <a:rPr kumimoji="0" lang="en-US" altLang="zh-CN" sz="2800" dirty="0">
                <a:solidFill>
                  <a:srgbClr val="0000FF"/>
                </a:solidFill>
                <a:effectLst>
                  <a:outerShdw blurRad="38100" dist="38100" dir="2700000" algn="tl">
                    <a:srgbClr val="000000">
                      <a:alpha val="43137"/>
                    </a:srgbClr>
                  </a:outerShdw>
                </a:effectLst>
                <a:latin typeface="宋体" panose="02010600030101010101" pitchFamily="2" charset="-122"/>
              </a:rPr>
              <a:t>)</a:t>
            </a:r>
            <a:endParaRPr kumimoji="0" lang="zh-CN" altLang="zh-CN" sz="2800" dirty="0">
              <a:solidFill>
                <a:srgbClr val="0000FF"/>
              </a:solidFill>
              <a:effectLst>
                <a:outerShdw blurRad="38100" dist="38100" dir="2700000" algn="tl">
                  <a:srgbClr val="000000">
                    <a:alpha val="43137"/>
                  </a:srgbClr>
                </a:outerShdw>
              </a:effectLst>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randombar(horizontal)">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randombar(horizontal)">
                                      <p:cBhvr>
                                        <p:cTn id="12" dur="500"/>
                                        <p:tgtEl>
                                          <p:spTgt spid="54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randombar(horizontal)">
                                      <p:cBhvr>
                                        <p:cTn id="17" dur="500"/>
                                        <p:tgtEl>
                                          <p:spTgt spid="54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7" name="Rectangle 3"/>
          <p:cNvSpPr>
            <a:spLocks noGrp="1" noChangeArrowheads="1"/>
          </p:cNvSpPr>
          <p:nvPr>
            <p:ph type="body" idx="1"/>
          </p:nvPr>
        </p:nvSpPr>
        <p:spPr>
          <a:xfrm>
            <a:off x="755650" y="548640"/>
            <a:ext cx="7772400" cy="4968875"/>
          </a:xfrm>
        </p:spPr>
        <p:txBody>
          <a:bodyPr/>
          <a:lstStyle/>
          <a:p>
            <a:pPr marL="179705" eaLnBrk="1" hangingPunct="1">
              <a:lnSpc>
                <a:spcPct val="140000"/>
              </a:lnSpc>
              <a:buFont typeface="Wingdings" panose="05000000000000000000" pitchFamily="2" charset="2"/>
              <a:buNone/>
              <a:defRPr/>
            </a:pPr>
            <a:r>
              <a:rPr lang="en-US" altLang="zh-CN" sz="2600" b="1" dirty="0">
                <a:effectLst>
                  <a:outerShdw blurRad="38100" dist="38100" dir="2700000" algn="tl">
                    <a:srgbClr val="000000">
                      <a:alpha val="43137"/>
                    </a:srgbClr>
                  </a:outerShdw>
                </a:effectLst>
              </a:rPr>
              <a:t>        </a:t>
            </a:r>
            <a:r>
              <a:rPr lang="zh-CN" altLang="en-US" sz="2600" b="1" dirty="0">
                <a:effectLst>
                  <a:outerShdw blurRad="38100" dist="38100" dir="2700000" algn="tl">
                    <a:srgbClr val="000000">
                      <a:alpha val="43137"/>
                    </a:srgbClr>
                  </a:outerShdw>
                </a:effectLst>
              </a:rPr>
              <a:t>中断调用与标准</a:t>
            </a:r>
            <a:r>
              <a:rPr lang="en-US" altLang="zh-CN" sz="2600" b="1" dirty="0">
                <a:effectLst>
                  <a:outerShdw blurRad="38100" dist="38100" dir="2700000" algn="tl">
                    <a:srgbClr val="000000">
                      <a:alpha val="43137"/>
                    </a:srgbClr>
                  </a:outerShdw>
                </a:effectLst>
              </a:rPr>
              <a:t>C</a:t>
            </a:r>
            <a:r>
              <a:rPr lang="zh-CN" altLang="en-US" sz="2600" b="1" dirty="0">
                <a:effectLst>
                  <a:outerShdw blurRad="38100" dist="38100" dir="2700000" algn="tl">
                    <a:srgbClr val="000000">
                      <a:alpha val="43137"/>
                    </a:srgbClr>
                  </a:outerShdw>
                </a:effectLst>
              </a:rPr>
              <a:t>的函数调用是不一样的，</a:t>
            </a:r>
            <a:r>
              <a:rPr lang="zh-CN" altLang="en-US" sz="2600" b="1" dirty="0">
                <a:solidFill>
                  <a:srgbClr val="0000FF"/>
                </a:solidFill>
                <a:effectLst>
                  <a:outerShdw blurRad="38100" dist="38100" dir="2700000" algn="tl">
                    <a:srgbClr val="000000">
                      <a:alpha val="43137"/>
                    </a:srgbClr>
                  </a:outerShdw>
                </a:effectLst>
              </a:rPr>
              <a:t>当中断事件发生后，对应的中断函数被自动调用</a:t>
            </a:r>
            <a:r>
              <a:rPr lang="zh-CN" altLang="en-US" sz="2600" b="1" dirty="0">
                <a:effectLst>
                  <a:outerShdw blurRad="38100" dist="38100" dir="2700000" algn="tl">
                    <a:srgbClr val="000000">
                      <a:alpha val="43137"/>
                    </a:srgbClr>
                  </a:outerShdw>
                </a:effectLst>
              </a:rPr>
              <a:t>，中断函数既</a:t>
            </a:r>
            <a:r>
              <a:rPr lang="zh-CN" altLang="en-US" sz="2600" b="1" dirty="0">
                <a:solidFill>
                  <a:srgbClr val="CC00FF"/>
                </a:solidFill>
                <a:effectLst>
                  <a:outerShdw blurRad="38100" dist="38100" dir="2700000" algn="tl">
                    <a:srgbClr val="000000">
                      <a:alpha val="43137"/>
                    </a:srgbClr>
                  </a:outerShdw>
                </a:effectLst>
              </a:rPr>
              <a:t>没有参数</a:t>
            </a:r>
            <a:r>
              <a:rPr lang="zh-CN" altLang="en-US" sz="2600" b="1" dirty="0">
                <a:effectLst>
                  <a:outerShdw blurRad="38100" dist="38100" dir="2700000" algn="tl">
                    <a:srgbClr val="000000">
                      <a:alpha val="43137"/>
                    </a:srgbClr>
                  </a:outerShdw>
                </a:effectLst>
              </a:rPr>
              <a:t>，也</a:t>
            </a:r>
            <a:r>
              <a:rPr lang="zh-CN" altLang="en-US" sz="2600" b="1" dirty="0">
                <a:solidFill>
                  <a:srgbClr val="CC00FF"/>
                </a:solidFill>
                <a:effectLst>
                  <a:outerShdw blurRad="38100" dist="38100" dir="2700000" algn="tl">
                    <a:srgbClr val="000000">
                      <a:alpha val="43137"/>
                    </a:srgbClr>
                  </a:outerShdw>
                </a:effectLst>
              </a:rPr>
              <a:t>没有返回值</a:t>
            </a:r>
            <a:r>
              <a:rPr lang="zh-CN" altLang="en-US" sz="2600" b="1" dirty="0">
                <a:effectLst>
                  <a:outerShdw blurRad="38100" dist="38100" dir="2700000" algn="tl">
                    <a:srgbClr val="000000">
                      <a:alpha val="43137"/>
                    </a:srgbClr>
                  </a:outerShdw>
                </a:effectLst>
              </a:rPr>
              <a:t>。中断服务函数</a:t>
            </a:r>
            <a:r>
              <a:rPr lang="zh-CN" altLang="en-US" sz="2600" b="1" dirty="0">
                <a:solidFill>
                  <a:srgbClr val="CC00FF"/>
                </a:solidFill>
                <a:effectLst>
                  <a:outerShdw blurRad="38100" dist="38100" dir="2700000" algn="tl">
                    <a:srgbClr val="000000">
                      <a:alpha val="43137"/>
                    </a:srgbClr>
                  </a:outerShdw>
                </a:effectLst>
              </a:rPr>
              <a:t>只能由系统调用</a:t>
            </a:r>
            <a:r>
              <a:rPr lang="zh-CN" altLang="en-US" sz="2600" b="1" dirty="0">
                <a:effectLst>
                  <a:outerShdw blurRad="38100" dist="38100" dir="2700000" algn="tl">
                    <a:srgbClr val="000000">
                      <a:alpha val="43137"/>
                    </a:srgbClr>
                  </a:outerShdw>
                </a:effectLst>
              </a:rPr>
              <a:t>，不能被其他函数调用。</a:t>
            </a:r>
          </a:p>
          <a:p>
            <a:pPr marL="179705" eaLnBrk="1" hangingPunct="1">
              <a:lnSpc>
                <a:spcPct val="140000"/>
              </a:lnSpc>
              <a:buFont typeface="Wingdings" panose="05000000000000000000" pitchFamily="2" charset="2"/>
              <a:buNone/>
              <a:defRPr/>
            </a:pPr>
            <a:r>
              <a:rPr lang="en-US" altLang="zh-CN" sz="2600" b="1" dirty="0">
                <a:effectLst>
                  <a:outerShdw blurRad="38100" dist="38100" dir="2700000" algn="tl">
                    <a:srgbClr val="000000">
                      <a:alpha val="43137"/>
                    </a:srgbClr>
                  </a:outerShdw>
                </a:effectLst>
              </a:rPr>
              <a:t>        </a:t>
            </a:r>
            <a:r>
              <a:rPr lang="zh-CN" altLang="en-US" sz="2600" b="1" dirty="0">
                <a:effectLst>
                  <a:outerShdw blurRad="38100" dist="38100" dir="2700000" algn="tl">
                    <a:srgbClr val="000000">
                      <a:alpha val="43137"/>
                    </a:srgbClr>
                  </a:outerShdw>
                </a:effectLst>
              </a:rPr>
              <a:t>中断函数会带来如下影响。</a:t>
            </a:r>
          </a:p>
          <a:p>
            <a:pPr marL="179705" eaLnBrk="1" hangingPunct="1">
              <a:lnSpc>
                <a:spcPct val="140000"/>
              </a:lnSpc>
              <a:buFont typeface="Wingdings" panose="05000000000000000000" pitchFamily="2" charset="2"/>
              <a:buNone/>
              <a:defRPr/>
            </a:pPr>
            <a:r>
              <a:rPr lang="zh-CN" altLang="en-US" sz="2600" b="1" dirty="0">
                <a:effectLst>
                  <a:outerShdw blurRad="38100" dist="38100" dir="2700000" algn="tl">
                    <a:srgbClr val="000000">
                      <a:alpha val="43137"/>
                    </a:srgbClr>
                  </a:outerShdw>
                </a:effectLst>
              </a:rPr>
              <a:t>  （</a:t>
            </a:r>
            <a:r>
              <a:rPr lang="en-US" altLang="zh-CN" sz="2600" b="1" dirty="0">
                <a:effectLst>
                  <a:outerShdw blurRad="38100" dist="38100" dir="2700000" algn="tl">
                    <a:srgbClr val="000000">
                      <a:alpha val="43137"/>
                    </a:srgbClr>
                  </a:outerShdw>
                </a:effectLst>
              </a:rPr>
              <a:t>1</a:t>
            </a:r>
            <a:r>
              <a:rPr lang="zh-CN" altLang="en-US" sz="2600" b="1" dirty="0">
                <a:effectLst>
                  <a:outerShdw blurRad="38100" dist="38100" dir="2700000" algn="tl">
                    <a:srgbClr val="000000">
                      <a:alpha val="43137"/>
                    </a:srgbClr>
                  </a:outerShdw>
                </a:effectLst>
              </a:rPr>
              <a:t>）</a:t>
            </a:r>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编译器会为中断函数自动生成中断向量</a:t>
            </a:r>
            <a:r>
              <a:rPr lang="zh-CN" altLang="en-US" sz="2600" b="1" dirty="0">
                <a:effectLst>
                  <a:outerShdw blurRad="38100" dist="38100" dir="2700000" algn="tl">
                    <a:srgbClr val="000000">
                      <a:alpha val="43137"/>
                    </a:srgbClr>
                  </a:outerShdw>
                </a:effectLst>
              </a:rPr>
              <a:t>。</a:t>
            </a:r>
          </a:p>
          <a:p>
            <a:pPr marL="179705" eaLnBrk="1" hangingPunct="1">
              <a:lnSpc>
                <a:spcPct val="140000"/>
              </a:lnSpc>
              <a:buFont typeface="Wingdings" panose="05000000000000000000" pitchFamily="2" charset="2"/>
              <a:buNone/>
              <a:defRPr/>
            </a:pPr>
            <a:r>
              <a:rPr lang="zh-CN" altLang="en-US" sz="2600" b="1" dirty="0">
                <a:effectLst>
                  <a:outerShdw blurRad="38100" dist="38100" dir="2700000" algn="tl">
                    <a:srgbClr val="000000">
                      <a:alpha val="43137"/>
                    </a:srgbClr>
                  </a:outerShdw>
                </a:effectLst>
              </a:rPr>
              <a:t>  （</a:t>
            </a:r>
            <a:r>
              <a:rPr lang="en-US" altLang="zh-CN" sz="2600" b="1" dirty="0">
                <a:effectLst>
                  <a:outerShdw blurRad="38100" dist="38100" dir="2700000" algn="tl">
                    <a:srgbClr val="000000">
                      <a:alpha val="43137"/>
                    </a:srgbClr>
                  </a:outerShdw>
                </a:effectLst>
              </a:rPr>
              <a:t>2</a:t>
            </a:r>
            <a:r>
              <a:rPr lang="zh-CN" altLang="en-US" sz="2600" b="1" dirty="0">
                <a:effectLst>
                  <a:outerShdw blurRad="38100" dist="38100" dir="2700000" algn="tl">
                    <a:srgbClr val="000000">
                      <a:alpha val="43137"/>
                    </a:srgbClr>
                  </a:outerShdw>
                </a:effectLst>
              </a:rPr>
              <a:t>）</a:t>
            </a:r>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退出中断函数时，所有保存在堆栈中的工作寄存器及特殊功能寄存器被恢复</a:t>
            </a:r>
            <a:r>
              <a:rPr lang="zh-CN" altLang="en-US" sz="2600" b="1" dirty="0">
                <a:effectLst>
                  <a:outerShdw blurRad="38100" dist="38100" dir="2700000" algn="tl">
                    <a:srgbClr val="000000">
                      <a:alpha val="43137"/>
                    </a:srgbClr>
                  </a:outerShdw>
                </a:effectLst>
              </a:rPr>
              <a:t>。</a:t>
            </a:r>
          </a:p>
          <a:p>
            <a:pPr marL="179705" eaLnBrk="1" hangingPunct="1">
              <a:defRPr/>
            </a:pPr>
            <a:endParaRPr lang="en-US" altLang="zh-CN" sz="2600"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2387">
                                            <p:txEl>
                                              <p:pRg st="0" end="0"/>
                                            </p:txEl>
                                          </p:spTgt>
                                        </p:tgtEl>
                                        <p:attrNameLst>
                                          <p:attrName>style.visibility</p:attrName>
                                        </p:attrNameLst>
                                      </p:cBhvr>
                                      <p:to>
                                        <p:strVal val="visible"/>
                                      </p:to>
                                    </p:set>
                                    <p:animEffect transition="in" filter="randombar(horizontal)">
                                      <p:cBhvr>
                                        <p:cTn id="7" dur="500"/>
                                        <p:tgtEl>
                                          <p:spTgt spid="272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72387">
                                            <p:txEl>
                                              <p:pRg st="1" end="1"/>
                                            </p:txEl>
                                          </p:spTgt>
                                        </p:tgtEl>
                                        <p:attrNameLst>
                                          <p:attrName>style.visibility</p:attrName>
                                        </p:attrNameLst>
                                      </p:cBhvr>
                                      <p:to>
                                        <p:strVal val="visible"/>
                                      </p:to>
                                    </p:set>
                                    <p:animEffect transition="in" filter="randombar(horizontal)">
                                      <p:cBhvr>
                                        <p:cTn id="12" dur="500"/>
                                        <p:tgtEl>
                                          <p:spTgt spid="272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72387">
                                            <p:txEl>
                                              <p:pRg st="2" end="2"/>
                                            </p:txEl>
                                          </p:spTgt>
                                        </p:tgtEl>
                                        <p:attrNameLst>
                                          <p:attrName>style.visibility</p:attrName>
                                        </p:attrNameLst>
                                      </p:cBhvr>
                                      <p:to>
                                        <p:strVal val="visible"/>
                                      </p:to>
                                    </p:set>
                                    <p:animEffect transition="in" filter="randombar(horizontal)">
                                      <p:cBhvr>
                                        <p:cTn id="17" dur="500"/>
                                        <p:tgtEl>
                                          <p:spTgt spid="272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2387">
                                            <p:txEl>
                                              <p:pRg st="3" end="3"/>
                                            </p:txEl>
                                          </p:spTgt>
                                        </p:tgtEl>
                                        <p:attrNameLst>
                                          <p:attrName>style.visibility</p:attrName>
                                        </p:attrNameLst>
                                      </p:cBhvr>
                                      <p:to>
                                        <p:strVal val="visible"/>
                                      </p:to>
                                    </p:set>
                                    <p:animEffect transition="in" filter="randombar(horizontal)">
                                      <p:cBhvr>
                                        <p:cTn id="22" dur="500"/>
                                        <p:tgtEl>
                                          <p:spTgt spid="272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2" name="内容占位符 1"/>
          <p:cNvSpPr/>
          <p:nvPr/>
        </p:nvSpPr>
        <p:spPr bwMode="auto">
          <a:xfrm>
            <a:off x="395536" y="620688"/>
            <a:ext cx="8424862"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a:spcBef>
                <a:spcPct val="20000"/>
              </a:spcBef>
              <a:buClr>
                <a:schemeClr val="folHlink"/>
              </a:buClr>
              <a:buSzPct val="60000"/>
              <a:buFont typeface="Wingdings" panose="05000000000000000000" pitchFamily="2" charset="2"/>
              <a:buChar char="n"/>
              <a:tabLst>
                <a:tab pos="712470" algn="l"/>
                <a:tab pos="7889875" algn="l"/>
              </a:tabLst>
              <a:defRPr sz="3200">
                <a:solidFill>
                  <a:schemeClr val="tx1"/>
                </a:solidFill>
                <a:latin typeface="Tahoma" panose="020B0604030504040204" pitchFamily="34" charset="0"/>
                <a:ea typeface="宋体" panose="02010600030101010101" pitchFamily="2" charset="-122"/>
              </a:defRPr>
            </a:lvl1pPr>
            <a:lvl2pPr marL="742950" indent="-285750" algn="l">
              <a:spcBef>
                <a:spcPct val="20000"/>
              </a:spcBef>
              <a:buClr>
                <a:schemeClr val="hlink"/>
              </a:buClr>
              <a:buSzPct val="55000"/>
              <a:buFont typeface="Wingdings" panose="05000000000000000000" pitchFamily="2" charset="2"/>
              <a:buChar char="n"/>
              <a:tabLst>
                <a:tab pos="712470" algn="l"/>
                <a:tab pos="7889875" algn="l"/>
              </a:tabLst>
              <a:defRPr sz="2800">
                <a:solidFill>
                  <a:schemeClr val="tx1"/>
                </a:solidFill>
                <a:latin typeface="Tahoma" panose="020B0604030504040204" pitchFamily="34" charset="0"/>
                <a:ea typeface="宋体" panose="02010600030101010101" pitchFamily="2" charset="-122"/>
              </a:defRPr>
            </a:lvl2pPr>
            <a:lvl3pPr marL="1143000" indent="-228600" algn="l">
              <a:spcBef>
                <a:spcPct val="20000"/>
              </a:spcBef>
              <a:buClr>
                <a:schemeClr val="folHlink"/>
              </a:buClr>
              <a:buSzPct val="50000"/>
              <a:buFont typeface="Wingdings" panose="05000000000000000000" pitchFamily="2" charset="2"/>
              <a:buChar char="n"/>
              <a:tabLst>
                <a:tab pos="712470" algn="l"/>
                <a:tab pos="7889875" algn="l"/>
              </a:tabLst>
              <a:defRPr sz="2400">
                <a:solidFill>
                  <a:schemeClr val="tx1"/>
                </a:solidFill>
                <a:latin typeface="Tahoma" panose="020B0604030504040204" pitchFamily="34" charset="0"/>
                <a:ea typeface="宋体" panose="02010600030101010101" pitchFamily="2" charset="-122"/>
              </a:defRPr>
            </a:lvl3pPr>
            <a:lvl4pPr marL="1600200" indent="-228600" algn="l">
              <a:spcBef>
                <a:spcPct val="20000"/>
              </a:spcBef>
              <a:buClr>
                <a:schemeClr val="accent2"/>
              </a:buClr>
              <a:buSzPct val="55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4pPr>
            <a:lvl5pPr marL="2057400" indent="-228600" algn="l">
              <a:spcBef>
                <a:spcPct val="20000"/>
              </a:spcBef>
              <a:buClr>
                <a:schemeClr val="accent1"/>
              </a:buClr>
              <a:buSzPct val="50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buChar char="n"/>
              <a:tabLst>
                <a:tab pos="712470" algn="l"/>
                <a:tab pos="7889875" algn="l"/>
              </a:tabLst>
              <a:defRPr sz="2000">
                <a:solidFill>
                  <a:schemeClr val="tx1"/>
                </a:solidFill>
                <a:latin typeface="Tahoma" panose="020B0604030504040204" pitchFamily="34" charset="0"/>
                <a:ea typeface="宋体" panose="02010600030101010101" pitchFamily="2" charset="-122"/>
              </a:defRPr>
            </a:lvl9pPr>
          </a:lstStyle>
          <a:p>
            <a:pPr>
              <a:lnSpc>
                <a:spcPct val="115000"/>
              </a:lnSpc>
              <a:buFont typeface="Wingdings" panose="05000000000000000000" pitchFamily="2" charset="2"/>
              <a:buNone/>
              <a:defRPr/>
            </a:pPr>
            <a:r>
              <a:rPr kumimoji="0" lang="en-US" altLang="zh-CN" sz="2600" dirty="0">
                <a:effectLst>
                  <a:outerShdw blurRad="38100" dist="38100" dir="2700000" algn="tl">
                    <a:srgbClr val="000000">
                      <a:alpha val="43137"/>
                    </a:srgbClr>
                  </a:outerShdw>
                </a:effectLst>
              </a:rPr>
              <a:t>      </a:t>
            </a:r>
            <a:r>
              <a:rPr kumimoji="0" lang="zh-CN" altLang="en-US" sz="2600" dirty="0">
                <a:effectLst>
                  <a:outerShdw blurRad="38100" dist="38100" dir="2700000" algn="tl">
                    <a:srgbClr val="000000">
                      <a:alpha val="43137"/>
                    </a:srgbClr>
                  </a:outerShdw>
                </a:effectLst>
              </a:rPr>
              <a:t>编写单片机中断程序时，应遵循以下规则：</a:t>
            </a:r>
          </a:p>
          <a:p>
            <a:pPr>
              <a:lnSpc>
                <a:spcPct val="115000"/>
              </a:lnSpc>
              <a:buFont typeface="Wingdings" panose="05000000000000000000" pitchFamily="2" charset="2"/>
              <a:buNone/>
              <a:defRPr/>
            </a:pPr>
            <a:r>
              <a:rPr kumimoji="0" lang="zh-CN" altLang="en-US" sz="2600" dirty="0">
                <a:effectLst>
                  <a:outerShdw blurRad="38100" dist="38100" dir="2700000" algn="tl">
                    <a:srgbClr val="000000">
                      <a:alpha val="43137"/>
                    </a:srgbClr>
                  </a:outerShdw>
                </a:effectLst>
              </a:rPr>
              <a:t>（</a:t>
            </a:r>
            <a:r>
              <a:rPr kumimoji="0" lang="en-US" altLang="zh-CN" sz="2600" dirty="0">
                <a:effectLst>
                  <a:outerShdw blurRad="38100" dist="38100" dir="2700000" algn="tl">
                    <a:srgbClr val="000000">
                      <a:alpha val="43137"/>
                    </a:srgbClr>
                  </a:outerShdw>
                </a:effectLst>
              </a:rPr>
              <a:t>1</a:t>
            </a:r>
            <a:r>
              <a:rPr kumimoji="0" lang="zh-CN" altLang="en-US" sz="2600" dirty="0">
                <a:effectLst>
                  <a:outerShdw blurRad="38100" dist="38100" dir="2700000" algn="tl">
                    <a:srgbClr val="000000">
                      <a:alpha val="43137"/>
                    </a:srgbClr>
                  </a:outerShdw>
                </a:effectLst>
              </a:rPr>
              <a:t>）</a:t>
            </a:r>
            <a:r>
              <a:rPr kumimoji="0" lang="zh-CN" altLang="en-US" sz="2600" dirty="0">
                <a:solidFill>
                  <a:srgbClr val="0000FF"/>
                </a:solidFill>
                <a:effectLst>
                  <a:outerShdw blurRad="38100" dist="38100" dir="2700000" algn="tl">
                    <a:srgbClr val="000000">
                      <a:alpha val="43137"/>
                    </a:srgbClr>
                  </a:outerShdw>
                </a:effectLst>
              </a:rPr>
              <a:t>中断函数没有返回值</a:t>
            </a:r>
            <a:r>
              <a:rPr kumimoji="0" lang="zh-CN" altLang="en-US" sz="2600" dirty="0">
                <a:effectLst>
                  <a:outerShdw blurRad="38100" dist="38100" dir="2700000" algn="tl">
                    <a:srgbClr val="000000">
                      <a:alpha val="43137"/>
                    </a:srgbClr>
                  </a:outerShdw>
                </a:effectLst>
              </a:rPr>
              <a:t>，将中断函数定义为</a:t>
            </a:r>
            <a:r>
              <a:rPr kumimoji="0" lang="en-US" altLang="zh-CN" sz="2600" dirty="0">
                <a:effectLst>
                  <a:outerShdw blurRad="38100" dist="38100" dir="2700000" algn="tl">
                    <a:srgbClr val="000000">
                      <a:alpha val="43137"/>
                    </a:srgbClr>
                  </a:outerShdw>
                </a:effectLst>
              </a:rPr>
              <a:t>void</a:t>
            </a:r>
            <a:r>
              <a:rPr kumimoji="0" lang="zh-CN" altLang="en-US" sz="2600" dirty="0">
                <a:effectLst>
                  <a:outerShdw blurRad="38100" dist="38100" dir="2700000" algn="tl">
                    <a:srgbClr val="000000">
                      <a:alpha val="43137"/>
                    </a:srgbClr>
                  </a:outerShdw>
                </a:effectLst>
              </a:rPr>
              <a:t>类型。</a:t>
            </a:r>
          </a:p>
          <a:p>
            <a:pPr>
              <a:lnSpc>
                <a:spcPct val="115000"/>
              </a:lnSpc>
              <a:buFont typeface="Wingdings" panose="05000000000000000000" pitchFamily="2" charset="2"/>
              <a:buNone/>
              <a:defRPr/>
            </a:pPr>
            <a:r>
              <a:rPr kumimoji="0" lang="zh-CN" altLang="en-US" sz="2600" dirty="0">
                <a:effectLst>
                  <a:outerShdw blurRad="38100" dist="38100" dir="2700000" algn="tl">
                    <a:srgbClr val="000000">
                      <a:alpha val="43137"/>
                    </a:srgbClr>
                  </a:outerShdw>
                </a:effectLst>
              </a:rPr>
              <a:t>（</a:t>
            </a:r>
            <a:r>
              <a:rPr kumimoji="0" lang="en-US" altLang="zh-CN" sz="2600" dirty="0">
                <a:effectLst>
                  <a:outerShdw blurRad="38100" dist="38100" dir="2700000" algn="tl">
                    <a:srgbClr val="000000">
                      <a:alpha val="43137"/>
                    </a:srgbClr>
                  </a:outerShdw>
                </a:effectLst>
              </a:rPr>
              <a:t>2</a:t>
            </a:r>
            <a:r>
              <a:rPr kumimoji="0" lang="zh-CN" altLang="en-US" sz="2600" dirty="0">
                <a:effectLst>
                  <a:outerShdw blurRad="38100" dist="38100" dir="2700000" algn="tl">
                    <a:srgbClr val="000000">
                      <a:alpha val="43137"/>
                    </a:srgbClr>
                  </a:outerShdw>
                </a:effectLst>
              </a:rPr>
              <a:t>）</a:t>
            </a:r>
            <a:r>
              <a:rPr kumimoji="0" lang="zh-CN" altLang="en-US" sz="2600" dirty="0">
                <a:solidFill>
                  <a:srgbClr val="0000FF"/>
                </a:solidFill>
                <a:effectLst>
                  <a:outerShdw blurRad="38100" dist="38100" dir="2700000" algn="tl">
                    <a:srgbClr val="000000">
                      <a:alpha val="43137"/>
                    </a:srgbClr>
                  </a:outerShdw>
                </a:effectLst>
              </a:rPr>
              <a:t>中断函数不能进行参数传递</a:t>
            </a:r>
            <a:r>
              <a:rPr kumimoji="0" lang="zh-CN" altLang="en-US" sz="2600" dirty="0">
                <a:effectLst>
                  <a:outerShdw blurRad="38100" dist="38100" dir="2700000" algn="tl">
                    <a:srgbClr val="000000">
                      <a:alpha val="43137"/>
                    </a:srgbClr>
                  </a:outerShdw>
                </a:effectLst>
              </a:rPr>
              <a:t>，如果中断函数中包含任何参数声明都将导致编译出错。</a:t>
            </a:r>
          </a:p>
          <a:p>
            <a:pPr>
              <a:lnSpc>
                <a:spcPct val="115000"/>
              </a:lnSpc>
              <a:buFont typeface="Wingdings" panose="05000000000000000000" pitchFamily="2" charset="2"/>
              <a:buNone/>
              <a:defRPr/>
            </a:pPr>
            <a:r>
              <a:rPr kumimoji="0" lang="zh-CN" altLang="en-US" sz="2600" dirty="0">
                <a:effectLst>
                  <a:outerShdw blurRad="38100" dist="38100" dir="2700000" algn="tl">
                    <a:srgbClr val="000000">
                      <a:alpha val="43137"/>
                    </a:srgbClr>
                  </a:outerShdw>
                </a:effectLst>
              </a:rPr>
              <a:t>（</a:t>
            </a:r>
            <a:r>
              <a:rPr kumimoji="0" lang="en-US" altLang="zh-CN" sz="2600" dirty="0">
                <a:effectLst>
                  <a:outerShdw blurRad="38100" dist="38100" dir="2700000" algn="tl">
                    <a:srgbClr val="000000">
                      <a:alpha val="43137"/>
                    </a:srgbClr>
                  </a:outerShdw>
                </a:effectLst>
              </a:rPr>
              <a:t>3</a:t>
            </a:r>
            <a:r>
              <a:rPr kumimoji="0" lang="zh-CN" altLang="en-US" sz="2600" dirty="0">
                <a:effectLst>
                  <a:outerShdw blurRad="38100" dist="38100" dir="2700000" algn="tl">
                    <a:srgbClr val="000000">
                      <a:alpha val="43137"/>
                    </a:srgbClr>
                  </a:outerShdw>
                </a:effectLst>
              </a:rPr>
              <a:t>）</a:t>
            </a:r>
            <a:r>
              <a:rPr kumimoji="0" lang="zh-CN" altLang="en-US" sz="2600" dirty="0">
                <a:solidFill>
                  <a:srgbClr val="0000FF"/>
                </a:solidFill>
                <a:effectLst>
                  <a:outerShdw blurRad="38100" dist="38100" dir="2700000" algn="tl">
                    <a:srgbClr val="000000">
                      <a:alpha val="43137"/>
                    </a:srgbClr>
                  </a:outerShdw>
                </a:effectLst>
              </a:rPr>
              <a:t>在任何情况下都不能直接调用中断函数</a:t>
            </a:r>
            <a:r>
              <a:rPr kumimoji="0" lang="zh-CN" altLang="en-US" sz="2600" dirty="0">
                <a:effectLst>
                  <a:outerShdw blurRad="38100" dist="38100" dir="2700000" algn="tl">
                    <a:srgbClr val="000000">
                      <a:alpha val="43137"/>
                    </a:srgbClr>
                  </a:outerShdw>
                </a:effectLst>
              </a:rPr>
              <a:t>，否则会产生编译错误。</a:t>
            </a:r>
          </a:p>
          <a:p>
            <a:pPr>
              <a:lnSpc>
                <a:spcPct val="115000"/>
              </a:lnSpc>
              <a:buFont typeface="Wingdings" panose="05000000000000000000" pitchFamily="2" charset="2"/>
              <a:buNone/>
              <a:defRPr/>
            </a:pPr>
            <a:r>
              <a:rPr kumimoji="0" lang="zh-CN" altLang="en-US" sz="2600" dirty="0">
                <a:effectLst>
                  <a:outerShdw blurRad="38100" dist="38100" dir="2700000" algn="tl">
                    <a:srgbClr val="000000">
                      <a:alpha val="43137"/>
                    </a:srgbClr>
                  </a:outerShdw>
                </a:effectLst>
              </a:rPr>
              <a:t>（</a:t>
            </a:r>
            <a:r>
              <a:rPr kumimoji="0" lang="en-US" altLang="zh-CN" sz="2600" dirty="0">
                <a:effectLst>
                  <a:outerShdw blurRad="38100" dist="38100" dir="2700000" algn="tl">
                    <a:srgbClr val="000000">
                      <a:alpha val="43137"/>
                    </a:srgbClr>
                  </a:outerShdw>
                </a:effectLst>
              </a:rPr>
              <a:t>4</a:t>
            </a:r>
            <a:r>
              <a:rPr kumimoji="0" lang="zh-CN" altLang="en-US" sz="2600" dirty="0">
                <a:effectLst>
                  <a:outerShdw blurRad="38100" dist="38100" dir="2700000" algn="tl">
                    <a:srgbClr val="000000">
                      <a:alpha val="43137"/>
                    </a:srgbClr>
                  </a:outerShdw>
                </a:effectLst>
              </a:rPr>
              <a:t>）如果在中断函数中再调用其他函数，则被调用的函数所使用的寄存器区必须与中断函数使用的寄存器区不同。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3412">
                                            <p:txEl>
                                              <p:pRg st="0" end="0"/>
                                            </p:txEl>
                                          </p:spTgt>
                                        </p:tgtEl>
                                        <p:attrNameLst>
                                          <p:attrName>style.visibility</p:attrName>
                                        </p:attrNameLst>
                                      </p:cBhvr>
                                      <p:to>
                                        <p:strVal val="visible"/>
                                      </p:to>
                                    </p:set>
                                    <p:animEffect transition="in" filter="randombar(horizontal)">
                                      <p:cBhvr>
                                        <p:cTn id="7" dur="500"/>
                                        <p:tgtEl>
                                          <p:spTgt spid="273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73412">
                                            <p:txEl>
                                              <p:pRg st="1" end="1"/>
                                            </p:txEl>
                                          </p:spTgt>
                                        </p:tgtEl>
                                        <p:attrNameLst>
                                          <p:attrName>style.visibility</p:attrName>
                                        </p:attrNameLst>
                                      </p:cBhvr>
                                      <p:to>
                                        <p:strVal val="visible"/>
                                      </p:to>
                                    </p:set>
                                    <p:animEffect transition="in" filter="randombar(horizontal)">
                                      <p:cBhvr>
                                        <p:cTn id="12" dur="500"/>
                                        <p:tgtEl>
                                          <p:spTgt spid="2734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73412">
                                            <p:txEl>
                                              <p:pRg st="2" end="2"/>
                                            </p:txEl>
                                          </p:spTgt>
                                        </p:tgtEl>
                                        <p:attrNameLst>
                                          <p:attrName>style.visibility</p:attrName>
                                        </p:attrNameLst>
                                      </p:cBhvr>
                                      <p:to>
                                        <p:strVal val="visible"/>
                                      </p:to>
                                    </p:set>
                                    <p:animEffect transition="in" filter="randombar(horizontal)">
                                      <p:cBhvr>
                                        <p:cTn id="17" dur="500"/>
                                        <p:tgtEl>
                                          <p:spTgt spid="2734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3412">
                                            <p:txEl>
                                              <p:pRg st="3" end="3"/>
                                            </p:txEl>
                                          </p:spTgt>
                                        </p:tgtEl>
                                        <p:attrNameLst>
                                          <p:attrName>style.visibility</p:attrName>
                                        </p:attrNameLst>
                                      </p:cBhvr>
                                      <p:to>
                                        <p:strVal val="visible"/>
                                      </p:to>
                                    </p:set>
                                    <p:animEffect transition="in" filter="randombar(horizontal)">
                                      <p:cBhvr>
                                        <p:cTn id="22" dur="500"/>
                                        <p:tgtEl>
                                          <p:spTgt spid="2734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73412">
                                            <p:txEl>
                                              <p:pRg st="4" end="4"/>
                                            </p:txEl>
                                          </p:spTgt>
                                        </p:tgtEl>
                                        <p:attrNameLst>
                                          <p:attrName>style.visibility</p:attrName>
                                        </p:attrNameLst>
                                      </p:cBhvr>
                                      <p:to>
                                        <p:strVal val="visible"/>
                                      </p:to>
                                    </p:set>
                                    <p:animEffect transition="in" filter="randombar(horizontal)">
                                      <p:cBhvr>
                                        <p:cTn id="27" dur="500"/>
                                        <p:tgtEl>
                                          <p:spTgt spid="2734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755650" y="1268413"/>
            <a:ext cx="7543800" cy="5114925"/>
          </a:xfrm>
        </p:spPr>
        <p:txBody>
          <a:bodyPr/>
          <a:lstStyle/>
          <a:p>
            <a:pPr marL="0" indent="0" algn="just" eaLnBrk="1" hangingPunct="1">
              <a:lnSpc>
                <a:spcPct val="120000"/>
              </a:lnSpc>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在中断服务程序编程时</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chemeClr val="tx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首先要对中断系统进行初始化</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也就是对几个特殊功能寄存器的有关控制位进行赋值。具体来说</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就是要完成下列工作：</a:t>
            </a:r>
          </a:p>
          <a:p>
            <a:pPr marL="0" indent="0" algn="just" eaLnBrk="1" hangingPunct="1">
              <a:lnSpc>
                <a:spcPct val="120000"/>
              </a:lnSpc>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28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开中断和允许中断源中断</a:t>
            </a:r>
          </a:p>
          <a:p>
            <a:pPr marL="0" indent="0" algn="just" eaLnBrk="1" hangingPunct="1">
              <a:lnSpc>
                <a:spcPct val="120000"/>
              </a:lnSpc>
              <a:buNone/>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确定各中断源的优先级</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a:p>
            <a:pPr marL="0" indent="0" algn="just" eaLnBrk="1" hangingPunct="1">
              <a:lnSpc>
                <a:spcPct val="120000"/>
              </a:lnSpc>
              <a:buNone/>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(3)</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若是外部中断</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则应规定是电平触发还是边沿触发。</a:t>
            </a:r>
          </a:p>
          <a:p>
            <a:pPr marL="0" indent="0" eaLnBrk="1" hangingPunct="1">
              <a:lnSpc>
                <a:spcPct val="120000"/>
              </a:lnSpc>
              <a:buNone/>
              <a:defRPr/>
            </a:pP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74083" name="Rectangle 3"/>
          <p:cNvSpPr>
            <a:spLocks noChangeArrowheads="1"/>
          </p:cNvSpPr>
          <p:nvPr/>
        </p:nvSpPr>
        <p:spPr bwMode="auto">
          <a:xfrm>
            <a:off x="3112188" y="476250"/>
            <a:ext cx="3272050" cy="707886"/>
          </a:xfrm>
          <a:prstGeom prst="rect">
            <a:avLst/>
          </a:prstGeom>
          <a:noFill/>
          <a:ln>
            <a:noFill/>
          </a:ln>
          <a:effectLst/>
          <a:extLst>
            <a:ext uri="{909E8E84-426E-40DD-AFC4-6F175D3DCCD1}">
              <a14:hiddenFill xmlns:a14="http://schemas.microsoft.com/office/drawing/2010/main">
                <a:solidFill>
                  <a:srgbClr val="66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lgn="l"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defRPr/>
            </a:pPr>
            <a:r>
              <a:rPr kumimoji="0" lang="zh-CN" altLang="en-US" sz="400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中断程序举例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083"/>
                                        </p:tgtEl>
                                        <p:attrNameLst>
                                          <p:attrName>style.visibility</p:attrName>
                                        </p:attrNameLst>
                                      </p:cBhvr>
                                      <p:to>
                                        <p:strVal val="visible"/>
                                      </p:to>
                                    </p:set>
                                    <p:anim calcmode="lin" valueType="num">
                                      <p:cBhvr additive="base">
                                        <p:cTn id="7" dur="500" fill="hold"/>
                                        <p:tgtEl>
                                          <p:spTgt spid="174083"/>
                                        </p:tgtEl>
                                        <p:attrNameLst>
                                          <p:attrName>ppt_x</p:attrName>
                                        </p:attrNameLst>
                                      </p:cBhvr>
                                      <p:tavLst>
                                        <p:tav tm="0">
                                          <p:val>
                                            <p:strVal val="0-#ppt_w/2"/>
                                          </p:val>
                                        </p:tav>
                                        <p:tav tm="100000">
                                          <p:val>
                                            <p:strVal val="#ppt_x"/>
                                          </p:val>
                                        </p:tav>
                                      </p:tavLst>
                                    </p:anim>
                                    <p:anim calcmode="lin" valueType="num">
                                      <p:cBhvr additive="base">
                                        <p:cTn id="8" dur="500" fill="hold"/>
                                        <p:tgtEl>
                                          <p:spTgt spid="1740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082">
                                            <p:txEl>
                                              <p:pRg st="0" end="0"/>
                                            </p:txEl>
                                          </p:spTgt>
                                        </p:tgtEl>
                                        <p:attrNameLst>
                                          <p:attrName>style.visibility</p:attrName>
                                        </p:attrNameLst>
                                      </p:cBhvr>
                                      <p:to>
                                        <p:strVal val="visible"/>
                                      </p:to>
                                    </p:set>
                                    <p:anim calcmode="lin" valueType="num">
                                      <p:cBhvr additive="base">
                                        <p:cTn id="13" dur="500" fill="hold"/>
                                        <p:tgtEl>
                                          <p:spTgt spid="17408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0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082">
                                            <p:txEl>
                                              <p:pRg st="1" end="1"/>
                                            </p:txEl>
                                          </p:spTgt>
                                        </p:tgtEl>
                                        <p:attrNameLst>
                                          <p:attrName>style.visibility</p:attrName>
                                        </p:attrNameLst>
                                      </p:cBhvr>
                                      <p:to>
                                        <p:strVal val="visible"/>
                                      </p:to>
                                    </p:set>
                                    <p:anim calcmode="lin" valueType="num">
                                      <p:cBhvr additive="base">
                                        <p:cTn id="19" dur="500" fill="hold"/>
                                        <p:tgtEl>
                                          <p:spTgt spid="174082">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08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082">
                                            <p:txEl>
                                              <p:pRg st="2" end="2"/>
                                            </p:txEl>
                                          </p:spTgt>
                                        </p:tgtEl>
                                        <p:attrNameLst>
                                          <p:attrName>style.visibility</p:attrName>
                                        </p:attrNameLst>
                                      </p:cBhvr>
                                      <p:to>
                                        <p:strVal val="visible"/>
                                      </p:to>
                                    </p:set>
                                    <p:anim calcmode="lin" valueType="num">
                                      <p:cBhvr additive="base">
                                        <p:cTn id="25" dur="500" fill="hold"/>
                                        <p:tgtEl>
                                          <p:spTgt spid="174082">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0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082">
                                            <p:txEl>
                                              <p:pRg st="3" end="3"/>
                                            </p:txEl>
                                          </p:spTgt>
                                        </p:tgtEl>
                                        <p:attrNameLst>
                                          <p:attrName>style.visibility</p:attrName>
                                        </p:attrNameLst>
                                      </p:cBhvr>
                                      <p:to>
                                        <p:strVal val="visible"/>
                                      </p:to>
                                    </p:set>
                                    <p:anim calcmode="lin" valueType="num">
                                      <p:cBhvr additive="base">
                                        <p:cTn id="31" dur="500" fill="hold"/>
                                        <p:tgtEl>
                                          <p:spTgt spid="174082">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08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build="p"/>
      <p:bldP spid="17408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p:cNvSpPr>
            <a:spLocks noChangeArrowheads="1"/>
          </p:cNvSpPr>
          <p:nvPr/>
        </p:nvSpPr>
        <p:spPr bwMode="auto">
          <a:xfrm>
            <a:off x="755650" y="404813"/>
            <a:ext cx="8135938" cy="632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zh-CN" altLang="en-US" sz="3200" dirty="0">
                <a:effectLst>
                  <a:outerShdw blurRad="38100" dist="38100" dir="2700000" algn="tl">
                    <a:srgbClr val="C0C0C0"/>
                  </a:outerShdw>
                </a:effectLst>
                <a:latin typeface="楷体" panose="02010609060101010101" pitchFamily="49" charset="-122"/>
                <a:ea typeface="楷体" panose="02010609060101010101" pitchFamily="49" charset="-122"/>
              </a:rPr>
              <a:t>例</a:t>
            </a:r>
            <a:r>
              <a:rPr lang="en-US" altLang="zh-CN" sz="3200"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sz="3200" dirty="0">
                <a:effectLst>
                  <a:outerShdw blurRad="38100" dist="38100" dir="2700000" algn="tl">
                    <a:srgbClr val="C0C0C0"/>
                  </a:outerShdw>
                </a:effectLst>
                <a:latin typeface="楷体" panose="02010609060101010101" pitchFamily="49" charset="-122"/>
                <a:ea typeface="楷体" panose="02010609060101010101" pitchFamily="49" charset="-122"/>
              </a:rPr>
              <a:t>：用外中断</a:t>
            </a:r>
            <a:r>
              <a:rPr lang="en-US" altLang="zh-CN" sz="3200" dirty="0">
                <a:effectLst>
                  <a:outerShdw blurRad="38100" dist="38100" dir="2700000" algn="tl">
                    <a:srgbClr val="C0C0C0"/>
                  </a:outerShdw>
                </a:effectLst>
                <a:latin typeface="楷体" panose="02010609060101010101" pitchFamily="49" charset="-122"/>
                <a:ea typeface="楷体" panose="02010609060101010101" pitchFamily="49" charset="-122"/>
              </a:rPr>
              <a:t>INT1#</a:t>
            </a:r>
            <a:r>
              <a:rPr lang="zh-CN" altLang="en-US" sz="3200" dirty="0">
                <a:effectLst>
                  <a:outerShdw blurRad="38100" dist="38100" dir="2700000" algn="tl">
                    <a:srgbClr val="C0C0C0"/>
                  </a:outerShdw>
                </a:effectLst>
                <a:latin typeface="楷体" panose="02010609060101010101" pitchFamily="49" charset="-122"/>
                <a:ea typeface="楷体" panose="02010609060101010101" pitchFamily="49" charset="-122"/>
              </a:rPr>
              <a:t>控制</a:t>
            </a:r>
            <a:r>
              <a:rPr lang="en-US" altLang="zh-CN" sz="3200" dirty="0">
                <a:effectLst>
                  <a:outerShdw blurRad="38100" dist="38100" dir="2700000" algn="tl">
                    <a:srgbClr val="C0C0C0"/>
                  </a:outerShdw>
                </a:effectLst>
                <a:latin typeface="楷体" panose="02010609060101010101" pitchFamily="49" charset="-122"/>
                <a:ea typeface="楷体" panose="02010609060101010101" pitchFamily="49" charset="-122"/>
              </a:rPr>
              <a:t>P1</a:t>
            </a:r>
            <a:r>
              <a:rPr lang="zh-CN" altLang="en-US" sz="3200" dirty="0">
                <a:effectLst>
                  <a:outerShdw blurRad="38100" dist="38100" dir="2700000" algn="tl">
                    <a:srgbClr val="C0C0C0"/>
                  </a:outerShdw>
                </a:effectLst>
                <a:latin typeface="楷体" panose="02010609060101010101" pitchFamily="49" charset="-122"/>
                <a:ea typeface="楷体" panose="02010609060101010101" pitchFamily="49" charset="-122"/>
              </a:rPr>
              <a:t>口</a:t>
            </a:r>
            <a:r>
              <a:rPr lang="en-US" altLang="zh-CN" sz="3200" dirty="0">
                <a:effectLst>
                  <a:outerShdw blurRad="38100" dist="38100" dir="2700000" algn="tl">
                    <a:srgbClr val="C0C0C0"/>
                  </a:outerShdw>
                </a:effectLst>
                <a:latin typeface="楷体" panose="02010609060101010101" pitchFamily="49" charset="-122"/>
                <a:ea typeface="楷体" panose="02010609060101010101" pitchFamily="49" charset="-122"/>
              </a:rPr>
              <a:t>LED</a:t>
            </a:r>
            <a:r>
              <a:rPr lang="zh-CN" altLang="en-US" sz="3200" dirty="0">
                <a:effectLst>
                  <a:outerShdw blurRad="38100" dist="38100" dir="2700000" algn="tl">
                    <a:srgbClr val="C0C0C0"/>
                  </a:outerShdw>
                </a:effectLst>
                <a:latin typeface="楷体" panose="02010609060101010101" pitchFamily="49" charset="-122"/>
                <a:ea typeface="楷体" panose="02010609060101010101" pitchFamily="49" charset="-122"/>
              </a:rPr>
              <a:t>亮灭状态</a:t>
            </a:r>
          </a:p>
        </p:txBody>
      </p:sp>
      <p:pic>
        <p:nvPicPr>
          <p:cNvPr id="100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734" y="1268760"/>
            <a:ext cx="7406531" cy="4953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7699"/>
                                        </p:tgtEl>
                                        <p:attrNameLst>
                                          <p:attrName>style.visibility</p:attrName>
                                        </p:attrNameLst>
                                      </p:cBhvr>
                                      <p:to>
                                        <p:strVal val="visible"/>
                                      </p:to>
                                    </p:set>
                                    <p:anim calcmode="lin" valueType="num">
                                      <p:cBhvr additive="base">
                                        <p:cTn id="7" dur="500" fill="hold"/>
                                        <p:tgtEl>
                                          <p:spTgt spid="157699"/>
                                        </p:tgtEl>
                                        <p:attrNameLst>
                                          <p:attrName>ppt_x</p:attrName>
                                        </p:attrNameLst>
                                      </p:cBhvr>
                                      <p:tavLst>
                                        <p:tav tm="0">
                                          <p:val>
                                            <p:strVal val="#ppt_x"/>
                                          </p:val>
                                        </p:tav>
                                        <p:tav tm="100000">
                                          <p:val>
                                            <p:strVal val="#ppt_x"/>
                                          </p:val>
                                        </p:tav>
                                      </p:tavLst>
                                    </p:anim>
                                    <p:anim calcmode="lin" valueType="num">
                                      <p:cBhvr additive="base">
                                        <p:cTn id="8" dur="500" fill="hold"/>
                                        <p:tgtEl>
                                          <p:spTgt spid="1576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0354"/>
                                        </p:tgtEl>
                                        <p:attrNameLst>
                                          <p:attrName>style.visibility</p:attrName>
                                        </p:attrNameLst>
                                      </p:cBhvr>
                                      <p:to>
                                        <p:strVal val="visible"/>
                                      </p:to>
                                    </p:set>
                                    <p:animEffect transition="in" filter="barn(inVertical)">
                                      <p:cBhvr>
                                        <p:cTn id="13" dur="500"/>
                                        <p:tgtEl>
                                          <p:spTgt spid="100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4"/>
          <p:cNvPicPr>
            <a:picLocks noChangeAspect="1" noChangeArrowheads="1"/>
          </p:cNvPicPr>
          <p:nvPr/>
        </p:nvPicPr>
        <p:blipFill>
          <a:blip r:embed="rId2">
            <a:lum bright="-12000" contrast="24000"/>
            <a:extLst>
              <a:ext uri="{28A0092B-C50C-407E-A947-70E740481C1C}">
                <a14:useLocalDpi xmlns:a14="http://schemas.microsoft.com/office/drawing/2010/main" val="0"/>
              </a:ext>
            </a:extLst>
          </a:blip>
          <a:srcRect/>
          <a:stretch>
            <a:fillRect/>
          </a:stretch>
        </p:blipFill>
        <p:spPr bwMode="auto">
          <a:xfrm>
            <a:off x="971550" y="836613"/>
            <a:ext cx="7345363" cy="5162550"/>
          </a:xfrm>
          <a:prstGeom prst="rect">
            <a:avLst/>
          </a:prstGeom>
          <a:noFill/>
          <a:ln w="57150" cap="sq" cmpd="thickThin" algn="ctr">
            <a:solidFill>
              <a:srgbClr val="66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4" name="Rectangle 4"/>
          <p:cNvSpPr>
            <a:spLocks noChangeArrowheads="1"/>
          </p:cNvSpPr>
          <p:nvPr/>
        </p:nvSpPr>
        <p:spPr bwMode="auto">
          <a:xfrm>
            <a:off x="684213" y="188913"/>
            <a:ext cx="8135937" cy="1512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例</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2</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：用外中断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INT0</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sym typeface="+mn-ea"/>
              </a:rPr>
              <a:t>#</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和</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INT1</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sym typeface="+mn-ea"/>
              </a:rPr>
              <a:t>#</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控制</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P1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口</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LED</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亮灭状态。无中断时，灯循环亮；当外中断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响应时，低四位灯亮；当外中断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响应时，高四位灯亮。</a:t>
            </a:r>
          </a:p>
        </p:txBody>
      </p:sp>
      <p:pic>
        <p:nvPicPr>
          <p:cNvPr id="73731" name="Picture 5"/>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a:stretch>
            <a:fillRect/>
          </a:stretch>
        </p:blipFill>
        <p:spPr bwMode="auto">
          <a:xfrm>
            <a:off x="1475656" y="1690688"/>
            <a:ext cx="6084986" cy="4517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1364"/>
                                        </p:tgtEl>
                                        <p:attrNameLst>
                                          <p:attrName>style.visibility</p:attrName>
                                        </p:attrNameLst>
                                      </p:cBhvr>
                                      <p:to>
                                        <p:strVal val="visible"/>
                                      </p:to>
                                    </p:set>
                                    <p:animEffect transition="in" filter="randombar(horizontal)">
                                      <p:cBhvr>
                                        <p:cTn id="7" dur="500"/>
                                        <p:tgtEl>
                                          <p:spTgt spid="27136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3731"/>
                                        </p:tgtEl>
                                        <p:attrNameLst>
                                          <p:attrName>style.visibility</p:attrName>
                                        </p:attrNameLst>
                                      </p:cBhvr>
                                      <p:to>
                                        <p:strVal val="visible"/>
                                      </p:to>
                                    </p:set>
                                    <p:animEffect transition="in" filter="randombar(horizontal)">
                                      <p:cBhvr>
                                        <p:cTn id="12" dur="500"/>
                                        <p:tgtEl>
                                          <p:spTgt spid="73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76225"/>
            <a:ext cx="7827962" cy="5927725"/>
          </a:xfrm>
          <a:prstGeom prst="rect">
            <a:avLst/>
          </a:prstGeom>
          <a:noFill/>
          <a:ln w="34925" cap="sq" algn="ctr">
            <a:solidFill>
              <a:srgbClr val="6600CC"/>
            </a:solidFill>
            <a:miter lim="800000"/>
            <a:headEnd/>
            <a:tailEnd/>
          </a:ln>
          <a:extLst>
            <a:ext uri="{909E8E84-426E-40DD-AFC4-6F175D3DCCD1}">
              <a14:hiddenFill xmlns:a14="http://schemas.microsoft.com/office/drawing/2010/main">
                <a:solidFill>
                  <a:schemeClr val="accent1"/>
                </a:solidFill>
              </a14:hiddenFill>
            </a:ext>
          </a:extLst>
        </p:spPr>
      </p:pic>
      <p:pic>
        <p:nvPicPr>
          <p:cNvPr id="993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3644900"/>
            <a:ext cx="4354513" cy="2559050"/>
          </a:xfrm>
          <a:prstGeom prst="rect">
            <a:avLst/>
          </a:prstGeom>
          <a:noFill/>
          <a:ln w="34925" cap="sq" algn="ctr">
            <a:solidFill>
              <a:srgbClr val="C00000"/>
            </a:solidFill>
            <a:miter lim="800000"/>
            <a:headEnd/>
            <a:tailEnd/>
          </a:ln>
          <a:extLst>
            <a:ext uri="{909E8E84-426E-40DD-AFC4-6F175D3DCCD1}">
              <a14:hiddenFill xmlns:a14="http://schemas.microsoft.com/office/drawing/2010/main">
                <a:solidFill>
                  <a:schemeClr val="accent1"/>
                </a:solidFill>
              </a14:hiddenFill>
            </a:ext>
          </a:extLst>
        </p:spPr>
      </p:pic>
      <p:pic>
        <p:nvPicPr>
          <p:cNvPr id="9933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3888" y="1690688"/>
            <a:ext cx="4276725" cy="1809750"/>
          </a:xfrm>
          <a:prstGeom prst="rect">
            <a:avLst/>
          </a:prstGeom>
          <a:noFill/>
          <a:ln w="34925" cap="sq" algn="ctr">
            <a:solidFill>
              <a:srgbClr val="0000FF"/>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barn(inVertical)">
                                      <p:cBhvr>
                                        <p:cTn id="7" dur="500"/>
                                        <p:tgtEl>
                                          <p:spTgt spid="9933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99331"/>
                                        </p:tgtEl>
                                        <p:attrNameLst>
                                          <p:attrName>style.visibility</p:attrName>
                                        </p:attrNameLst>
                                      </p:cBhvr>
                                      <p:to>
                                        <p:strVal val="visible"/>
                                      </p:to>
                                    </p:set>
                                    <p:anim calcmode="lin" valueType="num">
                                      <p:cBhvr>
                                        <p:cTn id="12" dur="1000" fill="hold"/>
                                        <p:tgtEl>
                                          <p:spTgt spid="99331"/>
                                        </p:tgtEl>
                                        <p:attrNameLst>
                                          <p:attrName>ppt_w</p:attrName>
                                        </p:attrNameLst>
                                      </p:cBhvr>
                                      <p:tavLst>
                                        <p:tav tm="0">
                                          <p:val>
                                            <p:fltVal val="0"/>
                                          </p:val>
                                        </p:tav>
                                        <p:tav tm="100000">
                                          <p:val>
                                            <p:strVal val="#ppt_w"/>
                                          </p:val>
                                        </p:tav>
                                      </p:tavLst>
                                    </p:anim>
                                    <p:anim calcmode="lin" valueType="num">
                                      <p:cBhvr>
                                        <p:cTn id="13" dur="1000" fill="hold"/>
                                        <p:tgtEl>
                                          <p:spTgt spid="99331"/>
                                        </p:tgtEl>
                                        <p:attrNameLst>
                                          <p:attrName>ppt_h</p:attrName>
                                        </p:attrNameLst>
                                      </p:cBhvr>
                                      <p:tavLst>
                                        <p:tav tm="0">
                                          <p:val>
                                            <p:fltVal val="0"/>
                                          </p:val>
                                        </p:tav>
                                        <p:tav tm="100000">
                                          <p:val>
                                            <p:strVal val="#ppt_h"/>
                                          </p:val>
                                        </p:tav>
                                      </p:tavLst>
                                    </p:anim>
                                    <p:animEffect transition="in" filter="fade">
                                      <p:cBhvr>
                                        <p:cTn id="14" dur="1000"/>
                                        <p:tgtEl>
                                          <p:spTgt spid="99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684213" y="188913"/>
            <a:ext cx="8135937"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例</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3</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：中断键控流水灯。</a:t>
            </a:r>
          </a:p>
        </p:txBody>
      </p:sp>
      <p:pic>
        <p:nvPicPr>
          <p:cNvPr id="3" name="图片 2"/>
          <p:cNvPicPr>
            <a:picLocks noChangeAspect="1"/>
          </p:cNvPicPr>
          <p:nvPr/>
        </p:nvPicPr>
        <p:blipFill>
          <a:blip r:embed="rId2"/>
          <a:stretch>
            <a:fillRect/>
          </a:stretch>
        </p:blipFill>
        <p:spPr>
          <a:xfrm>
            <a:off x="1475656" y="908720"/>
            <a:ext cx="5769058" cy="54505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2877" t="31891" r="22095" b="22789"/>
          <a:stretch>
            <a:fillRect/>
          </a:stretch>
        </p:blipFill>
        <p:spPr bwMode="auto">
          <a:xfrm>
            <a:off x="301090" y="867394"/>
            <a:ext cx="4774965" cy="4361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62737" t="26009" r="23145" b="50018"/>
          <a:stretch>
            <a:fillRect/>
          </a:stretch>
        </p:blipFill>
        <p:spPr bwMode="auto">
          <a:xfrm>
            <a:off x="5508104" y="1883877"/>
            <a:ext cx="2376264" cy="2515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p:cNvPicPr>
            <a:picLocks noChangeAspect="1"/>
          </p:cNvPicPr>
          <p:nvPr/>
        </p:nvPicPr>
        <p:blipFill>
          <a:blip r:embed="rId2">
            <a:extLst>
              <a:ext uri="{28A0092B-C50C-407E-A947-70E740481C1C}">
                <a14:useLocalDpi xmlns:a14="http://schemas.microsoft.com/office/drawing/2010/main" val="0"/>
              </a:ext>
            </a:extLst>
          </a:blip>
          <a:srcRect l="20821" t="15096" r="11195" b="12198"/>
          <a:stretch>
            <a:fillRect/>
          </a:stretch>
        </p:blipFill>
        <p:spPr bwMode="auto">
          <a:xfrm>
            <a:off x="683895" y="188595"/>
            <a:ext cx="7723505" cy="633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ChangeArrowheads="1"/>
          </p:cNvSpPr>
          <p:nvPr/>
        </p:nvSpPr>
        <p:spPr bwMode="auto">
          <a:xfrm>
            <a:off x="684213" y="1412875"/>
            <a:ext cx="8135937"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无中断时，奇偶灯每隔</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交替闪烁亮，当外中断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响应时，低四位灯亮</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响应时，高四位灯亮。</a:t>
            </a:r>
          </a:p>
        </p:txBody>
      </p:sp>
      <p:sp>
        <p:nvSpPr>
          <p:cNvPr id="70659" name="Rectangle 4"/>
          <p:cNvSpPr>
            <a:spLocks noChangeArrowheads="1"/>
          </p:cNvSpPr>
          <p:nvPr/>
        </p:nvSpPr>
        <p:spPr bwMode="auto">
          <a:xfrm>
            <a:off x="3779838" y="404813"/>
            <a:ext cx="20875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Comic Sans MS" panose="030F0702030302020204" pitchFamily="66" charset="0"/>
                <a:ea typeface="楷体_GB2312" pitchFamily="49" charset="-122"/>
              </a:defRPr>
            </a:lvl1pPr>
            <a:lvl2pPr marL="742950" indent="-285750" eaLnBrk="0" hangingPunct="0">
              <a:defRPr kumimoji="1" sz="2800" b="1">
                <a:solidFill>
                  <a:schemeClr val="tx1"/>
                </a:solidFill>
                <a:latin typeface="Comic Sans MS" panose="030F0702030302020204" pitchFamily="66" charset="0"/>
                <a:ea typeface="楷体_GB2312" pitchFamily="49" charset="-122"/>
              </a:defRPr>
            </a:lvl2pPr>
            <a:lvl3pPr marL="1143000" indent="-228600" eaLnBrk="0" hangingPunct="0">
              <a:defRPr kumimoji="1" sz="2800" b="1">
                <a:solidFill>
                  <a:schemeClr val="tx1"/>
                </a:solidFill>
                <a:latin typeface="Comic Sans MS" panose="030F0702030302020204" pitchFamily="66" charset="0"/>
                <a:ea typeface="楷体_GB2312" pitchFamily="49" charset="-122"/>
              </a:defRPr>
            </a:lvl3pPr>
            <a:lvl4pPr marL="1600200" indent="-228600" eaLnBrk="0" hangingPunct="0">
              <a:defRPr kumimoji="1" sz="2800" b="1">
                <a:solidFill>
                  <a:schemeClr val="tx1"/>
                </a:solidFill>
                <a:latin typeface="Comic Sans MS" panose="030F0702030302020204" pitchFamily="66" charset="0"/>
                <a:ea typeface="楷体_GB2312" pitchFamily="49" charset="-122"/>
              </a:defRPr>
            </a:lvl4pPr>
            <a:lvl5pPr marL="2057400" indent="-228600" eaLnBrk="0" hangingPunct="0">
              <a:defRPr kumimoji="1" sz="2800" b="1">
                <a:solidFill>
                  <a:schemeClr val="tx1"/>
                </a:solidFill>
                <a:latin typeface="Comic Sans MS" panose="030F0702030302020204" pitchFamily="66" charset="0"/>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Comic Sans MS" panose="030F0702030302020204" pitchFamily="66" charset="0"/>
                <a:ea typeface="楷体_GB2312" pitchFamily="49" charset="-122"/>
              </a:defRPr>
            </a:lvl9pPr>
          </a:lstStyle>
          <a:p>
            <a:pPr eaLnBrk="1" hangingPunct="1">
              <a:defRPr/>
            </a:pPr>
            <a:r>
              <a:rPr lang="zh-CN" altLang="en-US" sz="36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思考题</a:t>
            </a:r>
            <a:endParaRPr lang="en-US" altLang="zh-CN" sz="36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03781" name="Rectangle 5"/>
          <p:cNvSpPr>
            <a:spLocks noChangeArrowheads="1"/>
          </p:cNvSpPr>
          <p:nvPr/>
        </p:nvSpPr>
        <p:spPr bwMode="auto">
          <a:xfrm>
            <a:off x="684213" y="2924175"/>
            <a:ext cx="8135937" cy="982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2.</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无中断时，灯全亮，当外中断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响应时，灯左移亮</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响应时，灯右移亮。</a:t>
            </a:r>
          </a:p>
        </p:txBody>
      </p:sp>
      <p:sp>
        <p:nvSpPr>
          <p:cNvPr id="203782" name="Rectangle 6"/>
          <p:cNvSpPr>
            <a:spLocks noChangeArrowheads="1"/>
          </p:cNvSpPr>
          <p:nvPr/>
        </p:nvSpPr>
        <p:spPr bwMode="auto">
          <a:xfrm>
            <a:off x="684213" y="4005064"/>
            <a:ext cx="8135937"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0"/>
              </a:spcBef>
              <a:defRPr/>
            </a:pP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3.</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无中断时，灯全亮，当外中断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响应时，灯每隔</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左移循环亮</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当外中断</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响应时，灯每隔</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右移循环亮。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3779"/>
                                        </p:tgtEl>
                                        <p:attrNameLst>
                                          <p:attrName>style.visibility</p:attrName>
                                        </p:attrNameLst>
                                      </p:cBhvr>
                                      <p:to>
                                        <p:strVal val="visible"/>
                                      </p:to>
                                    </p:set>
                                    <p:anim calcmode="lin" valueType="num">
                                      <p:cBhvr additive="base">
                                        <p:cTn id="7" dur="500" fill="hold"/>
                                        <p:tgtEl>
                                          <p:spTgt spid="203779"/>
                                        </p:tgtEl>
                                        <p:attrNameLst>
                                          <p:attrName>ppt_x</p:attrName>
                                        </p:attrNameLst>
                                      </p:cBhvr>
                                      <p:tavLst>
                                        <p:tav tm="0">
                                          <p:val>
                                            <p:strVal val="#ppt_x"/>
                                          </p:val>
                                        </p:tav>
                                        <p:tav tm="100000">
                                          <p:val>
                                            <p:strVal val="#ppt_x"/>
                                          </p:val>
                                        </p:tav>
                                      </p:tavLst>
                                    </p:anim>
                                    <p:anim calcmode="lin" valueType="num">
                                      <p:cBhvr additive="base">
                                        <p:cTn id="8" dur="500" fill="hold"/>
                                        <p:tgtEl>
                                          <p:spTgt spid="2037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3781"/>
                                        </p:tgtEl>
                                        <p:attrNameLst>
                                          <p:attrName>style.visibility</p:attrName>
                                        </p:attrNameLst>
                                      </p:cBhvr>
                                      <p:to>
                                        <p:strVal val="visible"/>
                                      </p:to>
                                    </p:set>
                                    <p:anim calcmode="lin" valueType="num">
                                      <p:cBhvr additive="base">
                                        <p:cTn id="13" dur="500" fill="hold"/>
                                        <p:tgtEl>
                                          <p:spTgt spid="203781"/>
                                        </p:tgtEl>
                                        <p:attrNameLst>
                                          <p:attrName>ppt_x</p:attrName>
                                        </p:attrNameLst>
                                      </p:cBhvr>
                                      <p:tavLst>
                                        <p:tav tm="0">
                                          <p:val>
                                            <p:strVal val="#ppt_x"/>
                                          </p:val>
                                        </p:tav>
                                        <p:tav tm="100000">
                                          <p:val>
                                            <p:strVal val="#ppt_x"/>
                                          </p:val>
                                        </p:tav>
                                      </p:tavLst>
                                    </p:anim>
                                    <p:anim calcmode="lin" valueType="num">
                                      <p:cBhvr additive="base">
                                        <p:cTn id="14" dur="500" fill="hold"/>
                                        <p:tgtEl>
                                          <p:spTgt spid="20378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3782"/>
                                        </p:tgtEl>
                                        <p:attrNameLst>
                                          <p:attrName>style.visibility</p:attrName>
                                        </p:attrNameLst>
                                      </p:cBhvr>
                                      <p:to>
                                        <p:strVal val="visible"/>
                                      </p:to>
                                    </p:set>
                                    <p:anim calcmode="lin" valueType="num">
                                      <p:cBhvr additive="base">
                                        <p:cTn id="19" dur="500" fill="hold"/>
                                        <p:tgtEl>
                                          <p:spTgt spid="203782"/>
                                        </p:tgtEl>
                                        <p:attrNameLst>
                                          <p:attrName>ppt_x</p:attrName>
                                        </p:attrNameLst>
                                      </p:cBhvr>
                                      <p:tavLst>
                                        <p:tav tm="0">
                                          <p:val>
                                            <p:strVal val="#ppt_x"/>
                                          </p:val>
                                        </p:tav>
                                        <p:tav tm="100000">
                                          <p:val>
                                            <p:strVal val="#ppt_x"/>
                                          </p:val>
                                        </p:tav>
                                      </p:tavLst>
                                    </p:anim>
                                    <p:anim calcmode="lin" valueType="num">
                                      <p:cBhvr additive="base">
                                        <p:cTn id="20" dur="500" fill="hold"/>
                                        <p:tgtEl>
                                          <p:spTgt spid="2037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p:bldP spid="203781" grpId="0"/>
      <p:bldP spid="203782"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08eb27d6-a77c-4eef-8474-b7f53fb5ae59"/>
  <p:tag name="COMMONDATA" val="eyJoZGlkIjoiZDlhNzhkNzI3NzgzMjVmNTVjOTdmNzdiNmViZTJjM2M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sq"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800" b="1" i="0" u="none" strike="noStrike" cap="none" normalizeH="0" baseline="0" smtClean="0">
            <a:ln>
              <a:noFill/>
            </a:ln>
            <a:solidFill>
              <a:schemeClr val="tx1"/>
            </a:solidFill>
            <a:effectLst/>
            <a:latin typeface="Comic Sans MS" panose="030F0702030302020204" pitchFamily="66"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sq"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800" b="1" i="0" u="none" strike="noStrike" cap="none" normalizeH="0" baseline="0" smtClean="0">
            <a:ln>
              <a:noFill/>
            </a:ln>
            <a:solidFill>
              <a:schemeClr val="tx1"/>
            </a:solidFill>
            <a:effectLst/>
            <a:latin typeface="Comic Sans MS" panose="030F0702030302020204" pitchFamily="66" charset="0"/>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189</TotalTime>
  <Words>1654</Words>
  <Application>Microsoft Office PowerPoint</Application>
  <PresentationFormat>全屏显示(4:3)</PresentationFormat>
  <Paragraphs>183</Paragraphs>
  <Slides>30</Slides>
  <Notes>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5" baseType="lpstr">
      <vt:lpstr>Monotype Sorts</vt:lpstr>
      <vt:lpstr>创艺简黑体</vt:lpstr>
      <vt:lpstr>仿宋</vt:lpstr>
      <vt:lpstr>楷体</vt:lpstr>
      <vt:lpstr>楷体_GB2312</vt:lpstr>
      <vt:lpstr>宋体</vt:lpstr>
      <vt:lpstr>微软雅黑</vt:lpstr>
      <vt:lpstr>Arial</vt:lpstr>
      <vt:lpstr>Comic Sans MS</vt:lpstr>
      <vt:lpstr>Tahoma</vt:lpstr>
      <vt:lpstr>Times New Roman</vt:lpstr>
      <vt:lpstr>Wingdings</vt:lpstr>
      <vt:lpstr>Wingdings 2</vt:lpstr>
      <vt:lpstr>Blends</vt:lpstr>
      <vt:lpstr>VISIO</vt:lpstr>
      <vt:lpstr>5.3 中断处理过程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二、中断处理</vt:lpstr>
      <vt:lpstr>三、中断返回</vt:lpstr>
      <vt:lpstr>PowerPoint 演示文稿</vt:lpstr>
      <vt:lpstr>PowerPoint 演示文稿</vt:lpstr>
      <vt:lpstr>PowerPoint 演示文稿</vt:lpstr>
      <vt:lpstr>PowerPoint 演示文稿</vt:lpstr>
      <vt:lpstr>PowerPoint 演示文稿</vt:lpstr>
      <vt:lpstr>PowerPoint 演示文稿</vt:lpstr>
      <vt:lpstr>中断函数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MCS-51中断系统</dc:title>
  <dc:creator>autumn</dc:creator>
  <cp:lastModifiedBy>admin</cp:lastModifiedBy>
  <cp:revision>281</cp:revision>
  <dcterms:created xsi:type="dcterms:W3CDTF">2005-05-25T12:30:00Z</dcterms:created>
  <dcterms:modified xsi:type="dcterms:W3CDTF">2025-03-23T07:58:38Z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D98FDDEABEAE44E58FADFD66AFFB761D</vt:lpwstr>
  </property>
  <property fmtid="{D5CDD505-2E9C-101B-9397-08002B2CF9AE}" pid="3" name="KSOProductBuildVer">
    <vt:lpwstr>2052-11.1.0.12358</vt:lpwstr>
  </property>
</Properties>
</file>