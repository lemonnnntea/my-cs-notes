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handoutMasterIdLst>
    <p:handoutMasterId r:id="rId16"/>
  </p:handoutMasterIdLst>
  <p:sldIdLst>
    <p:sldId id="380" r:id="rId2"/>
    <p:sldId id="326" r:id="rId3"/>
    <p:sldId id="376" r:id="rId4"/>
    <p:sldId id="339" r:id="rId5"/>
    <p:sldId id="340" r:id="rId6"/>
    <p:sldId id="366" r:id="rId7"/>
    <p:sldId id="389" r:id="rId8"/>
    <p:sldId id="367" r:id="rId9"/>
    <p:sldId id="368" r:id="rId10"/>
    <p:sldId id="390" r:id="rId11"/>
    <p:sldId id="391" r:id="rId12"/>
    <p:sldId id="392" r:id="rId13"/>
    <p:sldId id="393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FF"/>
    <a:srgbClr val="66FFFF"/>
    <a:srgbClr val="6600CC"/>
    <a:srgbClr val="FF0000"/>
    <a:srgbClr val="FFC91D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 autoAdjust="0"/>
    <p:restoredTop sz="94574" autoAdjust="0"/>
  </p:normalViewPr>
  <p:slideViewPr>
    <p:cSldViewPr>
      <p:cViewPr varScale="1">
        <p:scale>
          <a:sx n="63" d="100"/>
          <a:sy n="63" d="100"/>
        </p:scale>
        <p:origin x="15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82215A7-EC29-459A-BC9E-239972BE75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51A07F-C30F-4185-B807-453345C64E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1FB1461-366F-4089-8A47-BE45ABDBA0DB}" type="datetimeFigureOut">
              <a:rPr lang="zh-CN" altLang="en-US"/>
              <a:pPr>
                <a:defRPr/>
              </a:pPr>
              <a:t>2025/4/22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3DDB31-D28B-4469-A7A3-994C67C215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C0984A-8039-4F96-9750-2377F79C94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F9C8D81-62A7-4A02-816E-053129DB06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91917F1-8248-4AB2-B0E8-C880606AB3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8E47F8C-2884-4E5A-9E51-241223E2A1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1A72390-D751-4131-BF23-5E40BECF99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D98362D5-82A2-4570-931E-8AF1684DC9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C5BDB035-1BC6-4CCE-A511-DABFE1CB97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9DD8697F-A60E-45A1-8815-004D9D15F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591F46E3-B05F-4252-B43F-97C36B497C9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F46E3-B05F-4252-B43F-97C36B497C9F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588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CITTEXT">
            <a:extLst>
              <a:ext uri="{FF2B5EF4-FFF2-40B4-BE49-F238E27FC236}">
                <a16:creationId xmlns:a16="http://schemas.microsoft.com/office/drawing/2014/main" id="{2885C59F-8A42-4AFC-8DAA-469F0181160D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AC6938-E17D-4DF3-9793-641D59754718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5" name="Picture 4" descr="CITBANND">
            <a:extLst>
              <a:ext uri="{FF2B5EF4-FFF2-40B4-BE49-F238E27FC236}">
                <a16:creationId xmlns:a16="http://schemas.microsoft.com/office/drawing/2014/main" id="{5446F4AE-FFFB-4C4E-A5CA-A84C3F91D7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C6341E-2CC3-4976-A90F-D5D0399BE6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Text Box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493F2A2-0EAC-4DA9-8879-13B8805FF0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8C7643-9047-478D-BE92-3ACF620202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4213" y="765175"/>
            <a:ext cx="7772400" cy="11430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16789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010A4558-2EE1-4FD6-8488-94F8D1416C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03422544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F6B5D157-C607-4531-BC9E-79E670331B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2478806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>
            <a:extLst>
              <a:ext uri="{FF2B5EF4-FFF2-40B4-BE49-F238E27FC236}">
                <a16:creationId xmlns:a16="http://schemas.microsoft.com/office/drawing/2014/main" id="{9DB139CC-858F-4194-AB70-F3AE080E29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81013984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">
            <a:extLst>
              <a:ext uri="{FF2B5EF4-FFF2-40B4-BE49-F238E27FC236}">
                <a16:creationId xmlns:a16="http://schemas.microsoft.com/office/drawing/2014/main" id="{CA7F387C-AB15-4296-BE13-E9AF6F025F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2743394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>
            <a:extLst>
              <a:ext uri="{FF2B5EF4-FFF2-40B4-BE49-F238E27FC236}">
                <a16:creationId xmlns:a16="http://schemas.microsoft.com/office/drawing/2014/main" id="{F09218ED-44BE-4084-9862-D6292ED652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98598734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>
            <a:extLst>
              <a:ext uri="{FF2B5EF4-FFF2-40B4-BE49-F238E27FC236}">
                <a16:creationId xmlns:a16="http://schemas.microsoft.com/office/drawing/2014/main" id="{787FC61E-895A-4F91-A4EC-E5A56FC51C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1217513836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>
            <a:extLst>
              <a:ext uri="{FF2B5EF4-FFF2-40B4-BE49-F238E27FC236}">
                <a16:creationId xmlns:a16="http://schemas.microsoft.com/office/drawing/2014/main" id="{65B5511D-A6FE-4E9F-B5FF-E509BC209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94321687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>
            <a:extLst>
              <a:ext uri="{FF2B5EF4-FFF2-40B4-BE49-F238E27FC236}">
                <a16:creationId xmlns:a16="http://schemas.microsoft.com/office/drawing/2014/main" id="{BC9D2872-6517-4541-BF64-78BFE4CDAB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9566737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8500CD5E-78CF-4303-B303-DB92257610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2985708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509A4C36-66EB-4798-9A87-A3807A7CEA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12933444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7" descr="CITTEXT">
            <a:extLst>
              <a:ext uri="{FF2B5EF4-FFF2-40B4-BE49-F238E27FC236}">
                <a16:creationId xmlns:a16="http://schemas.microsoft.com/office/drawing/2014/main" id="{A3E1CA15-155D-461F-B569-0AFFFA92939D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CACB90-9EF2-4E16-930F-3646D8EB64BA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28" name="Picture 4" descr="CITBANND">
            <a:extLst>
              <a:ext uri="{FF2B5EF4-FFF2-40B4-BE49-F238E27FC236}">
                <a16:creationId xmlns:a16="http://schemas.microsoft.com/office/drawing/2014/main" id="{456CF97D-BDBF-4C3D-AF4A-C2A5A8B544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5">
            <a:extLst>
              <a:ext uri="{FF2B5EF4-FFF2-40B4-BE49-F238E27FC236}">
                <a16:creationId xmlns:a16="http://schemas.microsoft.com/office/drawing/2014/main" id="{1986FE51-B904-4FFC-A2CF-CDA72E42CE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704EDE98-2D8B-43CF-AB12-5E24EA592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8" name="Text Box 16">
            <a:extLst>
              <a:ext uri="{FF2B5EF4-FFF2-40B4-BE49-F238E27FC236}">
                <a16:creationId xmlns:a16="http://schemas.microsoft.com/office/drawing/2014/main" id="{8AAE7136-B7FE-432F-B84F-0810A6D649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AA2F66-3DCA-46A7-8027-6B0AAA16C9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</p:sldLayoutIdLst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8" grpId="0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6B234A37-ECEA-4319-836D-A41B6A38B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2656"/>
            <a:ext cx="8001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30000"/>
              </a:spcBef>
              <a:defRPr/>
            </a:pP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7.6 </a:t>
            </a: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串行口工作方式</a:t>
            </a: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及其应用</a:t>
            </a:r>
            <a:endParaRPr kumimoji="1"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864567C-08B5-4024-9F9D-9EE9559C6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472" y="896750"/>
            <a:ext cx="8353176" cy="5484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15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kumimoji="1"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  <a:p>
            <a:pPr marL="514350" indent="-514350" eaLnBrk="1" hangingPunct="1">
              <a:spcBef>
                <a:spcPct val="20000"/>
              </a:spcBef>
              <a:buClr>
                <a:schemeClr val="tx1"/>
              </a:buClr>
              <a:buFont typeface="+mj-ea"/>
              <a:buAutoNum type="circleNumDbPlain"/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SM0 SM1=11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时串行口工作于方式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eaLnBrk="1" hangingPunct="1">
              <a:spcBef>
                <a:spcPct val="20000"/>
              </a:spcBef>
              <a:buClr>
                <a:schemeClr val="tx1"/>
              </a:buClr>
              <a:buFont typeface="+mj-ea"/>
              <a:buAutoNum type="circleNumDbPlain"/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位异步通信方式。字符帧中有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位起始位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+8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位数据位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位可编程位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位停止位。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其中，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TB8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存储第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数据位，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RB8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存储接收到的第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数据位。第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数据位用于进行错误校验或主从式系统通信的场合。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eaLnBrk="1" hangingPunct="1">
              <a:spcBef>
                <a:spcPct val="20000"/>
              </a:spcBef>
              <a:buFont typeface="+mj-ea"/>
              <a:buAutoNum type="circleNumDbPlain" startAt="3"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波特率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(2</a:t>
            </a:r>
            <a:r>
              <a:rPr kumimoji="1"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SMOD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/32)×</a:t>
            </a:r>
            <a:r>
              <a:rPr kumimoji="1" lang="en-US" altLang="zh-CN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</a:t>
            </a:r>
            <a:r>
              <a:rPr kumimoji="1" lang="en-US" altLang="zh-CN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osc</a:t>
            </a:r>
            <a:r>
              <a:rPr kumimoji="1" lang="en-US" altLang="zh-CN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/(12 ×(2</a:t>
            </a:r>
            <a:r>
              <a:rPr kumimoji="1"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k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初值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))</a:t>
            </a:r>
            <a:endParaRPr kumimoji="1"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514350" indent="-514350" eaLnBrk="1" hangingPunct="1">
              <a:spcBef>
                <a:spcPct val="20000"/>
              </a:spcBef>
              <a:buFont typeface="+mj-ea"/>
              <a:buAutoNum type="circleNumDbPlain" startAt="3"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发送数据由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TXD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输出，接收数据由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RXD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输入。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eaLnBrk="1" hangingPunct="1">
              <a:spcBef>
                <a:spcPct val="20000"/>
              </a:spcBef>
              <a:buFont typeface="+mj-ea"/>
              <a:buAutoNum type="circleNumDbPlain" startAt="3"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主从式系统中，从机与从机之间的通信只能经过主机才能实现。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72623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>
            <a:extLst>
              <a:ext uri="{FF2B5EF4-FFF2-40B4-BE49-F238E27FC236}">
                <a16:creationId xmlns:a16="http://schemas.microsoft.com/office/drawing/2014/main" id="{5AE777F3-B522-4CC7-A18C-4063819D5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3400"/>
            <a:ext cx="7772400" cy="399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5000"/>
              </a:spcBef>
              <a:defRPr/>
            </a:pP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和方式</a:t>
            </a: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的区别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　　</a:t>
            </a: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二者都是</a:t>
            </a:r>
            <a:r>
              <a:rPr kumimoji="1"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位异步收发。</a:t>
            </a:r>
            <a:r>
              <a:rPr kumimoji="1"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1+</a:t>
            </a:r>
            <a:r>
              <a:rPr kumimoji="1"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3200" dirty="0">
                <a:solidFill>
                  <a:srgbClr val="99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方式</a:t>
            </a:r>
            <a:r>
              <a:rPr kumimoji="1"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的波特率由</a:t>
            </a:r>
            <a:r>
              <a:rPr kumimoji="1"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MCS-51</a:t>
            </a:r>
            <a:r>
              <a:rPr kumimoji="1"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主频</a:t>
            </a:r>
            <a:r>
              <a:rPr kumimoji="1"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32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osc</a:t>
            </a:r>
            <a:r>
              <a:rPr kumimoji="1"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</a:t>
            </a:r>
            <a:r>
              <a:rPr kumimoji="1"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32</a:t>
            </a:r>
            <a:r>
              <a:rPr kumimoji="1"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kumimoji="1"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分频</a:t>
            </a: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后提供；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方式</a:t>
            </a:r>
            <a:r>
              <a:rPr kumimoji="1"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的波特率由</a:t>
            </a:r>
            <a:r>
              <a:rPr kumimoji="1"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定时器</a:t>
            </a:r>
            <a:r>
              <a:rPr kumimoji="1"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32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的溢出率经</a:t>
            </a:r>
            <a:r>
              <a:rPr kumimoji="1"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32</a:t>
            </a:r>
            <a:r>
              <a:rPr kumimoji="1"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分频</a:t>
            </a:r>
            <a:r>
              <a:rPr kumimoji="1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后提供，是可调的。　　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8">
            <a:extLst>
              <a:ext uri="{FF2B5EF4-FFF2-40B4-BE49-F238E27FC236}">
                <a16:creationId xmlns:a16="http://schemas.microsoft.com/office/drawing/2014/main" id="{C122282F-2C09-4813-BE24-857AF2AFD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4138"/>
            <a:ext cx="1835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latin typeface="Times New Roman" panose="02020603050405020304" pitchFamily="18" charset="0"/>
              </a:rPr>
              <a:t>方式</a:t>
            </a:r>
            <a:r>
              <a:rPr kumimoji="1" lang="en-US" altLang="zh-CN">
                <a:latin typeface="Times New Roman" panose="02020603050405020304" pitchFamily="18" charset="0"/>
              </a:rPr>
              <a:t>3</a:t>
            </a:r>
          </a:p>
        </p:txBody>
      </p:sp>
      <p:pic>
        <p:nvPicPr>
          <p:cNvPr id="46083" name="Picture 2">
            <a:extLst>
              <a:ext uri="{FF2B5EF4-FFF2-40B4-BE49-F238E27FC236}">
                <a16:creationId xmlns:a16="http://schemas.microsoft.com/office/drawing/2014/main" id="{DE971CEB-3CAD-4714-AC3C-9B628C97B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53" y="576979"/>
            <a:ext cx="6911975" cy="598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Box 4">
            <a:extLst>
              <a:ext uri="{FF2B5EF4-FFF2-40B4-BE49-F238E27FC236}">
                <a16:creationId xmlns:a16="http://schemas.microsoft.com/office/drawing/2014/main" id="{DDA9E2A9-EA85-4DD4-85F5-FF3FF0391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025" y="2420938"/>
            <a:ext cx="7461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FF"/>
                </a:solidFill>
                <a:latin typeface="宋体" panose="02010600030101010101" pitchFamily="2" charset="-122"/>
              </a:rPr>
              <a:t>SBUF</a:t>
            </a:r>
            <a:r>
              <a:rPr lang="zh-CN" altLang="en-US" sz="2000" baseline="-25000">
                <a:solidFill>
                  <a:srgbClr val="0000FF"/>
                </a:solidFill>
                <a:latin typeface="宋体" panose="02010600030101010101" pitchFamily="2" charset="-122"/>
              </a:rPr>
              <a:t>发</a:t>
            </a:r>
          </a:p>
        </p:txBody>
      </p:sp>
      <p:sp>
        <p:nvSpPr>
          <p:cNvPr id="46085" name="TextBox 5">
            <a:extLst>
              <a:ext uri="{FF2B5EF4-FFF2-40B4-BE49-F238E27FC236}">
                <a16:creationId xmlns:a16="http://schemas.microsoft.com/office/drawing/2014/main" id="{89B5E586-E1AF-4F90-A067-CB8927DCE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3500438"/>
            <a:ext cx="863600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FF"/>
                </a:solidFill>
                <a:latin typeface="宋体" panose="02010600030101010101" pitchFamily="2" charset="-122"/>
              </a:rPr>
              <a:t>SBUF</a:t>
            </a:r>
            <a:r>
              <a:rPr lang="zh-CN" altLang="en-US" sz="2000" baseline="-25000">
                <a:solidFill>
                  <a:srgbClr val="0000FF"/>
                </a:solidFill>
                <a:latin typeface="宋体" panose="02010600030101010101" pitchFamily="2" charset="-122"/>
              </a:rPr>
              <a:t>收</a:t>
            </a:r>
            <a:endParaRPr lang="zh-CN" altLang="en-US" sz="20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6086" name="TextBox 6">
            <a:extLst>
              <a:ext uri="{FF2B5EF4-FFF2-40B4-BE49-F238E27FC236}">
                <a16:creationId xmlns:a16="http://schemas.microsoft.com/office/drawing/2014/main" id="{E7BC1D6E-85C9-47F9-9AB1-F7F79807A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588" y="739775"/>
            <a:ext cx="11525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宋体" panose="02010600030101010101" pitchFamily="2" charset="-122"/>
              </a:rPr>
              <a:t>SBUF</a:t>
            </a:r>
            <a:r>
              <a:rPr lang="zh-CN" altLang="en-US" sz="2000" baseline="-25000">
                <a:latin typeface="宋体" panose="02010600030101010101" pitchFamily="2" charset="-122"/>
              </a:rPr>
              <a:t>发</a:t>
            </a:r>
            <a:r>
              <a:rPr lang="zh-CN" altLang="en-US" sz="2000">
                <a:latin typeface="宋体" panose="02010600030101010101" pitchFamily="2" charset="-122"/>
              </a:rPr>
              <a:t>空</a:t>
            </a:r>
          </a:p>
        </p:txBody>
      </p:sp>
      <p:sp>
        <p:nvSpPr>
          <p:cNvPr id="46087" name="TextBox 7">
            <a:extLst>
              <a:ext uri="{FF2B5EF4-FFF2-40B4-BE49-F238E27FC236}">
                <a16:creationId xmlns:a16="http://schemas.microsoft.com/office/drawing/2014/main" id="{0631E411-1A57-4FDC-B1A1-7450BFB7F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588" y="1055688"/>
            <a:ext cx="1008062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宋体" panose="02010600030101010101" pitchFamily="2" charset="-122"/>
              </a:rPr>
              <a:t>SBUF</a:t>
            </a:r>
            <a:r>
              <a:rPr lang="zh-CN" altLang="en-US" sz="2000" baseline="-25000">
                <a:latin typeface="宋体" panose="02010600030101010101" pitchFamily="2" charset="-122"/>
              </a:rPr>
              <a:t>发</a:t>
            </a:r>
            <a:r>
              <a:rPr lang="zh-CN" altLang="en-US" sz="2000">
                <a:latin typeface="宋体" panose="02010600030101010101" pitchFamily="2" charset="-122"/>
              </a:rPr>
              <a:t>满</a:t>
            </a:r>
          </a:p>
        </p:txBody>
      </p:sp>
      <p:sp>
        <p:nvSpPr>
          <p:cNvPr id="46088" name="TextBox 4">
            <a:extLst>
              <a:ext uri="{FF2B5EF4-FFF2-40B4-BE49-F238E27FC236}">
                <a16:creationId xmlns:a16="http://schemas.microsoft.com/office/drawing/2014/main" id="{4C52D41A-EC99-420B-AC66-F47379D40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438" y="2916238"/>
            <a:ext cx="7461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FF"/>
                </a:solidFill>
                <a:latin typeface="宋体" panose="02010600030101010101" pitchFamily="2" charset="-122"/>
              </a:rPr>
              <a:t>P3.0</a:t>
            </a:r>
            <a:endParaRPr lang="zh-CN" altLang="en-US" sz="2000" baseline="-250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6089" name="TextBox 4">
            <a:extLst>
              <a:ext uri="{FF2B5EF4-FFF2-40B4-BE49-F238E27FC236}">
                <a16:creationId xmlns:a16="http://schemas.microsoft.com/office/drawing/2014/main" id="{2597E30E-0C28-4261-A8F4-C7F35EC8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025" y="2400300"/>
            <a:ext cx="7461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FF"/>
                </a:solidFill>
                <a:latin typeface="宋体" panose="02010600030101010101" pitchFamily="2" charset="-122"/>
              </a:rPr>
              <a:t>P3.1</a:t>
            </a:r>
            <a:endParaRPr lang="zh-CN" altLang="en-US" sz="2000" baseline="-250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5A5D7B-1990-4DFF-AF08-50BD61030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304455"/>
            <a:ext cx="2187784" cy="122356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Text Box 5">
            <a:extLst>
              <a:ext uri="{FF2B5EF4-FFF2-40B4-BE49-F238E27FC236}">
                <a16:creationId xmlns:a16="http://schemas.microsoft.com/office/drawing/2014/main" id="{68DD987A-C888-4889-A850-39948BE8A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836613"/>
            <a:ext cx="8281987" cy="533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发送时，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CPU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除要把发送字符装入“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SBUF(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发送）”外，还把第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位数据位预先装入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SCON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TB8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中。第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位数据由用户安排，可以是奇偶校验位，也可是其他控制位。第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位数据位的装入可通过以下指令来完成：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　　</a:t>
            </a:r>
            <a:r>
              <a:rPr kumimoji="1"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SETB  TB8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kumimoji="1"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　　</a:t>
            </a:r>
            <a:r>
              <a:rPr kumimoji="1"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CLR   TB8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数据位的值装入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TB8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后，可用传送指令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kumimoji="1"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MOV SBUF</a:t>
            </a:r>
            <a:r>
              <a:rPr kumimoji="1"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把发送数据装入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SBUF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来启动发送过程。串行口能</a:t>
            </a:r>
            <a:r>
              <a:rPr kumimoji="1" lang="zh-CN" altLang="en-US" sz="2600" dirty="0">
                <a:solidFill>
                  <a:srgbClr val="99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自动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取走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TB8,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并装入到第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位数据位的位置，再逐一发送出去。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一帧数据发送完后，</a:t>
            </a:r>
            <a:r>
              <a:rPr kumimoji="1"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TI=1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CPU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可通过查询</a:t>
            </a:r>
            <a:r>
              <a:rPr kumimoji="1"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来以同样方式发送下一字符帧。</a:t>
            </a:r>
            <a:endParaRPr lang="zh-CN" altLang="en-US" sz="2600" dirty="0"/>
          </a:p>
        </p:txBody>
      </p:sp>
      <p:sp>
        <p:nvSpPr>
          <p:cNvPr id="109574" name="Line 6">
            <a:extLst>
              <a:ext uri="{FF2B5EF4-FFF2-40B4-BE49-F238E27FC236}">
                <a16:creationId xmlns:a16="http://schemas.microsoft.com/office/drawing/2014/main" id="{B365F273-517A-4250-BCB8-04C0980D4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1773238"/>
            <a:ext cx="5545138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75" name="WordArt 7">
            <a:extLst>
              <a:ext uri="{FF2B5EF4-FFF2-40B4-BE49-F238E27FC236}">
                <a16:creationId xmlns:a16="http://schemas.microsoft.com/office/drawing/2014/main" id="{134274F0-6F7A-44F1-BB10-C1D7C0C3F15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55650" y="260350"/>
            <a:ext cx="3600326" cy="5032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99CCFF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>
              <a:defRPr/>
            </a:pP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方式</a:t>
            </a: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3 </a:t>
            </a: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发送过程（同方式</a:t>
            </a: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2</a:t>
            </a: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）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Text Box 4">
            <a:extLst>
              <a:ext uri="{FF2B5EF4-FFF2-40B4-BE49-F238E27FC236}">
                <a16:creationId xmlns:a16="http://schemas.microsoft.com/office/drawing/2014/main" id="{3C3A6630-A58E-456B-8250-56BA2D7AD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557338"/>
            <a:ext cx="7559675" cy="3554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spcBef>
                <a:spcPct val="20000"/>
              </a:spcBef>
              <a:defRPr/>
            </a:pP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接收时，须满足：</a:t>
            </a:r>
          </a:p>
          <a:p>
            <a:pPr eaLnBrk="1" hangingPunct="1">
              <a:lnSpc>
                <a:spcPct val="115000"/>
              </a:lnSpc>
              <a:spcBef>
                <a:spcPct val="20000"/>
              </a:spcBef>
              <a:defRPr/>
            </a:pP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①</a:t>
            </a:r>
            <a:r>
              <a:rPr kumimoji="1"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RI=0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，意味着接收缓冲器为空。</a:t>
            </a:r>
          </a:p>
          <a:p>
            <a:pPr eaLnBrk="1" hangingPunct="1">
              <a:lnSpc>
                <a:spcPct val="115000"/>
              </a:lnSpc>
              <a:spcBef>
                <a:spcPct val="20000"/>
              </a:spcBef>
              <a:defRPr/>
            </a:pP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②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SM</a:t>
            </a:r>
            <a:r>
              <a:rPr kumimoji="1" lang="en-US" altLang="zh-CN" sz="3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或收到的第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数据位为“１” </a:t>
            </a:r>
          </a:p>
          <a:p>
            <a:pPr eaLnBrk="1" hangingPunct="1">
              <a:lnSpc>
                <a:spcPct val="115000"/>
              </a:lnSpc>
              <a:spcBef>
                <a:spcPct val="20000"/>
              </a:spcBef>
              <a:defRPr/>
            </a:pP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只有同时满足，接收到的字符才能送入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SBUF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，第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数据位才能装入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RB</a:t>
            </a:r>
            <a:r>
              <a:rPr kumimoji="1" lang="en-US" altLang="zh-CN" sz="3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中，并使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RI=1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；否则，此次收到的数据无效，</a:t>
            </a:r>
            <a:r>
              <a:rPr kumimoji="1"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</a:t>
            </a:r>
            <a:r>
              <a:rPr kumimoji="1" lang="zh-CN" altLang="en-US" sz="3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也不置位。</a:t>
            </a:r>
          </a:p>
        </p:txBody>
      </p:sp>
      <p:sp>
        <p:nvSpPr>
          <p:cNvPr id="110597" name="WordArt 5">
            <a:extLst>
              <a:ext uri="{FF2B5EF4-FFF2-40B4-BE49-F238E27FC236}">
                <a16:creationId xmlns:a16="http://schemas.microsoft.com/office/drawing/2014/main" id="{04F9E4CB-B745-492D-8ADF-952E6928FD9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42988" y="765175"/>
            <a:ext cx="3457575" cy="5032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99CCFF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>
              <a:defRPr/>
            </a:pP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方式</a:t>
            </a: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3 </a:t>
            </a: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接收过程（同方式</a:t>
            </a: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2</a:t>
            </a: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）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539750" y="1484313"/>
            <a:ext cx="8208963" cy="432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51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单片机具有多机通信的功能，可实现一台主机与多台从机的通信。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　　在多机通信中，主机必须要能对各个从机进行识别，可以通过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SCON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寄存器的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位来实现。当串口以方式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发送数据时，每一帧信息都是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位，第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位是数据可编程位，通过给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TB8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或置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来区别地址帧和数据帧，当该位为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时，发送地址帧；该位为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时，发送数据帧。　　</a:t>
            </a:r>
          </a:p>
        </p:txBody>
      </p:sp>
      <p:sp>
        <p:nvSpPr>
          <p:cNvPr id="72707" name="WordArt 5" descr="纸袋"/>
          <p:cNvSpPr>
            <a:spLocks noChangeArrowheads="1" noChangeShapeType="1" noTextEdit="1"/>
          </p:cNvSpPr>
          <p:nvPr/>
        </p:nvSpPr>
        <p:spPr bwMode="auto">
          <a:xfrm>
            <a:off x="683568" y="548680"/>
            <a:ext cx="51125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多机通信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755576" y="1268760"/>
            <a:ext cx="7848600" cy="2713038"/>
          </a:xfrm>
          <a:prstGeom prst="rect">
            <a:avLst/>
          </a:prstGeom>
          <a:solidFill>
            <a:srgbClr val="CCFFFF"/>
          </a:solidFill>
          <a:ln w="57150" cmpd="thickThin">
            <a:solidFill>
              <a:srgbClr val="6600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多机通信充分利用了单片机内部的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多机通信控制位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。当从机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＝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时，从机只接收主机发出的地址帧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位为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1),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对数据帧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位为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0)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不予理睬；而当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SM2=0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时，可接收主机发送过来的所有信息。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755650" y="908050"/>
            <a:ext cx="7561263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多机通信的过程：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　　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(1)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所有从机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均置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，处于只接收地址帧状态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 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主机先发送一个地址帧，其中前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位数据表示地址，第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表示该帧为地址帧。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  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所有从机接收到地址帧后，进行中断处理，把接收到的地址与自身地址相比较。地址相符时将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清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，脱离多机状态，地址不相符的从机不作任何处理，即保持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＝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 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684213" y="765175"/>
            <a:ext cx="7848600" cy="487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(4)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地址相符的从机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，可以接收到主机随后发来的信息，即主机发送的所有信息。收到信息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TB8=0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，则表示是数据帧，而对于地址不符的从机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，收到信息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TB8=0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，则不予理睬，这样就实现了主机与地址相符的从机之间的双机通信。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 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(5)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被寻址的从机通信结束后置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，恢复多机通信系统原有的状态。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96913" y="406091"/>
            <a:ext cx="7772400" cy="73183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9pPr>
          </a:lstStyle>
          <a:p>
            <a:pPr algn="l" eaLnBrk="1" hangingPunct="1">
              <a:defRPr/>
            </a:pPr>
            <a:r>
              <a:rPr lang="zh-CN" altLang="en-US" sz="3200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3200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200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方式</a:t>
            </a:r>
            <a:r>
              <a:rPr lang="en-US" altLang="zh-CN" sz="3200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的多机通信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089660"/>
            <a:ext cx="9144000" cy="467868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2098"/>
            <a:ext cx="4778154" cy="220237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0808"/>
            <a:ext cx="3528366" cy="2194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529638"/>
            <a:ext cx="3475021" cy="520491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3528" y="764704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主机：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536" y="404664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1#</a:t>
            </a:r>
            <a:r>
              <a:rPr lang="zh-CN" altLang="en-US" dirty="0"/>
              <a:t>从机：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34182"/>
            <a:ext cx="6081287" cy="38027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3633759"/>
            <a:ext cx="3055885" cy="260626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536" y="404664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2#</a:t>
            </a:r>
            <a:r>
              <a:rPr lang="zh-CN" altLang="en-US" dirty="0"/>
              <a:t>从机：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9" y="927884"/>
            <a:ext cx="6073666" cy="382557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3212976"/>
            <a:ext cx="3063505" cy="262150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368,&quot;width&quot;:14400}"/>
</p:tagLst>
</file>

<file path=ppt/theme/theme1.xml><?xml version="1.0" encoding="utf-8"?>
<a:theme xmlns:a="http://schemas.openxmlformats.org/drawingml/2006/main" name="CITRUS">
  <a:themeElements>
    <a:clrScheme name="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CITRUS">
      <a:majorFont>
        <a:latin typeface="Tahoma"/>
        <a:ea typeface="黑体"/>
        <a:cs typeface="Tahoma"/>
      </a:majorFont>
      <a:minorFont>
        <a:latin typeface="Tahoma"/>
        <a:ea typeface="宋体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3153</TotalTime>
  <Words>489</Words>
  <Application>Microsoft Office PowerPoint</Application>
  <PresentationFormat>全屏显示(4:3)</PresentationFormat>
  <Paragraphs>47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黑体</vt:lpstr>
      <vt:lpstr>楷体</vt:lpstr>
      <vt:lpstr>楷体_GB2312</vt:lpstr>
      <vt:lpstr>隶书</vt:lpstr>
      <vt:lpstr>宋体</vt:lpstr>
      <vt:lpstr>Arial</vt:lpstr>
      <vt:lpstr>Tahoma</vt:lpstr>
      <vt:lpstr>Times New Roman</vt:lpstr>
      <vt:lpstr>Wingdings</vt:lpstr>
      <vt:lpstr>CITRUS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admin</cp:lastModifiedBy>
  <cp:revision>251</cp:revision>
  <dcterms:created xsi:type="dcterms:W3CDTF">2010-01-21T07:14:51Z</dcterms:created>
  <dcterms:modified xsi:type="dcterms:W3CDTF">2025-04-22T13:00:47Z</dcterms:modified>
</cp:coreProperties>
</file>