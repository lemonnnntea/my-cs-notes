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9"/>
  </p:notesMasterIdLst>
  <p:sldIdLst>
    <p:sldId id="1063" r:id="rId2"/>
    <p:sldId id="1064" r:id="rId3"/>
    <p:sldId id="1348" r:id="rId4"/>
    <p:sldId id="1369" r:id="rId5"/>
    <p:sldId id="1071" r:id="rId6"/>
    <p:sldId id="1072" r:id="rId7"/>
    <p:sldId id="1351" r:id="rId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9900FF"/>
    <a:srgbClr val="CC3300"/>
    <a:srgbClr val="CCFFFF"/>
    <a:srgbClr val="FF9999"/>
    <a:srgbClr val="FF7C80"/>
    <a:srgbClr val="008080"/>
    <a:srgbClr val="0099FF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 autoAdjust="0"/>
    <p:restoredTop sz="94411" autoAdjust="0"/>
  </p:normalViewPr>
  <p:slideViewPr>
    <p:cSldViewPr snapToGrid="0">
      <p:cViewPr varScale="1">
        <p:scale>
          <a:sx n="63" d="100"/>
          <a:sy n="63" d="100"/>
        </p:scale>
        <p:origin x="13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9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CCB56EC-A894-422C-80C6-103F53906E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7C4FFC0-2F3B-418A-B41F-F8604CC6D6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E995074-AC3C-4230-B61C-528CF6519E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3F22C75-167E-478B-A27E-FBEDCF0CC9C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FB46D2A9-B1A3-4FA0-A6AC-3F553B25C9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1C4A5DD9-722A-4BE3-8D7B-EB1293D0F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92A8AE5-104E-4B66-A929-E57736E73F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501BDED-99D5-4277-A331-393B5A11E1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7B89C31-C4FD-4CC4-AE1A-4F617D80F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098E306-8705-4CBB-AEDE-59DB58868C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3F7353B-1377-41A4-84A1-242CB385C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E710FC6-D30A-45C5-A9BC-54E07F6730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200483A-238B-49EE-A048-8BCB881EC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28F6EF2-1923-441C-80FC-AE0BFD3823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701AAA8-6B3B-4EE6-A8CF-B326F262F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E91E7E1B-ECF1-4D50-A973-54D3230555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74E1D9B-F2E0-44D7-A3D7-A098F26A2D25}" type="slidenum">
              <a:rPr lang="zh-CN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7BE87B8E-8B15-4D64-90FB-1AC98A63BE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CB7D04E-F572-4487-99E1-B5C316578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参见，胡汉才，单片机原理及其接口技术，</a:t>
            </a:r>
            <a:r>
              <a:rPr lang="en-US" altLang="zh-CN"/>
              <a:t>P.237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FD4B41CE-ABA1-47BE-9385-C355EB049A0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4824AD6-833A-4E63-95D2-650D281F433E}" type="slidenum">
              <a:rPr lang="zh-CN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41EEE3C-DE41-4505-AF32-E09FE2D949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6D5930C-3C03-4DA9-B17A-94D034CBA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参见，胡汉才，单片机原理及其接口技术，</a:t>
            </a:r>
            <a:r>
              <a:rPr lang="en-US" altLang="zh-CN"/>
              <a:t>P.237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0749BE9-F49C-4C28-AF72-3A9FC80A6ED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6E835C6-A5AD-44E5-9716-407D47431090}" type="slidenum">
              <a:rPr lang="zh-CN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2BEC422-0E07-4BED-9EEA-5701108D9E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226FCE4-537B-4DD3-8269-93F159DBC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参见，胡汉才，单片机原理及其接口技术，</a:t>
            </a:r>
            <a:r>
              <a:rPr lang="en-US" altLang="zh-CN"/>
              <a:t>P.237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749B49-7C13-47F1-A5F0-BFE79DCE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6AE30F-0719-4B69-A80E-45D03F18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EB5D5-C1E4-4F2B-8AD4-4468E812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4F664-9BB3-4E99-93E9-B6CFB109F9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799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C05A6-F7FC-4E79-BCDF-AE762F3B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2D9053-BFFF-469C-AE5C-033BFFB9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89D42C-BBD4-4975-927E-38557F0D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8F89A-C079-4008-BDDA-6D00D574FD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508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FC26E-844F-4DE9-94C4-01323A20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BB4BB-1DCA-4351-9B94-2666A67D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4F66A-A254-4806-825D-1714677A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8401D-BE8C-4E4A-B0EB-828FB2F7AF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792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4CC908C-3EC1-4746-975C-CE53218E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5CB67F0-BEA0-4390-85F7-967C9BDB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B1F025A-09F0-4A3B-8283-36C821E0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400F0-C01C-4B8B-8C32-1AE136261D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576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ECED6D89-A2D0-45A1-8702-0948D869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FA1AEA61-0F7E-4414-81F6-B823A413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F7A0196-25B5-4E6D-B6DA-B91CCE3FA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70CA2-8105-44A5-ADDF-823E08C52B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23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7C487BD-9036-4246-9814-CE762CEE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ECDAAAD-8F63-4DFA-BF1A-9AF08555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7EC2B6B-3E79-408F-936E-9C4DC788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404B3-8BA2-4E3F-B23D-237D43B108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83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6BBEA51-7893-45C0-81C9-D620FBBA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E4C7435-DA4C-4696-9F3E-B51FBA438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22CA6BFA-BFB3-4E83-836C-C935A644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AC296-42F9-4F2A-9908-95C2F67FFA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29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17ABC50-93AB-4FD9-98E1-83C0A0AC1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FCE9FEF-76F9-493C-A6B4-79343DBF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ED1BF1B-BEA7-4FDE-8291-AFD4503B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FC57C-DCCC-4434-BC13-DF5E4D336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59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7A10D57-947D-4B6C-A369-A8A9A7BF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C551EA3-BDBD-483F-9D44-24AFBACF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93C30AE-4463-4FE7-B422-DADD06AC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820D2-32BE-4157-8AB2-86E128AEFC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6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8449F-A959-425B-9C56-6920300A4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60C1FF-3084-4F2F-B8A4-991885A5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995F6-262A-4EB0-8692-264CBB69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0C011-16C0-4CDB-8A63-EC32B33B7D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56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AE36C-0E74-4C8D-A6A6-1C203B5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43F70-3F8F-444C-98B7-694A7B8D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F5073-C8FD-439A-B3AA-E15348C9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DA76E-5C58-4E73-A30F-F2F3A94B8E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94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DC70C56-86F6-4AFD-80BD-9CCA1483B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8B6871-DB59-4C54-9E2A-359C81E0B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118FA-2B1B-419D-B4F0-8567984B1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9993D-64CF-4377-963B-7441343B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1C9DC9-B550-4DF5-94C8-CFA6F0E54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A595192-87CF-42C7-82F3-D4733B0E4A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ABC3A284-3AA1-4CFF-B619-74128F120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1249363"/>
            <a:ext cx="825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计算机系统是由众多功能部件组成 </a:t>
            </a:r>
          </a:p>
        </p:txBody>
      </p:sp>
      <p:sp>
        <p:nvSpPr>
          <p:cNvPr id="1049631" name="Text Box 31">
            <a:extLst>
              <a:ext uri="{FF2B5EF4-FFF2-40B4-BE49-F238E27FC236}">
                <a16:creationId xmlns:a16="http://schemas.microsoft.com/office/drawing/2014/main" id="{2424C9AC-19C4-430E-BC6D-89581F3EC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4652963"/>
            <a:ext cx="842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6175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三总线：地址总线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AB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 、数据总线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DB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、控制总线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CB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5124" name="Picture 6" descr="单片机插图01-1">
            <a:extLst>
              <a:ext uri="{FF2B5EF4-FFF2-40B4-BE49-F238E27FC236}">
                <a16:creationId xmlns:a16="http://schemas.microsoft.com/office/drawing/2014/main" id="{0B29F97E-1CD0-487A-8F36-02E14D538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0"/>
          <a:stretch>
            <a:fillRect/>
          </a:stretch>
        </p:blipFill>
        <p:spPr bwMode="auto">
          <a:xfrm>
            <a:off x="717550" y="1763713"/>
            <a:ext cx="2981325" cy="20002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</p:pic>
      <p:grpSp>
        <p:nvGrpSpPr>
          <p:cNvPr id="1049635" name="Group 35">
            <a:extLst>
              <a:ext uri="{FF2B5EF4-FFF2-40B4-BE49-F238E27FC236}">
                <a16:creationId xmlns:a16="http://schemas.microsoft.com/office/drawing/2014/main" id="{9194E920-868C-47E0-BC18-21F3235DE586}"/>
              </a:ext>
            </a:extLst>
          </p:cNvPr>
          <p:cNvGrpSpPr>
            <a:grpSpLocks/>
          </p:cNvGrpSpPr>
          <p:nvPr/>
        </p:nvGrpSpPr>
        <p:grpSpPr bwMode="auto">
          <a:xfrm>
            <a:off x="3840163" y="1793875"/>
            <a:ext cx="5040312" cy="2030413"/>
            <a:chOff x="1935" y="1619"/>
            <a:chExt cx="3175" cy="1279"/>
          </a:xfrm>
        </p:grpSpPr>
        <p:grpSp>
          <p:nvGrpSpPr>
            <p:cNvPr id="5131" name="Group 4">
              <a:extLst>
                <a:ext uri="{FF2B5EF4-FFF2-40B4-BE49-F238E27FC236}">
                  <a16:creationId xmlns:a16="http://schemas.microsoft.com/office/drawing/2014/main" id="{1025E231-AEB2-4FF8-8218-70B8C5D1C7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5" y="1619"/>
              <a:ext cx="2183" cy="1279"/>
              <a:chOff x="2795" y="1508"/>
              <a:chExt cx="2183" cy="1279"/>
            </a:xfrm>
          </p:grpSpPr>
          <p:grpSp>
            <p:nvGrpSpPr>
              <p:cNvPr id="5135" name="Group 5">
                <a:extLst>
                  <a:ext uri="{FF2B5EF4-FFF2-40B4-BE49-F238E27FC236}">
                    <a16:creationId xmlns:a16="http://schemas.microsoft.com/office/drawing/2014/main" id="{D220E2FB-3960-4314-B2F7-36528F51CE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5" y="1508"/>
                <a:ext cx="2041" cy="1279"/>
                <a:chOff x="824" y="1572"/>
                <a:chExt cx="2677" cy="1678"/>
              </a:xfrm>
            </p:grpSpPr>
            <p:sp>
              <p:nvSpPr>
                <p:cNvPr id="5138" name="Text Box 6">
                  <a:extLst>
                    <a:ext uri="{FF2B5EF4-FFF2-40B4-BE49-F238E27FC236}">
                      <a16:creationId xmlns:a16="http://schemas.microsoft.com/office/drawing/2014/main" id="{2D5371BF-BE82-4F95-8067-4E308B3551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0" y="2297"/>
                  <a:ext cx="508" cy="2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4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Verdana" panose="020B0604030504040204" pitchFamily="34" charset="0"/>
                      <a:ea typeface="宋体" panose="02010600030101010101" pitchFamily="2" charset="-122"/>
                    </a:rPr>
                    <a:t>CPU</a:t>
                  </a:r>
                </a:p>
              </p:txBody>
            </p:sp>
            <p:sp>
              <p:nvSpPr>
                <p:cNvPr id="5139" name="Rectangle 7">
                  <a:extLst>
                    <a:ext uri="{FF2B5EF4-FFF2-40B4-BE49-F238E27FC236}">
                      <a16:creationId xmlns:a16="http://schemas.microsoft.com/office/drawing/2014/main" id="{A22E0553-5B2C-423D-B1C7-BAABFA75BF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4" y="1980"/>
                  <a:ext cx="508" cy="86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kumimoji="1" lang="zh-CN" altLang="en-US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40" name="Line 8">
                  <a:extLst>
                    <a:ext uri="{FF2B5EF4-FFF2-40B4-BE49-F238E27FC236}">
                      <a16:creationId xmlns:a16="http://schemas.microsoft.com/office/drawing/2014/main" id="{9FA43426-FD2E-4722-925E-DB4A7CB194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2" y="2116"/>
                  <a:ext cx="216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41" name="Line 9">
                  <a:extLst>
                    <a:ext uri="{FF2B5EF4-FFF2-40B4-BE49-F238E27FC236}">
                      <a16:creationId xmlns:a16="http://schemas.microsoft.com/office/drawing/2014/main" id="{243A9233-3EB5-4135-BB9C-5E9F75A47B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2" y="2388"/>
                  <a:ext cx="216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42" name="Line 10">
                  <a:extLst>
                    <a:ext uri="{FF2B5EF4-FFF2-40B4-BE49-F238E27FC236}">
                      <a16:creationId xmlns:a16="http://schemas.microsoft.com/office/drawing/2014/main" id="{EF9E4E4B-D068-4564-88A4-6DD350D7F5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2" y="2660"/>
                  <a:ext cx="216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43" name="Text Box 11">
                  <a:extLst>
                    <a:ext uri="{FF2B5EF4-FFF2-40B4-BE49-F238E27FC236}">
                      <a16:creationId xmlns:a16="http://schemas.microsoft.com/office/drawing/2014/main" id="{AF2B4EAC-82EE-4A11-9279-B1F97B52F7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4" y="1617"/>
                  <a:ext cx="462" cy="3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2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Verdana" panose="020B0604030504040204" pitchFamily="34" charset="0"/>
                      <a:ea typeface="宋体" panose="02010600030101010101" pitchFamily="2" charset="-122"/>
                    </a:rPr>
                    <a:t>ROM</a:t>
                  </a:r>
                </a:p>
              </p:txBody>
            </p:sp>
            <p:sp>
              <p:nvSpPr>
                <p:cNvPr id="5144" name="Text Box 12">
                  <a:extLst>
                    <a:ext uri="{FF2B5EF4-FFF2-40B4-BE49-F238E27FC236}">
                      <a16:creationId xmlns:a16="http://schemas.microsoft.com/office/drawing/2014/main" id="{69BC672E-B245-443B-8802-5EABDC3919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78" y="1617"/>
                  <a:ext cx="461" cy="3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2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Verdana" panose="020B0604030504040204" pitchFamily="34" charset="0"/>
                      <a:ea typeface="宋体" panose="02010600030101010101" pitchFamily="2" charset="-122"/>
                    </a:rPr>
                    <a:t>RAM</a:t>
                  </a:r>
                </a:p>
              </p:txBody>
            </p:sp>
            <p:sp>
              <p:nvSpPr>
                <p:cNvPr id="5145" name="Text Box 13">
                  <a:extLst>
                    <a:ext uri="{FF2B5EF4-FFF2-40B4-BE49-F238E27FC236}">
                      <a16:creationId xmlns:a16="http://schemas.microsoft.com/office/drawing/2014/main" id="{27B4B6D2-1366-42D1-BB9D-238EE9DA3A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69" y="2978"/>
                  <a:ext cx="73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14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Verdana" panose="020B0604030504040204" pitchFamily="34" charset="0"/>
                      <a:ea typeface="宋体" panose="02010600030101010101" pitchFamily="2" charset="-122"/>
                    </a:rPr>
                    <a:t>  </a:t>
                  </a:r>
                  <a:r>
                    <a:rPr lang="en-US" altLang="zh-CN" sz="1400" b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Verdana" panose="020B0604030504040204" pitchFamily="34" charset="0"/>
                      <a:ea typeface="宋体" panose="02010600030101010101" pitchFamily="2" charset="-122"/>
                    </a:rPr>
                    <a:t>T/C</a:t>
                  </a:r>
                </a:p>
              </p:txBody>
            </p:sp>
            <p:sp>
              <p:nvSpPr>
                <p:cNvPr id="5146" name="Rectangle 14">
                  <a:extLst>
                    <a:ext uri="{FF2B5EF4-FFF2-40B4-BE49-F238E27FC236}">
                      <a16:creationId xmlns:a16="http://schemas.microsoft.com/office/drawing/2014/main" id="{4655FB1B-D7A9-462A-A628-35CEFE5945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4" y="1572"/>
                  <a:ext cx="462" cy="31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kumimoji="1" lang="zh-CN" altLang="en-US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47" name="Rectangle 15">
                  <a:extLst>
                    <a:ext uri="{FF2B5EF4-FFF2-40B4-BE49-F238E27FC236}">
                      <a16:creationId xmlns:a16="http://schemas.microsoft.com/office/drawing/2014/main" id="{D50B511E-BB65-4A78-B243-7BB0A4A300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7" y="1572"/>
                  <a:ext cx="462" cy="31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kumimoji="1" lang="zh-CN" altLang="en-US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48" name="Rectangle 16">
                  <a:extLst>
                    <a:ext uri="{FF2B5EF4-FFF2-40B4-BE49-F238E27FC236}">
                      <a16:creationId xmlns:a16="http://schemas.microsoft.com/office/drawing/2014/main" id="{C997CBBE-0865-4D32-B5DB-9A53978084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9" y="2932"/>
                  <a:ext cx="647" cy="3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defRPr>
                  </a:lvl9pPr>
                </a:lstStyle>
                <a:p>
                  <a:pPr eaLnBrk="1" hangingPunct="1"/>
                  <a:endParaRPr kumimoji="1" lang="zh-CN" altLang="en-US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49" name="Line 17">
                  <a:extLst>
                    <a:ext uri="{FF2B5EF4-FFF2-40B4-BE49-F238E27FC236}">
                      <a16:creationId xmlns:a16="http://schemas.microsoft.com/office/drawing/2014/main" id="{5361BB48-D28B-40B0-800E-515D476430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55" y="1897"/>
                  <a:ext cx="0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0" name="Line 18">
                  <a:extLst>
                    <a:ext uri="{FF2B5EF4-FFF2-40B4-BE49-F238E27FC236}">
                      <a16:creationId xmlns:a16="http://schemas.microsoft.com/office/drawing/2014/main" id="{41C194CA-F23C-43A9-8792-C0890F2F9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8" y="1889"/>
                  <a:ext cx="0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1" name="Line 19">
                  <a:extLst>
                    <a:ext uri="{FF2B5EF4-FFF2-40B4-BE49-F238E27FC236}">
                      <a16:creationId xmlns:a16="http://schemas.microsoft.com/office/drawing/2014/main" id="{E2FBECAD-E7FC-4F86-AADB-BB3D180668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3" y="2388"/>
                  <a:ext cx="0" cy="5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2" name="Line 20">
                  <a:extLst>
                    <a:ext uri="{FF2B5EF4-FFF2-40B4-BE49-F238E27FC236}">
                      <a16:creationId xmlns:a16="http://schemas.microsoft.com/office/drawing/2014/main" id="{9999DAC8-4DD6-48D0-A14D-6D01C178F6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47" y="1889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3" name="Line 21">
                  <a:extLst>
                    <a:ext uri="{FF2B5EF4-FFF2-40B4-BE49-F238E27FC236}">
                      <a16:creationId xmlns:a16="http://schemas.microsoft.com/office/drawing/2014/main" id="{DE2F5ED1-E9A7-44AC-AB28-C1593A019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0" y="1889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4" name="Line 22">
                  <a:extLst>
                    <a:ext uri="{FF2B5EF4-FFF2-40B4-BE49-F238E27FC236}">
                      <a16:creationId xmlns:a16="http://schemas.microsoft.com/office/drawing/2014/main" id="{A1FF4AFE-A358-418C-9137-E288C7966B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9" y="2116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5" name="Line 23">
                  <a:extLst>
                    <a:ext uri="{FF2B5EF4-FFF2-40B4-BE49-F238E27FC236}">
                      <a16:creationId xmlns:a16="http://schemas.microsoft.com/office/drawing/2014/main" id="{461D1EE5-A04F-4BD9-B61A-4CB94F5DB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78" y="1889"/>
                  <a:ext cx="0" cy="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6" name="Line 24">
                  <a:extLst>
                    <a:ext uri="{FF2B5EF4-FFF2-40B4-BE49-F238E27FC236}">
                      <a16:creationId xmlns:a16="http://schemas.microsoft.com/office/drawing/2014/main" id="{F2840925-8530-402C-B2E7-98253D37C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63" y="2663"/>
                  <a:ext cx="0" cy="2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57" name="Line 25">
                  <a:extLst>
                    <a:ext uri="{FF2B5EF4-FFF2-40B4-BE49-F238E27FC236}">
                      <a16:creationId xmlns:a16="http://schemas.microsoft.com/office/drawing/2014/main" id="{ECFC3956-B951-4EC8-B478-69B62FAE6C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54" y="1895"/>
                  <a:ext cx="0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5136" name="Rectangle 26">
                <a:extLst>
                  <a:ext uri="{FF2B5EF4-FFF2-40B4-BE49-F238E27FC236}">
                    <a16:creationId xmlns:a16="http://schemas.microsoft.com/office/drawing/2014/main" id="{E69ED9DA-BEB1-40AA-8322-8767820E0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9" y="2529"/>
                <a:ext cx="482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kumimoji="1" lang="zh-CN" alt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7" name="Text Box 27">
                <a:extLst>
                  <a:ext uri="{FF2B5EF4-FFF2-40B4-BE49-F238E27FC236}">
                    <a16:creationId xmlns:a16="http://schemas.microsoft.com/office/drawing/2014/main" id="{F7EB9140-9E3B-4FD9-905A-D6468C3AE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9" y="2443"/>
                <a:ext cx="53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……</a:t>
                </a:r>
                <a:endParaRPr lang="en-US" altLang="zh-CN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132" name="Text Box 28">
              <a:extLst>
                <a:ext uri="{FF2B5EF4-FFF2-40B4-BE49-F238E27FC236}">
                  <a16:creationId xmlns:a16="http://schemas.microsoft.com/office/drawing/2014/main" id="{F2999C3B-0921-4526-8A4F-FDE3CA00B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2" y="1874"/>
              <a:ext cx="9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rPr>
                <a:t>控制总线 </a:t>
              </a: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rPr>
                <a:t>CB</a:t>
              </a:r>
              <a:endPara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3" name="Text Box 29">
              <a:extLst>
                <a:ext uri="{FF2B5EF4-FFF2-40B4-BE49-F238E27FC236}">
                  <a16:creationId xmlns:a16="http://schemas.microsoft.com/office/drawing/2014/main" id="{27C59F6A-9DE5-44BE-A1E0-C943AA310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2" y="2129"/>
              <a:ext cx="10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rPr>
                <a:t>数据总线 </a:t>
              </a:r>
              <a:r>
                <a:rPr lang="en-US" altLang="zh-CN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rPr>
                <a:t>DB</a:t>
              </a:r>
              <a:endPara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4" name="Text Box 30">
              <a:extLst>
                <a:ext uri="{FF2B5EF4-FFF2-40B4-BE49-F238E27FC236}">
                  <a16:creationId xmlns:a16="http://schemas.microsoft.com/office/drawing/2014/main" id="{33BF7AC6-C856-40A2-AD08-F59C12E6E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2" y="2367"/>
              <a:ext cx="10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rPr>
                <a:t>地址总线 </a:t>
              </a: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rPr>
                <a:t>AB</a:t>
              </a:r>
              <a:endPara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6" name="Rectangle 2">
            <a:extLst>
              <a:ext uri="{FF2B5EF4-FFF2-40B4-BE49-F238E27FC236}">
                <a16:creationId xmlns:a16="http://schemas.microsoft.com/office/drawing/2014/main" id="{93AEF7E1-4768-4789-9AC3-2A7116DB2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eaLnBrk="1" hangingPunct="1"/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 单片机接口技术</a:t>
            </a:r>
          </a:p>
        </p:txBody>
      </p:sp>
      <p:sp>
        <p:nvSpPr>
          <p:cNvPr id="1049666" name="Text Box 2">
            <a:extLst>
              <a:ext uri="{FF2B5EF4-FFF2-40B4-BE49-F238E27FC236}">
                <a16:creationId xmlns:a16="http://schemas.microsoft.com/office/drawing/2014/main" id="{9DF7828C-C7F1-4EA5-AB80-2F593D6E2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3825875"/>
            <a:ext cx="83693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为减少连线简化结构，可将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传送同类信息的连线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作为一种公共通道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总线（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BUS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049667" name="Rectangle 67">
            <a:extLst>
              <a:ext uri="{FF2B5EF4-FFF2-40B4-BE49-F238E27FC236}">
                <a16:creationId xmlns:a16="http://schemas.microsoft.com/office/drawing/2014/main" id="{341EB44A-FED2-4BD5-8E81-94127544A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" y="5195888"/>
            <a:ext cx="84296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0363" indent="-360363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397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单片机属于总线型结构，片内各功能部件都是按总线关系设计并集成为整体的。 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9" name="矩形 1">
            <a:extLst>
              <a:ext uri="{FF2B5EF4-FFF2-40B4-BE49-F238E27FC236}">
                <a16:creationId xmlns:a16="http://schemas.microsoft.com/office/drawing/2014/main" id="{C3EFB9DD-1956-4D8A-9CA3-02F57620F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823913"/>
            <a:ext cx="2578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8.1.1  </a:t>
            </a:r>
            <a:r>
              <a:rPr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三总线结构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6">
            <a:extLst>
              <a:ext uri="{FF2B5EF4-FFF2-40B4-BE49-F238E27FC236}">
                <a16:creationId xmlns:a16="http://schemas.microsoft.com/office/drawing/2014/main" id="{C3ABC32C-95DE-4AA4-AE44-8467AE3F4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336550"/>
            <a:ext cx="577215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1000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kumimoji="0" lang="zh-CN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.1</a:t>
            </a:r>
            <a:r>
              <a:rPr kumimoji="0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kumimoji="0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单片机的系统总线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9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66" grpId="0"/>
      <p:bldP spid="104966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B2B009E4-BD47-4D5E-89D5-3AE1F6680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944" y="696912"/>
            <a:ext cx="63992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51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单片机有两种外设连接方式：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F07A6FF-2099-45B2-BDDF-8C9DFD3BC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eaLnBrk="1" hangingPunct="1"/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 单片机接口技术</a:t>
            </a:r>
          </a:p>
        </p:txBody>
      </p:sp>
      <p:pic>
        <p:nvPicPr>
          <p:cNvPr id="1050655" name="Picture 4" descr="pic1">
            <a:extLst>
              <a:ext uri="{FF2B5EF4-FFF2-40B4-BE49-F238E27FC236}">
                <a16:creationId xmlns:a16="http://schemas.microsoft.com/office/drawing/2014/main" id="{289C0F74-C6F7-4E3C-B90F-275D50DC5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1" t="21553" r="20073" b="25925"/>
          <a:stretch>
            <a:fillRect/>
          </a:stretch>
        </p:blipFill>
        <p:spPr bwMode="auto">
          <a:xfrm>
            <a:off x="738187" y="1220132"/>
            <a:ext cx="3499275" cy="256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0657" name="Rectangle 33">
            <a:extLst>
              <a:ext uri="{FF2B5EF4-FFF2-40B4-BE49-F238E27FC236}">
                <a16:creationId xmlns:a16="http://schemas.microsoft.com/office/drawing/2014/main" id="{CCC605EE-F947-4ED1-8E02-B2910FE52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3759107"/>
            <a:ext cx="3687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方式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非总线方式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</a:p>
        </p:txBody>
      </p:sp>
      <p:grpSp>
        <p:nvGrpSpPr>
          <p:cNvPr id="1050662" name="Group 38">
            <a:extLst>
              <a:ext uri="{FF2B5EF4-FFF2-40B4-BE49-F238E27FC236}">
                <a16:creationId xmlns:a16="http://schemas.microsoft.com/office/drawing/2014/main" id="{473C33FE-29BB-473F-9EBA-E801BAC313D3}"/>
              </a:ext>
            </a:extLst>
          </p:cNvPr>
          <p:cNvGrpSpPr>
            <a:grpSpLocks/>
          </p:cNvGrpSpPr>
          <p:nvPr/>
        </p:nvGrpSpPr>
        <p:grpSpPr bwMode="auto">
          <a:xfrm>
            <a:off x="4468813" y="1293454"/>
            <a:ext cx="4037012" cy="3001705"/>
            <a:chOff x="336" y="1072"/>
            <a:chExt cx="2543" cy="1601"/>
          </a:xfrm>
        </p:grpSpPr>
        <p:sp>
          <p:nvSpPr>
            <p:cNvPr id="7177" name="Rectangle 32">
              <a:extLst>
                <a:ext uri="{FF2B5EF4-FFF2-40B4-BE49-F238E27FC236}">
                  <a16:creationId xmlns:a16="http://schemas.microsoft.com/office/drawing/2014/main" id="{86B87B4C-9B5D-4AF1-BB8F-E39BDC9A5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" y="2382"/>
              <a:ext cx="8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CC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</a:rPr>
                <a:t>总线方式</a:t>
              </a:r>
            </a:p>
          </p:txBody>
        </p:sp>
        <p:pic>
          <p:nvPicPr>
            <p:cNvPr id="7178" name="Picture 34">
              <a:extLst>
                <a:ext uri="{FF2B5EF4-FFF2-40B4-BE49-F238E27FC236}">
                  <a16:creationId xmlns:a16="http://schemas.microsoft.com/office/drawing/2014/main" id="{2F346A6A-A98E-408D-8D74-EC59692535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23" t="23354" r="14737" b="26566"/>
            <a:stretch>
              <a:fillRect/>
            </a:stretch>
          </p:blipFill>
          <p:spPr bwMode="auto">
            <a:xfrm>
              <a:off x="336" y="1072"/>
              <a:ext cx="2543" cy="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56037" name="Text Box 5">
            <a:extLst>
              <a:ext uri="{FF2B5EF4-FFF2-40B4-BE49-F238E27FC236}">
                <a16:creationId xmlns:a16="http://schemas.microsoft.com/office/drawing/2014/main" id="{B42B69CA-5CD6-4289-8AA4-559F6A01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4368800"/>
            <a:ext cx="7888287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方式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采用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片内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访问外设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例如 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MOV 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P0</a:t>
            </a:r>
            <a:r>
              <a:rPr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, A  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（片内地址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80H,90H,A0H,B0H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56038" name="Text Box 6">
            <a:extLst>
              <a:ext uri="{FF2B5EF4-FFF2-40B4-BE49-F238E27FC236}">
                <a16:creationId xmlns:a16="http://schemas.microsoft.com/office/drawing/2014/main" id="{1E4177BC-D941-4F7D-B7A6-9ED857325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149850"/>
            <a:ext cx="7642225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总线方式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采用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片外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访问外设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例如  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MOVX 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@DPTR</a:t>
            </a:r>
            <a:r>
              <a:rPr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,A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（片外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RAM 0</a:t>
            </a:r>
            <a:r>
              <a:rPr lang="en-US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0FFFFH</a:t>
            </a: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5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5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5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5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57" grpId="0"/>
      <p:bldP spid="556037" grpId="0"/>
      <p:bldP spid="5560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272ED853-706E-4B1E-93E6-07A01C498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52" y="433601"/>
            <a:ext cx="80109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单片机由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P3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引脚兼作总线引脚（没有专用总线引脚）</a:t>
            </a:r>
          </a:p>
        </p:txBody>
      </p:sp>
      <p:pic>
        <p:nvPicPr>
          <p:cNvPr id="9220" name="Picture 3" descr="DSC04271">
            <a:extLst>
              <a:ext uri="{FF2B5EF4-FFF2-40B4-BE49-F238E27FC236}">
                <a16:creationId xmlns:a16="http://schemas.microsoft.com/office/drawing/2014/main" id="{2227789B-FFB6-4C5F-9341-AAFEBFD10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4E4E4"/>
              </a:clrFrom>
              <a:clrTo>
                <a:srgbClr val="E4E4E4">
                  <a:alpha val="0"/>
                </a:srgbClr>
              </a:clrTo>
            </a:clrChange>
            <a:lum bright="-12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6" b="4753"/>
          <a:stretch>
            <a:fillRect/>
          </a:stretch>
        </p:blipFill>
        <p:spPr bwMode="auto">
          <a:xfrm>
            <a:off x="174625" y="1387708"/>
            <a:ext cx="5937250" cy="5013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CBC2AA91-D4B0-4D44-8115-0111B18A3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613"/>
            <a:ext cx="9144000" cy="602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49996" name="Rectangle 12">
            <a:extLst>
              <a:ext uri="{FF2B5EF4-FFF2-40B4-BE49-F238E27FC236}">
                <a16:creationId xmlns:a16="http://schemas.microsoft.com/office/drawing/2014/main" id="{14FC4F6A-220C-4EE7-A637-D609F31CF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994" y="-19337"/>
            <a:ext cx="2770188" cy="15696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口为复用总线方式，通过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地址锁存器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将数据与地址信息分开</a:t>
            </a: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7F216AA5-C412-448B-A010-D68D53E5B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68638"/>
            <a:ext cx="792162" cy="2089150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3B23F2DF-5634-4AC5-91B1-C4D49263D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5300663"/>
            <a:ext cx="172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数据总线</a:t>
            </a: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981672E9-7727-465A-9463-E0D74B406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025" y="981075"/>
            <a:ext cx="792163" cy="4319588"/>
          </a:xfrm>
          <a:prstGeom prst="ellipse">
            <a:avLst/>
          </a:prstGeom>
          <a:noFill/>
          <a:ln w="34925">
            <a:solidFill>
              <a:srgbClr val="7513D7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632F6689-35DB-4E1C-AEE2-B98B25082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2060575"/>
            <a:ext cx="172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7513D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地址总线</a:t>
            </a:r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9A8C9221-AA31-4595-B1DC-AC7378850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068638"/>
            <a:ext cx="936625" cy="3384550"/>
          </a:xfrm>
          <a:prstGeom prst="ellipse">
            <a:avLst/>
          </a:prstGeom>
          <a:noFill/>
          <a:ln w="3492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B6C29270-44E5-4259-89D4-CA833A785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60800"/>
            <a:ext cx="172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控制总线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4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9996" grpId="0" animBg="1"/>
      <p:bldP spid="13" grpId="0" animBg="1"/>
      <p:bldP spid="14" grpId="0"/>
      <p:bldP spid="15" grpId="0" animBg="1"/>
      <p:bldP spid="16" grpId="0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974" name="Text Box 2">
            <a:extLst>
              <a:ext uri="{FF2B5EF4-FFF2-40B4-BE49-F238E27FC236}">
                <a16:creationId xmlns:a16="http://schemas.microsoft.com/office/drawing/2014/main" id="{E89AB295-3D22-4660-98C9-D8808B1B2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179888"/>
            <a:ext cx="8087995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2438" indent="-452438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1008063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41605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824038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232025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689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3146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6036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40608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5000"/>
              </a:spcBef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A0-A7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出现在地址锁存器的输出端；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、地址锁存器的输出与输入端隔离；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D0-D7;P2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A8-A15;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地址锁存器输出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A0-A7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5000"/>
              </a:spcBef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、同时产生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位地址信号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+8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位数据信号</a:t>
            </a:r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71CB72CF-5D85-4ECF-99CE-8D4421BDC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564493"/>
            <a:ext cx="35205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地址锁存器工作过程 </a:t>
            </a:r>
          </a:p>
        </p:txBody>
      </p:sp>
      <p:pic>
        <p:nvPicPr>
          <p:cNvPr id="11267" name="Picture 3" descr="DSC04271">
            <a:extLst>
              <a:ext uri="{FF2B5EF4-FFF2-40B4-BE49-F238E27FC236}">
                <a16:creationId xmlns:a16="http://schemas.microsoft.com/office/drawing/2014/main" id="{FEA0C85E-43A4-4D50-AFD8-FD50B8DFA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4E4E4"/>
              </a:clrFrom>
              <a:clrTo>
                <a:srgbClr val="E4E4E4">
                  <a:alpha val="0"/>
                </a:srgbClr>
              </a:clrTo>
            </a:clrChange>
            <a:lum bright="-12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6" b="4753"/>
          <a:stretch>
            <a:fillRect/>
          </a:stretch>
        </p:blipFill>
        <p:spPr bwMode="auto">
          <a:xfrm>
            <a:off x="3606415" y="278780"/>
            <a:ext cx="5002326" cy="3901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6813394" y="1739590"/>
            <a:ext cx="1048215" cy="15054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1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91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91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919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900" name="Picture 12" descr="74ls373">
            <a:extLst>
              <a:ext uri="{FF2B5EF4-FFF2-40B4-BE49-F238E27FC236}">
                <a16:creationId xmlns:a16="http://schemas.microsoft.com/office/drawing/2014/main" id="{15192F3F-7B24-4A4F-96DD-C85BC0B39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8" t="35085" r="16408" b="28226"/>
          <a:stretch>
            <a:fillRect/>
          </a:stretch>
        </p:blipFill>
        <p:spPr bwMode="auto">
          <a:xfrm>
            <a:off x="487363" y="1627188"/>
            <a:ext cx="7039710" cy="240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1898" name="Text Box 3">
            <a:extLst>
              <a:ext uri="{FF2B5EF4-FFF2-40B4-BE49-F238E27FC236}">
                <a16:creationId xmlns:a16="http://schemas.microsoft.com/office/drawing/2014/main" id="{791058FE-BC0C-41C0-8D37-2410882CB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46624"/>
            <a:ext cx="57165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95350" indent="-8953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1992313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24003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2808288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3216275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36734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41306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45878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50450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原理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：当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/OE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端为低电平，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LE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端为</a:t>
            </a:r>
            <a:r>
              <a:rPr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高电平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时，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1D-8D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端的数据可由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1Q-8Q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端锁存输出； 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LE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为</a:t>
            </a:r>
            <a:r>
              <a:rPr lang="zh-CN" altLang="en-US" sz="240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低电平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时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端与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端隔离。</a:t>
            </a: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03818695-41D3-4198-B59F-43E509B2F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r" eaLnBrk="1" hangingPunct="1"/>
            <a:r>
              <a:rPr kumimoji="1"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 单片机接口技术</a:t>
            </a:r>
          </a:p>
        </p:txBody>
      </p:sp>
      <p:sp>
        <p:nvSpPr>
          <p:cNvPr id="1061901" name="Text Box 13">
            <a:extLst>
              <a:ext uri="{FF2B5EF4-FFF2-40B4-BE49-F238E27FC236}">
                <a16:creationId xmlns:a16="http://schemas.microsoft.com/office/drawing/2014/main" id="{B6B4C8B1-B3EB-48EE-B5DD-E7979C2F1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4183062"/>
            <a:ext cx="611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527175" indent="-1527175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1706563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88595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2065338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244725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7019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31591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6163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40735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结构</a:t>
            </a:r>
            <a:r>
              <a:rPr kumimoji="1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带有三态输出门的八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-D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触发器</a:t>
            </a:r>
          </a:p>
        </p:txBody>
      </p:sp>
      <p:sp>
        <p:nvSpPr>
          <p:cNvPr id="13318" name="Text Box 2">
            <a:extLst>
              <a:ext uri="{FF2B5EF4-FFF2-40B4-BE49-F238E27FC236}">
                <a16:creationId xmlns:a16="http://schemas.microsoft.com/office/drawing/2014/main" id="{25E2B1E1-A064-4F9A-88AF-97E702C30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139825"/>
            <a:ext cx="6738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锁存器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74HC373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74LS373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54LS377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等</a:t>
            </a:r>
          </a:p>
        </p:txBody>
      </p:sp>
      <p:pic>
        <p:nvPicPr>
          <p:cNvPr id="1061957" name="Picture 69">
            <a:extLst>
              <a:ext uri="{FF2B5EF4-FFF2-40B4-BE49-F238E27FC236}">
                <a16:creationId xmlns:a16="http://schemas.microsoft.com/office/drawing/2014/main" id="{CACDEA0B-9F21-4327-A3F7-2889A1979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7" t="24445" r="31180" b="33797"/>
          <a:stretch>
            <a:fillRect/>
          </a:stretch>
        </p:blipFill>
        <p:spPr bwMode="auto">
          <a:xfrm>
            <a:off x="6321425" y="3952875"/>
            <a:ext cx="2619375" cy="164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61962" name="Group 74">
            <a:extLst>
              <a:ext uri="{FF2B5EF4-FFF2-40B4-BE49-F238E27FC236}">
                <a16:creationId xmlns:a16="http://schemas.microsoft.com/office/drawing/2014/main" id="{AB207A3B-B756-4557-9483-7EA03A051F6A}"/>
              </a:ext>
            </a:extLst>
          </p:cNvPr>
          <p:cNvGrpSpPr>
            <a:grpSpLocks/>
          </p:cNvGrpSpPr>
          <p:nvPr/>
        </p:nvGrpSpPr>
        <p:grpSpPr bwMode="auto">
          <a:xfrm>
            <a:off x="7631112" y="2226469"/>
            <a:ext cx="1379538" cy="1127125"/>
            <a:chOff x="4608" y="1287"/>
            <a:chExt cx="869" cy="710"/>
          </a:xfrm>
        </p:grpSpPr>
        <p:pic>
          <p:nvPicPr>
            <p:cNvPr id="13322" name="Picture 70">
              <a:extLst>
                <a:ext uri="{FF2B5EF4-FFF2-40B4-BE49-F238E27FC236}">
                  <a16:creationId xmlns:a16="http://schemas.microsoft.com/office/drawing/2014/main" id="{6F17A792-0E91-48D2-BD77-34BF54F1E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423" t="26720"/>
            <a:stretch>
              <a:fillRect/>
            </a:stretch>
          </p:blipFill>
          <p:spPr bwMode="auto">
            <a:xfrm>
              <a:off x="4638" y="1287"/>
              <a:ext cx="649" cy="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3" name="Rectangle 72">
              <a:extLst>
                <a:ext uri="{FF2B5EF4-FFF2-40B4-BE49-F238E27FC236}">
                  <a16:creationId xmlns:a16="http://schemas.microsoft.com/office/drawing/2014/main" id="{EB19EC16-6980-4EEA-B8B4-7E629647A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805"/>
              <a:ext cx="86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负边沿</a:t>
              </a:r>
              <a:r>
                <a:rPr lang="en-US" altLang="zh-CN" sz="1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1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触发器</a:t>
              </a:r>
            </a:p>
          </p:txBody>
        </p:sp>
      </p:grpSp>
      <p:sp>
        <p:nvSpPr>
          <p:cNvPr id="13321" name="矩形 1">
            <a:extLst>
              <a:ext uri="{FF2B5EF4-FFF2-40B4-BE49-F238E27FC236}">
                <a16:creationId xmlns:a16="http://schemas.microsoft.com/office/drawing/2014/main" id="{F8AF41FA-C7C9-4AFC-BA7C-0B9E2AE8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13224"/>
            <a:ext cx="46192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 eaLnBrk="1" hangingPunct="1">
              <a:spcBef>
                <a:spcPct val="10000"/>
              </a:spcBef>
            </a:pPr>
            <a:r>
              <a:rPr lang="en-US" altLang="zh-CN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8.1.2  </a:t>
            </a:r>
            <a:r>
              <a:rPr lang="zh-CN" altLang="en-US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地址锁存原理及实现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91D4B4-CC91-4BD4-886F-971E2EA1C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3" y="1751969"/>
            <a:ext cx="6731193" cy="228065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6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6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6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8" grpId="0"/>
      <p:bldP spid="10619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9">
            <a:extLst>
              <a:ext uri="{FF2B5EF4-FFF2-40B4-BE49-F238E27FC236}">
                <a16:creationId xmlns:a16="http://schemas.microsoft.com/office/drawing/2014/main" id="{54F77EDE-CE66-4740-8175-D0A6A2219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5"/>
          <a:stretch>
            <a:fillRect/>
          </a:stretch>
        </p:blipFill>
        <p:spPr bwMode="auto">
          <a:xfrm>
            <a:off x="1137192" y="782637"/>
            <a:ext cx="6871638" cy="36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3">
            <a:extLst>
              <a:ext uri="{FF2B5EF4-FFF2-40B4-BE49-F238E27FC236}">
                <a16:creationId xmlns:a16="http://schemas.microsoft.com/office/drawing/2014/main" id="{04F92F7C-421F-4A69-97DE-2772F045F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465137"/>
            <a:ext cx="406674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典型总线方式接口电路 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A0A4144F-6F02-4B07-BDDF-173FEA646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eaLnBrk="1" hangingPunct="1"/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 单片机接口技术</a:t>
            </a:r>
          </a:p>
        </p:txBody>
      </p:sp>
      <p:sp>
        <p:nvSpPr>
          <p:cNvPr id="1063946" name="Text Box 3">
            <a:extLst>
              <a:ext uri="{FF2B5EF4-FFF2-40B4-BE49-F238E27FC236}">
                <a16:creationId xmlns:a16="http://schemas.microsoft.com/office/drawing/2014/main" id="{AED8E0FB-69CD-4943-B01B-7555E6ECA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4935538"/>
            <a:ext cx="7685087" cy="15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接线关系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/OE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地，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LE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正脉冲源，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D0</a:t>
            </a:r>
            <a:r>
              <a:rPr lang="en-US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D7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P0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Q0</a:t>
            </a:r>
            <a:r>
              <a:rPr lang="en-US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Q7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外设地址端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P0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口此时无需上拉电阻（总线方式）</a:t>
            </a:r>
          </a:p>
        </p:txBody>
      </p:sp>
      <p:sp>
        <p:nvSpPr>
          <p:cNvPr id="15366" name="Rectangle 15">
            <a:extLst>
              <a:ext uri="{FF2B5EF4-FFF2-40B4-BE49-F238E27FC236}">
                <a16:creationId xmlns:a16="http://schemas.microsoft.com/office/drawing/2014/main" id="{BA85E2CC-C04A-4771-957B-BE780BEB1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265" y="2393950"/>
            <a:ext cx="60325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地址锁存使能输出</a:t>
            </a:r>
          </a:p>
        </p:txBody>
      </p:sp>
      <p:pic>
        <p:nvPicPr>
          <p:cNvPr id="1063952" name="Picture 16" descr="P0口结构图">
            <a:extLst>
              <a:ext uri="{FF2B5EF4-FFF2-40B4-BE49-F238E27FC236}">
                <a16:creationId xmlns:a16="http://schemas.microsoft.com/office/drawing/2014/main" id="{8E5CE508-472C-4BF5-95B7-6634342B0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39" t="18011" r="25986" b="33598"/>
          <a:stretch>
            <a:fillRect/>
          </a:stretch>
        </p:blipFill>
        <p:spPr bwMode="auto">
          <a:xfrm>
            <a:off x="4501356" y="3425031"/>
            <a:ext cx="2573337" cy="1687513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8" name="Rectangle 17">
            <a:extLst>
              <a:ext uri="{FF2B5EF4-FFF2-40B4-BE49-F238E27FC236}">
                <a16:creationId xmlns:a16="http://schemas.microsoft.com/office/drawing/2014/main" id="{CE4FEC49-CD61-44B1-9248-FA70CB4E3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213" y="3313113"/>
            <a:ext cx="379412" cy="2238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061515" y="2776654"/>
            <a:ext cx="1436358" cy="152283"/>
          </a:xfrm>
          <a:prstGeom prst="roundRect">
            <a:avLst/>
          </a:prstGeom>
          <a:noFill/>
          <a:ln w="2857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0639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63532DD-4A04-4717-A011-052A04FDC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eaLnBrk="1" hangingPunct="1"/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 单片机接口技术</a:t>
            </a:r>
          </a:p>
        </p:txBody>
      </p:sp>
      <p:sp>
        <p:nvSpPr>
          <p:cNvPr id="1456137" name="Text Box 9">
            <a:extLst>
              <a:ext uri="{FF2B5EF4-FFF2-40B4-BE49-F238E27FC236}">
                <a16:creationId xmlns:a16="http://schemas.microsoft.com/office/drawing/2014/main" id="{97DE666B-C7D2-41EF-8FBC-533247707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849" y="2472800"/>
            <a:ext cx="362585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S1P2</a:t>
            </a:r>
            <a:r>
              <a:rPr kumimoji="1"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S2P2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期间：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P0 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 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(A0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A7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ALE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→正脉冲；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Q0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Q7 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→（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A0 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A7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S5P1</a:t>
            </a:r>
            <a:r>
              <a:rPr kumimoji="1"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S6P1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期间：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P0 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→（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D0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D7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Q0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Q7 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→（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A0 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A7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S1P2</a:t>
            </a:r>
            <a:r>
              <a:rPr kumimoji="1"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～ </a:t>
            </a:r>
            <a:r>
              <a:rPr kumimoji="1"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S6P1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期间： 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P0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分时输出低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位地址和</a:t>
            </a:r>
            <a:r>
              <a:rPr kumimoji="1"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位数据信息。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17412" name="Picture 13">
            <a:extLst>
              <a:ext uri="{FF2B5EF4-FFF2-40B4-BE49-F238E27FC236}">
                <a16:creationId xmlns:a16="http://schemas.microsoft.com/office/drawing/2014/main" id="{D3BE70DA-8CE9-4754-AEDA-AFCEB5B6C8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" b="2505"/>
          <a:stretch/>
        </p:blipFill>
        <p:spPr bwMode="auto">
          <a:xfrm>
            <a:off x="3977480" y="2436976"/>
            <a:ext cx="4367213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56146" name="Group 18">
            <a:extLst>
              <a:ext uri="{FF2B5EF4-FFF2-40B4-BE49-F238E27FC236}">
                <a16:creationId xmlns:a16="http://schemas.microsoft.com/office/drawing/2014/main" id="{EEA0CEAD-48C4-4FF8-8580-0DB17CD8AB14}"/>
              </a:ext>
            </a:extLst>
          </p:cNvPr>
          <p:cNvGrpSpPr>
            <a:grpSpLocks/>
          </p:cNvGrpSpPr>
          <p:nvPr/>
        </p:nvGrpSpPr>
        <p:grpSpPr bwMode="auto">
          <a:xfrm>
            <a:off x="-350838" y="733975"/>
            <a:ext cx="8439150" cy="1700213"/>
            <a:chOff x="311" y="602"/>
            <a:chExt cx="5316" cy="1071"/>
          </a:xfrm>
        </p:grpSpPr>
        <p:pic>
          <p:nvPicPr>
            <p:cNvPr id="17418" name="Picture 6">
              <a:extLst>
                <a:ext uri="{FF2B5EF4-FFF2-40B4-BE49-F238E27FC236}">
                  <a16:creationId xmlns:a16="http://schemas.microsoft.com/office/drawing/2014/main" id="{8C846D74-7FEA-413C-9B7A-F7E697B4B1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70" t="15103" r="18019" b="54517"/>
            <a:stretch>
              <a:fillRect/>
            </a:stretch>
          </p:blipFill>
          <p:spPr bwMode="auto">
            <a:xfrm>
              <a:off x="1938" y="648"/>
              <a:ext cx="3476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9" name="Rectangle 7">
              <a:extLst>
                <a:ext uri="{FF2B5EF4-FFF2-40B4-BE49-F238E27FC236}">
                  <a16:creationId xmlns:a16="http://schemas.microsoft.com/office/drawing/2014/main" id="{20896EBD-4A27-493D-9431-6512A91AF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" y="602"/>
              <a:ext cx="8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部分时序图</a:t>
              </a:r>
              <a:r>
                <a:rPr kumimoji="1" lang="zh-CN" altLang="en-US" sz="2400" dirty="0">
                  <a:solidFill>
                    <a:srgbClr val="0066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7420" name="AutoShape 8">
              <a:extLst>
                <a:ext uri="{FF2B5EF4-FFF2-40B4-BE49-F238E27FC236}">
                  <a16:creationId xmlns:a16="http://schemas.microsoft.com/office/drawing/2014/main" id="{5B1B529A-6D1A-4D65-9334-E911EDDE7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204"/>
              <a:ext cx="392" cy="141"/>
            </a:xfrm>
            <a:prstGeom prst="rightArrow">
              <a:avLst>
                <a:gd name="adj1" fmla="val 50000"/>
                <a:gd name="adj2" fmla="val 6950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1" name="Rectangle 11">
              <a:extLst>
                <a:ext uri="{FF2B5EF4-FFF2-40B4-BE49-F238E27FC236}">
                  <a16:creationId xmlns:a16="http://schemas.microsoft.com/office/drawing/2014/main" id="{C37CC47E-C416-4FE6-BB12-E8065F9B6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9" y="619"/>
              <a:ext cx="542" cy="1054"/>
            </a:xfrm>
            <a:prstGeom prst="rect">
              <a:avLst/>
            </a:prstGeom>
            <a:solidFill>
              <a:srgbClr val="CC99FF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2" name="Rectangle 12">
              <a:extLst>
                <a:ext uri="{FF2B5EF4-FFF2-40B4-BE49-F238E27FC236}">
                  <a16:creationId xmlns:a16="http://schemas.microsoft.com/office/drawing/2014/main" id="{9F4D06DE-E699-426A-823A-294B92C47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" y="613"/>
              <a:ext cx="546" cy="1054"/>
            </a:xfrm>
            <a:prstGeom prst="rect">
              <a:avLst/>
            </a:prstGeom>
            <a:solidFill>
              <a:srgbClr val="CC99FF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3" name="Rectangle 15">
              <a:extLst>
                <a:ext uri="{FF2B5EF4-FFF2-40B4-BE49-F238E27FC236}">
                  <a16:creationId xmlns:a16="http://schemas.microsoft.com/office/drawing/2014/main" id="{3DB7D0E9-DBAE-4CF4-A759-9800BA439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" y="655"/>
              <a:ext cx="19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14" name="Rectangle 16">
            <a:extLst>
              <a:ext uri="{FF2B5EF4-FFF2-40B4-BE49-F238E27FC236}">
                <a16:creationId xmlns:a16="http://schemas.microsoft.com/office/drawing/2014/main" id="{5AC01361-E183-40D6-AF27-BDD1617DD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5" y="4494213"/>
            <a:ext cx="441325" cy="190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415" name="Picture 17" descr="P0口结构图">
            <a:extLst>
              <a:ext uri="{FF2B5EF4-FFF2-40B4-BE49-F238E27FC236}">
                <a16:creationId xmlns:a16="http://schemas.microsoft.com/office/drawing/2014/main" id="{DAF65554-3558-4114-854B-4C074948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39" t="18011" r="25986" b="33598"/>
          <a:stretch>
            <a:fillRect/>
          </a:stretch>
        </p:blipFill>
        <p:spPr bwMode="auto">
          <a:xfrm>
            <a:off x="6016625" y="4644802"/>
            <a:ext cx="3127375" cy="205105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6" name="Rectangle 19">
            <a:extLst>
              <a:ext uri="{FF2B5EF4-FFF2-40B4-BE49-F238E27FC236}">
                <a16:creationId xmlns:a16="http://schemas.microsoft.com/office/drawing/2014/main" id="{8C25AA85-0CC6-4C3C-84DB-820FA25FD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7" y="3894694"/>
            <a:ext cx="904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2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地址锁存使能输出</a:t>
            </a:r>
          </a:p>
        </p:txBody>
      </p:sp>
      <p:sp>
        <p:nvSpPr>
          <p:cNvPr id="17417" name="Rectangle 20">
            <a:extLst>
              <a:ext uri="{FF2B5EF4-FFF2-40B4-BE49-F238E27FC236}">
                <a16:creationId xmlns:a16="http://schemas.microsoft.com/office/drawing/2014/main" id="{84E1F32C-8531-43F8-BC3A-93925B1C1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101" y="296510"/>
            <a:ext cx="32864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P0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373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的配合关系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3920699" y="4009209"/>
            <a:ext cx="1086199" cy="144000"/>
          </a:xfrm>
          <a:prstGeom prst="roundRect">
            <a:avLst/>
          </a:prstGeom>
          <a:noFill/>
          <a:ln w="28575"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56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56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56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56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456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56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456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456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456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6137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18917</TotalTime>
  <Words>539</Words>
  <Application>Microsoft Office PowerPoint</Application>
  <PresentationFormat>全屏显示(4:3)</PresentationFormat>
  <Paragraphs>64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等线 Light</vt:lpstr>
      <vt:lpstr>隶书</vt:lpstr>
      <vt:lpstr>宋体</vt:lpstr>
      <vt:lpstr>Arial</vt:lpstr>
      <vt:lpstr>Calibri</vt:lpstr>
      <vt:lpstr>Times New Roman</vt:lpstr>
      <vt:lpstr>Verdana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</dc:title>
  <dc:creator>User</dc:creator>
  <cp:lastModifiedBy>admin</cp:lastModifiedBy>
  <cp:revision>2909</cp:revision>
  <dcterms:created xsi:type="dcterms:W3CDTF">2008-12-23T04:22:10Z</dcterms:created>
  <dcterms:modified xsi:type="dcterms:W3CDTF">2025-05-05T10:59:36Z</dcterms:modified>
</cp:coreProperties>
</file>