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37" r:id="rId2"/>
    <p:sldId id="972" r:id="rId3"/>
    <p:sldId id="413" r:id="rId4"/>
    <p:sldId id="415" r:id="rId5"/>
    <p:sldId id="414" r:id="rId6"/>
    <p:sldId id="419" r:id="rId7"/>
    <p:sldId id="338" r:id="rId8"/>
    <p:sldId id="974" r:id="rId9"/>
    <p:sldId id="417" r:id="rId10"/>
    <p:sldId id="309" r:id="rId11"/>
    <p:sldId id="973" r:id="rId12"/>
    <p:sldId id="399" r:id="rId13"/>
    <p:sldId id="384" r:id="rId14"/>
    <p:sldId id="339" r:id="rId15"/>
    <p:sldId id="382" r:id="rId16"/>
    <p:sldId id="418" r:id="rId17"/>
  </p:sldIdLst>
  <p:sldSz cx="9144000" cy="6858000" type="screen4x3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715"/>
    <a:srgbClr val="0000FF"/>
    <a:srgbClr val="FFCF37"/>
    <a:srgbClr val="FFCC00"/>
    <a:srgbClr val="9900CC"/>
    <a:srgbClr val="000099"/>
    <a:srgbClr val="00FF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6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3EECAC-C670-40E0-9155-2E5E0C01E05C}" type="datetimeFigureOut">
              <a:rPr lang="zh-CN" altLang="en-US"/>
              <a:t>2025/4/5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66FC3CB-85D3-475F-88E9-B86F831D72B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752A1B-6A18-4427-B89A-9B6DFFAD5DE1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4" name="Rectangle 17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5" name="Picture 18" descr="CITBAN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9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7" name="Text Box 20">
            <a:hlinkClick r:id="" action="ppaction://noaction" highlightClick="1"/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1398B97-E5D7-43EB-BA8B-CF89801AAF73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6CC27-541A-4E68-A17B-2660855C8D8F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70B1D-42CD-44B1-B194-193AB885DD44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4FE2D-9F4B-4952-BC69-57CA33B597A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02CD26-C81E-4169-B699-9CE4F46A478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0C01F-F4F7-4278-81A5-9CC73D9E91F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5AF347-A83D-4ACF-B829-C6230AFBD0F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8C16644-4230-45AC-8C97-A1AF9356E31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9D072F-A63E-476B-A3E8-1FDFE133D22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8C992-FA53-4127-832A-3725F534E23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1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25CB56-CCAE-4B77-A06A-27122BCBA9F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 b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400" b="0" smtClean="0"/>
            </a:lvl1pPr>
          </a:lstStyle>
          <a:p>
            <a:pPr>
              <a:defRPr/>
            </a:pPr>
            <a:fld id="{E010547A-9904-47DB-81BA-411AE030BCB2}" type="slidenum">
              <a:rPr lang="zh-CN" altLang="en-US"/>
              <a:t>‹#›</a:t>
            </a:fld>
            <a:endParaRPr lang="en-US" altLang="zh-CN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auto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9" name="Picture 15" descr="CITBANN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0" name="Rectangle 16"/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41" name="Text Box 17"/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" grpId="0" autoUpdateAnimBg="0"/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8906A8-D264-4013-BF95-4A0894DF93B9}" type="slidenum">
              <a:rPr lang="zh-CN" altLang="en-US" sz="1400"/>
              <a:t>1</a:t>
            </a:fld>
            <a:endParaRPr lang="en-US" altLang="zh-CN" sz="1400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1258888" y="1125538"/>
            <a:ext cx="640873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6.3 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定时</a:t>
            </a:r>
            <a:r>
              <a:rPr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计数器的工作方式 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43608" y="2348880"/>
            <a:ext cx="7632700" cy="24622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Font typeface="Webdings" panose="05030102010509060703" pitchFamily="18" charset="2"/>
              <a:buChar char="_"/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ebdings" panose="05030102010509060703" pitchFamily="18" charset="2"/>
              </a:rPr>
              <a:t>四种工作方式的逻辑结构</a:t>
            </a:r>
            <a:endParaRPr lang="en-US" altLang="zh-CN" dirty="0">
              <a:solidFill>
                <a:srgbClr val="99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ebdings" panose="05030102010509060703" pitchFamily="18" charset="2"/>
            </a:endParaRPr>
          </a:p>
          <a:p>
            <a:pPr marL="457200" indent="-457200" eaLnBrk="1" hangingPunct="1">
              <a:spcBef>
                <a:spcPct val="50000"/>
              </a:spcBef>
              <a:buFont typeface="Webdings" panose="05030102010509060703" pitchFamily="18" charset="2"/>
              <a:buChar char="_"/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ebdings" panose="05030102010509060703" pitchFamily="18" charset="2"/>
              </a:rPr>
              <a:t>定时</a:t>
            </a:r>
            <a:r>
              <a:rPr lang="en-US" altLang="zh-CN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ebdings" panose="05030102010509060703" pitchFamily="18" charset="2"/>
              </a:rPr>
              <a:t>/</a:t>
            </a: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ebdings" panose="05030102010509060703" pitchFamily="18" charset="2"/>
              </a:rPr>
              <a:t>计数器四种工作方式的原理、特点</a:t>
            </a:r>
            <a:endParaRPr lang="en-US" altLang="zh-CN" dirty="0">
              <a:solidFill>
                <a:srgbClr val="99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ebdings" panose="05030102010509060703" pitchFamily="18" charset="2"/>
            </a:endParaRPr>
          </a:p>
          <a:p>
            <a:pPr marL="457200" indent="-457200" eaLnBrk="1" hangingPunct="1">
              <a:spcBef>
                <a:spcPct val="50000"/>
              </a:spcBef>
              <a:buFont typeface="Webdings" panose="05030102010509060703" pitchFamily="18" charset="2"/>
              <a:buChar char="_"/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sym typeface="Webdings" panose="05030102010509060703" pitchFamily="18" charset="2"/>
              </a:rPr>
              <a:t>定时时间的计算方法</a:t>
            </a:r>
            <a:endParaRPr lang="en-US" altLang="zh-CN" dirty="0">
              <a:solidFill>
                <a:srgbClr val="99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sym typeface="Webdings" panose="05030102010509060703" pitchFamily="18" charset="2"/>
            </a:endParaRPr>
          </a:p>
          <a:p>
            <a:pPr marL="457200" indent="-457200" eaLnBrk="1" hangingPunct="1">
              <a:spcBef>
                <a:spcPct val="50000"/>
              </a:spcBef>
              <a:buFont typeface="Webdings" panose="05030102010509060703" pitchFamily="18" charset="2"/>
              <a:buChar char="_"/>
              <a:defRPr/>
            </a:pP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EC806FB-9B9D-4D49-AB3E-9810FC709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第</a:t>
            </a:r>
            <a:r>
              <a:rPr lang="en-US" altLang="zh-CN" sz="1600"/>
              <a:t>6</a:t>
            </a:r>
            <a:r>
              <a:rPr lang="zh-CN" altLang="en-US" sz="1600"/>
              <a:t>章单片机的定时器</a:t>
            </a:r>
            <a:r>
              <a:rPr lang="en-US" altLang="zh-CN" sz="1600"/>
              <a:t>/</a:t>
            </a:r>
            <a:r>
              <a:rPr lang="zh-CN" altLang="en-US" sz="1600"/>
              <a:t>计数器</a:t>
            </a:r>
          </a:p>
        </p:txBody>
      </p:sp>
      <p:graphicFrame>
        <p:nvGraphicFramePr>
          <p:cNvPr id="955500" name="Group 108">
            <a:extLst>
              <a:ext uri="{FF2B5EF4-FFF2-40B4-BE49-F238E27FC236}">
                <a16:creationId xmlns:a16="http://schemas.microsoft.com/office/drawing/2014/main" id="{B594A8AA-F80B-4C8A-98DA-668DFEC97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684600"/>
              </p:ext>
            </p:extLst>
          </p:nvPr>
        </p:nvGraphicFramePr>
        <p:xfrm>
          <a:off x="1859756" y="1396549"/>
          <a:ext cx="6240636" cy="1766546"/>
        </p:xfrm>
        <a:graphic>
          <a:graphicData uri="http://schemas.openxmlformats.org/drawingml/2006/table">
            <a:tbl>
              <a:tblPr/>
              <a:tblGrid>
                <a:gridCol w="9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2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81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</a:p>
                  </a:txBody>
                  <a:tcPr marL="78815" marR="78815" marT="39408" marB="394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M0</a:t>
                      </a:r>
                    </a:p>
                  </a:txBody>
                  <a:tcPr marL="78815" marR="78815" marT="39408" marB="39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工作方式</a:t>
                      </a:r>
                    </a:p>
                  </a:txBody>
                  <a:tcPr marL="78815" marR="78815" marT="39408" marB="394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78815" marR="78815" marT="39408" marB="394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09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8815" marR="78815" marT="39408" marB="394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8815" marR="78815" marT="39408" marB="39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00FFFF"/>
                          </a:highligh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78815" marR="78815" marT="39408" marB="394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位自动重装定时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种定时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计数器关系</a:t>
                      </a:r>
                    </a:p>
                  </a:txBody>
                  <a:tcPr marL="78815" marR="78815" marT="39408" marB="39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476" name="Rectangle 74">
            <a:extLst>
              <a:ext uri="{FF2B5EF4-FFF2-40B4-BE49-F238E27FC236}">
                <a16:creationId xmlns:a16="http://schemas.microsoft.com/office/drawing/2014/main" id="{C95A791E-03AE-478B-B484-21122F9CE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1341092"/>
            <a:ext cx="62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2555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2555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25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T0</a:t>
            </a:r>
            <a:endParaRPr lang="zh-CN" altLang="en-US" sz="2400"/>
          </a:p>
        </p:txBody>
      </p:sp>
      <p:sp>
        <p:nvSpPr>
          <p:cNvPr id="955467" name="Text Box 75">
            <a:extLst>
              <a:ext uri="{FF2B5EF4-FFF2-40B4-BE49-F238E27FC236}">
                <a16:creationId xmlns:a16="http://schemas.microsoft.com/office/drawing/2014/main" id="{76A9509A-B57D-4E8C-8B90-A08EEF9D6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7" y="4740499"/>
            <a:ext cx="8202687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</a:rPr>
              <a:t>注意</a:t>
            </a:r>
            <a:r>
              <a:rPr lang="zh-CN" altLang="en-US" sz="2400" dirty="0"/>
              <a:t>：</a:t>
            </a:r>
          </a:p>
          <a:p>
            <a:pPr eaLnBrk="1" hangingPunct="1">
              <a:buFontTx/>
              <a:buNone/>
            </a:pPr>
            <a:r>
              <a:rPr lang="en-US" altLang="zh-CN" sz="2400" dirty="0"/>
              <a:t>T1</a:t>
            </a:r>
            <a:r>
              <a:rPr lang="zh-CN" altLang="en-US" sz="2400" dirty="0"/>
              <a:t>只有</a:t>
            </a:r>
            <a:r>
              <a:rPr lang="en-US" altLang="zh-CN" sz="2400" dirty="0"/>
              <a:t>3</a:t>
            </a:r>
            <a:r>
              <a:rPr lang="zh-CN" altLang="en-US" sz="2400" dirty="0"/>
              <a:t>种工作方式（</a:t>
            </a:r>
            <a:r>
              <a:rPr lang="en-US" altLang="zh-CN" sz="2400" dirty="0"/>
              <a:t>T0</a:t>
            </a:r>
            <a:r>
              <a:rPr lang="zh-CN" altLang="en-US" sz="2400" dirty="0"/>
              <a:t>的方式</a:t>
            </a:r>
            <a:r>
              <a:rPr lang="en-US" altLang="zh-CN" sz="2400" dirty="0"/>
              <a:t>3</a:t>
            </a:r>
            <a:r>
              <a:rPr lang="zh-CN" altLang="en-US" sz="2400" dirty="0"/>
              <a:t>中占用了</a:t>
            </a:r>
            <a:r>
              <a:rPr lang="en-US" altLang="zh-CN" sz="2400" dirty="0"/>
              <a:t>T1</a:t>
            </a:r>
            <a:r>
              <a:rPr lang="zh-CN" altLang="en-US" sz="2400" dirty="0"/>
              <a:t>的部分资源）。</a:t>
            </a:r>
          </a:p>
        </p:txBody>
      </p:sp>
      <p:graphicFrame>
        <p:nvGraphicFramePr>
          <p:cNvPr id="955491" name="Group 99">
            <a:extLst>
              <a:ext uri="{FF2B5EF4-FFF2-40B4-BE49-F238E27FC236}">
                <a16:creationId xmlns:a16="http://schemas.microsoft.com/office/drawing/2014/main" id="{EC8E5226-677F-4B6A-8CA8-241EF133E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642525"/>
              </p:ext>
            </p:extLst>
          </p:nvPr>
        </p:nvGraphicFramePr>
        <p:xfrm>
          <a:off x="1871662" y="3280459"/>
          <a:ext cx="6240635" cy="1376188"/>
        </p:xfrm>
        <a:graphic>
          <a:graphicData uri="http://schemas.openxmlformats.org/drawingml/2006/table">
            <a:tbl>
              <a:tblPr/>
              <a:tblGrid>
                <a:gridCol w="91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14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25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1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</a:p>
                  </a:txBody>
                  <a:tcPr marL="78459" marR="78459" marT="39247" marB="392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M0</a:t>
                      </a:r>
                    </a:p>
                  </a:txBody>
                  <a:tcPr marL="78459" marR="78459" marT="39247" marB="392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工作方式</a:t>
                      </a:r>
                    </a:p>
                  </a:txBody>
                  <a:tcPr marL="78459" marR="78459" marT="39247" marB="392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78459" marR="78459" marT="39247" marB="392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8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8459" marR="78459" marT="39247" marB="392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78459" marR="78459" marT="39247" marB="392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82663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82663" algn="l"/>
                        </a:tabLst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8459" marR="78459" marT="39247" marB="392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122555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225550" algn="l"/>
                        </a:tabLst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位自动重装定时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计数器</a:t>
                      </a:r>
                    </a:p>
                  </a:txBody>
                  <a:tcPr marL="78459" marR="78459" marT="39247" marB="392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495" name="Rectangle 98">
            <a:extLst>
              <a:ext uri="{FF2B5EF4-FFF2-40B4-BE49-F238E27FC236}">
                <a16:creationId xmlns:a16="http://schemas.microsoft.com/office/drawing/2014/main" id="{5EB9FF7A-C942-463E-9254-2E818AFD4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2538" y="317693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25550" algn="l"/>
              </a:tabLs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2555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255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25550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/>
              <a:t>T1</a:t>
            </a:r>
            <a:endParaRPr lang="zh-CN" altLang="en-US" sz="2400" dirty="0"/>
          </a:p>
        </p:txBody>
      </p:sp>
      <p:sp>
        <p:nvSpPr>
          <p:cNvPr id="955492" name="Text Box 100">
            <a:extLst>
              <a:ext uri="{FF2B5EF4-FFF2-40B4-BE49-F238E27FC236}">
                <a16:creationId xmlns:a16="http://schemas.microsoft.com/office/drawing/2014/main" id="{0DF9C3BF-1E5B-4A03-ADB2-9C9DE674C5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7" y="5874469"/>
            <a:ext cx="6778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dirty="0"/>
              <a:t>学习顺序：方式</a:t>
            </a:r>
            <a:r>
              <a:rPr lang="en-US" altLang="zh-CN" sz="2400" dirty="0"/>
              <a:t>1→</a:t>
            </a:r>
            <a:r>
              <a:rPr lang="zh-CN" altLang="en-US" sz="2400" dirty="0"/>
              <a:t>方式</a:t>
            </a:r>
            <a:r>
              <a:rPr lang="en-US" altLang="zh-CN" sz="2400" dirty="0"/>
              <a:t>2 →</a:t>
            </a:r>
            <a:r>
              <a:rPr lang="zh-CN" altLang="en-US" sz="2400" dirty="0"/>
              <a:t>方式</a:t>
            </a:r>
            <a:r>
              <a:rPr lang="en-US" altLang="zh-CN" sz="2400" dirty="0"/>
              <a:t>0 →</a:t>
            </a:r>
            <a:r>
              <a:rPr lang="zh-CN" altLang="en-US" sz="2400" dirty="0"/>
              <a:t>方式</a:t>
            </a:r>
            <a:r>
              <a:rPr lang="en-US" altLang="zh-CN" sz="2400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5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54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BBEF68-22C3-4102-B303-3B23ABC61712}" type="slidenum">
              <a:rPr lang="zh-CN" altLang="en-US" sz="1400"/>
              <a:t>3</a:t>
            </a:fld>
            <a:endParaRPr lang="en-US" altLang="zh-CN" sz="1400"/>
          </a:p>
        </p:txBody>
      </p:sp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827584" y="882502"/>
            <a:ext cx="19367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◆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 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539750" y="1844675"/>
            <a:ext cx="8077200" cy="32421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40000"/>
              </a:spcBef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工作原理：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计数寄存器的位数为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位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，由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寄存器各提供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位计数初值，当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TLx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溢出时，向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THx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进位，而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THx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溢出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(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回零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时向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TFx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标志进位（硬件置位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TFx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），并申请中断。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最大计数值为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=65536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37ABE4-C90A-424A-B204-F0A543DF6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141" y="960810"/>
            <a:ext cx="53527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16</a:t>
            </a:r>
            <a:r>
              <a:rPr lang="zh-CN" altLang="en-US" sz="2400" dirty="0"/>
              <a:t>位定时</a:t>
            </a:r>
            <a:r>
              <a:rPr lang="en-US" altLang="zh-CN" sz="2400" dirty="0"/>
              <a:t>/</a:t>
            </a:r>
            <a:r>
              <a:rPr lang="zh-CN" altLang="en-US" sz="2400" dirty="0"/>
              <a:t>计数器（</a:t>
            </a:r>
            <a:r>
              <a:rPr lang="en-US" altLang="zh-CN" sz="2400" dirty="0"/>
              <a:t>n=16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THx+TLx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65C4F2-040F-4976-9BF2-D48A7CFB4F4B}" type="slidenum">
              <a:rPr lang="zh-CN" altLang="en-US" sz="1400"/>
              <a:t>4</a:t>
            </a:fld>
            <a:endParaRPr lang="en-US" altLang="zh-CN" sz="140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66688" y="603250"/>
          <a:ext cx="8709025" cy="524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r:id="rId3" imgW="3640455" imgH="1498600" progId="Visio.Drawing.11">
                  <p:embed/>
                </p:oleObj>
              </mc:Choice>
              <mc:Fallback>
                <p:oleObj r:id="rId3" imgW="3640455" imgH="1498600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603250"/>
                        <a:ext cx="8709025" cy="52419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B0F0"/>
                          </a:gs>
                          <a:gs pos="48000">
                            <a:srgbClr val="FFFF00"/>
                          </a:gs>
                          <a:gs pos="100000">
                            <a:srgbClr val="92D050"/>
                          </a:gs>
                        </a:gsLst>
                        <a:lin ang="16200000" scaled="1"/>
                      </a:gradFill>
                      <a:ln w="1270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716016" y="155679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计数器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932040" y="3300873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定时器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273414" y="6030675"/>
            <a:ext cx="266130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逻辑结构图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1043608" y="404664"/>
            <a:ext cx="1122376" cy="5626011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578400" y="418395"/>
            <a:ext cx="1122376" cy="5626011"/>
          </a:xfrm>
          <a:prstGeom prst="rect">
            <a:avLst/>
          </a:prstGeom>
          <a:noFill/>
          <a:ln w="44450" cap="flat" cmpd="sng" algn="ctr">
            <a:solidFill>
              <a:srgbClr val="FF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AF20D0-847A-4DFA-9AB8-42B978FE88A1}" type="slidenum">
              <a:rPr lang="zh-CN" altLang="en-US" sz="1400"/>
              <a:t>5</a:t>
            </a:fld>
            <a:endParaRPr lang="en-US" altLang="zh-CN" sz="14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14338"/>
            <a:ext cx="7570787" cy="1143000"/>
          </a:xfrm>
        </p:spPr>
        <p:txBody>
          <a:bodyPr/>
          <a:lstStyle/>
          <a:p>
            <a:pPr eaLnBrk="1" hangingPunct="1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计数器方式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TW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7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2133600"/>
            <a:ext cx="8713788" cy="2049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653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96CC27-541A-4E68-A17B-2660855C8D8F}" type="slidenum">
              <a:rPr lang="zh-CN" altLang="en-US" smtClean="0"/>
              <a:t>6</a:t>
            </a:fld>
            <a:endParaRPr lang="en-US" altLang="zh-CN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85973" y="1196752"/>
            <a:ext cx="7518475" cy="12493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4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1用作定时器时，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定时时间：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4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=(65536</a:t>
            </a:r>
            <a:r>
              <a:rPr lang="en-GB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－</a:t>
            </a:r>
            <a:r>
              <a:rPr lang="en-US" altLang="zh-CN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×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12/</a:t>
            </a:r>
            <a:r>
              <a:rPr lang="zh-CN" altLang="en-US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baseline="-30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osc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4820" y="4089717"/>
            <a:ext cx="7776864" cy="954107"/>
          </a:xfrm>
          <a:prstGeom prst="rect">
            <a:avLst/>
          </a:prstGeom>
          <a:solidFill>
            <a:srgbClr val="FFC715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思考题：已知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fosc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=6MHz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50ms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，则计数初值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C=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74015" y="2729412"/>
            <a:ext cx="7518475" cy="107696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4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为计数初值，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fosc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为晶振频率，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为定时时间。</a:t>
            </a:r>
            <a:endParaRPr lang="zh-CN" altLang="en-US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D83471-CC6E-416A-A06D-85E89388F7F8}" type="slidenum">
              <a:rPr lang="zh-CN" altLang="en-US" sz="1400"/>
              <a:t>7</a:t>
            </a:fld>
            <a:endParaRPr lang="en-US" altLang="zh-CN" sz="1400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697880" y="386117"/>
            <a:ext cx="1943100" cy="577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◆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 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862805" y="963967"/>
            <a:ext cx="7848600" cy="8717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</a:rPr>
              <a:t>位的</a:t>
            </a: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可自动重装载计数初值</a:t>
            </a:r>
            <a:r>
              <a:rPr lang="zh-CN" altLang="en-US" sz="2400" dirty="0">
                <a:latin typeface="Times New Roman" panose="02020603050405020304" pitchFamily="18" charset="0"/>
              </a:rPr>
              <a:t>的定时</a:t>
            </a:r>
            <a:r>
              <a:rPr lang="en-US" altLang="zh-CN" sz="2400" dirty="0">
                <a:latin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</a:rPr>
              <a:t>计数方式，最大计数值为</a:t>
            </a: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Times New Roman" panose="02020603050405020304" pitchFamily="18" charset="0"/>
              </a:rPr>
              <a:t>=256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40964" name="Picture 4" descr="32"/>
          <p:cNvPicPr>
            <a:picLocks noChangeAspect="1" noChangeArrowheads="1"/>
          </p:cNvPicPr>
          <p:nvPr/>
        </p:nvPicPr>
        <p:blipFill>
          <a:blip r:embed="rId2">
            <a:lum bright="-36000" contras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77319" y="1807634"/>
            <a:ext cx="7418388" cy="44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1090959" y="6223531"/>
            <a:ext cx="7304087" cy="5254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定时时间： 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zh-CN" altLang="en-US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=(256</a:t>
            </a:r>
            <a:r>
              <a:rPr lang="en-GB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－</a:t>
            </a:r>
            <a:r>
              <a:rPr lang="en-US" altLang="zh-CN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)×12/</a:t>
            </a:r>
            <a:r>
              <a:rPr lang="zh-CN" altLang="en-US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osc</a:t>
            </a:r>
          </a:p>
        </p:txBody>
      </p:sp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C4913112-3BD4-4542-8BAA-FE9A95795136}"/>
              </a:ext>
            </a:extLst>
          </p:cNvPr>
          <p:cNvSpPr/>
          <p:nvPr/>
        </p:nvSpPr>
        <p:spPr bwMode="auto">
          <a:xfrm>
            <a:off x="5928451" y="1518614"/>
            <a:ext cx="1750070" cy="791294"/>
          </a:xfrm>
          <a:prstGeom prst="wedgeRectCallout">
            <a:avLst>
              <a:gd name="adj1" fmla="val -24461"/>
              <a:gd name="adj2" fmla="val 101019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eaLnBrk="1" hangingPunct="1"/>
            <a:r>
              <a:rPr lang="en-US" altLang="zh-CN" sz="2400" dirty="0" err="1">
                <a:latin typeface="+mn-ea"/>
              </a:rPr>
              <a:t>TLx</a:t>
            </a:r>
            <a:r>
              <a:rPr lang="zh-CN" altLang="en-US" sz="2400" dirty="0">
                <a:latin typeface="+mn-ea"/>
              </a:rPr>
              <a:t>溢出后</a:t>
            </a:r>
            <a:r>
              <a:rPr lang="en-US" altLang="zh-CN" sz="2400" dirty="0">
                <a:latin typeface="+mn-ea"/>
              </a:rPr>
              <a:t>, </a:t>
            </a:r>
            <a:r>
              <a:rPr lang="en-US" altLang="zh-CN" sz="2400" dirty="0" err="1">
                <a:latin typeface="+mn-ea"/>
              </a:rPr>
              <a:t>THx</a:t>
            </a:r>
            <a:r>
              <a:rPr lang="zh-CN" altLang="en-US" sz="2400" dirty="0">
                <a:latin typeface="+mn-ea"/>
              </a:rPr>
              <a:t>→</a:t>
            </a:r>
            <a:r>
              <a:rPr lang="en-US" altLang="zh-CN" sz="2400" dirty="0" err="1">
                <a:latin typeface="+mn-ea"/>
              </a:rPr>
              <a:t>TLx</a:t>
            </a:r>
            <a:endParaRPr lang="zh-CN" altLang="en-US" sz="2400" dirty="0">
              <a:latin typeface="+mn-ea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CA7F484-634C-4AA2-96A5-CD3B1E779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4" y="487505"/>
            <a:ext cx="3153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8</a:t>
            </a:r>
            <a:r>
              <a:rPr lang="zh-CN" altLang="en-US" sz="2400" dirty="0"/>
              <a:t>位定时</a:t>
            </a:r>
            <a:r>
              <a:rPr lang="en-US" altLang="zh-CN" sz="2400" dirty="0"/>
              <a:t>/</a:t>
            </a:r>
            <a:r>
              <a:rPr lang="zh-CN" altLang="en-US" sz="2400" dirty="0"/>
              <a:t>计数器，</a:t>
            </a:r>
            <a:r>
              <a:rPr lang="en-US" altLang="zh-CN" sz="2400" dirty="0" err="1"/>
              <a:t>TLx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6055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bldLvl="0" autoUpdateAnimBg="0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490B297-A631-4849-A119-5F0189F0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AF347-A83D-4ACF-B829-C6230AFBD0FD}" type="slidenum">
              <a:rPr lang="zh-CN" altLang="en-US" smtClean="0"/>
              <a:t>8</a:t>
            </a:fld>
            <a:endParaRPr lang="en-US" altLang="zh-CN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1111195-1BB7-44A2-AFCE-40FC3D84C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46" y="1268760"/>
            <a:ext cx="7705725" cy="44376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工作原理：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位定时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计数方式，由</a:t>
            </a:r>
            <a:r>
              <a:rPr lang="en-US" altLang="zh-CN" sz="2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TLx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提供相同的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位计数初值。每当计数器</a:t>
            </a:r>
            <a:r>
              <a:rPr lang="en-US" altLang="zh-CN" sz="2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TLx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计满回零时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一方面向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发出溢出中断请求，另一方面从</a:t>
            </a:r>
            <a:r>
              <a:rPr lang="en-US" altLang="zh-CN" sz="2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中重新获得初值并启动计数。</a:t>
            </a:r>
            <a:endParaRPr lang="en-US" altLang="zh-CN" sz="2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即：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自动将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TH1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TH0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）中存放的初值重新装回到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TL1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TL0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），并在此初值的基础上对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TL1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en-US" altLang="zh-CN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TL0</a:t>
            </a:r>
            <a:r>
              <a:rPr lang="zh-CN" altLang="en-US" sz="2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）开始新一轮计数，周而复始，直到下一个停止计数或更改工作方式命令为止。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75315C3-15E1-4E72-9283-97F39124B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46" y="590756"/>
            <a:ext cx="1943100" cy="577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◆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 </a:t>
            </a:r>
          </a:p>
        </p:txBody>
      </p:sp>
    </p:spTree>
    <p:extLst>
      <p:ext uri="{BB962C8B-B14F-4D97-AF65-F5344CB8AC3E}">
        <p14:creationId xmlns:p14="http://schemas.microsoft.com/office/powerpoint/2010/main" val="237510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2F51B5-B519-4E2F-96B3-6CA01B981EDA}" type="slidenum">
              <a:rPr lang="zh-CN" altLang="en-US" sz="1400" b="0"/>
              <a:t>9</a:t>
            </a:fld>
            <a:endParaRPr lang="en-US" altLang="zh-CN" sz="1400" b="0"/>
          </a:p>
        </p:txBody>
      </p:sp>
      <p:pic>
        <p:nvPicPr>
          <p:cNvPr id="32771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865188"/>
            <a:ext cx="2376487" cy="4724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5438" y="1772816"/>
            <a:ext cx="4324994" cy="1030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图片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3429000"/>
            <a:ext cx="4329757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827584" y="5589240"/>
            <a:ext cx="7776864" cy="954107"/>
          </a:xfrm>
          <a:prstGeom prst="rect">
            <a:avLst/>
          </a:prstGeom>
          <a:solidFill>
            <a:srgbClr val="FFC715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思考题：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已知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fosc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=6MHz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500us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，则计数初值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C=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1E5901-B568-4C8D-95D8-82996CCC8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80" y="386117"/>
            <a:ext cx="1943100" cy="5778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◆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2 </a:t>
            </a:r>
          </a:p>
        </p:txBody>
      </p:sp>
    </p:spTree>
    <p:extLst>
      <p:ext uri="{BB962C8B-B14F-4D97-AF65-F5344CB8AC3E}">
        <p14:creationId xmlns:p14="http://schemas.microsoft.com/office/powerpoint/2010/main" val="376513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341BF9-CAF9-4F05-8F76-7B157F3B8DF6}" type="slidenum">
              <a:rPr lang="zh-CN" altLang="en-US" sz="1400"/>
              <a:t>10</a:t>
            </a:fld>
            <a:endParaRPr lang="en-US" altLang="zh-CN" sz="1400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755650" y="355600"/>
            <a:ext cx="19367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solidFill>
                  <a:srgbClr val="0000FF"/>
                </a:solidFill>
              </a:rPr>
              <a:t>◆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 </a:t>
            </a:r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 rotWithShape="1">
          <a:blip r:embed="rId2">
            <a:lum bright="-24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67"/>
          <a:stretch>
            <a:fillRect/>
          </a:stretch>
        </p:blipFill>
        <p:spPr bwMode="auto">
          <a:xfrm>
            <a:off x="539750" y="1303080"/>
            <a:ext cx="8064500" cy="43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8917" name="Group 5"/>
          <p:cNvGrpSpPr/>
          <p:nvPr/>
        </p:nvGrpSpPr>
        <p:grpSpPr bwMode="auto">
          <a:xfrm>
            <a:off x="1849742" y="1012172"/>
            <a:ext cx="3533775" cy="1852613"/>
            <a:chOff x="0" y="0"/>
            <a:chExt cx="2226" cy="1167"/>
          </a:xfrm>
        </p:grpSpPr>
        <p:sp>
          <p:nvSpPr>
            <p:cNvPr id="28701" name="Oval 6"/>
            <p:cNvSpPr>
              <a:spLocks noChangeArrowheads="1"/>
            </p:cNvSpPr>
            <p:nvPr/>
          </p:nvSpPr>
          <p:spPr bwMode="auto">
            <a:xfrm>
              <a:off x="0" y="849"/>
              <a:ext cx="726" cy="31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/>
            </a:p>
          </p:txBody>
        </p:sp>
        <p:sp>
          <p:nvSpPr>
            <p:cNvPr id="28702" name="AutoShape 7"/>
            <p:cNvSpPr>
              <a:spLocks noChangeArrowheads="1"/>
            </p:cNvSpPr>
            <p:nvPr/>
          </p:nvSpPr>
          <p:spPr bwMode="auto">
            <a:xfrm>
              <a:off x="502" y="0"/>
              <a:ext cx="1724" cy="817"/>
            </a:xfrm>
            <a:prstGeom prst="wedgeRectCallout">
              <a:avLst>
                <a:gd name="adj1" fmla="val -44259"/>
                <a:gd name="adj2" fmla="val 69949"/>
              </a:avLst>
            </a:prstGeom>
            <a:solidFill>
              <a:schemeClr val="folHlink"/>
            </a:solidFill>
            <a:ln w="1905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宋体" panose="02010600030101010101" pitchFamily="2" charset="-122"/>
                </a:rPr>
                <a:t>定时器方式：以振荡源的</a:t>
              </a:r>
              <a:r>
                <a:rPr lang="en-US" altLang="zh-CN" sz="2400">
                  <a:solidFill>
                    <a:schemeClr val="bg1"/>
                  </a:solidFill>
                  <a:latin typeface="宋体" panose="02010600030101010101" pitchFamily="2" charset="-122"/>
                </a:rPr>
                <a:t>12</a:t>
              </a:r>
              <a:r>
                <a:rPr lang="zh-CN" altLang="en-US" sz="2400">
                  <a:solidFill>
                    <a:schemeClr val="bg1"/>
                  </a:solidFill>
                  <a:latin typeface="宋体" panose="02010600030101010101" pitchFamily="2" charset="-122"/>
                </a:rPr>
                <a:t>分频信号作为计数脉冲</a:t>
              </a:r>
            </a:p>
          </p:txBody>
        </p:sp>
      </p:grpSp>
      <p:grpSp>
        <p:nvGrpSpPr>
          <p:cNvPr id="38920" name="Group 8"/>
          <p:cNvGrpSpPr/>
          <p:nvPr/>
        </p:nvGrpSpPr>
        <p:grpSpPr bwMode="auto">
          <a:xfrm>
            <a:off x="1868792" y="1515410"/>
            <a:ext cx="4160837" cy="1800225"/>
            <a:chOff x="-36" y="0"/>
            <a:chExt cx="2621" cy="1134"/>
          </a:xfrm>
        </p:grpSpPr>
        <p:sp>
          <p:nvSpPr>
            <p:cNvPr id="28699" name="AutoShape 9"/>
            <p:cNvSpPr>
              <a:spLocks noChangeArrowheads="1"/>
            </p:cNvSpPr>
            <p:nvPr/>
          </p:nvSpPr>
          <p:spPr bwMode="auto">
            <a:xfrm>
              <a:off x="544" y="0"/>
              <a:ext cx="2041" cy="816"/>
            </a:xfrm>
            <a:prstGeom prst="wedgeRoundRectCallout">
              <a:avLst>
                <a:gd name="adj1" fmla="val -44708"/>
                <a:gd name="adj2" fmla="val 66667"/>
                <a:gd name="adj3" fmla="val 16667"/>
              </a:avLst>
            </a:prstGeom>
            <a:solidFill>
              <a:schemeClr val="folHlink"/>
            </a:solidFill>
            <a:ln w="15875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chemeClr val="bg1"/>
                  </a:solidFill>
                  <a:latin typeface="宋体" panose="02010600030101010101" pitchFamily="2" charset="-122"/>
                </a:rPr>
                <a:t>计数器方式：对外部脉冲输入端</a:t>
              </a:r>
              <a:r>
                <a:rPr lang="en-US" altLang="zh-CN" sz="2400">
                  <a:solidFill>
                    <a:schemeClr val="bg1"/>
                  </a:solidFill>
                  <a:latin typeface="宋体" panose="02010600030101010101" pitchFamily="2" charset="-122"/>
                </a:rPr>
                <a:t>T0</a:t>
              </a:r>
              <a:r>
                <a:rPr lang="zh-CN" altLang="en-US" sz="2400">
                  <a:solidFill>
                    <a:schemeClr val="bg1"/>
                  </a:solidFill>
                  <a:latin typeface="宋体" panose="02010600030101010101" pitchFamily="2" charset="-122"/>
                </a:rPr>
                <a:t>或</a:t>
              </a:r>
              <a:r>
                <a:rPr lang="en-US" altLang="zh-CN" sz="2400">
                  <a:solidFill>
                    <a:schemeClr val="bg1"/>
                  </a:solidFill>
                  <a:latin typeface="宋体" panose="02010600030101010101" pitchFamily="2" charset="-122"/>
                </a:rPr>
                <a:t>T1</a:t>
              </a:r>
              <a:r>
                <a:rPr lang="zh-CN" altLang="en-US" sz="2400">
                  <a:solidFill>
                    <a:schemeClr val="bg1"/>
                  </a:solidFill>
                  <a:latin typeface="宋体" panose="02010600030101010101" pitchFamily="2" charset="-122"/>
                </a:rPr>
                <a:t>输入的脉冲计数</a:t>
              </a:r>
            </a:p>
          </p:txBody>
        </p:sp>
        <p:sp>
          <p:nvSpPr>
            <p:cNvPr id="28700" name="Oval 10"/>
            <p:cNvSpPr>
              <a:spLocks noChangeArrowheads="1"/>
            </p:cNvSpPr>
            <p:nvPr/>
          </p:nvSpPr>
          <p:spPr bwMode="auto">
            <a:xfrm>
              <a:off x="-36" y="817"/>
              <a:ext cx="680" cy="31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/>
            </a:p>
          </p:txBody>
        </p:sp>
      </p:grpSp>
      <p:sp>
        <p:nvSpPr>
          <p:cNvPr id="29" name="Oval 10"/>
          <p:cNvSpPr>
            <a:spLocks noChangeArrowheads="1"/>
          </p:cNvSpPr>
          <p:nvPr/>
        </p:nvSpPr>
        <p:spPr bwMode="auto">
          <a:xfrm>
            <a:off x="4446892" y="2612372"/>
            <a:ext cx="708025" cy="855663"/>
          </a:xfrm>
          <a:prstGeom prst="ellipse">
            <a:avLst/>
          </a:prstGeom>
          <a:noFill/>
          <a:ln w="34925">
            <a:solidFill>
              <a:srgbClr val="99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30" name="Oval 10"/>
          <p:cNvSpPr>
            <a:spLocks noChangeArrowheads="1"/>
          </p:cNvSpPr>
          <p:nvPr/>
        </p:nvSpPr>
        <p:spPr bwMode="auto">
          <a:xfrm>
            <a:off x="5250167" y="2612372"/>
            <a:ext cx="708025" cy="855663"/>
          </a:xfrm>
          <a:prstGeom prst="ellipse">
            <a:avLst/>
          </a:prstGeom>
          <a:noFill/>
          <a:ln w="34925">
            <a:solidFill>
              <a:srgbClr val="99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C69331A5-015A-4ABF-BC3C-DECC24000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3607" y="426662"/>
            <a:ext cx="5772769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solidFill>
                  <a:srgbClr val="CC3300"/>
                </a:solidFill>
              </a:rPr>
              <a:t>13</a:t>
            </a:r>
            <a:r>
              <a:rPr lang="zh-CN" altLang="en-US" sz="2000" kern="0" dirty="0">
                <a:solidFill>
                  <a:srgbClr val="CC3300"/>
                </a:solidFill>
              </a:rPr>
              <a:t>位</a:t>
            </a:r>
            <a:r>
              <a:rPr lang="zh-CN" altLang="en-US" sz="2000" kern="0" dirty="0"/>
              <a:t>的定时</a:t>
            </a:r>
            <a:r>
              <a:rPr lang="en-US" altLang="zh-CN" sz="2000" kern="0" dirty="0"/>
              <a:t>/</a:t>
            </a:r>
            <a:r>
              <a:rPr lang="zh-CN" altLang="en-US" sz="2000" kern="0" dirty="0"/>
              <a:t>计数器（</a:t>
            </a:r>
            <a:r>
              <a:rPr lang="en-US" altLang="zh-CN" sz="2000" kern="0" dirty="0"/>
              <a:t>THx</a:t>
            </a:r>
            <a:r>
              <a:rPr lang="en-US" altLang="zh-CN" sz="1600" kern="0" dirty="0"/>
              <a:t>7-0</a:t>
            </a:r>
            <a:r>
              <a:rPr lang="en-US" altLang="zh-CN" sz="2000" kern="0" dirty="0"/>
              <a:t>+TLx</a:t>
            </a:r>
            <a:r>
              <a:rPr lang="en-US" altLang="zh-CN" sz="1600" kern="0" dirty="0"/>
              <a:t>4-0</a:t>
            </a:r>
            <a:r>
              <a:rPr lang="zh-CN" altLang="en-US" sz="2000" kern="0" dirty="0"/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341BF9-CAF9-4F05-8F76-7B157F3B8DF6}" type="slidenum">
              <a:rPr lang="zh-CN" altLang="en-US" sz="1400"/>
              <a:t>11</a:t>
            </a:fld>
            <a:endParaRPr lang="en-US" altLang="zh-CN" sz="1400"/>
          </a:p>
        </p:txBody>
      </p:sp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727564" y="473730"/>
            <a:ext cx="19367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solidFill>
                  <a:srgbClr val="0000FF"/>
                </a:solidFill>
              </a:rPr>
              <a:t>◆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 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772808" y="1191996"/>
            <a:ext cx="7705725" cy="34258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工作原理：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位定时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计数方式，由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提供高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位、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提供低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位的计数初值，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TLx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的低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位溢出时，向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进位，而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溢出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回零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时向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TFx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标志进位（硬件置位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TFx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），并申请中断。还可以通过查询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TFx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是否置位来判断</a:t>
            </a:r>
            <a:r>
              <a:rPr lang="en-US" altLang="zh-CN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THx</a:t>
            </a:r>
            <a:r>
              <a:rPr lang="zh-CN" alt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是否回零溢出。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3501033" y="4863066"/>
            <a:ext cx="2661306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逻辑结构图</a:t>
            </a:r>
            <a:r>
              <a:rPr lang="en-US" altLang="zh-CN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38940" name="Group 28"/>
          <p:cNvGrpSpPr/>
          <p:nvPr/>
        </p:nvGrpSpPr>
        <p:grpSpPr bwMode="auto">
          <a:xfrm>
            <a:off x="899318" y="4710535"/>
            <a:ext cx="7345363" cy="1368425"/>
            <a:chOff x="476" y="3203"/>
            <a:chExt cx="4627" cy="862"/>
          </a:xfrm>
        </p:grpSpPr>
        <p:sp>
          <p:nvSpPr>
            <p:cNvPr id="28683" name="Rectangle 27"/>
            <p:cNvSpPr>
              <a:spLocks noChangeArrowheads="1"/>
            </p:cNvSpPr>
            <p:nvPr/>
          </p:nvSpPr>
          <p:spPr bwMode="auto">
            <a:xfrm>
              <a:off x="521" y="3249"/>
              <a:ext cx="4582" cy="81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800"/>
            </a:p>
          </p:txBody>
        </p:sp>
        <p:grpSp>
          <p:nvGrpSpPr>
            <p:cNvPr id="28684" name="Group 12"/>
            <p:cNvGrpSpPr/>
            <p:nvPr/>
          </p:nvGrpSpPr>
          <p:grpSpPr bwMode="auto">
            <a:xfrm>
              <a:off x="476" y="3203"/>
              <a:ext cx="4567" cy="839"/>
              <a:chOff x="1384" y="3467"/>
              <a:chExt cx="4159" cy="742"/>
            </a:xfrm>
          </p:grpSpPr>
          <p:sp>
            <p:nvSpPr>
              <p:cNvPr id="28685" name="Text Box 13"/>
              <p:cNvSpPr txBox="1">
                <a:spLocks noChangeArrowheads="1"/>
              </p:cNvSpPr>
              <p:nvPr/>
            </p:nvSpPr>
            <p:spPr bwMode="auto">
              <a:xfrm>
                <a:off x="2780" y="3732"/>
                <a:ext cx="642" cy="223"/>
              </a:xfrm>
              <a:prstGeom prst="rect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TL0</a:t>
                </a:r>
              </a:p>
            </p:txBody>
          </p:sp>
          <p:sp>
            <p:nvSpPr>
              <p:cNvPr id="28686" name="Text Box 14"/>
              <p:cNvSpPr txBox="1">
                <a:spLocks noChangeArrowheads="1"/>
              </p:cNvSpPr>
              <p:nvPr/>
            </p:nvSpPr>
            <p:spPr bwMode="auto">
              <a:xfrm>
                <a:off x="3880" y="3732"/>
                <a:ext cx="891" cy="223"/>
              </a:xfrm>
              <a:prstGeom prst="rect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TH0</a:t>
                </a:r>
              </a:p>
            </p:txBody>
          </p:sp>
          <p:cxnSp>
            <p:nvCxnSpPr>
              <p:cNvPr id="28687" name="AutoShape 15"/>
              <p:cNvCxnSpPr>
                <a:cxnSpLocks noChangeShapeType="1"/>
                <a:stCxn id="28685" idx="3"/>
              </p:cNvCxnSpPr>
              <p:nvPr/>
            </p:nvCxnSpPr>
            <p:spPr bwMode="auto">
              <a:xfrm>
                <a:off x="3422" y="3843"/>
                <a:ext cx="535" cy="345"/>
              </a:xfrm>
              <a:prstGeom prst="bentConnector3">
                <a:avLst>
                  <a:gd name="adj1" fmla="val 50000"/>
                </a:avLst>
              </a:prstGeom>
              <a:noFill/>
              <a:ln w="38100" cap="sq">
                <a:solidFill>
                  <a:srgbClr val="0000FF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8688" name="Text Box 16"/>
              <p:cNvSpPr txBox="1">
                <a:spLocks noChangeArrowheads="1"/>
              </p:cNvSpPr>
              <p:nvPr/>
            </p:nvSpPr>
            <p:spPr bwMode="auto">
              <a:xfrm>
                <a:off x="2708" y="3467"/>
                <a:ext cx="270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8689" name="Text Box 17"/>
              <p:cNvSpPr txBox="1">
                <a:spLocks noChangeArrowheads="1"/>
              </p:cNvSpPr>
              <p:nvPr/>
            </p:nvSpPr>
            <p:spPr bwMode="auto">
              <a:xfrm>
                <a:off x="3299" y="3475"/>
                <a:ext cx="270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8690" name="Text Box 18"/>
              <p:cNvSpPr txBox="1">
                <a:spLocks noChangeArrowheads="1"/>
              </p:cNvSpPr>
              <p:nvPr/>
            </p:nvSpPr>
            <p:spPr bwMode="auto">
              <a:xfrm>
                <a:off x="3827" y="3486"/>
                <a:ext cx="270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8691" name="Text Box 19"/>
              <p:cNvSpPr txBox="1">
                <a:spLocks noChangeArrowheads="1"/>
              </p:cNvSpPr>
              <p:nvPr/>
            </p:nvSpPr>
            <p:spPr bwMode="auto">
              <a:xfrm>
                <a:off x="4630" y="3486"/>
                <a:ext cx="270" cy="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28692" name="Line 20"/>
              <p:cNvSpPr>
                <a:spLocks noChangeShapeType="1"/>
              </p:cNvSpPr>
              <p:nvPr/>
            </p:nvSpPr>
            <p:spPr bwMode="auto">
              <a:xfrm flipV="1">
                <a:off x="3957" y="3953"/>
                <a:ext cx="0" cy="231"/>
              </a:xfrm>
              <a:prstGeom prst="line">
                <a:avLst/>
              </a:prstGeom>
              <a:noFill/>
              <a:ln w="38100" cap="sq">
                <a:solidFill>
                  <a:srgbClr val="0000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3" name="Line 21"/>
              <p:cNvSpPr>
                <a:spLocks noChangeShapeType="1"/>
              </p:cNvSpPr>
              <p:nvPr/>
            </p:nvSpPr>
            <p:spPr bwMode="auto">
              <a:xfrm>
                <a:off x="2064" y="4152"/>
                <a:ext cx="782" cy="0"/>
              </a:xfrm>
              <a:prstGeom prst="line">
                <a:avLst/>
              </a:prstGeom>
              <a:noFill/>
              <a:ln w="38100" cap="sq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4" name="Line 22"/>
              <p:cNvSpPr>
                <a:spLocks noChangeShapeType="1"/>
              </p:cNvSpPr>
              <p:nvPr/>
            </p:nvSpPr>
            <p:spPr bwMode="auto">
              <a:xfrm flipV="1">
                <a:off x="2846" y="3956"/>
                <a:ext cx="0" cy="196"/>
              </a:xfrm>
              <a:prstGeom prst="line">
                <a:avLst/>
              </a:prstGeom>
              <a:noFill/>
              <a:ln w="38100" cap="sq">
                <a:solidFill>
                  <a:srgbClr val="0000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695" name="Text Box 23"/>
              <p:cNvSpPr txBox="1">
                <a:spLocks noChangeArrowheads="1"/>
              </p:cNvSpPr>
              <p:nvPr/>
            </p:nvSpPr>
            <p:spPr bwMode="auto">
              <a:xfrm>
                <a:off x="1384" y="3912"/>
                <a:ext cx="1203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solidFill>
                      <a:srgbClr val="0206BE"/>
                    </a:solidFill>
                    <a:latin typeface="Times New Roman" panose="02020603050405020304" pitchFamily="18" charset="0"/>
                  </a:rPr>
                  <a:t>计数输入信号</a:t>
                </a:r>
              </a:p>
            </p:txBody>
          </p:sp>
          <p:sp>
            <p:nvSpPr>
              <p:cNvPr id="28696" name="Text Box 24"/>
              <p:cNvSpPr txBox="1">
                <a:spLocks noChangeArrowheads="1"/>
              </p:cNvSpPr>
              <p:nvPr/>
            </p:nvSpPr>
            <p:spPr bwMode="auto">
              <a:xfrm>
                <a:off x="3987" y="3954"/>
                <a:ext cx="67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solidFill>
                      <a:srgbClr val="0206BE"/>
                    </a:solidFill>
                    <a:latin typeface="Times New Roman" panose="02020603050405020304" pitchFamily="18" charset="0"/>
                  </a:rPr>
                  <a:t>进位</a:t>
                </a:r>
              </a:p>
            </p:txBody>
          </p:sp>
          <p:sp>
            <p:nvSpPr>
              <p:cNvPr id="28697" name="Text Box 25"/>
              <p:cNvSpPr txBox="1">
                <a:spLocks noChangeArrowheads="1"/>
              </p:cNvSpPr>
              <p:nvPr/>
            </p:nvSpPr>
            <p:spPr bwMode="auto">
              <a:xfrm>
                <a:off x="5028" y="3732"/>
                <a:ext cx="515" cy="223"/>
              </a:xfrm>
              <a:prstGeom prst="rect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000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TF0</a:t>
                </a:r>
              </a:p>
            </p:txBody>
          </p:sp>
          <p:sp>
            <p:nvSpPr>
              <p:cNvPr id="28698" name="Line 26"/>
              <p:cNvSpPr>
                <a:spLocks noChangeShapeType="1"/>
              </p:cNvSpPr>
              <p:nvPr/>
            </p:nvSpPr>
            <p:spPr bwMode="auto">
              <a:xfrm>
                <a:off x="4771" y="3824"/>
                <a:ext cx="257" cy="0"/>
              </a:xfrm>
              <a:prstGeom prst="line">
                <a:avLst/>
              </a:prstGeom>
              <a:noFill/>
              <a:ln w="38100" cap="sq">
                <a:solidFill>
                  <a:srgbClr val="0000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2" name="Rectangle 2">
            <a:extLst>
              <a:ext uri="{FF2B5EF4-FFF2-40B4-BE49-F238E27FC236}">
                <a16:creationId xmlns:a16="http://schemas.microsoft.com/office/drawing/2014/main" id="{C69331A5-015A-4ABF-BC3C-DECC24000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907" y="612818"/>
            <a:ext cx="5416875" cy="47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kern="0" dirty="0">
                <a:solidFill>
                  <a:srgbClr val="CC3300"/>
                </a:solidFill>
              </a:rPr>
              <a:t>13</a:t>
            </a:r>
            <a:r>
              <a:rPr lang="zh-CN" altLang="en-US" sz="2000" kern="0" dirty="0">
                <a:solidFill>
                  <a:srgbClr val="CC3300"/>
                </a:solidFill>
              </a:rPr>
              <a:t>位</a:t>
            </a:r>
            <a:r>
              <a:rPr lang="zh-CN" altLang="en-US" sz="2000" kern="0" dirty="0"/>
              <a:t>的定时</a:t>
            </a:r>
            <a:r>
              <a:rPr lang="en-US" altLang="zh-CN" sz="2000" kern="0" dirty="0"/>
              <a:t>/</a:t>
            </a:r>
            <a:r>
              <a:rPr lang="zh-CN" altLang="en-US" sz="2000" kern="0" dirty="0"/>
              <a:t>计数器（</a:t>
            </a:r>
            <a:r>
              <a:rPr lang="en-US" altLang="zh-CN" sz="2000" kern="0" dirty="0"/>
              <a:t>THx</a:t>
            </a:r>
            <a:r>
              <a:rPr lang="en-US" altLang="zh-CN" sz="1600" kern="0" dirty="0"/>
              <a:t>7-0</a:t>
            </a:r>
            <a:r>
              <a:rPr lang="en-US" altLang="zh-CN" sz="2000" kern="0" dirty="0"/>
              <a:t>+TLx</a:t>
            </a:r>
            <a:r>
              <a:rPr lang="en-US" altLang="zh-CN" sz="1600" kern="0" dirty="0"/>
              <a:t>4-0</a:t>
            </a:r>
            <a:r>
              <a:rPr lang="zh-CN" altLang="en-US" sz="2000" kern="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370939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nimBg="1" autoUpdateAnimBg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8B1052-C841-4D0B-AE02-00DFE878A563}" type="slidenum">
              <a:rPr lang="zh-CN" altLang="en-US" sz="1400"/>
              <a:t>12</a:t>
            </a:fld>
            <a:endParaRPr lang="en-US" altLang="zh-CN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414338"/>
            <a:ext cx="7643812" cy="11430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定时器</a:t>
            </a:r>
            <a:r>
              <a:rPr lang="en-US" altLang="zh-CN" b="1">
                <a:latin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</a:rPr>
              <a:t>计数器方式</a:t>
            </a:r>
            <a:r>
              <a:rPr lang="en-US" altLang="zh-CN" b="1">
                <a:latin typeface="宋体" panose="02010600030101010101" pitchFamily="2" charset="-122"/>
              </a:rPr>
              <a:t>0</a:t>
            </a:r>
            <a:endParaRPr lang="en-US" altLang="zh-TW" b="1">
              <a:latin typeface="宋体" panose="02010600030101010101" pitchFamily="2" charset="-122"/>
            </a:endParaRPr>
          </a:p>
        </p:txBody>
      </p:sp>
      <p:pic>
        <p:nvPicPr>
          <p:cNvPr id="3072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174875"/>
            <a:ext cx="8775700" cy="3409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635375" y="3716338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284663" y="3716338"/>
            <a:ext cx="503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57763" y="3721100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0728" name="矩形 4"/>
          <p:cNvSpPr>
            <a:spLocks noChangeArrowheads="1"/>
          </p:cNvSpPr>
          <p:nvPr/>
        </p:nvSpPr>
        <p:spPr bwMode="auto">
          <a:xfrm>
            <a:off x="6659563" y="138113"/>
            <a:ext cx="2484437" cy="215900"/>
          </a:xfrm>
          <a:prstGeom prst="rect">
            <a:avLst/>
          </a:prstGeom>
          <a:solidFill>
            <a:srgbClr val="FFCF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100"/>
              <a:t>单片机原理及应用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B43B5D-C6BC-484B-AFDC-852CFBB29726}" type="slidenum">
              <a:rPr lang="zh-CN" altLang="en-US" sz="1400"/>
              <a:t>13</a:t>
            </a:fld>
            <a:endParaRPr lang="en-US" altLang="zh-CN" sz="1400"/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684213" y="1844675"/>
            <a:ext cx="7543800" cy="28702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  最大计数值为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M=2</a:t>
            </a:r>
            <a:r>
              <a:rPr lang="zh-CN" altLang="en-US" sz="2800" baseline="3000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=8192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，每次启动计数前均需预置计数初值。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  设定时器初值为</a:t>
            </a:r>
            <a:r>
              <a:rPr lang="en-US" altLang="zh-CN" sz="2800" i="1">
                <a:solidFill>
                  <a:schemeClr val="bg1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，时钟频率为</a:t>
            </a:r>
            <a:r>
              <a:rPr lang="zh-CN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2800" baseline="-30000">
                <a:solidFill>
                  <a:schemeClr val="bg1"/>
                </a:solidFill>
                <a:latin typeface="宋体" panose="02010600030101010101" pitchFamily="2" charset="-122"/>
              </a:rPr>
              <a:t>osc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，则其定时时间</a:t>
            </a:r>
            <a:r>
              <a:rPr lang="zh-CN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为：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  T</a:t>
            </a:r>
            <a:r>
              <a:rPr lang="en-GB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=(</a:t>
            </a:r>
            <a:r>
              <a:rPr lang="en-GB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M</a:t>
            </a:r>
            <a:r>
              <a:rPr lang="en-GB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－</a:t>
            </a:r>
            <a:r>
              <a:rPr lang="en-GB" altLang="zh-CN" sz="2800">
                <a:solidFill>
                  <a:schemeClr val="bg1"/>
                </a:solidFill>
                <a:latin typeface="宋体" panose="02010600030101010101" pitchFamily="2" charset="-122"/>
              </a:rPr>
              <a:t>C</a:t>
            </a:r>
            <a:r>
              <a:rPr lang="en-GB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)×12/</a:t>
            </a:r>
            <a:r>
              <a:rPr lang="en-GB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f</a:t>
            </a:r>
            <a:r>
              <a:rPr lang="en-GB" altLang="en-US" sz="2800" baseline="-30000">
                <a:solidFill>
                  <a:schemeClr val="bg1"/>
                </a:solidFill>
                <a:latin typeface="宋体" panose="02010600030101010101" pitchFamily="2" charset="-122"/>
              </a:rPr>
              <a:t>osc </a:t>
            </a:r>
            <a:r>
              <a:rPr lang="en-GB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= (8192－</a:t>
            </a:r>
            <a:r>
              <a:rPr lang="en-GB" altLang="zh-CN" sz="2800">
                <a:solidFill>
                  <a:schemeClr val="bg1"/>
                </a:solidFill>
                <a:latin typeface="宋体" panose="02010600030101010101" pitchFamily="2" charset="-122"/>
              </a:rPr>
              <a:t>C</a:t>
            </a:r>
            <a:r>
              <a:rPr lang="en-GB" altLang="en-US" sz="2800">
                <a:solidFill>
                  <a:schemeClr val="bg1"/>
                </a:solidFill>
                <a:latin typeface="宋体" panose="02010600030101010101" pitchFamily="2" charset="-122"/>
              </a:rPr>
              <a:t>)×12/</a:t>
            </a:r>
            <a:r>
              <a:rPr lang="en-GB" altLang="en-US" sz="2800" i="1">
                <a:solidFill>
                  <a:schemeClr val="bg1"/>
                </a:solidFill>
                <a:latin typeface="宋体" panose="02010600030101010101" pitchFamily="2" charset="-122"/>
              </a:rPr>
              <a:t>f</a:t>
            </a:r>
            <a:r>
              <a:rPr lang="en-GB" altLang="en-US" sz="2800" baseline="-30000">
                <a:solidFill>
                  <a:schemeClr val="bg1"/>
                </a:solidFill>
                <a:latin typeface="宋体" panose="02010600030101010101" pitchFamily="2" charset="-122"/>
              </a:rPr>
              <a:t>osc</a:t>
            </a:r>
            <a:endParaRPr lang="zh-CN" altLang="en-US" sz="2800" baseline="-3000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971600" y="692696"/>
            <a:ext cx="193675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0000FF"/>
                </a:solidFill>
              </a:rPr>
              <a:t>◆ </a:t>
            </a: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0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67681" y="4999037"/>
            <a:ext cx="7776864" cy="954107"/>
          </a:xfrm>
          <a:prstGeom prst="rect">
            <a:avLst/>
          </a:prstGeom>
          <a:solidFill>
            <a:srgbClr val="FFC715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思考题：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已知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fosc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=6MHz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工作于方式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，定时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500us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，则计数初值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C=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 autoUpdateAnimBg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583ED9-4C9C-4370-9E68-C956658B87A7}" type="slidenum">
              <a:rPr lang="zh-CN" altLang="en-US" sz="1400"/>
              <a:t>14</a:t>
            </a:fld>
            <a:endParaRPr lang="en-US" altLang="zh-CN" sz="1400" dirty="0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1042988" y="1125538"/>
            <a:ext cx="1936750" cy="5794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solidFill>
                  <a:srgbClr val="0000FF"/>
                </a:solidFill>
              </a:rPr>
              <a:t>◆ 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方式</a:t>
            </a: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3 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684213" y="1916113"/>
            <a:ext cx="7920037" cy="476540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只适合于定时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计数器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0(T0)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</a:p>
          <a:p>
            <a:pPr marL="457200" indent="-457200" algn="just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当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工作在方式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时，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TH0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TL0</a:t>
            </a:r>
            <a:r>
              <a:rPr lang="zh-CN" altLang="en-US" sz="2600" dirty="0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成为两个独立的计数器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TL0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可作定时</a:t>
            </a: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计数器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，占用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在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TCON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TMOD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寄存器中的控制位和标志位，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TL0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计满溢出时置位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TF0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；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TH0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只能用作定时器，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占用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T1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的资源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TR1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TF1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TH0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计满溢出时置位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TF1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。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工作于方式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时，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T1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可用于方式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，但不能使用中断方式，只能用查询方式。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56BC24-6FB3-4690-8D86-9F72B597625D}" type="slidenum">
              <a:rPr lang="zh-CN" altLang="en-US" sz="1400"/>
              <a:t>15</a:t>
            </a:fld>
            <a:endParaRPr lang="en-US" altLang="zh-CN" sz="1400"/>
          </a:p>
        </p:txBody>
      </p:sp>
      <p:pic>
        <p:nvPicPr>
          <p:cNvPr id="35843" name="Picture 2" descr="Image4"/>
          <p:cNvPicPr>
            <a:picLocks noChangeAspect="1" noChangeArrowheads="1"/>
          </p:cNvPicPr>
          <p:nvPr/>
        </p:nvPicPr>
        <p:blipFill>
          <a:blip r:embed="rId2">
            <a:lum bright="-36000" contrast="7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" y="476250"/>
            <a:ext cx="77311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900113" y="620713"/>
            <a:ext cx="7632700" cy="3097212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900113" y="3789363"/>
            <a:ext cx="7632700" cy="2292350"/>
          </a:xfrm>
          <a:prstGeom prst="rect">
            <a:avLst/>
          </a:prstGeom>
          <a:noFill/>
          <a:ln w="31750">
            <a:solidFill>
              <a:srgbClr val="0000F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5940425" y="1052513"/>
            <a:ext cx="1944688" cy="936625"/>
          </a:xfrm>
          <a:prstGeom prst="ellipse">
            <a:avLst/>
          </a:prstGeom>
          <a:noFill/>
          <a:ln w="38100">
            <a:solidFill>
              <a:srgbClr val="99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4625975" y="3816350"/>
            <a:ext cx="1943100" cy="936625"/>
          </a:xfrm>
          <a:prstGeom prst="ellipse">
            <a:avLst/>
          </a:prstGeom>
          <a:noFill/>
          <a:ln w="38100">
            <a:solidFill>
              <a:srgbClr val="9900CC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5DF6F7-04CD-4C05-AB9C-073441CA0D79}"/>
              </a:ext>
            </a:extLst>
          </p:cNvPr>
          <p:cNvSpPr txBox="1"/>
          <p:nvPr/>
        </p:nvSpPr>
        <p:spPr>
          <a:xfrm>
            <a:off x="7164288" y="1320770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highlight>
                  <a:srgbClr val="00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TF0</a:t>
            </a:r>
            <a:endParaRPr lang="zh-CN" altLang="en-US" sz="2000" dirty="0">
              <a:highlight>
                <a:srgbClr val="00FF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8F8549-CE75-4CDA-B10D-698F830DD01B}"/>
              </a:ext>
            </a:extLst>
          </p:cNvPr>
          <p:cNvSpPr txBox="1"/>
          <p:nvPr/>
        </p:nvSpPr>
        <p:spPr>
          <a:xfrm>
            <a:off x="5921003" y="4060881"/>
            <a:ext cx="648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highlight>
                  <a:srgbClr val="00FF00"/>
                </a:highligh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TF1</a:t>
            </a:r>
            <a:endParaRPr lang="zh-CN" altLang="en-US" sz="2000" dirty="0">
              <a:highlight>
                <a:srgbClr val="00FF00"/>
              </a:highligh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animBg="1"/>
      <p:bldP spid="44036" grpId="0" animBg="1"/>
      <p:bldP spid="44037" grpId="0" animBg="1"/>
      <p:bldP spid="44038" grpId="0" animBg="1"/>
      <p:bldP spid="2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5AF347-A83D-4ACF-B829-C6230AFBD0FD}" type="slidenum">
              <a:rPr lang="zh-CN" altLang="en-US" smtClean="0"/>
              <a:t>16</a:t>
            </a:fld>
            <a:endParaRPr lang="en-US" altLang="zh-CN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755650" y="1268760"/>
            <a:ext cx="7632700" cy="30845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 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TMOD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中控制位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C/T#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设置定时或计数功能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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位的设置选择四种工作方式，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  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即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hlinkClick r:id="" action="ppaction://noaction"/>
              </a:rPr>
              <a:t>3  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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的工作相同；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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Webdings" panose="05030102010509060703" pitchFamily="18" charset="2"/>
              </a:rPr>
              <a:t>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时，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T/C0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T/C1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的工作不同。 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475048"/>
            <a:ext cx="6552344" cy="1878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699865" y="498912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小 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e43a152-88ca-41fa-9458-076d9e39384d"/>
  <p:tag name="COMMONDATA" val="eyJoZGlkIjoiZDlhNzhkNzI3NzgzMjVmNTVjOTdmNzdiNmViZTJjM2MifQ=="/>
</p:tagLst>
</file>

<file path=ppt/theme/theme1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162</TotalTime>
  <Words>934</Words>
  <Application>Microsoft Office PowerPoint</Application>
  <PresentationFormat>全屏显示(4:3)</PresentationFormat>
  <Paragraphs>124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黑体</vt:lpstr>
      <vt:lpstr>楷体</vt:lpstr>
      <vt:lpstr>楷体_GB2312</vt:lpstr>
      <vt:lpstr>宋体</vt:lpstr>
      <vt:lpstr>微软雅黑</vt:lpstr>
      <vt:lpstr>Arial</vt:lpstr>
      <vt:lpstr>Tahoma</vt:lpstr>
      <vt:lpstr>Times New Roman</vt:lpstr>
      <vt:lpstr>Webdings</vt:lpstr>
      <vt:lpstr>Wingdings</vt:lpstr>
      <vt:lpstr>1_Blends</vt:lpstr>
      <vt:lpstr>Microsoft Visio 2003-2010 绘图</vt:lpstr>
      <vt:lpstr>PowerPoint 演示文稿</vt:lpstr>
      <vt:lpstr>PowerPoint 演示文稿</vt:lpstr>
      <vt:lpstr>PowerPoint 演示文稿</vt:lpstr>
      <vt:lpstr>PowerPoint 演示文稿</vt:lpstr>
      <vt:lpstr>定时器/计数器方式1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定时器/计数器方式0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227</cp:revision>
  <cp:lastPrinted>2411-12-30T00:00:00Z</cp:lastPrinted>
  <dcterms:created xsi:type="dcterms:W3CDTF">2010-01-21T07:14:00Z</dcterms:created>
  <dcterms:modified xsi:type="dcterms:W3CDTF">2025-04-05T08:32:47Z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0A9F73F1482F4F1B88B1000E42D46A66</vt:lpwstr>
  </property>
</Properties>
</file>