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24" r:id="rId2"/>
    <p:sldId id="369" r:id="rId3"/>
    <p:sldId id="333" r:id="rId4"/>
    <p:sldId id="334" r:id="rId5"/>
    <p:sldId id="335" r:id="rId6"/>
    <p:sldId id="381" r:id="rId7"/>
    <p:sldId id="276" r:id="rId8"/>
    <p:sldId id="382" r:id="rId9"/>
    <p:sldId id="350" r:id="rId10"/>
    <p:sldId id="357" r:id="rId11"/>
    <p:sldId id="380" r:id="rId12"/>
    <p:sldId id="379" r:id="rId13"/>
    <p:sldId id="358" r:id="rId14"/>
    <p:sldId id="349" r:id="rId15"/>
    <p:sldId id="383" r:id="rId16"/>
    <p:sldId id="384" r:id="rId17"/>
    <p:sldId id="385" r:id="rId18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FF"/>
    <a:srgbClr val="66FFFF"/>
    <a:srgbClr val="6600CC"/>
    <a:srgbClr val="FF0000"/>
    <a:srgbClr val="FFC91D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 autoAdjust="0"/>
    <p:restoredTop sz="94574" autoAdjust="0"/>
  </p:normalViewPr>
  <p:slideViewPr>
    <p:cSldViewPr>
      <p:cViewPr varScale="1">
        <p:scale>
          <a:sx n="63" d="100"/>
          <a:sy n="63" d="100"/>
        </p:scale>
        <p:origin x="15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1FB1461-366F-4089-8A47-BE45ABDBA0DB}" type="datetimeFigureOut">
              <a:rPr lang="zh-CN" altLang="en-US"/>
              <a:t>2025/4/22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0F9C8D81-62A7-4A02-816E-053129DB066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fld id="{591F46E3-B05F-4252-B43F-97C36B497C9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CITTEXT"/>
          <p:cNvSpPr/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5" name="Picture 4" descr="CITBANN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Text Box 11">
            <a:hlinkClick r:id="" action="ppaction://noaction" highlightClick="1"/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4213" y="765175"/>
            <a:ext cx="7772400" cy="11430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7" descr="CITTEXT"/>
          <p:cNvSpPr/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28" name="Picture 4" descr="CITBAN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8" name="Text Box 16"/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/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/>
          <p:cNvSpPr txBox="1">
            <a:spLocks noChangeArrowheads="1"/>
          </p:cNvSpPr>
          <p:nvPr/>
        </p:nvSpPr>
        <p:spPr bwMode="auto">
          <a:xfrm>
            <a:off x="708993" y="1361140"/>
            <a:ext cx="77041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方式０</a:t>
            </a: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隶书" pitchFamily="49" charset="-122"/>
              </a:rPr>
              <a:t>—</a:t>
            </a: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8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位移位寄存器</a:t>
            </a: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I/O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方式</a:t>
            </a: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　　</a:t>
            </a:r>
          </a:p>
        </p:txBody>
      </p:sp>
      <p:sp>
        <p:nvSpPr>
          <p:cNvPr id="18435" name="WordArt 4"/>
          <p:cNvSpPr>
            <a:spLocks noChangeArrowheads="1" noChangeShapeType="1" noTextEdit="1"/>
          </p:cNvSpPr>
          <p:nvPr/>
        </p:nvSpPr>
        <p:spPr bwMode="auto">
          <a:xfrm>
            <a:off x="1907654" y="605457"/>
            <a:ext cx="5328691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defRPr/>
            </a:pPr>
            <a:r>
              <a:rPr lang="en-US" altLang="zh-CN" sz="3600" kern="10" dirty="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楷体" panose="02010609060101010101" pitchFamily="49" charset="-122"/>
                <a:ea typeface="隶书"/>
              </a:rPr>
              <a:t>7.3 </a:t>
            </a:r>
            <a:r>
              <a:rPr lang="zh-CN" altLang="en-US" sz="3600" kern="10" dirty="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楷体" panose="02010609060101010101" pitchFamily="49" charset="-122"/>
                <a:ea typeface="隶书"/>
              </a:rPr>
              <a:t>串行工作方式</a:t>
            </a:r>
            <a:r>
              <a:rPr lang="en-US" altLang="zh-CN" sz="3600" kern="10" dirty="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楷体" panose="02010609060101010101" pitchFamily="49" charset="-122"/>
                <a:ea typeface="隶书"/>
              </a:rPr>
              <a:t>0</a:t>
            </a:r>
            <a:r>
              <a:rPr lang="zh-CN" altLang="en-US" sz="3600" kern="10" dirty="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楷体" panose="02010609060101010101" pitchFamily="49" charset="-122"/>
                <a:ea typeface="隶书"/>
              </a:rPr>
              <a:t>及其应用</a:t>
            </a: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694085" y="2830353"/>
            <a:ext cx="7848600" cy="159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5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发送时，“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SBUF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（发送）”相当于一个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并入串出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的移位寄存器，由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MCS-51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的内部总线并行接收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位数据，并从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线串行输出。</a:t>
            </a:r>
            <a:endParaRPr lang="zh-CN" altLang="en-US" dirty="0"/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694085" y="4509120"/>
            <a:ext cx="78486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5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接收时，“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SBUF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（接收）”相当于一个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串入并出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的移位寄存器，从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线接收一帧串行数据，并把它并行送入内部总线。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8993" y="2126236"/>
            <a:ext cx="7643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SM0 SM1=00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时为串行口工作于方式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状态。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utoUpdateAnimBg="0"/>
      <p:bldP spid="94213" grpId="0"/>
      <p:bldP spid="94214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367213" y="15875"/>
            <a:ext cx="4668837" cy="22606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1" lang="en-US" altLang="zh-CN" sz="2400">
                <a:latin typeface="Times New Roman" panose="02020603050405020304" pitchFamily="18" charset="0"/>
              </a:rPr>
              <a:t>8</a:t>
            </a:r>
            <a:r>
              <a:rPr kumimoji="1" lang="zh-CN" altLang="en-US" sz="2400">
                <a:latin typeface="Times New Roman" panose="02020603050405020304" pitchFamily="18" charset="0"/>
              </a:rPr>
              <a:t>位数据为一帧，不设起始位和停止位，先发送或接收最低位。 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>
                <a:latin typeface="Times New Roman" panose="02020603050405020304" pitchFamily="18" charset="0"/>
              </a:rPr>
              <a:t>数据传输波特率固定为</a:t>
            </a:r>
            <a:r>
              <a:rPr kumimoji="1" lang="en-US" altLang="zh-CN" sz="2400">
                <a:latin typeface="Times New Roman" panose="02020603050405020304" pitchFamily="18" charset="0"/>
              </a:rPr>
              <a:t>fosc/12</a:t>
            </a: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400">
                <a:latin typeface="Times New Roman" panose="02020603050405020304" pitchFamily="18" charset="0"/>
              </a:rPr>
              <a:t>由</a:t>
            </a:r>
            <a:r>
              <a:rPr kumimoji="1" lang="en-US" altLang="zh-CN" sz="2400">
                <a:latin typeface="Times New Roman" panose="02020603050405020304" pitchFamily="18" charset="0"/>
              </a:rPr>
              <a:t>RXD</a:t>
            </a:r>
            <a:r>
              <a:rPr kumimoji="1" lang="zh-CN" altLang="en-US" sz="2400">
                <a:latin typeface="Times New Roman" panose="02020603050405020304" pitchFamily="18" charset="0"/>
              </a:rPr>
              <a:t>引脚输入或输出</a:t>
            </a:r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数据</a:t>
            </a:r>
            <a:endParaRPr kumimoji="1" lang="zh-CN" altLang="en-US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400">
                <a:latin typeface="Times New Roman" panose="02020603050405020304" pitchFamily="18" charset="0"/>
              </a:rPr>
              <a:t>TXD</a:t>
            </a:r>
            <a:r>
              <a:rPr kumimoji="1" lang="zh-CN" altLang="en-US" sz="2400">
                <a:latin typeface="Times New Roman" panose="02020603050405020304" pitchFamily="18" charset="0"/>
              </a:rPr>
              <a:t>引脚输出</a:t>
            </a:r>
            <a:r>
              <a:rPr kumimoji="1" lang="en-US" altLang="zh-CN" sz="2400">
                <a:latin typeface="Times New Roman" panose="02020603050405020304" pitchFamily="18" charset="0"/>
              </a:rPr>
              <a:t>fosc/12</a:t>
            </a:r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时钟信号</a:t>
            </a:r>
          </a:p>
        </p:txBody>
      </p:sp>
      <p:grpSp>
        <p:nvGrpSpPr>
          <p:cNvPr id="33795" name="组合 30"/>
          <p:cNvGrpSpPr/>
          <p:nvPr/>
        </p:nvGrpSpPr>
        <p:grpSpPr bwMode="auto">
          <a:xfrm>
            <a:off x="107950" y="188913"/>
            <a:ext cx="8928100" cy="6480175"/>
            <a:chOff x="107504" y="188640"/>
            <a:chExt cx="8928992" cy="6480720"/>
          </a:xfrm>
        </p:grpSpPr>
        <p:grpSp>
          <p:nvGrpSpPr>
            <p:cNvPr id="33796" name="Group 37"/>
            <p:cNvGrpSpPr/>
            <p:nvPr/>
          </p:nvGrpSpPr>
          <p:grpSpPr bwMode="auto">
            <a:xfrm>
              <a:off x="107504" y="188640"/>
              <a:ext cx="8928992" cy="6480720"/>
              <a:chOff x="614" y="941"/>
              <a:chExt cx="3914" cy="2139"/>
            </a:xfrm>
          </p:grpSpPr>
          <p:grpSp>
            <p:nvGrpSpPr>
              <p:cNvPr id="33803" name="Group 36"/>
              <p:cNvGrpSpPr/>
              <p:nvPr/>
            </p:nvGrpSpPr>
            <p:grpSpPr bwMode="auto">
              <a:xfrm>
                <a:off x="3349" y="1678"/>
                <a:ext cx="1179" cy="514"/>
                <a:chOff x="3790" y="1803"/>
                <a:chExt cx="1179" cy="514"/>
              </a:xfrm>
            </p:grpSpPr>
            <p:grpSp>
              <p:nvGrpSpPr>
                <p:cNvPr id="33805" name="Group 8"/>
                <p:cNvGrpSpPr/>
                <p:nvPr/>
              </p:nvGrpSpPr>
              <p:grpSpPr bwMode="auto">
                <a:xfrm>
                  <a:off x="3903" y="1803"/>
                  <a:ext cx="963" cy="105"/>
                  <a:chOff x="912" y="3775"/>
                  <a:chExt cx="3369" cy="122"/>
                </a:xfrm>
              </p:grpSpPr>
              <p:grpSp>
                <p:nvGrpSpPr>
                  <p:cNvPr id="33807" name="Group 116"/>
                  <p:cNvGrpSpPr/>
                  <p:nvPr/>
                </p:nvGrpSpPr>
                <p:grpSpPr bwMode="auto">
                  <a:xfrm>
                    <a:off x="912" y="3775"/>
                    <a:ext cx="1394" cy="122"/>
                    <a:chOff x="2460" y="6418"/>
                    <a:chExt cx="2880" cy="310"/>
                  </a:xfrm>
                </p:grpSpPr>
                <p:grpSp>
                  <p:nvGrpSpPr>
                    <p:cNvPr id="33818" name="Group 117"/>
                    <p:cNvGrpSpPr/>
                    <p:nvPr/>
                  </p:nvGrpSpPr>
                  <p:grpSpPr bwMode="auto">
                    <a:xfrm>
                      <a:off x="2460" y="6418"/>
                      <a:ext cx="1440" cy="310"/>
                      <a:chOff x="2660" y="7109"/>
                      <a:chExt cx="1440" cy="310"/>
                    </a:xfrm>
                  </p:grpSpPr>
                  <p:sp>
                    <p:nvSpPr>
                      <p:cNvPr id="33822" name="Freeform 118"/>
                      <p:cNvSpPr/>
                      <p:nvPr/>
                    </p:nvSpPr>
                    <p:spPr bwMode="auto">
                      <a:xfrm flipV="1"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rot="10800000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3" name="Freeform 119"/>
                      <p:cNvSpPr/>
                      <p:nvPr/>
                    </p:nvSpPr>
                    <p:spPr bwMode="auto">
                      <a:xfrm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819" name="Group 120"/>
                    <p:cNvGrpSpPr/>
                    <p:nvPr/>
                  </p:nvGrpSpPr>
                  <p:grpSpPr bwMode="auto">
                    <a:xfrm>
                      <a:off x="3900" y="6418"/>
                      <a:ext cx="1440" cy="310"/>
                      <a:chOff x="2660" y="7109"/>
                      <a:chExt cx="1440" cy="310"/>
                    </a:xfrm>
                  </p:grpSpPr>
                  <p:sp>
                    <p:nvSpPr>
                      <p:cNvPr id="33820" name="Freeform 121"/>
                      <p:cNvSpPr/>
                      <p:nvPr/>
                    </p:nvSpPr>
                    <p:spPr bwMode="auto">
                      <a:xfrm flipV="1"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rot="10800000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21" name="Freeform 122"/>
                      <p:cNvSpPr/>
                      <p:nvPr/>
                    </p:nvSpPr>
                    <p:spPr bwMode="auto">
                      <a:xfrm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33808" name="Group 123"/>
                  <p:cNvGrpSpPr/>
                  <p:nvPr/>
                </p:nvGrpSpPr>
                <p:grpSpPr bwMode="auto">
                  <a:xfrm>
                    <a:off x="2306" y="3775"/>
                    <a:ext cx="1394" cy="122"/>
                    <a:chOff x="2460" y="6418"/>
                    <a:chExt cx="2880" cy="310"/>
                  </a:xfrm>
                </p:grpSpPr>
                <p:grpSp>
                  <p:nvGrpSpPr>
                    <p:cNvPr id="33812" name="Group 124"/>
                    <p:cNvGrpSpPr/>
                    <p:nvPr/>
                  </p:nvGrpSpPr>
                  <p:grpSpPr bwMode="auto">
                    <a:xfrm>
                      <a:off x="2460" y="6418"/>
                      <a:ext cx="1440" cy="310"/>
                      <a:chOff x="2660" y="7109"/>
                      <a:chExt cx="1440" cy="310"/>
                    </a:xfrm>
                  </p:grpSpPr>
                  <p:sp>
                    <p:nvSpPr>
                      <p:cNvPr id="33816" name="Freeform 125"/>
                      <p:cNvSpPr/>
                      <p:nvPr/>
                    </p:nvSpPr>
                    <p:spPr bwMode="auto">
                      <a:xfrm flipV="1"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rot="10800000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7" name="Freeform 126"/>
                      <p:cNvSpPr/>
                      <p:nvPr/>
                    </p:nvSpPr>
                    <p:spPr bwMode="auto">
                      <a:xfrm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33813" name="Group 127"/>
                    <p:cNvGrpSpPr/>
                    <p:nvPr/>
                  </p:nvGrpSpPr>
                  <p:grpSpPr bwMode="auto">
                    <a:xfrm>
                      <a:off x="3900" y="6418"/>
                      <a:ext cx="1440" cy="310"/>
                      <a:chOff x="2660" y="7109"/>
                      <a:chExt cx="1440" cy="310"/>
                    </a:xfrm>
                  </p:grpSpPr>
                  <p:sp>
                    <p:nvSpPr>
                      <p:cNvPr id="33814" name="Freeform 128"/>
                      <p:cNvSpPr/>
                      <p:nvPr/>
                    </p:nvSpPr>
                    <p:spPr bwMode="auto">
                      <a:xfrm flipV="1"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rot="10800000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815" name="Freeform 129"/>
                      <p:cNvSpPr/>
                      <p:nvPr/>
                    </p:nvSpPr>
                    <p:spPr bwMode="auto">
                      <a:xfrm>
                        <a:off x="2660" y="7109"/>
                        <a:ext cx="1440" cy="310"/>
                      </a:xfrm>
                      <a:custGeom>
                        <a:avLst/>
                        <a:gdLst>
                          <a:gd name="T0" fmla="*/ 0 w 1440"/>
                          <a:gd name="T1" fmla="*/ 310 h 310"/>
                          <a:gd name="T2" fmla="*/ 550 w 1440"/>
                          <a:gd name="T3" fmla="*/ 310 h 310"/>
                          <a:gd name="T4" fmla="*/ 720 w 1440"/>
                          <a:gd name="T5" fmla="*/ 0 h 310"/>
                          <a:gd name="T6" fmla="*/ 1260 w 1440"/>
                          <a:gd name="T7" fmla="*/ 0 h 310"/>
                          <a:gd name="T8" fmla="*/ 1440 w 1440"/>
                          <a:gd name="T9" fmla="*/ 310 h 310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440"/>
                          <a:gd name="T16" fmla="*/ 0 h 310"/>
                          <a:gd name="T17" fmla="*/ 1440 w 1440"/>
                          <a:gd name="T18" fmla="*/ 310 h 310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440" h="310">
                            <a:moveTo>
                              <a:pt x="0" y="310"/>
                            </a:moveTo>
                            <a:lnTo>
                              <a:pt x="550" y="310"/>
                            </a:lnTo>
                            <a:lnTo>
                              <a:pt x="720" y="0"/>
                            </a:lnTo>
                            <a:lnTo>
                              <a:pt x="1260" y="0"/>
                            </a:lnTo>
                            <a:lnTo>
                              <a:pt x="1440" y="310"/>
                            </a:lnTo>
                          </a:path>
                        </a:pathLst>
                      </a:custGeom>
                      <a:noFill/>
                      <a:ln w="12700" algn="ctr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33809" name="Group 130"/>
                  <p:cNvGrpSpPr/>
                  <p:nvPr/>
                </p:nvGrpSpPr>
                <p:grpSpPr bwMode="auto">
                  <a:xfrm>
                    <a:off x="3700" y="3775"/>
                    <a:ext cx="581" cy="122"/>
                    <a:chOff x="6640" y="8750"/>
                    <a:chExt cx="1200" cy="310"/>
                  </a:xfrm>
                </p:grpSpPr>
                <p:sp>
                  <p:nvSpPr>
                    <p:cNvPr id="33810" name="Freeform 131"/>
                    <p:cNvSpPr/>
                    <p:nvPr/>
                  </p:nvSpPr>
                  <p:spPr bwMode="auto">
                    <a:xfrm>
                      <a:off x="6640" y="8750"/>
                      <a:ext cx="1200" cy="310"/>
                    </a:xfrm>
                    <a:custGeom>
                      <a:avLst/>
                      <a:gdLst>
                        <a:gd name="T0" fmla="*/ 0 w 1200"/>
                        <a:gd name="T1" fmla="*/ 310 h 310"/>
                        <a:gd name="T2" fmla="*/ 540 w 1200"/>
                        <a:gd name="T3" fmla="*/ 310 h 310"/>
                        <a:gd name="T4" fmla="*/ 720 w 1200"/>
                        <a:gd name="T5" fmla="*/ 0 h 310"/>
                        <a:gd name="T6" fmla="*/ 1200 w 1200"/>
                        <a:gd name="T7" fmla="*/ 0 h 31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200"/>
                        <a:gd name="T13" fmla="*/ 0 h 310"/>
                        <a:gd name="T14" fmla="*/ 1200 w 1200"/>
                        <a:gd name="T15" fmla="*/ 310 h 31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200" h="310">
                          <a:moveTo>
                            <a:pt x="0" y="310"/>
                          </a:moveTo>
                          <a:lnTo>
                            <a:pt x="540" y="310"/>
                          </a:lnTo>
                          <a:lnTo>
                            <a:pt x="720" y="0"/>
                          </a:lnTo>
                          <a:lnTo>
                            <a:pt x="1200" y="0"/>
                          </a:lnTo>
                        </a:path>
                      </a:pathLst>
                    </a:custGeom>
                    <a:noFill/>
                    <a:ln w="12700" algn="ctr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811" name="Freeform 132"/>
                    <p:cNvSpPr/>
                    <p:nvPr/>
                  </p:nvSpPr>
                  <p:spPr bwMode="auto">
                    <a:xfrm flipV="1">
                      <a:off x="6640" y="8750"/>
                      <a:ext cx="1200" cy="310"/>
                    </a:xfrm>
                    <a:custGeom>
                      <a:avLst/>
                      <a:gdLst>
                        <a:gd name="T0" fmla="*/ 0 w 1200"/>
                        <a:gd name="T1" fmla="*/ 310 h 310"/>
                        <a:gd name="T2" fmla="*/ 540 w 1200"/>
                        <a:gd name="T3" fmla="*/ 310 h 310"/>
                        <a:gd name="T4" fmla="*/ 720 w 1200"/>
                        <a:gd name="T5" fmla="*/ 0 h 310"/>
                        <a:gd name="T6" fmla="*/ 1200 w 1200"/>
                        <a:gd name="T7" fmla="*/ 0 h 31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200"/>
                        <a:gd name="T13" fmla="*/ 0 h 310"/>
                        <a:gd name="T14" fmla="*/ 1200 w 1200"/>
                        <a:gd name="T15" fmla="*/ 310 h 31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200" h="310">
                          <a:moveTo>
                            <a:pt x="0" y="310"/>
                          </a:moveTo>
                          <a:lnTo>
                            <a:pt x="540" y="310"/>
                          </a:lnTo>
                          <a:lnTo>
                            <a:pt x="720" y="0"/>
                          </a:lnTo>
                          <a:lnTo>
                            <a:pt x="1200" y="0"/>
                          </a:lnTo>
                        </a:path>
                      </a:pathLst>
                    </a:custGeom>
                    <a:noFill/>
                    <a:ln w="12700" algn="ctr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33806" name="Freeform 192"/>
                <p:cNvSpPr/>
                <p:nvPr/>
              </p:nvSpPr>
              <p:spPr bwMode="auto">
                <a:xfrm>
                  <a:off x="3790" y="2232"/>
                  <a:ext cx="1179" cy="85"/>
                </a:xfrm>
                <a:custGeom>
                  <a:avLst/>
                  <a:gdLst>
                    <a:gd name="T0" fmla="*/ 0 w 6630"/>
                    <a:gd name="T1" fmla="*/ 0 h 315"/>
                    <a:gd name="T2" fmla="*/ 0 w 6630"/>
                    <a:gd name="T3" fmla="*/ 0 h 315"/>
                    <a:gd name="T4" fmla="*/ 0 w 6630"/>
                    <a:gd name="T5" fmla="*/ 23 h 315"/>
                    <a:gd name="T6" fmla="*/ 0 w 6630"/>
                    <a:gd name="T7" fmla="*/ 23 h 315"/>
                    <a:gd name="T8" fmla="*/ 0 w 6630"/>
                    <a:gd name="T9" fmla="*/ 0 h 315"/>
                    <a:gd name="T10" fmla="*/ 0 w 6630"/>
                    <a:gd name="T11" fmla="*/ 0 h 315"/>
                    <a:gd name="T12" fmla="*/ 0 w 6630"/>
                    <a:gd name="T13" fmla="*/ 23 h 315"/>
                    <a:gd name="T14" fmla="*/ 0 w 6630"/>
                    <a:gd name="T15" fmla="*/ 23 h 315"/>
                    <a:gd name="T16" fmla="*/ 0 w 6630"/>
                    <a:gd name="T17" fmla="*/ 0 h 315"/>
                    <a:gd name="T18" fmla="*/ 0 w 6630"/>
                    <a:gd name="T19" fmla="*/ 0 h 315"/>
                    <a:gd name="T20" fmla="*/ 0 w 6630"/>
                    <a:gd name="T21" fmla="*/ 23 h 315"/>
                    <a:gd name="T22" fmla="*/ 0 w 6630"/>
                    <a:gd name="T23" fmla="*/ 23 h 315"/>
                    <a:gd name="T24" fmla="*/ 0 w 6630"/>
                    <a:gd name="T25" fmla="*/ 0 h 315"/>
                    <a:gd name="T26" fmla="*/ 0 w 6630"/>
                    <a:gd name="T27" fmla="*/ 0 h 315"/>
                    <a:gd name="T28" fmla="*/ 0 w 6630"/>
                    <a:gd name="T29" fmla="*/ 23 h 315"/>
                    <a:gd name="T30" fmla="*/ 0 w 6630"/>
                    <a:gd name="T31" fmla="*/ 23 h 315"/>
                    <a:gd name="T32" fmla="*/ 0 w 6630"/>
                    <a:gd name="T33" fmla="*/ 0 h 315"/>
                    <a:gd name="T34" fmla="*/ 0 w 6630"/>
                    <a:gd name="T35" fmla="*/ 0 h 315"/>
                    <a:gd name="T36" fmla="*/ 0 w 6630"/>
                    <a:gd name="T37" fmla="*/ 23 h 315"/>
                    <a:gd name="T38" fmla="*/ 0 w 6630"/>
                    <a:gd name="T39" fmla="*/ 23 h 315"/>
                    <a:gd name="T40" fmla="*/ 0 w 6630"/>
                    <a:gd name="T41" fmla="*/ 0 h 315"/>
                    <a:gd name="T42" fmla="*/ 0 w 6630"/>
                    <a:gd name="T43" fmla="*/ 0 h 315"/>
                    <a:gd name="T44" fmla="*/ 0 w 6630"/>
                    <a:gd name="T45" fmla="*/ 23 h 315"/>
                    <a:gd name="T46" fmla="*/ 0 w 6630"/>
                    <a:gd name="T47" fmla="*/ 23 h 315"/>
                    <a:gd name="T48" fmla="*/ 0 w 6630"/>
                    <a:gd name="T49" fmla="*/ 0 h 315"/>
                    <a:gd name="T50" fmla="*/ 0 w 6630"/>
                    <a:gd name="T51" fmla="*/ 0 h 315"/>
                    <a:gd name="T52" fmla="*/ 0 w 6630"/>
                    <a:gd name="T53" fmla="*/ 23 h 315"/>
                    <a:gd name="T54" fmla="*/ 0 w 6630"/>
                    <a:gd name="T55" fmla="*/ 23 h 315"/>
                    <a:gd name="T56" fmla="*/ 0 w 6630"/>
                    <a:gd name="T57" fmla="*/ 0 h 315"/>
                    <a:gd name="T58" fmla="*/ 0 w 6630"/>
                    <a:gd name="T59" fmla="*/ 0 h 315"/>
                    <a:gd name="T60" fmla="*/ 0 w 6630"/>
                    <a:gd name="T61" fmla="*/ 23 h 315"/>
                    <a:gd name="T62" fmla="*/ 0 w 6630"/>
                    <a:gd name="T63" fmla="*/ 23 h 315"/>
                    <a:gd name="T64" fmla="*/ 0 w 6630"/>
                    <a:gd name="T65" fmla="*/ 23 h 315"/>
                    <a:gd name="T66" fmla="*/ 0 w 6630"/>
                    <a:gd name="T67" fmla="*/ 23 h 315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6630"/>
                    <a:gd name="T103" fmla="*/ 0 h 315"/>
                    <a:gd name="T104" fmla="*/ 6630 w 6630"/>
                    <a:gd name="T105" fmla="*/ 315 h 315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6630" h="315">
                      <a:moveTo>
                        <a:pt x="0" y="0"/>
                      </a:moveTo>
                      <a:lnTo>
                        <a:pt x="705" y="0"/>
                      </a:lnTo>
                      <a:lnTo>
                        <a:pt x="705" y="315"/>
                      </a:lnTo>
                      <a:lnTo>
                        <a:pt x="1035" y="315"/>
                      </a:lnTo>
                      <a:lnTo>
                        <a:pt x="1035" y="0"/>
                      </a:lnTo>
                      <a:lnTo>
                        <a:pt x="1380" y="0"/>
                      </a:lnTo>
                      <a:lnTo>
                        <a:pt x="1380" y="315"/>
                      </a:lnTo>
                      <a:lnTo>
                        <a:pt x="1725" y="315"/>
                      </a:lnTo>
                      <a:lnTo>
                        <a:pt x="1725" y="0"/>
                      </a:lnTo>
                      <a:lnTo>
                        <a:pt x="2070" y="0"/>
                      </a:lnTo>
                      <a:lnTo>
                        <a:pt x="2070" y="315"/>
                      </a:lnTo>
                      <a:lnTo>
                        <a:pt x="2400" y="315"/>
                      </a:lnTo>
                      <a:lnTo>
                        <a:pt x="2400" y="0"/>
                      </a:lnTo>
                      <a:lnTo>
                        <a:pt x="2745" y="0"/>
                      </a:lnTo>
                      <a:lnTo>
                        <a:pt x="2745" y="315"/>
                      </a:lnTo>
                      <a:lnTo>
                        <a:pt x="3090" y="315"/>
                      </a:lnTo>
                      <a:lnTo>
                        <a:pt x="3090" y="0"/>
                      </a:lnTo>
                      <a:lnTo>
                        <a:pt x="3435" y="0"/>
                      </a:lnTo>
                      <a:lnTo>
                        <a:pt x="3435" y="315"/>
                      </a:lnTo>
                      <a:lnTo>
                        <a:pt x="3765" y="315"/>
                      </a:lnTo>
                      <a:lnTo>
                        <a:pt x="3765" y="0"/>
                      </a:lnTo>
                      <a:lnTo>
                        <a:pt x="4110" y="0"/>
                      </a:lnTo>
                      <a:lnTo>
                        <a:pt x="4110" y="315"/>
                      </a:lnTo>
                      <a:lnTo>
                        <a:pt x="4455" y="315"/>
                      </a:lnTo>
                      <a:lnTo>
                        <a:pt x="4455" y="0"/>
                      </a:lnTo>
                      <a:lnTo>
                        <a:pt x="4800" y="0"/>
                      </a:lnTo>
                      <a:lnTo>
                        <a:pt x="4800" y="315"/>
                      </a:lnTo>
                      <a:lnTo>
                        <a:pt x="5130" y="315"/>
                      </a:lnTo>
                      <a:lnTo>
                        <a:pt x="5130" y="0"/>
                      </a:lnTo>
                      <a:lnTo>
                        <a:pt x="5475" y="0"/>
                      </a:lnTo>
                      <a:lnTo>
                        <a:pt x="5475" y="315"/>
                      </a:lnTo>
                      <a:lnTo>
                        <a:pt x="5820" y="315"/>
                      </a:lnTo>
                      <a:lnTo>
                        <a:pt x="5820" y="15"/>
                      </a:lnTo>
                      <a:lnTo>
                        <a:pt x="6630" y="15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pic>
            <p:nvPicPr>
              <p:cNvPr id="33804" name="Picture 33"/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00" t="19527" r="21089" b="20041"/>
              <a:stretch>
                <a:fillRect/>
              </a:stretch>
            </p:blipFill>
            <p:spPr bwMode="auto">
              <a:xfrm>
                <a:off x="614" y="941"/>
                <a:ext cx="2790" cy="21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33797" name="TextBox 24"/>
            <p:cNvSpPr txBox="1">
              <a:spLocks noChangeArrowheads="1"/>
            </p:cNvSpPr>
            <p:nvPr/>
          </p:nvSpPr>
          <p:spPr bwMode="auto">
            <a:xfrm>
              <a:off x="3059832" y="383460"/>
              <a:ext cx="1152128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2000" baseline="-25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发</a:t>
              </a:r>
              <a:r>
                <a:rPr lang="zh-CN" altLang="en-US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空</a:t>
              </a:r>
            </a:p>
          </p:txBody>
        </p:sp>
        <p:sp>
          <p:nvSpPr>
            <p:cNvPr id="33798" name="TextBox 25"/>
            <p:cNvSpPr txBox="1">
              <a:spLocks noChangeArrowheads="1"/>
            </p:cNvSpPr>
            <p:nvPr/>
          </p:nvSpPr>
          <p:spPr bwMode="auto">
            <a:xfrm>
              <a:off x="3059832" y="714276"/>
              <a:ext cx="1008112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2000" baseline="-25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发</a:t>
              </a:r>
              <a:r>
                <a:rPr lang="zh-CN" altLang="en-US" sz="20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满</a:t>
              </a:r>
            </a:p>
          </p:txBody>
        </p:sp>
        <p:sp>
          <p:nvSpPr>
            <p:cNvPr id="33799" name="TextBox 26"/>
            <p:cNvSpPr txBox="1">
              <a:spLocks noChangeArrowheads="1"/>
            </p:cNvSpPr>
            <p:nvPr/>
          </p:nvSpPr>
          <p:spPr bwMode="auto">
            <a:xfrm>
              <a:off x="2555776" y="2413997"/>
              <a:ext cx="1008112" cy="338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2200" baseline="-25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发</a:t>
              </a:r>
            </a:p>
          </p:txBody>
        </p:sp>
        <p:sp>
          <p:nvSpPr>
            <p:cNvPr id="33800" name="TextBox 27"/>
            <p:cNvSpPr txBox="1">
              <a:spLocks noChangeArrowheads="1"/>
            </p:cNvSpPr>
            <p:nvPr/>
          </p:nvSpPr>
          <p:spPr bwMode="auto">
            <a:xfrm>
              <a:off x="2555776" y="3121222"/>
              <a:ext cx="863981" cy="338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2200" baseline="-25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收</a:t>
              </a:r>
              <a:endParaRPr lang="zh-CN" altLang="en-US" sz="2200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01" name="TextBox 28"/>
            <p:cNvSpPr txBox="1">
              <a:spLocks noChangeArrowheads="1"/>
            </p:cNvSpPr>
            <p:nvPr/>
          </p:nvSpPr>
          <p:spPr bwMode="auto">
            <a:xfrm>
              <a:off x="995350" y="5060676"/>
              <a:ext cx="792088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99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1600" baseline="-25000">
                  <a:solidFill>
                    <a:srgbClr val="9900FF"/>
                  </a:solidFill>
                  <a:latin typeface="宋体" panose="02010600030101010101" pitchFamily="2" charset="-122"/>
                </a:rPr>
                <a:t>收</a:t>
              </a:r>
              <a:r>
                <a:rPr lang="zh-CN" altLang="en-US" sz="1600">
                  <a:solidFill>
                    <a:srgbClr val="9900FF"/>
                  </a:solidFill>
                  <a:latin typeface="宋体" panose="02010600030101010101" pitchFamily="2" charset="-122"/>
                </a:rPr>
                <a:t>空</a:t>
              </a:r>
            </a:p>
          </p:txBody>
        </p:sp>
        <p:sp>
          <p:nvSpPr>
            <p:cNvPr id="33802" name="TextBox 29"/>
            <p:cNvSpPr txBox="1">
              <a:spLocks noChangeArrowheads="1"/>
            </p:cNvSpPr>
            <p:nvPr/>
          </p:nvSpPr>
          <p:spPr bwMode="auto">
            <a:xfrm>
              <a:off x="995350" y="4766955"/>
              <a:ext cx="864096" cy="2462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>
                  <a:solidFill>
                    <a:srgbClr val="99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1600" baseline="-25000">
                  <a:solidFill>
                    <a:srgbClr val="9900FF"/>
                  </a:solidFill>
                  <a:latin typeface="宋体" panose="02010600030101010101" pitchFamily="2" charset="-122"/>
                </a:rPr>
                <a:t>收</a:t>
              </a:r>
              <a:r>
                <a:rPr lang="zh-CN" altLang="en-US" sz="1600">
                  <a:solidFill>
                    <a:srgbClr val="9900FF"/>
                  </a:solidFill>
                  <a:latin typeface="宋体" panose="02010600030101010101" pitchFamily="2" charset="-122"/>
                </a:rPr>
                <a:t>满</a:t>
              </a:r>
            </a:p>
          </p:txBody>
        </p: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827088" y="476250"/>
            <a:ext cx="5616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32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发送过程</a:t>
            </a:r>
            <a:r>
              <a:rPr lang="en-US" altLang="zh-CN" sz="32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32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32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5650" y="1196975"/>
            <a:ext cx="7848600" cy="448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发送操作是在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TI=0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下进行的，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通过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执行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mov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sbuf,a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指令给“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SBUF(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发送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)”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送出发送字符后，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线上即可发出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位数据，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TxD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线上发送同步脉冲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（频率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kumimoji="1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fosc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/12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位数据发送完毕后，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由硬件置位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，并向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请求中断。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CPU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响应后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用软件使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清零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，然后再给“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SBUF(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发送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”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送下一个欲发送字符，重复上述过程。</a:t>
            </a:r>
          </a:p>
        </p:txBody>
      </p:sp>
      <p:sp>
        <p:nvSpPr>
          <p:cNvPr id="103431" name="Line 7"/>
          <p:cNvSpPr>
            <a:spLocks noChangeShapeType="1"/>
          </p:cNvSpPr>
          <p:nvPr/>
        </p:nvSpPr>
        <p:spPr bwMode="auto">
          <a:xfrm>
            <a:off x="1619250" y="2636838"/>
            <a:ext cx="6840538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2" name="Line 8"/>
          <p:cNvSpPr>
            <a:spLocks noChangeShapeType="1"/>
          </p:cNvSpPr>
          <p:nvPr/>
        </p:nvSpPr>
        <p:spPr bwMode="auto">
          <a:xfrm>
            <a:off x="827088" y="3141663"/>
            <a:ext cx="3889375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827088" y="476250"/>
            <a:ext cx="5616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接收过程</a:t>
            </a:r>
            <a:r>
              <a:rPr lang="en-US" altLang="zh-CN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zh-CN" altLang="en-US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sz="32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755650" y="1125538"/>
            <a:ext cx="7848798" cy="5049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　　接收过程是在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RI=0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REN=1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条件下启动的。串行数据由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线输入，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线输出同步脉冲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 频率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fosc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/12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接收电路接收到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位数据后，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自动置“１”，发出串行口中断请求。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查询到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RI=1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或响应中断后便可通过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 A, SBUF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把接收到的数据送Ａ。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由软件复位。</a:t>
            </a: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54" name="Line 6"/>
          <p:cNvSpPr>
            <a:spLocks noChangeShapeType="1"/>
          </p:cNvSpPr>
          <p:nvPr/>
        </p:nvSpPr>
        <p:spPr bwMode="auto">
          <a:xfrm>
            <a:off x="5940425" y="3357563"/>
            <a:ext cx="2160588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5" name="Line 7"/>
          <p:cNvSpPr>
            <a:spLocks noChangeShapeType="1"/>
          </p:cNvSpPr>
          <p:nvPr/>
        </p:nvSpPr>
        <p:spPr bwMode="auto">
          <a:xfrm>
            <a:off x="827088" y="4869160"/>
            <a:ext cx="2304752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6" name="Line 8"/>
          <p:cNvSpPr>
            <a:spLocks noChangeShapeType="1"/>
          </p:cNvSpPr>
          <p:nvPr/>
        </p:nvSpPr>
        <p:spPr bwMode="auto">
          <a:xfrm>
            <a:off x="1476375" y="5516563"/>
            <a:ext cx="2160588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7" name="Line 9"/>
          <p:cNvSpPr>
            <a:spLocks noChangeShapeType="1"/>
          </p:cNvSpPr>
          <p:nvPr/>
        </p:nvSpPr>
        <p:spPr bwMode="auto">
          <a:xfrm>
            <a:off x="971600" y="2204864"/>
            <a:ext cx="7416824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58" name="Line 10"/>
          <p:cNvSpPr>
            <a:spLocks noChangeShapeType="1"/>
          </p:cNvSpPr>
          <p:nvPr/>
        </p:nvSpPr>
        <p:spPr bwMode="auto">
          <a:xfrm flipV="1">
            <a:off x="971600" y="2708920"/>
            <a:ext cx="2809875" cy="1587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539552" y="1881716"/>
            <a:ext cx="8136904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经常配合“串入并出”“并入串出”移位寄存器一起使用扩展接口。</a:t>
            </a: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539552" y="2931054"/>
            <a:ext cx="7848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工作时，多用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查询方式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编程：</a:t>
            </a:r>
          </a:p>
          <a:p>
            <a:pPr eaLnBrk="1" hangingPunct="1"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发送：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MOV  SBUF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接收：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JNB  RI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$</a:t>
            </a:r>
          </a:p>
          <a:p>
            <a:pPr eaLnBrk="1" hangingPunct="1"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JNB  TI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$          CLR  RI </a:t>
            </a:r>
          </a:p>
          <a:p>
            <a:pPr eaLnBrk="1" hangingPunct="1"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     CLR  TI             MOV A, SBUF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539551" y="5134037"/>
            <a:ext cx="82809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单片机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复位时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,SCON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已经被清零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缺省值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539552" y="5728229"/>
            <a:ext cx="744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接收前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务必先置位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REN=1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允许接收数据。</a:t>
            </a:r>
          </a:p>
        </p:txBody>
      </p:sp>
      <p:sp>
        <p:nvSpPr>
          <p:cNvPr id="21510" name="Line 7"/>
          <p:cNvSpPr>
            <a:spLocks noChangeShapeType="1"/>
          </p:cNvSpPr>
          <p:nvPr/>
        </p:nvSpPr>
        <p:spPr bwMode="auto">
          <a:xfrm>
            <a:off x="4500365" y="3496204"/>
            <a:ext cx="0" cy="1371600"/>
          </a:xfrm>
          <a:prstGeom prst="line">
            <a:avLst/>
          </a:prstGeom>
          <a:noFill/>
          <a:ln w="31750" cap="sq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0" name="WordArt 8"/>
          <p:cNvSpPr>
            <a:spLocks noChangeArrowheads="1" noChangeShapeType="1" noTextEdit="1"/>
          </p:cNvSpPr>
          <p:nvPr/>
        </p:nvSpPr>
        <p:spPr bwMode="auto">
          <a:xfrm>
            <a:off x="1259483" y="524407"/>
            <a:ext cx="6408737" cy="5762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99CCFF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1" hangingPunct="1">
              <a:defRPr/>
            </a:pP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8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位移位寄存器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I/O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方式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(</a:t>
            </a:r>
            <a:r>
              <a:rPr lang="zh-CN" altLang="en-US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续</a:t>
            </a:r>
            <a:r>
              <a:rPr lang="en-US" altLang="zh-CN" sz="3600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楷体_GB2312"/>
              </a:rPr>
              <a:t>)</a:t>
            </a:r>
            <a:endParaRPr lang="zh-CN" altLang="en-US" sz="3600" kern="10" dirty="0">
              <a:solidFill>
                <a:srgbClr val="0000FF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楷体_GB231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52440" y="3459691"/>
            <a:ext cx="2592387" cy="1692275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SBUF=</a:t>
            </a:r>
            <a:r>
              <a:rPr lang="en-US" altLang="zh-CN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datax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while(TI==0)</a:t>
            </a:r>
          </a:p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;</a:t>
            </a:r>
          </a:p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TI=0;</a:t>
            </a:r>
            <a:endParaRPr lang="zh-CN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4327" y="3459691"/>
            <a:ext cx="2590800" cy="1692275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while(RI==0)</a:t>
            </a:r>
          </a:p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;</a:t>
            </a:r>
          </a:p>
          <a:p>
            <a:pPr eaLnBrk="1" hangingPunct="1"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RI=0;</a:t>
            </a:r>
          </a:p>
          <a:p>
            <a:pPr eaLnBrk="1" hangingPunct="1">
              <a:defRPr/>
            </a:pPr>
            <a:r>
              <a:rPr lang="en-US" altLang="zh-CN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datax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=SBUF;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44026" y="1364986"/>
            <a:ext cx="85584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☞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方式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0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不是用于异步串行通信，而是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用于串并转换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Monotype Sorts" pitchFamily="2" charset="2"/>
              </a:rPr>
              <a:t>。</a:t>
            </a:r>
            <a:endParaRPr kumimoji="1"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/>
      <p:bldP spid="105475" grpId="0"/>
      <p:bldP spid="105477" grpId="0"/>
      <p:bldP spid="105478" grpId="0"/>
      <p:bldP spid="2" grpId="0" animBg="1"/>
      <p:bldP spid="9" grpId="0" animBg="1"/>
      <p:bldP spid="1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443136"/>
          </a:xfrm>
        </p:spPr>
        <p:txBody>
          <a:bodyPr/>
          <a:lstStyle/>
          <a:p>
            <a:pPr algn="l"/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串行口方式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的应用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3400" y="1268760"/>
            <a:ext cx="7992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串行口工作于方式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时，实现串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(74LS164)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(74LS165)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转换。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549474"/>
            <a:ext cx="4104456" cy="318693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718" y="2564904"/>
            <a:ext cx="4446762" cy="316835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78909284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5" name="Rectangle 15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772400" cy="72548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串行口的应用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611188" y="908050"/>
            <a:ext cx="6985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、串行口的初始化编程</a:t>
            </a:r>
          </a:p>
        </p:txBody>
      </p:sp>
      <p:sp>
        <p:nvSpPr>
          <p:cNvPr id="32772" name="Text Box 27"/>
          <p:cNvSpPr txBox="1">
            <a:spLocks noChangeArrowheads="1"/>
          </p:cNvSpPr>
          <p:nvPr/>
        </p:nvSpPr>
        <p:spPr bwMode="auto">
          <a:xfrm>
            <a:off x="755650" y="1341438"/>
            <a:ext cx="7704138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SCON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的确定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根据工作方式确定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。对于方式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还要确定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。如果是接收端，则置允许接收位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；如果是方式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发送数据，则应将发送数据的第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位数据位写入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TB8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中。</a:t>
            </a:r>
          </a:p>
        </p:txBody>
      </p:sp>
      <p:sp>
        <p:nvSpPr>
          <p:cNvPr id="32773" name="Text Box 28"/>
          <p:cNvSpPr txBox="1">
            <a:spLocks noChangeArrowheads="1"/>
          </p:cNvSpPr>
          <p:nvPr/>
        </p:nvSpPr>
        <p:spPr bwMode="auto">
          <a:xfrm>
            <a:off x="827088" y="3573463"/>
            <a:ext cx="7848600" cy="271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）设置波特率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对于方式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，不需对波特率进行设置；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对于方式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，设置波特率仅需对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PCON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中的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SMOD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进行设置；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对于方式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，需对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SMOD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设置，以及定时器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进行设置（方式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249505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665956" y="620688"/>
            <a:ext cx="7812088" cy="5431295"/>
          </a:xfrm>
          <a:prstGeom prst="rect">
            <a:avLst/>
          </a:prstGeom>
          <a:solidFill>
            <a:srgbClr val="66FFFF"/>
          </a:solidFill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defRPr/>
            </a:pP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、关于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SM2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的说明</a:t>
            </a:r>
            <a:endParaRPr lang="en-US" altLang="zh-C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多机通信控制位，主要用于方式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和方式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SM2=0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时，只能进行点对点通信；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SM2=1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时，可以进行多机通信，与通信的第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位数据配合。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，则单机工作，接收一帧数据后，不管第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位（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RB8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）是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，都置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RI=1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，接收到的数据装入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SBUF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中；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，则多机通信，若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RB8=1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，激活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，引起接收中断。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中，如果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SM2=1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时，则只有收到有效停止位才激活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方式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SM2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置为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635446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2804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：将方式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用于扩展并行输出控制流水灯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endParaRPr lang="zh-CN" altLang="zh-CN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2">
            <a:lum bright="-18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350963"/>
            <a:ext cx="8893175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6AF6F23-6241-4C4E-8517-2F4020E23E55}"/>
              </a:ext>
            </a:extLst>
          </p:cNvPr>
          <p:cNvSpPr txBox="1"/>
          <p:nvPr/>
        </p:nvSpPr>
        <p:spPr>
          <a:xfrm>
            <a:off x="2123728" y="6309320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串行口方式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串并转换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44625"/>
            <a:ext cx="377825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47813" y="428625"/>
            <a:ext cx="6408737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关于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74LS164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1913" y="5949950"/>
            <a:ext cx="24479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图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功能图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775" y="6224588"/>
            <a:ext cx="280987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图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引脚及逻辑符号</a:t>
            </a:r>
          </a:p>
        </p:txBody>
      </p:sp>
      <p:sp>
        <p:nvSpPr>
          <p:cNvPr id="5" name="椭圆 4"/>
          <p:cNvSpPr>
            <a:spLocks noChangeArrowheads="1"/>
          </p:cNvSpPr>
          <p:nvPr/>
        </p:nvSpPr>
        <p:spPr bwMode="auto">
          <a:xfrm>
            <a:off x="250825" y="1557338"/>
            <a:ext cx="1081088" cy="1439862"/>
          </a:xfrm>
          <a:prstGeom prst="ellipse">
            <a:avLst/>
          </a:prstGeom>
          <a:noFill/>
          <a:ln w="34925" algn="ctr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7475" y="976313"/>
            <a:ext cx="15128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数据输入端</a:t>
            </a:r>
          </a:p>
        </p:txBody>
      </p:sp>
      <p:sp>
        <p:nvSpPr>
          <p:cNvPr id="10" name="椭圆 9"/>
          <p:cNvSpPr>
            <a:spLocks noChangeArrowheads="1"/>
          </p:cNvSpPr>
          <p:nvPr/>
        </p:nvSpPr>
        <p:spPr bwMode="auto">
          <a:xfrm>
            <a:off x="333375" y="4005263"/>
            <a:ext cx="1081088" cy="576262"/>
          </a:xfrm>
          <a:prstGeom prst="ellipse">
            <a:avLst/>
          </a:prstGeom>
          <a:noFill/>
          <a:ln w="34925" algn="ctr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52400" y="3529013"/>
            <a:ext cx="15113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时钟输入端</a:t>
            </a:r>
          </a:p>
        </p:txBody>
      </p:sp>
      <p:sp>
        <p:nvSpPr>
          <p:cNvPr id="12" name="椭圆 11"/>
          <p:cNvSpPr>
            <a:spLocks noChangeArrowheads="1"/>
          </p:cNvSpPr>
          <p:nvPr/>
        </p:nvSpPr>
        <p:spPr bwMode="auto">
          <a:xfrm>
            <a:off x="295275" y="4868863"/>
            <a:ext cx="1081088" cy="576262"/>
          </a:xfrm>
          <a:prstGeom prst="ellipse">
            <a:avLst/>
          </a:prstGeom>
          <a:noFill/>
          <a:ln w="34925" algn="ctr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9375" y="5492750"/>
            <a:ext cx="15128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清零端</a:t>
            </a:r>
          </a:p>
        </p:txBody>
      </p:sp>
      <p:sp>
        <p:nvSpPr>
          <p:cNvPr id="14" name="椭圆 13"/>
          <p:cNvSpPr>
            <a:spLocks noChangeArrowheads="1"/>
          </p:cNvSpPr>
          <p:nvPr/>
        </p:nvSpPr>
        <p:spPr bwMode="auto">
          <a:xfrm>
            <a:off x="3240088" y="1557338"/>
            <a:ext cx="1079500" cy="3935412"/>
          </a:xfrm>
          <a:prstGeom prst="ellipse">
            <a:avLst/>
          </a:prstGeom>
          <a:noFill/>
          <a:ln w="34925" algn="ctr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106738" y="1204913"/>
            <a:ext cx="15113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数据输出端</a:t>
            </a:r>
          </a:p>
        </p:txBody>
      </p:sp>
      <p:pic>
        <p:nvPicPr>
          <p:cNvPr id="5428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581150"/>
            <a:ext cx="248285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0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67544" y="582612"/>
            <a:ext cx="7993063" cy="5692775"/>
          </a:xfrm>
          <a:prstGeom prst="rect">
            <a:avLst/>
          </a:prstGeom>
          <a:solidFill>
            <a:srgbClr val="FFC91D"/>
          </a:solidFill>
        </p:spPr>
        <p:txBody>
          <a:bodyPr>
            <a:spAutoFit/>
          </a:bodyPr>
          <a:lstStyle/>
          <a:p>
            <a:pPr marL="457200" indent="-457200" algn="just"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74LS164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位边沿触发式移位寄存器，串行输入数据，然后并行输出。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数据通过两个输入端（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DSA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DSB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）之一串行输入；任一输入端可以用作高电平使能端，控制另一输入端的数据输入。两个输入端或者连接在一起，或者把不用的输入端接高电平，一定不要悬空。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时钟 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(CP) 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每次由低变高时，数据右移一位，输入到 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 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Q0 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是两个数据输入端（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DSA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 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DSB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）的逻辑与，它将时钟上升沿之前保持一个建立时间的长度。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清零端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(MR) 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输入端上的一个低电平将使其它所有输入端都无效，非同步地清除寄存器，强制所有的输出为低电平。若为高电平，且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出现上升沿脉冲，则输出端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锁存输入端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的电平。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42" y="548680"/>
            <a:ext cx="8258163" cy="244827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7564" y="3140968"/>
            <a:ext cx="78488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工作原理：</a:t>
            </a:r>
            <a:endParaRPr lang="en-US" altLang="zh-CN" sz="24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buClr>
                <a:schemeClr val="tx1"/>
              </a:buClr>
              <a:buFont typeface="+mj-ea"/>
              <a:buAutoNum type="circleNumDbPlain"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前级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触发器锁存的电平会被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后级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触发器锁存起来。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经过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个时钟脉冲后，最先接收到的数据位将被最高位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触发器锁存，并到达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Q7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其次接收到的数据位将被次高位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触发器锁存，并到达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Q6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端，以此类推。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即：逐位输入的串行数据将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同时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出现在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Q0-Q7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端，从而实现了串行数据转换为并行数据的功能。</a:t>
            </a:r>
          </a:p>
        </p:txBody>
      </p:sp>
      <p:grpSp>
        <p:nvGrpSpPr>
          <p:cNvPr id="4" name="组合 3"/>
          <p:cNvGrpSpPr/>
          <p:nvPr/>
        </p:nvGrpSpPr>
        <p:grpSpPr bwMode="auto">
          <a:xfrm>
            <a:off x="6672204" y="2504281"/>
            <a:ext cx="2501900" cy="1849437"/>
            <a:chOff x="6335712" y="2326530"/>
            <a:chExt cx="2502222" cy="1848718"/>
          </a:xfrm>
        </p:grpSpPr>
        <p:sp>
          <p:nvSpPr>
            <p:cNvPr id="5" name="圆角矩形 7"/>
            <p:cNvSpPr>
              <a:spLocks noChangeArrowheads="1"/>
            </p:cNvSpPr>
            <p:nvPr/>
          </p:nvSpPr>
          <p:spPr bwMode="auto">
            <a:xfrm>
              <a:off x="6335712" y="2326530"/>
              <a:ext cx="2502222" cy="1848718"/>
            </a:xfrm>
            <a:prstGeom prst="roundRect">
              <a:avLst>
                <a:gd name="adj" fmla="val 16667"/>
              </a:avLst>
            </a:prstGeom>
            <a:solidFill>
              <a:srgbClr val="66FFFF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6" name="Group 46"/>
            <p:cNvGrpSpPr/>
            <p:nvPr/>
          </p:nvGrpSpPr>
          <p:grpSpPr bwMode="auto">
            <a:xfrm>
              <a:off x="6563332" y="2420888"/>
              <a:ext cx="2055812" cy="1651000"/>
              <a:chOff x="4465" y="2562"/>
              <a:chExt cx="1295" cy="1040"/>
            </a:xfrm>
          </p:grpSpPr>
          <p:grpSp>
            <p:nvGrpSpPr>
              <p:cNvPr id="7" name="Group 8"/>
              <p:cNvGrpSpPr/>
              <p:nvPr/>
            </p:nvGrpSpPr>
            <p:grpSpPr bwMode="auto">
              <a:xfrm>
                <a:off x="4465" y="2562"/>
                <a:ext cx="1295" cy="765"/>
                <a:chOff x="4430" y="7222"/>
                <a:chExt cx="3932" cy="2231"/>
              </a:xfrm>
            </p:grpSpPr>
            <p:sp>
              <p:nvSpPr>
                <p:cNvPr id="9" name="Line 9"/>
                <p:cNvSpPr>
                  <a:spLocks noChangeShapeType="1"/>
                </p:cNvSpPr>
                <p:nvPr/>
              </p:nvSpPr>
              <p:spPr bwMode="auto">
                <a:xfrm>
                  <a:off x="4529" y="9173"/>
                  <a:ext cx="343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Line 10"/>
                <p:cNvSpPr>
                  <a:spLocks noChangeShapeType="1"/>
                </p:cNvSpPr>
                <p:nvPr/>
              </p:nvSpPr>
              <p:spPr bwMode="auto">
                <a:xfrm flipH="1" flipV="1">
                  <a:off x="4673" y="7222"/>
                  <a:ext cx="14" cy="204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Line 11"/>
                <p:cNvSpPr>
                  <a:spLocks noChangeShapeType="1"/>
                </p:cNvSpPr>
                <p:nvPr/>
              </p:nvSpPr>
              <p:spPr bwMode="auto">
                <a:xfrm>
                  <a:off x="5223" y="7922"/>
                  <a:ext cx="3" cy="12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" name="Line 12"/>
                <p:cNvSpPr>
                  <a:spLocks noChangeShapeType="1"/>
                </p:cNvSpPr>
                <p:nvPr/>
              </p:nvSpPr>
              <p:spPr bwMode="auto">
                <a:xfrm>
                  <a:off x="4678" y="8572"/>
                  <a:ext cx="563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13"/>
                <p:cNvSpPr>
                  <a:spLocks noChangeShapeType="1"/>
                </p:cNvSpPr>
                <p:nvPr/>
              </p:nvSpPr>
              <p:spPr bwMode="auto">
                <a:xfrm>
                  <a:off x="5224" y="8581"/>
                  <a:ext cx="1" cy="35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14"/>
                <p:cNvSpPr>
                  <a:spLocks noChangeShapeType="1"/>
                </p:cNvSpPr>
                <p:nvPr/>
              </p:nvSpPr>
              <p:spPr bwMode="auto">
                <a:xfrm>
                  <a:off x="5241" y="8923"/>
                  <a:ext cx="563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15"/>
                <p:cNvSpPr>
                  <a:spLocks noChangeShapeType="1"/>
                </p:cNvSpPr>
                <p:nvPr/>
              </p:nvSpPr>
              <p:spPr bwMode="auto">
                <a:xfrm>
                  <a:off x="5812" y="8581"/>
                  <a:ext cx="2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16"/>
                <p:cNvSpPr>
                  <a:spLocks noChangeShapeType="1"/>
                </p:cNvSpPr>
                <p:nvPr/>
              </p:nvSpPr>
              <p:spPr bwMode="auto">
                <a:xfrm>
                  <a:off x="5812" y="8581"/>
                  <a:ext cx="1117" cy="3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17"/>
                <p:cNvSpPr>
                  <a:spLocks noChangeShapeType="1"/>
                </p:cNvSpPr>
                <p:nvPr/>
              </p:nvSpPr>
              <p:spPr bwMode="auto">
                <a:xfrm>
                  <a:off x="6937" y="8589"/>
                  <a:ext cx="2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18"/>
                <p:cNvSpPr>
                  <a:spLocks noChangeShapeType="1"/>
                </p:cNvSpPr>
                <p:nvPr/>
              </p:nvSpPr>
              <p:spPr bwMode="auto">
                <a:xfrm>
                  <a:off x="6956" y="8932"/>
                  <a:ext cx="729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" name="Line 19"/>
                <p:cNvSpPr>
                  <a:spLocks noChangeShapeType="1"/>
                </p:cNvSpPr>
                <p:nvPr/>
              </p:nvSpPr>
              <p:spPr bwMode="auto">
                <a:xfrm>
                  <a:off x="4687" y="8405"/>
                  <a:ext cx="923" cy="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Line 20"/>
                <p:cNvSpPr>
                  <a:spLocks noChangeShapeType="1"/>
                </p:cNvSpPr>
                <p:nvPr/>
              </p:nvSpPr>
              <p:spPr bwMode="auto">
                <a:xfrm>
                  <a:off x="5610" y="8053"/>
                  <a:ext cx="2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Line 21"/>
                <p:cNvSpPr>
                  <a:spLocks noChangeShapeType="1"/>
                </p:cNvSpPr>
                <p:nvPr/>
              </p:nvSpPr>
              <p:spPr bwMode="auto">
                <a:xfrm>
                  <a:off x="5609" y="8053"/>
                  <a:ext cx="1117" cy="3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Line 22"/>
                <p:cNvSpPr>
                  <a:spLocks noChangeShapeType="1"/>
                </p:cNvSpPr>
                <p:nvPr/>
              </p:nvSpPr>
              <p:spPr bwMode="auto">
                <a:xfrm>
                  <a:off x="6735" y="8054"/>
                  <a:ext cx="2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" name="Line 23"/>
                <p:cNvSpPr>
                  <a:spLocks noChangeShapeType="1"/>
                </p:cNvSpPr>
                <p:nvPr/>
              </p:nvSpPr>
              <p:spPr bwMode="auto">
                <a:xfrm>
                  <a:off x="6744" y="8405"/>
                  <a:ext cx="923" cy="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Line 24"/>
                <p:cNvSpPr>
                  <a:spLocks noChangeShapeType="1"/>
                </p:cNvSpPr>
                <p:nvPr/>
              </p:nvSpPr>
              <p:spPr bwMode="auto">
                <a:xfrm>
                  <a:off x="4696" y="7877"/>
                  <a:ext cx="544" cy="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Line 25"/>
                <p:cNvSpPr>
                  <a:spLocks noChangeShapeType="1"/>
                </p:cNvSpPr>
                <p:nvPr/>
              </p:nvSpPr>
              <p:spPr bwMode="auto">
                <a:xfrm>
                  <a:off x="5232" y="7526"/>
                  <a:ext cx="3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Line 26"/>
                <p:cNvSpPr>
                  <a:spLocks noChangeShapeType="1"/>
                </p:cNvSpPr>
                <p:nvPr/>
              </p:nvSpPr>
              <p:spPr bwMode="auto">
                <a:xfrm>
                  <a:off x="5232" y="7534"/>
                  <a:ext cx="168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" name="Line 27"/>
                <p:cNvSpPr>
                  <a:spLocks noChangeShapeType="1"/>
                </p:cNvSpPr>
                <p:nvPr/>
              </p:nvSpPr>
              <p:spPr bwMode="auto">
                <a:xfrm>
                  <a:off x="5417" y="7526"/>
                  <a:ext cx="3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" name="Line 28"/>
                <p:cNvSpPr>
                  <a:spLocks noChangeShapeType="1"/>
                </p:cNvSpPr>
                <p:nvPr/>
              </p:nvSpPr>
              <p:spPr bwMode="auto">
                <a:xfrm>
                  <a:off x="5434" y="7868"/>
                  <a:ext cx="361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29"/>
                <p:cNvSpPr>
                  <a:spLocks noChangeShapeType="1"/>
                </p:cNvSpPr>
                <p:nvPr/>
              </p:nvSpPr>
              <p:spPr bwMode="auto">
                <a:xfrm>
                  <a:off x="5795" y="7534"/>
                  <a:ext cx="3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30"/>
                <p:cNvSpPr>
                  <a:spLocks noChangeShapeType="1"/>
                </p:cNvSpPr>
                <p:nvPr/>
              </p:nvSpPr>
              <p:spPr bwMode="auto">
                <a:xfrm>
                  <a:off x="5804" y="7543"/>
                  <a:ext cx="167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31"/>
                <p:cNvSpPr>
                  <a:spLocks noChangeShapeType="1"/>
                </p:cNvSpPr>
                <p:nvPr/>
              </p:nvSpPr>
              <p:spPr bwMode="auto">
                <a:xfrm>
                  <a:off x="5972" y="7534"/>
                  <a:ext cx="3" cy="35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32"/>
                <p:cNvSpPr>
                  <a:spLocks noChangeShapeType="1"/>
                </p:cNvSpPr>
                <p:nvPr/>
              </p:nvSpPr>
              <p:spPr bwMode="auto">
                <a:xfrm>
                  <a:off x="5980" y="7868"/>
                  <a:ext cx="949" cy="3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33"/>
                <p:cNvSpPr>
                  <a:spLocks noChangeShapeType="1"/>
                </p:cNvSpPr>
                <p:nvPr/>
              </p:nvSpPr>
              <p:spPr bwMode="auto">
                <a:xfrm>
                  <a:off x="6912" y="7517"/>
                  <a:ext cx="0" cy="35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34"/>
                <p:cNvSpPr>
                  <a:spLocks noChangeShapeType="1"/>
                </p:cNvSpPr>
                <p:nvPr/>
              </p:nvSpPr>
              <p:spPr bwMode="auto">
                <a:xfrm>
                  <a:off x="6920" y="7526"/>
                  <a:ext cx="167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35"/>
                <p:cNvSpPr>
                  <a:spLocks noChangeShapeType="1"/>
                </p:cNvSpPr>
                <p:nvPr/>
              </p:nvSpPr>
              <p:spPr bwMode="auto">
                <a:xfrm>
                  <a:off x="7088" y="7518"/>
                  <a:ext cx="4" cy="35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36"/>
                <p:cNvSpPr>
                  <a:spLocks noChangeShapeType="1"/>
                </p:cNvSpPr>
                <p:nvPr/>
              </p:nvSpPr>
              <p:spPr bwMode="auto">
                <a:xfrm>
                  <a:off x="7105" y="7859"/>
                  <a:ext cx="492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37"/>
                <p:cNvSpPr>
                  <a:spLocks noChangeShapeType="1"/>
                </p:cNvSpPr>
                <p:nvPr/>
              </p:nvSpPr>
              <p:spPr bwMode="auto">
                <a:xfrm>
                  <a:off x="5803" y="7895"/>
                  <a:ext cx="3" cy="129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38"/>
                <p:cNvSpPr>
                  <a:spLocks noChangeShapeType="1"/>
                </p:cNvSpPr>
                <p:nvPr/>
              </p:nvSpPr>
              <p:spPr bwMode="auto">
                <a:xfrm>
                  <a:off x="6928" y="7877"/>
                  <a:ext cx="3" cy="129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5153" y="9191"/>
                  <a:ext cx="32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MS Gothic" panose="020B0609070205080204" pitchFamily="49" charset="-128"/>
                      <a:ea typeface="MS Gothic" panose="020B0609070205080204" pitchFamily="49" charset="-128"/>
                    </a:rPr>
                    <a:t>t</a:t>
                  </a:r>
                  <a:r>
                    <a:rPr kumimoji="1" lang="en-US" altLang="zh-CN" sz="1000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5725" y="9182"/>
                  <a:ext cx="32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MS Gothic" panose="020B0609070205080204" pitchFamily="49" charset="-128"/>
                      <a:ea typeface="MS Gothic" panose="020B0609070205080204" pitchFamily="49" charset="-128"/>
                    </a:rPr>
                    <a:t>t</a:t>
                  </a:r>
                  <a:r>
                    <a:rPr kumimoji="1" lang="en-US" altLang="zh-CN" sz="1000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6832" y="9173"/>
                  <a:ext cx="32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MS Gothic" panose="020B0609070205080204" pitchFamily="49" charset="-128"/>
                      <a:ea typeface="MS Gothic" panose="020B0609070205080204" pitchFamily="49" charset="-128"/>
                    </a:rPr>
                    <a:t>t</a:t>
                  </a:r>
                  <a:r>
                    <a:rPr kumimoji="1" lang="en-US" altLang="zh-CN" sz="1000">
                      <a:latin typeface="Times New Roman" panose="02020603050405020304" pitchFamily="18" charset="0"/>
                    </a:rPr>
                    <a:t>3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8036" y="9050"/>
                  <a:ext cx="32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MS Gothic" panose="020B0609070205080204" pitchFamily="49" charset="-128"/>
                      <a:ea typeface="MS Gothic" panose="020B0609070205080204" pitchFamily="49" charset="-128"/>
                    </a:rPr>
                    <a:t>t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502" y="8480"/>
                  <a:ext cx="326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宋体" panose="02010600030101010101" pitchFamily="2" charset="-122"/>
                    </a:rPr>
                    <a:t>Q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519" y="7962"/>
                  <a:ext cx="327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宋体" panose="02010600030101010101" pitchFamily="2" charset="-122"/>
                    </a:rPr>
                    <a:t>D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30" y="7443"/>
                  <a:ext cx="327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宋体" panose="02010600030101010101" pitchFamily="2" charset="-122"/>
                    </a:rPr>
                    <a:t>CL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536" y="9173"/>
                  <a:ext cx="328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000">
                      <a:latin typeface="宋体" panose="02010600030101010101" pitchFamily="2" charset="-122"/>
                    </a:rPr>
                    <a:t>0</a:t>
                  </a:r>
                  <a:endParaRPr kumimoji="1" lang="en-US" altLang="zh-CN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" name="Text Box 45"/>
              <p:cNvSpPr txBox="1">
                <a:spLocks noChangeArrowheads="1"/>
              </p:cNvSpPr>
              <p:nvPr/>
            </p:nvSpPr>
            <p:spPr bwMode="auto">
              <a:xfrm>
                <a:off x="4702" y="3371"/>
                <a:ext cx="9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>
                    <a:latin typeface="Times New Roman" panose="02020603050405020304" pitchFamily="18" charset="0"/>
                  </a:rPr>
                  <a:t>     D</a:t>
                </a:r>
                <a:r>
                  <a:rPr kumimoji="1" lang="zh-CN" altLang="en-US" sz="1800">
                    <a:latin typeface="Times New Roman" panose="02020603050405020304" pitchFamily="18" charset="0"/>
                  </a:rPr>
                  <a:t>触发器</a:t>
                </a:r>
              </a:p>
            </p:txBody>
          </p:sp>
        </p:grpSp>
      </p:grp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50" y="620713"/>
            <a:ext cx="7345363" cy="4652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实现方法：</a:t>
            </a:r>
            <a:endParaRPr lang="en-US" altLang="zh-CN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）向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P1.7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送低电平到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74LS164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MR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端，使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Q0-7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全部为“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）向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SBUF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执行写命令，单片机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开始发送数据，从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RXD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送出数据，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TXD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端输出移位脉冲；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3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）数据发送完毕时，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自动置位，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74LS164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Q0-7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端即可输出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位数据。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07950" y="188913"/>
            <a:ext cx="4608513" cy="6555641"/>
          </a:xfrm>
          <a:prstGeom prst="rect">
            <a:avLst/>
          </a:prstGeom>
          <a:solidFill>
            <a:schemeClr val="bg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#include&lt;reg51.h&gt;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#include&lt;</a:t>
            </a:r>
            <a:r>
              <a:rPr lang="en-US" altLang="zh-CN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intrins.h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unsigned char code	b[ ]={0xfe,0xfd,0xfb,0xf7,0xef,0xdf,0xbf,0x7f};</a:t>
            </a:r>
          </a:p>
          <a:p>
            <a:pPr eaLnBrk="1" hangingPunct="1">
              <a:defRPr/>
            </a:pPr>
            <a:r>
              <a:rPr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sbit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P17=P1^7;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delay(void)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unsigned </a:t>
            </a:r>
            <a:r>
              <a:rPr lang="en-US" altLang="zh-CN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m;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for (m=0;m&lt;20000;m++)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;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eaLnBrk="1" hangingPunct="1">
              <a:defRPr/>
            </a:pPr>
            <a:endParaRPr lang="en-US" altLang="zh-CN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4788024" y="192088"/>
            <a:ext cx="4213225" cy="6555641"/>
          </a:xfrm>
          <a:prstGeom prst="rect">
            <a:avLst/>
          </a:prstGeom>
          <a:solidFill>
            <a:schemeClr val="bg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main(void)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unsigned int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SCON=0;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P17=0;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//MR#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nop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_();  _</a:t>
            </a:r>
            <a:r>
              <a:rPr lang="en-US" altLang="zh-CN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nop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_();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P17=1;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//MR#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while(1)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=0;i&lt;8;i++)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SBUF=b[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delay();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while(TI==0)	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TI=0;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}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  <p:sp>
        <p:nvSpPr>
          <p:cNvPr id="56324" name="WordArt 4"/>
          <p:cNvSpPr>
            <a:spLocks noChangeArrowheads="1" noChangeShapeType="1" noTextEdit="1"/>
          </p:cNvSpPr>
          <p:nvPr/>
        </p:nvSpPr>
        <p:spPr bwMode="auto">
          <a:xfrm>
            <a:off x="5076056" y="4509120"/>
            <a:ext cx="883866" cy="37894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25400">
                  <a:solidFill>
                    <a:srgbClr val="0000FF"/>
                  </a:solidFill>
                  <a:round/>
                </a:ln>
                <a:solidFill>
                  <a:schemeClr val="accent2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查询式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78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78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78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nimBg="1"/>
      <p:bldP spid="563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7544" y="453128"/>
            <a:ext cx="82089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：使用串行口工作于方式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，配合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74LS165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，接收外部开关状态，串行口接收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74LS165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输入的数据后控制发送二极管亮灭。即：实现并入串出转换。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167806"/>
            <a:ext cx="623887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4427984" y="1919502"/>
            <a:ext cx="4464496" cy="1323439"/>
          </a:xfrm>
          <a:prstGeom prst="rect">
            <a:avLst/>
          </a:prstGeom>
          <a:solidFill>
            <a:srgbClr val="FFC91D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</a:rPr>
              <a:t>SH/LD#:</a:t>
            </a:r>
            <a:r>
              <a:rPr lang="zh-CN" altLang="en-US" sz="2000" dirty="0">
                <a:latin typeface="宋体" panose="02010600030101010101" pitchFamily="2" charset="-122"/>
              </a:rPr>
              <a:t>移位与置位控制端。为</a:t>
            </a:r>
            <a:r>
              <a:rPr lang="en-US" altLang="zh-CN" sz="2000" dirty="0">
                <a:latin typeface="宋体" panose="02010600030101010101" pitchFamily="2" charset="-122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</a:rPr>
              <a:t>时，并行口的</a:t>
            </a:r>
            <a:r>
              <a:rPr lang="en-US" altLang="zh-CN" sz="2000" dirty="0">
                <a:latin typeface="宋体" panose="02010600030101010101" pitchFamily="2" charset="-122"/>
              </a:rPr>
              <a:t>8</a:t>
            </a:r>
            <a:r>
              <a:rPr lang="zh-CN" altLang="en-US" sz="2000" dirty="0">
                <a:latin typeface="宋体" panose="02010600030101010101" pitchFamily="2" charset="-122"/>
              </a:rPr>
              <a:t>位数据将被置入其内部的</a:t>
            </a:r>
            <a:r>
              <a:rPr lang="en-US" altLang="zh-CN" sz="2000" dirty="0">
                <a:latin typeface="宋体" panose="02010600030101010101" pitchFamily="2" charset="-122"/>
              </a:rPr>
              <a:t>8</a:t>
            </a:r>
            <a:r>
              <a:rPr lang="zh-CN" altLang="en-US" sz="2000" dirty="0">
                <a:latin typeface="宋体" panose="02010600030101010101" pitchFamily="2" charset="-122"/>
              </a:rPr>
              <a:t>个触发器；为</a:t>
            </a:r>
            <a:r>
              <a:rPr lang="en-US" altLang="zh-CN" sz="2000" dirty="0">
                <a:latin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</a:rPr>
              <a:t>时，并行输入被封锁，移位操作开始。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27984" y="3242941"/>
            <a:ext cx="4320480" cy="707886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</a:rPr>
              <a:t>INH:</a:t>
            </a:r>
            <a:r>
              <a:rPr lang="zh-CN" altLang="en-US" sz="2000" dirty="0">
                <a:latin typeface="宋体" panose="02010600030101010101" pitchFamily="2" charset="-122"/>
              </a:rPr>
              <a:t>低电平时允许时钟输入，高电平时禁止时钟输入。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28184" y="3995148"/>
            <a:ext cx="2520280" cy="1015663"/>
          </a:xfrm>
          <a:prstGeom prst="rect">
            <a:avLst/>
          </a:prstGeom>
          <a:solidFill>
            <a:srgbClr val="FFC91D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</a:rPr>
              <a:t>CLK:</a:t>
            </a:r>
            <a:r>
              <a:rPr lang="zh-CN" altLang="en-US" sz="2000" dirty="0">
                <a:latin typeface="宋体" panose="02010600030101010101" pitchFamily="2" charset="-122"/>
              </a:rPr>
              <a:t>时钟输入，上升沿有效。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r>
              <a:rPr lang="en-US" altLang="zh-CN" sz="2000" dirty="0">
                <a:latin typeface="宋体" panose="02010600030101010101" pitchFamily="2" charset="-122"/>
              </a:rPr>
              <a:t>D0-D7:</a:t>
            </a:r>
            <a:r>
              <a:rPr lang="zh-CN" altLang="en-US" sz="2000" dirty="0">
                <a:latin typeface="宋体" panose="02010600030101010101" pitchFamily="2" charset="-122"/>
              </a:rPr>
              <a:t>并行输入端。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591470" y="5047868"/>
            <a:ext cx="2520280" cy="1015663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</a:rPr>
              <a:t>SI:</a:t>
            </a:r>
            <a:r>
              <a:rPr lang="zh-CN" altLang="en-US" sz="2000" dirty="0">
                <a:latin typeface="宋体" panose="02010600030101010101" pitchFamily="2" charset="-122"/>
              </a:rPr>
              <a:t>串行输入，用于扩展多个</a:t>
            </a:r>
            <a:r>
              <a:rPr lang="en-US" altLang="zh-CN" sz="2000" dirty="0">
                <a:latin typeface="宋体" panose="02010600030101010101" pitchFamily="2" charset="-122"/>
              </a:rPr>
              <a:t>74LS165</a:t>
            </a:r>
            <a:r>
              <a:rPr lang="zh-CN" altLang="en-US" sz="2000" dirty="0">
                <a:latin typeface="宋体" panose="02010600030101010101" pitchFamily="2" charset="-122"/>
              </a:rPr>
              <a:t>的首尾连接端。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6083" y="6144910"/>
            <a:ext cx="7262261" cy="400110"/>
          </a:xfrm>
          <a:prstGeom prst="rect">
            <a:avLst/>
          </a:prstGeom>
          <a:solidFill>
            <a:srgbClr val="FFC91D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</a:rPr>
              <a:t>SO:</a:t>
            </a:r>
            <a:r>
              <a:rPr lang="zh-CN" altLang="en-US" sz="2000" dirty="0">
                <a:latin typeface="宋体" panose="02010600030101010101" pitchFamily="2" charset="-122"/>
              </a:rPr>
              <a:t>串行输出。</a:t>
            </a:r>
            <a:r>
              <a:rPr lang="en-US" altLang="zh-CN" sz="2000" dirty="0">
                <a:latin typeface="宋体" panose="02010600030101010101" pitchFamily="2" charset="-122"/>
              </a:rPr>
              <a:t>QH#:</a:t>
            </a:r>
            <a:r>
              <a:rPr lang="zh-CN" altLang="en-US" sz="2000" dirty="0">
                <a:latin typeface="宋体" panose="02010600030101010101" pitchFamily="2" charset="-122"/>
              </a:rPr>
              <a:t>串行输出，与</a:t>
            </a:r>
            <a:r>
              <a:rPr lang="en-US" altLang="zh-CN" sz="2000" dirty="0">
                <a:latin typeface="宋体" panose="02010600030101010101" pitchFamily="2" charset="-122"/>
              </a:rPr>
              <a:t>SO</a:t>
            </a:r>
            <a:r>
              <a:rPr lang="zh-CN" altLang="en-US" sz="2000" dirty="0">
                <a:latin typeface="宋体" panose="02010600030101010101" pitchFamily="2" charset="-122"/>
              </a:rPr>
              <a:t>是反相的关系。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029" y="803682"/>
            <a:ext cx="6027942" cy="525063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A08A95-7651-432E-BB2C-EC987B24683C}"/>
              </a:ext>
            </a:extLst>
          </p:cNvPr>
          <p:cNvSpPr txBox="1"/>
          <p:nvPr/>
        </p:nvSpPr>
        <p:spPr>
          <a:xfrm>
            <a:off x="2123728" y="6237312"/>
            <a:ext cx="525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串行口方式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并串转换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548680"/>
            <a:ext cx="7560840" cy="6032691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04feaa6-3510-460e-b1ea-6ec2e7f0df21"/>
  <p:tag name="COMMONDATA" val="eyJoZGlkIjoiZDlhNzhkNzI3NzgzMjVmNTVjOTdmNzdiNmViZTJjM2MifQ=="/>
</p:tagLst>
</file>

<file path=ppt/theme/theme1.xml><?xml version="1.0" encoding="utf-8"?>
<a:theme xmlns:a="http://schemas.openxmlformats.org/drawingml/2006/main" name="CITRUS">
  <a:themeElements>
    <a:clrScheme name="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CITRUS">
      <a:majorFont>
        <a:latin typeface="Tahoma"/>
        <a:ea typeface="黑体"/>
        <a:cs typeface="Tahoma"/>
      </a:majorFont>
      <a:minorFont>
        <a:latin typeface="Tahoma"/>
        <a:ea typeface="宋体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1322</Words>
  <Application>Microsoft Office PowerPoint</Application>
  <PresentationFormat>全屏显示(4:3)</PresentationFormat>
  <Paragraphs>124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Monotype Sorts</vt:lpstr>
      <vt:lpstr>MS Gothic</vt:lpstr>
      <vt:lpstr>黑体</vt:lpstr>
      <vt:lpstr>楷体</vt:lpstr>
      <vt:lpstr>楷体_GB2312</vt:lpstr>
      <vt:lpstr>隶书</vt:lpstr>
      <vt:lpstr>宋体</vt:lpstr>
      <vt:lpstr>Arial</vt:lpstr>
      <vt:lpstr>Tahoma</vt:lpstr>
      <vt:lpstr>Times New Roman</vt:lpstr>
      <vt:lpstr>Wingdings</vt:lpstr>
      <vt:lpstr>CITRUS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串行口方式0的应用</vt:lpstr>
      <vt:lpstr>串行口的应用</vt:lpstr>
      <vt:lpstr>PowerPoint 演示文稿</vt:lpstr>
      <vt:lpstr>例1：将方式0用于扩展并行输出控制流水灯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254</cp:revision>
  <dcterms:created xsi:type="dcterms:W3CDTF">2010-01-21T07:14:00Z</dcterms:created>
  <dcterms:modified xsi:type="dcterms:W3CDTF">2025-04-22T12:37:50Z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9A24033E820C4FB08C516C8B90F59549</vt:lpwstr>
  </property>
  <property fmtid="{D5CDD505-2E9C-101B-9397-08002B2CF9AE}" pid="3" name="KSOProductBuildVer">
    <vt:lpwstr>2052-11.1.0.12598</vt:lpwstr>
  </property>
</Properties>
</file>