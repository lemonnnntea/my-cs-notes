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468" r:id="rId2"/>
    <p:sldId id="310" r:id="rId3"/>
    <p:sldId id="384" r:id="rId4"/>
    <p:sldId id="385" r:id="rId5"/>
    <p:sldId id="334" r:id="rId6"/>
    <p:sldId id="488" r:id="rId7"/>
    <p:sldId id="343" r:id="rId8"/>
    <p:sldId id="487" r:id="rId9"/>
    <p:sldId id="485" r:id="rId10"/>
    <p:sldId id="486" r:id="rId11"/>
  </p:sldIdLst>
  <p:sldSz cx="9144000" cy="6858000" type="screen4x3"/>
  <p:notesSz cx="6858000" cy="9144000"/>
  <p:custDataLst>
    <p:tags r:id="rId14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Comic Sans MS" panose="030F0702030302020204" pitchFamily="66" charset="0"/>
        <a:ea typeface="楷体_GB2312" pitchFamily="49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Comic Sans MS" panose="030F0702030302020204" pitchFamily="66" charset="0"/>
        <a:ea typeface="楷体_GB2312" pitchFamily="49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Comic Sans MS" panose="030F0702030302020204" pitchFamily="66" charset="0"/>
        <a:ea typeface="楷体_GB2312" pitchFamily="49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Comic Sans MS" panose="030F0702030302020204" pitchFamily="66" charset="0"/>
        <a:ea typeface="楷体_GB2312" pitchFamily="49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800" b="1" kern="1200">
        <a:solidFill>
          <a:schemeClr val="tx1"/>
        </a:solidFill>
        <a:latin typeface="Comic Sans MS" panose="030F0702030302020204" pitchFamily="66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kumimoji="1" sz="2800" b="1" kern="1200">
        <a:solidFill>
          <a:schemeClr val="tx1"/>
        </a:solidFill>
        <a:latin typeface="Comic Sans MS" panose="030F0702030302020204" pitchFamily="66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kumimoji="1" sz="2800" b="1" kern="1200">
        <a:solidFill>
          <a:schemeClr val="tx1"/>
        </a:solidFill>
        <a:latin typeface="Comic Sans MS" panose="030F0702030302020204" pitchFamily="66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kumimoji="1" sz="2800" b="1" kern="1200">
        <a:solidFill>
          <a:schemeClr val="tx1"/>
        </a:solidFill>
        <a:latin typeface="Comic Sans MS" panose="030F0702030302020204" pitchFamily="66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kumimoji="1" sz="2800" b="1" kern="1200">
        <a:solidFill>
          <a:schemeClr val="tx1"/>
        </a:solidFill>
        <a:latin typeface="Comic Sans MS" panose="030F0702030302020204" pitchFamily="66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00FF"/>
    <a:srgbClr val="6600CC"/>
    <a:srgbClr val="FFFF00"/>
    <a:srgbClr val="99FFCC"/>
    <a:srgbClr val="99CCFF"/>
    <a:srgbClr val="CC3399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789" autoAdjust="0"/>
  </p:normalViewPr>
  <p:slideViewPr>
    <p:cSldViewPr>
      <p:cViewPr varScale="1">
        <p:scale>
          <a:sx n="61" d="100"/>
          <a:sy n="61" d="100"/>
        </p:scale>
        <p:origin x="144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8118"/>
    </p:cViewPr>
  </p:sorterViewPr>
  <p:notesViewPr>
    <p:cSldViewPr>
      <p:cViewPr varScale="1">
        <p:scale>
          <a:sx n="54" d="100"/>
          <a:sy n="54" d="100"/>
        </p:scale>
        <p:origin x="-1902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2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72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72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72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defRPr kumimoji="0" sz="1200" b="0" smtClean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4434AABE-B425-42A5-B86A-9C009D957B86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11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911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kumimoji="0"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11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defRPr kumimoji="0" sz="1200" b="0" smtClean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0933226-D6A8-4A70-82AC-43BCC791C42D}" type="slidenum">
              <a:rPr lang="en-US" altLang="zh-CN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68277D7C-CCF6-4F2C-8D0E-7A80624085FE}" type="slidenum">
              <a:rPr lang="zh-CN" altLang="en-US">
                <a:latin typeface="Times New Roman" panose="02020603050405020304" pitchFamily="18" charset="0"/>
              </a:rPr>
              <a:t>9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 dirty="0"/>
              <a:t>在计算机与外部设备交换信息时，存在高速的</a:t>
            </a:r>
            <a:r>
              <a:rPr lang="en-US" altLang="zh-CN" dirty="0"/>
              <a:t>CPU</a:t>
            </a:r>
            <a:r>
              <a:rPr lang="zh-CN" altLang="en-US" dirty="0"/>
              <a:t>和低速的外设之间的矛盾。为了保证</a:t>
            </a:r>
            <a:r>
              <a:rPr lang="en-US" altLang="zh-CN" dirty="0"/>
              <a:t>CPU</a:t>
            </a:r>
            <a:r>
              <a:rPr lang="zh-CN" altLang="en-US" dirty="0"/>
              <a:t>送来的数据不至于丢失，可以采取两种办法：查询方式和中断方式。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</a:pPr>
            <a:fld id="{49FC768C-8336-4EAE-97C2-6A25BE949F1A}" type="slidenum">
              <a:rPr lang="zh-CN" altLang="en-US">
                <a:latin typeface="Times New Roman" panose="02020603050405020304" pitchFamily="18" charset="0"/>
              </a:rPr>
              <a:t>10</a:t>
            </a:fld>
            <a:endParaRPr lang="en-US" altLang="zh-CN">
              <a:latin typeface="Times New Roman" panose="02020603050405020304" pitchFamily="18" charset="0"/>
            </a:endParaRPr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zh-CN" altLang="en-US"/>
              <a:t>在计算机与外部设备交换信息时，存在高速的</a:t>
            </a:r>
            <a:r>
              <a:rPr lang="en-US" altLang="zh-CN"/>
              <a:t>CPU</a:t>
            </a:r>
            <a:r>
              <a:rPr lang="zh-CN" altLang="en-US"/>
              <a:t>和低速的外设之间的矛盾。为了保证</a:t>
            </a:r>
            <a:r>
              <a:rPr lang="en-US" altLang="zh-CN"/>
              <a:t>CPU</a:t>
            </a:r>
            <a:r>
              <a:rPr lang="zh-CN" altLang="en-US"/>
              <a:t>送来的数据不至于丢失，可以采取两种办法：查询方式和中断方式。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/>
          <p:nvPr/>
        </p:nvGrpSpPr>
        <p:grpSpPr bwMode="auto">
          <a:xfrm>
            <a:off x="0" y="1700213"/>
            <a:ext cx="9009063" cy="1052512"/>
            <a:chOff x="0" y="1536"/>
            <a:chExt cx="5675" cy="663"/>
          </a:xfrm>
        </p:grpSpPr>
        <p:grpSp>
          <p:nvGrpSpPr>
            <p:cNvPr id="5" name="Group 3"/>
            <p:cNvGrpSpPr/>
            <p:nvPr/>
          </p:nvGrpSpPr>
          <p:grpSpPr bwMode="auto"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zh-CN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zh-CN" altLang="en-US"/>
              </a:p>
            </p:txBody>
          </p:sp>
        </p:grpSp>
        <p:grpSp>
          <p:nvGrpSpPr>
            <p:cNvPr id="6" name="Group 6"/>
            <p:cNvGrpSpPr/>
            <p:nvPr/>
          </p:nvGrpSpPr>
          <p:grpSpPr bwMode="auto"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zh-CN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9" y="2640"/>
                <a:ext cx="335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1pPr>
                <a:lvl2pPr marL="742950" indent="-28575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2pPr>
                <a:lvl3pPr marL="11430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3pPr>
                <a:lvl4pPr marL="16002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4pPr>
                <a:lvl5pPr marL="2057400" indent="-228600" eaLnBrk="0" hangingPunct="0"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5pPr>
                <a:lvl6pPr marL="25146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6pPr>
                <a:lvl7pPr marL="29718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7pPr>
                <a:lvl8pPr marL="34290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8pPr>
                <a:lvl9pPr marL="3886200" indent="-228600" algn="ctr" eaLnBrk="0" fontAlgn="base" hangingPunct="0">
                  <a:spcBef>
                    <a:spcPct val="50000"/>
                  </a:spcBef>
                  <a:spcAft>
                    <a:spcPct val="0"/>
                  </a:spcAft>
                  <a:defRPr kumimoji="1" sz="2800" b="1">
                    <a:solidFill>
                      <a:schemeClr val="tx1"/>
                    </a:solidFill>
                    <a:latin typeface="Comic Sans MS" panose="030F0702030302020204" pitchFamily="66" charset="0"/>
                    <a:ea typeface="楷体_GB2312" pitchFamily="49" charset="-122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defRPr/>
                </a:pPr>
                <a:endParaRPr lang="zh-CN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endParaRPr lang="zh-CN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endParaRPr lang="zh-CN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1pPr>
              <a:lvl2pPr marL="742950" indent="-28575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2pPr>
              <a:lvl3pPr marL="1143000" indent="-22860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3pPr>
              <a:lvl4pPr marL="1600200" indent="-22860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4pPr>
              <a:lvl5pPr marL="2057400" indent="-228600" eaLnBrk="0" hangingPunct="0"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5pPr>
              <a:lvl6pPr marL="25146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6pPr>
              <a:lvl7pPr marL="29718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7pPr>
              <a:lvl8pPr marL="34290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8pPr>
              <a:lvl9pPr marL="3886200" indent="-228600" algn="ctr" eaLnBrk="0" fontAlgn="base" hangingPunct="0">
                <a:spcBef>
                  <a:spcPct val="50000"/>
                </a:spcBef>
                <a:spcAft>
                  <a:spcPct val="0"/>
                </a:spcAft>
                <a:defRPr kumimoji="1" sz="2800" b="1">
                  <a:solidFill>
                    <a:schemeClr val="tx1"/>
                  </a:solidFill>
                  <a:latin typeface="Comic Sans MS" panose="030F0702030302020204" pitchFamily="66" charset="0"/>
                  <a:ea typeface="楷体_GB2312" pitchFamily="49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defRPr/>
              </a:pPr>
              <a:endParaRPr lang="zh-CN" altLang="en-US"/>
            </a:p>
          </p:txBody>
        </p:sp>
      </p:grpSp>
      <p:sp>
        <p:nvSpPr>
          <p:cNvPr id="513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71550" y="836613"/>
            <a:ext cx="7772400" cy="146208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09F4F1ED-C653-4C4A-8E71-D9753D45329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C3864-FD92-485F-A6A7-9E82269B1D3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EBB27E-E830-4D19-9588-1C3556C07A9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08A8D-33E4-442E-8BE8-1EA45590B2C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8B3495-E49B-4E8C-B6C6-0F60D62D35E5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67B39A-FBE3-42D9-B6EE-E50229D03F8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57B104-1B91-44FF-BB5D-423B4DEA0D2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4E0E6B-3408-4993-A518-0F76C4A107EA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BC047A-89DF-4BF4-BFE4-34A9D527443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F2CA9A-2BE4-4D55-88FD-DD892CC640F2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AF9712-DC0D-4C54-B42B-8668E99C9D98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EBA00F-A49E-4B1A-8AD6-6CC0BF210141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254000" y="44132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636588" y="441325"/>
            <a:ext cx="328612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377825" y="86360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747713" y="86360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25400" y="79057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598488" y="33337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279400" y="112395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10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spcBef>
                <a:spcPct val="0"/>
              </a:spcBef>
              <a:defRPr kumimoji="0"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spcBef>
                <a:spcPct val="0"/>
              </a:spcBef>
              <a:defRPr kumimoji="0" sz="1400" b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spcBef>
                <a:spcPct val="0"/>
              </a:spcBef>
              <a:defRPr kumimoji="0" sz="1400" b="0" smtClean="0">
                <a:latin typeface="Tahoma" panose="020B060403050404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CBADCAB1-4209-4FDB-9627-CAB9FD2E3A5E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38" name="Rectangle 14"/>
          <p:cNvSpPr>
            <a:spLocks noChangeArrowheads="1"/>
          </p:cNvSpPr>
          <p:nvPr userDrawn="1"/>
        </p:nvSpPr>
        <p:spPr bwMode="gray">
          <a:xfrm rot="5400000">
            <a:off x="-1870868" y="3823494"/>
            <a:ext cx="5033962" cy="698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</p:spPr>
        <p:txBody>
          <a:bodyPr rot="10800000" vert="eaVert" wrap="none" anchor="ctr"/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ctr" eaLnBrk="1" hangingPunct="1">
              <a:defRPr/>
            </a:pPr>
            <a:endParaRPr lang="zh-CN" altLang="zh-CN" sz="2400" b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194" name="Rectangle 2"/>
          <p:cNvSpPr>
            <a:spLocks noChangeArrowheads="1"/>
          </p:cNvSpPr>
          <p:nvPr/>
        </p:nvSpPr>
        <p:spPr bwMode="auto">
          <a:xfrm>
            <a:off x="1763713" y="1844675"/>
            <a:ext cx="6624637" cy="3240088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 algn="l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5.1 </a:t>
            </a:r>
            <a:r>
              <a:rPr kumimoji="0" lang="zh-CN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中断的概念</a:t>
            </a:r>
          </a:p>
          <a:p>
            <a:pPr eaLnBrk="1" hangingPunct="1">
              <a:defRPr/>
            </a:pPr>
            <a:r>
              <a:rPr kumimoji="0" lang="en-US" altLang="zh-CN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5.2 </a:t>
            </a:r>
            <a:r>
              <a:rPr kumimoji="0" lang="zh-CN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中断控制系统</a:t>
            </a:r>
            <a:endParaRPr kumimoji="0" lang="en-US" altLang="zh-CN" sz="360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defRPr/>
            </a:pPr>
            <a:r>
              <a:rPr kumimoji="0" lang="en-US" altLang="zh-CN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5.3 </a:t>
            </a:r>
            <a:r>
              <a:rPr kumimoji="0" lang="zh-CN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中断处理过程</a:t>
            </a:r>
            <a:endParaRPr kumimoji="0" lang="en-US" altLang="zh-CN" sz="360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defRPr/>
            </a:pPr>
            <a:r>
              <a:rPr kumimoji="0" lang="en-US" altLang="zh-CN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5.4 </a:t>
            </a:r>
            <a:r>
              <a:rPr kumimoji="0" lang="zh-CN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中断的编程和应用举例</a:t>
            </a:r>
          </a:p>
          <a:p>
            <a:pPr marL="0" indent="0" eaLnBrk="1" hangingPunct="1">
              <a:buFont typeface="Wingdings" panose="05000000000000000000" pitchFamily="2" charset="2"/>
              <a:buNone/>
              <a:defRPr/>
            </a:pPr>
            <a:endParaRPr kumimoji="0" lang="en-US" altLang="zh-CN" sz="3600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264195" name="Rectangle 3"/>
          <p:cNvSpPr>
            <a:spLocks noGrp="1" noChangeArrowheads="1"/>
          </p:cNvSpPr>
          <p:nvPr>
            <p:ph type="title"/>
          </p:nvPr>
        </p:nvSpPr>
        <p:spPr>
          <a:xfrm>
            <a:off x="1331913" y="188913"/>
            <a:ext cx="6589712" cy="1270000"/>
          </a:xfrm>
        </p:spPr>
        <p:txBody>
          <a:bodyPr anchor="ctr"/>
          <a:lstStyle/>
          <a:p>
            <a:pPr eaLnBrk="1" hangingPunct="1">
              <a:defRPr/>
            </a:pPr>
            <a:r>
              <a:rPr lang="zh-CN" altLang="en-US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第</a:t>
            </a:r>
            <a:r>
              <a:rPr lang="en-US" altLang="zh-CN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5</a:t>
            </a:r>
            <a:r>
              <a:rPr lang="zh-CN" altLang="en-US" sz="4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章 单片机的中断系统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/>
          <p:cNvSpPr txBox="1">
            <a:spLocks noChangeArrowheads="1"/>
          </p:cNvSpPr>
          <p:nvPr/>
        </p:nvSpPr>
        <p:spPr bwMode="auto">
          <a:xfrm>
            <a:off x="684213" y="1412875"/>
            <a:ext cx="7775575" cy="3908314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1pPr>
            <a:lvl2pPr marL="742950" indent="-28575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2pPr>
            <a:lvl3pPr marL="11430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3pPr>
            <a:lvl4pPr marL="16002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4pPr>
            <a:lvl5pPr marL="2057400" indent="-228600" eaLnBrk="0" hangingPunct="0"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5pPr>
            <a:lvl6pPr marL="25146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6pPr>
            <a:lvl7pPr marL="29718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7pPr>
            <a:lvl8pPr marL="34290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8pPr>
            <a:lvl9pPr marL="3886200" indent="-228600" algn="ctr" eaLnBrk="0" fontAlgn="base" hangingPunct="0">
              <a:spcBef>
                <a:spcPct val="50000"/>
              </a:spcBef>
              <a:spcAft>
                <a:spcPct val="0"/>
              </a:spcAft>
              <a:defRPr kumimoji="1" sz="2800" b="1">
                <a:solidFill>
                  <a:schemeClr val="tx1"/>
                </a:solidFill>
                <a:latin typeface="Comic Sans MS" panose="030F0702030302020204" pitchFamily="66" charset="0"/>
                <a:ea typeface="楷体_GB2312" pitchFamily="49" charset="-122"/>
              </a:defRPr>
            </a:lvl9pPr>
          </a:lstStyle>
          <a:p>
            <a:pPr algn="just"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单片机在某一时刻只能处理一个任务，当多个任务同时要求单片机处理时，这一要求应该怎么实现呢？</a:t>
            </a:r>
            <a:endParaRPr lang="en-US" altLang="zh-CN" sz="3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en-US" altLang="zh-CN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  <a:r>
              <a:rPr lang="zh-CN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通过中断可以实现多个任务的资源共享。</a:t>
            </a:r>
          </a:p>
          <a:p>
            <a:pPr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sz="3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</a:p>
        </p:txBody>
      </p:sp>
      <p:sp>
        <p:nvSpPr>
          <p:cNvPr id="4099" name="Rectangle 3"/>
          <p:cNvSpPr>
            <a:spLocks noChangeArrowheads="1"/>
          </p:cNvSpPr>
          <p:nvPr/>
        </p:nvSpPr>
        <p:spPr bwMode="auto">
          <a:xfrm>
            <a:off x="1042988" y="314325"/>
            <a:ext cx="6481762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zh-CN" sz="440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MCS-51</a:t>
            </a:r>
            <a:r>
              <a:rPr lang="zh-CN" altLang="en-US" sz="440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</a:t>
            </a:r>
            <a:r>
              <a:rPr lang="en-US" altLang="en-US" sz="440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</a:t>
            </a:r>
            <a:r>
              <a:rPr lang="zh-CN" altLang="en-US" sz="4400">
                <a:solidFill>
                  <a:schemeClr val="hlin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系统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47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47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6" name="Line 4"/>
          <p:cNvSpPr>
            <a:spLocks noChangeShapeType="1"/>
          </p:cNvSpPr>
          <p:nvPr/>
        </p:nvSpPr>
        <p:spPr bwMode="auto">
          <a:xfrm>
            <a:off x="3851275" y="1916113"/>
            <a:ext cx="0" cy="1152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1797" name="Line 5"/>
          <p:cNvSpPr>
            <a:spLocks noChangeShapeType="1"/>
          </p:cNvSpPr>
          <p:nvPr/>
        </p:nvSpPr>
        <p:spPr bwMode="auto">
          <a:xfrm>
            <a:off x="3851275" y="3357563"/>
            <a:ext cx="0" cy="1152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1798" name="Line 6"/>
          <p:cNvSpPr>
            <a:spLocks noChangeShapeType="1"/>
          </p:cNvSpPr>
          <p:nvPr/>
        </p:nvSpPr>
        <p:spPr bwMode="auto">
          <a:xfrm flipV="1">
            <a:off x="3995738" y="2420938"/>
            <a:ext cx="1296987" cy="576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1799" name="Line 7"/>
          <p:cNvSpPr>
            <a:spLocks noChangeShapeType="1"/>
          </p:cNvSpPr>
          <p:nvPr/>
        </p:nvSpPr>
        <p:spPr bwMode="auto">
          <a:xfrm flipH="1" flipV="1">
            <a:off x="3924300" y="3213100"/>
            <a:ext cx="1223963" cy="10080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1800" name="Line 8"/>
          <p:cNvSpPr>
            <a:spLocks noChangeShapeType="1"/>
          </p:cNvSpPr>
          <p:nvPr/>
        </p:nvSpPr>
        <p:spPr bwMode="auto">
          <a:xfrm>
            <a:off x="5364163" y="2708275"/>
            <a:ext cx="0" cy="1368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1801" name="Rectangle 9"/>
          <p:cNvSpPr>
            <a:spLocks noChangeArrowheads="1"/>
          </p:cNvSpPr>
          <p:nvPr/>
        </p:nvSpPr>
        <p:spPr bwMode="auto">
          <a:xfrm>
            <a:off x="3132138" y="1268413"/>
            <a:ext cx="1101725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60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看书</a:t>
            </a:r>
          </a:p>
        </p:txBody>
      </p:sp>
      <p:sp>
        <p:nvSpPr>
          <p:cNvPr id="161802" name="Rectangle 10"/>
          <p:cNvSpPr>
            <a:spLocks noChangeArrowheads="1"/>
          </p:cNvSpPr>
          <p:nvPr/>
        </p:nvSpPr>
        <p:spPr bwMode="auto">
          <a:xfrm>
            <a:off x="2627313" y="2420938"/>
            <a:ext cx="1059906" cy="113877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电话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铃响</a:t>
            </a:r>
          </a:p>
        </p:txBody>
      </p:sp>
      <p:sp>
        <p:nvSpPr>
          <p:cNvPr id="161805" name="Rectangle 13"/>
          <p:cNvSpPr>
            <a:spLocks noChangeArrowheads="1"/>
          </p:cNvSpPr>
          <p:nvPr/>
        </p:nvSpPr>
        <p:spPr bwMode="auto">
          <a:xfrm>
            <a:off x="5435600" y="3027363"/>
            <a:ext cx="1560513" cy="64135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6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接电话</a:t>
            </a:r>
          </a:p>
        </p:txBody>
      </p:sp>
      <p:sp>
        <p:nvSpPr>
          <p:cNvPr id="161806" name="Rectangle 14"/>
          <p:cNvSpPr>
            <a:spLocks noChangeArrowheads="1"/>
          </p:cNvSpPr>
          <p:nvPr/>
        </p:nvSpPr>
        <p:spPr bwMode="auto">
          <a:xfrm>
            <a:off x="2627313" y="3716338"/>
            <a:ext cx="1101725" cy="11906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6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继续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3600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看书</a:t>
            </a:r>
          </a:p>
        </p:txBody>
      </p:sp>
      <p:sp>
        <p:nvSpPr>
          <p:cNvPr id="161807" name="AutoShape 15"/>
          <p:cNvSpPr>
            <a:spLocks noChangeArrowheads="1"/>
          </p:cNvSpPr>
          <p:nvPr/>
        </p:nvSpPr>
        <p:spPr bwMode="auto">
          <a:xfrm>
            <a:off x="4427538" y="1268413"/>
            <a:ext cx="1944687" cy="793750"/>
          </a:xfrm>
          <a:prstGeom prst="wedgeRoundRectCallout">
            <a:avLst>
              <a:gd name="adj1" fmla="val -31222"/>
              <a:gd name="adj2" fmla="val 118801"/>
              <a:gd name="adj3" fmla="val 16667"/>
            </a:avLst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中断响应</a:t>
            </a:r>
          </a:p>
        </p:txBody>
      </p:sp>
      <p:sp>
        <p:nvSpPr>
          <p:cNvPr id="161808" name="AutoShape 16"/>
          <p:cNvSpPr>
            <a:spLocks noChangeArrowheads="1"/>
          </p:cNvSpPr>
          <p:nvPr/>
        </p:nvSpPr>
        <p:spPr bwMode="auto">
          <a:xfrm>
            <a:off x="3995738" y="4652963"/>
            <a:ext cx="1944687" cy="793750"/>
          </a:xfrm>
          <a:prstGeom prst="wedgeRoundRectCallout">
            <a:avLst>
              <a:gd name="adj1" fmla="val -20120"/>
              <a:gd name="adj2" fmla="val -162398"/>
              <a:gd name="adj3" fmla="val 16667"/>
            </a:avLst>
          </a:prstGeom>
          <a:solidFill>
            <a:srgbClr val="CC99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中断返回</a:t>
            </a:r>
          </a:p>
        </p:txBody>
      </p:sp>
      <p:sp>
        <p:nvSpPr>
          <p:cNvPr id="161809" name="AutoShape 17"/>
          <p:cNvSpPr>
            <a:spLocks noChangeArrowheads="1"/>
          </p:cNvSpPr>
          <p:nvPr/>
        </p:nvSpPr>
        <p:spPr bwMode="auto">
          <a:xfrm>
            <a:off x="1116013" y="1700213"/>
            <a:ext cx="1944687" cy="793750"/>
          </a:xfrm>
          <a:prstGeom prst="wedgeRoundRectCallout">
            <a:avLst>
              <a:gd name="adj1" fmla="val 80449"/>
              <a:gd name="adj2" fmla="val 80199"/>
              <a:gd name="adj3" fmla="val 16667"/>
            </a:avLst>
          </a:prstGeom>
          <a:solidFill>
            <a:srgbClr val="33CCCC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rgbClr val="CC00FF"/>
                </a:solidFill>
                <a:latin typeface="Times New Roman" panose="02020603050405020304" pitchFamily="18" charset="0"/>
                <a:ea typeface="楷体_GB2312" pitchFamily="49" charset="-122"/>
              </a:rPr>
              <a:t>中断请求</a:t>
            </a:r>
          </a:p>
        </p:txBody>
      </p:sp>
      <p:sp>
        <p:nvSpPr>
          <p:cNvPr id="5134" name="Rectangle 18"/>
          <p:cNvSpPr>
            <a:spLocks noChangeArrowheads="1"/>
          </p:cNvSpPr>
          <p:nvPr/>
        </p:nvSpPr>
        <p:spPr bwMode="auto">
          <a:xfrm>
            <a:off x="755650" y="260350"/>
            <a:ext cx="6264275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en-US" altLang="en-US" sz="440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中断的基本概念</a:t>
            </a:r>
            <a:endParaRPr lang="zh-CN" altLang="en-US" sz="44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6213475" y="385763"/>
            <a:ext cx="2614613" cy="3365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第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章 单片机的中断系统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18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1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1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17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1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18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1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17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18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18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1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61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801" grpId="0"/>
      <p:bldP spid="161802" grpId="0"/>
      <p:bldP spid="161805" grpId="0"/>
      <p:bldP spid="161806" grpId="0"/>
      <p:bldP spid="161807" grpId="0" animBg="1"/>
      <p:bldP spid="161808" grpId="0" animBg="1"/>
      <p:bldP spid="16180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Line 2"/>
          <p:cNvSpPr>
            <a:spLocks noChangeShapeType="1"/>
          </p:cNvSpPr>
          <p:nvPr/>
        </p:nvSpPr>
        <p:spPr bwMode="auto">
          <a:xfrm>
            <a:off x="3851275" y="1916113"/>
            <a:ext cx="0" cy="1152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2819" name="Line 3"/>
          <p:cNvSpPr>
            <a:spLocks noChangeShapeType="1"/>
          </p:cNvSpPr>
          <p:nvPr/>
        </p:nvSpPr>
        <p:spPr bwMode="auto">
          <a:xfrm>
            <a:off x="3851275" y="3357563"/>
            <a:ext cx="0" cy="11525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162820" name="Line 4"/>
          <p:cNvSpPr>
            <a:spLocks noChangeShapeType="1"/>
          </p:cNvSpPr>
          <p:nvPr/>
        </p:nvSpPr>
        <p:spPr bwMode="auto">
          <a:xfrm flipV="1">
            <a:off x="3995738" y="2420938"/>
            <a:ext cx="1296987" cy="57626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2821" name="Line 5"/>
          <p:cNvSpPr>
            <a:spLocks noChangeShapeType="1"/>
          </p:cNvSpPr>
          <p:nvPr/>
        </p:nvSpPr>
        <p:spPr bwMode="auto">
          <a:xfrm flipH="1" flipV="1">
            <a:off x="3924300" y="3213100"/>
            <a:ext cx="1223963" cy="100806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2822" name="Line 6"/>
          <p:cNvSpPr>
            <a:spLocks noChangeShapeType="1"/>
          </p:cNvSpPr>
          <p:nvPr/>
        </p:nvSpPr>
        <p:spPr bwMode="auto">
          <a:xfrm>
            <a:off x="5364163" y="2708275"/>
            <a:ext cx="0" cy="13684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tailEnd type="triangl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162823" name="Rectangle 7"/>
          <p:cNvSpPr>
            <a:spLocks noChangeArrowheads="1"/>
          </p:cNvSpPr>
          <p:nvPr/>
        </p:nvSpPr>
        <p:spPr bwMode="auto">
          <a:xfrm>
            <a:off x="3132138" y="1347788"/>
            <a:ext cx="1331912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000" dirty="0">
                <a:solidFill>
                  <a:srgbClr val="CC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主程序</a:t>
            </a:r>
          </a:p>
        </p:txBody>
      </p:sp>
      <p:sp>
        <p:nvSpPr>
          <p:cNvPr id="162824" name="Rectangle 8"/>
          <p:cNvSpPr>
            <a:spLocks noChangeArrowheads="1"/>
          </p:cNvSpPr>
          <p:nvPr/>
        </p:nvSpPr>
        <p:spPr bwMode="auto">
          <a:xfrm>
            <a:off x="2627313" y="2787650"/>
            <a:ext cx="949325" cy="549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000" dirty="0">
                <a:solidFill>
                  <a:srgbClr val="CC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断点</a:t>
            </a:r>
          </a:p>
        </p:txBody>
      </p:sp>
      <p:sp>
        <p:nvSpPr>
          <p:cNvPr id="162825" name="Rectangle 9"/>
          <p:cNvSpPr>
            <a:spLocks noChangeArrowheads="1"/>
          </p:cNvSpPr>
          <p:nvPr/>
        </p:nvSpPr>
        <p:spPr bwMode="auto">
          <a:xfrm>
            <a:off x="5651500" y="2781300"/>
            <a:ext cx="2952750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000" dirty="0">
                <a:solidFill>
                  <a:srgbClr val="CC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执行中断服务（或处理）子程序</a:t>
            </a:r>
          </a:p>
        </p:txBody>
      </p:sp>
      <p:sp>
        <p:nvSpPr>
          <p:cNvPr id="162826" name="Rectangle 10"/>
          <p:cNvSpPr>
            <a:spLocks noChangeArrowheads="1"/>
          </p:cNvSpPr>
          <p:nvPr/>
        </p:nvSpPr>
        <p:spPr bwMode="auto">
          <a:xfrm>
            <a:off x="2124075" y="3933825"/>
            <a:ext cx="158432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000">
                <a:solidFill>
                  <a:srgbClr val="CC33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继续执行程序 </a:t>
            </a:r>
          </a:p>
        </p:txBody>
      </p:sp>
      <p:sp>
        <p:nvSpPr>
          <p:cNvPr id="162827" name="AutoShape 11"/>
          <p:cNvSpPr>
            <a:spLocks noChangeArrowheads="1"/>
          </p:cNvSpPr>
          <p:nvPr/>
        </p:nvSpPr>
        <p:spPr bwMode="auto">
          <a:xfrm>
            <a:off x="4427538" y="1268413"/>
            <a:ext cx="1944687" cy="793750"/>
          </a:xfrm>
          <a:prstGeom prst="wedgeRoundRectCallout">
            <a:avLst>
              <a:gd name="adj1" fmla="val -31222"/>
              <a:gd name="adj2" fmla="val 118801"/>
              <a:gd name="adj3" fmla="val 16667"/>
            </a:avLst>
          </a:prstGeom>
          <a:solidFill>
            <a:srgbClr val="0000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solidFill>
                  <a:schemeClr val="bg1"/>
                </a:solidFill>
                <a:latin typeface="Times New Roman" panose="02020603050405020304" pitchFamily="18" charset="0"/>
                <a:ea typeface="楷体_GB2312" pitchFamily="49" charset="-122"/>
              </a:rPr>
              <a:t>中断响应</a:t>
            </a:r>
          </a:p>
        </p:txBody>
      </p:sp>
      <p:sp>
        <p:nvSpPr>
          <p:cNvPr id="162828" name="AutoShape 12"/>
          <p:cNvSpPr>
            <a:spLocks noChangeArrowheads="1"/>
          </p:cNvSpPr>
          <p:nvPr/>
        </p:nvSpPr>
        <p:spPr bwMode="auto">
          <a:xfrm>
            <a:off x="3995738" y="4652963"/>
            <a:ext cx="1944687" cy="793750"/>
          </a:xfrm>
          <a:prstGeom prst="wedgeRoundRectCallout">
            <a:avLst>
              <a:gd name="adj1" fmla="val -20120"/>
              <a:gd name="adj2" fmla="val -162398"/>
              <a:gd name="adj3" fmla="val 16667"/>
            </a:avLst>
          </a:prstGeom>
          <a:solidFill>
            <a:srgbClr val="CC99FF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>
                <a:latin typeface="Times New Roman" panose="02020603050405020304" pitchFamily="18" charset="0"/>
                <a:ea typeface="楷体_GB2312" pitchFamily="49" charset="-122"/>
              </a:rPr>
              <a:t>中断返回</a:t>
            </a:r>
          </a:p>
        </p:txBody>
      </p:sp>
      <p:sp>
        <p:nvSpPr>
          <p:cNvPr id="162829" name="AutoShape 13"/>
          <p:cNvSpPr>
            <a:spLocks noChangeArrowheads="1"/>
          </p:cNvSpPr>
          <p:nvPr/>
        </p:nvSpPr>
        <p:spPr bwMode="auto">
          <a:xfrm>
            <a:off x="1116013" y="1700213"/>
            <a:ext cx="1944687" cy="793750"/>
          </a:xfrm>
          <a:prstGeom prst="wedgeRoundRectCallout">
            <a:avLst>
              <a:gd name="adj1" fmla="val 80449"/>
              <a:gd name="adj2" fmla="val 80199"/>
              <a:gd name="adj3" fmla="val 16667"/>
            </a:avLst>
          </a:prstGeom>
          <a:solidFill>
            <a:srgbClr val="33CCCC"/>
          </a:solidFill>
          <a:ln w="9525" algn="ctr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中断请求</a:t>
            </a:r>
          </a:p>
        </p:txBody>
      </p:sp>
      <p:sp>
        <p:nvSpPr>
          <p:cNvPr id="6158" name="Rectangle 14"/>
          <p:cNvSpPr>
            <a:spLocks noChangeArrowheads="1"/>
          </p:cNvSpPr>
          <p:nvPr/>
        </p:nvSpPr>
        <p:spPr bwMode="auto">
          <a:xfrm>
            <a:off x="755650" y="260350"/>
            <a:ext cx="6264275" cy="7620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en-US" sz="4400" dirty="0" err="1">
                <a:solidFill>
                  <a:schemeClr val="tx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中断的基本概念</a:t>
            </a:r>
            <a:endParaRPr lang="zh-CN" altLang="en-US" sz="4400" dirty="0">
              <a:solidFill>
                <a:schemeClr val="tx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5" name="Rectangle 2"/>
          <p:cNvSpPr>
            <a:spLocks noChangeArrowheads="1"/>
          </p:cNvSpPr>
          <p:nvPr/>
        </p:nvSpPr>
        <p:spPr bwMode="auto">
          <a:xfrm>
            <a:off x="6213475" y="385763"/>
            <a:ext cx="2614613" cy="3365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第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章 单片机的中断系统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28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2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62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6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62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62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6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6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62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62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23" grpId="0"/>
      <p:bldP spid="162824" grpId="0"/>
      <p:bldP spid="162825" grpId="0"/>
      <p:bldP spid="162826" grpId="0"/>
      <p:bldP spid="162827" grpId="0" animBg="1"/>
      <p:bldP spid="162828" grpId="0" animBg="1"/>
      <p:bldP spid="1628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ext Box 2"/>
          <p:cNvSpPr txBox="1">
            <a:spLocks noChangeArrowheads="1"/>
          </p:cNvSpPr>
          <p:nvPr/>
        </p:nvSpPr>
        <p:spPr bwMode="auto">
          <a:xfrm>
            <a:off x="684213" y="1412875"/>
            <a:ext cx="8064500" cy="33242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just" eaLnBrk="1" hangingPunct="1">
              <a:lnSpc>
                <a:spcPct val="150000"/>
              </a:lnSpc>
              <a:spcBef>
                <a:spcPct val="50000"/>
              </a:spcBef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中断，即：当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正在处理某</a:t>
            </a:r>
            <a:r>
              <a: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项工作时，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如果外界或者内部发生了紧急事件，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暂停正在处理的工作而去处理这个紧急事件，待处理完后，再回到原来中断的地方，继续执行原来被中断的程序，这个过程称作中断。        </a:t>
            </a: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1042988" y="314325"/>
            <a:ext cx="4968875" cy="646113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en-US" altLang="en-US" sz="3600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中断的</a:t>
            </a:r>
            <a:r>
              <a:rPr lang="zh-CN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定义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6213475" y="385763"/>
            <a:ext cx="2614613" cy="3365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第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章 单片机的中断系统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1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137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548680"/>
            <a:ext cx="8114751" cy="48965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6" name="Text Box 4"/>
          <p:cNvSpPr txBox="1">
            <a:spLocks noChangeArrowheads="1"/>
          </p:cNvSpPr>
          <p:nvPr/>
        </p:nvSpPr>
        <p:spPr bwMode="auto">
          <a:xfrm>
            <a:off x="684213" y="1196975"/>
            <a:ext cx="8188325" cy="396938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  <a:buClr>
                <a:srgbClr val="CC3399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中断系统：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实现中断功能的部件（又称中断机构）。</a:t>
            </a:r>
          </a:p>
          <a:p>
            <a:pPr algn="just" eaLnBrk="1" hangingPunct="1">
              <a:spcBef>
                <a:spcPct val="50000"/>
              </a:spcBef>
              <a:buClr>
                <a:srgbClr val="CC3399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中断源：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引起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中断的设备和事件。</a:t>
            </a:r>
          </a:p>
          <a:p>
            <a:pPr algn="just" eaLnBrk="1" hangingPunct="1">
              <a:spcBef>
                <a:spcPct val="50000"/>
              </a:spcBef>
              <a:buClr>
                <a:srgbClr val="CC3399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中断请求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：中断源向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发出的请求处理信号。</a:t>
            </a:r>
            <a:endParaRPr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just" eaLnBrk="1" hangingPunct="1">
              <a:spcBef>
                <a:spcPct val="50000"/>
              </a:spcBef>
              <a:buClr>
                <a:srgbClr val="CC3399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中断服务子程序：</a:t>
            </a:r>
            <a:r>
              <a:rPr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响应中断后处理中断事件执行的程序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（即</a:t>
            </a:r>
            <a:r>
              <a:rPr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中断函数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</a:p>
          <a:p>
            <a:pPr algn="just" eaLnBrk="1" hangingPunct="1">
              <a:spcBef>
                <a:spcPct val="50000"/>
              </a:spcBef>
              <a:buClr>
                <a:srgbClr val="CC3399"/>
              </a:buClr>
              <a:buFont typeface="Wingdings" panose="05000000000000000000" pitchFamily="2" charset="2"/>
              <a:buChar char="u"/>
              <a:defRPr/>
            </a:pPr>
            <a:r>
              <a:rPr lang="zh-CN" altLang="en-US" dirty="0">
                <a:solidFill>
                  <a:schemeClr val="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中断嵌套：</a:t>
            </a:r>
            <a:r>
              <a:rPr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中断过程中又有中断发生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6213475" y="385763"/>
            <a:ext cx="2614613" cy="3365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第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章 单片机的中断系统 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899592" y="476672"/>
            <a:ext cx="39604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相关概念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05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059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059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1059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1059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827584" y="395320"/>
            <a:ext cx="7992888" cy="12818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51</a:t>
            </a: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单片机在响应中断的过程中，</a:t>
            </a:r>
            <a:r>
              <a:rPr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值是如何变化的？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827584" y="1700808"/>
            <a:ext cx="7992888" cy="25766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响应中断前，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值为中断断点地址；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中断开始时，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PC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值为相应的中断入口地址；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中断期间，按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PC+1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顺序或跳转地址；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中断返回时，恢复中断断点地址。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788" name="Text Box 4"/>
          <p:cNvSpPr txBox="1">
            <a:spLocks noChangeArrowheads="1"/>
          </p:cNvSpPr>
          <p:nvPr/>
        </p:nvSpPr>
        <p:spPr bwMode="auto">
          <a:xfrm>
            <a:off x="571500" y="558800"/>
            <a:ext cx="8020050" cy="153193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  <a:defRPr/>
            </a:pP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中断过程与调用一般函数过程的</a:t>
            </a:r>
            <a:r>
              <a:rPr lang="zh-CN" altLang="en-US" sz="26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相似性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  <a:defRPr/>
            </a:pP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两者都需要保护断点，都可实现多级嵌套等。</a:t>
            </a:r>
          </a:p>
          <a:p>
            <a:pPr eaLnBrk="1" hangingPunct="1">
              <a:spcBef>
                <a:spcPct val="30000"/>
              </a:spcBef>
              <a:buClrTx/>
              <a:buSzTx/>
              <a:buFontTx/>
              <a:buNone/>
              <a:defRPr/>
            </a:pP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中断过程与调用一般函数过程的</a:t>
            </a:r>
            <a:r>
              <a:rPr lang="zh-CN" altLang="en-US" sz="26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差异性</a:t>
            </a: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:</a:t>
            </a:r>
            <a:endParaRPr lang="zh-CN" altLang="en-US" sz="2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270789" name="Text Box 5"/>
          <p:cNvSpPr txBox="1">
            <a:spLocks noChangeArrowheads="1"/>
          </p:cNvSpPr>
          <p:nvPr/>
        </p:nvSpPr>
        <p:spPr bwMode="auto">
          <a:xfrm>
            <a:off x="625475" y="2216150"/>
            <a:ext cx="4838700" cy="2092325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  <a:defRPr/>
            </a:pPr>
            <a:r>
              <a:rPr lang="en-US" altLang="zh-CN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、一般函数调用是程序设计者事先安排的（</a:t>
            </a: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断点位置是明确的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），而中断却是系统根据工作环境随机决定的（</a:t>
            </a:r>
            <a:r>
              <a:rPr lang="zh-CN" altLang="en-US" sz="26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断点位置是随机的</a:t>
            </a:r>
            <a:r>
              <a:rPr lang="zh-CN" altLang="en-US" sz="2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）。</a:t>
            </a:r>
          </a:p>
        </p:txBody>
      </p:sp>
      <p:pic>
        <p:nvPicPr>
          <p:cNvPr id="1270790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64" t="20840" r="35173" b="24518"/>
          <a:stretch>
            <a:fillRect/>
          </a:stretch>
        </p:blipFill>
        <p:spPr bwMode="auto">
          <a:xfrm>
            <a:off x="5473700" y="1981200"/>
            <a:ext cx="3421063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70791" name="Rectangle 7"/>
          <p:cNvSpPr>
            <a:spLocks noChangeArrowheads="1"/>
          </p:cNvSpPr>
          <p:nvPr/>
        </p:nvSpPr>
        <p:spPr bwMode="auto">
          <a:xfrm>
            <a:off x="655638" y="4221163"/>
            <a:ext cx="7813675" cy="2192337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、主函数与一般函数之间具有</a:t>
            </a:r>
            <a:r>
              <a:rPr lang="zh-CN" altLang="en-US" sz="260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主从关系</a:t>
            </a:r>
            <a:r>
              <a:rPr lang="zh-CN" altLang="en-US" sz="2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，而主函数与中断函数之间则是</a:t>
            </a:r>
            <a:r>
              <a:rPr lang="zh-CN" altLang="en-US" sz="260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平行关系</a:t>
            </a:r>
            <a:r>
              <a:rPr lang="zh-CN" altLang="en-US" sz="2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（中断函数只能被系统调用）；</a:t>
            </a:r>
          </a:p>
          <a:p>
            <a:pPr eaLnBrk="1" hangingPunct="1">
              <a:spcBef>
                <a:spcPct val="25000"/>
              </a:spcBef>
              <a:buClrTx/>
              <a:buSzTx/>
              <a:buFontTx/>
              <a:buNone/>
              <a:defRPr/>
            </a:pPr>
            <a:r>
              <a:rPr lang="en-US" altLang="zh-CN" sz="2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6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、一般函数调用是纯粹软件处理过程，而中断函数调用却是需要软、硬件配合才能完成的过程。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70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7078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70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707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707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ChangeArrowheads="1"/>
          </p:cNvSpPr>
          <p:nvPr/>
        </p:nvSpPr>
        <p:spPr bwMode="auto">
          <a:xfrm>
            <a:off x="6213475" y="385763"/>
            <a:ext cx="2614613" cy="33655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第</a:t>
            </a:r>
            <a:r>
              <a:rPr lang="en-US" altLang="zh-CN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5</a:t>
            </a:r>
            <a:r>
              <a:rPr lang="zh-CN" altLang="en-US" sz="1600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</a:rPr>
              <a:t>章 单片机的中断系统 </a:t>
            </a:r>
          </a:p>
        </p:txBody>
      </p:sp>
      <p:sp>
        <p:nvSpPr>
          <p:cNvPr id="1274883" name="Text Box 3"/>
          <p:cNvSpPr txBox="1">
            <a:spLocks noChangeArrowheads="1"/>
          </p:cNvSpPr>
          <p:nvPr/>
        </p:nvSpPr>
        <p:spPr bwMode="auto">
          <a:xfrm>
            <a:off x="571500" y="1154113"/>
            <a:ext cx="8031163" cy="483235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8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分时操作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可以使多个外设同时工作，并分时为各外设提供服务，大大提高了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的利用率和输入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输出的速度。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2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8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实时处理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：当计算机用于实时控制时，请求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提供服务是随机发生的。有了中断系统，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就可以立即响应并加以处理。</a:t>
            </a:r>
          </a:p>
          <a:p>
            <a:pPr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3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、</a:t>
            </a:r>
            <a:r>
              <a:rPr lang="zh-CN" altLang="en-US" sz="2800" dirty="0">
                <a:solidFill>
                  <a:srgbClr val="FF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故障处理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：当计算机运行中出现如电源断电、存储器校验出错、运算溢出等错误时，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CPU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可及时转去执行故障处理程序，减小或消除故障产生的影响。 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899592" y="545670"/>
            <a:ext cx="7758113" cy="5842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中断实现的功能：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74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748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4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748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6559c7da-ede6-447a-aa81-d83eb00ecdd4"/>
  <p:tag name="COMMONDATA" val="eyJoZGlkIjoiZTk4MDg0ODYxZjc1NWE5MDU2ZWM0NWY3YTJmNGUyOTQifQ==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anose="030F0702030302020204" pitchFamily="66" charset="0"/>
            <a:ea typeface="楷体_GB2312" pitchFamily="49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Blends</Template>
  <TotalTime>37</TotalTime>
  <Words>643</Words>
  <Application>Microsoft Office PowerPoint</Application>
  <PresentationFormat>全屏显示(4:3)</PresentationFormat>
  <Paragraphs>59</Paragraphs>
  <Slides>10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楷体</vt:lpstr>
      <vt:lpstr>楷体_GB2312</vt:lpstr>
      <vt:lpstr>宋体</vt:lpstr>
      <vt:lpstr>Arial</vt:lpstr>
      <vt:lpstr>Comic Sans MS</vt:lpstr>
      <vt:lpstr>Tahoma</vt:lpstr>
      <vt:lpstr>Times New Roman</vt:lpstr>
      <vt:lpstr>Wingdings</vt:lpstr>
      <vt:lpstr>Blends</vt:lpstr>
      <vt:lpstr>第5章 单片机的中断系统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第五章    MCS-51中断系统</dc:title>
  <dc:creator>autumn</dc:creator>
  <cp:lastModifiedBy>admin</cp:lastModifiedBy>
  <cp:revision>257</cp:revision>
  <dcterms:created xsi:type="dcterms:W3CDTF">2005-05-25T12:30:00Z</dcterms:created>
  <dcterms:modified xsi:type="dcterms:W3CDTF">2025-03-15T11:55:37Z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95EE735622D74C12A52D2326FC279505</vt:lpwstr>
  </property>
  <property fmtid="{D5CDD505-2E9C-101B-9397-08002B2CF9AE}" pid="3" name="KSOProductBuildVer">
    <vt:lpwstr>2052-11.1.0.12358</vt:lpwstr>
  </property>
</Properties>
</file>