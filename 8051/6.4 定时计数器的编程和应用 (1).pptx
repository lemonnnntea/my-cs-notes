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84" r:id="rId2"/>
    <p:sldId id="340" r:id="rId3"/>
    <p:sldId id="341" r:id="rId4"/>
    <p:sldId id="410" r:id="rId5"/>
    <p:sldId id="342" r:id="rId6"/>
    <p:sldId id="422" r:id="rId7"/>
    <p:sldId id="411" r:id="rId8"/>
    <p:sldId id="412" r:id="rId9"/>
    <p:sldId id="420" r:id="rId10"/>
    <p:sldId id="390" r:id="rId11"/>
    <p:sldId id="391" r:id="rId12"/>
    <p:sldId id="421" r:id="rId13"/>
    <p:sldId id="392" r:id="rId14"/>
    <p:sldId id="393" r:id="rId15"/>
    <p:sldId id="413" r:id="rId16"/>
    <p:sldId id="414" r:id="rId17"/>
    <p:sldId id="343" r:id="rId18"/>
    <p:sldId id="415" r:id="rId19"/>
    <p:sldId id="395" r:id="rId20"/>
    <p:sldId id="416" r:id="rId21"/>
    <p:sldId id="417" r:id="rId22"/>
    <p:sldId id="396" r:id="rId23"/>
    <p:sldId id="423" r:id="rId24"/>
    <p:sldId id="418" r:id="rId25"/>
    <p:sldId id="397" r:id="rId26"/>
    <p:sldId id="398" r:id="rId27"/>
    <p:sldId id="403" r:id="rId28"/>
    <p:sldId id="394" r:id="rId29"/>
    <p:sldId id="401" r:id="rId30"/>
    <p:sldId id="419" r:id="rId31"/>
    <p:sldId id="405" r:id="rId32"/>
    <p:sldId id="406" r:id="rId33"/>
    <p:sldId id="407" r:id="rId34"/>
    <p:sldId id="424" r:id="rId35"/>
    <p:sldId id="344" r:id="rId36"/>
    <p:sldId id="408" r:id="rId37"/>
    <p:sldId id="319" r:id="rId38"/>
  </p:sldIdLst>
  <p:sldSz cx="9144000" cy="6858000" type="screen4x3"/>
  <p:notesSz cx="6858000" cy="9144000"/>
  <p:custDataLst>
    <p:tags r:id="rId41"/>
  </p:custDataLst>
  <p:defaultTextStyle>
    <a:defPPr>
      <a:defRPr lang="zh-CN"/>
    </a:defPPr>
    <a:lvl1pPr algn="l" rtl="0" eaLnBrk="0" fontAlgn="base" hangingPunct="0">
      <a:spcBef>
        <a:spcPct val="0"/>
      </a:spcBef>
      <a:spcAft>
        <a:spcPct val="0"/>
      </a:spcAft>
      <a:defRPr sz="2800" b="1"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sz="28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sz="28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sz="28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sz="28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FF"/>
    <a:srgbClr val="FFC715"/>
    <a:srgbClr val="9900CC"/>
    <a:srgbClr val="FFCF37"/>
    <a:srgbClr val="FFCC00"/>
    <a:srgbClr val="000099"/>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7B3EECAC-C670-40E0-9155-2E5E0C01E05C}" type="datetimeFigureOut">
              <a:rPr lang="zh-CN" altLang="en-US"/>
              <a:t>2025/4/5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vl1pPr>
          </a:lstStyle>
          <a:p>
            <a:pPr>
              <a:defRPr/>
            </a:pPr>
            <a:fld id="{466FC3CB-85D3-475F-88E9-B86F831D72B3}"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a:defRPr/>
            </a:pPr>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a:defRPr/>
            </a:pPr>
            <a:endParaRPr lang="en-US" altLang="zh-CN"/>
          </a:p>
        </p:txBody>
      </p:sp>
      <p:sp>
        <p:nvSpPr>
          <p:cNvPr id="8196"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smtClean="0">
                <a:latin typeface="Arial" panose="020B0604020202020204" pitchFamily="34" charset="0"/>
              </a:defRPr>
            </a:lvl1pPr>
          </a:lstStyle>
          <a:p>
            <a:pPr>
              <a:defRPr/>
            </a:pPr>
            <a:fld id="{E2752A1B-6A18-4427-B89A-9B6DFFAD5DE1}"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752A1B-6A18-4427-B89A-9B6DFFAD5DE1}" type="slidenum">
              <a:rPr lang="zh-CN" altLang="en-US" smtClean="0"/>
              <a:t>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0"/>
            <a:chExt cx="5675" cy="663"/>
          </a:xfrm>
        </p:grpSpPr>
        <p:grpSp>
          <p:nvGrpSpPr>
            <p:cNvPr id="5" name="Group 3"/>
            <p:cNvGrpSpPr/>
            <p:nvPr/>
          </p:nvGrpSpPr>
          <p:grpSpPr bwMode="auto">
            <a:xfrm>
              <a:off x="183" y="68"/>
              <a:ext cx="448" cy="299"/>
              <a:chOff x="0" y="0"/>
              <a:chExt cx="624" cy="432"/>
            </a:xfrm>
          </p:grpSpPr>
          <p:sp>
            <p:nvSpPr>
              <p:cNvPr id="12" name="Rectangle 4"/>
              <p:cNvSpPr>
                <a:spLocks noChangeArrowheads="1"/>
              </p:cNvSpPr>
              <p:nvPr/>
            </p:nvSpPr>
            <p:spPr bwMode="auto">
              <a:xfrm>
                <a:off x="0" y="0"/>
                <a:ext cx="384" cy="432"/>
              </a:xfrm>
              <a:prstGeom prst="rect">
                <a:avLst/>
              </a:prstGeom>
              <a:solidFill>
                <a:schemeClr val="folHlink"/>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p:nvPr/>
          </p:nvGrpSpPr>
          <p:grpSpPr bwMode="auto">
            <a:xfrm>
              <a:off x="261" y="334"/>
              <a:ext cx="465" cy="299"/>
              <a:chOff x="0" y="0"/>
              <a:chExt cx="672" cy="432"/>
            </a:xfrm>
          </p:grpSpPr>
          <p:sp>
            <p:nvSpPr>
              <p:cNvPr id="10" name="Rectangle 7"/>
              <p:cNvSpPr>
                <a:spLocks noChangeArrowheads="1"/>
              </p:cNvSpPr>
              <p:nvPr/>
            </p:nvSpPr>
            <p:spPr bwMode="auto">
              <a:xfrm>
                <a:off x="0" y="0"/>
                <a:ext cx="384" cy="432"/>
              </a:xfrm>
              <a:prstGeom prst="rect">
                <a:avLst/>
              </a:prstGeom>
              <a:solidFill>
                <a:schemeClr val="accent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0"/>
              <a:ext cx="20" cy="663"/>
            </a:xfrm>
            <a:prstGeom prst="rect">
              <a:avLst/>
            </a:prstGeom>
            <a:solidFill>
              <a:schemeClr val="bg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14" name="Rectangle 17"/>
          <p:cNvSpPr>
            <a:spLocks noChangeArrowheads="1"/>
          </p:cNvSpPr>
          <p:nvPr userDrawn="1"/>
        </p:nvSpPr>
        <p:spPr bwMode="auto">
          <a:xfrm>
            <a:off x="1600200" y="0"/>
            <a:ext cx="7543800" cy="381000"/>
          </a:xfrm>
          <a:prstGeom prst="rect">
            <a:avLst/>
          </a:prstGeom>
          <a:solidFill>
            <a:schemeClr val="accent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pic>
        <p:nvPicPr>
          <p:cNvPr id="15" name="Picture 18" descr="CITBANND"/>
          <p:cNvPicPr>
            <a:picLocks noChangeAspect="1" noChangeArrowheads="1"/>
          </p:cNvPicPr>
          <p:nvPr userDrawn="1"/>
        </p:nvPicPr>
        <p:blipFill>
          <a:blip r:embed="rId2">
            <a:extLst>
              <a:ext uri="{28A0092B-C50C-407E-A947-70E740481C1C}">
                <a14:useLocalDpi xmlns:a14="http://schemas.microsoft.com/office/drawing/2010/main" val="0"/>
              </a:ext>
            </a:extLst>
          </a:blip>
          <a:srcRect l="30666" r="5334" b="86667"/>
          <a:stretch>
            <a:fillRect/>
          </a:stretch>
        </p:blipFill>
        <p:spPr bwMode="auto">
          <a:xfrm>
            <a:off x="2514600" y="0"/>
            <a:ext cx="6629400"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9"/>
          <p:cNvSpPr>
            <a:spLocks noChangeArrowheads="1"/>
          </p:cNvSpPr>
          <p:nvPr userDrawn="1"/>
        </p:nvSpPr>
        <p:spPr bwMode="auto">
          <a:xfrm>
            <a:off x="1600200" y="381000"/>
            <a:ext cx="7543800" cy="76200"/>
          </a:xfrm>
          <a:prstGeom prst="rect">
            <a:avLst/>
          </a:prstGeom>
          <a:solidFill>
            <a:schemeClr val="accent1"/>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7" name="Text Box 20">
            <a:hlinkClick r:id="" action="ppaction://noaction" highlightClick="1"/>
          </p:cNvPr>
          <p:cNvSpPr txBox="1">
            <a:spLocks noChangeArrowheads="1"/>
          </p:cNvSpPr>
          <p:nvPr userDrawn="1"/>
        </p:nvSpPr>
        <p:spPr bwMode="auto">
          <a:xfrm>
            <a:off x="5364163" y="115888"/>
            <a:ext cx="3779837" cy="274637"/>
          </a:xfrm>
          <a:prstGeom prst="rect">
            <a:avLst/>
          </a:prstGeom>
          <a:noFill/>
          <a:ln>
            <a:noFill/>
          </a:ln>
          <a:effectLst/>
        </p:spPr>
        <p:txBody>
          <a:bodyPr>
            <a:spAutoFit/>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defRPr/>
            </a:pPr>
            <a:r>
              <a:rPr lang="zh-CN" altLang="en-US" sz="1200">
                <a:solidFill>
                  <a:srgbClr val="FFFF00"/>
                </a:solidFill>
                <a:latin typeface="楷体_GB2312" pitchFamily="49" charset="-122"/>
                <a:ea typeface="楷体_GB2312" pitchFamily="49" charset="-122"/>
              </a:rPr>
              <a:t>单片机原理与应用</a:t>
            </a:r>
          </a:p>
        </p:txBody>
      </p:sp>
      <p:sp>
        <p:nvSpPr>
          <p:cNvPr id="2060"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8"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9"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20"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C1398B97-E5D7-43EB-BA8B-CF89801AAF73}" type="slidenum">
              <a:rPr lang="zh-CN" altLang="en-US"/>
              <a:t>‹#›</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7"/>
                                        </p:tgtEl>
                                        <p:attrNameLst>
                                          <p:attrName>style.visibility</p:attrName>
                                        </p:attrNameLst>
                                      </p:cBhvr>
                                      <p:to>
                                        <p:strVal val="visible"/>
                                      </p:to>
                                    </p:set>
                                    <p:anim calcmode="discrete" valueType="clr">
                                      <p:cBhvr override="childStyle">
                                        <p:cTn id="7" dur="80"/>
                                        <p:tgtEl>
                                          <p:spTgt spid="1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7"/>
                                        </p:tgtEl>
                                        <p:attrNameLst>
                                          <p:attrName>fillcolor</p:attrName>
                                        </p:attrNameLst>
                                      </p:cBhvr>
                                      <p:tavLst>
                                        <p:tav tm="0">
                                          <p:val>
                                            <p:clrVal>
                                              <a:schemeClr val="accent2"/>
                                            </p:clrVal>
                                          </p:val>
                                        </p:tav>
                                        <p:tav tm="50000">
                                          <p:val>
                                            <p:clrVal>
                                              <a:schemeClr val="hlink"/>
                                            </p:clrVal>
                                          </p:val>
                                        </p:tav>
                                      </p:tavLst>
                                    </p:anim>
                                    <p:set>
                                      <p:cBhvr>
                                        <p:cTn id="9" dur="80"/>
                                        <p:tgtEl>
                                          <p:spTgt spid="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A96CC27-541A-4E68-A17B-2660855C8D8F}"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0270B1D-42CD-44B1-B194-193AB885DD44}"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D3E4FE2D-9F4B-4952-BC69-57CA33B597A2}"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7502CD26-C81E-4169-B699-9CE4F46A478C}"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5A40C01F-F4F7-4278-81A5-9CC73D9E91F2}"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6659563" y="138113"/>
            <a:ext cx="2484437" cy="215900"/>
          </a:xfrm>
          <a:prstGeom prst="rect">
            <a:avLst/>
          </a:prstGeom>
          <a:solidFill>
            <a:srgbClr val="FFCF37"/>
          </a:solidFill>
          <a:ln>
            <a:noFill/>
          </a:ln>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defRPr/>
            </a:pPr>
            <a:r>
              <a:rPr lang="zh-CN" altLang="en-US" sz="1100" dirty="0"/>
              <a:t>单片机原理及应用</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smtClean="0"/>
            </a:lvl1pPr>
          </a:lstStyle>
          <a:p>
            <a:pPr>
              <a:defRPr/>
            </a:pPr>
            <a:fld id="{C75AF347-A83D-4ACF-B829-C6230AFBD0FD}"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p:cNvSpPr>
            <a:spLocks noChangeArrowheads="1"/>
          </p:cNvSpPr>
          <p:nvPr userDrawn="1"/>
        </p:nvSpPr>
        <p:spPr bwMode="auto">
          <a:xfrm>
            <a:off x="6659563" y="138113"/>
            <a:ext cx="2484437" cy="215900"/>
          </a:xfrm>
          <a:prstGeom prst="rect">
            <a:avLst/>
          </a:prstGeom>
          <a:solidFill>
            <a:srgbClr val="FFCF37"/>
          </a:solidFill>
          <a:ln>
            <a:noFill/>
          </a:ln>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defRPr/>
            </a:pPr>
            <a:r>
              <a:rPr lang="zh-CN" altLang="en-US" sz="1100" dirty="0"/>
              <a:t>单片机原理及应用</a:t>
            </a:r>
          </a:p>
        </p:txBody>
      </p:sp>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11"/>
          <p:cNvSpPr>
            <a:spLocks noGrp="1" noChangeArrowheads="1"/>
          </p:cNvSpPr>
          <p:nvPr>
            <p:ph type="dt" sz="half" idx="10"/>
          </p:nvPr>
        </p:nvSpPr>
        <p:spPr/>
        <p:txBody>
          <a:bodyPr/>
          <a:lstStyle>
            <a:lvl1pPr>
              <a:defRPr/>
            </a:lvl1pPr>
          </a:lstStyle>
          <a:p>
            <a:pPr>
              <a:defRPr/>
            </a:pPr>
            <a:endParaRPr lang="en-US" altLang="zh-CN"/>
          </a:p>
        </p:txBody>
      </p:sp>
      <p:sp>
        <p:nvSpPr>
          <p:cNvPr id="7" name="Rectangle 12"/>
          <p:cNvSpPr>
            <a:spLocks noGrp="1" noChangeArrowheads="1"/>
          </p:cNvSpPr>
          <p:nvPr>
            <p:ph type="ftr" sz="quarter" idx="11"/>
          </p:nvPr>
        </p:nvSpPr>
        <p:spPr/>
        <p:txBody>
          <a:bodyPr/>
          <a:lstStyle>
            <a:lvl1pPr>
              <a:defRPr/>
            </a:lvl1pPr>
          </a:lstStyle>
          <a:p>
            <a:pPr>
              <a:defRPr/>
            </a:pPr>
            <a:endParaRPr lang="en-US" altLang="zh-CN"/>
          </a:p>
        </p:txBody>
      </p:sp>
      <p:sp>
        <p:nvSpPr>
          <p:cNvPr id="8" name="Rectangle 13"/>
          <p:cNvSpPr>
            <a:spLocks noGrp="1" noChangeArrowheads="1"/>
          </p:cNvSpPr>
          <p:nvPr>
            <p:ph type="sldNum" sz="quarter" idx="12"/>
          </p:nvPr>
        </p:nvSpPr>
        <p:spPr/>
        <p:txBody>
          <a:bodyPr/>
          <a:lstStyle>
            <a:lvl1pPr>
              <a:defRPr smtClean="0"/>
            </a:lvl1pPr>
          </a:lstStyle>
          <a:p>
            <a:pPr>
              <a:defRPr/>
            </a:pPr>
            <a:fld id="{F8C16644-4230-45AC-8C97-A1AF9356E311}"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矩形 4"/>
          <p:cNvSpPr>
            <a:spLocks noChangeArrowheads="1"/>
          </p:cNvSpPr>
          <p:nvPr userDrawn="1"/>
        </p:nvSpPr>
        <p:spPr bwMode="auto">
          <a:xfrm>
            <a:off x="6659563" y="138113"/>
            <a:ext cx="2484437" cy="215900"/>
          </a:xfrm>
          <a:prstGeom prst="rect">
            <a:avLst/>
          </a:prstGeom>
          <a:solidFill>
            <a:srgbClr val="FFCF37"/>
          </a:solidFill>
          <a:ln>
            <a:noFill/>
          </a:ln>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defRPr/>
            </a:pPr>
            <a:r>
              <a:rPr lang="zh-CN" altLang="en-US" sz="1100" dirty="0"/>
              <a:t>单片机原理及应用</a:t>
            </a:r>
          </a:p>
        </p:txBody>
      </p:sp>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11"/>
          <p:cNvSpPr>
            <a:spLocks noGrp="1" noChangeArrowheads="1"/>
          </p:cNvSpPr>
          <p:nvPr>
            <p:ph type="dt" sz="half" idx="10"/>
          </p:nvPr>
        </p:nvSpPr>
        <p:spPr/>
        <p:txBody>
          <a:bodyPr/>
          <a:lstStyle>
            <a:lvl1pPr>
              <a:defRPr/>
            </a:lvl1pPr>
          </a:lstStyle>
          <a:p>
            <a:pPr>
              <a:defRPr/>
            </a:pPr>
            <a:endParaRPr lang="en-US" altLang="zh-CN"/>
          </a:p>
        </p:txBody>
      </p:sp>
      <p:sp>
        <p:nvSpPr>
          <p:cNvPr id="7" name="Rectangle 12"/>
          <p:cNvSpPr>
            <a:spLocks noGrp="1" noChangeArrowheads="1"/>
          </p:cNvSpPr>
          <p:nvPr>
            <p:ph type="ftr" sz="quarter" idx="11"/>
          </p:nvPr>
        </p:nvSpPr>
        <p:spPr/>
        <p:txBody>
          <a:bodyPr/>
          <a:lstStyle>
            <a:lvl1pPr>
              <a:defRPr/>
            </a:lvl1pPr>
          </a:lstStyle>
          <a:p>
            <a:pPr>
              <a:defRPr/>
            </a:pPr>
            <a:endParaRPr lang="en-US" altLang="zh-CN"/>
          </a:p>
        </p:txBody>
      </p:sp>
      <p:sp>
        <p:nvSpPr>
          <p:cNvPr id="8" name="Rectangle 13"/>
          <p:cNvSpPr>
            <a:spLocks noGrp="1" noChangeArrowheads="1"/>
          </p:cNvSpPr>
          <p:nvPr>
            <p:ph type="sldNum" sz="quarter" idx="12"/>
          </p:nvPr>
        </p:nvSpPr>
        <p:spPr/>
        <p:txBody>
          <a:bodyPr/>
          <a:lstStyle>
            <a:lvl1pPr>
              <a:defRPr smtClean="0"/>
            </a:lvl1pPr>
          </a:lstStyle>
          <a:p>
            <a:pPr>
              <a:defRPr/>
            </a:pPr>
            <a:fld id="{4B9D072F-A63E-476B-A3E8-1FDFE133D22B}"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6659563" y="138113"/>
            <a:ext cx="2484437" cy="215900"/>
          </a:xfrm>
          <a:prstGeom prst="rect">
            <a:avLst/>
          </a:prstGeom>
          <a:solidFill>
            <a:srgbClr val="FFCF37"/>
          </a:solidFill>
          <a:ln>
            <a:noFill/>
          </a:ln>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defRPr/>
            </a:pPr>
            <a:r>
              <a:rPr lang="zh-CN" altLang="en-US" sz="1100" dirty="0"/>
              <a:t>单片机原理及应用</a:t>
            </a: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smtClean="0"/>
            </a:lvl1pPr>
          </a:lstStyle>
          <a:p>
            <a:pPr>
              <a:defRPr/>
            </a:pPr>
            <a:fld id="{CAF8C992-FA53-4127-832A-3725F534E237}"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6659563" y="138113"/>
            <a:ext cx="2484437" cy="215900"/>
          </a:xfrm>
          <a:prstGeom prst="rect">
            <a:avLst/>
          </a:prstGeom>
          <a:solidFill>
            <a:srgbClr val="FFCF37"/>
          </a:solidFill>
          <a:ln>
            <a:noFill/>
          </a:ln>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defRPr/>
            </a:pPr>
            <a:r>
              <a:rPr lang="zh-CN" altLang="en-US" sz="1100" dirty="0"/>
              <a:t>单片机原理及应用</a:t>
            </a:r>
          </a:p>
        </p:txBody>
      </p:sp>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smtClean="0"/>
            </a:lvl1pPr>
          </a:lstStyle>
          <a:p>
            <a:pPr>
              <a:defRPr/>
            </a:pPr>
            <a:fld id="{5925CB56-CCAE-4B77-A06A-27122BCBA9FC}"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513" y="1098550"/>
            <a:ext cx="438150" cy="474663"/>
          </a:xfrm>
          <a:prstGeom prst="rect">
            <a:avLst/>
          </a:prstGeom>
          <a:solidFill>
            <a:schemeClr val="accent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27" name="Rectangle 3"/>
          <p:cNvSpPr>
            <a:spLocks noChangeArrowheads="1"/>
          </p:cNvSpPr>
          <p:nvPr/>
        </p:nvSpPr>
        <p:spPr bwMode="auto">
          <a:xfrm>
            <a:off x="800100" y="1098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28" name="Rectangle 4"/>
          <p:cNvSpPr>
            <a:spLocks noChangeArrowheads="1"/>
          </p:cNvSpPr>
          <p:nvPr/>
        </p:nvSpPr>
        <p:spPr bwMode="auto">
          <a:xfrm>
            <a:off x="541338" y="1520825"/>
            <a:ext cx="422275" cy="474663"/>
          </a:xfrm>
          <a:prstGeom prst="rect">
            <a:avLst/>
          </a:prstGeom>
          <a:solidFill>
            <a:schemeClr val="folHlink"/>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29" name="Rectangle 5"/>
          <p:cNvSpPr>
            <a:spLocks noChangeArrowheads="1"/>
          </p:cNvSpPr>
          <p:nvPr/>
        </p:nvSpPr>
        <p:spPr bwMode="auto">
          <a:xfrm>
            <a:off x="911225" y="1520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30" name="Rectangle 6"/>
          <p:cNvSpPr>
            <a:spLocks noChangeArrowheads="1"/>
          </p:cNvSpPr>
          <p:nvPr/>
        </p:nvSpPr>
        <p:spPr bwMode="auto">
          <a:xfrm>
            <a:off x="127000" y="1447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31" name="Rectangle 7"/>
          <p:cNvSpPr>
            <a:spLocks noChangeArrowheads="1"/>
          </p:cNvSpPr>
          <p:nvPr/>
        </p:nvSpPr>
        <p:spPr bwMode="auto">
          <a:xfrm>
            <a:off x="762000" y="990600"/>
            <a:ext cx="31750" cy="1052513"/>
          </a:xfrm>
          <a:prstGeom prst="rect">
            <a:avLst/>
          </a:prstGeom>
          <a:solidFill>
            <a:schemeClr val="bg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32" name="Rectangle 8"/>
          <p:cNvSpPr>
            <a:spLocks noChangeArrowheads="1"/>
          </p:cNvSpPr>
          <p:nvPr/>
        </p:nvSpPr>
        <p:spPr bwMode="auto">
          <a:xfrm>
            <a:off x="442913" y="1781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sz="2400" b="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5" name="Rectangle 11"/>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defRPr sz="1400" b="0"/>
            </a:lvl1pPr>
          </a:lstStyle>
          <a:p>
            <a:pPr>
              <a:defRPr/>
            </a:pPr>
            <a:endParaRPr lang="en-US" altLang="zh-CN"/>
          </a:p>
        </p:txBody>
      </p:sp>
      <p:sp>
        <p:nvSpPr>
          <p:cNvPr id="1036" name="Rectangle 12"/>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400" b="0"/>
            </a:lvl1pPr>
          </a:lstStyle>
          <a:p>
            <a:pPr>
              <a:defRPr/>
            </a:pPr>
            <a:endParaRPr lang="en-US" altLang="zh-CN"/>
          </a:p>
        </p:txBody>
      </p:sp>
      <p:sp>
        <p:nvSpPr>
          <p:cNvPr id="1037" name="Rectangle 13"/>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eaLnBrk="1" hangingPunct="1">
              <a:defRPr sz="1400" b="0" smtClean="0"/>
            </a:lvl1pPr>
          </a:lstStyle>
          <a:p>
            <a:pPr>
              <a:defRPr/>
            </a:pPr>
            <a:fld id="{E010547A-9904-47DB-81BA-411AE030BCB2}" type="slidenum">
              <a:rPr lang="zh-CN" altLang="en-US"/>
              <a:t>‹#›</a:t>
            </a:fld>
            <a:endParaRPr lang="en-US" altLang="zh-CN"/>
          </a:p>
        </p:txBody>
      </p:sp>
      <p:sp>
        <p:nvSpPr>
          <p:cNvPr id="1038" name="Rectangle 14"/>
          <p:cNvSpPr>
            <a:spLocks noChangeArrowheads="1"/>
          </p:cNvSpPr>
          <p:nvPr userDrawn="1"/>
        </p:nvSpPr>
        <p:spPr bwMode="auto">
          <a:xfrm>
            <a:off x="1600200" y="0"/>
            <a:ext cx="7543800" cy="381000"/>
          </a:xfrm>
          <a:prstGeom prst="rect">
            <a:avLst/>
          </a:prstGeom>
          <a:solidFill>
            <a:schemeClr val="accent2"/>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pic>
        <p:nvPicPr>
          <p:cNvPr id="1039" name="Picture 15" descr="CITBANND"/>
          <p:cNvPicPr>
            <a:picLocks noChangeAspect="1" noChangeArrowheads="1"/>
          </p:cNvPicPr>
          <p:nvPr userDrawn="1"/>
        </p:nvPicPr>
        <p:blipFill>
          <a:blip r:embed="rId13">
            <a:extLst>
              <a:ext uri="{28A0092B-C50C-407E-A947-70E740481C1C}">
                <a14:useLocalDpi xmlns:a14="http://schemas.microsoft.com/office/drawing/2010/main" val="0"/>
              </a:ext>
            </a:extLst>
          </a:blip>
          <a:srcRect l="30666" r="5334" b="86667"/>
          <a:stretch>
            <a:fillRect/>
          </a:stretch>
        </p:blipFill>
        <p:spPr bwMode="auto">
          <a:xfrm>
            <a:off x="2514600" y="0"/>
            <a:ext cx="6629400"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0" name="Rectangle 16"/>
          <p:cNvSpPr>
            <a:spLocks noChangeArrowheads="1"/>
          </p:cNvSpPr>
          <p:nvPr userDrawn="1"/>
        </p:nvSpPr>
        <p:spPr bwMode="auto">
          <a:xfrm>
            <a:off x="1600200" y="381000"/>
            <a:ext cx="7543800" cy="76200"/>
          </a:xfrm>
          <a:prstGeom prst="rect">
            <a:avLst/>
          </a:prstGeom>
          <a:solidFill>
            <a:schemeClr val="accent1"/>
          </a:solid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41" name="Text Box 17"/>
          <p:cNvSpPr txBox="1">
            <a:spLocks noChangeArrowheads="1"/>
          </p:cNvSpPr>
          <p:nvPr userDrawn="1"/>
        </p:nvSpPr>
        <p:spPr bwMode="auto">
          <a:xfrm>
            <a:off x="5364163" y="115888"/>
            <a:ext cx="3779837" cy="274637"/>
          </a:xfrm>
          <a:prstGeom prst="rect">
            <a:avLst/>
          </a:prstGeom>
          <a:noFill/>
          <a:ln>
            <a:noFill/>
          </a:ln>
          <a:effectLst/>
        </p:spPr>
        <p:txBody>
          <a:bodyPr>
            <a:spAutoFit/>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defRPr/>
            </a:pPr>
            <a:r>
              <a:rPr lang="zh-CN" altLang="en-US" sz="1200">
                <a:solidFill>
                  <a:srgbClr val="FFFF00"/>
                </a:solidFill>
                <a:latin typeface="楷体_GB2312" pitchFamily="49" charset="-122"/>
                <a:ea typeface="楷体_GB2312" pitchFamily="49" charset="-122"/>
              </a:rPr>
              <a:t>单片机原理与应用</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041"/>
                                        </p:tgtEl>
                                        <p:attrNameLst>
                                          <p:attrName>style.visibility</p:attrName>
                                        </p:attrNameLst>
                                      </p:cBhvr>
                                      <p:to>
                                        <p:strVal val="visible"/>
                                      </p:to>
                                    </p:set>
                                    <p:anim calcmode="discrete" valueType="clr">
                                      <p:cBhvr override="childStyle">
                                        <p:cTn id="7" dur="80"/>
                                        <p:tgtEl>
                                          <p:spTgt spid="1041"/>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41"/>
                                        </p:tgtEl>
                                        <p:attrNameLst>
                                          <p:attrName>fillcolor</p:attrName>
                                        </p:attrNameLst>
                                      </p:cBhvr>
                                      <p:tavLst>
                                        <p:tav tm="0">
                                          <p:val>
                                            <p:clrVal>
                                              <a:schemeClr val="accent2"/>
                                            </p:clrVal>
                                          </p:val>
                                        </p:tav>
                                        <p:tav tm="50000">
                                          <p:val>
                                            <p:clrVal>
                                              <a:schemeClr val="hlink"/>
                                            </p:clrVal>
                                          </p:val>
                                        </p:tav>
                                      </p:tavLst>
                                    </p:anim>
                                    <p:set>
                                      <p:cBhvr>
                                        <p:cTn id="9" dur="80"/>
                                        <p:tgtEl>
                                          <p:spTgt spid="104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1" grpId="0" autoUpdateAnimBg="0"/>
    </p:bldLst>
  </p:timing>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 Target="slide5.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5.bin"/><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5AA8D1E-6134-46BD-9601-D16ACFA9CC27}" type="slidenum">
              <a:rPr lang="zh-CN" altLang="en-US" sz="1400"/>
              <a:t>1</a:t>
            </a:fld>
            <a:endParaRPr lang="en-US" altLang="zh-CN" sz="1400"/>
          </a:p>
        </p:txBody>
      </p:sp>
      <p:sp>
        <p:nvSpPr>
          <p:cNvPr id="45058" name="Rectangle 2"/>
          <p:cNvSpPr>
            <a:spLocks noChangeArrowheads="1"/>
          </p:cNvSpPr>
          <p:nvPr/>
        </p:nvSpPr>
        <p:spPr bwMode="auto">
          <a:xfrm>
            <a:off x="611188" y="1844675"/>
            <a:ext cx="7923212" cy="4752975"/>
          </a:xfrm>
          <a:prstGeom prst="rect">
            <a:avLst/>
          </a:prstGeom>
          <a:noFill/>
          <a:ln>
            <a:noFill/>
          </a:ln>
          <a:effec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1241425"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660525"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2079625"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498725"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955925"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3413125"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870325"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4327525" indent="-22860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ts val="0"/>
              </a:spcBef>
              <a:buFont typeface="Wingdings" panose="05000000000000000000" pitchFamily="2" charset="2"/>
              <a:buNone/>
              <a:defRPr/>
            </a:pP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a:t>
            </a:r>
            <a:r>
              <a:rPr lang="zh-CN" altLang="en-US" sz="2600" dirty="0">
                <a:effectLst>
                  <a:outerShdw blurRad="38100" dist="38100" dir="2700000" algn="tl">
                    <a:srgbClr val="000000">
                      <a:alpha val="43137"/>
                    </a:srgbClr>
                  </a:outerShdw>
                </a:effectLst>
                <a:latin typeface="宋体" panose="02010600030101010101" pitchFamily="2" charset="-122"/>
              </a:rPr>
              <a:t>根据定时时间要求或计数要求计算计数器初值。</a:t>
            </a:r>
            <a:endPar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eaLnBrk="1" hangingPunct="1">
              <a:lnSpc>
                <a:spcPct val="130000"/>
              </a:lnSpc>
              <a:spcBef>
                <a:spcPts val="0"/>
              </a:spcBef>
              <a:buFont typeface="Wingdings" panose="05000000000000000000" pitchFamily="2" charset="2"/>
              <a:buNone/>
              <a:defRPr/>
            </a:pP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a:t>
            </a:r>
            <a:r>
              <a:rPr lang="zh-CN" altLang="en-US" sz="2600" dirty="0">
                <a:effectLst>
                  <a:outerShdw blurRad="38100" dist="38100" dir="2700000" algn="tl">
                    <a:srgbClr val="000000">
                      <a:alpha val="43137"/>
                    </a:srgbClr>
                  </a:outerShdw>
                </a:effectLst>
                <a:latin typeface="宋体" panose="02010600030101010101" pitchFamily="2" charset="-122"/>
              </a:rPr>
              <a:t>填写工作方式控制字送</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TMOD</a:t>
            </a:r>
            <a:r>
              <a:rPr lang="zh-CN" altLang="en-US" sz="2600" dirty="0">
                <a:effectLst>
                  <a:outerShdw blurRad="38100" dist="38100" dir="2700000" algn="tl">
                    <a:srgbClr val="000000">
                      <a:alpha val="43137"/>
                    </a:srgbClr>
                  </a:outerShdw>
                </a:effectLst>
                <a:latin typeface="宋体" panose="02010600030101010101" pitchFamily="2" charset="-122"/>
              </a:rPr>
              <a:t>寄存器。</a:t>
            </a:r>
            <a:endPar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eaLnBrk="1" hangingPunct="1">
              <a:lnSpc>
                <a:spcPct val="130000"/>
              </a:lnSpc>
              <a:spcBef>
                <a:spcPts val="0"/>
              </a:spcBef>
              <a:buFont typeface="Wingdings" panose="05000000000000000000" pitchFamily="2" charset="2"/>
              <a:buNone/>
              <a:defRPr/>
            </a:pP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a:t>
            </a:r>
            <a:r>
              <a:rPr lang="zh-CN" altLang="en-US" sz="2600" dirty="0">
                <a:effectLst>
                  <a:outerShdw blurRad="38100" dist="38100" dir="2700000" algn="tl">
                    <a:srgbClr val="000000">
                      <a:alpha val="43137"/>
                    </a:srgbClr>
                  </a:outerShdw>
                </a:effectLst>
                <a:latin typeface="宋体" panose="02010600030101010101" pitchFamily="2" charset="-122"/>
              </a:rPr>
              <a:t>送计数初值到</a:t>
            </a:r>
            <a:r>
              <a:rPr lang="en-US" altLang="zh-CN" sz="26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THx</a:t>
            </a:r>
            <a:r>
              <a:rPr lang="zh-CN" altLang="en-US" sz="2600" dirty="0">
                <a:effectLst>
                  <a:outerShdw blurRad="38100" dist="38100" dir="2700000" algn="tl">
                    <a:srgbClr val="000000">
                      <a:alpha val="43137"/>
                    </a:srgbClr>
                  </a:outerShdw>
                </a:effectLst>
                <a:latin typeface="宋体" panose="02010600030101010101" pitchFamily="2" charset="-122"/>
              </a:rPr>
              <a:t>和</a:t>
            </a:r>
            <a:r>
              <a:rPr lang="en-US" altLang="zh-CN" sz="26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TLx</a:t>
            </a:r>
            <a:r>
              <a:rPr lang="zh-CN" altLang="en-US" sz="2600" dirty="0">
                <a:effectLst>
                  <a:outerShdw blurRad="38100" dist="38100" dir="2700000" algn="tl">
                    <a:srgbClr val="000000">
                      <a:alpha val="43137"/>
                    </a:srgbClr>
                  </a:outerShdw>
                </a:effectLst>
                <a:latin typeface="宋体" panose="02010600030101010101" pitchFamily="2" charset="-122"/>
              </a:rPr>
              <a:t>寄存器中。</a:t>
            </a:r>
            <a:endParaRPr lang="zh-CN" altLang="en-US"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eaLnBrk="1" hangingPunct="1">
              <a:lnSpc>
                <a:spcPct val="130000"/>
              </a:lnSpc>
              <a:spcBef>
                <a:spcPts val="0"/>
              </a:spcBef>
              <a:buFont typeface="Wingdings" panose="05000000000000000000" pitchFamily="2" charset="2"/>
              <a:buNone/>
              <a:defRPr/>
            </a:pP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  </a:t>
            </a:r>
            <a:r>
              <a:rPr lang="zh-CN" altLang="en-US" sz="2600" dirty="0">
                <a:effectLst>
                  <a:outerShdw blurRad="38100" dist="38100" dir="2700000" algn="tl">
                    <a:srgbClr val="000000">
                      <a:alpha val="43137"/>
                    </a:srgbClr>
                  </a:outerShdw>
                </a:effectLst>
                <a:latin typeface="宋体" panose="02010600030101010101" pitchFamily="2" charset="-122"/>
              </a:rPr>
              <a:t>启动定时</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600" dirty="0">
                <a:effectLst>
                  <a:outerShdw blurRad="38100" dist="38100" dir="2700000" algn="tl">
                    <a:srgbClr val="000000">
                      <a:alpha val="43137"/>
                    </a:srgbClr>
                  </a:outerShdw>
                </a:effectLst>
                <a:latin typeface="宋体" panose="02010600030101010101" pitchFamily="2" charset="-122"/>
              </a:rPr>
              <a:t>或计数</a:t>
            </a:r>
            <a:r>
              <a:rPr lang="en-US" altLang="zh-C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600" dirty="0">
                <a:effectLst>
                  <a:outerShdw blurRad="38100" dist="38100" dir="2700000" algn="tl">
                    <a:srgbClr val="000000">
                      <a:alpha val="43137"/>
                    </a:srgbClr>
                  </a:outerShdw>
                </a:effectLst>
                <a:latin typeface="宋体" panose="02010600030101010101" pitchFamily="2" charset="-122"/>
              </a:rPr>
              <a:t>器，即将</a:t>
            </a:r>
            <a:r>
              <a:rPr lang="en-US" altLang="zh-CN" sz="26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TRx</a:t>
            </a:r>
            <a:r>
              <a:rPr lang="zh-CN" altLang="en-US" sz="2600" dirty="0">
                <a:effectLst>
                  <a:outerShdw blurRad="38100" dist="38100" dir="2700000" algn="tl">
                    <a:srgbClr val="000000">
                      <a:alpha val="43137"/>
                    </a:srgbClr>
                  </a:outerShdw>
                </a:effectLst>
                <a:latin typeface="宋体" panose="02010600030101010101" pitchFamily="2" charset="-122"/>
              </a:rPr>
              <a:t>置位。</a:t>
            </a:r>
          </a:p>
          <a:p>
            <a:pPr algn="just" eaLnBrk="1" hangingPunct="1">
              <a:lnSpc>
                <a:spcPct val="130000"/>
              </a:lnSpc>
              <a:spcBef>
                <a:spcPts val="0"/>
              </a:spcBef>
              <a:buFont typeface="Wingdings" panose="05000000000000000000" pitchFamily="2" charset="2"/>
              <a:buNone/>
              <a:defRPr/>
            </a:pPr>
            <a:r>
              <a:rPr lang="zh-CN" altLang="en-US" sz="2600" dirty="0">
                <a:effectLst>
                  <a:outerShdw blurRad="38100" dist="38100" dir="2700000" algn="tl">
                    <a:srgbClr val="000000">
                      <a:alpha val="43137"/>
                    </a:srgbClr>
                  </a:outerShdw>
                </a:effectLst>
                <a:latin typeface="Times New Roman" panose="02020603050405020304" pitchFamily="18" charset="0"/>
              </a:rPr>
              <a:t>    如果工作于中断方式，需置位</a:t>
            </a:r>
            <a:r>
              <a:rPr lang="en-US" altLang="zh-CN" sz="2600" dirty="0">
                <a:effectLst>
                  <a:outerShdw blurRad="38100" dist="38100" dir="2700000" algn="tl">
                    <a:srgbClr val="000000">
                      <a:alpha val="43137"/>
                    </a:srgbClr>
                  </a:outerShdw>
                </a:effectLst>
                <a:latin typeface="宋体" panose="02010600030101010101" pitchFamily="2" charset="-122"/>
              </a:rPr>
              <a:t>EA(</a:t>
            </a:r>
            <a:r>
              <a:rPr lang="zh-CN" altLang="en-US" sz="2600" dirty="0">
                <a:effectLst>
                  <a:outerShdw blurRad="38100" dist="38100" dir="2700000" algn="tl">
                    <a:srgbClr val="000000">
                      <a:alpha val="43137"/>
                    </a:srgbClr>
                  </a:outerShdw>
                </a:effectLst>
                <a:latin typeface="Times New Roman" panose="02020603050405020304" pitchFamily="18" charset="0"/>
              </a:rPr>
              <a:t>中断总开关</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及</a:t>
            </a:r>
            <a:r>
              <a:rPr lang="en-US" altLang="zh-CN" sz="2600" dirty="0" err="1">
                <a:effectLst>
                  <a:outerShdw blurRad="38100" dist="38100" dir="2700000" algn="tl">
                    <a:srgbClr val="000000">
                      <a:alpha val="43137"/>
                    </a:srgbClr>
                  </a:outerShdw>
                </a:effectLst>
                <a:latin typeface="宋体" panose="02010600030101010101" pitchFamily="2" charset="-122"/>
              </a:rPr>
              <a:t>ETx</a:t>
            </a:r>
            <a:r>
              <a:rPr lang="en-US" altLang="zh-CN" sz="2600" dirty="0">
                <a:effectLst>
                  <a:outerShdw blurRad="38100" dist="38100" dir="2700000" algn="tl">
                    <a:srgbClr val="000000">
                      <a:alpha val="43137"/>
                    </a:srgbClr>
                  </a:outerShdw>
                </a:effectLst>
                <a:latin typeface="宋体" panose="02010600030101010101" pitchFamily="2" charset="-122"/>
              </a:rPr>
              <a:t> (</a:t>
            </a:r>
            <a:r>
              <a:rPr lang="zh-CN" altLang="en-US" sz="2600" dirty="0">
                <a:effectLst>
                  <a:outerShdw blurRad="38100" dist="38100" dir="2700000" algn="tl">
                    <a:srgbClr val="000000">
                      <a:alpha val="43137"/>
                    </a:srgbClr>
                  </a:outerShdw>
                </a:effectLst>
                <a:latin typeface="Times New Roman" panose="02020603050405020304" pitchFamily="18" charset="0"/>
              </a:rPr>
              <a:t>允许定时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计数器中断</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，并编写中断服务程序。</a:t>
            </a:r>
            <a:r>
              <a:rPr lang="zh-CN" altLang="en-US" sz="2600" i="1" dirty="0">
                <a:solidFill>
                  <a:srgbClr val="99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注意：</a:t>
            </a:r>
            <a:r>
              <a:rPr lang="en-US" altLang="zh-CN" sz="2600" i="1" u="sng" dirty="0">
                <a:solidFill>
                  <a:srgbClr val="99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EA</a:t>
            </a:r>
            <a:r>
              <a:rPr lang="zh-CN" altLang="en-US" sz="2600" i="1" u="sng" dirty="0">
                <a:solidFill>
                  <a:srgbClr val="99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在初始化的最后，甚至是更后面需要的时候才打开。</a:t>
            </a:r>
            <a:r>
              <a:rPr lang="zh-CN" altLang="en-US" sz="2600" dirty="0">
                <a:effectLst>
                  <a:outerShdw blurRad="38100" dist="38100" dir="2700000" algn="tl">
                    <a:srgbClr val="000000">
                      <a:alpha val="43137"/>
                    </a:srgbClr>
                  </a:outerShdw>
                </a:effectLst>
                <a:latin typeface="仿宋_GB2312" pitchFamily="49" charset="-122"/>
                <a:ea typeface="仿宋_GB2312" pitchFamily="49" charset="-122"/>
              </a:rPr>
              <a:t>这是为了避免</a:t>
            </a:r>
            <a:r>
              <a:rPr lang="zh-CN" altLang="en-US" sz="2600" i="1" u="sng"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系统启动时产生意外的中断。</a:t>
            </a:r>
            <a:endParaRPr lang="zh-CN" altLang="en-US" sz="2600" dirty="0">
              <a:effectLst>
                <a:outerShdw blurRad="38100" dist="38100" dir="2700000" algn="tl">
                  <a:srgbClr val="000000">
                    <a:alpha val="43137"/>
                  </a:srgbClr>
                </a:outerShdw>
              </a:effectLst>
              <a:latin typeface="宋体" panose="02010600030101010101" pitchFamily="2" charset="-122"/>
            </a:endParaRPr>
          </a:p>
        </p:txBody>
      </p:sp>
      <p:sp>
        <p:nvSpPr>
          <p:cNvPr id="45059" name="Rectangle 3"/>
          <p:cNvSpPr>
            <a:spLocks noGrp="1" noChangeArrowheads="1"/>
          </p:cNvSpPr>
          <p:nvPr>
            <p:ph type="title"/>
          </p:nvPr>
        </p:nvSpPr>
        <p:spPr>
          <a:xfrm>
            <a:off x="1187450" y="0"/>
            <a:ext cx="7793038" cy="1169988"/>
          </a:xfrm>
        </p:spPr>
        <p:txBody>
          <a:bodyPr anchor="ctr"/>
          <a:lstStyle/>
          <a:p>
            <a:pPr eaLnBrk="1" hangingPunct="1">
              <a:defRPr/>
            </a:pPr>
            <a:r>
              <a:rPr lang="en-US" altLang="zh-CN" sz="36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6.4  </a:t>
            </a:r>
            <a:r>
              <a:rPr lang="zh-CN" altLang="en-US" sz="36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定时</a:t>
            </a:r>
            <a:r>
              <a:rPr lang="en-US" altLang="zh-CN" sz="36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36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计数器的编程和应用</a:t>
            </a:r>
          </a:p>
        </p:txBody>
      </p:sp>
      <p:sp>
        <p:nvSpPr>
          <p:cNvPr id="45060" name="Text Box 4"/>
          <p:cNvSpPr txBox="1">
            <a:spLocks noChangeArrowheads="1"/>
          </p:cNvSpPr>
          <p:nvPr/>
        </p:nvSpPr>
        <p:spPr bwMode="auto">
          <a:xfrm>
            <a:off x="900113" y="1196975"/>
            <a:ext cx="6897687" cy="579438"/>
          </a:xfrm>
          <a:prstGeom prst="rect">
            <a:avLst/>
          </a:prstGeom>
          <a:noFill/>
          <a:ln>
            <a:noFill/>
          </a:ln>
          <a:effectLst/>
        </p:spPr>
        <p:txBody>
          <a:bodyPr>
            <a:spAutoFit/>
          </a:bodyPr>
          <a:lstStyle/>
          <a:p>
            <a:pPr eaLnBrk="1" hangingPunct="1">
              <a:spcBef>
                <a:spcPct val="50000"/>
              </a:spcBef>
              <a:defRPr/>
            </a:pP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、定时</a:t>
            </a: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计数器的初始化编程步骤 </a:t>
            </a:r>
          </a:p>
        </p:txBody>
      </p:sp>
      <p:sp>
        <p:nvSpPr>
          <p:cNvPr id="36870"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animEffect transition="in" filter="randombar(horizontal)">
                                      <p:cBhvr>
                                        <p:cTn id="7" dur="500"/>
                                        <p:tgtEl>
                                          <p:spTgt spid="45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5058">
                                            <p:txEl>
                                              <p:pRg st="1" end="1"/>
                                            </p:txEl>
                                          </p:spTgt>
                                        </p:tgtEl>
                                        <p:attrNameLst>
                                          <p:attrName>style.visibility</p:attrName>
                                        </p:attrNameLst>
                                      </p:cBhvr>
                                      <p:to>
                                        <p:strVal val="visible"/>
                                      </p:to>
                                    </p:set>
                                    <p:animEffect transition="in" filter="randombar(horizontal)">
                                      <p:cBhvr>
                                        <p:cTn id="12" dur="500"/>
                                        <p:tgtEl>
                                          <p:spTgt spid="450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5058">
                                            <p:txEl>
                                              <p:pRg st="2" end="2"/>
                                            </p:txEl>
                                          </p:spTgt>
                                        </p:tgtEl>
                                        <p:attrNameLst>
                                          <p:attrName>style.visibility</p:attrName>
                                        </p:attrNameLst>
                                      </p:cBhvr>
                                      <p:to>
                                        <p:strVal val="visible"/>
                                      </p:to>
                                    </p:set>
                                    <p:animEffect transition="in" filter="randombar(horizontal)">
                                      <p:cBhvr>
                                        <p:cTn id="17" dur="500"/>
                                        <p:tgtEl>
                                          <p:spTgt spid="450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5058">
                                            <p:txEl>
                                              <p:pRg st="3" end="3"/>
                                            </p:txEl>
                                          </p:spTgt>
                                        </p:tgtEl>
                                        <p:attrNameLst>
                                          <p:attrName>style.visibility</p:attrName>
                                        </p:attrNameLst>
                                      </p:cBhvr>
                                      <p:to>
                                        <p:strVal val="visible"/>
                                      </p:to>
                                    </p:set>
                                    <p:animEffect transition="in" filter="randombar(horizontal)">
                                      <p:cBhvr>
                                        <p:cTn id="22" dur="500"/>
                                        <p:tgtEl>
                                          <p:spTgt spid="450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5058">
                                            <p:txEl>
                                              <p:pRg st="4" end="4"/>
                                            </p:txEl>
                                          </p:spTgt>
                                        </p:tgtEl>
                                        <p:attrNameLst>
                                          <p:attrName>style.visibility</p:attrName>
                                        </p:attrNameLst>
                                      </p:cBhvr>
                                      <p:to>
                                        <p:strVal val="visible"/>
                                      </p:to>
                                    </p:set>
                                    <p:animEffect transition="in" filter="randombar(horizontal)">
                                      <p:cBhvr>
                                        <p:cTn id="27" dur="500"/>
                                        <p:tgtEl>
                                          <p:spTgt spid="450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525312C-2047-49C4-BABD-4B5199A8DEFC}" type="slidenum">
              <a:rPr lang="zh-CN" altLang="en-US" sz="1400"/>
              <a:t>2</a:t>
            </a:fld>
            <a:endParaRPr lang="en-US" altLang="zh-CN" sz="1400"/>
          </a:p>
        </p:txBody>
      </p:sp>
      <p:sp>
        <p:nvSpPr>
          <p:cNvPr id="46082" name="Text Box 2"/>
          <p:cNvSpPr txBox="1">
            <a:spLocks noChangeArrowheads="1"/>
          </p:cNvSpPr>
          <p:nvPr/>
        </p:nvSpPr>
        <p:spPr bwMode="auto">
          <a:xfrm>
            <a:off x="250825" y="198438"/>
            <a:ext cx="8667750" cy="6321425"/>
          </a:xfrm>
          <a:prstGeom prst="rect">
            <a:avLst/>
          </a:prstGeom>
          <a:solidFill>
            <a:schemeClr val="bg1"/>
          </a:solidFill>
          <a:ln>
            <a:noFill/>
          </a:ln>
          <a:effectLst/>
        </p:spPr>
        <p:txBody>
          <a:bodyPr>
            <a:spAutoFit/>
          </a:bodyPr>
          <a:lstStyle/>
          <a:p>
            <a:pPr algn="just" eaLnBrk="1" hangingPunct="1">
              <a:spcBef>
                <a:spcPct val="50000"/>
              </a:spcBef>
              <a:defRPr/>
            </a:pP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．计数器初值的计算</a:t>
            </a:r>
          </a:p>
          <a:p>
            <a:pPr algn="just" eaLnBrk="1" hangingPunct="1">
              <a:spcBef>
                <a:spcPct val="20000"/>
              </a:spcBef>
              <a:defRPr/>
            </a:pPr>
            <a:r>
              <a:rPr lang="zh-CN" altLang="en-US" sz="2600" b="0" dirty="0">
                <a:effectLst>
                  <a:outerShdw blurRad="38100" dist="38100" dir="2700000" algn="tl">
                    <a:srgbClr val="000000">
                      <a:alpha val="43137"/>
                    </a:srgbClr>
                  </a:outerShdw>
                </a:effectLst>
                <a:latin typeface="Times New Roman" panose="02020603050405020304" pitchFamily="18" charset="0"/>
              </a:rPr>
              <a:t>        </a:t>
            </a:r>
            <a:r>
              <a:rPr lang="en-US" altLang="zh-CN" sz="2600" dirty="0">
                <a:effectLst>
                  <a:outerShdw blurRad="38100" dist="38100" dir="2700000" algn="tl">
                    <a:srgbClr val="000000">
                      <a:alpha val="43137"/>
                    </a:srgbClr>
                  </a:outerShdw>
                </a:effectLst>
                <a:latin typeface="Times New Roman" panose="02020603050405020304" pitchFamily="18" charset="0"/>
              </a:rPr>
              <a:t>T/C</a:t>
            </a:r>
            <a:r>
              <a:rPr lang="zh-CN" altLang="en-US" sz="2600" dirty="0">
                <a:effectLst>
                  <a:outerShdw blurRad="38100" dist="38100" dir="2700000" algn="tl">
                    <a:srgbClr val="000000">
                      <a:alpha val="43137"/>
                    </a:srgbClr>
                  </a:outerShdw>
                </a:effectLst>
                <a:latin typeface="Times New Roman" panose="02020603050405020304" pitchFamily="18" charset="0"/>
              </a:rPr>
              <a:t>在计数模式下，计数之前必须给它的计数器</a:t>
            </a:r>
            <a:r>
              <a:rPr lang="en-US" altLang="zh-CN" sz="2600" dirty="0">
                <a:effectLst>
                  <a:outerShdw blurRad="38100" dist="38100" dir="2700000" algn="tl">
                    <a:srgbClr val="000000">
                      <a:alpha val="43137"/>
                    </a:srgbClr>
                  </a:outerShdw>
                </a:effectLst>
                <a:latin typeface="Times New Roman" panose="02020603050405020304" pitchFamily="18" charset="0"/>
              </a:rPr>
              <a:t>TH0</a:t>
            </a:r>
            <a:r>
              <a:rPr lang="zh-CN" altLang="en-US" sz="2600" dirty="0">
                <a:effectLst>
                  <a:outerShdw blurRad="38100" dist="38100" dir="2700000" algn="tl">
                    <a:srgbClr val="000000">
                      <a:alpha val="43137"/>
                    </a:srgbClr>
                  </a:outerShdw>
                </a:effectLst>
                <a:latin typeface="Times New Roman" panose="02020603050405020304" pitchFamily="18" charset="0"/>
              </a:rPr>
              <a:t>、</a:t>
            </a:r>
            <a:r>
              <a:rPr lang="en-US" altLang="zh-CN" sz="2600" dirty="0">
                <a:effectLst>
                  <a:outerShdw blurRad="38100" dist="38100" dir="2700000" algn="tl">
                    <a:srgbClr val="000000">
                      <a:alpha val="43137"/>
                    </a:srgbClr>
                  </a:outerShdw>
                </a:effectLst>
                <a:latin typeface="Times New Roman" panose="02020603050405020304" pitchFamily="18" charset="0"/>
              </a:rPr>
              <a:t>TL0</a:t>
            </a:r>
            <a:r>
              <a:rPr lang="zh-CN" altLang="en-US" sz="2600" dirty="0">
                <a:effectLst>
                  <a:outerShdw blurRad="38100" dist="38100" dir="2700000" algn="tl">
                    <a:srgbClr val="000000">
                      <a:alpha val="43137"/>
                    </a:srgbClr>
                  </a:outerShdw>
                </a:effectLst>
                <a:latin typeface="Times New Roman" panose="02020603050405020304" pitchFamily="18" charset="0"/>
              </a:rPr>
              <a:t>或</a:t>
            </a:r>
            <a:r>
              <a:rPr lang="en-US" altLang="zh-CN" sz="2600" dirty="0">
                <a:effectLst>
                  <a:outerShdw blurRad="38100" dist="38100" dir="2700000" algn="tl">
                    <a:srgbClr val="000000">
                      <a:alpha val="43137"/>
                    </a:srgbClr>
                  </a:outerShdw>
                </a:effectLst>
                <a:latin typeface="Times New Roman" panose="02020603050405020304" pitchFamily="18" charset="0"/>
              </a:rPr>
              <a:t>TH1</a:t>
            </a:r>
            <a:r>
              <a:rPr lang="zh-CN" altLang="en-US" sz="2600" dirty="0">
                <a:effectLst>
                  <a:outerShdw blurRad="38100" dist="38100" dir="2700000" algn="tl">
                    <a:srgbClr val="000000">
                      <a:alpha val="43137"/>
                    </a:srgbClr>
                  </a:outerShdw>
                </a:effectLst>
                <a:latin typeface="Times New Roman" panose="02020603050405020304" pitchFamily="18" charset="0"/>
              </a:rPr>
              <a:t>、</a:t>
            </a:r>
            <a:r>
              <a:rPr lang="en-US" altLang="zh-CN" sz="2600" dirty="0">
                <a:effectLst>
                  <a:outerShdw blurRad="38100" dist="38100" dir="2700000" algn="tl">
                    <a:srgbClr val="000000">
                      <a:alpha val="43137"/>
                    </a:srgbClr>
                  </a:outerShdw>
                </a:effectLst>
                <a:latin typeface="Times New Roman" panose="02020603050405020304" pitchFamily="18" charset="0"/>
              </a:rPr>
              <a:t>TL1</a:t>
            </a:r>
            <a:r>
              <a:rPr lang="zh-CN" altLang="en-US" sz="2600" dirty="0">
                <a:effectLst>
                  <a:outerShdw blurRad="38100" dist="38100" dir="2700000" algn="tl">
                    <a:srgbClr val="000000">
                      <a:alpha val="43137"/>
                    </a:srgbClr>
                  </a:outerShdw>
                </a:effectLst>
                <a:latin typeface="Times New Roman" panose="02020603050405020304" pitchFamily="18" charset="0"/>
              </a:rPr>
              <a:t>选送计数初值。</a:t>
            </a:r>
            <a:r>
              <a:rPr lang="en-US" altLang="zh-CN" sz="2600" dirty="0">
                <a:effectLst>
                  <a:outerShdw blurRad="38100" dist="38100" dir="2700000" algn="tl">
                    <a:srgbClr val="000000">
                      <a:alpha val="43137"/>
                    </a:srgbClr>
                  </a:outerShdw>
                </a:effectLst>
                <a:latin typeface="Times New Roman" panose="02020603050405020304" pitchFamily="18" charset="0"/>
              </a:rPr>
              <a:t>T/C</a:t>
            </a:r>
            <a:r>
              <a:rPr lang="zh-CN" altLang="en-US" sz="2600" dirty="0">
                <a:effectLst>
                  <a:outerShdw blurRad="38100" dist="38100" dir="2700000" algn="tl">
                    <a:srgbClr val="000000">
                      <a:alpha val="43137"/>
                    </a:srgbClr>
                  </a:outerShdw>
                </a:effectLst>
                <a:latin typeface="Times New Roman" panose="02020603050405020304" pitchFamily="18" charset="0"/>
              </a:rPr>
              <a:t>的计数器是在计数初值的基础上</a:t>
            </a:r>
            <a:r>
              <a:rPr lang="zh-CN" altLang="en-US" sz="2600"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加</a:t>
            </a:r>
            <a:r>
              <a:rPr lang="en-US" altLang="zh-CN" sz="2600"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1</a:t>
            </a:r>
            <a:r>
              <a:rPr lang="zh-CN" altLang="en-US" sz="2600" dirty="0">
                <a:effectLst>
                  <a:outerShdw blurRad="38100" dist="38100" dir="2700000" algn="tl">
                    <a:srgbClr val="000000">
                      <a:alpha val="43137"/>
                    </a:srgbClr>
                  </a:outerShdw>
                </a:effectLst>
                <a:latin typeface="Times New Roman" panose="02020603050405020304" pitchFamily="18" charset="0"/>
              </a:rPr>
              <a:t>计数的，当计数器</a:t>
            </a:r>
            <a:r>
              <a:rPr lang="zh-CN" altLang="en-US" sz="2600"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回</a:t>
            </a:r>
            <a:r>
              <a:rPr lang="zh-CN" altLang="en-US" sz="2600" dirty="0">
                <a:solidFill>
                  <a:srgbClr val="FF0000"/>
                </a:solidFill>
                <a:effectLst>
                  <a:outerShdw blurRad="38100" dist="38100" dir="2700000" algn="tl">
                    <a:srgbClr val="000000">
                      <a:alpha val="43137"/>
                    </a:srgbClr>
                  </a:outerShdw>
                </a:effectLst>
                <a:latin typeface="Times New Roman" panose="02020603050405020304"/>
                <a:ea typeface="楷体_GB2312" pitchFamily="49" charset="-122"/>
              </a:rPr>
              <a:t>“</a:t>
            </a:r>
            <a:r>
              <a:rPr lang="en-US" altLang="zh-CN" sz="2600" dirty="0">
                <a:solidFill>
                  <a:srgbClr val="FF0000"/>
                </a:solidFill>
                <a:effectLst>
                  <a:outerShdw blurRad="38100" dist="38100" dir="2700000" algn="tl">
                    <a:srgbClr val="000000">
                      <a:alpha val="43137"/>
                    </a:srgbClr>
                  </a:outerShdw>
                </a:effectLst>
                <a:latin typeface="楷体_GB2312" pitchFamily="49" charset="-122"/>
                <a:ea typeface="楷体_GB2312" pitchFamily="49" charset="-122"/>
              </a:rPr>
              <a:t>0</a:t>
            </a:r>
            <a:r>
              <a:rPr lang="zh-CN" altLang="en-US" sz="2600" dirty="0">
                <a:solidFill>
                  <a:srgbClr val="FF0000"/>
                </a:solidFill>
                <a:effectLst>
                  <a:outerShdw blurRad="38100" dist="38100" dir="2700000" algn="tl">
                    <a:srgbClr val="000000">
                      <a:alpha val="43137"/>
                    </a:srgbClr>
                  </a:outerShdw>
                </a:effectLst>
                <a:latin typeface="Times New Roman" panose="02020603050405020304"/>
                <a:ea typeface="楷体_GB2312" pitchFamily="49"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时自动产生溢出，置位</a:t>
            </a:r>
            <a:r>
              <a:rPr lang="en-US" altLang="zh-CN" sz="2600" dirty="0" err="1">
                <a:effectLst>
                  <a:outerShdw blurRad="38100" dist="38100" dir="2700000" algn="tl">
                    <a:srgbClr val="000000">
                      <a:alpha val="43137"/>
                    </a:srgbClr>
                  </a:outerShdw>
                </a:effectLst>
                <a:latin typeface="Times New Roman" panose="02020603050405020304" pitchFamily="18" charset="0"/>
              </a:rPr>
              <a:t>TFx</a:t>
            </a:r>
            <a:r>
              <a:rPr lang="zh-CN" altLang="en-US" sz="2600" dirty="0">
                <a:effectLst>
                  <a:outerShdw blurRad="38100" dist="38100" dir="2700000" algn="tl">
                    <a:srgbClr val="000000">
                      <a:alpha val="43137"/>
                    </a:srgbClr>
                  </a:outerShdw>
                </a:effectLst>
                <a:latin typeface="Times New Roman" panose="02020603050405020304" pitchFamily="18" charset="0"/>
              </a:rPr>
              <a:t>中断标志，向</a:t>
            </a:r>
            <a:r>
              <a:rPr lang="en-US" altLang="zh-CN" sz="2600" dirty="0">
                <a:effectLst>
                  <a:outerShdw blurRad="38100" dist="38100" dir="2700000" algn="tl">
                    <a:srgbClr val="000000">
                      <a:alpha val="43137"/>
                    </a:srgbClr>
                  </a:outerShdw>
                </a:effectLst>
                <a:latin typeface="Times New Roman" panose="02020603050405020304" pitchFamily="18" charset="0"/>
              </a:rPr>
              <a:t>CPU </a:t>
            </a:r>
            <a:r>
              <a:rPr lang="zh-CN" altLang="en-US" sz="2600" dirty="0">
                <a:effectLst>
                  <a:outerShdw blurRad="38100" dist="38100" dir="2700000" algn="tl">
                    <a:srgbClr val="000000">
                      <a:alpha val="43137"/>
                    </a:srgbClr>
                  </a:outerShdw>
                </a:effectLst>
                <a:latin typeface="Times New Roman" panose="02020603050405020304" pitchFamily="18" charset="0"/>
              </a:rPr>
              <a:t>提出中断请求。</a:t>
            </a:r>
          </a:p>
          <a:p>
            <a:pPr algn="just" eaLnBrk="1" hangingPunct="1">
              <a:spcBef>
                <a:spcPct val="20000"/>
              </a:spcBef>
              <a:defRPr/>
            </a:pPr>
            <a:r>
              <a:rPr lang="zh-CN" altLang="en-US" sz="2600" dirty="0">
                <a:effectLst>
                  <a:outerShdw blurRad="38100" dist="38100" dir="2700000" algn="tl">
                    <a:srgbClr val="000000">
                      <a:alpha val="43137"/>
                    </a:srgbClr>
                  </a:outerShdw>
                </a:effectLst>
                <a:latin typeface="Times New Roman" panose="02020603050405020304" pitchFamily="18" charset="0"/>
              </a:rPr>
              <a:t>        设需要计数器计数的个数为 </a:t>
            </a:r>
            <a:r>
              <a:rPr lang="en-US" altLang="zh-CN" sz="2600" dirty="0">
                <a:effectLst>
                  <a:outerShdw blurRad="38100" dist="38100" dir="2700000" algn="tl">
                    <a:srgbClr val="000000">
                      <a:alpha val="43137"/>
                    </a:srgbClr>
                  </a:outerShdw>
                </a:effectLst>
                <a:latin typeface="Times New Roman" panose="02020603050405020304" pitchFamily="18" charset="0"/>
              </a:rPr>
              <a:t>X</a:t>
            </a:r>
            <a:r>
              <a:rPr lang="zh-CN" altLang="en-US" sz="2600" dirty="0">
                <a:effectLst>
                  <a:outerShdw blurRad="38100" dist="38100" dir="2700000" algn="tl">
                    <a:srgbClr val="000000">
                      <a:alpha val="43137"/>
                    </a:srgbClr>
                  </a:outerShdw>
                </a:effectLst>
                <a:latin typeface="Times New Roman" panose="02020603050405020304" pitchFamily="18" charset="0"/>
              </a:rPr>
              <a:t>，计数初值为</a:t>
            </a:r>
            <a:r>
              <a:rPr lang="en-US" altLang="zh-CN" sz="2600" dirty="0">
                <a:effectLst>
                  <a:outerShdw blurRad="38100" dist="38100" dir="2700000" algn="tl">
                    <a:srgbClr val="000000">
                      <a:alpha val="43137"/>
                    </a:srgbClr>
                  </a:outerShdw>
                </a:effectLst>
                <a:latin typeface="Times New Roman" panose="02020603050405020304" pitchFamily="18" charset="0"/>
              </a:rPr>
              <a:t>C</a:t>
            </a:r>
            <a:r>
              <a:rPr lang="zh-CN" altLang="en-US" sz="2600" dirty="0">
                <a:effectLst>
                  <a:outerShdw blurRad="38100" dist="38100" dir="2700000" algn="tl">
                    <a:srgbClr val="000000">
                      <a:alpha val="43137"/>
                    </a:srgbClr>
                  </a:outerShdw>
                </a:effectLst>
                <a:latin typeface="Times New Roman" panose="02020603050405020304" pitchFamily="18" charset="0"/>
              </a:rPr>
              <a:t>，由此可得出如下计算计数初值的通式：</a:t>
            </a:r>
          </a:p>
          <a:p>
            <a:pPr algn="just" eaLnBrk="1" hangingPunct="1">
              <a:spcBef>
                <a:spcPct val="20000"/>
              </a:spcBef>
              <a:defRPr/>
            </a:pPr>
            <a:r>
              <a:rPr lang="zh-CN" altLang="en-US" sz="2600" dirty="0">
                <a:effectLst>
                  <a:outerShdw blurRad="38100" dist="38100" dir="2700000" algn="tl">
                    <a:srgbClr val="000000">
                      <a:alpha val="43137"/>
                    </a:srgbClr>
                  </a:outerShdw>
                </a:effectLst>
                <a:latin typeface="Times New Roman" panose="02020603050405020304" pitchFamily="18" charset="0"/>
              </a:rPr>
              <a:t>                    计数初值</a:t>
            </a:r>
            <a:r>
              <a:rPr lang="en-US" altLang="zh-CN" sz="2600" dirty="0">
                <a:effectLst>
                  <a:outerShdw blurRad="38100" dist="38100" dir="2700000" algn="tl">
                    <a:srgbClr val="000000">
                      <a:alpha val="43137"/>
                    </a:srgbClr>
                  </a:outerShdw>
                </a:effectLst>
                <a:latin typeface="Times New Roman" panose="02020603050405020304" pitchFamily="18" charset="0"/>
              </a:rPr>
              <a:t>:  C </a:t>
            </a:r>
            <a:r>
              <a:rPr lang="zh-CN" altLang="en-US" sz="2600" dirty="0">
                <a:effectLst>
                  <a:outerShdw blurRad="38100" dist="38100" dir="2700000" algn="tl">
                    <a:srgbClr val="000000">
                      <a:alpha val="43137"/>
                    </a:srgbClr>
                  </a:outerShdw>
                </a:effectLst>
                <a:latin typeface="Times New Roman" panose="02020603050405020304" pitchFamily="18" charset="0"/>
              </a:rPr>
              <a:t>＝ </a:t>
            </a:r>
            <a:r>
              <a:rPr lang="en-US" altLang="zh-CN" sz="2600" dirty="0">
                <a:effectLst>
                  <a:outerShdw blurRad="38100" dist="38100" dir="2700000" algn="tl">
                    <a:srgbClr val="000000">
                      <a:alpha val="43137"/>
                    </a:srgbClr>
                  </a:outerShdw>
                </a:effectLst>
                <a:latin typeface="Times New Roman" panose="02020603050405020304" pitchFamily="18" charset="0"/>
              </a:rPr>
              <a:t>M - X                   </a:t>
            </a:r>
            <a:r>
              <a:rPr lang="zh-CN" altLang="en-US" sz="2600" dirty="0">
                <a:effectLst>
                  <a:outerShdw blurRad="38100" dist="38100" dir="2700000" algn="tl">
                    <a:srgbClr val="000000">
                      <a:alpha val="43137"/>
                    </a:srgbClr>
                  </a:outerShdw>
                </a:effectLst>
                <a:latin typeface="Times New Roman" panose="02020603050405020304" pitchFamily="18" charset="0"/>
              </a:rPr>
              <a:t>（</a:t>
            </a:r>
            <a:r>
              <a:rPr lang="en-US" altLang="zh-CN" sz="2600" dirty="0">
                <a:effectLst>
                  <a:outerShdw blurRad="38100" dist="38100" dir="2700000" algn="tl">
                    <a:srgbClr val="000000">
                      <a:alpha val="43137"/>
                    </a:srgbClr>
                  </a:outerShdw>
                </a:effectLst>
                <a:latin typeface="Times New Roman" panose="02020603050405020304" pitchFamily="18" charset="0"/>
              </a:rPr>
              <a:t>1</a:t>
            </a:r>
            <a:r>
              <a:rPr lang="zh-CN" altLang="en-US" sz="2600" dirty="0">
                <a:effectLst>
                  <a:outerShdw blurRad="38100" dist="38100" dir="2700000" algn="tl">
                    <a:srgbClr val="000000">
                      <a:alpha val="43137"/>
                    </a:srgbClr>
                  </a:outerShdw>
                </a:effectLst>
                <a:latin typeface="Times New Roman" panose="02020603050405020304" pitchFamily="18" charset="0"/>
              </a:rPr>
              <a:t>）</a:t>
            </a:r>
          </a:p>
          <a:p>
            <a:pPr algn="just" eaLnBrk="1" hangingPunct="1">
              <a:spcBef>
                <a:spcPct val="20000"/>
              </a:spcBef>
              <a:defRPr/>
            </a:pPr>
            <a:r>
              <a:rPr lang="zh-CN" altLang="en-US" sz="2600" dirty="0">
                <a:effectLst>
                  <a:outerShdw blurRad="38100" dist="38100" dir="2700000" algn="tl">
                    <a:srgbClr val="000000">
                      <a:alpha val="43137"/>
                    </a:srgbClr>
                  </a:outerShdw>
                </a:effectLst>
                <a:latin typeface="Times New Roman" panose="02020603050405020304" pitchFamily="18" charset="0"/>
              </a:rPr>
              <a:t>式中，</a:t>
            </a:r>
            <a:r>
              <a:rPr lang="en-US" altLang="zh-CN" sz="2600" dirty="0">
                <a:solidFill>
                  <a:srgbClr val="FF0000"/>
                </a:solidFill>
                <a:effectLst>
                  <a:outerShdw blurRad="38100" dist="38100" dir="2700000" algn="tl">
                    <a:srgbClr val="000000">
                      <a:alpha val="43137"/>
                    </a:srgbClr>
                  </a:outerShdw>
                </a:effectLst>
                <a:latin typeface="Times New Roman" panose="02020603050405020304" pitchFamily="18" charset="0"/>
              </a:rPr>
              <a:t>M</a:t>
            </a:r>
            <a:r>
              <a:rPr lang="zh-CN" altLang="en-US" sz="2600" dirty="0">
                <a:solidFill>
                  <a:srgbClr val="FF0000"/>
                </a:solidFill>
                <a:effectLst>
                  <a:outerShdw blurRad="38100" dist="38100" dir="2700000" algn="tl">
                    <a:srgbClr val="000000">
                      <a:alpha val="43137"/>
                    </a:srgbClr>
                  </a:outerShdw>
                </a:effectLst>
                <a:latin typeface="Times New Roman" panose="02020603050405020304" pitchFamily="18" charset="0"/>
              </a:rPr>
              <a:t>为计数器的模值</a:t>
            </a:r>
            <a:r>
              <a:rPr lang="zh-CN" altLang="en-US" sz="2600" dirty="0">
                <a:effectLst>
                  <a:outerShdw blurRad="38100" dist="38100" dir="2700000" algn="tl">
                    <a:srgbClr val="000000">
                      <a:alpha val="43137"/>
                    </a:srgbClr>
                  </a:outerShdw>
                </a:effectLst>
                <a:latin typeface="Times New Roman" panose="02020603050405020304" pitchFamily="18" charset="0"/>
              </a:rPr>
              <a:t>，该值和计数器的工作方式有关。</a:t>
            </a:r>
          </a:p>
          <a:p>
            <a:pPr algn="just" eaLnBrk="1" hangingPunct="1">
              <a:spcBef>
                <a:spcPct val="50000"/>
              </a:spcBef>
              <a:defRPr/>
            </a:pPr>
            <a:r>
              <a:rPr lang="zh-CN" altLang="en-US" sz="2400" dirty="0">
                <a:effectLst>
                  <a:outerShdw blurRad="38100" dist="38100" dir="2700000" algn="tl">
                    <a:srgbClr val="000000">
                      <a:alpha val="43137"/>
                    </a:srgbClr>
                  </a:outerShdw>
                </a:effectLst>
                <a:latin typeface="Times New Roman" panose="02020603050405020304" pitchFamily="18" charset="0"/>
              </a:rPr>
              <a:t>                                   当方式</a:t>
            </a:r>
            <a:r>
              <a:rPr lang="en-US" altLang="zh-CN" sz="2400" dirty="0">
                <a:effectLst>
                  <a:outerShdw blurRad="38100" dist="38100" dir="2700000" algn="tl">
                    <a:srgbClr val="000000">
                      <a:alpha val="43137"/>
                    </a:srgbClr>
                  </a:outerShdw>
                </a:effectLst>
                <a:latin typeface="Times New Roman" panose="02020603050405020304" pitchFamily="18" charset="0"/>
              </a:rPr>
              <a:t>0</a:t>
            </a:r>
            <a:r>
              <a:rPr lang="zh-CN" altLang="en-US" sz="2400" dirty="0">
                <a:effectLst>
                  <a:outerShdw blurRad="38100" dist="38100" dir="2700000" algn="tl">
                    <a:srgbClr val="000000">
                      <a:alpha val="43137"/>
                    </a:srgbClr>
                  </a:outerShdw>
                </a:effectLst>
                <a:latin typeface="Times New Roman" panose="02020603050405020304" pitchFamily="18" charset="0"/>
              </a:rPr>
              <a:t>时</a:t>
            </a:r>
          </a:p>
          <a:p>
            <a:pPr algn="just" eaLnBrk="1" hangingPunct="1">
              <a:spcBef>
                <a:spcPct val="50000"/>
              </a:spcBef>
              <a:defRPr/>
            </a:pPr>
            <a:r>
              <a:rPr lang="zh-CN" altLang="en-US" sz="2400" dirty="0">
                <a:effectLst>
                  <a:outerShdw blurRad="38100" dist="38100" dir="2700000" algn="tl">
                    <a:srgbClr val="000000">
                      <a:alpha val="43137"/>
                    </a:srgbClr>
                  </a:outerShdw>
                </a:effectLst>
                <a:latin typeface="Times New Roman" panose="02020603050405020304" pitchFamily="18" charset="0"/>
              </a:rPr>
              <a:t>            </a:t>
            </a:r>
            <a:r>
              <a:rPr lang="en-US" altLang="zh-CN" sz="2400" dirty="0">
                <a:effectLst>
                  <a:outerShdw blurRad="38100" dist="38100" dir="2700000" algn="tl">
                    <a:srgbClr val="000000">
                      <a:alpha val="43137"/>
                    </a:srgbClr>
                  </a:outerShdw>
                </a:effectLst>
                <a:latin typeface="Times New Roman" panose="02020603050405020304" pitchFamily="18" charset="0"/>
              </a:rPr>
              <a:t>M</a:t>
            </a:r>
            <a:r>
              <a:rPr lang="zh-CN" altLang="en-US" sz="2400" dirty="0">
                <a:effectLst>
                  <a:outerShdw blurRad="38100" dist="38100" dir="2700000" algn="tl">
                    <a:srgbClr val="000000">
                      <a:alpha val="43137"/>
                    </a:srgbClr>
                  </a:outerShdw>
                </a:effectLst>
                <a:latin typeface="Times New Roman" panose="02020603050405020304" pitchFamily="18" charset="0"/>
              </a:rPr>
              <a:t>＝               当方式</a:t>
            </a:r>
            <a:r>
              <a:rPr lang="en-US" altLang="zh-CN" sz="2400" dirty="0">
                <a:effectLst>
                  <a:outerShdw blurRad="38100" dist="38100" dir="2700000" algn="tl">
                    <a:srgbClr val="000000">
                      <a:alpha val="43137"/>
                    </a:srgbClr>
                  </a:outerShdw>
                </a:effectLst>
                <a:latin typeface="Times New Roman" panose="02020603050405020304" pitchFamily="18" charset="0"/>
              </a:rPr>
              <a:t>1</a:t>
            </a:r>
            <a:r>
              <a:rPr lang="zh-CN" altLang="en-US" sz="2400" dirty="0">
                <a:effectLst>
                  <a:outerShdw blurRad="38100" dist="38100" dir="2700000" algn="tl">
                    <a:srgbClr val="000000">
                      <a:alpha val="43137"/>
                    </a:srgbClr>
                  </a:outerShdw>
                </a:effectLst>
                <a:latin typeface="Times New Roman" panose="02020603050405020304" pitchFamily="18" charset="0"/>
              </a:rPr>
              <a:t>时                               （</a:t>
            </a:r>
            <a:r>
              <a:rPr lang="en-US" altLang="zh-CN" sz="2400" dirty="0">
                <a:effectLst>
                  <a:outerShdw blurRad="38100" dist="38100" dir="2700000" algn="tl">
                    <a:srgbClr val="000000">
                      <a:alpha val="43137"/>
                    </a:srgbClr>
                  </a:outerShdw>
                </a:effectLst>
                <a:latin typeface="Times New Roman" panose="02020603050405020304" pitchFamily="18" charset="0"/>
              </a:rPr>
              <a:t>2</a:t>
            </a:r>
            <a:r>
              <a:rPr lang="zh-CN" altLang="en-US" sz="2400" dirty="0">
                <a:effectLst>
                  <a:outerShdw blurRad="38100" dist="38100" dir="2700000" algn="tl">
                    <a:srgbClr val="000000">
                      <a:alpha val="43137"/>
                    </a:srgbClr>
                  </a:outerShdw>
                </a:effectLst>
                <a:latin typeface="Times New Roman" panose="02020603050405020304" pitchFamily="18" charset="0"/>
              </a:rPr>
              <a:t>）  </a:t>
            </a:r>
          </a:p>
          <a:p>
            <a:pPr algn="just" eaLnBrk="1" hangingPunct="1">
              <a:spcBef>
                <a:spcPct val="50000"/>
              </a:spcBef>
              <a:defRPr/>
            </a:pPr>
            <a:r>
              <a:rPr lang="zh-CN" altLang="en-US" sz="2400" dirty="0">
                <a:effectLst>
                  <a:outerShdw blurRad="38100" dist="38100" dir="2700000" algn="tl">
                    <a:srgbClr val="000000">
                      <a:alpha val="43137"/>
                    </a:srgbClr>
                  </a:outerShdw>
                </a:effectLst>
                <a:latin typeface="Times New Roman" panose="02020603050405020304" pitchFamily="18" charset="0"/>
              </a:rPr>
              <a:t>                                   当方式</a:t>
            </a:r>
            <a:r>
              <a:rPr lang="en-US" altLang="zh-CN" sz="2400" dirty="0">
                <a:effectLst>
                  <a:outerShdw blurRad="38100" dist="38100" dir="2700000" algn="tl">
                    <a:srgbClr val="000000">
                      <a:alpha val="43137"/>
                    </a:srgbClr>
                  </a:outerShdw>
                </a:effectLst>
                <a:latin typeface="Times New Roman" panose="02020603050405020304" pitchFamily="18" charset="0"/>
              </a:rPr>
              <a:t>2</a:t>
            </a:r>
            <a:r>
              <a:rPr lang="zh-CN" altLang="en-US" sz="2400" dirty="0">
                <a:effectLst>
                  <a:outerShdw blurRad="38100" dist="38100" dir="2700000" algn="tl">
                    <a:srgbClr val="000000">
                      <a:alpha val="43137"/>
                    </a:srgbClr>
                  </a:outerShdw>
                </a:effectLst>
                <a:latin typeface="Times New Roman" panose="02020603050405020304" pitchFamily="18" charset="0"/>
              </a:rPr>
              <a:t>、</a:t>
            </a:r>
            <a:r>
              <a:rPr lang="en-US" altLang="zh-CN" sz="2400" dirty="0">
                <a:effectLst>
                  <a:outerShdw blurRad="38100" dist="38100" dir="2700000" algn="tl">
                    <a:srgbClr val="000000">
                      <a:alpha val="43137"/>
                    </a:srgbClr>
                  </a:outerShdw>
                </a:effectLst>
                <a:latin typeface="Times New Roman" panose="02020603050405020304" pitchFamily="18" charset="0"/>
              </a:rPr>
              <a:t>3</a:t>
            </a:r>
            <a:r>
              <a:rPr lang="zh-CN" altLang="en-US" sz="2400" dirty="0">
                <a:effectLst>
                  <a:outerShdw blurRad="38100" dist="38100" dir="2700000" algn="tl">
                    <a:srgbClr val="000000">
                      <a:alpha val="43137"/>
                    </a:srgbClr>
                  </a:outerShdw>
                </a:effectLst>
                <a:latin typeface="Times New Roman" panose="02020603050405020304" pitchFamily="18" charset="0"/>
              </a:rPr>
              <a:t>时</a:t>
            </a:r>
          </a:p>
          <a:p>
            <a:pPr eaLnBrk="1" hangingPunct="1">
              <a:spcBef>
                <a:spcPct val="50000"/>
              </a:spcBef>
              <a:defRPr/>
            </a:pPr>
            <a:endParaRPr lang="zh-CN" altLang="en-US" sz="2400" dirty="0">
              <a:effectLst>
                <a:outerShdw blurRad="38100" dist="38100" dir="2700000" algn="tl">
                  <a:srgbClr val="000000">
                    <a:alpha val="43137"/>
                  </a:srgbClr>
                </a:outerShdw>
              </a:effectLst>
              <a:latin typeface="Times New Roman" panose="02020603050405020304" pitchFamily="18" charset="0"/>
            </a:endParaRPr>
          </a:p>
        </p:txBody>
      </p:sp>
      <p:grpSp>
        <p:nvGrpSpPr>
          <p:cNvPr id="37892" name="Group 3"/>
          <p:cNvGrpSpPr/>
          <p:nvPr/>
        </p:nvGrpSpPr>
        <p:grpSpPr bwMode="auto">
          <a:xfrm>
            <a:off x="1835696" y="4437112"/>
            <a:ext cx="1223271" cy="1766046"/>
            <a:chOff x="0" y="0"/>
            <a:chExt cx="652" cy="1200"/>
          </a:xfrm>
        </p:grpSpPr>
        <p:grpSp>
          <p:nvGrpSpPr>
            <p:cNvPr id="37893" name="Group 4"/>
            <p:cNvGrpSpPr/>
            <p:nvPr/>
          </p:nvGrpSpPr>
          <p:grpSpPr bwMode="auto">
            <a:xfrm>
              <a:off x="0" y="0"/>
              <a:ext cx="483" cy="912"/>
              <a:chOff x="0" y="0"/>
              <a:chExt cx="626" cy="835"/>
            </a:xfrm>
          </p:grpSpPr>
          <p:sp>
            <p:nvSpPr>
              <p:cNvPr id="26631" name="AutoShape 5"/>
              <p:cNvSpPr/>
              <p:nvPr/>
            </p:nvSpPr>
            <p:spPr bwMode="auto">
              <a:xfrm>
                <a:off x="0" y="105"/>
                <a:ext cx="201" cy="730"/>
              </a:xfrm>
              <a:prstGeom prst="leftBrace">
                <a:avLst>
                  <a:gd name="adj1" fmla="val 30265"/>
                  <a:gd name="adj2" fmla="val 50000"/>
                </a:avLst>
              </a:prstGeom>
              <a:noFill/>
              <a:ln w="9525">
                <a:solidFill>
                  <a:srgbClr val="000000"/>
                </a:solidFill>
                <a:round/>
              </a:ln>
              <a:effectLst/>
            </p:spPr>
            <p:txBody>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effectLst>
                    <a:outerShdw blurRad="38100" dist="38100" dir="2700000" algn="tl">
                      <a:srgbClr val="000000">
                        <a:alpha val="43137"/>
                      </a:srgbClr>
                    </a:outerShdw>
                  </a:effectLst>
                </a:endParaRPr>
              </a:p>
            </p:txBody>
          </p:sp>
          <p:graphicFrame>
            <p:nvGraphicFramePr>
              <p:cNvPr id="37896" name="Object 6"/>
              <p:cNvGraphicFramePr>
                <a:graphicFrameLocks noChangeAspect="1"/>
              </p:cNvGraphicFramePr>
              <p:nvPr/>
            </p:nvGraphicFramePr>
            <p:xfrm>
              <a:off x="306" y="285"/>
              <a:ext cx="320" cy="282"/>
            </p:xfrm>
            <a:graphic>
              <a:graphicData uri="http://schemas.openxmlformats.org/presentationml/2006/ole">
                <mc:AlternateContent xmlns:mc="http://schemas.openxmlformats.org/markup-compatibility/2006">
                  <mc:Choice xmlns:v="urn:schemas-microsoft-com:vml" Requires="v">
                    <p:oleObj spid="_x0000_s38044" r:id="rId3" imgW="215900" imgH="190500" progId="Equation.3">
                      <p:embed/>
                    </p:oleObj>
                  </mc:Choice>
                  <mc:Fallback>
                    <p:oleObj r:id="rId3" imgW="215900" imgH="190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 y="285"/>
                            <a:ext cx="320" cy="282"/>
                          </a:xfrm>
                          <a:prstGeom prst="rect">
                            <a:avLst/>
                          </a:prstGeom>
                          <a:noFill/>
                          <a:ln>
                            <a:noFill/>
                          </a:ln>
                        </p:spPr>
                      </p:pic>
                    </p:oleObj>
                  </mc:Fallback>
                </mc:AlternateContent>
              </a:graphicData>
            </a:graphic>
          </p:graphicFrame>
          <p:graphicFrame>
            <p:nvGraphicFramePr>
              <p:cNvPr id="37897" name="Object 7"/>
              <p:cNvGraphicFramePr>
                <a:graphicFrameLocks noChangeAspect="1"/>
              </p:cNvGraphicFramePr>
              <p:nvPr/>
            </p:nvGraphicFramePr>
            <p:xfrm>
              <a:off x="306" y="0"/>
              <a:ext cx="320" cy="283"/>
            </p:xfrm>
            <a:graphic>
              <a:graphicData uri="http://schemas.openxmlformats.org/presentationml/2006/ole">
                <mc:AlternateContent xmlns:mc="http://schemas.openxmlformats.org/markup-compatibility/2006">
                  <mc:Choice xmlns:v="urn:schemas-microsoft-com:vml" Requires="v">
                    <p:oleObj spid="_x0000_s38045" r:id="rId5" imgW="215900" imgH="190500" progId="Equation.3">
                      <p:embed/>
                    </p:oleObj>
                  </mc:Choice>
                  <mc:Fallback>
                    <p:oleObj r:id="rId5" imgW="215900" imgH="190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 y="0"/>
                            <a:ext cx="320" cy="283"/>
                          </a:xfrm>
                          <a:prstGeom prst="rect">
                            <a:avLst/>
                          </a:prstGeom>
                          <a:noFill/>
                          <a:ln>
                            <a:noFill/>
                          </a:ln>
                        </p:spPr>
                      </p:pic>
                    </p:oleObj>
                  </mc:Fallback>
                </mc:AlternateContent>
              </a:graphicData>
            </a:graphic>
          </p:graphicFrame>
        </p:grpSp>
        <p:graphicFrame>
          <p:nvGraphicFramePr>
            <p:cNvPr id="37894" name="Object 8"/>
            <p:cNvGraphicFramePr>
              <a:graphicFrameLocks noChangeAspect="1"/>
            </p:cNvGraphicFramePr>
            <p:nvPr/>
          </p:nvGraphicFramePr>
          <p:xfrm>
            <a:off x="192" y="624"/>
            <a:ext cx="460" cy="576"/>
          </p:xfrm>
          <a:graphic>
            <a:graphicData uri="http://schemas.openxmlformats.org/presentationml/2006/ole">
              <mc:AlternateContent xmlns:mc="http://schemas.openxmlformats.org/markup-compatibility/2006">
                <mc:Choice xmlns:v="urn:schemas-microsoft-com:vml" Requires="v">
                  <p:oleObj spid="_x0000_s38046" r:id="rId7" imgW="139700" imgH="215900" progId="Equation.3">
                    <p:embed/>
                  </p:oleObj>
                </mc:Choice>
                <mc:Fallback>
                  <p:oleObj r:id="rId7" imgW="139700" imgH="215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 y="624"/>
                          <a:ext cx="460" cy="576"/>
                        </a:xfrm>
                        <a:prstGeom prst="rect">
                          <a:avLst/>
                        </a:prstGeom>
                        <a:noFill/>
                        <a:ln>
                          <a:noFill/>
                        </a:ln>
                      </p:spPr>
                    </p:pic>
                  </p:oleObj>
                </mc:Fallback>
              </mc:AlternateContent>
            </a:graphicData>
          </a:graphic>
        </p:graphicFrame>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0C0F369-F9AB-48E0-91D8-F4E161644BF2}" type="slidenum">
              <a:rPr lang="zh-CN" altLang="en-US" sz="1400"/>
              <a:t>3</a:t>
            </a:fld>
            <a:endParaRPr lang="en-US" altLang="zh-CN" sz="1400"/>
          </a:p>
        </p:txBody>
      </p:sp>
      <p:sp>
        <p:nvSpPr>
          <p:cNvPr id="47106" name="Text Box 2"/>
          <p:cNvSpPr txBox="1">
            <a:spLocks noChangeArrowheads="1"/>
          </p:cNvSpPr>
          <p:nvPr/>
        </p:nvSpPr>
        <p:spPr bwMode="auto">
          <a:xfrm>
            <a:off x="250825" y="561181"/>
            <a:ext cx="8642350" cy="5246688"/>
          </a:xfrm>
          <a:prstGeom prst="rect">
            <a:avLst/>
          </a:prstGeom>
          <a:solidFill>
            <a:schemeClr val="bg1"/>
          </a:solidFill>
          <a:ln>
            <a:noFill/>
          </a:ln>
          <a:effectLst/>
        </p:spPr>
        <p:txBody>
          <a:bodyPr>
            <a:spAutoFit/>
          </a:bodyPr>
          <a:lstStyle/>
          <a:p>
            <a:pPr algn="just" eaLnBrk="1" hangingPunct="1">
              <a:spcBef>
                <a:spcPct val="50000"/>
              </a:spcBef>
              <a:defRPr/>
            </a:pP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．定时器初值计算</a:t>
            </a:r>
          </a:p>
          <a:p>
            <a:pPr algn="just" eaLnBrk="1" hangingPunct="1">
              <a:lnSpc>
                <a:spcPct val="110000"/>
              </a:lnSpc>
              <a:spcBef>
                <a:spcPct val="35000"/>
              </a:spcBef>
              <a:defRPr/>
            </a:pPr>
            <a:r>
              <a:rPr lang="zh-CN" altLang="en-US" sz="2400" b="0" dirty="0">
                <a:latin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rPr>
              <a:t>在定时模式下，计数器对单片机振荡频率</a:t>
            </a:r>
            <a:r>
              <a:rPr lang="en-US" altLang="zh-CN" dirty="0" err="1">
                <a:effectLst>
                  <a:outerShdw blurRad="38100" dist="38100" dir="2700000" algn="tl">
                    <a:srgbClr val="C0C0C0"/>
                  </a:outerShdw>
                </a:effectLst>
                <a:latin typeface="Times New Roman" panose="02020603050405020304" pitchFamily="18" charset="0"/>
              </a:rPr>
              <a:t>fosc</a:t>
            </a:r>
            <a:r>
              <a:rPr lang="zh-CN" altLang="en-US" dirty="0">
                <a:effectLst>
                  <a:outerShdw blurRad="38100" dist="38100" dir="2700000" algn="tl">
                    <a:srgbClr val="C0C0C0"/>
                  </a:outerShdw>
                </a:effectLst>
                <a:latin typeface="Times New Roman" panose="02020603050405020304" pitchFamily="18" charset="0"/>
              </a:rPr>
              <a:t>经</a:t>
            </a:r>
            <a:r>
              <a:rPr lang="en-US" altLang="zh-CN" dirty="0">
                <a:effectLst>
                  <a:outerShdw blurRad="38100" dist="38100" dir="2700000" algn="tl">
                    <a:srgbClr val="C0C0C0"/>
                  </a:outerShdw>
                </a:effectLst>
                <a:latin typeface="Times New Roman" panose="02020603050405020304" pitchFamily="18" charset="0"/>
              </a:rPr>
              <a:t>12</a:t>
            </a:r>
            <a:r>
              <a:rPr lang="zh-CN" altLang="en-US" dirty="0">
                <a:effectLst>
                  <a:outerShdw blurRad="38100" dist="38100" dir="2700000" algn="tl">
                    <a:srgbClr val="C0C0C0"/>
                  </a:outerShdw>
                </a:effectLst>
                <a:latin typeface="Times New Roman" panose="02020603050405020304" pitchFamily="18" charset="0"/>
              </a:rPr>
              <a:t>分频后的机器周期进行加</a:t>
            </a:r>
            <a:r>
              <a:rPr lang="en-US" altLang="zh-CN" dirty="0">
                <a:effectLst>
                  <a:outerShdw blurRad="38100" dist="38100" dir="2700000" algn="tl">
                    <a:srgbClr val="C0C0C0"/>
                  </a:outerShdw>
                </a:effectLst>
                <a:latin typeface="Times New Roman" panose="02020603050405020304" pitchFamily="18" charset="0"/>
              </a:rPr>
              <a:t>1</a:t>
            </a:r>
            <a:r>
              <a:rPr lang="zh-CN" altLang="en-US" dirty="0">
                <a:effectLst>
                  <a:outerShdw blurRad="38100" dist="38100" dir="2700000" algn="tl">
                    <a:srgbClr val="C0C0C0"/>
                  </a:outerShdw>
                </a:effectLst>
                <a:latin typeface="Times New Roman" panose="02020603050405020304" pitchFamily="18" charset="0"/>
              </a:rPr>
              <a:t>计数，用</a:t>
            </a:r>
            <a:r>
              <a:rPr lang="en-US" altLang="zh-CN" dirty="0">
                <a:effectLst>
                  <a:outerShdw blurRad="38100" dist="38100" dir="2700000" algn="tl">
                    <a:srgbClr val="C0C0C0"/>
                  </a:outerShdw>
                </a:effectLst>
                <a:latin typeface="Times New Roman" panose="02020603050405020304" pitchFamily="18" charset="0"/>
              </a:rPr>
              <a:t>X</a:t>
            </a:r>
            <a:r>
              <a:rPr lang="zh-CN" altLang="en-US" dirty="0">
                <a:effectLst>
                  <a:outerShdw blurRad="38100" dist="38100" dir="2700000" algn="tl">
                    <a:srgbClr val="C0C0C0"/>
                  </a:outerShdw>
                </a:effectLst>
                <a:latin typeface="Times New Roman" panose="02020603050405020304" pitchFamily="18" charset="0"/>
              </a:rPr>
              <a:t>表示计数个数，</a:t>
            </a:r>
            <a:r>
              <a:rPr lang="en-US" altLang="zh-CN" dirty="0">
                <a:effectLst>
                  <a:outerShdw blurRad="38100" dist="38100" dir="2700000" algn="tl">
                    <a:srgbClr val="C0C0C0"/>
                  </a:outerShdw>
                </a:effectLst>
                <a:latin typeface="Times New Roman" panose="02020603050405020304" pitchFamily="18" charset="0"/>
              </a:rPr>
              <a:t>M</a:t>
            </a:r>
            <a:r>
              <a:rPr lang="zh-CN" altLang="en-US" dirty="0">
                <a:effectLst>
                  <a:outerShdw blurRad="38100" dist="38100" dir="2700000" algn="tl">
                    <a:srgbClr val="C0C0C0"/>
                  </a:outerShdw>
                </a:effectLst>
                <a:latin typeface="Times New Roman" panose="02020603050405020304" pitchFamily="18" charset="0"/>
              </a:rPr>
              <a:t>表示模，</a:t>
            </a:r>
            <a:r>
              <a:rPr lang="en-US" altLang="zh-CN" dirty="0">
                <a:effectLst>
                  <a:outerShdw blurRad="38100" dist="38100" dir="2700000" algn="tl">
                    <a:srgbClr val="C0C0C0"/>
                  </a:outerShdw>
                </a:effectLst>
                <a:latin typeface="Times New Roman" panose="02020603050405020304" pitchFamily="18" charset="0"/>
              </a:rPr>
              <a:t>C</a:t>
            </a:r>
            <a:r>
              <a:rPr lang="zh-CN" altLang="en-US" dirty="0">
                <a:effectLst>
                  <a:outerShdw blurRad="38100" dist="38100" dir="2700000" algn="tl">
                    <a:srgbClr val="C0C0C0"/>
                  </a:outerShdw>
                </a:effectLst>
                <a:latin typeface="Times New Roman" panose="02020603050405020304" pitchFamily="18" charset="0"/>
              </a:rPr>
              <a:t>表示定时初值，</a:t>
            </a:r>
            <a:r>
              <a:rPr lang="en-US" altLang="zh-CN" dirty="0">
                <a:effectLst>
                  <a:outerShdw blurRad="38100" dist="38100" dir="2700000" algn="tl">
                    <a:srgbClr val="C0C0C0"/>
                  </a:outerShdw>
                </a:effectLst>
                <a:latin typeface="Times New Roman" panose="02020603050405020304" pitchFamily="18" charset="0"/>
              </a:rPr>
              <a:t>Tc</a:t>
            </a:r>
            <a:r>
              <a:rPr lang="zh-CN" altLang="en-US" dirty="0">
                <a:effectLst>
                  <a:outerShdw blurRad="38100" dist="38100" dir="2700000" algn="tl">
                    <a:srgbClr val="C0C0C0"/>
                  </a:outerShdw>
                </a:effectLst>
                <a:latin typeface="Times New Roman" panose="02020603050405020304" pitchFamily="18" charset="0"/>
              </a:rPr>
              <a:t>表示机器周期，则</a:t>
            </a:r>
            <a:endParaRPr lang="en-US" altLang="zh-CN" dirty="0">
              <a:effectLst>
                <a:outerShdw blurRad="38100" dist="38100" dir="2700000" algn="tl">
                  <a:srgbClr val="C0C0C0"/>
                </a:outerShdw>
              </a:effectLst>
              <a:latin typeface="Times New Roman" panose="02020603050405020304" pitchFamily="18" charset="0"/>
            </a:endParaRPr>
          </a:p>
          <a:p>
            <a:pPr algn="just" eaLnBrk="1" hangingPunct="1">
              <a:lnSpc>
                <a:spcPct val="110000"/>
              </a:lnSpc>
              <a:spcBef>
                <a:spcPct val="35000"/>
              </a:spcBef>
              <a:defRPr/>
            </a:pPr>
            <a:r>
              <a:rPr lang="zh-CN" altLang="en-US" dirty="0">
                <a:effectLst>
                  <a:outerShdw blurRad="38100" dist="38100" dir="2700000" algn="tl">
                    <a:srgbClr val="C0C0C0"/>
                  </a:outerShdw>
                </a:effectLst>
                <a:latin typeface="Times New Roman" panose="02020603050405020304" pitchFamily="18" charset="0"/>
              </a:rPr>
              <a:t> </a:t>
            </a:r>
            <a:r>
              <a:rPr lang="en-US" altLang="zh-CN" dirty="0">
                <a:effectLst>
                  <a:outerShdw blurRad="38100" dist="38100" dir="2700000" algn="tl">
                    <a:srgbClr val="C0C0C0"/>
                  </a:outerShdw>
                </a:effectLst>
                <a:latin typeface="Times New Roman" panose="02020603050405020304" pitchFamily="18" charset="0"/>
              </a:rPr>
              <a:t>	     1 Tc </a:t>
            </a:r>
            <a:r>
              <a:rPr lang="zh-CN" altLang="en-US" dirty="0">
                <a:effectLst>
                  <a:outerShdw blurRad="38100" dist="38100" dir="2700000" algn="tl">
                    <a:srgbClr val="C0C0C0"/>
                  </a:outerShdw>
                </a:effectLst>
                <a:latin typeface="Times New Roman" panose="02020603050405020304" pitchFamily="18" charset="0"/>
              </a:rPr>
              <a:t>＝ </a:t>
            </a:r>
            <a:r>
              <a:rPr lang="en-US" altLang="zh-CN" dirty="0">
                <a:effectLst>
                  <a:outerShdw blurRad="38100" dist="38100" dir="2700000" algn="tl">
                    <a:srgbClr val="C0C0C0"/>
                  </a:outerShdw>
                </a:effectLst>
                <a:latin typeface="Times New Roman" panose="02020603050405020304" pitchFamily="18" charset="0"/>
              </a:rPr>
              <a:t>12/</a:t>
            </a:r>
            <a:r>
              <a:rPr lang="en-US" altLang="zh-CN" dirty="0" err="1">
                <a:effectLst>
                  <a:outerShdw blurRad="38100" dist="38100" dir="2700000" algn="tl">
                    <a:srgbClr val="C0C0C0"/>
                  </a:outerShdw>
                </a:effectLst>
                <a:latin typeface="Times New Roman" panose="02020603050405020304" pitchFamily="18" charset="0"/>
              </a:rPr>
              <a:t>fosc</a:t>
            </a:r>
            <a:endParaRPr lang="zh-CN" altLang="en-US" dirty="0">
              <a:effectLst>
                <a:outerShdw blurRad="38100" dist="38100" dir="2700000" algn="tl">
                  <a:srgbClr val="C0C0C0"/>
                </a:outerShdw>
              </a:effectLst>
              <a:latin typeface="Times New Roman" panose="02020603050405020304" pitchFamily="18" charset="0"/>
            </a:endParaRPr>
          </a:p>
          <a:p>
            <a:pPr algn="just" eaLnBrk="1" hangingPunct="1">
              <a:lnSpc>
                <a:spcPct val="110000"/>
              </a:lnSpc>
              <a:spcBef>
                <a:spcPct val="35000"/>
              </a:spcBef>
              <a:defRPr/>
            </a:pPr>
            <a:r>
              <a:rPr lang="zh-CN" altLang="en-US" dirty="0">
                <a:effectLst>
                  <a:outerShdw blurRad="38100" dist="38100" dir="2700000" algn="tl">
                    <a:srgbClr val="C0C0C0"/>
                  </a:outerShdw>
                </a:effectLst>
                <a:latin typeface="Times New Roman" panose="02020603050405020304" pitchFamily="18" charset="0"/>
              </a:rPr>
              <a:t>    因此，定时时间 </a:t>
            </a:r>
            <a:r>
              <a:rPr lang="en-US" altLang="zh-CN" dirty="0">
                <a:effectLst>
                  <a:outerShdw blurRad="38100" dist="38100" dir="2700000" algn="tl">
                    <a:srgbClr val="C0C0C0"/>
                  </a:outerShdw>
                </a:effectLst>
                <a:latin typeface="Times New Roman" panose="02020603050405020304" pitchFamily="18" charset="0"/>
              </a:rPr>
              <a:t>t </a:t>
            </a:r>
            <a:r>
              <a:rPr lang="zh-CN" altLang="en-US" dirty="0">
                <a:effectLst>
                  <a:outerShdw blurRad="38100" dist="38100" dir="2700000" algn="tl">
                    <a:srgbClr val="C0C0C0"/>
                  </a:outerShdw>
                </a:effectLst>
                <a:latin typeface="Times New Roman" panose="02020603050405020304" pitchFamily="18" charset="0"/>
              </a:rPr>
              <a:t>的计算公式为： </a:t>
            </a:r>
          </a:p>
          <a:p>
            <a:pPr algn="just" eaLnBrk="1" hangingPunct="1">
              <a:lnSpc>
                <a:spcPct val="110000"/>
              </a:lnSpc>
              <a:spcBef>
                <a:spcPct val="35000"/>
              </a:spcBef>
              <a:defRPr/>
            </a:pPr>
            <a:r>
              <a:rPr lang="zh-CN" altLang="en-US" dirty="0">
                <a:effectLst>
                  <a:outerShdw blurRad="38100" dist="38100" dir="2700000" algn="tl">
                    <a:srgbClr val="C0C0C0"/>
                  </a:outerShdw>
                </a:effectLst>
                <a:latin typeface="Times New Roman" panose="02020603050405020304" pitchFamily="18" charset="0"/>
              </a:rPr>
              <a:t>                </a:t>
            </a:r>
            <a:r>
              <a:rPr lang="en-US" altLang="zh-CN" dirty="0">
                <a:effectLst>
                  <a:outerShdw blurRad="38100" dist="38100" dir="2700000" algn="tl">
                    <a:srgbClr val="C0C0C0"/>
                  </a:outerShdw>
                </a:effectLst>
                <a:latin typeface="Times New Roman" panose="02020603050405020304" pitchFamily="18" charset="0"/>
              </a:rPr>
              <a:t>t </a:t>
            </a:r>
            <a:r>
              <a:rPr lang="zh-CN" altLang="en-US" dirty="0">
                <a:effectLst>
                  <a:outerShdw blurRad="38100" dist="38100" dir="2700000" algn="tl">
                    <a:srgbClr val="C0C0C0"/>
                  </a:outerShdw>
                </a:effectLst>
                <a:latin typeface="Times New Roman" panose="02020603050405020304" pitchFamily="18" charset="0"/>
              </a:rPr>
              <a:t>＝ </a:t>
            </a:r>
            <a:r>
              <a:rPr lang="en-US" altLang="zh-CN" dirty="0" err="1">
                <a:effectLst>
                  <a:outerShdw blurRad="38100" dist="38100" dir="2700000" algn="tl">
                    <a:srgbClr val="C0C0C0"/>
                  </a:outerShdw>
                </a:effectLst>
                <a:latin typeface="Times New Roman" panose="02020603050405020304" pitchFamily="18" charset="0"/>
              </a:rPr>
              <a:t>X·Tc</a:t>
            </a:r>
            <a:r>
              <a:rPr lang="en-US" altLang="zh-CN" dirty="0">
                <a:effectLst>
                  <a:outerShdw blurRad="38100" dist="38100" dir="2700000" algn="tl">
                    <a:srgbClr val="C0C0C0"/>
                  </a:outerShdw>
                </a:effectLst>
                <a:latin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rPr>
              <a:t>＝（ </a:t>
            </a:r>
            <a:r>
              <a:rPr lang="en-US" altLang="zh-CN" dirty="0">
                <a:effectLst>
                  <a:outerShdw blurRad="38100" dist="38100" dir="2700000" algn="tl">
                    <a:srgbClr val="C0C0C0"/>
                  </a:outerShdw>
                </a:effectLst>
                <a:latin typeface="Times New Roman" panose="02020603050405020304" pitchFamily="18" charset="0"/>
              </a:rPr>
              <a:t>M-C</a:t>
            </a:r>
            <a:r>
              <a:rPr lang="zh-CN" altLang="en-US" dirty="0">
                <a:effectLst>
                  <a:outerShdw blurRad="38100" dist="38100" dir="2700000" algn="tl">
                    <a:srgbClr val="C0C0C0"/>
                  </a:outerShdw>
                </a:effectLst>
                <a:latin typeface="Times New Roman" panose="02020603050405020304" pitchFamily="18" charset="0"/>
              </a:rPr>
              <a:t>）</a:t>
            </a:r>
            <a:r>
              <a:rPr lang="en-US" altLang="zh-CN" dirty="0">
                <a:effectLst>
                  <a:outerShdw blurRad="38100" dist="38100" dir="2700000" algn="tl">
                    <a:srgbClr val="C0C0C0"/>
                  </a:outerShdw>
                </a:effectLst>
                <a:latin typeface="Times New Roman" panose="02020603050405020304" pitchFamily="18" charset="0"/>
              </a:rPr>
              <a:t>Tc 			</a:t>
            </a:r>
            <a:r>
              <a:rPr lang="zh-CN" altLang="en-US" dirty="0">
                <a:effectLst>
                  <a:outerShdw blurRad="38100" dist="38100" dir="2700000" algn="tl">
                    <a:srgbClr val="C0C0C0"/>
                  </a:outerShdw>
                </a:effectLst>
                <a:latin typeface="Times New Roman" panose="02020603050405020304" pitchFamily="18" charset="0"/>
              </a:rPr>
              <a:t>（</a:t>
            </a:r>
            <a:r>
              <a:rPr lang="en-US" altLang="zh-CN" dirty="0">
                <a:effectLst>
                  <a:outerShdw blurRad="38100" dist="38100" dir="2700000" algn="tl">
                    <a:srgbClr val="C0C0C0"/>
                  </a:outerShdw>
                </a:effectLst>
                <a:latin typeface="Times New Roman" panose="02020603050405020304" pitchFamily="18" charset="0"/>
              </a:rPr>
              <a:t>3</a:t>
            </a:r>
            <a:r>
              <a:rPr lang="zh-CN" altLang="en-US" dirty="0">
                <a:effectLst>
                  <a:outerShdw blurRad="38100" dist="38100" dir="2700000" algn="tl">
                    <a:srgbClr val="C0C0C0"/>
                  </a:outerShdw>
                </a:effectLst>
                <a:latin typeface="Times New Roman" panose="02020603050405020304" pitchFamily="18" charset="0"/>
              </a:rPr>
              <a:t>）  </a:t>
            </a:r>
          </a:p>
          <a:p>
            <a:pPr eaLnBrk="1" hangingPunct="1">
              <a:lnSpc>
                <a:spcPct val="110000"/>
              </a:lnSpc>
              <a:spcBef>
                <a:spcPct val="35000"/>
              </a:spcBef>
              <a:defRPr/>
            </a:pPr>
            <a:r>
              <a:rPr lang="zh-CN" altLang="en-US" dirty="0">
                <a:effectLst>
                  <a:outerShdw blurRad="38100" dist="38100" dir="2700000" algn="tl">
                    <a:srgbClr val="C0C0C0"/>
                  </a:outerShdw>
                </a:effectLst>
                <a:latin typeface="Times New Roman" panose="02020603050405020304" pitchFamily="18" charset="0"/>
              </a:rPr>
              <a:t>    定时初值公式为：</a:t>
            </a:r>
            <a:r>
              <a:rPr lang="en-US" altLang="zh-CN" dirty="0">
                <a:effectLst>
                  <a:outerShdw blurRad="38100" dist="38100" dir="2700000" algn="tl">
                    <a:srgbClr val="C0C0C0"/>
                  </a:outerShdw>
                </a:effectLst>
                <a:latin typeface="Times New Roman" panose="02020603050405020304" pitchFamily="18" charset="0"/>
              </a:rPr>
              <a:t>C </a:t>
            </a:r>
            <a:r>
              <a:rPr lang="zh-CN" altLang="en-US" dirty="0">
                <a:effectLst>
                  <a:outerShdw blurRad="38100" dist="38100" dir="2700000" algn="tl">
                    <a:srgbClr val="C0C0C0"/>
                  </a:outerShdw>
                </a:effectLst>
                <a:latin typeface="Times New Roman" panose="02020603050405020304" pitchFamily="18" charset="0"/>
              </a:rPr>
              <a:t>＝ </a:t>
            </a:r>
            <a:r>
              <a:rPr lang="en-US" altLang="zh-CN" dirty="0">
                <a:effectLst>
                  <a:outerShdw blurRad="38100" dist="38100" dir="2700000" algn="tl">
                    <a:srgbClr val="C0C0C0"/>
                  </a:outerShdw>
                </a:effectLst>
                <a:latin typeface="Times New Roman" panose="02020603050405020304" pitchFamily="18" charset="0"/>
              </a:rPr>
              <a:t>M - t/ Tc                      </a:t>
            </a:r>
            <a:r>
              <a:rPr lang="zh-CN" altLang="en-US" dirty="0">
                <a:effectLst>
                  <a:outerShdw blurRad="38100" dist="38100" dir="2700000" algn="tl">
                    <a:srgbClr val="C0C0C0"/>
                  </a:outerShdw>
                </a:effectLst>
                <a:latin typeface="Times New Roman" panose="02020603050405020304" pitchFamily="18" charset="0"/>
              </a:rPr>
              <a:t>（</a:t>
            </a:r>
            <a:r>
              <a:rPr lang="en-US" altLang="zh-CN" dirty="0">
                <a:effectLst>
                  <a:outerShdw blurRad="38100" dist="38100" dir="2700000" algn="tl">
                    <a:srgbClr val="C0C0C0"/>
                  </a:outerShdw>
                </a:effectLst>
                <a:latin typeface="Times New Roman" panose="02020603050405020304" pitchFamily="18" charset="0"/>
              </a:rPr>
              <a:t>4</a:t>
            </a:r>
            <a:r>
              <a:rPr lang="zh-CN" altLang="en-US" dirty="0">
                <a:effectLst>
                  <a:outerShdw blurRad="38100" dist="38100" dir="2700000" algn="tl">
                    <a:srgbClr val="C0C0C0"/>
                  </a:outerShdw>
                </a:effectLst>
                <a:latin typeface="Times New Roman" panose="02020603050405020304" pitchFamily="18" charset="0"/>
              </a:rPr>
              <a:t>）    </a:t>
            </a:r>
          </a:p>
          <a:p>
            <a:pPr eaLnBrk="1" hangingPunct="1">
              <a:lnSpc>
                <a:spcPct val="110000"/>
              </a:lnSpc>
              <a:spcBef>
                <a:spcPct val="35000"/>
              </a:spcBef>
              <a:defRPr/>
            </a:pPr>
            <a:r>
              <a:rPr lang="zh-CN" altLang="en-US" dirty="0">
                <a:effectLst>
                  <a:outerShdw blurRad="38100" dist="38100" dir="2700000" algn="tl">
                    <a:srgbClr val="C0C0C0"/>
                  </a:outerShdw>
                </a:effectLst>
                <a:latin typeface="Times New Roman" panose="02020603050405020304" pitchFamily="18" charset="0"/>
              </a:rPr>
              <a:t>    </a:t>
            </a:r>
          </a:p>
        </p:txBody>
      </p:sp>
      <p:pic>
        <p:nvPicPr>
          <p:cNvPr id="38916" name="Picture 3" descr="pic092_jpg">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8200" y="5372100"/>
            <a:ext cx="1955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
        <p:nvSpPr>
          <p:cNvPr id="3" name="内容占位符 2"/>
          <p:cNvSpPr>
            <a:spLocks noGrp="1"/>
          </p:cNvSpPr>
          <p:nvPr>
            <p:ph idx="1"/>
          </p:nvPr>
        </p:nvSpPr>
        <p:spPr>
          <a:xfrm>
            <a:off x="679450" y="257175"/>
            <a:ext cx="8085138" cy="3333750"/>
          </a:xfrm>
          <a:solidFill>
            <a:srgbClr val="CCFFFF"/>
          </a:solidFill>
        </p:spPr>
        <p:txBody>
          <a:bodyPr>
            <a:normAutofit fontScale="85000" lnSpcReduction="10000"/>
          </a:bodyPr>
          <a:lstStyle/>
          <a:p>
            <a:pPr marL="0" indent="0">
              <a:lnSpc>
                <a:spcPct val="130000"/>
              </a:lnSpc>
              <a:buFont typeface="Wingdings" panose="05000000000000000000" pitchFamily="2" charset="2"/>
              <a:buNone/>
              <a:defRPr/>
            </a:pP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以</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方式</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1</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为例，设从</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计数开始到</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计数溢出，应有：</a:t>
            </a:r>
          </a:p>
          <a:p>
            <a:pPr marL="0" indent="0">
              <a:lnSpc>
                <a:spcPct val="130000"/>
              </a:lnSpc>
              <a:buFont typeface="Wingdings" panose="05000000000000000000" pitchFamily="2" charset="2"/>
              <a:buNone/>
              <a:defRPr/>
            </a:pP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   </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T0</a:t>
            </a:r>
            <a:r>
              <a:rPr lang="zh-CN" altLang="en-US"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初值</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C+ T0</a:t>
            </a:r>
            <a:r>
              <a:rPr lang="zh-CN" altLang="en-US"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计数值</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X</a:t>
            </a:r>
            <a:r>
              <a:rPr lang="zh-CN" altLang="en-US"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T0</a:t>
            </a:r>
            <a:r>
              <a:rPr lang="zh-CN" altLang="en-US"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计数器的模</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M</a:t>
            </a:r>
            <a:r>
              <a:rPr lang="zh-CN" altLang="en-US"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a:t>
            </a:r>
            <a:r>
              <a:rPr lang="en-US" altLang="zh-CN" b="1"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 2</a:t>
            </a:r>
            <a:r>
              <a:rPr lang="en-US" altLang="zh-CN" b="1" baseline="30000" dirty="0">
                <a:solidFill>
                  <a:srgbClr val="99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16</a:t>
            </a:r>
          </a:p>
          <a:p>
            <a:pPr marL="0" indent="0">
              <a:lnSpc>
                <a:spcPct val="130000"/>
              </a:lnSpc>
              <a:buFont typeface="Wingdings" panose="05000000000000000000" pitchFamily="2" charset="2"/>
              <a:buNone/>
              <a:defRPr/>
            </a:pP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      则： </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计数值</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X</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 </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 2</a:t>
            </a:r>
            <a:r>
              <a:rPr lang="en-US" altLang="zh-CN" b="1" baseline="30000" dirty="0">
                <a:effectLst>
                  <a:outerShdw blurRad="38100" dist="38100" dir="2700000" algn="tl">
                    <a:srgbClr val="000000">
                      <a:alpha val="43137"/>
                    </a:srgbClr>
                  </a:outerShdw>
                </a:effectLst>
                <a:latin typeface="仿宋" panose="02010609060101010101" charset="-122"/>
                <a:ea typeface="仿宋" panose="02010609060101010101" charset="-122"/>
              </a:rPr>
              <a:t>16</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 </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初值</a:t>
            </a: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C</a:t>
            </a:r>
          </a:p>
          <a:p>
            <a:pPr marL="0" indent="0">
              <a:lnSpc>
                <a:spcPct val="130000"/>
              </a:lnSpc>
              <a:buFont typeface="Wingdings" panose="05000000000000000000" pitchFamily="2" charset="2"/>
              <a:buNone/>
              <a:defRPr/>
            </a:pPr>
            <a:r>
              <a:rPr lang="en-US" altLang="zh-CN" b="1" dirty="0">
                <a:effectLst>
                  <a:outerShdw blurRad="38100" dist="38100" dir="2700000" algn="tl">
                    <a:srgbClr val="000000">
                      <a:alpha val="43137"/>
                    </a:srgbClr>
                  </a:outerShdw>
                </a:effectLst>
                <a:latin typeface="仿宋" panose="02010609060101010101" charset="-122"/>
                <a:ea typeface="仿宋" panose="02010609060101010101" charset="-122"/>
              </a:rPr>
              <a:t> T0</a:t>
            </a: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定时时间 </a:t>
            </a:r>
            <a:r>
              <a:rPr lang="en-US" altLang="zh-CN" b="1" dirty="0">
                <a:solidFill>
                  <a:srgbClr val="1F08C8"/>
                </a:solidFill>
                <a:effectLst>
                  <a:outerShdw blurRad="38100" dist="38100" dir="2700000" algn="tl">
                    <a:srgbClr val="000000">
                      <a:alpha val="43137"/>
                    </a:srgbClr>
                  </a:outerShdw>
                </a:effectLst>
                <a:latin typeface="仿宋" panose="02010609060101010101" charset="-122"/>
                <a:ea typeface="仿宋" panose="02010609060101010101" charset="-122"/>
              </a:rPr>
              <a:t>t=</a:t>
            </a:r>
            <a:r>
              <a:rPr lang="zh-CN" altLang="en-US" b="1" dirty="0">
                <a:solidFill>
                  <a:srgbClr val="1F08C8"/>
                </a:solidFill>
                <a:effectLst>
                  <a:outerShdw blurRad="38100" dist="38100" dir="2700000" algn="tl">
                    <a:srgbClr val="000000">
                      <a:alpha val="43137"/>
                    </a:srgbClr>
                  </a:outerShdw>
                </a:effectLst>
                <a:latin typeface="仿宋" panose="02010609060101010101" charset="-122"/>
                <a:ea typeface="仿宋" panose="02010609060101010101" charset="-122"/>
              </a:rPr>
              <a:t>信号时钟周期</a:t>
            </a:r>
            <a:r>
              <a:rPr lang="en-US" altLang="zh-CN" b="1" dirty="0">
                <a:solidFill>
                  <a:srgbClr val="1F08C8"/>
                </a:solidFill>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b="1" dirty="0">
                <a:solidFill>
                  <a:srgbClr val="1F08C8"/>
                </a:solidFill>
                <a:effectLst>
                  <a:outerShdw blurRad="38100" dist="38100" dir="2700000" algn="tl">
                    <a:srgbClr val="000000">
                      <a:alpha val="43137"/>
                    </a:srgbClr>
                  </a:outerShdw>
                </a:effectLst>
                <a:latin typeface="仿宋" panose="02010609060101010101" charset="-122"/>
                <a:ea typeface="仿宋" panose="02010609060101010101" charset="-122"/>
              </a:rPr>
              <a:t>计数值 </a:t>
            </a:r>
          </a:p>
          <a:p>
            <a:pPr marL="0" indent="0">
              <a:lnSpc>
                <a:spcPct val="130000"/>
              </a:lnSpc>
              <a:buFont typeface="Wingdings" panose="05000000000000000000" pitchFamily="2" charset="2"/>
              <a:buNone/>
              <a:defRPr/>
            </a:pPr>
            <a:r>
              <a:rPr lang="zh-CN" altLang="en-US" b="1" dirty="0">
                <a:effectLst>
                  <a:outerShdw blurRad="38100" dist="38100" dir="2700000" algn="tl">
                    <a:srgbClr val="000000">
                      <a:alpha val="43137"/>
                    </a:srgbClr>
                  </a:outerShdw>
                </a:effectLst>
                <a:latin typeface="仿宋" panose="02010609060101010101" charset="-122"/>
                <a:ea typeface="仿宋" panose="02010609060101010101" charset="-122"/>
              </a:rPr>
              <a:t>所以：</a:t>
            </a:r>
          </a:p>
        </p:txBody>
      </p:sp>
      <p:sp>
        <p:nvSpPr>
          <p:cNvPr id="39940" name="Rectangle 2"/>
          <p:cNvSpPr>
            <a:spLocks noChangeArrowheads="1"/>
          </p:cNvSpPr>
          <p:nvPr/>
        </p:nvSpPr>
        <p:spPr bwMode="auto">
          <a:xfrm>
            <a:off x="-125413" y="0"/>
            <a:ext cx="914400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p>
        </p:txBody>
      </p:sp>
      <p:graphicFrame>
        <p:nvGraphicFramePr>
          <p:cNvPr id="5" name="对象 4"/>
          <p:cNvGraphicFramePr>
            <a:graphicFrameLocks noChangeAspect="1"/>
          </p:cNvGraphicFramePr>
          <p:nvPr/>
        </p:nvGraphicFramePr>
        <p:xfrm>
          <a:off x="2528888" y="3602038"/>
          <a:ext cx="3838575" cy="1085850"/>
        </p:xfrm>
        <a:graphic>
          <a:graphicData uri="http://schemas.openxmlformats.org/presentationml/2006/ole">
            <mc:AlternateContent xmlns:mc="http://schemas.openxmlformats.org/markup-compatibility/2006">
              <mc:Choice xmlns:v="urn:schemas-microsoft-com:vml" Requires="v">
                <p:oleObj spid="_x0000_s40043" name="公式" r:id="rId3" imgW="1485900" imgH="431800" progId="">
                  <p:embed/>
                </p:oleObj>
              </mc:Choice>
              <mc:Fallback>
                <p:oleObj name="公式" r:id="rId3" imgW="1485900" imgH="431800" progId="">
                  <p:embed/>
                  <p:pic>
                    <p:nvPicPr>
                      <p:cNvPr id="0" name="对象 4"/>
                      <p:cNvPicPr>
                        <a:picLocks noChangeAspect="1" noChangeArrowheads="1"/>
                      </p:cNvPicPr>
                      <p:nvPr/>
                    </p:nvPicPr>
                    <p:blipFill>
                      <a:blip r:embed="rId4"/>
                      <a:srcRect/>
                      <a:stretch>
                        <a:fillRect/>
                      </a:stretch>
                    </p:blipFill>
                    <p:spPr bwMode="auto">
                      <a:xfrm>
                        <a:off x="2528888" y="3602038"/>
                        <a:ext cx="3838575" cy="108585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p:cNvSpPr txBox="1"/>
          <p:nvPr/>
        </p:nvSpPr>
        <p:spPr>
          <a:xfrm>
            <a:off x="682625" y="4735513"/>
            <a:ext cx="6164263" cy="523875"/>
          </a:xfrm>
          <a:prstGeom prst="rect">
            <a:avLst/>
          </a:prstGeom>
          <a:solidFill>
            <a:srgbClr val="CCFFCC"/>
          </a:solidFill>
        </p:spPr>
        <p:txBody>
          <a:bodyPr>
            <a:spAutoFit/>
          </a:bodyPr>
          <a:lstStyle/>
          <a:p>
            <a:pPr eaLnBrk="1" hangingPunct="1">
              <a:defRPr/>
            </a:pPr>
            <a:r>
              <a:rPr lang="zh-CN"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已知定时时间，求计数初值的公式为</a:t>
            </a:r>
            <a:endPar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39943" name="Rectangle 4"/>
          <p:cNvSpPr>
            <a:spLocks noChangeArrowheads="1"/>
          </p:cNvSpPr>
          <p:nvPr/>
        </p:nvSpPr>
        <p:spPr bwMode="auto">
          <a:xfrm>
            <a:off x="2770188" y="4975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800"/>
          </a:p>
        </p:txBody>
      </p:sp>
      <p:graphicFrame>
        <p:nvGraphicFramePr>
          <p:cNvPr id="8" name="对象 7"/>
          <p:cNvGraphicFramePr>
            <a:graphicFrameLocks noChangeAspect="1"/>
          </p:cNvGraphicFramePr>
          <p:nvPr/>
        </p:nvGraphicFramePr>
        <p:xfrm>
          <a:off x="2411413" y="5259388"/>
          <a:ext cx="4071937" cy="1012825"/>
        </p:xfrm>
        <a:graphic>
          <a:graphicData uri="http://schemas.openxmlformats.org/presentationml/2006/ole">
            <mc:AlternateContent xmlns:mc="http://schemas.openxmlformats.org/markup-compatibility/2006">
              <mc:Choice xmlns:v="urn:schemas-microsoft-com:vml" Requires="v">
                <p:oleObj spid="_x0000_s40044" name="公式" r:id="rId5" imgW="1409065" imgH="393700" progId="">
                  <p:embed/>
                </p:oleObj>
              </mc:Choice>
              <mc:Fallback>
                <p:oleObj name="公式" r:id="rId5" imgW="1409065" imgH="393700" progId="">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5259388"/>
                        <a:ext cx="4071937" cy="101282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randombar(horizontal)">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arn(inVertic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AA9B459-836D-44A9-9E79-E5F096FF63BA}" type="slidenum">
              <a:rPr lang="zh-CN" altLang="en-US" sz="1400"/>
              <a:t>5</a:t>
            </a:fld>
            <a:endParaRPr lang="en-US" altLang="zh-CN" sz="1400"/>
          </a:p>
        </p:txBody>
      </p:sp>
      <p:sp>
        <p:nvSpPr>
          <p:cNvPr id="28675" name="Rectangle 2"/>
          <p:cNvSpPr>
            <a:spLocks noGrp="1" noChangeArrowheads="1"/>
          </p:cNvSpPr>
          <p:nvPr>
            <p:ph type="title"/>
          </p:nvPr>
        </p:nvSpPr>
        <p:spPr>
          <a:xfrm>
            <a:off x="1042988" y="692150"/>
            <a:ext cx="7793037" cy="696913"/>
          </a:xfrm>
        </p:spPr>
        <p:txBody>
          <a:bodyPr/>
          <a:lstStyle/>
          <a:p>
            <a:pPr eaLnBrk="1" hangingPunct="1">
              <a:defRPr/>
            </a:pPr>
            <a:r>
              <a:rPr lang="en-US" altLang="zh-CN" sz="32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4.</a:t>
            </a:r>
            <a:r>
              <a:rPr lang="zh-CN" altLang="en-US" sz="32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计数初值装入说明</a:t>
            </a:r>
            <a:r>
              <a:rPr lang="zh-CN" altLang="en-US" sz="32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（以</a:t>
            </a:r>
            <a:r>
              <a:rPr lang="en-US" altLang="zh-CN" sz="32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T0</a:t>
            </a:r>
            <a:r>
              <a:rPr lang="zh-CN" altLang="en-US" sz="32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为例）</a:t>
            </a:r>
          </a:p>
        </p:txBody>
      </p:sp>
      <p:sp>
        <p:nvSpPr>
          <p:cNvPr id="48131" name="Rectangle 3"/>
          <p:cNvSpPr>
            <a:spLocks noGrp="1" noChangeArrowheads="1"/>
          </p:cNvSpPr>
          <p:nvPr>
            <p:ph type="body" idx="1"/>
          </p:nvPr>
        </p:nvSpPr>
        <p:spPr>
          <a:xfrm>
            <a:off x="900113" y="1628775"/>
            <a:ext cx="7772400" cy="4537075"/>
          </a:xfrm>
        </p:spPr>
        <p:txBody>
          <a:bodyPr/>
          <a:lstStyle/>
          <a:p>
            <a:pPr algn="just" eaLnBrk="1" hangingPunct="1">
              <a:lnSpc>
                <a:spcPct val="115000"/>
              </a:lnSpc>
              <a:defRPr/>
            </a:pPr>
            <a:r>
              <a:rPr lang="zh-CN" altLang="en-US" sz="2800" b="1" dirty="0">
                <a:effectLst>
                  <a:outerShdw blurRad="38100" dist="38100" dir="2700000" algn="tl">
                    <a:srgbClr val="000000">
                      <a:alpha val="43137"/>
                    </a:srgbClr>
                  </a:outerShdw>
                </a:effectLst>
                <a:latin typeface="宋体" panose="02010600030101010101" pitchFamily="2" charset="-122"/>
              </a:rPr>
              <a:t>方式</a:t>
            </a:r>
            <a:r>
              <a:rPr lang="en-US" altLang="zh-CN" sz="2800" b="1" dirty="0">
                <a:effectLst>
                  <a:outerShdw blurRad="38100" dist="38100" dir="2700000" algn="tl">
                    <a:srgbClr val="000000">
                      <a:alpha val="43137"/>
                    </a:srgbClr>
                  </a:outerShdw>
                </a:effectLst>
                <a:latin typeface="宋体" panose="02010600030101010101" pitchFamily="2" charset="-122"/>
              </a:rPr>
              <a:t>0</a:t>
            </a:r>
            <a:r>
              <a:rPr lang="zh-CN" altLang="en-US" sz="2800" b="1" dirty="0">
                <a:effectLst>
                  <a:outerShdw blurRad="38100" dist="38100" dir="2700000" algn="tl">
                    <a:srgbClr val="000000">
                      <a:alpha val="43137"/>
                    </a:srgbClr>
                  </a:outerShdw>
                </a:effectLst>
                <a:latin typeface="宋体" panose="02010600030101010101" pitchFamily="2" charset="-122"/>
              </a:rPr>
              <a:t>是</a:t>
            </a:r>
            <a:r>
              <a:rPr lang="en-US" altLang="zh-CN" sz="2800" b="1" dirty="0">
                <a:effectLst>
                  <a:outerShdw blurRad="38100" dist="38100" dir="2700000" algn="tl">
                    <a:srgbClr val="000000">
                      <a:alpha val="43137"/>
                    </a:srgbClr>
                  </a:outerShdw>
                </a:effectLst>
                <a:latin typeface="宋体" panose="02010600030101010101" pitchFamily="2" charset="-122"/>
              </a:rPr>
              <a:t>13</a:t>
            </a:r>
            <a:r>
              <a:rPr lang="zh-CN" altLang="en-US" sz="2800" b="1" dirty="0">
                <a:effectLst>
                  <a:outerShdw blurRad="38100" dist="38100" dir="2700000" algn="tl">
                    <a:srgbClr val="000000">
                      <a:alpha val="43137"/>
                    </a:srgbClr>
                  </a:outerShdw>
                </a:effectLst>
                <a:latin typeface="宋体" panose="02010600030101010101" pitchFamily="2" charset="-122"/>
              </a:rPr>
              <a:t>位方式，高</a:t>
            </a:r>
            <a:r>
              <a:rPr lang="en-US" altLang="zh-CN" sz="2800" b="1" dirty="0">
                <a:effectLst>
                  <a:outerShdw blurRad="38100" dist="38100" dir="2700000" algn="tl">
                    <a:srgbClr val="000000">
                      <a:alpha val="43137"/>
                    </a:srgbClr>
                  </a:outerShdw>
                </a:effectLst>
                <a:latin typeface="宋体" panose="02010600030101010101" pitchFamily="2" charset="-122"/>
              </a:rPr>
              <a:t>8</a:t>
            </a:r>
            <a:r>
              <a:rPr lang="zh-CN" altLang="en-US" sz="2800" b="1" dirty="0">
                <a:effectLst>
                  <a:outerShdw blurRad="38100" dist="38100" dir="2700000" algn="tl">
                    <a:srgbClr val="000000">
                      <a:alpha val="43137"/>
                    </a:srgbClr>
                  </a:outerShdw>
                </a:effectLst>
                <a:latin typeface="宋体" panose="02010600030101010101" pitchFamily="2" charset="-122"/>
              </a:rPr>
              <a:t>位初值装入</a:t>
            </a:r>
            <a:r>
              <a:rPr lang="en-US" altLang="zh-CN" sz="2800" b="1" dirty="0">
                <a:effectLst>
                  <a:outerShdw blurRad="38100" dist="38100" dir="2700000" algn="tl">
                    <a:srgbClr val="000000">
                      <a:alpha val="43137"/>
                    </a:srgbClr>
                  </a:outerShdw>
                </a:effectLst>
                <a:latin typeface="宋体" panose="02010600030101010101" pitchFamily="2" charset="-122"/>
              </a:rPr>
              <a:t>TH0</a:t>
            </a:r>
            <a:r>
              <a:rPr lang="zh-CN" altLang="en-US" sz="2800" b="1" dirty="0">
                <a:effectLst>
                  <a:outerShdw blurRad="38100" dist="38100" dir="2700000" algn="tl">
                    <a:srgbClr val="000000">
                      <a:alpha val="43137"/>
                    </a:srgbClr>
                  </a:outerShdw>
                </a:effectLst>
                <a:latin typeface="宋体" panose="02010600030101010101" pitchFamily="2" charset="-122"/>
              </a:rPr>
              <a:t>，低</a:t>
            </a:r>
            <a:r>
              <a:rPr lang="en-US" altLang="zh-CN" sz="2800" b="1" dirty="0">
                <a:effectLst>
                  <a:outerShdw blurRad="38100" dist="38100" dir="2700000" algn="tl">
                    <a:srgbClr val="000000">
                      <a:alpha val="43137"/>
                    </a:srgbClr>
                  </a:outerShdw>
                </a:effectLst>
                <a:latin typeface="宋体" panose="02010600030101010101" pitchFamily="2" charset="-122"/>
              </a:rPr>
              <a:t>5</a:t>
            </a:r>
            <a:r>
              <a:rPr lang="zh-CN" altLang="en-US" sz="2800" b="1" dirty="0">
                <a:effectLst>
                  <a:outerShdw blurRad="38100" dist="38100" dir="2700000" algn="tl">
                    <a:srgbClr val="000000">
                      <a:alpha val="43137"/>
                    </a:srgbClr>
                  </a:outerShdw>
                </a:effectLst>
                <a:latin typeface="宋体" panose="02010600030101010101" pitchFamily="2" charset="-122"/>
              </a:rPr>
              <a:t>位初值装入</a:t>
            </a:r>
            <a:r>
              <a:rPr lang="en-US" altLang="zh-CN" sz="2800" b="1" dirty="0">
                <a:effectLst>
                  <a:outerShdw blurRad="38100" dist="38100" dir="2700000" algn="tl">
                    <a:srgbClr val="000000">
                      <a:alpha val="43137"/>
                    </a:srgbClr>
                  </a:outerShdw>
                </a:effectLst>
                <a:latin typeface="宋体" panose="02010600030101010101" pitchFamily="2" charset="-122"/>
              </a:rPr>
              <a:t>TL0</a:t>
            </a:r>
            <a:r>
              <a:rPr lang="zh-CN" altLang="en-US" sz="2800" b="1" dirty="0">
                <a:effectLst>
                  <a:outerShdw blurRad="38100" dist="38100" dir="2700000" algn="tl">
                    <a:srgbClr val="000000">
                      <a:alpha val="43137"/>
                    </a:srgbClr>
                  </a:outerShdw>
                </a:effectLst>
                <a:latin typeface="宋体" panose="02010600030101010101" pitchFamily="2" charset="-122"/>
              </a:rPr>
              <a:t>的低</a:t>
            </a:r>
            <a:r>
              <a:rPr lang="en-US" altLang="zh-CN" sz="2800" b="1" dirty="0">
                <a:effectLst>
                  <a:outerShdw blurRad="38100" dist="38100" dir="2700000" algn="tl">
                    <a:srgbClr val="000000">
                      <a:alpha val="43137"/>
                    </a:srgbClr>
                  </a:outerShdw>
                </a:effectLst>
                <a:latin typeface="宋体" panose="02010600030101010101" pitchFamily="2" charset="-122"/>
              </a:rPr>
              <a:t>5</a:t>
            </a:r>
            <a:r>
              <a:rPr lang="zh-CN" altLang="en-US" sz="2800" b="1" dirty="0">
                <a:effectLst>
                  <a:outerShdw blurRad="38100" dist="38100" dir="2700000" algn="tl">
                    <a:srgbClr val="000000">
                      <a:alpha val="43137"/>
                    </a:srgbClr>
                  </a:outerShdw>
                </a:effectLst>
                <a:latin typeface="宋体" panose="02010600030101010101" pitchFamily="2" charset="-122"/>
              </a:rPr>
              <a:t>位，高</a:t>
            </a:r>
            <a:r>
              <a:rPr lang="en-US" altLang="zh-CN" sz="2800" b="1" dirty="0">
                <a:effectLst>
                  <a:outerShdw blurRad="38100" dist="38100" dir="2700000" algn="tl">
                    <a:srgbClr val="000000">
                      <a:alpha val="43137"/>
                    </a:srgbClr>
                  </a:outerShdw>
                </a:effectLst>
                <a:latin typeface="宋体" panose="02010600030101010101" pitchFamily="2" charset="-122"/>
              </a:rPr>
              <a:t>3</a:t>
            </a:r>
            <a:r>
              <a:rPr lang="zh-CN" altLang="en-US" sz="2800" b="1" dirty="0">
                <a:effectLst>
                  <a:outerShdw blurRad="38100" dist="38100" dir="2700000" algn="tl">
                    <a:srgbClr val="000000">
                      <a:alpha val="43137"/>
                    </a:srgbClr>
                  </a:outerShdw>
                </a:effectLst>
                <a:latin typeface="宋体" panose="02010600030101010101" pitchFamily="2" charset="-122"/>
              </a:rPr>
              <a:t>位无效（设为</a:t>
            </a:r>
            <a:r>
              <a:rPr lang="en-US" altLang="zh-CN" sz="2800" b="1" dirty="0">
                <a:effectLst>
                  <a:outerShdw blurRad="38100" dist="38100" dir="2700000" algn="tl">
                    <a:srgbClr val="000000">
                      <a:alpha val="43137"/>
                    </a:srgbClr>
                  </a:outerShdw>
                </a:effectLst>
                <a:latin typeface="宋体" panose="02010600030101010101" pitchFamily="2" charset="-122"/>
              </a:rPr>
              <a:t>000</a:t>
            </a:r>
            <a:r>
              <a:rPr lang="zh-CN" altLang="en-US" sz="2800" b="1" dirty="0">
                <a:effectLst>
                  <a:outerShdw blurRad="38100" dist="38100" dir="2700000" algn="tl">
                    <a:srgbClr val="000000">
                      <a:alpha val="43137"/>
                    </a:srgbClr>
                  </a:outerShdw>
                </a:effectLst>
                <a:latin typeface="宋体" panose="02010600030101010101" pitchFamily="2" charset="-122"/>
              </a:rPr>
              <a:t>）。</a:t>
            </a:r>
          </a:p>
          <a:p>
            <a:pPr algn="just" eaLnBrk="1" hangingPunct="1">
              <a:lnSpc>
                <a:spcPct val="115000"/>
              </a:lnSpc>
              <a:defRPr/>
            </a:pPr>
            <a:r>
              <a:rPr lang="zh-CN" altLang="en-US" sz="2800" b="1" dirty="0">
                <a:effectLst>
                  <a:outerShdw blurRad="38100" dist="38100" dir="2700000" algn="tl">
                    <a:srgbClr val="000000">
                      <a:alpha val="43137"/>
                    </a:srgbClr>
                  </a:outerShdw>
                </a:effectLst>
                <a:latin typeface="宋体" panose="02010600030101010101" pitchFamily="2" charset="-122"/>
              </a:rPr>
              <a:t>方式</a:t>
            </a:r>
            <a:r>
              <a:rPr lang="en-US" altLang="zh-CN" sz="2800" b="1" dirty="0">
                <a:effectLst>
                  <a:outerShdw blurRad="38100" dist="38100" dir="2700000" algn="tl">
                    <a:srgbClr val="000000">
                      <a:alpha val="43137"/>
                    </a:srgbClr>
                  </a:outerShdw>
                </a:effectLst>
                <a:latin typeface="宋体" panose="02010600030101010101" pitchFamily="2" charset="-122"/>
              </a:rPr>
              <a:t>1</a:t>
            </a:r>
            <a:r>
              <a:rPr lang="zh-CN" altLang="en-US" sz="2800" b="1" dirty="0">
                <a:effectLst>
                  <a:outerShdw blurRad="38100" dist="38100" dir="2700000" algn="tl">
                    <a:srgbClr val="000000">
                      <a:alpha val="43137"/>
                    </a:srgbClr>
                  </a:outerShdw>
                </a:effectLst>
                <a:latin typeface="宋体" panose="02010600030101010101" pitchFamily="2" charset="-122"/>
              </a:rPr>
              <a:t>为</a:t>
            </a:r>
            <a:r>
              <a:rPr lang="en-US" altLang="zh-CN" sz="2800" b="1" dirty="0">
                <a:effectLst>
                  <a:outerShdw blurRad="38100" dist="38100" dir="2700000" algn="tl">
                    <a:srgbClr val="000000">
                      <a:alpha val="43137"/>
                    </a:srgbClr>
                  </a:outerShdw>
                </a:effectLst>
                <a:latin typeface="宋体" panose="02010600030101010101" pitchFamily="2" charset="-122"/>
              </a:rPr>
              <a:t>16</a:t>
            </a:r>
            <a:r>
              <a:rPr lang="zh-CN" altLang="en-US" sz="2800" b="1" dirty="0">
                <a:effectLst>
                  <a:outerShdw blurRad="38100" dist="38100" dir="2700000" algn="tl">
                    <a:srgbClr val="000000">
                      <a:alpha val="43137"/>
                    </a:srgbClr>
                  </a:outerShdw>
                </a:effectLst>
                <a:latin typeface="宋体" panose="02010600030101010101" pitchFamily="2" charset="-122"/>
              </a:rPr>
              <a:t>位方式，高</a:t>
            </a:r>
            <a:r>
              <a:rPr lang="en-US" altLang="zh-CN" sz="2800" b="1" dirty="0">
                <a:effectLst>
                  <a:outerShdw blurRad="38100" dist="38100" dir="2700000" algn="tl">
                    <a:srgbClr val="000000">
                      <a:alpha val="43137"/>
                    </a:srgbClr>
                  </a:outerShdw>
                </a:effectLst>
                <a:latin typeface="宋体" panose="02010600030101010101" pitchFamily="2" charset="-122"/>
              </a:rPr>
              <a:t>8</a:t>
            </a:r>
            <a:r>
              <a:rPr lang="zh-CN" altLang="en-US" sz="2800" b="1" dirty="0">
                <a:effectLst>
                  <a:outerShdw blurRad="38100" dist="38100" dir="2700000" algn="tl">
                    <a:srgbClr val="000000">
                      <a:alpha val="43137"/>
                    </a:srgbClr>
                  </a:outerShdw>
                </a:effectLst>
                <a:latin typeface="宋体" panose="02010600030101010101" pitchFamily="2" charset="-122"/>
              </a:rPr>
              <a:t>位初值装入</a:t>
            </a:r>
            <a:r>
              <a:rPr lang="en-US" altLang="zh-CN" sz="2800" b="1" dirty="0">
                <a:effectLst>
                  <a:outerShdw blurRad="38100" dist="38100" dir="2700000" algn="tl">
                    <a:srgbClr val="000000">
                      <a:alpha val="43137"/>
                    </a:srgbClr>
                  </a:outerShdw>
                </a:effectLst>
                <a:latin typeface="宋体" panose="02010600030101010101" pitchFamily="2" charset="-122"/>
              </a:rPr>
              <a:t>TH0</a:t>
            </a:r>
            <a:r>
              <a:rPr lang="zh-CN" altLang="en-US" sz="2800" b="1" dirty="0">
                <a:effectLst>
                  <a:outerShdw blurRad="38100" dist="38100" dir="2700000" algn="tl">
                    <a:srgbClr val="000000">
                      <a:alpha val="43137"/>
                    </a:srgbClr>
                  </a:outerShdw>
                </a:effectLst>
                <a:latin typeface="宋体" panose="02010600030101010101" pitchFamily="2" charset="-122"/>
              </a:rPr>
              <a:t>，低</a:t>
            </a:r>
            <a:r>
              <a:rPr lang="en-US" altLang="zh-CN" sz="2800" b="1" dirty="0">
                <a:effectLst>
                  <a:outerShdw blurRad="38100" dist="38100" dir="2700000" algn="tl">
                    <a:srgbClr val="000000">
                      <a:alpha val="43137"/>
                    </a:srgbClr>
                  </a:outerShdw>
                </a:effectLst>
                <a:latin typeface="宋体" panose="02010600030101010101" pitchFamily="2" charset="-122"/>
              </a:rPr>
              <a:t>8</a:t>
            </a:r>
            <a:r>
              <a:rPr lang="zh-CN" altLang="en-US" sz="2800" b="1" dirty="0">
                <a:effectLst>
                  <a:outerShdw blurRad="38100" dist="38100" dir="2700000" algn="tl">
                    <a:srgbClr val="000000">
                      <a:alpha val="43137"/>
                    </a:srgbClr>
                  </a:outerShdw>
                </a:effectLst>
                <a:latin typeface="宋体" panose="02010600030101010101" pitchFamily="2" charset="-122"/>
              </a:rPr>
              <a:t>位初值装入</a:t>
            </a:r>
            <a:r>
              <a:rPr lang="en-US" altLang="zh-CN" sz="2800" b="1" dirty="0">
                <a:effectLst>
                  <a:outerShdw blurRad="38100" dist="38100" dir="2700000" algn="tl">
                    <a:srgbClr val="000000">
                      <a:alpha val="43137"/>
                    </a:srgbClr>
                  </a:outerShdw>
                </a:effectLst>
                <a:latin typeface="宋体" panose="02010600030101010101" pitchFamily="2" charset="-122"/>
              </a:rPr>
              <a:t>TL0</a:t>
            </a:r>
            <a:r>
              <a:rPr lang="zh-CN" altLang="en-US" sz="2800" b="1" dirty="0">
                <a:effectLst>
                  <a:outerShdw blurRad="38100" dist="38100" dir="2700000" algn="tl">
                    <a:srgbClr val="000000">
                      <a:alpha val="43137"/>
                    </a:srgbClr>
                  </a:outerShdw>
                </a:effectLst>
                <a:latin typeface="宋体" panose="02010600030101010101" pitchFamily="2" charset="-122"/>
              </a:rPr>
              <a:t>。</a:t>
            </a:r>
          </a:p>
          <a:p>
            <a:pPr algn="just" eaLnBrk="1" hangingPunct="1">
              <a:lnSpc>
                <a:spcPct val="115000"/>
              </a:lnSpc>
              <a:defRPr/>
            </a:pPr>
            <a:r>
              <a:rPr lang="zh-CN" altLang="en-US" sz="2800" b="1" dirty="0">
                <a:effectLst>
                  <a:outerShdw blurRad="38100" dist="38100" dir="2700000" algn="tl">
                    <a:srgbClr val="000000">
                      <a:alpha val="43137"/>
                    </a:srgbClr>
                  </a:outerShdw>
                </a:effectLst>
                <a:latin typeface="宋体" panose="02010600030101010101" pitchFamily="2" charset="-122"/>
              </a:rPr>
              <a:t>方式</a:t>
            </a:r>
            <a:r>
              <a:rPr lang="en-US" altLang="zh-CN" sz="2800" b="1" dirty="0">
                <a:effectLst>
                  <a:outerShdw blurRad="38100" dist="38100" dir="2700000" algn="tl">
                    <a:srgbClr val="000000">
                      <a:alpha val="43137"/>
                    </a:srgbClr>
                  </a:outerShdw>
                </a:effectLst>
                <a:latin typeface="宋体" panose="02010600030101010101" pitchFamily="2" charset="-122"/>
              </a:rPr>
              <a:t>2</a:t>
            </a:r>
            <a:r>
              <a:rPr lang="zh-CN" altLang="en-US" sz="2800" b="1" dirty="0">
                <a:effectLst>
                  <a:outerShdw blurRad="38100" dist="38100" dir="2700000" algn="tl">
                    <a:srgbClr val="000000">
                      <a:alpha val="43137"/>
                    </a:srgbClr>
                  </a:outerShdw>
                </a:effectLst>
                <a:latin typeface="宋体" panose="02010600030101010101" pitchFamily="2" charset="-122"/>
              </a:rPr>
              <a:t>为</a:t>
            </a:r>
            <a:r>
              <a:rPr lang="en-US" altLang="zh-CN" sz="2800" b="1" dirty="0">
                <a:effectLst>
                  <a:outerShdw blurRad="38100" dist="38100" dir="2700000" algn="tl">
                    <a:srgbClr val="000000">
                      <a:alpha val="43137"/>
                    </a:srgbClr>
                  </a:outerShdw>
                </a:effectLst>
                <a:latin typeface="宋体" panose="02010600030101010101" pitchFamily="2" charset="-122"/>
              </a:rPr>
              <a:t>8</a:t>
            </a:r>
            <a:r>
              <a:rPr lang="zh-CN" altLang="en-US" sz="2800" b="1" dirty="0">
                <a:effectLst>
                  <a:outerShdw blurRad="38100" dist="38100" dir="2700000" algn="tl">
                    <a:srgbClr val="000000">
                      <a:alpha val="43137"/>
                    </a:srgbClr>
                  </a:outerShdw>
                </a:effectLst>
                <a:latin typeface="宋体" panose="02010600030101010101" pitchFamily="2" charset="-122"/>
              </a:rPr>
              <a:t>位方式（</a:t>
            </a: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可自动重载</a:t>
            </a:r>
            <a:r>
              <a:rPr lang="zh-CN" altLang="en-US" sz="2800" b="1" dirty="0">
                <a:effectLst>
                  <a:outerShdw blurRad="38100" dist="38100" dir="2700000" algn="tl">
                    <a:srgbClr val="000000">
                      <a:alpha val="43137"/>
                    </a:srgbClr>
                  </a:outerShdw>
                </a:effectLst>
                <a:latin typeface="宋体" panose="02010600030101010101" pitchFamily="2" charset="-122"/>
              </a:rPr>
              <a:t>），初值既要装入</a:t>
            </a:r>
            <a:r>
              <a:rPr lang="en-US" altLang="zh-CN" sz="2800" b="1" dirty="0">
                <a:effectLst>
                  <a:outerShdw blurRad="38100" dist="38100" dir="2700000" algn="tl">
                    <a:srgbClr val="000000">
                      <a:alpha val="43137"/>
                    </a:srgbClr>
                  </a:outerShdw>
                </a:effectLst>
                <a:latin typeface="宋体" panose="02010600030101010101" pitchFamily="2" charset="-122"/>
              </a:rPr>
              <a:t>TH0</a:t>
            </a:r>
            <a:r>
              <a:rPr lang="zh-CN" altLang="en-US" sz="2800" b="1" dirty="0">
                <a:effectLst>
                  <a:outerShdw blurRad="38100" dist="38100" dir="2700000" algn="tl">
                    <a:srgbClr val="000000">
                      <a:alpha val="43137"/>
                    </a:srgbClr>
                  </a:outerShdw>
                </a:effectLst>
                <a:latin typeface="宋体" panose="02010600030101010101" pitchFamily="2" charset="-122"/>
              </a:rPr>
              <a:t>，也要装入</a:t>
            </a:r>
            <a:r>
              <a:rPr lang="en-US" altLang="zh-CN" sz="2800" b="1" dirty="0">
                <a:effectLst>
                  <a:outerShdw blurRad="38100" dist="38100" dir="2700000" algn="tl">
                    <a:srgbClr val="000000">
                      <a:alpha val="43137"/>
                    </a:srgbClr>
                  </a:outerShdw>
                </a:effectLst>
                <a:latin typeface="宋体" panose="02010600030101010101" pitchFamily="2" charset="-122"/>
              </a:rPr>
              <a:t>TL0</a:t>
            </a:r>
            <a:r>
              <a:rPr lang="zh-CN" altLang="en-US" sz="2800" b="1" dirty="0">
                <a:effectLst>
                  <a:outerShdw blurRad="38100" dist="38100" dir="2700000" algn="tl">
                    <a:srgbClr val="000000">
                      <a:alpha val="43137"/>
                    </a:srgbClr>
                  </a:outerShdw>
                </a:effectLst>
                <a:latin typeface="宋体" panose="02010600030101010101" pitchFamily="2" charset="-122"/>
              </a:rPr>
              <a:t>。</a:t>
            </a:r>
          </a:p>
          <a:p>
            <a:pPr algn="just" eaLnBrk="1" hangingPunct="1">
              <a:lnSpc>
                <a:spcPct val="115000"/>
              </a:lnSpc>
              <a:defRPr/>
            </a:pPr>
            <a:r>
              <a:rPr lang="zh-CN" altLang="en-US" sz="2800" b="1" dirty="0">
                <a:effectLst>
                  <a:outerShdw blurRad="38100" dist="38100" dir="2700000" algn="tl">
                    <a:srgbClr val="000000">
                      <a:alpha val="43137"/>
                    </a:srgbClr>
                  </a:outerShdw>
                </a:effectLst>
                <a:latin typeface="宋体" panose="02010600030101010101" pitchFamily="2" charset="-122"/>
              </a:rPr>
              <a:t>方式</a:t>
            </a:r>
            <a:r>
              <a:rPr lang="en-US" altLang="zh-CN" sz="2800" b="1" dirty="0">
                <a:effectLst>
                  <a:outerShdw blurRad="38100" dist="38100" dir="2700000" algn="tl">
                    <a:srgbClr val="000000">
                      <a:alpha val="43137"/>
                    </a:srgbClr>
                  </a:outerShdw>
                </a:effectLst>
                <a:latin typeface="宋体" panose="02010600030101010101" pitchFamily="2" charset="-122"/>
              </a:rPr>
              <a:t>3</a:t>
            </a:r>
            <a:r>
              <a:rPr lang="zh-CN" altLang="en-US" sz="2800" b="1" dirty="0">
                <a:solidFill>
                  <a:srgbClr val="FF0000"/>
                </a:solidFill>
                <a:effectLst>
                  <a:outerShdw blurRad="38100" dist="38100" dir="2700000" algn="tl">
                    <a:srgbClr val="000000">
                      <a:alpha val="43137"/>
                    </a:srgbClr>
                  </a:outerShdw>
                </a:effectLst>
                <a:latin typeface="宋体" panose="02010600030101010101" pitchFamily="2" charset="-122"/>
              </a:rPr>
              <a:t>只适合于</a:t>
            </a:r>
            <a:r>
              <a:rPr lang="en-US" altLang="zh-CN" sz="2800" b="1" dirty="0">
                <a:solidFill>
                  <a:srgbClr val="FF0000"/>
                </a:solidFill>
                <a:effectLst>
                  <a:outerShdw blurRad="38100" dist="38100" dir="2700000" algn="tl">
                    <a:srgbClr val="000000">
                      <a:alpha val="43137"/>
                    </a:srgbClr>
                  </a:outerShdw>
                </a:effectLst>
                <a:latin typeface="宋体" panose="02010600030101010101" pitchFamily="2" charset="-122"/>
              </a:rPr>
              <a:t>T0</a:t>
            </a:r>
            <a:r>
              <a:rPr lang="zh-CN" altLang="en-US" sz="2800" b="1" dirty="0">
                <a:effectLst>
                  <a:outerShdw blurRad="38100" dist="38100" dir="2700000" algn="tl">
                    <a:srgbClr val="000000">
                      <a:alpha val="43137"/>
                    </a:srgbClr>
                  </a:outerShdw>
                </a:effectLst>
                <a:latin typeface="宋体" panose="02010600030101010101" pitchFamily="2" charset="-122"/>
              </a:rPr>
              <a:t>。</a:t>
            </a:r>
            <a:r>
              <a:rPr lang="en-US" altLang="zh-CN" sz="2800" b="1" dirty="0">
                <a:effectLst>
                  <a:outerShdw blurRad="38100" dist="38100" dir="2700000" algn="tl">
                    <a:srgbClr val="000000">
                      <a:alpha val="43137"/>
                    </a:srgbClr>
                  </a:outerShdw>
                </a:effectLst>
                <a:latin typeface="宋体" panose="02010600030101010101" pitchFamily="2" charset="-122"/>
              </a:rPr>
              <a:t>TH0</a:t>
            </a:r>
            <a:r>
              <a:rPr lang="zh-CN" altLang="en-US" sz="2800" b="1" dirty="0">
                <a:effectLst>
                  <a:outerShdw blurRad="38100" dist="38100" dir="2700000" algn="tl">
                    <a:srgbClr val="000000">
                      <a:alpha val="43137"/>
                    </a:srgbClr>
                  </a:outerShdw>
                </a:effectLst>
                <a:latin typeface="宋体" panose="02010600030101010101" pitchFamily="2" charset="-122"/>
              </a:rPr>
              <a:t>和</a:t>
            </a:r>
            <a:r>
              <a:rPr lang="en-US" altLang="zh-CN" sz="2800" b="1" dirty="0">
                <a:effectLst>
                  <a:outerShdw blurRad="38100" dist="38100" dir="2700000" algn="tl">
                    <a:srgbClr val="000000">
                      <a:alpha val="43137"/>
                    </a:srgbClr>
                  </a:outerShdw>
                </a:effectLst>
                <a:latin typeface="宋体" panose="02010600030101010101" pitchFamily="2" charset="-122"/>
              </a:rPr>
              <a:t>TL0</a:t>
            </a:r>
            <a:r>
              <a:rPr lang="zh-CN" altLang="en-US" sz="2800" b="1" dirty="0">
                <a:effectLst>
                  <a:outerShdw blurRad="38100" dist="38100" dir="2700000" algn="tl">
                    <a:srgbClr val="000000">
                      <a:alpha val="43137"/>
                    </a:srgbClr>
                  </a:outerShdw>
                </a:effectLst>
                <a:latin typeface="宋体" panose="02010600030101010101" pitchFamily="2" charset="-122"/>
              </a:rPr>
              <a:t>是两个独立计数器，分别装入各自的计数初值。</a:t>
            </a:r>
          </a:p>
        </p:txBody>
      </p:sp>
      <p:sp>
        <p:nvSpPr>
          <p:cNvPr id="40965"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checkerboard(across)">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checkerboard(across)">
                                      <p:cBhvr>
                                        <p:cTn id="12" dur="500"/>
                                        <p:tgtEl>
                                          <p:spTgt spid="48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Effect transition="in" filter="checkerboard(across)">
                                      <p:cBhvr>
                                        <p:cTn id="17" dur="500"/>
                                        <p:tgtEl>
                                          <p:spTgt spid="48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8131">
                                            <p:txEl>
                                              <p:pRg st="3" end="3"/>
                                            </p:txEl>
                                          </p:spTgt>
                                        </p:tgtEl>
                                        <p:attrNameLst>
                                          <p:attrName>style.visibility</p:attrName>
                                        </p:attrNameLst>
                                      </p:cBhvr>
                                      <p:to>
                                        <p:strVal val="visible"/>
                                      </p:to>
                                    </p:set>
                                    <p:animEffect transition="in" filter="checkerboard(across)">
                                      <p:cBhvr>
                                        <p:cTn id="22" dur="500"/>
                                        <p:tgtEl>
                                          <p:spTgt spid="481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96CC27-541A-4E68-A17B-2660855C8D8F}" type="slidenum">
              <a:rPr lang="zh-CN" altLang="en-US" smtClean="0"/>
              <a:t>6</a:t>
            </a:fld>
            <a:endParaRPr lang="en-US" altLang="zh-CN"/>
          </a:p>
        </p:txBody>
      </p:sp>
      <p:sp>
        <p:nvSpPr>
          <p:cNvPr id="5" name="文本框 4"/>
          <p:cNvSpPr txBox="1"/>
          <p:nvPr/>
        </p:nvSpPr>
        <p:spPr>
          <a:xfrm>
            <a:off x="611560" y="563728"/>
            <a:ext cx="7920880" cy="5730543"/>
          </a:xfrm>
          <a:prstGeom prst="rect">
            <a:avLst/>
          </a:prstGeom>
          <a:noFill/>
        </p:spPr>
        <p:txBody>
          <a:bodyPr wrap="square" rtlCol="0">
            <a:spAutoFit/>
          </a:bodyPr>
          <a:lstStyle/>
          <a:p>
            <a:pPr>
              <a:lnSpc>
                <a:spcPct val="120000"/>
              </a:lnSpc>
            </a:pP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设</a:t>
            </a:r>
            <a:r>
              <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C</a:t>
            </a: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为计数初值，则</a:t>
            </a:r>
            <a:r>
              <a:rPr lang="en-US" altLang="zh-CN"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TLx</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和</a:t>
            </a:r>
            <a:r>
              <a:rPr lang="en-US" altLang="zh-CN"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THx</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的写入方法：</a:t>
            </a:r>
            <a:endPar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a:lnSpc>
                <a:spcPct val="120000"/>
              </a:lnSpc>
            </a:pP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方式</a:t>
            </a:r>
            <a:r>
              <a:rPr lang="en-US" altLang="zh-CN" dirty="0">
                <a:effectLst>
                  <a:outerShdw blurRad="38100" dist="38100" dir="2700000" algn="tl">
                    <a:srgbClr val="000000">
                      <a:alpha val="43137"/>
                    </a:srgbClr>
                  </a:outerShdw>
                </a:effectLst>
                <a:highlight>
                  <a:srgbClr val="FF0000"/>
                </a:highlight>
                <a:latin typeface="Times New Roman" panose="02020603050405020304" pitchFamily="18" charset="0"/>
                <a:ea typeface="+mn-ea"/>
                <a:cs typeface="Times New Roman" panose="02020603050405020304" pitchFamily="18" charset="0"/>
              </a:rPr>
              <a:t>1</a:t>
            </a: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b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br>
            <a:r>
              <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FFFF00"/>
                </a:highlight>
                <a:latin typeface="Times New Roman" panose="02020603050405020304" pitchFamily="18" charset="0"/>
                <a:ea typeface="+mn-ea"/>
                <a:cs typeface="Times New Roman" panose="02020603050405020304" pitchFamily="18" charset="0"/>
              </a:rPr>
              <a:t>THx</a:t>
            </a:r>
            <a:r>
              <a:rPr lang="en-US" altLang="zh-CN" dirty="0">
                <a:effectLst>
                  <a:outerShdw blurRad="38100" dist="38100" dir="2700000" algn="tl">
                    <a:srgbClr val="000000">
                      <a:alpha val="43137"/>
                    </a:srgbClr>
                  </a:outerShdw>
                </a:effectLst>
                <a:highlight>
                  <a:srgbClr val="FFFF00"/>
                </a:highlight>
                <a:latin typeface="Times New Roman" panose="02020603050405020304" pitchFamily="18" charset="0"/>
                <a:ea typeface="+mn-ea"/>
                <a:cs typeface="Times New Roman" panose="02020603050405020304" pitchFamily="18" charset="0"/>
              </a:rPr>
              <a:t>=C/256</a:t>
            </a:r>
            <a:r>
              <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FFFF00"/>
                </a:highlight>
                <a:latin typeface="Times New Roman" panose="02020603050405020304" pitchFamily="18" charset="0"/>
                <a:ea typeface="+mn-ea"/>
                <a:cs typeface="Times New Roman" panose="02020603050405020304" pitchFamily="18" charset="0"/>
              </a:rPr>
              <a:t>TLx</a:t>
            </a:r>
            <a:r>
              <a:rPr lang="en-US" altLang="zh-CN" dirty="0">
                <a:effectLst>
                  <a:outerShdw blurRad="38100" dist="38100" dir="2700000" algn="tl">
                    <a:srgbClr val="000000">
                      <a:alpha val="43137"/>
                    </a:srgbClr>
                  </a:outerShdw>
                </a:effectLst>
                <a:highlight>
                  <a:srgbClr val="FFFF00"/>
                </a:highlight>
                <a:latin typeface="Times New Roman" panose="02020603050405020304" pitchFamily="18" charset="0"/>
                <a:ea typeface="+mn-ea"/>
                <a:cs typeface="Times New Roman" panose="02020603050405020304" pitchFamily="18" charset="0"/>
              </a:rPr>
              <a:t>=C%256</a:t>
            </a:r>
          </a:p>
          <a:p>
            <a:pPr>
              <a:lnSpc>
                <a:spcPct val="120000"/>
              </a:lnSpc>
            </a:pP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方式</a:t>
            </a:r>
            <a:r>
              <a:rPr lang="en-US" altLang="zh-CN" dirty="0">
                <a:effectLst>
                  <a:outerShdw blurRad="38100" dist="38100" dir="2700000" algn="tl">
                    <a:srgbClr val="000000">
                      <a:alpha val="43137"/>
                    </a:srgbClr>
                  </a:outerShdw>
                </a:effectLst>
                <a:highlight>
                  <a:srgbClr val="FF0000"/>
                </a:highlight>
                <a:latin typeface="Times New Roman" panose="02020603050405020304" pitchFamily="18" charset="0"/>
                <a:cs typeface="Times New Roman" panose="02020603050405020304" pitchFamily="18" charset="0"/>
              </a:rPr>
              <a:t>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b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00FFFF"/>
                </a:highlight>
                <a:latin typeface="Times New Roman" panose="02020603050405020304" pitchFamily="18" charset="0"/>
                <a:cs typeface="Times New Roman" panose="02020603050405020304" pitchFamily="18" charset="0"/>
              </a:rPr>
              <a:t>THx</a:t>
            </a:r>
            <a:r>
              <a:rPr lang="en-US" altLang="zh-CN" dirty="0">
                <a:effectLst>
                  <a:outerShdw blurRad="38100" dist="38100" dir="2700000" algn="tl">
                    <a:srgbClr val="000000">
                      <a:alpha val="43137"/>
                    </a:srgbClr>
                  </a:outerShdw>
                </a:effectLst>
                <a:highlight>
                  <a:srgbClr val="00FFFF"/>
                </a:highlight>
                <a:latin typeface="Times New Roman" panose="02020603050405020304" pitchFamily="18" charset="0"/>
                <a:cs typeface="Times New Roman" panose="02020603050405020304" pitchFamily="18" charset="0"/>
              </a:rPr>
              <a:t>=C/32</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00FFFF"/>
                </a:highlight>
                <a:latin typeface="Times New Roman" panose="02020603050405020304" pitchFamily="18" charset="0"/>
                <a:cs typeface="Times New Roman" panose="02020603050405020304" pitchFamily="18" charset="0"/>
              </a:rPr>
              <a:t>TLx</a:t>
            </a:r>
            <a:r>
              <a:rPr lang="en-US" altLang="zh-CN" dirty="0">
                <a:effectLst>
                  <a:outerShdw blurRad="38100" dist="38100" dir="2700000" algn="tl">
                    <a:srgbClr val="000000">
                      <a:alpha val="43137"/>
                    </a:srgbClr>
                  </a:outerShdw>
                </a:effectLst>
                <a:highlight>
                  <a:srgbClr val="00FFFF"/>
                </a:highlight>
                <a:latin typeface="Times New Roman" panose="02020603050405020304" pitchFamily="18" charset="0"/>
                <a:cs typeface="Times New Roman" panose="02020603050405020304" pitchFamily="18" charset="0"/>
              </a:rPr>
              <a:t>=C%32</a:t>
            </a:r>
          </a:p>
          <a:p>
            <a:pPr>
              <a:lnSpc>
                <a:spcPct val="120000"/>
              </a:lnSpc>
            </a:pP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方式</a:t>
            </a:r>
            <a:r>
              <a:rPr lang="en-US" altLang="zh-CN" dirty="0">
                <a:effectLst>
                  <a:outerShdw blurRad="38100" dist="38100" dir="2700000" algn="tl">
                    <a:srgbClr val="000000">
                      <a:alpha val="43137"/>
                    </a:srgbClr>
                  </a:outerShdw>
                </a:effectLst>
                <a:highlight>
                  <a:srgbClr val="FF0000"/>
                </a:highlight>
                <a:latin typeface="Times New Roman" panose="02020603050405020304" pitchFamily="18" charset="0"/>
                <a:ea typeface="+mn-ea"/>
                <a:cs typeface="Times New Roman" panose="02020603050405020304" pitchFamily="18" charset="0"/>
              </a:rPr>
              <a:t>2</a:t>
            </a: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endPar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a:lnSpc>
                <a:spcPct val="120000"/>
              </a:lnSpc>
            </a:pPr>
            <a:r>
              <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en-US" altLang="zh-CN" dirty="0" err="1">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TLx</a:t>
            </a: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和</a:t>
            </a:r>
            <a:r>
              <a:rPr lang="en-US" altLang="zh-CN" dirty="0" err="1">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THx</a:t>
            </a:r>
            <a:r>
              <a:rPr lang="zh-CN" altLang="en-US"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应该送相同的计数初值</a:t>
            </a:r>
            <a:endPar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endParaRPr>
          </a:p>
          <a:p>
            <a:pPr>
              <a:lnSpc>
                <a:spcPct val="120000"/>
              </a:lnSpc>
            </a:pPr>
            <a:r>
              <a:rPr lang="en-US" altLang="zh-CN"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TLx</a:t>
            </a:r>
            <a:r>
              <a:rPr lang="en-US" altLang="zh-CN" dirty="0">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=C</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dirty="0" err="1">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THx</a:t>
            </a:r>
            <a:r>
              <a:rPr lang="en-US" altLang="zh-CN" dirty="0">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=C</a:t>
            </a:r>
            <a:endParaRPr lang="en-US" altLang="zh-CN" dirty="0">
              <a:effectLst>
                <a:outerShdw blurRad="38100" dist="38100" dir="2700000" algn="tl">
                  <a:srgbClr val="000000">
                    <a:alpha val="43137"/>
                  </a:srgbClr>
                </a:outerShdw>
              </a:effectLst>
              <a:highlight>
                <a:srgbClr val="00FF00"/>
              </a:highlight>
              <a:latin typeface="Times New Roman" panose="02020603050405020304" pitchFamily="18" charset="0"/>
              <a:ea typeface="+mn-ea"/>
              <a:cs typeface="Times New Roman" panose="02020603050405020304" pitchFamily="18" charset="0"/>
            </a:endParaRPr>
          </a:p>
          <a:p>
            <a:pPr>
              <a:lnSpc>
                <a:spcPct val="120000"/>
              </a:lnSpc>
            </a:pP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方式</a:t>
            </a:r>
            <a:r>
              <a:rPr lang="en-US" altLang="zh-CN" dirty="0">
                <a:effectLst>
                  <a:outerShdw blurRad="38100" dist="38100" dir="2700000" algn="tl">
                    <a:srgbClr val="000000">
                      <a:alpha val="43137"/>
                    </a:srgbClr>
                  </a:outerShdw>
                </a:effectLst>
                <a:highlight>
                  <a:srgbClr val="FF0000"/>
                </a:highlight>
                <a:latin typeface="Times New Roman" panose="02020603050405020304" pitchFamily="18" charset="0"/>
                <a:cs typeface="Times New Roman" panose="02020603050405020304" pitchFamily="18" charset="0"/>
              </a:rPr>
              <a:t>3</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0000"/>
              </a:lnSpc>
            </a:pP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TL0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和</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是两个独立的</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位计数器，各自分别送入自己的初值</a:t>
            </a: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836712"/>
            <a:ext cx="8418512" cy="4866233"/>
          </a:xfrm>
          <a:solidFill>
            <a:srgbClr val="CCFFCC"/>
          </a:solidFill>
        </p:spPr>
        <p:txBody>
          <a:bodyPr>
            <a:noAutofit/>
          </a:bodyPr>
          <a:lstStyle/>
          <a:p>
            <a:pPr marL="0" indent="0">
              <a:lnSpc>
                <a:spcPct val="150000"/>
              </a:lnSpc>
              <a:buNone/>
              <a:defRPr/>
            </a:pPr>
            <a:r>
              <a:rPr lang="zh-CN" altLang="en-US"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说明：</a:t>
            </a:r>
            <a:r>
              <a:rPr lang="zh-CN" altLang="zh-CN"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设置好初值后，启动定时</a:t>
            </a:r>
            <a:r>
              <a:rPr lang="en-US" altLang="zh-CN"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a:t>
            </a:r>
            <a:r>
              <a:rPr lang="zh-CN" altLang="zh-CN"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计数器</a:t>
            </a:r>
            <a:r>
              <a:rPr lang="en-US" altLang="zh-CN"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0</a:t>
            </a:r>
            <a:r>
              <a:rPr lang="zh-CN" altLang="zh-CN" sz="2800" b="1" dirty="0">
                <a:solidFill>
                  <a:srgbClr val="1F08C8"/>
                </a:solidFill>
                <a:effectLst>
                  <a:outerShdw blurRad="38100" dist="38100" dir="2700000" algn="tl">
                    <a:srgbClr val="000000">
                      <a:alpha val="43137"/>
                    </a:srgbClr>
                  </a:outerShdw>
                </a:effectLst>
                <a:latin typeface="华文仿宋" pitchFamily="2" charset="-122"/>
                <a:ea typeface="华文仿宋" pitchFamily="2" charset="-122"/>
              </a:rPr>
              <a:t>开始工作，</a:t>
            </a:r>
            <a:r>
              <a:rPr lang="zh-CN" altLang="zh-CN" sz="2800" b="1" dirty="0">
                <a:effectLst>
                  <a:outerShdw blurRad="38100" dist="38100" dir="2700000" algn="tl">
                    <a:srgbClr val="000000">
                      <a:alpha val="43137"/>
                    </a:srgbClr>
                  </a:outerShdw>
                </a:effectLst>
                <a:latin typeface="华文仿宋" pitchFamily="2" charset="-122"/>
                <a:ea typeface="华文仿宋" pitchFamily="2" charset="-122"/>
              </a:rPr>
              <a:t>计数器</a:t>
            </a:r>
            <a:r>
              <a:rPr lang="zh-CN" altLang="zh-CN" sz="2800" b="1" i="1" u="sng" dirty="0">
                <a:solidFill>
                  <a:srgbClr val="0000FF"/>
                </a:solidFill>
                <a:effectLst>
                  <a:outerShdw blurRad="38100" dist="38100" dir="2700000" algn="tl">
                    <a:srgbClr val="000000">
                      <a:alpha val="43137"/>
                    </a:srgbClr>
                  </a:outerShdw>
                </a:effectLst>
                <a:latin typeface="华文仿宋" pitchFamily="2" charset="-122"/>
                <a:ea typeface="华文仿宋" pitchFamily="2" charset="-122"/>
              </a:rPr>
              <a:t>从计数初值开始计数</a:t>
            </a:r>
            <a:r>
              <a:rPr lang="zh-CN" altLang="en-US" sz="2800" b="1" i="1" u="sng" dirty="0">
                <a:solidFill>
                  <a:srgbClr val="0000FF"/>
                </a:solidFill>
                <a:effectLst>
                  <a:outerShdw blurRad="38100" dist="38100" dir="2700000" algn="tl">
                    <a:srgbClr val="000000">
                      <a:alpha val="43137"/>
                    </a:srgbClr>
                  </a:outerShdw>
                </a:effectLst>
                <a:latin typeface="华文仿宋" pitchFamily="2" charset="-122"/>
                <a:ea typeface="华文仿宋" pitchFamily="2" charset="-122"/>
              </a:rPr>
              <a:t>。</a:t>
            </a:r>
            <a:r>
              <a:rPr lang="zh-CN" altLang="en-US" sz="2800" b="1" dirty="0">
                <a:effectLst>
                  <a:outerShdw blurRad="38100" dist="38100" dir="2700000" algn="tl">
                    <a:srgbClr val="000000">
                      <a:alpha val="43137"/>
                    </a:srgbClr>
                  </a:outerShdw>
                </a:effectLst>
                <a:latin typeface="仿宋" panose="02010609060101010101" charset="-122"/>
                <a:ea typeface="仿宋" panose="02010609060101010101" charset="-122"/>
              </a:rPr>
              <a:t>（以</a:t>
            </a:r>
            <a:r>
              <a:rPr lang="en-US" altLang="zh-CN" sz="2800" b="1" dirty="0">
                <a:effectLst>
                  <a:outerShdw blurRad="38100" dist="38100" dir="2700000" algn="tl">
                    <a:srgbClr val="000000">
                      <a:alpha val="43137"/>
                    </a:srgbClr>
                  </a:outerShdw>
                </a:effectLst>
                <a:latin typeface="仿宋" panose="02010609060101010101" charset="-122"/>
                <a:ea typeface="仿宋" panose="02010609060101010101" charset="-122"/>
              </a:rPr>
              <a:t>T0</a:t>
            </a:r>
            <a:r>
              <a:rPr lang="zh-CN" altLang="en-US" sz="2800" b="1" dirty="0">
                <a:effectLst>
                  <a:outerShdw blurRad="38100" dist="38100" dir="2700000" algn="tl">
                    <a:srgbClr val="000000">
                      <a:alpha val="43137"/>
                    </a:srgbClr>
                  </a:outerShdw>
                </a:effectLst>
                <a:latin typeface="仿宋" panose="02010609060101010101" charset="-122"/>
                <a:ea typeface="仿宋" panose="02010609060101010101" charset="-122"/>
              </a:rPr>
              <a:t>方式</a:t>
            </a:r>
            <a:r>
              <a:rPr lang="en-US" altLang="zh-CN" sz="2800" b="1" dirty="0">
                <a:effectLst>
                  <a:outerShdw blurRad="38100" dist="38100" dir="2700000" algn="tl">
                    <a:srgbClr val="000000">
                      <a:alpha val="43137"/>
                    </a:srgbClr>
                  </a:outerShdw>
                </a:effectLst>
                <a:latin typeface="仿宋" panose="02010609060101010101" charset="-122"/>
                <a:ea typeface="仿宋" panose="02010609060101010101" charset="-122"/>
              </a:rPr>
              <a:t>1</a:t>
            </a:r>
            <a:r>
              <a:rPr lang="zh-CN" altLang="en-US" sz="2800" b="1" dirty="0">
                <a:effectLst>
                  <a:outerShdw blurRad="38100" dist="38100" dir="2700000" algn="tl">
                    <a:srgbClr val="000000">
                      <a:alpha val="43137"/>
                    </a:srgbClr>
                  </a:outerShdw>
                </a:effectLst>
                <a:latin typeface="仿宋" panose="02010609060101010101" charset="-122"/>
                <a:ea typeface="仿宋" panose="02010609060101010101" charset="-122"/>
              </a:rPr>
              <a:t>为例）</a:t>
            </a:r>
            <a:endParaRPr lang="en-US" altLang="zh-CN" sz="2800" b="1" i="1" u="sng" dirty="0">
              <a:solidFill>
                <a:srgbClr val="0000FF"/>
              </a:solidFill>
              <a:effectLst>
                <a:outerShdw blurRad="38100" dist="38100" dir="2700000" algn="tl">
                  <a:srgbClr val="000000">
                    <a:alpha val="43137"/>
                  </a:srgbClr>
                </a:outerShdw>
              </a:effectLst>
              <a:latin typeface="华文仿宋" pitchFamily="2" charset="-122"/>
              <a:ea typeface="华文仿宋" pitchFamily="2" charset="-122"/>
            </a:endParaRPr>
          </a:p>
          <a:p>
            <a:pPr marL="0" indent="0">
              <a:lnSpc>
                <a:spcPct val="150000"/>
              </a:lnSpc>
              <a:buFont typeface="Wingdings" panose="05000000000000000000" pitchFamily="2" charset="2"/>
              <a:buNone/>
              <a:defRPr/>
            </a:pPr>
            <a:r>
              <a:rPr lang="zh-CN" altLang="zh-CN" sz="2800" b="1" dirty="0">
                <a:solidFill>
                  <a:srgbClr val="990000"/>
                </a:solidFill>
                <a:effectLst>
                  <a:outerShdw blurRad="38100" dist="38100" dir="2700000" algn="tl">
                    <a:srgbClr val="000000">
                      <a:alpha val="43137"/>
                    </a:srgbClr>
                  </a:outerShdw>
                </a:effectLst>
                <a:latin typeface="方正姚体" pitchFamily="2" charset="-122"/>
                <a:ea typeface="方正姚体" pitchFamily="2" charset="-122"/>
              </a:rPr>
              <a:t>在</a:t>
            </a:r>
            <a:r>
              <a:rPr lang="zh-CN" altLang="en-US" sz="2800" b="1" dirty="0">
                <a:solidFill>
                  <a:srgbClr val="990000"/>
                </a:solidFill>
                <a:effectLst>
                  <a:outerShdw blurRad="38100" dist="38100" dir="2700000" algn="tl">
                    <a:srgbClr val="000000">
                      <a:alpha val="43137"/>
                    </a:srgbClr>
                  </a:outerShdw>
                </a:effectLst>
                <a:latin typeface="方正姚体" pitchFamily="2" charset="-122"/>
                <a:ea typeface="方正姚体" pitchFamily="2" charset="-122"/>
              </a:rPr>
              <a:t>计数脉冲</a:t>
            </a:r>
            <a:r>
              <a:rPr lang="zh-CN" altLang="zh-CN" sz="2800" b="1" dirty="0">
                <a:solidFill>
                  <a:srgbClr val="990000"/>
                </a:solidFill>
                <a:effectLst>
                  <a:outerShdw blurRad="38100" dist="38100" dir="2700000" algn="tl">
                    <a:srgbClr val="000000">
                      <a:alpha val="43137"/>
                    </a:srgbClr>
                  </a:outerShdw>
                </a:effectLst>
                <a:latin typeface="方正姚体" pitchFamily="2" charset="-122"/>
                <a:ea typeface="方正姚体" pitchFamily="2" charset="-122"/>
              </a:rPr>
              <a:t>信号的</a:t>
            </a:r>
            <a:r>
              <a:rPr lang="zh-CN" altLang="zh-CN" sz="2800" b="1" u="sng" dirty="0">
                <a:solidFill>
                  <a:srgbClr val="0000FF"/>
                </a:solidFill>
                <a:effectLst>
                  <a:outerShdw blurRad="38100" dist="38100" dir="2700000" algn="tl">
                    <a:srgbClr val="000000">
                      <a:alpha val="43137"/>
                    </a:srgbClr>
                  </a:outerShdw>
                </a:effectLst>
                <a:latin typeface="方正姚体" pitchFamily="2" charset="-122"/>
                <a:ea typeface="方正姚体" pitchFamily="2" charset="-122"/>
              </a:rPr>
              <a:t>每个下降沿到来时，计数值加</a:t>
            </a:r>
            <a:r>
              <a:rPr lang="en-US" altLang="zh-CN" sz="2800" b="1" u="sng" dirty="0">
                <a:solidFill>
                  <a:srgbClr val="0000FF"/>
                </a:solidFill>
                <a:effectLst>
                  <a:outerShdw blurRad="38100" dist="38100" dir="2700000" algn="tl">
                    <a:srgbClr val="000000">
                      <a:alpha val="43137"/>
                    </a:srgbClr>
                  </a:outerShdw>
                </a:effectLst>
                <a:latin typeface="方正姚体" pitchFamily="2" charset="-122"/>
                <a:ea typeface="方正姚体" pitchFamily="2" charset="-122"/>
              </a:rPr>
              <a:t>1</a:t>
            </a:r>
            <a:r>
              <a:rPr lang="zh-CN" altLang="zh-CN" sz="2800" b="1" dirty="0">
                <a:solidFill>
                  <a:srgbClr val="0000FF"/>
                </a:solidFill>
                <a:effectLst>
                  <a:outerShdw blurRad="38100" dist="38100" dir="2700000" algn="tl">
                    <a:srgbClr val="000000">
                      <a:alpha val="43137"/>
                    </a:srgbClr>
                  </a:outerShdw>
                </a:effectLst>
                <a:latin typeface="方正姚体" pitchFamily="2" charset="-122"/>
                <a:ea typeface="方正姚体" pitchFamily="2" charset="-122"/>
              </a:rPr>
              <a:t>，</a:t>
            </a:r>
            <a:r>
              <a:rPr lang="zh-CN"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当</a:t>
            </a:r>
            <a:r>
              <a:rPr lang="zh-CN" altLang="zh-CN" sz="2800" b="1" dirty="0">
                <a:solidFill>
                  <a:srgbClr val="990000"/>
                </a:solidFill>
                <a:effectLst>
                  <a:outerShdw blurRad="38100" dist="38100" dir="2700000" algn="tl">
                    <a:srgbClr val="000000">
                      <a:alpha val="43137"/>
                    </a:srgbClr>
                  </a:outerShdw>
                </a:effectLst>
                <a:latin typeface="华文楷体" pitchFamily="2" charset="-122"/>
                <a:ea typeface="华文楷体" pitchFamily="2" charset="-122"/>
              </a:rPr>
              <a:t>计数值达到</a:t>
            </a:r>
            <a:r>
              <a:rPr lang="en-US" altLang="zh-CN" sz="2800" b="1" dirty="0">
                <a:solidFill>
                  <a:srgbClr val="990000"/>
                </a:solidFill>
                <a:effectLst>
                  <a:outerShdw blurRad="38100" dist="38100" dir="2700000" algn="tl">
                    <a:srgbClr val="000000">
                      <a:alpha val="43137"/>
                    </a:srgbClr>
                  </a:outerShdw>
                </a:effectLst>
                <a:latin typeface="华文楷体" pitchFamily="2" charset="-122"/>
                <a:ea typeface="华文楷体" pitchFamily="2" charset="-122"/>
              </a:rPr>
              <a:t>FFFFH</a:t>
            </a:r>
            <a:r>
              <a:rPr lang="zh-CN" altLang="zh-CN" sz="2800" b="1" dirty="0">
                <a:solidFill>
                  <a:srgbClr val="990000"/>
                </a:solidFill>
                <a:effectLst>
                  <a:outerShdw blurRad="38100" dist="38100" dir="2700000" algn="tl">
                    <a:srgbClr val="000000">
                      <a:alpha val="43137"/>
                    </a:srgbClr>
                  </a:outerShdw>
                </a:effectLst>
                <a:latin typeface="华文楷体" pitchFamily="2" charset="-122"/>
                <a:ea typeface="华文楷体" pitchFamily="2" charset="-122"/>
              </a:rPr>
              <a:t>后，这时如果再来一个下降沿，计数值溢出，</a:t>
            </a:r>
            <a:r>
              <a:rPr lang="zh-CN"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向中断请求标志位</a:t>
            </a:r>
            <a:r>
              <a:rPr lang="zh-CN" altLang="en-US"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置位，即</a:t>
            </a:r>
            <a:r>
              <a:rPr lang="en-US" altLang="zh-CN" sz="2800" b="1" u="sng" dirty="0">
                <a:solidFill>
                  <a:srgbClr val="2109D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TF0=1</a:t>
            </a:r>
            <a:r>
              <a:rPr lang="zh-CN"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，并可以向</a:t>
            </a:r>
            <a:r>
              <a:rPr lang="en-US"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CPU</a:t>
            </a:r>
            <a:r>
              <a:rPr lang="zh-CN"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申请中断，</a:t>
            </a:r>
            <a:r>
              <a:rPr lang="zh-CN" altLang="zh-CN" sz="2800" b="1" u="sng" dirty="0">
                <a:solidFill>
                  <a:srgbClr val="1F08C8"/>
                </a:solidFill>
                <a:effectLst>
                  <a:outerShdw blurRad="38100" dist="38100" dir="2700000" algn="tl">
                    <a:srgbClr val="000000">
                      <a:alpha val="43137"/>
                    </a:srgbClr>
                  </a:outerShdw>
                </a:effectLst>
                <a:latin typeface="仿宋_GB2312" pitchFamily="49" charset="-122"/>
                <a:ea typeface="仿宋_GB2312" pitchFamily="49" charset="-122"/>
              </a:rPr>
              <a:t>然后计数值从</a:t>
            </a:r>
            <a:r>
              <a:rPr lang="en-US" altLang="zh-CN" sz="2800" b="1" u="sng" dirty="0">
                <a:solidFill>
                  <a:srgbClr val="1F08C8"/>
                </a:solidFill>
                <a:effectLst>
                  <a:outerShdw blurRad="38100" dist="38100" dir="2700000" algn="tl">
                    <a:srgbClr val="000000">
                      <a:alpha val="43137"/>
                    </a:srgbClr>
                  </a:outerShdw>
                </a:effectLst>
                <a:latin typeface="仿宋_GB2312" pitchFamily="49" charset="-122"/>
                <a:ea typeface="仿宋_GB2312" pitchFamily="49" charset="-122"/>
              </a:rPr>
              <a:t>0</a:t>
            </a:r>
            <a:r>
              <a:rPr lang="zh-CN" altLang="zh-CN" sz="2800" b="1" u="sng" dirty="0">
                <a:solidFill>
                  <a:srgbClr val="1F08C8"/>
                </a:solidFill>
                <a:effectLst>
                  <a:outerShdw blurRad="38100" dist="38100" dir="2700000" algn="tl">
                    <a:srgbClr val="000000">
                      <a:alpha val="43137"/>
                    </a:srgbClr>
                  </a:outerShdw>
                </a:effectLst>
                <a:latin typeface="仿宋_GB2312" pitchFamily="49" charset="-122"/>
                <a:ea typeface="仿宋_GB2312" pitchFamily="49" charset="-122"/>
              </a:rPr>
              <a:t>开始计数，</a:t>
            </a:r>
            <a:r>
              <a:rPr lang="zh-CN" altLang="zh-CN"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然后循环不停。</a:t>
            </a:r>
            <a:endParaRPr lang="zh-CN" altLang="en-US" sz="2800" b="1" dirty="0">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41987"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randombar(horizontal)">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467544" y="836713"/>
            <a:ext cx="8218488" cy="4176464"/>
          </a:xfrm>
          <a:solidFill>
            <a:srgbClr val="CCFFCC"/>
          </a:solidFill>
        </p:spPr>
        <p:txBody>
          <a:bodyPr>
            <a:noAutofit/>
          </a:bodyPr>
          <a:lstStyle/>
          <a:p>
            <a:pPr algn="just">
              <a:lnSpc>
                <a:spcPct val="130000"/>
              </a:lnSpc>
              <a:spcBef>
                <a:spcPts val="600"/>
              </a:spcBef>
              <a:defRPr/>
            </a:pPr>
            <a:r>
              <a:rPr lang="zh-CN" altLang="en-US" sz="2800" b="1" dirty="0">
                <a:effectLst>
                  <a:outerShdw blurRad="38100" dist="38100" dir="2700000" algn="tl">
                    <a:srgbClr val="000000">
                      <a:alpha val="43137"/>
                    </a:srgbClr>
                  </a:outerShdw>
                </a:effectLst>
                <a:latin typeface="仿宋_GB2312" pitchFamily="49" charset="-122"/>
                <a:ea typeface="仿宋_GB2312" pitchFamily="49" charset="-122"/>
              </a:rPr>
              <a:t>注意：</a:t>
            </a:r>
            <a:r>
              <a:rPr lang="zh-CN" altLang="zh-CN" sz="2800" b="1" dirty="0">
                <a:effectLst>
                  <a:outerShdw blurRad="38100" dist="38100" dir="2700000" algn="tl">
                    <a:srgbClr val="000000">
                      <a:alpha val="43137"/>
                    </a:srgbClr>
                  </a:outerShdw>
                </a:effectLst>
                <a:latin typeface="仿宋_GB2312" pitchFamily="49" charset="-122"/>
                <a:ea typeface="仿宋_GB2312" pitchFamily="49" charset="-122"/>
              </a:rPr>
              <a:t>使用定时功能时，</a:t>
            </a:r>
            <a:r>
              <a:rPr lang="zh-CN" altLang="zh-CN" sz="2800" b="1" u="sng" dirty="0">
                <a:solidFill>
                  <a:srgbClr val="990000"/>
                </a:solidFill>
                <a:effectLst>
                  <a:outerShdw blurRad="38100" dist="38100" dir="2700000" algn="tl">
                    <a:srgbClr val="000000">
                      <a:alpha val="43137"/>
                    </a:srgbClr>
                  </a:outerShdw>
                </a:effectLst>
                <a:latin typeface="仿宋_GB2312" pitchFamily="49" charset="-122"/>
                <a:ea typeface="仿宋_GB2312" pitchFamily="49" charset="-122"/>
              </a:rPr>
              <a:t>为了保证每次定时时间的一致性，</a:t>
            </a:r>
            <a:r>
              <a:rPr lang="zh-CN" altLang="zh-CN" sz="2800" b="1" dirty="0">
                <a:effectLst>
                  <a:outerShdw blurRad="38100" dist="38100" dir="2700000" algn="tl">
                    <a:srgbClr val="000000">
                      <a:alpha val="43137"/>
                    </a:srgbClr>
                  </a:outerShdw>
                </a:effectLst>
                <a:latin typeface="仿宋_GB2312" pitchFamily="49" charset="-122"/>
                <a:ea typeface="仿宋_GB2312" pitchFamily="49" charset="-122"/>
              </a:rPr>
              <a:t>我们通常会在定时</a:t>
            </a:r>
            <a:r>
              <a:rPr lang="en-US" altLang="zh-CN" sz="2800" b="1" dirty="0">
                <a:effectLst>
                  <a:outerShdw blurRad="38100" dist="38100" dir="2700000" algn="tl">
                    <a:srgbClr val="000000">
                      <a:alpha val="43137"/>
                    </a:srgbClr>
                  </a:outerShdw>
                </a:effectLst>
                <a:latin typeface="仿宋_GB2312" pitchFamily="49" charset="-122"/>
                <a:ea typeface="仿宋_GB2312" pitchFamily="49" charset="-122"/>
              </a:rPr>
              <a:t>/</a:t>
            </a:r>
            <a:r>
              <a:rPr lang="zh-CN" altLang="zh-CN" sz="2800" b="1" dirty="0">
                <a:effectLst>
                  <a:outerShdw blurRad="38100" dist="38100" dir="2700000" algn="tl">
                    <a:srgbClr val="000000">
                      <a:alpha val="43137"/>
                    </a:srgbClr>
                  </a:outerShdw>
                </a:effectLst>
                <a:latin typeface="仿宋_GB2312" pitchFamily="49" charset="-122"/>
                <a:ea typeface="仿宋_GB2312" pitchFamily="49" charset="-122"/>
              </a:rPr>
              <a:t>计数器的中断服务子程序中</a:t>
            </a:r>
            <a:r>
              <a:rPr lang="zh-CN" altLang="zh-CN" sz="2800" b="1" u="sng" dirty="0">
                <a:solidFill>
                  <a:srgbClr val="FF0000"/>
                </a:solidFill>
                <a:effectLst>
                  <a:outerShdw blurRad="38100" dist="38100" dir="2700000" algn="tl">
                    <a:srgbClr val="000000">
                      <a:alpha val="43137"/>
                    </a:srgbClr>
                  </a:outerShdw>
                </a:effectLst>
                <a:latin typeface="仿宋_GB2312" pitchFamily="49" charset="-122"/>
                <a:ea typeface="仿宋_GB2312" pitchFamily="49" charset="-122"/>
              </a:rPr>
              <a:t>重新设置计数初值</a:t>
            </a:r>
            <a:r>
              <a:rPr lang="zh-CN" altLang="zh-CN" sz="2800" b="1" dirty="0">
                <a:solidFill>
                  <a:srgbClr val="990000"/>
                </a:solidFill>
                <a:effectLst>
                  <a:outerShdw blurRad="38100" dist="38100" dir="2700000" algn="tl">
                    <a:srgbClr val="000000">
                      <a:alpha val="43137"/>
                    </a:srgbClr>
                  </a:outerShdw>
                </a:effectLst>
                <a:latin typeface="仿宋_GB2312" pitchFamily="49" charset="-122"/>
                <a:ea typeface="仿宋_GB2312" pitchFamily="49" charset="-122"/>
              </a:rPr>
              <a:t>。</a:t>
            </a:r>
            <a:endParaRPr lang="en-US" altLang="zh-CN" sz="2800" b="1" dirty="0">
              <a:solidFill>
                <a:srgbClr val="990000"/>
              </a:solidFill>
              <a:effectLst>
                <a:outerShdw blurRad="38100" dist="38100" dir="2700000" algn="tl">
                  <a:srgbClr val="000000">
                    <a:alpha val="43137"/>
                  </a:srgbClr>
                </a:outerShdw>
              </a:effectLst>
              <a:latin typeface="仿宋_GB2312" pitchFamily="49" charset="-122"/>
              <a:ea typeface="仿宋_GB2312" pitchFamily="49" charset="-122"/>
            </a:endParaRPr>
          </a:p>
          <a:p>
            <a:pPr algn="just">
              <a:lnSpc>
                <a:spcPct val="130000"/>
              </a:lnSpc>
              <a:spcBef>
                <a:spcPts val="600"/>
              </a:spcBef>
              <a:defRPr/>
            </a:pPr>
            <a:r>
              <a:rPr lang="zh-CN" altLang="zh-CN" sz="2800" b="1" i="1" u="sng" dirty="0">
                <a:effectLst>
                  <a:outerShdw blurRad="38100" dist="38100" dir="2700000" algn="tl">
                    <a:srgbClr val="000000">
                      <a:alpha val="43137"/>
                    </a:srgbClr>
                  </a:outerShdw>
                </a:effectLst>
                <a:latin typeface="华文楷体" pitchFamily="2" charset="-122"/>
                <a:ea typeface="华文楷体" pitchFamily="2" charset="-122"/>
              </a:rPr>
              <a:t>如果不重新设置初值，那么在计数值溢出后，计数值从</a:t>
            </a:r>
            <a:r>
              <a:rPr lang="en-US" altLang="zh-CN" sz="2800" b="1" i="1" u="sng" dirty="0">
                <a:effectLst>
                  <a:outerShdw blurRad="38100" dist="38100" dir="2700000" algn="tl">
                    <a:srgbClr val="000000">
                      <a:alpha val="43137"/>
                    </a:srgbClr>
                  </a:outerShdw>
                </a:effectLst>
                <a:latin typeface="华文楷体" pitchFamily="2" charset="-122"/>
                <a:ea typeface="华文楷体" pitchFamily="2" charset="-122"/>
              </a:rPr>
              <a:t>0</a:t>
            </a:r>
            <a:r>
              <a:rPr lang="zh-CN" altLang="zh-CN" sz="2800" b="1" i="1" u="sng" dirty="0">
                <a:effectLst>
                  <a:outerShdw blurRad="38100" dist="38100" dir="2700000" algn="tl">
                    <a:srgbClr val="000000">
                      <a:alpha val="43137"/>
                    </a:srgbClr>
                  </a:outerShdw>
                </a:effectLst>
                <a:latin typeface="华文楷体" pitchFamily="2" charset="-122"/>
                <a:ea typeface="华文楷体" pitchFamily="2" charset="-122"/>
              </a:rPr>
              <a:t>开始，</a:t>
            </a:r>
            <a:r>
              <a:rPr lang="zh-CN" altLang="zh-CN" sz="2800" b="1" dirty="0">
                <a:solidFill>
                  <a:srgbClr val="0000FF"/>
                </a:solidFill>
                <a:effectLst>
                  <a:outerShdw blurRad="38100" dist="38100" dir="2700000" algn="tl">
                    <a:srgbClr val="000000">
                      <a:alpha val="43137"/>
                    </a:srgbClr>
                  </a:outerShdw>
                </a:effectLst>
                <a:latin typeface="华文楷体" pitchFamily="2" charset="-122"/>
                <a:ea typeface="华文楷体" pitchFamily="2" charset="-122"/>
              </a:rPr>
              <a:t>计数</a:t>
            </a:r>
            <a:r>
              <a:rPr lang="en-US" altLang="zh-CN" sz="2800" b="1" dirty="0">
                <a:solidFill>
                  <a:srgbClr val="0000FF"/>
                </a:solidFill>
                <a:effectLst>
                  <a:outerShdw blurRad="38100" dist="38100" dir="2700000" algn="tl">
                    <a:srgbClr val="000000">
                      <a:alpha val="43137"/>
                    </a:srgbClr>
                  </a:outerShdw>
                </a:effectLst>
                <a:latin typeface="华文楷体" pitchFamily="2" charset="-122"/>
                <a:ea typeface="华文楷体" pitchFamily="2" charset="-122"/>
              </a:rPr>
              <a:t>65536</a:t>
            </a:r>
            <a:r>
              <a:rPr lang="zh-CN" altLang="zh-CN" sz="2800" b="1" dirty="0">
                <a:solidFill>
                  <a:srgbClr val="0000FF"/>
                </a:solidFill>
                <a:effectLst>
                  <a:outerShdw blurRad="38100" dist="38100" dir="2700000" algn="tl">
                    <a:srgbClr val="000000">
                      <a:alpha val="43137"/>
                    </a:srgbClr>
                  </a:outerShdw>
                </a:effectLst>
                <a:latin typeface="华文楷体" pitchFamily="2" charset="-122"/>
                <a:ea typeface="华文楷体" pitchFamily="2" charset="-122"/>
              </a:rPr>
              <a:t>次后溢出。</a:t>
            </a:r>
            <a:endParaRPr lang="en-US" altLang="zh-CN" sz="2800" b="1" dirty="0">
              <a:solidFill>
                <a:srgbClr val="0000FF"/>
              </a:solidFill>
              <a:effectLst>
                <a:outerShdw blurRad="38100" dist="38100" dir="2700000" algn="tl">
                  <a:srgbClr val="000000">
                    <a:alpha val="43137"/>
                  </a:srgbClr>
                </a:outerShdw>
              </a:effectLst>
              <a:latin typeface="华文楷体" pitchFamily="2" charset="-122"/>
              <a:ea typeface="华文楷体" pitchFamily="2" charset="-122"/>
            </a:endParaRPr>
          </a:p>
          <a:p>
            <a:pPr algn="just">
              <a:lnSpc>
                <a:spcPct val="130000"/>
              </a:lnSpc>
              <a:spcBef>
                <a:spcPts val="600"/>
              </a:spcBef>
              <a:defRPr/>
            </a:pPr>
            <a:r>
              <a:rPr lang="zh-CN" altLang="zh-CN" sz="2800" b="1" dirty="0">
                <a:solidFill>
                  <a:srgbClr val="1F08C8"/>
                </a:solidFill>
                <a:effectLst>
                  <a:outerShdw blurRad="38100" dist="38100" dir="2700000" algn="tl">
                    <a:srgbClr val="000000">
                      <a:alpha val="43137"/>
                    </a:srgbClr>
                  </a:outerShdw>
                </a:effectLst>
                <a:latin typeface="方正姚体" pitchFamily="2" charset="-122"/>
                <a:ea typeface="方正姚体" pitchFamily="2" charset="-122"/>
              </a:rPr>
              <a:t>当</a:t>
            </a:r>
            <a:r>
              <a:rPr lang="zh-CN" altLang="zh-CN" sz="2800" b="1" u="sng" dirty="0">
                <a:solidFill>
                  <a:srgbClr val="FF0000"/>
                </a:solidFill>
                <a:effectLst>
                  <a:outerShdw blurRad="38100" dist="38100" dir="2700000" algn="tl">
                    <a:srgbClr val="000000">
                      <a:alpha val="43137"/>
                    </a:srgbClr>
                  </a:outerShdw>
                </a:effectLst>
                <a:latin typeface="方正姚体" pitchFamily="2" charset="-122"/>
                <a:ea typeface="方正姚体" pitchFamily="2" charset="-122"/>
              </a:rPr>
              <a:t>不需要继续定时</a:t>
            </a:r>
            <a:r>
              <a:rPr lang="zh-CN" altLang="zh-CN" sz="2800" b="1" dirty="0">
                <a:solidFill>
                  <a:srgbClr val="1F08C8"/>
                </a:solidFill>
                <a:effectLst>
                  <a:outerShdw blurRad="38100" dist="38100" dir="2700000" algn="tl">
                    <a:srgbClr val="000000">
                      <a:alpha val="43137"/>
                    </a:srgbClr>
                  </a:outerShdw>
                </a:effectLst>
                <a:latin typeface="方正姚体" pitchFamily="2" charset="-122"/>
                <a:ea typeface="方正姚体" pitchFamily="2" charset="-122"/>
              </a:rPr>
              <a:t>，可以通过软件把</a:t>
            </a:r>
            <a:r>
              <a:rPr lang="en-US" altLang="zh-CN" sz="2800" b="1" u="sng" dirty="0">
                <a:solidFill>
                  <a:srgbClr val="FF0000"/>
                </a:solidFill>
                <a:effectLst>
                  <a:outerShdw blurRad="38100" dist="38100" dir="2700000" algn="tl">
                    <a:srgbClr val="000000">
                      <a:alpha val="43137"/>
                    </a:srgbClr>
                  </a:outerShdw>
                </a:effectLst>
                <a:latin typeface="方正姚体" pitchFamily="2" charset="-122"/>
                <a:ea typeface="方正姚体" pitchFamily="2" charset="-122"/>
              </a:rPr>
              <a:t>TR0</a:t>
            </a:r>
            <a:r>
              <a:rPr lang="zh-CN" altLang="zh-CN" sz="2800" b="1" u="sng" dirty="0">
                <a:solidFill>
                  <a:srgbClr val="FF0000"/>
                </a:solidFill>
                <a:effectLst>
                  <a:outerShdw blurRad="38100" dist="38100" dir="2700000" algn="tl">
                    <a:srgbClr val="000000">
                      <a:alpha val="43137"/>
                    </a:srgbClr>
                  </a:outerShdw>
                </a:effectLst>
                <a:latin typeface="方正姚体" pitchFamily="2" charset="-122"/>
                <a:ea typeface="方正姚体" pitchFamily="2" charset="-122"/>
              </a:rPr>
              <a:t>清</a:t>
            </a:r>
            <a:r>
              <a:rPr lang="en-US" altLang="zh-CN" sz="2800" b="1" u="sng" dirty="0">
                <a:solidFill>
                  <a:srgbClr val="FF0000"/>
                </a:solidFill>
                <a:effectLst>
                  <a:outerShdw blurRad="38100" dist="38100" dir="2700000" algn="tl">
                    <a:srgbClr val="000000">
                      <a:alpha val="43137"/>
                    </a:srgbClr>
                  </a:outerShdw>
                </a:effectLst>
                <a:latin typeface="方正姚体" pitchFamily="2" charset="-122"/>
                <a:ea typeface="方正姚体" pitchFamily="2" charset="-122"/>
              </a:rPr>
              <a:t>0</a:t>
            </a:r>
            <a:r>
              <a:rPr lang="zh-CN" altLang="zh-CN" sz="2800" b="1" dirty="0">
                <a:solidFill>
                  <a:srgbClr val="1F08C8"/>
                </a:solidFill>
                <a:effectLst>
                  <a:outerShdw blurRad="38100" dist="38100" dir="2700000" algn="tl">
                    <a:srgbClr val="000000">
                      <a:alpha val="43137"/>
                    </a:srgbClr>
                  </a:outerShdw>
                </a:effectLst>
                <a:latin typeface="方正姚体" pitchFamily="2" charset="-122"/>
                <a:ea typeface="方正姚体" pitchFamily="2" charset="-122"/>
              </a:rPr>
              <a:t>，关闭计数器。</a:t>
            </a:r>
            <a:endParaRPr lang="zh-CN" altLang="en-US" sz="2800" b="1" dirty="0">
              <a:solidFill>
                <a:srgbClr val="1F08C8"/>
              </a:solidFill>
              <a:effectLst>
                <a:outerShdw blurRad="38100" dist="38100" dir="2700000" algn="tl">
                  <a:srgbClr val="000000">
                    <a:alpha val="43137"/>
                  </a:srgbClr>
                </a:outerShdw>
              </a:effectLst>
              <a:latin typeface="方正姚体" pitchFamily="2" charset="-122"/>
              <a:ea typeface="方正姚体" pitchFamily="2" charset="-122"/>
            </a:endParaRPr>
          </a:p>
        </p:txBody>
      </p:sp>
      <p:sp>
        <p:nvSpPr>
          <p:cNvPr id="43011"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dirty="0"/>
              <a:t>单片机原理及应用</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randombar(horizontal)">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E611B3F-345F-4433-A731-5A7DC65D0822}" type="slidenum">
              <a:rPr lang="zh-CN" altLang="en-US" sz="1400"/>
              <a:t>9</a:t>
            </a:fld>
            <a:endParaRPr lang="en-US" altLang="zh-CN" sz="1400"/>
          </a:p>
        </p:txBody>
      </p:sp>
      <p:sp>
        <p:nvSpPr>
          <p:cNvPr id="75780" name="Text Box 4"/>
          <p:cNvSpPr txBox="1">
            <a:spLocks noChangeArrowheads="1"/>
          </p:cNvSpPr>
          <p:nvPr/>
        </p:nvSpPr>
        <p:spPr bwMode="auto">
          <a:xfrm>
            <a:off x="1907381" y="620688"/>
            <a:ext cx="5329237" cy="762000"/>
          </a:xfrm>
          <a:prstGeom prst="rect">
            <a:avLst/>
          </a:prstGeom>
          <a:noFill/>
          <a:ln>
            <a:noFill/>
          </a:ln>
          <a:effectLst/>
        </p:spPr>
        <p:txBody>
          <a:bodyPr>
            <a:spAutoFit/>
          </a:bodyPr>
          <a:lstStyle/>
          <a:p>
            <a:pPr algn="ctr" eaLnBrk="1" hangingPunct="1">
              <a:spcBef>
                <a:spcPct val="50000"/>
              </a:spcBef>
              <a:defRPr/>
            </a:pPr>
            <a:r>
              <a:rPr lang="zh-CN" altLang="en-US" sz="4400" dirty="0">
                <a:solidFill>
                  <a:srgbClr val="0000FF"/>
                </a:solidFill>
                <a:effectLst>
                  <a:outerShdw blurRad="38100" dist="38100" dir="2700000" algn="tl">
                    <a:srgbClr val="C0C0C0"/>
                  </a:outerShdw>
                </a:effectLst>
                <a:ea typeface="华文行楷" pitchFamily="2" charset="-122"/>
              </a:rPr>
              <a:t>练习题</a:t>
            </a:r>
          </a:p>
        </p:txBody>
      </p:sp>
      <p:sp>
        <p:nvSpPr>
          <p:cNvPr id="75781" name="Text Box 5"/>
          <p:cNvSpPr txBox="1">
            <a:spLocks noChangeArrowheads="1"/>
          </p:cNvSpPr>
          <p:nvPr/>
        </p:nvSpPr>
        <p:spPr bwMode="auto">
          <a:xfrm>
            <a:off x="755576" y="1700808"/>
            <a:ext cx="7921625" cy="1814830"/>
          </a:xfrm>
          <a:prstGeom prst="rect">
            <a:avLst/>
          </a:prstGeom>
          <a:solidFill>
            <a:schemeClr val="bg1"/>
          </a:solidFill>
          <a:ln>
            <a:noFill/>
          </a:ln>
          <a:effectLst/>
        </p:spPr>
        <p:txBody>
          <a:bodyPr>
            <a:spAutoFit/>
          </a:bodyPr>
          <a:lstStyle/>
          <a:p>
            <a:pPr eaLnBrk="1" hangingPunct="1">
              <a:spcBef>
                <a:spcPct val="50000"/>
              </a:spcBef>
              <a:defRPr/>
            </a:pPr>
            <a:r>
              <a:rPr lang="zh-CN" altLang="en-US" dirty="0">
                <a:effectLst>
                  <a:outerShdw blurRad="38100" dist="38100" dir="2700000" algn="tl">
                    <a:srgbClr val="000000">
                      <a:alpha val="43137"/>
                    </a:srgbClr>
                  </a:outerShdw>
                </a:effectLst>
                <a:latin typeface="+mn-ea"/>
                <a:ea typeface="+mn-ea"/>
              </a:rPr>
              <a:t>按下列要求计算</a:t>
            </a:r>
            <a:r>
              <a:rPr lang="en-US" altLang="zh-CN" dirty="0">
                <a:effectLst>
                  <a:outerShdw blurRad="38100" dist="38100" dir="2700000" algn="tl">
                    <a:srgbClr val="000000">
                      <a:alpha val="43137"/>
                    </a:srgbClr>
                  </a:outerShdw>
                </a:effectLst>
                <a:latin typeface="+mn-ea"/>
                <a:ea typeface="+mn-ea"/>
              </a:rPr>
              <a:t>T0/T1</a:t>
            </a:r>
            <a:r>
              <a:rPr lang="zh-CN" altLang="en-US" dirty="0">
                <a:effectLst>
                  <a:outerShdw blurRad="38100" dist="38100" dir="2700000" algn="tl">
                    <a:srgbClr val="000000">
                      <a:alpha val="43137"/>
                    </a:srgbClr>
                  </a:outerShdw>
                </a:effectLst>
                <a:latin typeface="+mn-ea"/>
                <a:ea typeface="+mn-ea"/>
              </a:rPr>
              <a:t>计数初值，并置</a:t>
            </a:r>
            <a:r>
              <a:rPr lang="en-US" altLang="zh-CN" dirty="0" err="1">
                <a:effectLst>
                  <a:outerShdw blurRad="38100" dist="38100" dir="2700000" algn="tl">
                    <a:srgbClr val="000000">
                      <a:alpha val="43137"/>
                    </a:srgbClr>
                  </a:outerShdw>
                </a:effectLst>
                <a:latin typeface="+mn-ea"/>
                <a:ea typeface="+mn-ea"/>
              </a:rPr>
              <a:t>THx</a:t>
            </a:r>
            <a:r>
              <a:rPr lang="zh-CN" altLang="en-US" dirty="0">
                <a:effectLst>
                  <a:outerShdw blurRad="38100" dist="38100" dir="2700000" algn="tl">
                    <a:srgbClr val="000000">
                      <a:alpha val="43137"/>
                    </a:srgbClr>
                  </a:outerShdw>
                </a:effectLst>
                <a:latin typeface="+mn-ea"/>
                <a:ea typeface="+mn-ea"/>
              </a:rPr>
              <a:t>、</a:t>
            </a:r>
            <a:r>
              <a:rPr lang="en-US" altLang="zh-CN" dirty="0" err="1">
                <a:effectLst>
                  <a:outerShdw blurRad="38100" dist="38100" dir="2700000" algn="tl">
                    <a:srgbClr val="000000">
                      <a:alpha val="43137"/>
                    </a:srgbClr>
                  </a:outerShdw>
                </a:effectLst>
                <a:latin typeface="+mn-ea"/>
                <a:ea typeface="+mn-ea"/>
              </a:rPr>
              <a:t>TLx</a:t>
            </a:r>
            <a:r>
              <a:rPr lang="zh-CN" altLang="en-US" dirty="0">
                <a:effectLst>
                  <a:outerShdw blurRad="38100" dist="38100" dir="2700000" algn="tl">
                    <a:srgbClr val="000000">
                      <a:alpha val="43137"/>
                    </a:srgbClr>
                  </a:outerShdw>
                </a:effectLst>
                <a:latin typeface="+mn-ea"/>
                <a:ea typeface="+mn-ea"/>
              </a:rPr>
              <a:t>值。</a:t>
            </a:r>
          </a:p>
          <a:p>
            <a:pPr eaLnBrk="1" hangingPunct="1">
              <a:spcBef>
                <a:spcPct val="50000"/>
              </a:spcBef>
              <a:defRPr/>
            </a:pPr>
            <a:r>
              <a:rPr lang="zh-CN" altLang="en-US" dirty="0">
                <a:effectLst>
                  <a:outerShdw blurRad="38100" dist="38100" dir="2700000" algn="tl">
                    <a:srgbClr val="000000">
                      <a:alpha val="43137"/>
                    </a:srgbClr>
                  </a:outerShdw>
                </a:effectLst>
                <a:latin typeface="+mn-ea"/>
                <a:ea typeface="+mn-ea"/>
              </a:rPr>
              <a:t>（</a:t>
            </a:r>
            <a:r>
              <a:rPr lang="en-US" altLang="zh-CN" dirty="0">
                <a:effectLst>
                  <a:outerShdw blurRad="38100" dist="38100" dir="2700000" algn="tl">
                    <a:srgbClr val="000000">
                      <a:alpha val="43137"/>
                    </a:srgbClr>
                  </a:outerShdw>
                </a:effectLst>
                <a:latin typeface="+mn-ea"/>
                <a:ea typeface="+mn-ea"/>
              </a:rPr>
              <a:t>1</a:t>
            </a:r>
            <a:r>
              <a:rPr lang="zh-CN" altLang="en-US" dirty="0">
                <a:effectLst>
                  <a:outerShdw blurRad="38100" dist="38100" dir="2700000" algn="tl">
                    <a:srgbClr val="000000">
                      <a:alpha val="43137"/>
                    </a:srgbClr>
                  </a:outerShdw>
                </a:effectLst>
                <a:latin typeface="+mn-ea"/>
                <a:ea typeface="+mn-ea"/>
              </a:rPr>
              <a:t>）</a:t>
            </a:r>
            <a:r>
              <a:rPr lang="en-US" altLang="zh-CN" dirty="0" err="1">
                <a:effectLst>
                  <a:outerShdw blurRad="38100" dist="38100" dir="2700000" algn="tl">
                    <a:srgbClr val="000000">
                      <a:alpha val="43137"/>
                    </a:srgbClr>
                  </a:outerShdw>
                </a:effectLst>
                <a:latin typeface="+mn-ea"/>
                <a:ea typeface="+mn-ea"/>
              </a:rPr>
              <a:t>fosc</a:t>
            </a:r>
            <a:r>
              <a:rPr lang="en-US" altLang="zh-CN" dirty="0">
                <a:effectLst>
                  <a:outerShdw blurRad="38100" dist="38100" dir="2700000" algn="tl">
                    <a:srgbClr val="000000">
                      <a:alpha val="43137"/>
                    </a:srgbClr>
                  </a:outerShdw>
                </a:effectLst>
                <a:latin typeface="+mn-ea"/>
                <a:ea typeface="+mn-ea"/>
              </a:rPr>
              <a:t>=6MHz</a:t>
            </a:r>
            <a:r>
              <a:rPr lang="zh-CN" altLang="en-US" dirty="0">
                <a:effectLst>
                  <a:outerShdw blurRad="38100" dist="38100" dir="2700000" algn="tl">
                    <a:srgbClr val="000000">
                      <a:alpha val="43137"/>
                    </a:srgbClr>
                  </a:outerShdw>
                </a:effectLst>
                <a:latin typeface="+mn-ea"/>
                <a:ea typeface="+mn-ea"/>
              </a:rPr>
              <a:t>，</a:t>
            </a:r>
            <a:r>
              <a:rPr lang="en-US" altLang="zh-CN" dirty="0">
                <a:effectLst>
                  <a:outerShdw blurRad="38100" dist="38100" dir="2700000" algn="tl">
                    <a:srgbClr val="000000">
                      <a:alpha val="43137"/>
                    </a:srgbClr>
                  </a:outerShdw>
                </a:effectLst>
                <a:latin typeface="+mn-ea"/>
                <a:ea typeface="+mn-ea"/>
              </a:rPr>
              <a:t>T0</a:t>
            </a:r>
            <a:r>
              <a:rPr lang="zh-CN" altLang="en-US" dirty="0">
                <a:effectLst>
                  <a:outerShdw blurRad="38100" dist="38100" dir="2700000" algn="tl">
                    <a:srgbClr val="000000">
                      <a:alpha val="43137"/>
                    </a:srgbClr>
                  </a:outerShdw>
                </a:effectLst>
                <a:latin typeface="+mn-ea"/>
                <a:ea typeface="+mn-ea"/>
              </a:rPr>
              <a:t>方式</a:t>
            </a:r>
            <a:r>
              <a:rPr lang="en-US" altLang="zh-CN" dirty="0">
                <a:effectLst>
                  <a:outerShdw blurRad="38100" dist="38100" dir="2700000" algn="tl">
                    <a:srgbClr val="000000">
                      <a:alpha val="43137"/>
                    </a:srgbClr>
                  </a:outerShdw>
                </a:effectLst>
                <a:latin typeface="+mn-ea"/>
                <a:ea typeface="+mn-ea"/>
              </a:rPr>
              <a:t>1</a:t>
            </a:r>
            <a:r>
              <a:rPr lang="zh-CN" altLang="en-US" dirty="0">
                <a:effectLst>
                  <a:outerShdw blurRad="38100" dist="38100" dir="2700000" algn="tl">
                    <a:srgbClr val="000000">
                      <a:alpha val="43137"/>
                    </a:srgbClr>
                  </a:outerShdw>
                </a:effectLst>
                <a:latin typeface="+mn-ea"/>
                <a:ea typeface="+mn-ea"/>
              </a:rPr>
              <a:t>，定时</a:t>
            </a:r>
            <a:r>
              <a:rPr lang="en-US" altLang="zh-CN" dirty="0">
                <a:effectLst>
                  <a:outerShdw blurRad="38100" dist="38100" dir="2700000" algn="tl">
                    <a:srgbClr val="000000">
                      <a:alpha val="43137"/>
                    </a:srgbClr>
                  </a:outerShdw>
                </a:effectLst>
                <a:latin typeface="+mn-ea"/>
                <a:ea typeface="+mn-ea"/>
              </a:rPr>
              <a:t>40ms</a:t>
            </a:r>
            <a:r>
              <a:rPr lang="zh-CN" altLang="en-US" dirty="0">
                <a:effectLst>
                  <a:outerShdw blurRad="38100" dist="38100" dir="2700000" algn="tl">
                    <a:srgbClr val="000000">
                      <a:alpha val="43137"/>
                    </a:srgbClr>
                  </a:outerShdw>
                </a:effectLst>
                <a:latin typeface="+mn-ea"/>
                <a:ea typeface="+mn-ea"/>
              </a:rPr>
              <a:t>。</a:t>
            </a:r>
          </a:p>
          <a:p>
            <a:pPr eaLnBrk="1" hangingPunct="1">
              <a:spcBef>
                <a:spcPct val="50000"/>
              </a:spcBef>
              <a:defRPr/>
            </a:pPr>
            <a:r>
              <a:rPr lang="zh-CN" altLang="en-US" dirty="0">
                <a:effectLst>
                  <a:outerShdw blurRad="38100" dist="38100" dir="2700000" algn="tl">
                    <a:srgbClr val="000000">
                      <a:alpha val="43137"/>
                    </a:srgbClr>
                  </a:outerShdw>
                </a:effectLst>
                <a:latin typeface="+mn-ea"/>
                <a:ea typeface="+mn-ea"/>
              </a:rPr>
              <a:t>（</a:t>
            </a:r>
            <a:r>
              <a:rPr lang="en-US" altLang="zh-CN" dirty="0">
                <a:effectLst>
                  <a:outerShdw blurRad="38100" dist="38100" dir="2700000" algn="tl">
                    <a:srgbClr val="000000">
                      <a:alpha val="43137"/>
                    </a:srgbClr>
                  </a:outerShdw>
                </a:effectLst>
                <a:latin typeface="+mn-ea"/>
                <a:ea typeface="+mn-ea"/>
              </a:rPr>
              <a:t>2</a:t>
            </a:r>
            <a:r>
              <a:rPr lang="zh-CN" altLang="en-US" dirty="0">
                <a:effectLst>
                  <a:outerShdw blurRad="38100" dist="38100" dir="2700000" algn="tl">
                    <a:srgbClr val="000000">
                      <a:alpha val="43137"/>
                    </a:srgbClr>
                  </a:outerShdw>
                </a:effectLst>
                <a:latin typeface="+mn-ea"/>
                <a:ea typeface="+mn-ea"/>
              </a:rPr>
              <a:t>）</a:t>
            </a:r>
            <a:r>
              <a:rPr lang="en-US" altLang="zh-CN" dirty="0" err="1">
                <a:effectLst>
                  <a:outerShdw blurRad="38100" dist="38100" dir="2700000" algn="tl">
                    <a:srgbClr val="000000">
                      <a:alpha val="43137"/>
                    </a:srgbClr>
                  </a:outerShdw>
                </a:effectLst>
                <a:latin typeface="+mn-ea"/>
                <a:ea typeface="+mn-ea"/>
              </a:rPr>
              <a:t>fosc</a:t>
            </a:r>
            <a:r>
              <a:rPr lang="en-US" altLang="zh-CN" dirty="0">
                <a:effectLst>
                  <a:outerShdw blurRad="38100" dist="38100" dir="2700000" algn="tl">
                    <a:srgbClr val="000000">
                      <a:alpha val="43137"/>
                    </a:srgbClr>
                  </a:outerShdw>
                </a:effectLst>
                <a:latin typeface="+mn-ea"/>
                <a:ea typeface="+mn-ea"/>
              </a:rPr>
              <a:t>=12MHz</a:t>
            </a:r>
            <a:r>
              <a:rPr lang="zh-CN" altLang="en-US" dirty="0">
                <a:effectLst>
                  <a:outerShdw blurRad="38100" dist="38100" dir="2700000" algn="tl">
                    <a:srgbClr val="000000">
                      <a:alpha val="43137"/>
                    </a:srgbClr>
                  </a:outerShdw>
                </a:effectLst>
                <a:latin typeface="+mn-ea"/>
                <a:ea typeface="+mn-ea"/>
              </a:rPr>
              <a:t>，</a:t>
            </a:r>
            <a:r>
              <a:rPr lang="en-US" altLang="zh-CN" dirty="0">
                <a:effectLst>
                  <a:outerShdw blurRad="38100" dist="38100" dir="2700000" algn="tl">
                    <a:srgbClr val="000000">
                      <a:alpha val="43137"/>
                    </a:srgbClr>
                  </a:outerShdw>
                </a:effectLst>
                <a:latin typeface="+mn-ea"/>
                <a:ea typeface="+mn-ea"/>
              </a:rPr>
              <a:t>T1</a:t>
            </a:r>
            <a:r>
              <a:rPr lang="zh-CN" altLang="en-US" dirty="0">
                <a:effectLst>
                  <a:outerShdw blurRad="38100" dist="38100" dir="2700000" algn="tl">
                    <a:srgbClr val="000000">
                      <a:alpha val="43137"/>
                    </a:srgbClr>
                  </a:outerShdw>
                </a:effectLst>
                <a:latin typeface="+mn-ea"/>
                <a:ea typeface="+mn-ea"/>
              </a:rPr>
              <a:t>方式</a:t>
            </a:r>
            <a:r>
              <a:rPr lang="en-US" altLang="zh-CN" dirty="0">
                <a:effectLst>
                  <a:outerShdw blurRad="38100" dist="38100" dir="2700000" algn="tl">
                    <a:srgbClr val="000000">
                      <a:alpha val="43137"/>
                    </a:srgbClr>
                  </a:outerShdw>
                </a:effectLst>
                <a:latin typeface="+mn-ea"/>
                <a:ea typeface="+mn-ea"/>
              </a:rPr>
              <a:t>2</a:t>
            </a:r>
            <a:r>
              <a:rPr lang="zh-CN" altLang="en-US" dirty="0">
                <a:effectLst>
                  <a:outerShdw blurRad="38100" dist="38100" dir="2700000" algn="tl">
                    <a:srgbClr val="000000">
                      <a:alpha val="43137"/>
                    </a:srgbClr>
                  </a:outerShdw>
                </a:effectLst>
                <a:latin typeface="+mn-ea"/>
                <a:ea typeface="+mn-ea"/>
              </a:rPr>
              <a:t>，定时</a:t>
            </a:r>
            <a:r>
              <a:rPr lang="en-US" altLang="zh-CN" dirty="0">
                <a:effectLst>
                  <a:outerShdw blurRad="38100" dist="38100" dir="2700000" algn="tl">
                    <a:srgbClr val="000000">
                      <a:alpha val="43137"/>
                    </a:srgbClr>
                  </a:outerShdw>
                </a:effectLst>
                <a:latin typeface="+mn-ea"/>
                <a:ea typeface="+mn-ea"/>
              </a:rPr>
              <a:t>180us</a:t>
            </a:r>
            <a:r>
              <a:rPr lang="zh-CN" altLang="en-US" dirty="0">
                <a:effectLst>
                  <a:outerShdw blurRad="38100" dist="38100" dir="2700000" algn="tl">
                    <a:srgbClr val="000000">
                      <a:alpha val="43137"/>
                    </a:srgbClr>
                  </a:outerShdw>
                </a:effectLst>
                <a:latin typeface="+mn-ea"/>
                <a:ea typeface="+mn-ea"/>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324E621-1619-4007-88FE-6DB0126ADE35}" type="slidenum">
              <a:rPr lang="zh-CN" altLang="en-US" sz="1400"/>
              <a:t>10</a:t>
            </a:fld>
            <a:endParaRPr lang="en-US" altLang="zh-CN" sz="1400"/>
          </a:p>
        </p:txBody>
      </p:sp>
      <p:sp>
        <p:nvSpPr>
          <p:cNvPr id="62466" name="Rectangle 2"/>
          <p:cNvSpPr>
            <a:spLocks noGrp="1" noChangeArrowheads="1"/>
          </p:cNvSpPr>
          <p:nvPr>
            <p:ph type="title"/>
          </p:nvPr>
        </p:nvSpPr>
        <p:spPr>
          <a:xfrm>
            <a:off x="827088" y="246063"/>
            <a:ext cx="8316912" cy="1462087"/>
          </a:xfrm>
        </p:spPr>
        <p:txBody>
          <a:bodyPr/>
          <a:lstStyle/>
          <a:p>
            <a:pPr eaLnBrk="1" hangingPunct="1">
              <a:defRPr/>
            </a:pP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例</a:t>
            </a:r>
            <a:r>
              <a:rPr lang="en-US" altLang="zh-CN" sz="3200" b="1" dirty="0">
                <a:solidFill>
                  <a:srgbClr val="0000FF"/>
                </a:solidFill>
                <a:effectLst>
                  <a:outerShdw blurRad="38100" dist="38100" dir="2700000" algn="tl">
                    <a:srgbClr val="C0C0C0"/>
                  </a:outerShdw>
                </a:effectLst>
                <a:latin typeface="Times New Roman" panose="02020603050405020304" pitchFamily="18" charset="0"/>
              </a:rPr>
              <a:t>1   </a:t>
            </a: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定时</a:t>
            </a:r>
            <a:r>
              <a:rPr lang="en-US" altLang="zh-CN" sz="3200" b="1" dirty="0">
                <a:solidFill>
                  <a:srgbClr val="0000FF"/>
                </a:solidFill>
                <a:effectLst>
                  <a:outerShdw blurRad="38100" dist="38100" dir="2700000" algn="tl">
                    <a:srgbClr val="C0C0C0"/>
                  </a:outerShdw>
                </a:effectLst>
                <a:latin typeface="Times New Roman" panose="02020603050405020304" pitchFamily="18" charset="0"/>
              </a:rPr>
              <a:t>T0</a:t>
            </a: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，方式</a:t>
            </a:r>
            <a:r>
              <a:rPr lang="en-US" altLang="zh-CN" sz="3200" b="1" dirty="0">
                <a:solidFill>
                  <a:srgbClr val="0000FF"/>
                </a:solidFill>
                <a:effectLst>
                  <a:outerShdw blurRad="38100" dist="38100" dir="2700000" algn="tl">
                    <a:srgbClr val="C0C0C0"/>
                  </a:outerShdw>
                </a:effectLst>
                <a:latin typeface="Times New Roman" panose="02020603050405020304" pitchFamily="18" charset="0"/>
              </a:rPr>
              <a:t>1</a:t>
            </a: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a:t>
            </a:r>
            <a:r>
              <a:rPr lang="en-US" altLang="zh-CN" sz="3200" b="1" dirty="0">
                <a:solidFill>
                  <a:srgbClr val="0000FF"/>
                </a:solidFill>
                <a:effectLst>
                  <a:outerShdw blurRad="38100" dist="38100" dir="2700000" algn="tl">
                    <a:srgbClr val="C0C0C0"/>
                  </a:outerShdw>
                </a:effectLst>
                <a:latin typeface="Times New Roman" panose="02020603050405020304" pitchFamily="18" charset="0"/>
              </a:rPr>
              <a:t>P2</a:t>
            </a: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口输出周期为</a:t>
            </a:r>
            <a:r>
              <a:rPr lang="en-US" altLang="zh-CN" sz="3200" b="1" dirty="0">
                <a:solidFill>
                  <a:srgbClr val="0000FF"/>
                </a:solidFill>
                <a:effectLst>
                  <a:outerShdw blurRad="38100" dist="38100" dir="2700000" algn="tl">
                    <a:srgbClr val="C0C0C0"/>
                  </a:outerShdw>
                </a:effectLst>
                <a:latin typeface="Times New Roman" panose="02020603050405020304" pitchFamily="18" charset="0"/>
              </a:rPr>
              <a:t>100ms</a:t>
            </a:r>
            <a:r>
              <a:rPr lang="zh-CN" altLang="en-US" sz="3200" b="1" dirty="0">
                <a:solidFill>
                  <a:srgbClr val="0000FF"/>
                </a:solidFill>
                <a:effectLst>
                  <a:outerShdw blurRad="38100" dist="38100" dir="2700000" algn="tl">
                    <a:srgbClr val="C0C0C0"/>
                  </a:outerShdw>
                </a:effectLst>
                <a:latin typeface="Times New Roman" panose="02020603050405020304" pitchFamily="18" charset="0"/>
              </a:rPr>
              <a:t>的方波。</a:t>
            </a:r>
          </a:p>
        </p:txBody>
      </p:sp>
      <p:sp>
        <p:nvSpPr>
          <p:cNvPr id="62467" name="Rectangle 3"/>
          <p:cNvSpPr>
            <a:spLocks noGrp="1" noChangeArrowheads="1"/>
          </p:cNvSpPr>
          <p:nvPr>
            <p:ph type="body" idx="1"/>
          </p:nvPr>
        </p:nvSpPr>
        <p:spPr>
          <a:xfrm>
            <a:off x="827088" y="1989138"/>
            <a:ext cx="7772400" cy="4114800"/>
          </a:xfrm>
        </p:spPr>
        <p:txBody>
          <a:bodyPr/>
          <a:lstStyle/>
          <a:p>
            <a:pPr eaLnBrk="1" hangingPunct="1">
              <a:defRPr/>
            </a:pPr>
            <a:r>
              <a:rPr lang="zh-CN" altLang="en-US" b="1" dirty="0">
                <a:effectLst>
                  <a:outerShdw blurRad="38100" dist="38100" dir="2700000" algn="tl">
                    <a:srgbClr val="C0C0C0"/>
                  </a:outerShdw>
                </a:effectLst>
                <a:latin typeface="Times New Roman" panose="02020603050405020304" pitchFamily="18" charset="0"/>
              </a:rPr>
              <a:t>单片机晶振频率为</a:t>
            </a:r>
            <a:r>
              <a:rPr lang="en-US" altLang="zh-CN" b="1" dirty="0">
                <a:effectLst>
                  <a:outerShdw blurRad="38100" dist="38100" dir="2700000" algn="tl">
                    <a:srgbClr val="C0C0C0"/>
                  </a:outerShdw>
                </a:effectLst>
                <a:latin typeface="Times New Roman" panose="02020603050405020304" pitchFamily="18" charset="0"/>
              </a:rPr>
              <a:t>12MHz</a:t>
            </a:r>
          </a:p>
          <a:p>
            <a:pPr eaLnBrk="1" hangingPunct="1">
              <a:defRPr/>
            </a:pPr>
            <a:r>
              <a:rPr lang="zh-CN" altLang="en-US" b="1" dirty="0">
                <a:effectLst>
                  <a:outerShdw blurRad="38100" dist="38100" dir="2700000" algn="tl">
                    <a:srgbClr val="C0C0C0"/>
                  </a:outerShdw>
                </a:effectLst>
                <a:latin typeface="Times New Roman" panose="02020603050405020304" pitchFamily="18" charset="0"/>
              </a:rPr>
              <a:t>要求</a:t>
            </a:r>
            <a:r>
              <a:rPr lang="en-US" altLang="zh-CN" b="1" dirty="0">
                <a:effectLst>
                  <a:outerShdw blurRad="38100" dist="38100" dir="2700000" algn="tl">
                    <a:srgbClr val="C0C0C0"/>
                  </a:outerShdw>
                </a:effectLst>
                <a:latin typeface="Times New Roman" panose="02020603050405020304" pitchFamily="18" charset="0"/>
              </a:rPr>
              <a:t>T0</a:t>
            </a:r>
            <a:r>
              <a:rPr lang="zh-CN" altLang="en-US" b="1" dirty="0">
                <a:effectLst>
                  <a:outerShdw blurRad="38100" dist="38100" dir="2700000" algn="tl">
                    <a:srgbClr val="C0C0C0"/>
                  </a:outerShdw>
                </a:effectLst>
                <a:latin typeface="Times New Roman" panose="02020603050405020304" pitchFamily="18" charset="0"/>
              </a:rPr>
              <a:t>工作于</a:t>
            </a:r>
            <a:r>
              <a:rPr lang="zh-CN" altLang="en-US" b="1" dirty="0">
                <a:solidFill>
                  <a:srgbClr val="9900CC"/>
                </a:solidFill>
                <a:effectLst>
                  <a:outerShdw blurRad="38100" dist="38100" dir="2700000" algn="tl">
                    <a:srgbClr val="C0C0C0"/>
                  </a:outerShdw>
                </a:effectLst>
                <a:latin typeface="楷体" panose="02010609060101010101" pitchFamily="49" charset="-122"/>
                <a:ea typeface="楷体" panose="02010609060101010101" pitchFamily="49" charset="-122"/>
              </a:rPr>
              <a:t>方式</a:t>
            </a:r>
            <a:r>
              <a:rPr lang="en-US" altLang="zh-CN" b="1" dirty="0">
                <a:solidFill>
                  <a:srgbClr val="9900CC"/>
                </a:solidFill>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b="1" dirty="0">
                <a:effectLst>
                  <a:outerShdw blurRad="38100" dist="38100" dir="2700000" algn="tl">
                    <a:srgbClr val="C0C0C0"/>
                  </a:outerShdw>
                </a:effectLst>
                <a:latin typeface="Times New Roman" panose="02020603050405020304" pitchFamily="18" charset="0"/>
              </a:rPr>
              <a:t>，</a:t>
            </a:r>
            <a:r>
              <a:rPr lang="en-US" altLang="zh-CN" b="1" dirty="0">
                <a:effectLst>
                  <a:outerShdw blurRad="38100" dist="38100" dir="2700000" algn="tl">
                    <a:srgbClr val="C0C0C0"/>
                  </a:outerShdw>
                </a:effectLst>
                <a:latin typeface="Times New Roman" panose="02020603050405020304" pitchFamily="18" charset="0"/>
              </a:rPr>
              <a:t>LED</a:t>
            </a:r>
            <a:r>
              <a:rPr lang="zh-CN" altLang="en-US" b="1" dirty="0">
                <a:effectLst>
                  <a:outerShdw blurRad="38100" dist="38100" dir="2700000" algn="tl">
                    <a:srgbClr val="C0C0C0"/>
                  </a:outerShdw>
                </a:effectLst>
                <a:latin typeface="Times New Roman" panose="02020603050405020304" pitchFamily="18" charset="0"/>
              </a:rPr>
              <a:t>的闪烁周期是</a:t>
            </a:r>
            <a:r>
              <a:rPr lang="en-US" altLang="zh-CN" b="1" dirty="0">
                <a:effectLst>
                  <a:outerShdw blurRad="38100" dist="38100" dir="2700000" algn="tl">
                    <a:srgbClr val="C0C0C0"/>
                  </a:outerShdw>
                </a:effectLst>
                <a:latin typeface="Times New Roman" panose="02020603050405020304" pitchFamily="18" charset="0"/>
              </a:rPr>
              <a:t>100ms</a:t>
            </a:r>
            <a:r>
              <a:rPr lang="zh-CN" altLang="en-US" b="1" dirty="0">
                <a:effectLst>
                  <a:outerShdw blurRad="38100" dist="38100" dir="2700000" algn="tl">
                    <a:srgbClr val="C0C0C0"/>
                  </a:outerShdw>
                </a:effectLst>
                <a:latin typeface="Times New Roman" panose="02020603050405020304" pitchFamily="18" charset="0"/>
              </a:rPr>
              <a:t>，即亮</a:t>
            </a:r>
            <a:r>
              <a:rPr lang="en-US" altLang="zh-CN" b="1" dirty="0">
                <a:effectLst>
                  <a:outerShdw blurRad="38100" dist="38100" dir="2700000" algn="tl">
                    <a:srgbClr val="C0C0C0"/>
                  </a:outerShdw>
                </a:effectLst>
                <a:latin typeface="Times New Roman" panose="02020603050405020304" pitchFamily="18" charset="0"/>
              </a:rPr>
              <a:t>50ms</a:t>
            </a:r>
            <a:r>
              <a:rPr lang="zh-CN" altLang="en-US" b="1" dirty="0">
                <a:effectLst>
                  <a:outerShdw blurRad="38100" dist="38100" dir="2700000" algn="tl">
                    <a:srgbClr val="C0C0C0"/>
                  </a:outerShdw>
                </a:effectLst>
                <a:latin typeface="Times New Roman" panose="02020603050405020304" pitchFamily="18" charset="0"/>
              </a:rPr>
              <a:t>，熄灭</a:t>
            </a:r>
            <a:r>
              <a:rPr lang="en-US" altLang="zh-CN" b="1" dirty="0">
                <a:effectLst>
                  <a:outerShdw blurRad="38100" dist="38100" dir="2700000" algn="tl">
                    <a:srgbClr val="C0C0C0"/>
                  </a:outerShdw>
                </a:effectLst>
                <a:latin typeface="Times New Roman" panose="02020603050405020304" pitchFamily="18" charset="0"/>
              </a:rPr>
              <a:t>50ms</a:t>
            </a:r>
            <a:r>
              <a:rPr lang="zh-CN" altLang="en-US" b="1" dirty="0">
                <a:effectLst>
                  <a:outerShdw blurRad="38100" dist="38100" dir="2700000" algn="tl">
                    <a:srgbClr val="C0C0C0"/>
                  </a:outerShdw>
                </a:effectLst>
                <a:latin typeface="Times New Roman" panose="02020603050405020304" pitchFamily="18" charset="0"/>
              </a:rPr>
              <a:t>。</a:t>
            </a:r>
            <a:endParaRPr lang="en-US" altLang="zh-CN" b="1" dirty="0">
              <a:effectLst>
                <a:outerShdw blurRad="38100" dist="38100" dir="2700000" algn="tl">
                  <a:srgbClr val="C0C0C0"/>
                </a:outerShdw>
              </a:effectLst>
              <a:latin typeface="Times New Roman" panose="02020603050405020304" pitchFamily="18" charset="0"/>
            </a:endParaRPr>
          </a:p>
          <a:p>
            <a:pPr eaLnBrk="1" hangingPunct="1">
              <a:defRPr/>
            </a:pPr>
            <a:r>
              <a:rPr lang="zh-CN" altLang="en-US" b="1" dirty="0">
                <a:effectLst>
                  <a:outerShdw blurRad="38100" dist="38100" dir="2700000" algn="tl">
                    <a:srgbClr val="C0C0C0"/>
                  </a:outerShdw>
                </a:effectLst>
                <a:latin typeface="Times New Roman" panose="02020603050405020304" pitchFamily="18" charset="0"/>
              </a:rPr>
              <a:t>分别使用查询方式、中断方式设计程序。</a:t>
            </a:r>
          </a:p>
        </p:txBody>
      </p:sp>
      <p:sp>
        <p:nvSpPr>
          <p:cNvPr id="62468" name="Line 4"/>
          <p:cNvSpPr>
            <a:spLocks noChangeShapeType="1"/>
          </p:cNvSpPr>
          <p:nvPr/>
        </p:nvSpPr>
        <p:spPr bwMode="auto">
          <a:xfrm>
            <a:off x="3203258" y="3644900"/>
            <a:ext cx="3457575" cy="0"/>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9"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checkerboard(across)">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checkerboard(across)">
                                      <p:cBhvr>
                                        <p:cTn id="12" dur="500"/>
                                        <p:tgtEl>
                                          <p:spTgt spid="62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checkerboard(across)">
                                      <p:cBhvr>
                                        <p:cTn id="17" dur="500"/>
                                        <p:tgtEl>
                                          <p:spTgt spid="62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468"/>
                                        </p:tgtEl>
                                        <p:attrNameLst>
                                          <p:attrName>style.visibility</p:attrName>
                                        </p:attrNameLst>
                                      </p:cBhvr>
                                      <p:to>
                                        <p:strVal val="visible"/>
                                      </p:to>
                                    </p:set>
                                    <p:animEffect transition="in" filter="wipe(left)">
                                      <p:cBhvr>
                                        <p:cTn id="22" dur="500"/>
                                        <p:tgtEl>
                                          <p:spTgt spid="6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2015310-D7E4-48E4-8FC7-34B68CAE5557}" type="slidenum">
              <a:rPr lang="zh-CN" altLang="en-US" sz="1400"/>
              <a:t>11</a:t>
            </a:fld>
            <a:endParaRPr lang="en-US" altLang="zh-CN" sz="1400"/>
          </a:p>
        </p:txBody>
      </p:sp>
      <p:sp>
        <p:nvSpPr>
          <p:cNvPr id="63492" name="Text Box 4"/>
          <p:cNvSpPr txBox="1">
            <a:spLocks noChangeArrowheads="1"/>
          </p:cNvSpPr>
          <p:nvPr/>
        </p:nvSpPr>
        <p:spPr bwMode="auto">
          <a:xfrm>
            <a:off x="1042988" y="404813"/>
            <a:ext cx="5834062" cy="641350"/>
          </a:xfrm>
          <a:prstGeom prst="rect">
            <a:avLst/>
          </a:prstGeom>
          <a:noFill/>
          <a:ln>
            <a:noFill/>
          </a:ln>
          <a:effectLst/>
        </p:spPr>
        <p:txBody>
          <a:bodyPr>
            <a:spAutoFit/>
          </a:bodyPr>
          <a:lstStyle/>
          <a:p>
            <a:pPr eaLnBrk="1" hangingPunct="1">
              <a:spcBef>
                <a:spcPct val="50000"/>
              </a:spcBef>
              <a:defRPr/>
            </a:pPr>
            <a:r>
              <a:rPr lang="en-US" altLang="zh-CN" sz="3600"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1. </a:t>
            </a:r>
            <a:r>
              <a:rPr lang="zh-CN" altLang="en-US" sz="3600" dirty="0">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实现方法</a:t>
            </a:r>
          </a:p>
        </p:txBody>
      </p:sp>
      <p:sp>
        <p:nvSpPr>
          <p:cNvPr id="63493" name="Text Box 5"/>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T0</a:t>
            </a:r>
            <a:r>
              <a:rPr lang="zh-CN" altLang="en-US" sz="3000" dirty="0">
                <a:effectLst>
                  <a:outerShdw blurRad="38100" dist="38100" dir="2700000" algn="tl">
                    <a:srgbClr val="C0C0C0"/>
                  </a:outerShdw>
                </a:effectLst>
                <a:latin typeface="Times New Roman" panose="02020603050405020304" pitchFamily="18" charset="0"/>
              </a:rPr>
              <a:t>工作方式的设置</a:t>
            </a:r>
            <a:r>
              <a:rPr lang="en-US" altLang="zh-CN" sz="3000" dirty="0">
                <a:effectLst>
                  <a:outerShdw blurRad="38100" dist="38100" dir="2700000" algn="tl">
                    <a:srgbClr val="C0C0C0"/>
                  </a:outerShdw>
                </a:effectLst>
                <a:latin typeface="Times New Roman" panose="02020603050405020304" pitchFamily="18" charset="0"/>
              </a:rPr>
              <a:t>         </a:t>
            </a:r>
          </a:p>
        </p:txBody>
      </p:sp>
      <p:sp>
        <p:nvSpPr>
          <p:cNvPr id="63494" name="Text Box 6"/>
          <p:cNvSpPr txBox="1">
            <a:spLocks noChangeArrowheads="1"/>
          </p:cNvSpPr>
          <p:nvPr/>
        </p:nvSpPr>
        <p:spPr bwMode="auto">
          <a:xfrm>
            <a:off x="827088" y="2349500"/>
            <a:ext cx="7561262" cy="2170113"/>
          </a:xfrm>
          <a:prstGeom prst="rect">
            <a:avLst/>
          </a:prstGeom>
          <a:noFill/>
          <a:ln>
            <a:noFill/>
          </a:ln>
          <a:effectLst/>
        </p:spPr>
        <p:txBody>
          <a:bodyPr>
            <a:spAutoFit/>
          </a:bodyPr>
          <a:lstStyle/>
          <a:p>
            <a:pPr eaLnBrk="1" hangingPunct="1">
              <a:spcBef>
                <a:spcPct val="5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2</a:t>
            </a:r>
            <a:r>
              <a:rPr lang="zh-CN" altLang="en-US" sz="3000" dirty="0">
                <a:effectLst>
                  <a:outerShdw blurRad="38100" dist="38100" dir="2700000" algn="tl">
                    <a:srgbClr val="C0C0C0"/>
                  </a:outerShdw>
                </a:effectLst>
                <a:latin typeface="Times New Roman" panose="02020603050405020304" pitchFamily="18" charset="0"/>
              </a:rPr>
              <a:t>）定时器初值的设置</a:t>
            </a:r>
          </a:p>
          <a:p>
            <a:pPr eaLnBrk="1" hangingPunct="1">
              <a:spcBef>
                <a:spcPct val="50000"/>
              </a:spcBef>
              <a:defRPr/>
            </a:pPr>
            <a:r>
              <a:rPr lang="zh-CN" altLang="en-US" sz="3000" dirty="0">
                <a:effectLst>
                  <a:outerShdw blurRad="38100" dist="38100" dir="2700000" algn="tl">
                    <a:srgbClr val="C0C0C0"/>
                  </a:outerShdw>
                </a:effectLst>
                <a:latin typeface="Times New Roman" panose="02020603050405020304" pitchFamily="18" charset="0"/>
              </a:rPr>
              <a:t>单片机晶振频率为</a:t>
            </a:r>
            <a:r>
              <a:rPr lang="en-US" altLang="zh-CN" sz="3000" dirty="0">
                <a:effectLst>
                  <a:outerShdw blurRad="38100" dist="38100" dir="2700000" algn="tl">
                    <a:srgbClr val="C0C0C0"/>
                  </a:outerShdw>
                </a:effectLst>
                <a:latin typeface="Times New Roman" panose="02020603050405020304" pitchFamily="18" charset="0"/>
              </a:rPr>
              <a:t>12MHz</a:t>
            </a:r>
            <a:r>
              <a:rPr lang="zh-CN" altLang="en-US" sz="3000" dirty="0">
                <a:effectLst>
                  <a:outerShdw blurRad="38100" dist="38100" dir="2700000" algn="tl">
                    <a:srgbClr val="C0C0C0"/>
                  </a:outerShdw>
                </a:effectLst>
                <a:latin typeface="Times New Roman" panose="02020603050405020304" pitchFamily="18" charset="0"/>
              </a:rPr>
              <a:t>，则机器周期为</a:t>
            </a:r>
            <a:r>
              <a:rPr lang="en-US" altLang="zh-CN" sz="3000" dirty="0">
                <a:effectLst>
                  <a:outerShdw blurRad="38100" dist="38100" dir="2700000" algn="tl">
                    <a:srgbClr val="C0C0C0"/>
                  </a:outerShdw>
                </a:effectLst>
                <a:latin typeface="Times New Roman" panose="02020603050405020304" pitchFamily="18" charset="0"/>
              </a:rPr>
              <a:t>1us</a:t>
            </a:r>
            <a:r>
              <a:rPr lang="zh-CN" altLang="en-US" sz="3000" dirty="0">
                <a:effectLst>
                  <a:outerShdw blurRad="38100" dist="38100" dir="2700000" algn="tl">
                    <a:srgbClr val="C0C0C0"/>
                  </a:outerShdw>
                </a:effectLst>
                <a:latin typeface="Times New Roman" panose="02020603050405020304" pitchFamily="18" charset="0"/>
              </a:rPr>
              <a:t>。计时</a:t>
            </a:r>
            <a:r>
              <a:rPr lang="en-US" altLang="zh-CN" sz="3000" dirty="0">
                <a:effectLst>
                  <a:outerShdw blurRad="38100" dist="38100" dir="2700000" algn="tl">
                    <a:srgbClr val="C0C0C0"/>
                  </a:outerShdw>
                </a:effectLst>
                <a:latin typeface="Times New Roman" panose="02020603050405020304" pitchFamily="18" charset="0"/>
              </a:rPr>
              <a:t>50ms(</a:t>
            </a:r>
            <a:r>
              <a:rPr lang="zh-CN" altLang="en-US" sz="3000" dirty="0">
                <a:effectLst>
                  <a:outerShdw blurRad="38100" dist="38100" dir="2700000" algn="tl">
                    <a:srgbClr val="C0C0C0"/>
                  </a:outerShdw>
                </a:effectLst>
                <a:latin typeface="Times New Roman" panose="02020603050405020304" pitchFamily="18" charset="0"/>
              </a:rPr>
              <a:t>即</a:t>
            </a:r>
            <a:r>
              <a:rPr lang="en-US" altLang="zh-CN" sz="3000" dirty="0">
                <a:effectLst>
                  <a:outerShdw blurRad="38100" dist="38100" dir="2700000" algn="tl">
                    <a:srgbClr val="C0C0C0"/>
                  </a:outerShdw>
                </a:effectLst>
                <a:latin typeface="Times New Roman" panose="02020603050405020304" pitchFamily="18" charset="0"/>
              </a:rPr>
              <a:t>50000us)</a:t>
            </a:r>
            <a:r>
              <a:rPr lang="zh-CN" altLang="en-US" sz="3000" dirty="0">
                <a:effectLst>
                  <a:outerShdw blurRad="38100" dist="38100" dir="2700000" algn="tl">
                    <a:srgbClr val="C0C0C0"/>
                  </a:outerShdw>
                </a:effectLst>
                <a:latin typeface="Times New Roman" panose="02020603050405020304" pitchFamily="18" charset="0"/>
              </a:rPr>
              <a:t>，需要计数</a:t>
            </a:r>
            <a:r>
              <a:rPr lang="en-US" altLang="zh-CN" sz="3000" dirty="0">
                <a:effectLst>
                  <a:outerShdw blurRad="38100" dist="38100" dir="2700000" algn="tl">
                    <a:srgbClr val="C0C0C0"/>
                  </a:outerShdw>
                </a:effectLst>
                <a:latin typeface="Times New Roman" panose="02020603050405020304" pitchFamily="18" charset="0"/>
              </a:rPr>
              <a:t>50000</a:t>
            </a:r>
            <a:r>
              <a:rPr lang="zh-CN" altLang="en-US" sz="3000" dirty="0">
                <a:effectLst>
                  <a:outerShdw blurRad="38100" dist="38100" dir="2700000" algn="tl">
                    <a:srgbClr val="C0C0C0"/>
                  </a:outerShdw>
                </a:effectLst>
                <a:latin typeface="Times New Roman" panose="02020603050405020304" pitchFamily="18" charset="0"/>
              </a:rPr>
              <a:t>次。定时器的初值应设置为：</a:t>
            </a:r>
            <a:r>
              <a:rPr lang="en-US" altLang="zh-CN" sz="3000" dirty="0">
                <a:effectLst>
                  <a:outerShdw blurRad="38100" dist="38100" dir="2700000" algn="tl">
                    <a:srgbClr val="C0C0C0"/>
                  </a:outerShdw>
                </a:effectLst>
                <a:latin typeface="Times New Roman" panose="02020603050405020304" pitchFamily="18" charset="0"/>
              </a:rPr>
              <a:t>      </a:t>
            </a:r>
          </a:p>
        </p:txBody>
      </p:sp>
      <p:sp>
        <p:nvSpPr>
          <p:cNvPr id="63495" name="Text Box 7"/>
          <p:cNvSpPr txBox="1">
            <a:spLocks noChangeArrowheads="1"/>
          </p:cNvSpPr>
          <p:nvPr/>
        </p:nvSpPr>
        <p:spPr bwMode="auto">
          <a:xfrm>
            <a:off x="1403350" y="4437063"/>
            <a:ext cx="6264275" cy="554037"/>
          </a:xfrm>
          <a:prstGeom prst="rect">
            <a:avLst/>
          </a:prstGeom>
          <a:noFill/>
          <a:ln>
            <a:noFill/>
          </a:ln>
          <a:effectLst/>
        </p:spPr>
        <p:txBody>
          <a:bodyPr>
            <a:spAutoFit/>
          </a:bodyPr>
          <a:lstStyle/>
          <a:p>
            <a:pPr eaLnBrk="1" hangingPunct="1">
              <a:spcBef>
                <a:spcPct val="50000"/>
              </a:spcBef>
              <a:defRPr/>
            </a:pPr>
            <a:r>
              <a:rPr lang="en-US" altLang="zh-CN" sz="3000" dirty="0">
                <a:solidFill>
                  <a:srgbClr val="FF0000"/>
                </a:solidFill>
                <a:effectLst>
                  <a:outerShdw blurRad="38100" dist="38100" dir="2700000" algn="tl">
                    <a:srgbClr val="C0C0C0"/>
                  </a:outerShdw>
                </a:effectLst>
                <a:latin typeface="Times New Roman" panose="02020603050405020304" pitchFamily="18" charset="0"/>
              </a:rPr>
              <a:t>C=65536-50000</a:t>
            </a:r>
            <a:r>
              <a:rPr lang="zh-CN" altLang="en-US" sz="3000" dirty="0">
                <a:solidFill>
                  <a:srgbClr val="FF0000"/>
                </a:solidFill>
                <a:effectLst>
                  <a:outerShdw blurRad="38100" dist="38100" dir="2700000" algn="tl">
                    <a:srgbClr val="C0C0C0"/>
                  </a:outerShdw>
                </a:effectLst>
                <a:latin typeface="Times New Roman" panose="02020603050405020304" pitchFamily="18" charset="0"/>
              </a:rPr>
              <a:t>＝</a:t>
            </a:r>
            <a:r>
              <a:rPr lang="en-US" altLang="zh-CN" sz="3000" dirty="0">
                <a:solidFill>
                  <a:srgbClr val="FF0000"/>
                </a:solidFill>
                <a:effectLst>
                  <a:outerShdw blurRad="38100" dist="38100" dir="2700000" algn="tl">
                    <a:srgbClr val="C0C0C0"/>
                  </a:outerShdw>
                </a:effectLst>
                <a:latin typeface="Times New Roman" panose="02020603050405020304" pitchFamily="18" charset="0"/>
              </a:rPr>
              <a:t>15536</a:t>
            </a:r>
            <a:r>
              <a:rPr lang="zh-CN" altLang="en-US" sz="3000" dirty="0">
                <a:solidFill>
                  <a:srgbClr val="FF0000"/>
                </a:solidFill>
                <a:effectLst>
                  <a:outerShdw blurRad="38100" dist="38100" dir="2700000" algn="tl">
                    <a:srgbClr val="C0C0C0"/>
                  </a:outerShdw>
                </a:effectLst>
                <a:latin typeface="Times New Roman" panose="02020603050405020304" pitchFamily="18" charset="0"/>
              </a:rPr>
              <a:t>＝</a:t>
            </a:r>
            <a:r>
              <a:rPr lang="en-US" altLang="zh-CN" sz="3000" dirty="0">
                <a:solidFill>
                  <a:srgbClr val="FF0000"/>
                </a:solidFill>
                <a:effectLst>
                  <a:outerShdw blurRad="38100" dist="38100" dir="2700000" algn="tl">
                    <a:srgbClr val="C0C0C0"/>
                  </a:outerShdw>
                </a:effectLst>
                <a:latin typeface="Times New Roman" panose="02020603050405020304" pitchFamily="18" charset="0"/>
              </a:rPr>
              <a:t>0x3CB0</a:t>
            </a:r>
          </a:p>
        </p:txBody>
      </p:sp>
      <p:sp>
        <p:nvSpPr>
          <p:cNvPr id="63496" name="Text Box 8"/>
          <p:cNvSpPr txBox="1">
            <a:spLocks noChangeArrowheads="1"/>
          </p:cNvSpPr>
          <p:nvPr/>
        </p:nvSpPr>
        <p:spPr bwMode="auto">
          <a:xfrm>
            <a:off x="1403350" y="5084763"/>
            <a:ext cx="4895850" cy="1015663"/>
          </a:xfrm>
          <a:prstGeom prst="rect">
            <a:avLst/>
          </a:prstGeom>
          <a:noFill/>
          <a:ln>
            <a:noFill/>
          </a:ln>
          <a:effectLst/>
        </p:spPr>
        <p:txBody>
          <a:bodyPr>
            <a:spAutoFit/>
          </a:bodyPr>
          <a:lstStyle/>
          <a:p>
            <a:pPr eaLnBrk="1" hangingPunct="1">
              <a:spcBef>
                <a:spcPct val="50000"/>
              </a:spcBef>
              <a:defRPr/>
            </a:pPr>
            <a:r>
              <a:rPr lang="en-US" altLang="zh-CN" sz="3000" dirty="0">
                <a:solidFill>
                  <a:srgbClr val="0000FF"/>
                </a:solidFill>
                <a:effectLst>
                  <a:outerShdw blurRad="38100" dist="38100" dir="2700000" algn="tl">
                    <a:srgbClr val="C0C0C0"/>
                  </a:outerShdw>
                </a:effectLst>
                <a:latin typeface="Times New Roman" panose="02020603050405020304" pitchFamily="18" charset="0"/>
              </a:rPr>
              <a:t>TH0=</a:t>
            </a:r>
            <a:r>
              <a:rPr lang="en-US" altLang="zh-CN" sz="3000" dirty="0">
                <a:solidFill>
                  <a:srgbClr val="0000FF"/>
                </a:solidFill>
                <a:effectLst>
                  <a:outerShdw blurRad="38100" dist="38100" dir="2700000" algn="tl">
                    <a:srgbClr val="C0C0C0"/>
                  </a:outerShdw>
                </a:effectLst>
                <a:highlight>
                  <a:srgbClr val="FFFF00"/>
                </a:highlight>
                <a:latin typeface="Times New Roman" panose="02020603050405020304" pitchFamily="18" charset="0"/>
              </a:rPr>
              <a:t>15536/256</a:t>
            </a:r>
            <a:r>
              <a:rPr lang="en-US" altLang="zh-CN" sz="3000" dirty="0">
                <a:solidFill>
                  <a:srgbClr val="0000FF"/>
                </a:solidFill>
                <a:effectLst>
                  <a:outerShdw blurRad="38100" dist="38100" dir="2700000" algn="tl">
                    <a:srgbClr val="C0C0C0"/>
                  </a:outerShdw>
                </a:effectLst>
                <a:latin typeface="Times New Roman" panose="02020603050405020304" pitchFamily="18" charset="0"/>
              </a:rPr>
              <a:t>=0x3C     TL0=</a:t>
            </a:r>
            <a:r>
              <a:rPr lang="en-US" altLang="zh-CN" sz="3000" dirty="0">
                <a:solidFill>
                  <a:srgbClr val="0000FF"/>
                </a:solidFill>
                <a:effectLst>
                  <a:outerShdw blurRad="38100" dist="38100" dir="2700000" algn="tl">
                    <a:srgbClr val="C0C0C0"/>
                  </a:outerShdw>
                </a:effectLst>
                <a:highlight>
                  <a:srgbClr val="FFC715"/>
                </a:highlight>
                <a:latin typeface="Times New Roman" panose="02020603050405020304" pitchFamily="18" charset="0"/>
              </a:rPr>
              <a:t>15536%256</a:t>
            </a:r>
            <a:r>
              <a:rPr lang="en-US" altLang="zh-CN" sz="3000" dirty="0">
                <a:solidFill>
                  <a:srgbClr val="0000FF"/>
                </a:solidFill>
                <a:effectLst>
                  <a:outerShdw blurRad="38100" dist="38100" dir="2700000" algn="tl">
                    <a:srgbClr val="C0C0C0"/>
                  </a:outerShdw>
                </a:effectLst>
                <a:latin typeface="Times New Roman" panose="02020603050405020304" pitchFamily="18" charset="0"/>
              </a:rPr>
              <a:t>=0xB0</a:t>
            </a:r>
          </a:p>
        </p:txBody>
      </p:sp>
      <p:sp>
        <p:nvSpPr>
          <p:cNvPr id="63497" name="Text Box 9"/>
          <p:cNvSpPr txBox="1">
            <a:spLocks noChangeArrowheads="1"/>
          </p:cNvSpPr>
          <p:nvPr/>
        </p:nvSpPr>
        <p:spPr bwMode="auto">
          <a:xfrm>
            <a:off x="1979613" y="1844675"/>
            <a:ext cx="6481762" cy="554038"/>
          </a:xfrm>
          <a:prstGeom prst="rect">
            <a:avLst/>
          </a:prstGeom>
          <a:noFill/>
          <a:ln>
            <a:noFill/>
          </a:ln>
          <a:effectLst/>
        </p:spPr>
        <p:txBody>
          <a:bodyPr>
            <a:spAutoFit/>
          </a:bodyPr>
          <a:lstStyle/>
          <a:p>
            <a:pPr eaLnBrk="1" hangingPunct="1">
              <a:spcBef>
                <a:spcPct val="30000"/>
              </a:spcBef>
              <a:defRPr/>
            </a:pPr>
            <a:r>
              <a:rPr lang="en-US" altLang="zh-CN" sz="3000" dirty="0">
                <a:effectLst>
                  <a:outerShdw blurRad="38100" dist="38100" dir="2700000" algn="tl">
                    <a:srgbClr val="C0C0C0"/>
                  </a:outerShdw>
                </a:effectLst>
                <a:latin typeface="Times New Roman" panose="02020603050405020304" pitchFamily="18" charset="0"/>
              </a:rPr>
              <a:t>TMOD</a:t>
            </a: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0x01   </a:t>
            </a:r>
            <a:r>
              <a:rPr lang="en-US" altLang="zh-CN" sz="3000" dirty="0">
                <a:solidFill>
                  <a:srgbClr val="00B050"/>
                </a:solidFill>
                <a:effectLst>
                  <a:outerShdw blurRad="38100" dist="38100" dir="2700000" algn="tl">
                    <a:srgbClr val="C0C0C0"/>
                  </a:outerShdw>
                </a:effectLst>
                <a:latin typeface="Times New Roman" panose="02020603050405020304" pitchFamily="18" charset="0"/>
              </a:rPr>
              <a:t>//XXXX 0001B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3497"/>
                                        </p:tgtEl>
                                        <p:attrNameLst>
                                          <p:attrName>style.visibility</p:attrName>
                                        </p:attrNameLst>
                                      </p:cBhvr>
                                      <p:to>
                                        <p:strVal val="visible"/>
                                      </p:to>
                                    </p:set>
                                    <p:animEffect transition="in" filter="checkerboard(across)">
                                      <p:cBhvr>
                                        <p:cTn id="7" dur="500"/>
                                        <p:tgtEl>
                                          <p:spTgt spid="6349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3494"/>
                                        </p:tgtEl>
                                        <p:attrNameLst>
                                          <p:attrName>style.visibility</p:attrName>
                                        </p:attrNameLst>
                                      </p:cBhvr>
                                      <p:to>
                                        <p:strVal val="visible"/>
                                      </p:to>
                                    </p:set>
                                    <p:animEffect transition="in" filter="checkerboard(across)">
                                      <p:cBhvr>
                                        <p:cTn id="12" dur="500"/>
                                        <p:tgtEl>
                                          <p:spTgt spid="6349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3495"/>
                                        </p:tgtEl>
                                        <p:attrNameLst>
                                          <p:attrName>style.visibility</p:attrName>
                                        </p:attrNameLst>
                                      </p:cBhvr>
                                      <p:to>
                                        <p:strVal val="visible"/>
                                      </p:to>
                                    </p:set>
                                    <p:animEffect transition="in" filter="dissolve">
                                      <p:cBhvr>
                                        <p:cTn id="17" dur="500"/>
                                        <p:tgtEl>
                                          <p:spTgt spid="6349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3496"/>
                                        </p:tgtEl>
                                        <p:attrNameLst>
                                          <p:attrName>style.visibility</p:attrName>
                                        </p:attrNameLst>
                                      </p:cBhvr>
                                      <p:to>
                                        <p:strVal val="visible"/>
                                      </p:to>
                                    </p:set>
                                    <p:animEffect transition="in" filter="box(in)">
                                      <p:cBhvr>
                                        <p:cTn id="22" dur="500"/>
                                        <p:tgtEl>
                                          <p:spTgt spid="63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4" grpId="0"/>
      <p:bldP spid="63495" grpId="0"/>
      <p:bldP spid="63496" grpId="0"/>
      <p:bldP spid="634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5AF347-A83D-4ACF-B829-C6230AFBD0FD}" type="slidenum">
              <a:rPr lang="zh-CN" altLang="en-US" smtClean="0"/>
              <a:t>12</a:t>
            </a:fld>
            <a:endParaRPr lang="en-US" altLang="zh-CN"/>
          </a:p>
        </p:txBody>
      </p:sp>
      <p:sp>
        <p:nvSpPr>
          <p:cNvPr id="3" name="Text Box 4"/>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solidFill>
                  <a:srgbClr val="FF0000"/>
                </a:solidFill>
                <a:effectLst>
                  <a:outerShdw blurRad="38100" dist="38100" dir="2700000" algn="tl">
                    <a:srgbClr val="C0C0C0"/>
                  </a:outerShdw>
                </a:effectLst>
                <a:latin typeface="Times New Roman" panose="02020603050405020304" pitchFamily="18" charset="0"/>
              </a:rPr>
              <a:t>（</a:t>
            </a:r>
            <a:r>
              <a:rPr lang="en-US" altLang="zh-CN" sz="3000" dirty="0">
                <a:solidFill>
                  <a:srgbClr val="FF0000"/>
                </a:solidFill>
                <a:effectLst>
                  <a:outerShdw blurRad="38100" dist="38100" dir="2700000" algn="tl">
                    <a:srgbClr val="C0C0C0"/>
                  </a:outerShdw>
                </a:effectLst>
                <a:latin typeface="Times New Roman" panose="02020603050405020304" pitchFamily="18" charset="0"/>
              </a:rPr>
              <a:t>1</a:t>
            </a:r>
            <a:r>
              <a:rPr lang="zh-CN" altLang="en-US" sz="3000" dirty="0">
                <a:solidFill>
                  <a:srgbClr val="FF0000"/>
                </a:solidFill>
                <a:effectLst>
                  <a:outerShdw blurRad="38100" dist="38100" dir="2700000" algn="tl">
                    <a:srgbClr val="C0C0C0"/>
                  </a:outerShdw>
                </a:effectLst>
                <a:latin typeface="Times New Roman" panose="02020603050405020304" pitchFamily="18" charset="0"/>
              </a:rPr>
              <a:t>）查询法</a:t>
            </a:r>
          </a:p>
        </p:txBody>
      </p:sp>
      <p:sp>
        <p:nvSpPr>
          <p:cNvPr id="4" name="Text Box 5"/>
          <p:cNvSpPr txBox="1">
            <a:spLocks noChangeArrowheads="1"/>
          </p:cNvSpPr>
          <p:nvPr/>
        </p:nvSpPr>
        <p:spPr bwMode="auto">
          <a:xfrm>
            <a:off x="842368" y="1854200"/>
            <a:ext cx="7561262" cy="2160591"/>
          </a:xfrm>
          <a:prstGeom prst="rect">
            <a:avLst/>
          </a:prstGeom>
          <a:noFill/>
          <a:ln>
            <a:noFill/>
          </a:ln>
          <a:effectLst/>
        </p:spPr>
        <p:txBody>
          <a:bodyPr>
            <a:spAutoFit/>
          </a:bodyPr>
          <a:lstStyle/>
          <a:p>
            <a:pPr eaLnBrk="1" hangingPunct="1">
              <a:lnSpc>
                <a:spcPct val="120000"/>
              </a:lnSpc>
              <a:spcBef>
                <a:spcPct val="40000"/>
              </a:spcBef>
              <a:defRPr/>
            </a:pPr>
            <a:r>
              <a:rPr lang="zh-CN" altLang="en-US" dirty="0">
                <a:effectLst>
                  <a:outerShdw blurRad="38100" dist="38100" dir="2700000" algn="tl">
                    <a:srgbClr val="C0C0C0"/>
                  </a:outerShdw>
                </a:effectLst>
                <a:latin typeface="Times New Roman" panose="02020603050405020304" pitchFamily="18" charset="0"/>
              </a:rPr>
              <a:t>      以软件方式，</a:t>
            </a:r>
            <a:r>
              <a:rPr lang="en-US" altLang="zh-CN" dirty="0">
                <a:effectLst>
                  <a:outerShdw blurRad="38100" dist="38100" dir="2700000" algn="tl">
                    <a:srgbClr val="C0C0C0"/>
                  </a:outerShdw>
                </a:effectLst>
                <a:latin typeface="Times New Roman" panose="02020603050405020304" pitchFamily="18" charset="0"/>
              </a:rPr>
              <a:t>CPU</a:t>
            </a:r>
            <a:r>
              <a:rPr lang="zh-CN" altLang="en-US" dirty="0">
                <a:effectLst>
                  <a:outerShdw blurRad="38100" dist="38100" dir="2700000" algn="tl">
                    <a:srgbClr val="C0C0C0"/>
                  </a:outerShdw>
                </a:effectLst>
                <a:latin typeface="Times New Roman" panose="02020603050405020304" pitchFamily="18" charset="0"/>
              </a:rPr>
              <a:t>检查</a:t>
            </a:r>
            <a:r>
              <a:rPr lang="en-US" altLang="zh-CN" dirty="0" err="1">
                <a:effectLst>
                  <a:outerShdw blurRad="38100" dist="38100" dir="2700000" algn="tl">
                    <a:srgbClr val="C0C0C0"/>
                  </a:outerShdw>
                </a:effectLst>
                <a:latin typeface="Times New Roman" panose="02020603050405020304" pitchFamily="18" charset="0"/>
              </a:rPr>
              <a:t>TFx</a:t>
            </a:r>
            <a:r>
              <a:rPr lang="zh-CN" altLang="en-US" dirty="0">
                <a:effectLst>
                  <a:outerShdw blurRad="38100" dist="38100" dir="2700000" algn="tl">
                    <a:srgbClr val="C0C0C0"/>
                  </a:outerShdw>
                </a:effectLst>
                <a:latin typeface="Times New Roman" panose="02020603050405020304" pitchFamily="18" charset="0"/>
              </a:rPr>
              <a:t>状态，若不为</a:t>
            </a:r>
            <a:r>
              <a:rPr lang="en-US" altLang="zh-CN" dirty="0">
                <a:effectLst>
                  <a:outerShdw blurRad="38100" dist="38100" dir="2700000" algn="tl">
                    <a:srgbClr val="C0C0C0"/>
                  </a:outerShdw>
                </a:effectLst>
                <a:latin typeface="Times New Roman" panose="02020603050405020304" pitchFamily="18" charset="0"/>
              </a:rPr>
              <a:t>1</a:t>
            </a:r>
            <a:r>
              <a:rPr lang="zh-CN" altLang="en-US" dirty="0">
                <a:effectLst>
                  <a:outerShdw blurRad="38100" dist="38100" dir="2700000" algn="tl">
                    <a:srgbClr val="C0C0C0"/>
                  </a:outerShdw>
                </a:effectLst>
                <a:latin typeface="Times New Roman" panose="02020603050405020304" pitchFamily="18" charset="0"/>
              </a:rPr>
              <a:t>，则继续读取</a:t>
            </a:r>
            <a:r>
              <a:rPr lang="en-US" altLang="zh-CN" dirty="0" err="1">
                <a:effectLst>
                  <a:outerShdw blurRad="38100" dist="38100" dir="2700000" algn="tl">
                    <a:srgbClr val="C0C0C0"/>
                  </a:outerShdw>
                </a:effectLst>
                <a:latin typeface="Times New Roman" panose="02020603050405020304" pitchFamily="18" charset="0"/>
              </a:rPr>
              <a:t>TFx</a:t>
            </a:r>
            <a:r>
              <a:rPr lang="zh-CN" altLang="en-US" dirty="0">
                <a:effectLst>
                  <a:outerShdw blurRad="38100" dist="38100" dir="2700000" algn="tl">
                    <a:srgbClr val="C0C0C0"/>
                  </a:outerShdw>
                </a:effectLst>
                <a:latin typeface="Times New Roman" panose="02020603050405020304" pitchFamily="18" charset="0"/>
              </a:rPr>
              <a:t>并测试其状态；若为</a:t>
            </a:r>
            <a:r>
              <a:rPr lang="en-US" altLang="zh-CN" dirty="0">
                <a:effectLst>
                  <a:outerShdw blurRad="38100" dist="38100" dir="2700000" algn="tl">
                    <a:srgbClr val="C0C0C0"/>
                  </a:outerShdw>
                </a:effectLst>
                <a:latin typeface="Times New Roman" panose="02020603050405020304" pitchFamily="18" charset="0"/>
              </a:rPr>
              <a:t>1</a:t>
            </a:r>
            <a:r>
              <a:rPr lang="zh-CN" altLang="en-US" dirty="0">
                <a:effectLst>
                  <a:outerShdw blurRad="38100" dist="38100" dir="2700000" algn="tl">
                    <a:srgbClr val="C0C0C0"/>
                  </a:outerShdw>
                </a:effectLst>
                <a:latin typeface="Times New Roman" panose="02020603050405020304" pitchFamily="18" charset="0"/>
              </a:rPr>
              <a:t>，说明计数器已满，产生溢出。由软件复位</a:t>
            </a:r>
            <a:r>
              <a:rPr lang="en-US" altLang="zh-CN" dirty="0" err="1">
                <a:effectLst>
                  <a:outerShdw blurRad="38100" dist="38100" dir="2700000" algn="tl">
                    <a:srgbClr val="C0C0C0"/>
                  </a:outerShdw>
                </a:effectLst>
                <a:latin typeface="Times New Roman" panose="02020603050405020304" pitchFamily="18" charset="0"/>
              </a:rPr>
              <a:t>TFx</a:t>
            </a:r>
            <a:r>
              <a:rPr lang="zh-CN" altLang="en-US" dirty="0">
                <a:effectLst>
                  <a:outerShdw blurRad="38100" dist="38100" dir="2700000" algn="tl">
                    <a:srgbClr val="C0C0C0"/>
                  </a:outerShdw>
                </a:effectLst>
                <a:latin typeface="Times New Roman" panose="02020603050405020304" pitchFamily="18" charset="0"/>
              </a:rPr>
              <a:t>。重置计数初值。</a:t>
            </a:r>
          </a:p>
        </p:txBody>
      </p:sp>
      <p:sp>
        <p:nvSpPr>
          <p:cNvPr id="5" name="Text Box 4"/>
          <p:cNvSpPr txBox="1">
            <a:spLocks noChangeArrowheads="1"/>
          </p:cNvSpPr>
          <p:nvPr/>
        </p:nvSpPr>
        <p:spPr bwMode="auto">
          <a:xfrm>
            <a:off x="791369" y="657226"/>
            <a:ext cx="7561262" cy="579437"/>
          </a:xfrm>
          <a:prstGeom prst="rect">
            <a:avLst/>
          </a:prstGeom>
          <a:noFill/>
          <a:ln>
            <a:noFill/>
          </a:ln>
          <a:effectLst/>
        </p:spPr>
        <p:txBody>
          <a:bodyPr>
            <a:spAutoFit/>
          </a:bodyPr>
          <a:lstStyle/>
          <a:p>
            <a:pPr eaLnBrk="1" hangingPunct="1">
              <a:spcBef>
                <a:spcPct val="30000"/>
              </a:spcBef>
              <a:defRPr/>
            </a:pPr>
            <a:r>
              <a:rPr lang="en-US" altLang="zh-CN" sz="3200"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2. </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程序设计方法</a:t>
            </a:r>
          </a:p>
        </p:txBody>
      </p:sp>
      <p:sp>
        <p:nvSpPr>
          <p:cNvPr id="6" name="Text Box 4"/>
          <p:cNvSpPr txBox="1">
            <a:spLocks noChangeArrowheads="1"/>
          </p:cNvSpPr>
          <p:nvPr/>
        </p:nvSpPr>
        <p:spPr bwMode="auto">
          <a:xfrm>
            <a:off x="838205" y="4015469"/>
            <a:ext cx="7561262" cy="554037"/>
          </a:xfrm>
          <a:prstGeom prst="rect">
            <a:avLst/>
          </a:prstGeom>
          <a:noFill/>
          <a:ln>
            <a:noFill/>
          </a:ln>
          <a:effectLst/>
        </p:spPr>
        <p:txBody>
          <a:bodyPr>
            <a:spAutoFit/>
          </a:bodyPr>
          <a:lstStyle/>
          <a:p>
            <a:pPr eaLnBrk="1" hangingPunct="1">
              <a:spcBef>
                <a:spcPct val="30000"/>
              </a:spcBef>
              <a:defRPr/>
            </a:pPr>
            <a:r>
              <a:rPr lang="zh-CN" altLang="en-US" sz="3000" dirty="0">
                <a:solidFill>
                  <a:srgbClr val="FF0000"/>
                </a:solidFill>
                <a:effectLst>
                  <a:outerShdw blurRad="38100" dist="38100" dir="2700000" algn="tl">
                    <a:srgbClr val="C0C0C0"/>
                  </a:outerShdw>
                </a:effectLst>
                <a:latin typeface="Times New Roman" panose="02020603050405020304" pitchFamily="18" charset="0"/>
              </a:rPr>
              <a:t>（</a:t>
            </a:r>
            <a:r>
              <a:rPr lang="en-US" altLang="zh-CN" sz="3000" dirty="0">
                <a:solidFill>
                  <a:srgbClr val="FF0000"/>
                </a:solidFill>
                <a:effectLst>
                  <a:outerShdw blurRad="38100" dist="38100" dir="2700000" algn="tl">
                    <a:srgbClr val="C0C0C0"/>
                  </a:outerShdw>
                </a:effectLst>
                <a:latin typeface="Times New Roman" panose="02020603050405020304" pitchFamily="18" charset="0"/>
              </a:rPr>
              <a:t>2</a:t>
            </a:r>
            <a:r>
              <a:rPr lang="zh-CN" altLang="en-US" sz="3000" dirty="0">
                <a:solidFill>
                  <a:srgbClr val="FF0000"/>
                </a:solidFill>
                <a:effectLst>
                  <a:outerShdw blurRad="38100" dist="38100" dir="2700000" algn="tl">
                    <a:srgbClr val="C0C0C0"/>
                  </a:outerShdw>
                </a:effectLst>
                <a:latin typeface="Times New Roman" panose="02020603050405020304" pitchFamily="18" charset="0"/>
              </a:rPr>
              <a:t>）中断法</a:t>
            </a:r>
          </a:p>
        </p:txBody>
      </p:sp>
      <p:sp>
        <p:nvSpPr>
          <p:cNvPr id="7" name="Text Box 5"/>
          <p:cNvSpPr txBox="1">
            <a:spLocks noChangeArrowheads="1"/>
          </p:cNvSpPr>
          <p:nvPr/>
        </p:nvSpPr>
        <p:spPr bwMode="auto">
          <a:xfrm>
            <a:off x="853485" y="4601256"/>
            <a:ext cx="7561262" cy="1643527"/>
          </a:xfrm>
          <a:prstGeom prst="rect">
            <a:avLst/>
          </a:prstGeom>
          <a:noFill/>
          <a:ln>
            <a:noFill/>
          </a:ln>
          <a:effectLst/>
        </p:spPr>
        <p:txBody>
          <a:bodyPr>
            <a:spAutoFit/>
          </a:bodyPr>
          <a:lstStyle/>
          <a:p>
            <a:pPr eaLnBrk="1" hangingPunct="1">
              <a:lnSpc>
                <a:spcPct val="120000"/>
              </a:lnSpc>
              <a:spcBef>
                <a:spcPct val="40000"/>
              </a:spcBef>
              <a:defRPr/>
            </a:pPr>
            <a:r>
              <a:rPr lang="zh-CN" altLang="en-US" dirty="0">
                <a:effectLst>
                  <a:outerShdw blurRad="38100" dist="38100" dir="2700000" algn="tl">
                    <a:srgbClr val="C0C0C0"/>
                  </a:outerShdw>
                </a:effectLst>
                <a:latin typeface="Times New Roman" panose="02020603050405020304" pitchFamily="18" charset="0"/>
              </a:rPr>
              <a:t>      由系统自动检查</a:t>
            </a:r>
            <a:r>
              <a:rPr lang="en-US" altLang="zh-CN" dirty="0" err="1">
                <a:effectLst>
                  <a:outerShdw blurRad="38100" dist="38100" dir="2700000" algn="tl">
                    <a:srgbClr val="C0C0C0"/>
                  </a:outerShdw>
                </a:effectLst>
                <a:latin typeface="Times New Roman" panose="02020603050405020304" pitchFamily="18" charset="0"/>
              </a:rPr>
              <a:t>TFx</a:t>
            </a:r>
            <a:r>
              <a:rPr lang="zh-CN" altLang="en-US" dirty="0">
                <a:effectLst>
                  <a:outerShdw blurRad="38100" dist="38100" dir="2700000" algn="tl">
                    <a:srgbClr val="C0C0C0"/>
                  </a:outerShdw>
                </a:effectLst>
                <a:latin typeface="Times New Roman" panose="02020603050405020304" pitchFamily="18" charset="0"/>
              </a:rPr>
              <a:t>状态，当为</a:t>
            </a:r>
            <a:r>
              <a:rPr lang="en-US" altLang="zh-CN" dirty="0">
                <a:effectLst>
                  <a:outerShdw blurRad="38100" dist="38100" dir="2700000" algn="tl">
                    <a:srgbClr val="C0C0C0"/>
                  </a:outerShdw>
                </a:effectLst>
                <a:latin typeface="Times New Roman" panose="02020603050405020304" pitchFamily="18" charset="0"/>
              </a:rPr>
              <a:t>1</a:t>
            </a:r>
            <a:r>
              <a:rPr lang="zh-CN" altLang="en-US" dirty="0">
                <a:effectLst>
                  <a:outerShdw blurRad="38100" dist="38100" dir="2700000" algn="tl">
                    <a:srgbClr val="C0C0C0"/>
                  </a:outerShdw>
                </a:effectLst>
                <a:latin typeface="Times New Roman" panose="02020603050405020304" pitchFamily="18" charset="0"/>
              </a:rPr>
              <a:t>时，说明计数器已满，产生溢出。由硬件自动复位</a:t>
            </a:r>
            <a:r>
              <a:rPr lang="en-US" altLang="zh-CN" dirty="0" err="1">
                <a:effectLst>
                  <a:outerShdw blurRad="38100" dist="38100" dir="2700000" algn="tl">
                    <a:srgbClr val="C0C0C0"/>
                  </a:outerShdw>
                </a:effectLst>
                <a:latin typeface="Times New Roman" panose="02020603050405020304" pitchFamily="18" charset="0"/>
              </a:rPr>
              <a:t>TFx</a:t>
            </a:r>
            <a:r>
              <a:rPr lang="zh-CN" altLang="en-US" dirty="0">
                <a:effectLst>
                  <a:outerShdw blurRad="38100" dist="38100" dir="2700000" algn="tl">
                    <a:srgbClr val="C0C0C0"/>
                  </a:outerShdw>
                </a:effectLst>
                <a:latin typeface="Times New Roman" panose="02020603050405020304" pitchFamily="18" charset="0"/>
              </a:rPr>
              <a:t>。重置计数初值。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3E56EDC-12ED-47AA-AA3D-555347A95CE6}" type="slidenum">
              <a:rPr lang="zh-CN" altLang="en-US" sz="1400"/>
              <a:t>13</a:t>
            </a:fld>
            <a:endParaRPr lang="en-US" altLang="zh-CN" sz="1400"/>
          </a:p>
        </p:txBody>
      </p:sp>
      <p:sp>
        <p:nvSpPr>
          <p:cNvPr id="64516" name="Text Box 4"/>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）查询方式的实现</a:t>
            </a:r>
          </a:p>
        </p:txBody>
      </p:sp>
      <p:sp>
        <p:nvSpPr>
          <p:cNvPr id="64517" name="Text Box 5"/>
          <p:cNvSpPr txBox="1">
            <a:spLocks noChangeArrowheads="1"/>
          </p:cNvSpPr>
          <p:nvPr/>
        </p:nvSpPr>
        <p:spPr bwMode="auto">
          <a:xfrm>
            <a:off x="827088" y="2060575"/>
            <a:ext cx="7561262" cy="2993961"/>
          </a:xfrm>
          <a:prstGeom prst="rect">
            <a:avLst/>
          </a:prstGeom>
          <a:noFill/>
          <a:ln>
            <a:noFill/>
          </a:ln>
          <a:effectLst/>
        </p:spPr>
        <p:txBody>
          <a:bodyPr>
            <a:spAutoFit/>
          </a:bodyPr>
          <a:lstStyle/>
          <a:p>
            <a:pPr eaLnBrk="1" hangingPunct="1">
              <a:lnSpc>
                <a:spcPct val="120000"/>
              </a:lnSpc>
              <a:spcBef>
                <a:spcPct val="40000"/>
              </a:spcBef>
              <a:defRPr/>
            </a:pPr>
            <a:r>
              <a:rPr lang="zh-CN" altLang="en-US" sz="3000" dirty="0">
                <a:effectLst>
                  <a:outerShdw blurRad="38100" dist="38100" dir="2700000" algn="tl">
                    <a:srgbClr val="C0C0C0"/>
                  </a:outerShdw>
                </a:effectLst>
                <a:latin typeface="Times New Roman" panose="02020603050405020304" pitchFamily="18" charset="0"/>
              </a:rPr>
              <a:t>      定时器</a:t>
            </a:r>
            <a:r>
              <a:rPr lang="en-US" altLang="zh-CN" sz="3000" dirty="0">
                <a:effectLst>
                  <a:outerShdw blurRad="38100" dist="38100" dir="2700000" algn="tl">
                    <a:srgbClr val="C0C0C0"/>
                  </a:outerShdw>
                </a:effectLst>
                <a:latin typeface="Times New Roman" panose="02020603050405020304" pitchFamily="18" charset="0"/>
              </a:rPr>
              <a:t>T0</a:t>
            </a:r>
            <a:r>
              <a:rPr lang="zh-CN" altLang="en-US" sz="3000" dirty="0">
                <a:effectLst>
                  <a:outerShdw blurRad="38100" dist="38100" dir="2700000" algn="tl">
                    <a:srgbClr val="C0C0C0"/>
                  </a:outerShdw>
                </a:effectLst>
                <a:latin typeface="Times New Roman" panose="02020603050405020304" pitchFamily="18" charset="0"/>
              </a:rPr>
              <a:t>开始工作后，通过软件编程让单片机不断查询溢出标志位</a:t>
            </a:r>
            <a:r>
              <a:rPr lang="en-US" altLang="zh-CN" sz="3000" dirty="0">
                <a:effectLst>
                  <a:outerShdw blurRad="38100" dist="38100" dir="2700000" algn="tl">
                    <a:srgbClr val="C0C0C0"/>
                  </a:outerShdw>
                </a:effectLst>
                <a:latin typeface="Times New Roman" panose="02020603050405020304" pitchFamily="18" charset="0"/>
              </a:rPr>
              <a:t>TF0</a:t>
            </a:r>
            <a:r>
              <a:rPr lang="zh-CN" altLang="en-US" sz="3000" dirty="0">
                <a:effectLst>
                  <a:outerShdw blurRad="38100" dist="38100" dir="2700000" algn="tl">
                    <a:srgbClr val="C0C0C0"/>
                  </a:outerShdw>
                </a:effectLst>
                <a:latin typeface="Times New Roman" panose="02020603050405020304" pitchFamily="18" charset="0"/>
              </a:rPr>
              <a:t>是否为“</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。为“</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表示计时时间到；否则，等待。</a:t>
            </a:r>
            <a:endParaRPr lang="en-US" altLang="zh-CN" sz="3000" dirty="0">
              <a:effectLst>
                <a:outerShdw blurRad="38100" dist="38100" dir="2700000" algn="tl">
                  <a:srgbClr val="C0C0C0"/>
                </a:outerShdw>
              </a:effectLst>
              <a:latin typeface="Times New Roman" panose="02020603050405020304" pitchFamily="18" charset="0"/>
            </a:endParaRPr>
          </a:p>
          <a:p>
            <a:pPr eaLnBrk="1" hangingPunct="1">
              <a:lnSpc>
                <a:spcPct val="120000"/>
              </a:lnSpc>
              <a:spcBef>
                <a:spcPct val="40000"/>
              </a:spcBef>
              <a:defRPr/>
            </a:pPr>
            <a:r>
              <a:rPr lang="zh-CN" altLang="en-US" sz="3000" dirty="0">
                <a:effectLst>
                  <a:outerShdw blurRad="38100" dist="38100" dir="2700000" algn="tl">
                    <a:srgbClr val="C0C0C0"/>
                  </a:outerShdw>
                </a:effectLst>
                <a:latin typeface="Times New Roman" panose="02020603050405020304" pitchFamily="18" charset="0"/>
              </a:rPr>
              <a:t>      当</a:t>
            </a:r>
            <a:r>
              <a:rPr lang="en-US" altLang="zh-CN" sz="3000" dirty="0">
                <a:effectLst>
                  <a:outerShdw blurRad="38100" dist="38100" dir="2700000" algn="tl">
                    <a:srgbClr val="C0C0C0"/>
                  </a:outerShdw>
                </a:effectLst>
                <a:latin typeface="Times New Roman" panose="02020603050405020304" pitchFamily="18" charset="0"/>
              </a:rPr>
              <a:t>TF0</a:t>
            </a:r>
            <a:r>
              <a:rPr lang="zh-CN" altLang="en-US" sz="3000" dirty="0">
                <a:effectLst>
                  <a:outerShdw blurRad="38100" dist="38100" dir="2700000" algn="tl">
                    <a:srgbClr val="C0C0C0"/>
                  </a:outerShdw>
                </a:effectLst>
                <a:latin typeface="Times New Roman" panose="02020603050405020304" pitchFamily="18" charset="0"/>
              </a:rPr>
              <a:t>为</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时，用软件为其复位，控制</a:t>
            </a:r>
            <a:r>
              <a:rPr lang="en-US" altLang="zh-CN" sz="3000" dirty="0">
                <a:effectLst>
                  <a:outerShdw blurRad="38100" dist="38100" dir="2700000" algn="tl">
                    <a:srgbClr val="C0C0C0"/>
                  </a:outerShdw>
                </a:effectLst>
                <a:latin typeface="Times New Roman" panose="02020603050405020304" pitchFamily="18" charset="0"/>
              </a:rPr>
              <a:t>LED</a:t>
            </a:r>
            <a:r>
              <a:rPr lang="zh-CN" altLang="en-US" sz="3000" dirty="0">
                <a:effectLst>
                  <a:outerShdw blurRad="38100" dist="38100" dir="2700000" algn="tl">
                    <a:srgbClr val="C0C0C0"/>
                  </a:outerShdw>
                </a:effectLst>
                <a:latin typeface="Times New Roman" panose="02020603050405020304" pitchFamily="18" charset="0"/>
              </a:rPr>
              <a:t>灯闪烁一次，重置计数初值。</a:t>
            </a:r>
          </a:p>
        </p:txBody>
      </p:sp>
      <p:sp>
        <p:nvSpPr>
          <p:cNvPr id="5" name="Text Box 4"/>
          <p:cNvSpPr txBox="1">
            <a:spLocks noChangeArrowheads="1"/>
          </p:cNvSpPr>
          <p:nvPr/>
        </p:nvSpPr>
        <p:spPr bwMode="auto">
          <a:xfrm>
            <a:off x="791369" y="657226"/>
            <a:ext cx="7561262" cy="579437"/>
          </a:xfrm>
          <a:prstGeom prst="rect">
            <a:avLst/>
          </a:prstGeom>
          <a:noFill/>
          <a:ln>
            <a:noFill/>
          </a:ln>
          <a:effectLst/>
        </p:spPr>
        <p:txBody>
          <a:bodyPr>
            <a:spAutoFit/>
          </a:bodyPr>
          <a:lstStyle/>
          <a:p>
            <a:pPr eaLnBrk="1" hangingPunct="1">
              <a:spcBef>
                <a:spcPct val="30000"/>
              </a:spcBef>
              <a:defRPr/>
            </a:pPr>
            <a:r>
              <a:rPr lang="en-US" altLang="zh-CN" sz="3200" dirty="0">
                <a:solidFill>
                  <a:srgbClr val="0000FF"/>
                </a:solidFill>
                <a:effectLst>
                  <a:outerShdw blurRad="38100" dist="38100" dir="2700000" algn="tl">
                    <a:srgbClr val="000000">
                      <a:alpha val="43137"/>
                    </a:srgbClr>
                  </a:outerShdw>
                </a:effectLst>
                <a:latin typeface="楷体_GB2312" pitchFamily="49" charset="-122"/>
                <a:ea typeface="楷体_GB2312" pitchFamily="49" charset="-122"/>
              </a:rPr>
              <a:t>3. </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程序设计（查询式）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4517">
                                            <p:txEl>
                                              <p:pRg st="0" end="0"/>
                                            </p:txEl>
                                          </p:spTgt>
                                        </p:tgtEl>
                                        <p:attrNameLst>
                                          <p:attrName>style.visibility</p:attrName>
                                        </p:attrNameLst>
                                      </p:cBhvr>
                                      <p:to>
                                        <p:strVal val="visible"/>
                                      </p:to>
                                    </p:set>
                                    <p:animEffect transition="in" filter="randombar(horizontal)">
                                      <p:cBhvr>
                                        <p:cTn id="7" dur="500"/>
                                        <p:tgtEl>
                                          <p:spTgt spid="645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4517">
                                            <p:txEl>
                                              <p:pRg st="1" end="1"/>
                                            </p:txEl>
                                          </p:spTgt>
                                        </p:tgtEl>
                                        <p:attrNameLst>
                                          <p:attrName>style.visibility</p:attrName>
                                        </p:attrNameLst>
                                      </p:cBhvr>
                                      <p:to>
                                        <p:strVal val="visible"/>
                                      </p:to>
                                    </p:set>
                                    <p:animEffect transition="in" filter="randombar(horizontal)">
                                      <p:cBhvr>
                                        <p:cTn id="12" dur="500"/>
                                        <p:tgtEl>
                                          <p:spTgt spid="645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F1A6983-8930-420F-9D88-6A6CFBF51C6B}" type="slidenum">
              <a:rPr lang="zh-CN" altLang="en-US" sz="1400"/>
              <a:t>14</a:t>
            </a:fld>
            <a:endParaRPr lang="en-US" altLang="zh-CN" sz="1400"/>
          </a:p>
        </p:txBody>
      </p:sp>
      <p:sp>
        <p:nvSpPr>
          <p:cNvPr id="65540" name="Text Box 4"/>
          <p:cNvSpPr txBox="1">
            <a:spLocks noChangeArrowheads="1"/>
          </p:cNvSpPr>
          <p:nvPr/>
        </p:nvSpPr>
        <p:spPr bwMode="auto">
          <a:xfrm>
            <a:off x="791369" y="609601"/>
            <a:ext cx="7561262" cy="579437"/>
          </a:xfrm>
          <a:prstGeom prst="rect">
            <a:avLst/>
          </a:prstGeom>
          <a:noFill/>
          <a:ln>
            <a:noFill/>
          </a:ln>
          <a:effectLst/>
        </p:spPr>
        <p:txBody>
          <a:bodyPr>
            <a:spAutoFit/>
          </a:bodyPr>
          <a:lstStyle>
            <a:defPPr>
              <a:defRPr lang="zh-CN"/>
            </a:defPPr>
            <a:lvl1pPr eaLnBrk="1" hangingPunct="1">
              <a:spcBef>
                <a:spcPct val="30000"/>
              </a:spcBef>
              <a:defRPr sz="3200">
                <a:solidFill>
                  <a:srgbClr val="0000FF"/>
                </a:solidFill>
                <a:effectLst>
                  <a:outerShdw blurRad="38100" dist="38100" dir="2700000" algn="tl">
                    <a:srgbClr val="000000">
                      <a:alpha val="43137"/>
                    </a:srgbClr>
                  </a:outerShdw>
                </a:effectLst>
                <a:latin typeface="楷体_GB2312" pitchFamily="49" charset="-122"/>
                <a:ea typeface="楷体_GB2312" pitchFamily="49" charset="-122"/>
              </a:defRPr>
            </a:lvl1pPr>
          </a:lstStyle>
          <a:p>
            <a:r>
              <a:rPr lang="en-US" altLang="zh-CN" dirty="0">
                <a:latin typeface="楷体" panose="02010609060101010101" pitchFamily="49" charset="-122"/>
                <a:ea typeface="楷体" panose="02010609060101010101" pitchFamily="49" charset="-122"/>
              </a:rPr>
              <a:t>3. </a:t>
            </a:r>
            <a:r>
              <a:rPr lang="zh-CN" altLang="en-US" dirty="0">
                <a:latin typeface="楷体" panose="02010609060101010101" pitchFamily="49" charset="-122"/>
                <a:ea typeface="楷体" panose="02010609060101010101" pitchFamily="49" charset="-122"/>
              </a:rPr>
              <a:t>程序设计（查询式）</a:t>
            </a:r>
          </a:p>
        </p:txBody>
      </p:sp>
      <p:sp>
        <p:nvSpPr>
          <p:cNvPr id="65541" name="Text Box 5"/>
          <p:cNvSpPr txBox="1">
            <a:spLocks noChangeArrowheads="1"/>
          </p:cNvSpPr>
          <p:nvPr/>
        </p:nvSpPr>
        <p:spPr bwMode="auto">
          <a:xfrm>
            <a:off x="827088" y="1412875"/>
            <a:ext cx="3529012" cy="4324350"/>
          </a:xfrm>
          <a:prstGeom prst="rect">
            <a:avLst/>
          </a:prstGeom>
          <a:solidFill>
            <a:schemeClr val="bg1"/>
          </a:solidFill>
          <a:ln w="9525">
            <a:solidFill>
              <a:srgbClr val="0000FF"/>
            </a:solidFill>
            <a:miter lim="800000"/>
          </a:ln>
          <a:effectLst/>
        </p:spPr>
        <p:txBody>
          <a:bodyPr>
            <a:spAutoFit/>
          </a:bodyPr>
          <a:lstStyle/>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#include&lt;reg51.h&gt;</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void main(void)</a:t>
            </a:r>
          </a:p>
          <a:p>
            <a:pPr eaLnBrk="1" hangingPunct="1">
              <a:spcBef>
                <a:spcPts val="600"/>
              </a:spcBef>
              <a:defRPr/>
            </a:pPr>
            <a:r>
              <a:rPr lang="en-US" altLang="zh-CN" sz="3000" dirty="0">
                <a:solidFill>
                  <a:srgbClr val="FF0000"/>
                </a:solidFill>
                <a:effectLst>
                  <a:outerShdw blurRad="38100" dist="38100" dir="2700000" algn="tl">
                    <a:srgbClr val="C0C0C0"/>
                  </a:outerShdw>
                </a:effectLst>
                <a:latin typeface="Times New Roman" panose="02020603050405020304" pitchFamily="18" charset="0"/>
              </a:rPr>
              <a:t>{</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    TMOD=0x01;</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    TH0=0x3C;</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    TL0=0xB0;</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    TR0=1;</a:t>
            </a:r>
          </a:p>
          <a:p>
            <a:pPr eaLnBrk="1" hangingPunct="1">
              <a:spcBef>
                <a:spcPts val="600"/>
              </a:spcBef>
              <a:defRPr/>
            </a:pPr>
            <a:r>
              <a:rPr lang="en-US" altLang="zh-CN" sz="3000" dirty="0">
                <a:effectLst>
                  <a:outerShdw blurRad="38100" dist="38100" dir="2700000" algn="tl">
                    <a:srgbClr val="C0C0C0"/>
                  </a:outerShdw>
                </a:effectLst>
                <a:latin typeface="Times New Roman" panose="02020603050405020304" pitchFamily="18" charset="0"/>
              </a:rPr>
              <a:t>    P2=0xff;</a:t>
            </a:r>
          </a:p>
        </p:txBody>
      </p:sp>
      <p:sp>
        <p:nvSpPr>
          <p:cNvPr id="65542" name="Text Box 6"/>
          <p:cNvSpPr txBox="1">
            <a:spLocks noChangeArrowheads="1"/>
          </p:cNvSpPr>
          <p:nvPr/>
        </p:nvSpPr>
        <p:spPr bwMode="auto">
          <a:xfrm>
            <a:off x="4946650" y="1395859"/>
            <a:ext cx="3311525" cy="4708981"/>
          </a:xfrm>
          <a:prstGeom prst="rect">
            <a:avLst/>
          </a:prstGeom>
          <a:noFill/>
          <a:ln w="9525">
            <a:solidFill>
              <a:srgbClr val="0000FF"/>
            </a:solidFill>
            <a:miter lim="800000"/>
          </a:ln>
          <a:effectLst/>
        </p:spPr>
        <p:txBody>
          <a:bodyPr>
            <a:spAutoFit/>
          </a:bodyPr>
          <a:lstStyle/>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while(1)</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while(TF0==0)</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TF0=0;</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P2=~P2;</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TH0=0x3C;</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TL0=0xB0;</a:t>
            </a:r>
          </a:p>
          <a:p>
            <a:pPr eaLnBrk="1" hangingPunct="1">
              <a:spcBef>
                <a:spcPts val="0"/>
              </a:spcBef>
              <a:defRPr/>
            </a:pPr>
            <a:r>
              <a:rPr lang="en-US" altLang="zh-CN" sz="3000" dirty="0">
                <a:effectLst>
                  <a:outerShdw blurRad="38100" dist="38100" dir="2700000" algn="tl">
                    <a:srgbClr val="C0C0C0"/>
                  </a:outerShdw>
                </a:effectLst>
                <a:latin typeface="Times New Roman" panose="02020603050405020304" pitchFamily="18" charset="0"/>
              </a:rPr>
              <a:t> }</a:t>
            </a:r>
          </a:p>
          <a:p>
            <a:pPr eaLnBrk="1" hangingPunct="1">
              <a:spcBef>
                <a:spcPts val="0"/>
              </a:spcBef>
              <a:defRPr/>
            </a:pPr>
            <a:r>
              <a:rPr lang="en-US" altLang="zh-CN" sz="3000" dirty="0">
                <a:solidFill>
                  <a:srgbClr val="FF0000"/>
                </a:solidFill>
                <a:effectLst>
                  <a:outerShdw blurRad="38100" dist="38100" dir="2700000" algn="tl">
                    <a:srgbClr val="C0C0C0"/>
                  </a:outerShdw>
                </a:effectLst>
                <a:latin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5AF347-A83D-4ACF-B829-C6230AFBD0FD}" type="slidenum">
              <a:rPr lang="zh-CN" altLang="en-US" smtClean="0"/>
              <a:t>15</a:t>
            </a:fld>
            <a:endParaRPr lang="en-US" altLang="zh-CN"/>
          </a:p>
        </p:txBody>
      </p:sp>
      <p:sp>
        <p:nvSpPr>
          <p:cNvPr id="3" name="Text Box 4"/>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2</a:t>
            </a:r>
            <a:r>
              <a:rPr lang="zh-CN" altLang="en-US" sz="3000" dirty="0">
                <a:effectLst>
                  <a:outerShdw blurRad="38100" dist="38100" dir="2700000" algn="tl">
                    <a:srgbClr val="C0C0C0"/>
                  </a:outerShdw>
                </a:effectLst>
                <a:latin typeface="Times New Roman" panose="02020603050405020304" pitchFamily="18" charset="0"/>
              </a:rPr>
              <a:t>）中断方式的实现</a:t>
            </a:r>
          </a:p>
        </p:txBody>
      </p:sp>
      <p:sp>
        <p:nvSpPr>
          <p:cNvPr id="4" name="Text Box 5"/>
          <p:cNvSpPr txBox="1">
            <a:spLocks noChangeArrowheads="1"/>
          </p:cNvSpPr>
          <p:nvPr/>
        </p:nvSpPr>
        <p:spPr bwMode="auto">
          <a:xfrm>
            <a:off x="827088" y="2060575"/>
            <a:ext cx="7561262" cy="3547959"/>
          </a:xfrm>
          <a:prstGeom prst="rect">
            <a:avLst/>
          </a:prstGeom>
          <a:noFill/>
          <a:ln>
            <a:noFill/>
          </a:ln>
          <a:effectLst/>
        </p:spPr>
        <p:txBody>
          <a:bodyPr>
            <a:spAutoFit/>
          </a:bodyPr>
          <a:lstStyle/>
          <a:p>
            <a:pPr eaLnBrk="1" hangingPunct="1">
              <a:lnSpc>
                <a:spcPct val="120000"/>
              </a:lnSpc>
              <a:spcBef>
                <a:spcPct val="40000"/>
              </a:spcBef>
              <a:defRPr/>
            </a:pPr>
            <a:r>
              <a:rPr lang="zh-CN" altLang="en-US" sz="3000" dirty="0">
                <a:effectLst>
                  <a:outerShdw blurRad="38100" dist="38100" dir="2700000" algn="tl">
                    <a:srgbClr val="C0C0C0"/>
                  </a:outerShdw>
                </a:effectLst>
                <a:latin typeface="Times New Roman" panose="02020603050405020304" pitchFamily="18" charset="0"/>
              </a:rPr>
              <a:t>      定时器</a:t>
            </a:r>
            <a:r>
              <a:rPr lang="en-US" altLang="zh-CN" sz="3000" dirty="0">
                <a:effectLst>
                  <a:outerShdw blurRad="38100" dist="38100" dir="2700000" algn="tl">
                    <a:srgbClr val="C0C0C0"/>
                  </a:outerShdw>
                </a:effectLst>
                <a:latin typeface="Times New Roman" panose="02020603050405020304" pitchFamily="18" charset="0"/>
              </a:rPr>
              <a:t>T0</a:t>
            </a:r>
            <a:r>
              <a:rPr lang="zh-CN" altLang="en-US" sz="3000" dirty="0">
                <a:effectLst>
                  <a:outerShdw blurRad="38100" dist="38100" dir="2700000" algn="tl">
                    <a:srgbClr val="C0C0C0"/>
                  </a:outerShdw>
                </a:effectLst>
                <a:latin typeface="Times New Roman" panose="02020603050405020304" pitchFamily="18" charset="0"/>
              </a:rPr>
              <a:t>开始工作后，</a:t>
            </a:r>
            <a:r>
              <a:rPr lang="en-US" altLang="zh-CN" sz="3000" dirty="0">
                <a:effectLst>
                  <a:outerShdw blurRad="38100" dist="38100" dir="2700000" algn="tl">
                    <a:srgbClr val="C0C0C0"/>
                  </a:outerShdw>
                </a:effectLst>
                <a:latin typeface="Times New Roman" panose="02020603050405020304" pitchFamily="18" charset="0"/>
              </a:rPr>
              <a:t>50ms</a:t>
            </a:r>
            <a:r>
              <a:rPr lang="zh-CN" altLang="en-US" sz="3000" dirty="0">
                <a:effectLst>
                  <a:outerShdw blurRad="38100" dist="38100" dir="2700000" algn="tl">
                    <a:srgbClr val="C0C0C0"/>
                  </a:outerShdw>
                </a:effectLst>
                <a:latin typeface="Times New Roman" panose="02020603050405020304" pitchFamily="18" charset="0"/>
              </a:rPr>
              <a:t>计时结束时自动置位溢出标志位</a:t>
            </a:r>
            <a:r>
              <a:rPr lang="en-US" altLang="zh-CN" sz="3000" dirty="0">
                <a:effectLst>
                  <a:outerShdw blurRad="38100" dist="38100" dir="2700000" algn="tl">
                    <a:srgbClr val="C0C0C0"/>
                  </a:outerShdw>
                </a:effectLst>
                <a:latin typeface="Times New Roman" panose="02020603050405020304" pitchFamily="18" charset="0"/>
              </a:rPr>
              <a:t>TF0</a:t>
            </a:r>
            <a:r>
              <a:rPr lang="zh-CN" altLang="en-US" sz="3000" dirty="0">
                <a:effectLst>
                  <a:outerShdw blurRad="38100" dist="38100" dir="2700000" algn="tl">
                    <a:srgbClr val="C0C0C0"/>
                  </a:outerShdw>
                </a:effectLst>
                <a:latin typeface="Times New Roman" panose="02020603050405020304" pitchFamily="18" charset="0"/>
              </a:rPr>
              <a:t>，产生溢出中断请求。</a:t>
            </a:r>
            <a:endParaRPr lang="en-US" altLang="zh-CN" sz="3000" dirty="0">
              <a:effectLst>
                <a:outerShdw blurRad="38100" dist="38100" dir="2700000" algn="tl">
                  <a:srgbClr val="C0C0C0"/>
                </a:outerShdw>
              </a:effectLst>
              <a:latin typeface="Times New Roman" panose="02020603050405020304" pitchFamily="18" charset="0"/>
            </a:endParaRPr>
          </a:p>
          <a:p>
            <a:pPr eaLnBrk="1" hangingPunct="1">
              <a:lnSpc>
                <a:spcPct val="120000"/>
              </a:lnSpc>
              <a:spcBef>
                <a:spcPct val="40000"/>
              </a:spcBef>
              <a:defRPr/>
            </a:pPr>
            <a:r>
              <a:rPr lang="en-US" altLang="zh-CN" sz="3000" dirty="0">
                <a:effectLst>
                  <a:outerShdw blurRad="38100" dist="38100" dir="2700000" algn="tl">
                    <a:srgbClr val="C0C0C0"/>
                  </a:outerShdw>
                </a:effectLst>
                <a:latin typeface="Times New Roman" panose="02020603050405020304" pitchFamily="18" charset="0"/>
              </a:rPr>
              <a:t>      CPU</a:t>
            </a:r>
            <a:r>
              <a:rPr lang="zh-CN" altLang="en-US" sz="3000" dirty="0">
                <a:effectLst>
                  <a:outerShdw blurRad="38100" dist="38100" dir="2700000" algn="tl">
                    <a:srgbClr val="C0C0C0"/>
                  </a:outerShdw>
                </a:effectLst>
                <a:latin typeface="Times New Roman" panose="02020603050405020304" pitchFamily="18" charset="0"/>
              </a:rPr>
              <a:t>响应中断后，</a:t>
            </a:r>
            <a:r>
              <a:rPr lang="en-US" altLang="zh-CN" sz="3000" dirty="0">
                <a:effectLst>
                  <a:outerShdw blurRad="38100" dist="38100" dir="2700000" algn="tl">
                    <a:srgbClr val="C0C0C0"/>
                  </a:outerShdw>
                </a:effectLst>
                <a:latin typeface="Times New Roman" panose="02020603050405020304" pitchFamily="18" charset="0"/>
              </a:rPr>
              <a:t> TF0</a:t>
            </a:r>
            <a:r>
              <a:rPr lang="zh-CN" altLang="en-US" sz="3000" dirty="0">
                <a:effectLst>
                  <a:outerShdw blurRad="38100" dist="38100" dir="2700000" algn="tl">
                    <a:srgbClr val="C0C0C0"/>
                  </a:outerShdw>
                </a:effectLst>
                <a:latin typeface="Times New Roman" panose="02020603050405020304" pitchFamily="18" charset="0"/>
              </a:rPr>
              <a:t>由硬件自动清</a:t>
            </a:r>
            <a:r>
              <a:rPr lang="en-US" altLang="zh-CN" sz="3000" dirty="0">
                <a:effectLst>
                  <a:outerShdw blurRad="38100" dist="38100" dir="2700000" algn="tl">
                    <a:srgbClr val="C0C0C0"/>
                  </a:outerShdw>
                </a:effectLst>
                <a:latin typeface="Times New Roman" panose="02020603050405020304" pitchFamily="18" charset="0"/>
              </a:rPr>
              <a:t>0</a:t>
            </a: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LED</a:t>
            </a:r>
            <a:r>
              <a:rPr lang="zh-CN" altLang="en-US" sz="3000" dirty="0">
                <a:effectLst>
                  <a:outerShdw blurRad="38100" dist="38100" dir="2700000" algn="tl">
                    <a:srgbClr val="C0C0C0"/>
                  </a:outerShdw>
                </a:effectLst>
                <a:latin typeface="Times New Roman" panose="02020603050405020304" pitchFamily="18" charset="0"/>
              </a:rPr>
              <a:t>闪烁一次，定时器</a:t>
            </a:r>
            <a:r>
              <a:rPr lang="en-US" altLang="zh-CN" sz="3000" dirty="0">
                <a:effectLst>
                  <a:outerShdw blurRad="38100" dist="38100" dir="2700000" algn="tl">
                    <a:srgbClr val="C0C0C0"/>
                  </a:outerShdw>
                </a:effectLst>
                <a:latin typeface="Times New Roman" panose="02020603050405020304" pitchFamily="18" charset="0"/>
              </a:rPr>
              <a:t>T0</a:t>
            </a:r>
            <a:r>
              <a:rPr lang="zh-CN" altLang="en-US" sz="3000" dirty="0">
                <a:effectLst>
                  <a:outerShdw blurRad="38100" dist="38100" dir="2700000" algn="tl">
                    <a:srgbClr val="C0C0C0"/>
                  </a:outerShdw>
                </a:effectLst>
                <a:latin typeface="Times New Roman" panose="02020603050405020304" pitchFamily="18" charset="0"/>
              </a:rPr>
              <a:t>需重置计数初值，启动下一周期计数。</a:t>
            </a:r>
          </a:p>
        </p:txBody>
      </p:sp>
      <p:sp>
        <p:nvSpPr>
          <p:cNvPr id="5" name="Text Box 4"/>
          <p:cNvSpPr txBox="1">
            <a:spLocks noChangeArrowheads="1"/>
          </p:cNvSpPr>
          <p:nvPr/>
        </p:nvSpPr>
        <p:spPr bwMode="auto">
          <a:xfrm>
            <a:off x="816720" y="569913"/>
            <a:ext cx="7561262" cy="579437"/>
          </a:xfrm>
          <a:prstGeom prst="rect">
            <a:avLst/>
          </a:prstGeom>
          <a:noFill/>
          <a:ln>
            <a:noFill/>
          </a:ln>
          <a:effectLst/>
        </p:spPr>
        <p:txBody>
          <a:bodyPr>
            <a:spAutoFit/>
          </a:bodyPr>
          <a:lstStyle/>
          <a:p>
            <a:pPr eaLnBrk="1" hangingPunct="1">
              <a:spcBef>
                <a:spcPct val="30000"/>
              </a:spcBef>
              <a:defRPr/>
            </a:pPr>
            <a:r>
              <a:rPr lang="en-US" altLang="zh-CN"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 </a:t>
            </a:r>
            <a:r>
              <a:rPr lang="zh-CN" altLang="en-US" sz="3200"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程序设计（中断式）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5AF347-A83D-4ACF-B829-C6230AFBD0FD}" type="slidenum">
              <a:rPr lang="zh-CN" altLang="en-US" smtClean="0"/>
              <a:t>16</a:t>
            </a:fld>
            <a:endParaRPr lang="en-US" altLang="zh-CN"/>
          </a:p>
        </p:txBody>
      </p:sp>
      <p:pic>
        <p:nvPicPr>
          <p:cNvPr id="3" name="图片 2"/>
          <p:cNvPicPr>
            <a:picLocks noChangeAspect="1"/>
          </p:cNvPicPr>
          <p:nvPr/>
        </p:nvPicPr>
        <p:blipFill>
          <a:blip r:embed="rId2"/>
          <a:stretch>
            <a:fillRect/>
          </a:stretch>
        </p:blipFill>
        <p:spPr>
          <a:xfrm>
            <a:off x="611560" y="548680"/>
            <a:ext cx="3240360" cy="3997617"/>
          </a:xfrm>
          <a:prstGeom prst="rect">
            <a:avLst/>
          </a:prstGeom>
          <a:ln>
            <a:solidFill>
              <a:srgbClr val="9900CC"/>
            </a:solidFill>
          </a:ln>
        </p:spPr>
      </p:pic>
      <p:pic>
        <p:nvPicPr>
          <p:cNvPr id="4" name="图片 3"/>
          <p:cNvPicPr>
            <a:picLocks noChangeAspect="1"/>
          </p:cNvPicPr>
          <p:nvPr/>
        </p:nvPicPr>
        <p:blipFill>
          <a:blip r:embed="rId3"/>
          <a:stretch>
            <a:fillRect/>
          </a:stretch>
        </p:blipFill>
        <p:spPr>
          <a:xfrm>
            <a:off x="4067944" y="3429000"/>
            <a:ext cx="4549883" cy="2016224"/>
          </a:xfrm>
          <a:prstGeom prst="rect">
            <a:avLst/>
          </a:prstGeom>
          <a:ln>
            <a:solidFill>
              <a:srgbClr val="9900CC"/>
            </a:solidFill>
          </a:ln>
        </p:spPr>
      </p:pic>
      <p:sp>
        <p:nvSpPr>
          <p:cNvPr id="5" name="文本框 4">
            <a:extLst>
              <a:ext uri="{FF2B5EF4-FFF2-40B4-BE49-F238E27FC236}">
                <a16:creationId xmlns:a16="http://schemas.microsoft.com/office/drawing/2014/main" id="{AF1899EF-249D-435D-8232-26859BFCF869}"/>
              </a:ext>
            </a:extLst>
          </p:cNvPr>
          <p:cNvSpPr txBox="1"/>
          <p:nvPr/>
        </p:nvSpPr>
        <p:spPr>
          <a:xfrm>
            <a:off x="611560" y="5445224"/>
            <a:ext cx="7920880" cy="461665"/>
          </a:xfrm>
          <a:prstGeom prst="rect">
            <a:avLst/>
          </a:prstGeom>
          <a:noFill/>
        </p:spPr>
        <p:txBody>
          <a:bodyPr wrap="square" rtlCol="0">
            <a:spAutoFit/>
          </a:bodyPr>
          <a:lstStyle/>
          <a:p>
            <a:r>
              <a:rPr lang="zh-CN" altLang="en-US" sz="2400" dirty="0"/>
              <a:t>中断函数：控制灯闪烁一次；重置计数初值。</a:t>
            </a:r>
          </a:p>
        </p:txBody>
      </p:sp>
      <p:sp>
        <p:nvSpPr>
          <p:cNvPr id="6" name="文本框 5">
            <a:extLst>
              <a:ext uri="{FF2B5EF4-FFF2-40B4-BE49-F238E27FC236}">
                <a16:creationId xmlns:a16="http://schemas.microsoft.com/office/drawing/2014/main" id="{51D39DF1-5374-4276-B721-B5499EE2EF86}"/>
              </a:ext>
            </a:extLst>
          </p:cNvPr>
          <p:cNvSpPr txBox="1"/>
          <p:nvPr/>
        </p:nvSpPr>
        <p:spPr>
          <a:xfrm>
            <a:off x="4067944" y="397689"/>
            <a:ext cx="4680520" cy="3046988"/>
          </a:xfrm>
          <a:prstGeom prst="rect">
            <a:avLst/>
          </a:prstGeom>
          <a:noFill/>
        </p:spPr>
        <p:txBody>
          <a:bodyPr wrap="square" rtlCol="0">
            <a:spAutoFit/>
          </a:bodyPr>
          <a:lstStyle/>
          <a:p>
            <a:r>
              <a:rPr lang="zh-CN" altLang="en-US" sz="2400" dirty="0"/>
              <a:t>主函数：</a:t>
            </a:r>
            <a:endParaRPr lang="en-US" altLang="zh-CN" sz="2400" dirty="0"/>
          </a:p>
          <a:p>
            <a:pPr marL="457200" indent="-457200">
              <a:buFont typeface="+mj-ea"/>
              <a:buAutoNum type="circleNumDbPlain"/>
            </a:pPr>
            <a:r>
              <a:rPr lang="zh-CN" altLang="en-US" sz="2400" dirty="0"/>
              <a:t>定时器初始化</a:t>
            </a:r>
            <a:endParaRPr lang="en-US" altLang="zh-CN" sz="2400" dirty="0"/>
          </a:p>
          <a:p>
            <a:r>
              <a:rPr lang="zh-CN" altLang="en-US" sz="2400" dirty="0"/>
              <a:t>     设置</a:t>
            </a:r>
            <a:r>
              <a:rPr lang="en-US" altLang="zh-CN" sz="2400" dirty="0"/>
              <a:t>TMOD</a:t>
            </a:r>
            <a:r>
              <a:rPr lang="zh-CN" altLang="en-US" sz="2400" dirty="0"/>
              <a:t>，计数初值</a:t>
            </a:r>
            <a:endParaRPr lang="en-US" altLang="zh-CN" sz="2400" dirty="0"/>
          </a:p>
          <a:p>
            <a:pPr marL="457200" indent="-457200">
              <a:buFont typeface="+mj-ea"/>
              <a:buAutoNum type="circleNumDbPlain" startAt="2"/>
            </a:pPr>
            <a:r>
              <a:rPr lang="zh-CN" altLang="en-US" sz="2400" dirty="0"/>
              <a:t>开放定时器中断</a:t>
            </a:r>
            <a:endParaRPr lang="en-US" altLang="zh-CN" sz="2400" dirty="0"/>
          </a:p>
          <a:p>
            <a:pPr marL="457200" indent="-457200">
              <a:buFont typeface="+mj-ea"/>
              <a:buAutoNum type="circleNumDbPlain" startAt="2"/>
            </a:pPr>
            <a:r>
              <a:rPr lang="zh-CN" altLang="en-US" sz="2400" dirty="0"/>
              <a:t>开放总中断</a:t>
            </a:r>
            <a:endParaRPr lang="en-US" altLang="zh-CN" sz="2400" dirty="0"/>
          </a:p>
          <a:p>
            <a:pPr marL="457200" indent="-457200">
              <a:buFont typeface="+mj-ea"/>
              <a:buAutoNum type="circleNumDbPlain" startAt="2"/>
            </a:pPr>
            <a:r>
              <a:rPr lang="zh-CN" altLang="en-US" sz="2400" dirty="0"/>
              <a:t>启动定时器工作</a:t>
            </a:r>
            <a:endParaRPr lang="en-US" altLang="zh-CN" sz="2400" dirty="0"/>
          </a:p>
          <a:p>
            <a:pPr marL="457200" indent="-457200">
              <a:buFont typeface="+mj-ea"/>
              <a:buAutoNum type="circleNumDbPlain" startAt="2"/>
            </a:pPr>
            <a:r>
              <a:rPr lang="zh-CN" altLang="en-US" sz="2400" dirty="0"/>
              <a:t>待机</a:t>
            </a:r>
            <a:endParaRPr lang="en-US" altLang="zh-CN" sz="2400" dirty="0"/>
          </a:p>
          <a:p>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randombar(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randombar(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randombar(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arn(inVertical)">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A9722D2-BC76-424D-B130-2D265005979D}" type="slidenum">
              <a:rPr lang="zh-CN" altLang="en-US" sz="1400"/>
              <a:t>17</a:t>
            </a:fld>
            <a:endParaRPr lang="en-US" altLang="zh-CN" sz="1400"/>
          </a:p>
        </p:txBody>
      </p:sp>
      <p:sp>
        <p:nvSpPr>
          <p:cNvPr id="49154" name="Rectangle 2"/>
          <p:cNvSpPr>
            <a:spLocks noGrp="1" noChangeArrowheads="1"/>
          </p:cNvSpPr>
          <p:nvPr>
            <p:ph type="body" idx="1"/>
          </p:nvPr>
        </p:nvSpPr>
        <p:spPr>
          <a:xfrm>
            <a:off x="930275" y="574799"/>
            <a:ext cx="7848600" cy="1126009"/>
          </a:xfrm>
        </p:spPr>
        <p:txBody>
          <a:bodyPr/>
          <a:lstStyle/>
          <a:p>
            <a:pPr marL="0" indent="0" algn="just" eaLnBrk="1" hangingPunct="1">
              <a:lnSpc>
                <a:spcPct val="110000"/>
              </a:lnSpc>
              <a:spcBef>
                <a:spcPct val="30000"/>
              </a:spcBef>
              <a:buFont typeface="Wingdings" panose="05000000000000000000" pitchFamily="2" charset="2"/>
              <a:buNone/>
              <a:defRPr/>
            </a:pP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例</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2 </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用定时器</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a:t>
            </a:r>
            <a:r>
              <a:rPr lang="zh-CN" altLang="en-US" sz="3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方式</a:t>
            </a:r>
            <a:r>
              <a:rPr lang="en-US" altLang="zh-CN" sz="3000" b="1" dirty="0">
                <a:solidFill>
                  <a:srgbClr val="FF0000"/>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0</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实现</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1s</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的延时，控制</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LED</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流水点亮。</a:t>
            </a:r>
            <a:r>
              <a:rPr lang="zh-CN" altLang="en-US" sz="3000" b="1" dirty="0">
                <a:effectLst>
                  <a:outerShdw blurRad="38100" dist="38100" dir="2700000" algn="tl">
                    <a:srgbClr val="000000">
                      <a:alpha val="43137"/>
                    </a:srgbClr>
                  </a:outerShdw>
                </a:effectLst>
                <a:latin typeface="宋体" panose="02010600030101010101" pitchFamily="2" charset="-122"/>
              </a:rPr>
              <a:t>已知振荡频率</a:t>
            </a:r>
            <a:r>
              <a:rPr lang="en-US" altLang="zh-CN" sz="3000" b="1" dirty="0" err="1">
                <a:effectLst>
                  <a:outerShdw blurRad="38100" dist="38100" dir="2700000" algn="tl">
                    <a:srgbClr val="000000">
                      <a:alpha val="43137"/>
                    </a:srgbClr>
                  </a:outerShdw>
                </a:effectLst>
                <a:latin typeface="宋体" panose="02010600030101010101" pitchFamily="2" charset="-122"/>
              </a:rPr>
              <a:t>fosc</a:t>
            </a:r>
            <a:r>
              <a:rPr lang="en-US" altLang="zh-CN" sz="3000" b="1" dirty="0">
                <a:effectLst>
                  <a:outerShdw blurRad="38100" dist="38100" dir="2700000" algn="tl">
                    <a:srgbClr val="000000">
                      <a:alpha val="43137"/>
                    </a:srgbClr>
                  </a:outerShdw>
                </a:effectLst>
                <a:latin typeface="宋体" panose="02010600030101010101" pitchFamily="2" charset="-122"/>
              </a:rPr>
              <a:t>=12MHz</a:t>
            </a:r>
            <a:r>
              <a:rPr lang="zh-CN" altLang="en-US" sz="3000" b="1" dirty="0">
                <a:effectLst>
                  <a:outerShdw blurRad="38100" dist="38100" dir="2700000" algn="tl">
                    <a:srgbClr val="000000">
                      <a:alpha val="43137"/>
                    </a:srgbClr>
                  </a:outerShdw>
                </a:effectLst>
                <a:latin typeface="宋体" panose="02010600030101010101" pitchFamily="2" charset="-122"/>
              </a:rPr>
              <a:t>。</a:t>
            </a:r>
            <a:endParaRPr lang="en-US" altLang="zh-CN" sz="3000" b="1" dirty="0">
              <a:effectLst>
                <a:outerShdw blurRad="38100" dist="38100" dir="2700000" algn="tl">
                  <a:srgbClr val="000000">
                    <a:alpha val="43137"/>
                  </a:srgbClr>
                </a:outerShdw>
              </a:effectLst>
              <a:latin typeface="宋体" panose="02010600030101010101" pitchFamily="2" charset="-122"/>
            </a:endParaRPr>
          </a:p>
        </p:txBody>
      </p:sp>
      <p:sp>
        <p:nvSpPr>
          <p:cNvPr id="49157" name="Text Box 5"/>
          <p:cNvSpPr txBox="1">
            <a:spLocks noChangeArrowheads="1"/>
          </p:cNvSpPr>
          <p:nvPr/>
        </p:nvSpPr>
        <p:spPr bwMode="auto">
          <a:xfrm>
            <a:off x="957263" y="1699741"/>
            <a:ext cx="7705725" cy="2678112"/>
          </a:xfrm>
          <a:prstGeom prst="rect">
            <a:avLst/>
          </a:prstGeom>
          <a:noFill/>
          <a:ln>
            <a:noFill/>
          </a:ln>
          <a:effectLst/>
        </p:spPr>
        <p:txBody>
          <a:bodyPr>
            <a:spAutoFit/>
          </a:bodyPr>
          <a:lstStyle/>
          <a:p>
            <a:pPr eaLnBrk="1" hangingPunct="1">
              <a:spcBef>
                <a:spcPts val="0"/>
              </a:spcBef>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分析：</a:t>
            </a:r>
            <a:endPar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457200" indent="-457200" eaLnBrk="1" hangingPunct="1">
              <a:spcBef>
                <a:spcPts val="0"/>
              </a:spcBef>
              <a:buFont typeface="Wingdings" panose="05000000000000000000" pitchFamily="2" charset="2"/>
              <a:buChar char="Ø"/>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方式</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为</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13</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位计数器，最大定时时间为：</a:t>
            </a:r>
            <a:endPar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spcBef>
                <a:spcPts val="0"/>
              </a:spcBef>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8192*1μs=8.192ms</a:t>
            </a:r>
          </a:p>
          <a:p>
            <a:pPr marL="457200" indent="-457200" eaLnBrk="1" hangingPunct="1">
              <a:spcBef>
                <a:spcPts val="0"/>
              </a:spcBef>
              <a:buFont typeface="Wingdings" panose="05000000000000000000" pitchFamily="2" charset="2"/>
              <a:buChar char="Ø"/>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可选择定时时间为</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5ms</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，循环</a:t>
            </a:r>
            <a:r>
              <a:rPr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200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次，即可得到</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的延时。计数值</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=5ms/1μs=5000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，则</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T1</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的初值为：</a:t>
            </a:r>
            <a:endPar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49158" name="Text Box 6"/>
          <p:cNvSpPr txBox="1">
            <a:spLocks noChangeArrowheads="1"/>
          </p:cNvSpPr>
          <p:nvPr/>
        </p:nvSpPr>
        <p:spPr bwMode="auto">
          <a:xfrm>
            <a:off x="957263" y="5363170"/>
            <a:ext cx="7705725" cy="946150"/>
          </a:xfrm>
          <a:prstGeom prst="rect">
            <a:avLst/>
          </a:prstGeom>
          <a:noFill/>
          <a:ln>
            <a:noFill/>
          </a:ln>
          <a:effectLst/>
        </p:spPr>
        <p:txBody>
          <a:bodyPr>
            <a:spAutoFit/>
          </a:bodyPr>
          <a:lstStyle/>
          <a:p>
            <a:pPr marL="457200" indent="-457200" eaLnBrk="1" hangingPunct="1">
              <a:spcBef>
                <a:spcPct val="50000"/>
              </a:spcBef>
              <a:buFont typeface="Wingdings" panose="05000000000000000000" pitchFamily="2" charset="2"/>
              <a:buChar char="Ø"/>
              <a:defRPr/>
            </a:pP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因</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TL1</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的高</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3</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位不用，填写</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，所以实际填写的初值为</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01100011 </a:t>
            </a:r>
            <a:r>
              <a:rPr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000</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11000B=</a:t>
            </a:r>
            <a:r>
              <a:rPr lang="en-US" altLang="zh-CN"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6318H</a:t>
            </a:r>
          </a:p>
        </p:txBody>
      </p:sp>
      <p:sp>
        <p:nvSpPr>
          <p:cNvPr id="9" name="Text Box 5"/>
          <p:cNvSpPr txBox="1">
            <a:spLocks noChangeArrowheads="1"/>
          </p:cNvSpPr>
          <p:nvPr/>
        </p:nvSpPr>
        <p:spPr bwMode="auto">
          <a:xfrm>
            <a:off x="930275" y="4341341"/>
            <a:ext cx="7705725" cy="1031875"/>
          </a:xfrm>
          <a:prstGeom prst="rect">
            <a:avLst/>
          </a:prstGeom>
          <a:noFill/>
          <a:ln>
            <a:noFill/>
          </a:ln>
          <a:effectLst/>
        </p:spPr>
        <p:txBody>
          <a:bodyPr>
            <a:spAutoFit/>
          </a:bodyPr>
          <a:lstStyle/>
          <a:p>
            <a:pPr eaLnBrk="1" hangingPunct="1">
              <a:spcBef>
                <a:spcPts val="600"/>
              </a:spcBef>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C=M-</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计数值</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=8192-5000=3192=C78H</a:t>
            </a:r>
          </a:p>
          <a:p>
            <a:pPr eaLnBrk="1" hangingPunct="1">
              <a:spcBef>
                <a:spcPts val="600"/>
              </a:spcBef>
              <a:defRPr/>
            </a:pP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=01100 011</a:t>
            </a:r>
            <a:r>
              <a:rPr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en-US" altLang="zh-CN"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1000</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B</a:t>
            </a:r>
          </a:p>
        </p:txBody>
      </p:sp>
      <p:sp>
        <p:nvSpPr>
          <p:cNvPr id="48137"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anim calcmode="lin" valueType="num">
                                      <p:cBhvr additive="base">
                                        <p:cTn id="7" dur="500" fill="hold"/>
                                        <p:tgtEl>
                                          <p:spTgt spid="491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1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9157">
                                            <p:txEl>
                                              <p:pRg st="0" end="0"/>
                                            </p:txEl>
                                          </p:spTgt>
                                        </p:tgtEl>
                                        <p:attrNameLst>
                                          <p:attrName>style.visibility</p:attrName>
                                        </p:attrNameLst>
                                      </p:cBhvr>
                                      <p:to>
                                        <p:strVal val="visible"/>
                                      </p:to>
                                    </p:set>
                                    <p:animEffect transition="in" filter="randombar(horizontal)">
                                      <p:cBhvr>
                                        <p:cTn id="13" dur="500"/>
                                        <p:tgtEl>
                                          <p:spTgt spid="4915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9157">
                                            <p:txEl>
                                              <p:pRg st="1" end="1"/>
                                            </p:txEl>
                                          </p:spTgt>
                                        </p:tgtEl>
                                        <p:attrNameLst>
                                          <p:attrName>style.visibility</p:attrName>
                                        </p:attrNameLst>
                                      </p:cBhvr>
                                      <p:to>
                                        <p:strVal val="visible"/>
                                      </p:to>
                                    </p:set>
                                    <p:animEffect transition="in" filter="randombar(horizontal)">
                                      <p:cBhvr>
                                        <p:cTn id="18" dur="500"/>
                                        <p:tgtEl>
                                          <p:spTgt spid="4915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49157">
                                            <p:txEl>
                                              <p:pRg st="2" end="2"/>
                                            </p:txEl>
                                          </p:spTgt>
                                        </p:tgtEl>
                                        <p:attrNameLst>
                                          <p:attrName>style.visibility</p:attrName>
                                        </p:attrNameLst>
                                      </p:cBhvr>
                                      <p:to>
                                        <p:strVal val="visible"/>
                                      </p:to>
                                    </p:set>
                                    <p:animEffect transition="in" filter="randombar(horizontal)">
                                      <p:cBhvr>
                                        <p:cTn id="23" dur="500"/>
                                        <p:tgtEl>
                                          <p:spTgt spid="4915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49157">
                                            <p:txEl>
                                              <p:pRg st="3" end="3"/>
                                            </p:txEl>
                                          </p:spTgt>
                                        </p:tgtEl>
                                        <p:attrNameLst>
                                          <p:attrName>style.visibility</p:attrName>
                                        </p:attrNameLst>
                                      </p:cBhvr>
                                      <p:to>
                                        <p:strVal val="visible"/>
                                      </p:to>
                                    </p:set>
                                    <p:animEffect transition="in" filter="randombar(horizontal)">
                                      <p:cBhvr>
                                        <p:cTn id="28" dur="500"/>
                                        <p:tgtEl>
                                          <p:spTgt spid="4915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heckerboard(across)">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49158"/>
                                        </p:tgtEl>
                                        <p:attrNameLst>
                                          <p:attrName>style.visibility</p:attrName>
                                        </p:attrNameLst>
                                      </p:cBhvr>
                                      <p:to>
                                        <p:strVal val="visible"/>
                                      </p:to>
                                    </p:set>
                                    <p:animEffect transition="in" filter="box(in)">
                                      <p:cBhvr>
                                        <p:cTn id="38" dur="500"/>
                                        <p:tgtEl>
                                          <p:spTgt spid="49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advAuto="0"/>
      <p:bldP spid="49157" grpId="0" build="p"/>
      <p:bldP spid="49158" grpId="0" autoUpdateAnimBg="0"/>
      <p:bldP spid="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96CC27-541A-4E68-A17B-2660855C8D8F}" type="slidenum">
              <a:rPr lang="zh-CN" altLang="en-US" smtClean="0"/>
              <a:t>18</a:t>
            </a:fld>
            <a:endParaRPr lang="en-US" altLang="zh-CN"/>
          </a:p>
        </p:txBody>
      </p:sp>
      <p:sp>
        <p:nvSpPr>
          <p:cNvPr id="5" name="Text Box 4"/>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1</a:t>
            </a:r>
            <a:r>
              <a:rPr lang="zh-CN" altLang="en-US" sz="3000" dirty="0">
                <a:effectLst>
                  <a:outerShdw blurRad="38100" dist="38100" dir="2700000" algn="tl">
                    <a:srgbClr val="C0C0C0"/>
                  </a:outerShdw>
                </a:effectLst>
                <a:latin typeface="Times New Roman" panose="02020603050405020304" pitchFamily="18" charset="0"/>
              </a:rPr>
              <a:t>）查询方式的实现</a:t>
            </a:r>
          </a:p>
        </p:txBody>
      </p:sp>
      <p:sp>
        <p:nvSpPr>
          <p:cNvPr id="6" name="Text Box 5"/>
          <p:cNvSpPr txBox="1">
            <a:spLocks noChangeArrowheads="1"/>
          </p:cNvSpPr>
          <p:nvPr/>
        </p:nvSpPr>
        <p:spPr bwMode="auto">
          <a:xfrm>
            <a:off x="827088" y="1988840"/>
            <a:ext cx="7561262" cy="3194721"/>
          </a:xfrm>
          <a:prstGeom prst="rect">
            <a:avLst/>
          </a:prstGeom>
          <a:noFill/>
          <a:ln>
            <a:noFill/>
          </a:ln>
          <a:effectLst/>
        </p:spPr>
        <p:txBody>
          <a:bodyPr>
            <a:spAutoFit/>
          </a:bodyPr>
          <a:lstStyle/>
          <a:p>
            <a:pPr eaLnBrk="1" hangingPunct="1">
              <a:lnSpc>
                <a:spcPct val="120000"/>
              </a:lnSpc>
              <a:spcBef>
                <a:spcPct val="40000"/>
              </a:spcBef>
              <a:defRPr/>
            </a:pP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    定时器</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开始工作后，通过软件编程让</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不断查询</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TF1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是否为“</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。为“</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”时继续等待；为“</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表示</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5ms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计时时间到，将</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TF1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清</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，并重置计数初值，启动下一个</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5ms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的计数，这样循环</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200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次，即可到达</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，然后可控制</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LED</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灯变化。重复上述过程，即可实现周期为</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的流水点灯。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82A3731-F1AF-422A-9CE4-D7223088A443}" type="slidenum">
              <a:rPr lang="zh-CN" altLang="en-US" sz="1400"/>
              <a:t>19</a:t>
            </a:fld>
            <a:endParaRPr lang="en-US" altLang="zh-CN" sz="1400"/>
          </a:p>
        </p:txBody>
      </p:sp>
      <p:sp>
        <p:nvSpPr>
          <p:cNvPr id="67588" name="Text Box 4"/>
          <p:cNvSpPr txBox="1">
            <a:spLocks noChangeArrowheads="1"/>
          </p:cNvSpPr>
          <p:nvPr/>
        </p:nvSpPr>
        <p:spPr bwMode="auto">
          <a:xfrm>
            <a:off x="466985" y="250153"/>
            <a:ext cx="3600450" cy="5632311"/>
          </a:xfrm>
          <a:prstGeom prst="rect">
            <a:avLst/>
          </a:prstGeom>
          <a:solidFill>
            <a:schemeClr val="bg1"/>
          </a:solidFill>
          <a:ln w="9525">
            <a:solidFill>
              <a:srgbClr val="0000FF"/>
            </a:solidFill>
            <a:miter lim="800000"/>
          </a:ln>
          <a:effectLst/>
        </p:spPr>
        <p:txBody>
          <a:bodyPr>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#include&lt;reg51.h&gt;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void delay(void)</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unsigned char </a:t>
            </a:r>
            <a:r>
              <a:rPr lang="en-US" altLang="zh-CN" sz="2400" dirty="0" err="1">
                <a:effectLst>
                  <a:outerShdw blurRad="38100" dist="38100" dir="2700000" algn="tl">
                    <a:srgbClr val="C0C0C0"/>
                  </a:outerShdw>
                </a:effectLst>
                <a:latin typeface="Times New Roman" panose="02020603050405020304" pitchFamily="18" charset="0"/>
              </a:rPr>
              <a:t>i</a:t>
            </a: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r>
              <a:rPr lang="en-US" altLang="zh-CN" sz="2400" dirty="0">
                <a:solidFill>
                  <a:srgbClr val="FF0000"/>
                </a:solidFill>
                <a:effectLst>
                  <a:outerShdw blurRad="38100" dist="38100" dir="2700000" algn="tl">
                    <a:srgbClr val="C0C0C0"/>
                  </a:outerShdw>
                </a:effectLst>
                <a:latin typeface="Times New Roman" panose="02020603050405020304" pitchFamily="18" charset="0"/>
              </a:rPr>
              <a:t>TR1=1;</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for(</a:t>
            </a:r>
            <a:r>
              <a:rPr lang="en-US" altLang="zh-CN" sz="2400" dirty="0" err="1">
                <a:effectLst>
                  <a:outerShdw blurRad="38100" dist="38100" dir="2700000" algn="tl">
                    <a:srgbClr val="C0C0C0"/>
                  </a:outerShdw>
                </a:effectLst>
                <a:latin typeface="Times New Roman" panose="02020603050405020304" pitchFamily="18" charset="0"/>
              </a:rPr>
              <a:t>i</a:t>
            </a:r>
            <a:r>
              <a:rPr lang="en-US" altLang="zh-CN" sz="2400" dirty="0">
                <a:effectLst>
                  <a:outerShdw blurRad="38100" dist="38100" dir="2700000" algn="tl">
                    <a:srgbClr val="C0C0C0"/>
                  </a:outerShdw>
                </a:effectLst>
                <a:latin typeface="Times New Roman" panose="02020603050405020304" pitchFamily="18" charset="0"/>
              </a:rPr>
              <a:t>=0;i&lt;200;i++)</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while(TF1==0)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TF1=0;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TH1=0x63;</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TL1=0x18;</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r>
              <a:rPr lang="en-US" altLang="zh-CN" sz="2400" dirty="0">
                <a:solidFill>
                  <a:srgbClr val="FF0000"/>
                </a:solidFill>
                <a:effectLst>
                  <a:outerShdw blurRad="38100" dist="38100" dir="2700000" algn="tl">
                    <a:srgbClr val="C0C0C0"/>
                  </a:outerShdw>
                </a:effectLst>
                <a:latin typeface="Times New Roman" panose="02020603050405020304" pitchFamily="18" charset="0"/>
              </a:rPr>
              <a:t>TR1=0;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endParaRPr lang="zh-CN" altLang="en-US" sz="2400" dirty="0">
              <a:effectLst>
                <a:outerShdw blurRad="38100" dist="38100" dir="2700000" algn="tl">
                  <a:srgbClr val="C0C0C0"/>
                </a:outerShdw>
              </a:effectLst>
              <a:latin typeface="Times New Roman" panose="02020603050405020304" pitchFamily="18" charset="0"/>
            </a:endParaRPr>
          </a:p>
        </p:txBody>
      </p:sp>
      <p:sp>
        <p:nvSpPr>
          <p:cNvPr id="67589" name="Text Box 5"/>
          <p:cNvSpPr txBox="1">
            <a:spLocks noChangeArrowheads="1"/>
          </p:cNvSpPr>
          <p:nvPr/>
        </p:nvSpPr>
        <p:spPr bwMode="auto">
          <a:xfrm>
            <a:off x="4500563" y="260350"/>
            <a:ext cx="4032250" cy="6001643"/>
          </a:xfrm>
          <a:prstGeom prst="rect">
            <a:avLst/>
          </a:prstGeom>
          <a:solidFill>
            <a:schemeClr val="bg1"/>
          </a:solidFill>
          <a:ln w="9525">
            <a:solidFill>
              <a:srgbClr val="0000FF"/>
            </a:solidFill>
            <a:miter lim="800000"/>
          </a:ln>
          <a:effectLst/>
        </p:spPr>
        <p:txBody>
          <a:bodyPr>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void main(void)</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unsigned int a[4]={1,2,4,8};</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unsigned int </a:t>
            </a:r>
            <a:r>
              <a:rPr lang="en-US" altLang="zh-CN" sz="2400" dirty="0" err="1">
                <a:effectLst>
                  <a:outerShdw blurRad="38100" dist="38100" dir="2700000" algn="tl">
                    <a:srgbClr val="C0C0C0"/>
                  </a:outerShdw>
                </a:effectLst>
                <a:latin typeface="Times New Roman" panose="02020603050405020304" pitchFamily="18" charset="0"/>
              </a:rPr>
              <a:t>i</a:t>
            </a: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TMOD=0x00;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TH1=0x63;</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TL1=0x18;</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while(1)</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for(</a:t>
            </a:r>
            <a:r>
              <a:rPr lang="en-US" altLang="zh-CN" sz="2400" dirty="0" err="1">
                <a:effectLst>
                  <a:outerShdw blurRad="38100" dist="38100" dir="2700000" algn="tl">
                    <a:srgbClr val="C0C0C0"/>
                  </a:outerShdw>
                </a:effectLst>
                <a:latin typeface="Times New Roman" panose="02020603050405020304" pitchFamily="18" charset="0"/>
              </a:rPr>
              <a:t>i</a:t>
            </a:r>
            <a:r>
              <a:rPr lang="en-US" altLang="zh-CN" sz="2400" dirty="0">
                <a:effectLst>
                  <a:outerShdw blurRad="38100" dist="38100" dir="2700000" algn="tl">
                    <a:srgbClr val="C0C0C0"/>
                  </a:outerShdw>
                </a:effectLst>
                <a:latin typeface="Times New Roman" panose="02020603050405020304" pitchFamily="18" charset="0"/>
              </a:rPr>
              <a:t>=0;i&lt;4;i++)</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P1=a[</a:t>
            </a:r>
            <a:r>
              <a:rPr lang="en-US" altLang="zh-CN" sz="2400" dirty="0" err="1">
                <a:effectLst>
                  <a:outerShdw blurRad="38100" dist="38100" dir="2700000" algn="tl">
                    <a:srgbClr val="C0C0C0"/>
                  </a:outerShdw>
                </a:effectLst>
                <a:latin typeface="Times New Roman" panose="02020603050405020304" pitchFamily="18" charset="0"/>
              </a:rPr>
              <a:t>i</a:t>
            </a: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delay();</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endParaRPr lang="zh-CN" altLang="en-US" sz="2400" dirty="0">
              <a:effectLst>
                <a:outerShdw blurRad="38100" dist="38100" dir="2700000" algn="tl">
                  <a:srgbClr val="C0C0C0"/>
                </a:outerShdw>
              </a:effectLst>
              <a:latin typeface="Times New Roman" panose="02020603050405020304" pitchFamily="18" charset="0"/>
            </a:endParaRPr>
          </a:p>
        </p:txBody>
      </p:sp>
      <p:sp>
        <p:nvSpPr>
          <p:cNvPr id="2" name="文本框 1"/>
          <p:cNvSpPr txBox="1"/>
          <p:nvPr/>
        </p:nvSpPr>
        <p:spPr>
          <a:xfrm>
            <a:off x="2339752" y="3953838"/>
            <a:ext cx="1440160" cy="400110"/>
          </a:xfrm>
          <a:prstGeom prst="rect">
            <a:avLst/>
          </a:prstGeom>
          <a:noFill/>
        </p:spPr>
        <p:txBody>
          <a:bodyPr wrap="square" rtlCol="0">
            <a:spAutoFit/>
          </a:bodyPr>
          <a:lstStyle/>
          <a:p>
            <a:r>
              <a:rPr lang="en-US" altLang="zh-CN" sz="2000" dirty="0">
                <a:highlight>
                  <a:srgbClr val="FFC715"/>
                </a:highlight>
              </a:rPr>
              <a:t>3192/32</a:t>
            </a:r>
            <a:endParaRPr lang="zh-CN" altLang="en-US" sz="2000" dirty="0">
              <a:highlight>
                <a:srgbClr val="FFC715"/>
              </a:highlight>
            </a:endParaRPr>
          </a:p>
        </p:txBody>
      </p:sp>
      <p:sp>
        <p:nvSpPr>
          <p:cNvPr id="6" name="文本框 5"/>
          <p:cNvSpPr txBox="1"/>
          <p:nvPr/>
        </p:nvSpPr>
        <p:spPr>
          <a:xfrm>
            <a:off x="2339752" y="4293096"/>
            <a:ext cx="1512168" cy="400110"/>
          </a:xfrm>
          <a:prstGeom prst="rect">
            <a:avLst/>
          </a:prstGeom>
          <a:noFill/>
        </p:spPr>
        <p:txBody>
          <a:bodyPr wrap="square" rtlCol="0">
            <a:spAutoFit/>
          </a:bodyPr>
          <a:lstStyle/>
          <a:p>
            <a:r>
              <a:rPr lang="en-US" altLang="zh-CN" sz="2000" dirty="0">
                <a:highlight>
                  <a:srgbClr val="FFC715"/>
                </a:highlight>
              </a:rPr>
              <a:t>3192%32</a:t>
            </a:r>
            <a:endParaRPr lang="zh-CN" altLang="en-US" sz="2000" dirty="0">
              <a:highlight>
                <a:srgbClr val="FFC715"/>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96CC27-541A-4E68-A17B-2660855C8D8F}" type="slidenum">
              <a:rPr lang="zh-CN" altLang="en-US" smtClean="0"/>
              <a:t>20</a:t>
            </a:fld>
            <a:endParaRPr lang="en-US" altLang="zh-CN"/>
          </a:p>
        </p:txBody>
      </p:sp>
      <p:sp>
        <p:nvSpPr>
          <p:cNvPr id="5" name="Text Box 4"/>
          <p:cNvSpPr txBox="1">
            <a:spLocks noChangeArrowheads="1"/>
          </p:cNvSpPr>
          <p:nvPr/>
        </p:nvSpPr>
        <p:spPr bwMode="auto">
          <a:xfrm>
            <a:off x="827088" y="1268413"/>
            <a:ext cx="7561262" cy="554037"/>
          </a:xfrm>
          <a:prstGeom prst="rect">
            <a:avLst/>
          </a:prstGeom>
          <a:noFill/>
          <a:ln>
            <a:noFill/>
          </a:ln>
          <a:effectLst/>
        </p:spPr>
        <p:txBody>
          <a:bodyPr>
            <a:spAutoFit/>
          </a:bodyPr>
          <a:lstStyle/>
          <a:p>
            <a:pPr eaLnBrk="1" hangingPunct="1">
              <a:spcBef>
                <a:spcPct val="30000"/>
              </a:spcBef>
              <a:defRPr/>
            </a:pPr>
            <a:r>
              <a:rPr lang="zh-CN" altLang="en-US" sz="3000" dirty="0">
                <a:effectLst>
                  <a:outerShdw blurRad="38100" dist="38100" dir="2700000" algn="tl">
                    <a:srgbClr val="C0C0C0"/>
                  </a:outerShdw>
                </a:effectLst>
                <a:latin typeface="Times New Roman" panose="02020603050405020304" pitchFamily="18" charset="0"/>
              </a:rPr>
              <a:t>（</a:t>
            </a:r>
            <a:r>
              <a:rPr lang="en-US" altLang="zh-CN" sz="3000" dirty="0">
                <a:effectLst>
                  <a:outerShdw blurRad="38100" dist="38100" dir="2700000" algn="tl">
                    <a:srgbClr val="C0C0C0"/>
                  </a:outerShdw>
                </a:effectLst>
                <a:latin typeface="Times New Roman" panose="02020603050405020304" pitchFamily="18" charset="0"/>
              </a:rPr>
              <a:t>2</a:t>
            </a:r>
            <a:r>
              <a:rPr lang="zh-CN" altLang="en-US" sz="3000" dirty="0">
                <a:effectLst>
                  <a:outerShdw blurRad="38100" dist="38100" dir="2700000" algn="tl">
                    <a:srgbClr val="C0C0C0"/>
                  </a:outerShdw>
                </a:effectLst>
                <a:latin typeface="Times New Roman" panose="02020603050405020304" pitchFamily="18" charset="0"/>
              </a:rPr>
              <a:t>）中断方式的实现</a:t>
            </a:r>
          </a:p>
        </p:txBody>
      </p:sp>
      <p:sp>
        <p:nvSpPr>
          <p:cNvPr id="6" name="Text Box 5"/>
          <p:cNvSpPr txBox="1">
            <a:spLocks noChangeArrowheads="1"/>
          </p:cNvSpPr>
          <p:nvPr/>
        </p:nvSpPr>
        <p:spPr bwMode="auto">
          <a:xfrm>
            <a:off x="827088" y="2060575"/>
            <a:ext cx="7705352" cy="3711785"/>
          </a:xfrm>
          <a:prstGeom prst="rect">
            <a:avLst/>
          </a:prstGeom>
          <a:noFill/>
          <a:ln>
            <a:noFill/>
          </a:ln>
          <a:effectLst/>
        </p:spPr>
        <p:txBody>
          <a:bodyPr wrap="square">
            <a:spAutoFit/>
          </a:bodyPr>
          <a:lstStyle/>
          <a:p>
            <a:pPr eaLnBrk="1" hangingPunct="1">
              <a:lnSpc>
                <a:spcPct val="120000"/>
              </a:lnSpc>
              <a:spcBef>
                <a:spcPct val="40000"/>
              </a:spcBef>
              <a:defRPr/>
            </a:pP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    定时器</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开始工作后，</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5ms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计时时间到时则</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TF1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被自动置位，产生溢出中断请求。</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响应中断时，</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TF1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由硬件自动清</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CPU</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执行中断函数，计数变量</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count+1</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，若其不等于</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200</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则说明未到</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重置计数初值启动下一个</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5ms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的计数。当</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时间到时，控制</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LED</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变化。重复以上过程，可实现</a:t>
            </a:r>
            <a:r>
              <a:rPr lang="en-US" altLang="zh-CN" dirty="0">
                <a:effectLst>
                  <a:outerShdw blurRad="38100" dist="38100" dir="2700000" algn="tl">
                    <a:srgbClr val="C0C0C0"/>
                  </a:outerShdw>
                </a:effectLst>
                <a:latin typeface="楷体" panose="02010609060101010101" pitchFamily="49" charset="-122"/>
                <a:ea typeface="楷体" panose="02010609060101010101" pitchFamily="49" charset="-122"/>
              </a:rPr>
              <a:t>1S</a:t>
            </a:r>
            <a:r>
              <a:rPr lang="zh-CN" altLang="en-US" dirty="0">
                <a:effectLst>
                  <a:outerShdw blurRad="38100" dist="38100" dir="2700000" algn="tl">
                    <a:srgbClr val="C0C0C0"/>
                  </a:outerShdw>
                </a:effectLst>
                <a:latin typeface="楷体" panose="02010609060101010101" pitchFamily="49" charset="-122"/>
                <a:ea typeface="楷体" panose="02010609060101010101" pitchFamily="49" charset="-122"/>
              </a:rPr>
              <a:t>流水点灯。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5AF347-A83D-4ACF-B829-C6230AFBD0FD}" type="slidenum">
              <a:rPr lang="zh-CN" altLang="en-US" smtClean="0"/>
              <a:t>21</a:t>
            </a:fld>
            <a:endParaRPr lang="en-US" altLang="zh-CN"/>
          </a:p>
        </p:txBody>
      </p:sp>
      <p:pic>
        <p:nvPicPr>
          <p:cNvPr id="3" name="图片 2"/>
          <p:cNvPicPr>
            <a:picLocks noChangeAspect="1"/>
          </p:cNvPicPr>
          <p:nvPr/>
        </p:nvPicPr>
        <p:blipFill>
          <a:blip r:embed="rId2"/>
          <a:stretch>
            <a:fillRect/>
          </a:stretch>
        </p:blipFill>
        <p:spPr>
          <a:xfrm>
            <a:off x="467544" y="116632"/>
            <a:ext cx="4968552" cy="4032448"/>
          </a:xfrm>
          <a:prstGeom prst="rect">
            <a:avLst/>
          </a:prstGeom>
        </p:spPr>
      </p:pic>
      <p:pic>
        <p:nvPicPr>
          <p:cNvPr id="4" name="图片 3"/>
          <p:cNvPicPr>
            <a:picLocks noChangeAspect="1"/>
          </p:cNvPicPr>
          <p:nvPr/>
        </p:nvPicPr>
        <p:blipFill>
          <a:blip r:embed="rId3"/>
          <a:stretch>
            <a:fillRect/>
          </a:stretch>
        </p:blipFill>
        <p:spPr>
          <a:xfrm>
            <a:off x="4355976" y="1772816"/>
            <a:ext cx="3571543" cy="4320480"/>
          </a:xfrm>
          <a:prstGeom prst="rect">
            <a:avLst/>
          </a:prstGeom>
        </p:spPr>
      </p:pic>
      <p:sp>
        <p:nvSpPr>
          <p:cNvPr id="5" name="矩形 4"/>
          <p:cNvSpPr/>
          <p:nvPr/>
        </p:nvSpPr>
        <p:spPr bwMode="auto">
          <a:xfrm>
            <a:off x="4798415" y="2265696"/>
            <a:ext cx="1008112" cy="35043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6" name="矩形 5"/>
          <p:cNvSpPr/>
          <p:nvPr/>
        </p:nvSpPr>
        <p:spPr bwMode="auto">
          <a:xfrm>
            <a:off x="4788024" y="5517232"/>
            <a:ext cx="1008112" cy="35043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xfrm>
            <a:off x="7019925" y="6092825"/>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1415A3B-0790-47ED-A463-916871E0ED8A}" type="slidenum">
              <a:rPr lang="zh-CN" altLang="en-US" sz="1400"/>
              <a:t>22</a:t>
            </a:fld>
            <a:endParaRPr lang="en-US" altLang="zh-CN" sz="1400"/>
          </a:p>
        </p:txBody>
      </p:sp>
      <p:sp>
        <p:nvSpPr>
          <p:cNvPr id="35843" name="Rectangle 2"/>
          <p:cNvSpPr>
            <a:spLocks noGrp="1" noChangeArrowheads="1"/>
          </p:cNvSpPr>
          <p:nvPr>
            <p:ph type="title"/>
          </p:nvPr>
        </p:nvSpPr>
        <p:spPr>
          <a:xfrm>
            <a:off x="755650" y="333375"/>
            <a:ext cx="7920806" cy="576263"/>
          </a:xfrm>
        </p:spPr>
        <p:txBody>
          <a:bodyPr/>
          <a:lstStyle/>
          <a:p>
            <a:pPr eaLnBrk="1" hangingPunct="1">
              <a:defRPr/>
            </a:pP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例</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3 </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用</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T1</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查询方式控制单片机发出</a:t>
            </a:r>
            <a:r>
              <a:rPr lang="en-US" altLang="zh-CN"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1kHz</a:t>
            </a:r>
            <a:r>
              <a:rPr lang="zh-CN" altLang="en-US" sz="30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音频。</a:t>
            </a:r>
          </a:p>
        </p:txBody>
      </p:sp>
      <p:sp>
        <p:nvSpPr>
          <p:cNvPr id="35844" name="Rectangle 3"/>
          <p:cNvSpPr>
            <a:spLocks noGrp="1" noChangeArrowheads="1"/>
          </p:cNvSpPr>
          <p:nvPr>
            <p:ph type="body" idx="1"/>
          </p:nvPr>
        </p:nvSpPr>
        <p:spPr>
          <a:xfrm>
            <a:off x="755650" y="1125538"/>
            <a:ext cx="7772400" cy="1657350"/>
          </a:xfrm>
          <a:solidFill>
            <a:schemeClr val="bg1"/>
          </a:solidFill>
        </p:spPr>
        <p:txBody>
          <a:bodyPr/>
          <a:lstStyle/>
          <a:p>
            <a:pPr eaLnBrk="1" hangingPunct="1">
              <a:lnSpc>
                <a:spcPct val="120000"/>
              </a:lnSpc>
              <a:defRPr/>
            </a:pPr>
            <a:r>
              <a:rPr lang="zh-CN" altLang="en-US" sz="2800" b="1" dirty="0">
                <a:effectLst>
                  <a:outerShdw blurRad="38100" dist="38100" dir="2700000" algn="tl">
                    <a:srgbClr val="000000">
                      <a:alpha val="43137"/>
                    </a:srgbClr>
                  </a:outerShdw>
                </a:effectLst>
              </a:rPr>
              <a:t>蜂鸣器是一种一体化结构的电子讯响器，采用直流电压供电，广泛应用于计算机、打印机、复印机、报警器、电子玩具、汽车电子设备、电话机、定时器等电子产品中作发声器件。 </a:t>
            </a:r>
          </a:p>
        </p:txBody>
      </p:sp>
      <p:sp>
        <p:nvSpPr>
          <p:cNvPr id="35845" name="Rectangle 4"/>
          <p:cNvSpPr>
            <a:spLocks noChangeArrowheads="1"/>
          </p:cNvSpPr>
          <p:nvPr/>
        </p:nvSpPr>
        <p:spPr bwMode="auto">
          <a:xfrm>
            <a:off x="755650" y="3170238"/>
            <a:ext cx="7772400" cy="2490787"/>
          </a:xfrm>
          <a:prstGeom prst="rect">
            <a:avLst/>
          </a:prstGeom>
          <a:noFill/>
          <a:ln>
            <a:noFill/>
          </a:ln>
          <a:effec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defRPr/>
            </a:pPr>
            <a:r>
              <a:rPr lang="zh-CN" altLang="en-US" sz="2800" dirty="0">
                <a:solidFill>
                  <a:srgbClr val="C00000"/>
                </a:solidFill>
                <a:effectLst>
                  <a:outerShdw blurRad="38100" dist="38100" dir="2700000" algn="tl">
                    <a:srgbClr val="000000">
                      <a:alpha val="43137"/>
                    </a:srgbClr>
                  </a:outerShdw>
                </a:effectLst>
              </a:rPr>
              <a:t>当有一定频率的电流通过时，蜂鸣器就会发出声音</a:t>
            </a:r>
            <a:r>
              <a:rPr lang="zh-CN" altLang="en-US" sz="2800" dirty="0">
                <a:effectLst>
                  <a:outerShdw blurRad="38100" dist="38100" dir="2700000" algn="tl">
                    <a:srgbClr val="000000">
                      <a:alpha val="43137"/>
                    </a:srgbClr>
                  </a:outerShdw>
                </a:effectLst>
              </a:rPr>
              <a:t>。</a:t>
            </a:r>
          </a:p>
          <a:p>
            <a:pPr eaLnBrk="1" hangingPunct="1">
              <a:lnSpc>
                <a:spcPct val="120000"/>
              </a:lnSpc>
              <a:defRPr/>
            </a:pPr>
            <a:r>
              <a:rPr lang="zh-CN" altLang="en-US" sz="2800" dirty="0">
                <a:effectLst>
                  <a:outerShdw blurRad="38100" dist="38100" dir="2700000" algn="tl">
                    <a:srgbClr val="000000">
                      <a:alpha val="43137"/>
                    </a:srgbClr>
                  </a:outerShdw>
                </a:effectLst>
              </a:rPr>
              <a:t>通常，</a:t>
            </a:r>
            <a:r>
              <a:rPr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利用单片机的并行口，输出方波，这个方波输入进蜂鸣器就会产生声音</a:t>
            </a:r>
            <a:r>
              <a:rPr lang="zh-CN" altLang="en-US" sz="2800" dirty="0">
                <a:effectLst>
                  <a:outerShdw blurRad="38100" dist="38100" dir="2700000" algn="tl">
                    <a:srgbClr val="000000">
                      <a:alpha val="43137"/>
                    </a:srgbClr>
                  </a:outerShdw>
                </a:effectLst>
              </a:rPr>
              <a:t>，通过控制方波的频率、时间，还能产生简单的音乐 。</a:t>
            </a:r>
          </a:p>
        </p:txBody>
      </p:sp>
      <p:sp>
        <p:nvSpPr>
          <p:cNvPr id="50185"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844">
                                            <p:bg/>
                                          </p:spTgt>
                                        </p:tgtEl>
                                        <p:attrNameLst>
                                          <p:attrName>style.visibility</p:attrName>
                                        </p:attrNameLst>
                                      </p:cBhvr>
                                      <p:to>
                                        <p:strVal val="visible"/>
                                      </p:to>
                                    </p:set>
                                    <p:animEffect transition="in" filter="barn(inVertical)">
                                      <p:cBhvr>
                                        <p:cTn id="7" dur="500"/>
                                        <p:tgtEl>
                                          <p:spTgt spid="35844">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5844">
                                            <p:txEl>
                                              <p:pRg st="0" end="0"/>
                                            </p:txEl>
                                          </p:spTgt>
                                        </p:tgtEl>
                                        <p:attrNameLst>
                                          <p:attrName>style.visibility</p:attrName>
                                        </p:attrNameLst>
                                      </p:cBhvr>
                                      <p:to>
                                        <p:strVal val="visible"/>
                                      </p:to>
                                    </p:set>
                                    <p:animEffect transition="in" filter="barn(inVertical)">
                                      <p:cBhvr>
                                        <p:cTn id="12" dur="500"/>
                                        <p:tgtEl>
                                          <p:spTgt spid="3584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5845">
                                            <p:txEl>
                                              <p:pRg st="0" end="0"/>
                                            </p:txEl>
                                          </p:spTgt>
                                        </p:tgtEl>
                                        <p:attrNameLst>
                                          <p:attrName>style.visibility</p:attrName>
                                        </p:attrNameLst>
                                      </p:cBhvr>
                                      <p:to>
                                        <p:strVal val="visible"/>
                                      </p:to>
                                    </p:set>
                                    <p:animEffect transition="in" filter="randombar(horizontal)">
                                      <p:cBhvr>
                                        <p:cTn id="17" dur="500"/>
                                        <p:tgtEl>
                                          <p:spTgt spid="358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5845">
                                            <p:txEl>
                                              <p:pRg st="1" end="1"/>
                                            </p:txEl>
                                          </p:spTgt>
                                        </p:tgtEl>
                                        <p:attrNameLst>
                                          <p:attrName>style.visibility</p:attrName>
                                        </p:attrNameLst>
                                      </p:cBhvr>
                                      <p:to>
                                        <p:strVal val="visible"/>
                                      </p:to>
                                    </p:set>
                                    <p:animEffect transition="in" filter="randombar(horizontal)">
                                      <p:cBhvr>
                                        <p:cTn id="22" dur="500"/>
                                        <p:tgtEl>
                                          <p:spTgt spid="358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animBg="1"/>
      <p:bldP spid="3584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868AA45-75AC-49C9-A6EF-BCD7E15543C9}"/>
              </a:ext>
            </a:extLst>
          </p:cNvPr>
          <p:cNvSpPr>
            <a:spLocks noGrp="1"/>
          </p:cNvSpPr>
          <p:nvPr>
            <p:ph type="sldNum" sz="quarter" idx="12"/>
          </p:nvPr>
        </p:nvSpPr>
        <p:spPr/>
        <p:txBody>
          <a:bodyPr/>
          <a:lstStyle/>
          <a:p>
            <a:pPr>
              <a:defRPr/>
            </a:pPr>
            <a:fld id="{AA96CC27-541A-4E68-A17B-2660855C8D8F}" type="slidenum">
              <a:rPr lang="zh-CN" altLang="en-US" smtClean="0"/>
              <a:t>23</a:t>
            </a:fld>
            <a:endParaRPr lang="en-US" altLang="zh-CN"/>
          </a:p>
        </p:txBody>
      </p:sp>
      <p:sp>
        <p:nvSpPr>
          <p:cNvPr id="6" name="文本框 5">
            <a:extLst>
              <a:ext uri="{FF2B5EF4-FFF2-40B4-BE49-F238E27FC236}">
                <a16:creationId xmlns:a16="http://schemas.microsoft.com/office/drawing/2014/main" id="{DC20C51A-5ADF-450B-8453-C0FF5A29FD39}"/>
              </a:ext>
            </a:extLst>
          </p:cNvPr>
          <p:cNvSpPr txBox="1"/>
          <p:nvPr/>
        </p:nvSpPr>
        <p:spPr>
          <a:xfrm>
            <a:off x="884902" y="707460"/>
            <a:ext cx="7776864" cy="2703882"/>
          </a:xfrm>
          <a:prstGeom prst="rect">
            <a:avLst/>
          </a:prstGeom>
          <a:noFill/>
        </p:spPr>
        <p:txBody>
          <a:bodyPr wrap="square" rtlCol="0">
            <a:spAutoFit/>
          </a:bodyPr>
          <a:lstStyle/>
          <a:p>
            <a:pPr>
              <a:lnSpc>
                <a:spcPct val="120000"/>
              </a:lnSpc>
            </a:pPr>
            <a:r>
              <a:rPr lang="zh-CN" altLang="en-US" sz="2400" dirty="0">
                <a:effectLst>
                  <a:outerShdw blurRad="38100" dist="38100" dir="2700000" algn="tl">
                    <a:srgbClr val="000000">
                      <a:alpha val="43137"/>
                    </a:srgbClr>
                  </a:outerShdw>
                </a:effectLst>
              </a:rPr>
              <a:t>蜂鸣器的发声原理由振动装置和谐振装置组成，而蜂鸣器又分为无源他激型与有源自激型。</a:t>
            </a:r>
            <a:endParaRPr lang="en-US" altLang="zh-CN" sz="2400" dirty="0">
              <a:effectLst>
                <a:outerShdw blurRad="38100" dist="38100" dir="2700000" algn="tl">
                  <a:srgbClr val="000000">
                    <a:alpha val="43137"/>
                  </a:srgbClr>
                </a:outerShdw>
              </a:effectLst>
            </a:endParaRPr>
          </a:p>
          <a:p>
            <a:pPr>
              <a:lnSpc>
                <a:spcPct val="120000"/>
              </a:lnSpc>
            </a:pPr>
            <a:endParaRPr lang="zh-CN" altLang="en-US" sz="2400" dirty="0">
              <a:effectLst>
                <a:outerShdw blurRad="38100" dist="38100" dir="2700000" algn="tl">
                  <a:srgbClr val="000000">
                    <a:alpha val="43137"/>
                  </a:srgbClr>
                </a:outerShdw>
              </a:effectLst>
            </a:endParaRPr>
          </a:p>
          <a:p>
            <a:pPr>
              <a:lnSpc>
                <a:spcPct val="120000"/>
              </a:lnSpc>
            </a:pPr>
            <a:r>
              <a:rPr lang="zh-CN" altLang="en-US" sz="2400" dirty="0">
                <a:effectLst>
                  <a:outerShdw blurRad="38100" dist="38100" dir="2700000" algn="tl">
                    <a:srgbClr val="000000">
                      <a:alpha val="43137"/>
                    </a:srgbClr>
                  </a:outerShdw>
                </a:effectLst>
              </a:rPr>
              <a:t>无源他激型蜂鸣器的工作发声原理是：方波信号输入谐振装置转换为声音信号输出。</a:t>
            </a:r>
          </a:p>
          <a:p>
            <a:pPr>
              <a:lnSpc>
                <a:spcPct val="120000"/>
              </a:lnSpc>
            </a:pPr>
            <a:endParaRPr lang="zh-CN" altLang="en-US" sz="2400" dirty="0">
              <a:effectLst>
                <a:outerShdw blurRad="38100" dist="38100" dir="2700000" algn="tl">
                  <a:srgbClr val="000000">
                    <a:alpha val="43137"/>
                  </a:srgbClr>
                </a:outerShdw>
              </a:effectLst>
            </a:endParaRPr>
          </a:p>
        </p:txBody>
      </p:sp>
      <p:pic>
        <p:nvPicPr>
          <p:cNvPr id="7" name="图片 6">
            <a:extLst>
              <a:ext uri="{FF2B5EF4-FFF2-40B4-BE49-F238E27FC236}">
                <a16:creationId xmlns:a16="http://schemas.microsoft.com/office/drawing/2014/main" id="{18E246DB-D802-40BF-A30C-409C46C6F760}"/>
              </a:ext>
            </a:extLst>
          </p:cNvPr>
          <p:cNvPicPr>
            <a:picLocks noChangeAspect="1"/>
          </p:cNvPicPr>
          <p:nvPr/>
        </p:nvPicPr>
        <p:blipFill>
          <a:blip r:embed="rId2"/>
          <a:stretch>
            <a:fillRect/>
          </a:stretch>
        </p:blipFill>
        <p:spPr>
          <a:xfrm>
            <a:off x="2555776" y="2889628"/>
            <a:ext cx="4091644" cy="1043428"/>
          </a:xfrm>
          <a:prstGeom prst="rect">
            <a:avLst/>
          </a:prstGeom>
        </p:spPr>
      </p:pic>
      <p:sp>
        <p:nvSpPr>
          <p:cNvPr id="8" name="文本框 7">
            <a:extLst>
              <a:ext uri="{FF2B5EF4-FFF2-40B4-BE49-F238E27FC236}">
                <a16:creationId xmlns:a16="http://schemas.microsoft.com/office/drawing/2014/main" id="{69FD7C42-97D8-4ACE-A04C-BD4FA5C3D1FE}"/>
              </a:ext>
            </a:extLst>
          </p:cNvPr>
          <p:cNvSpPr txBox="1"/>
          <p:nvPr/>
        </p:nvSpPr>
        <p:spPr>
          <a:xfrm>
            <a:off x="911306" y="3934839"/>
            <a:ext cx="7632848" cy="1372427"/>
          </a:xfrm>
          <a:prstGeom prst="rect">
            <a:avLst/>
          </a:prstGeom>
          <a:noFill/>
        </p:spPr>
        <p:txBody>
          <a:bodyPr wrap="square" rtlCol="0">
            <a:spAutoFit/>
          </a:bodyPr>
          <a:lstStyle/>
          <a:p>
            <a:pPr>
              <a:lnSpc>
                <a:spcPct val="120000"/>
              </a:lnSpc>
            </a:pPr>
            <a:r>
              <a:rPr lang="zh-CN" altLang="en-US" sz="2400" dirty="0">
                <a:effectLst>
                  <a:outerShdw blurRad="38100" dist="38100" dir="2700000" algn="tl">
                    <a:srgbClr val="000000">
                      <a:alpha val="43137"/>
                    </a:srgbClr>
                  </a:outerShdw>
                </a:effectLst>
              </a:rPr>
              <a:t>有源自激型蜂鸣器的工作发声原理是：直流电源输入经过振荡系统的放大取样电路在谐振装置作用下产生声音信号。</a:t>
            </a:r>
          </a:p>
        </p:txBody>
      </p:sp>
      <p:pic>
        <p:nvPicPr>
          <p:cNvPr id="9" name="图片 8">
            <a:extLst>
              <a:ext uri="{FF2B5EF4-FFF2-40B4-BE49-F238E27FC236}">
                <a16:creationId xmlns:a16="http://schemas.microsoft.com/office/drawing/2014/main" id="{3C7983C3-AED4-4DB3-9E9C-6C8A1B605652}"/>
              </a:ext>
            </a:extLst>
          </p:cNvPr>
          <p:cNvPicPr>
            <a:picLocks noChangeAspect="1"/>
          </p:cNvPicPr>
          <p:nvPr/>
        </p:nvPicPr>
        <p:blipFill>
          <a:blip r:embed="rId3"/>
          <a:stretch>
            <a:fillRect/>
          </a:stretch>
        </p:blipFill>
        <p:spPr>
          <a:xfrm>
            <a:off x="2334835" y="4962293"/>
            <a:ext cx="4474328" cy="1078742"/>
          </a:xfrm>
          <a:prstGeom prst="rect">
            <a:avLst/>
          </a:prstGeom>
        </p:spPr>
      </p:pic>
    </p:spTree>
    <p:extLst>
      <p:ext uri="{BB962C8B-B14F-4D97-AF65-F5344CB8AC3E}">
        <p14:creationId xmlns:p14="http://schemas.microsoft.com/office/powerpoint/2010/main" val="640834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96CC27-541A-4E68-A17B-2660855C8D8F}" type="slidenum">
              <a:rPr lang="zh-CN" altLang="en-US" smtClean="0"/>
              <a:t>24</a:t>
            </a:fld>
            <a:endParaRPr lang="en-US" altLang="zh-CN"/>
          </a:p>
        </p:txBody>
      </p:sp>
      <p:pic>
        <p:nvPicPr>
          <p:cNvPr id="5" name="Picture 5"/>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a:stretch>
            <a:fillRect/>
          </a:stretch>
        </p:blipFill>
        <p:spPr bwMode="auto">
          <a:xfrm>
            <a:off x="1187624" y="514350"/>
            <a:ext cx="6337300"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椭圆形标注 1"/>
          <p:cNvSpPr>
            <a:spLocks noChangeArrowheads="1"/>
          </p:cNvSpPr>
          <p:nvPr/>
        </p:nvSpPr>
        <p:spPr bwMode="auto">
          <a:xfrm>
            <a:off x="6803851" y="3861048"/>
            <a:ext cx="2305050" cy="598487"/>
          </a:xfrm>
          <a:prstGeom prst="wedgeEllipseCallout">
            <a:avLst>
              <a:gd name="adj1" fmla="val -35421"/>
              <a:gd name="adj2" fmla="val 76167"/>
            </a:avLst>
          </a:prstGeom>
          <a:solidFill>
            <a:srgbClr val="FFC000"/>
          </a:solidFill>
          <a:ln w="9525" algn="ctr">
            <a:solidFill>
              <a:schemeClr val="tx1"/>
            </a:solidFill>
            <a:round/>
          </a:ln>
        </p:spPr>
        <p:txBody>
          <a:bodyPr lIns="36000" tIns="36000" rIns="36000" bIns="36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a:t>Sounder</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CCF9E9C-5E5C-43BB-8CA7-804FF6CC84F0}" type="slidenum">
              <a:rPr lang="zh-CN" altLang="en-US" sz="1400"/>
              <a:t>25</a:t>
            </a:fld>
            <a:endParaRPr lang="en-US" altLang="zh-CN" sz="1400"/>
          </a:p>
        </p:txBody>
      </p:sp>
      <p:sp>
        <p:nvSpPr>
          <p:cNvPr id="69636" name="Text Box 4"/>
          <p:cNvSpPr txBox="1">
            <a:spLocks noChangeArrowheads="1"/>
          </p:cNvSpPr>
          <p:nvPr/>
        </p:nvSpPr>
        <p:spPr bwMode="auto">
          <a:xfrm>
            <a:off x="1042988" y="688975"/>
            <a:ext cx="5834062" cy="579438"/>
          </a:xfrm>
          <a:prstGeom prst="rect">
            <a:avLst/>
          </a:prstGeom>
          <a:noFill/>
          <a:ln>
            <a:noFill/>
          </a:ln>
          <a:effectLst/>
        </p:spPr>
        <p:txBody>
          <a:bodyPr>
            <a:spAutoFit/>
          </a:bodyPr>
          <a:lstStyle/>
          <a:p>
            <a:pPr eaLnBrk="1" hangingPunct="1">
              <a:spcBef>
                <a:spcPct val="50000"/>
              </a:spcBef>
              <a:defRPr/>
            </a:pPr>
            <a:r>
              <a:rPr lang="en-US" altLang="zh-CN" sz="3200">
                <a:solidFill>
                  <a:srgbClr val="0000FF"/>
                </a:solidFill>
                <a:effectLst>
                  <a:outerShdw blurRad="38100" dist="38100" dir="2700000" algn="tl">
                    <a:srgbClr val="C0C0C0"/>
                  </a:outerShdw>
                </a:effectLst>
                <a:latin typeface="楷体_GB2312" pitchFamily="49" charset="-122"/>
                <a:ea typeface="楷体_GB2312" pitchFamily="49" charset="-122"/>
              </a:rPr>
              <a:t>1. </a:t>
            </a:r>
            <a:r>
              <a:rPr lang="zh-CN" altLang="en-US" sz="3200">
                <a:solidFill>
                  <a:srgbClr val="0000FF"/>
                </a:solidFill>
                <a:effectLst>
                  <a:outerShdw blurRad="38100" dist="38100" dir="2700000" algn="tl">
                    <a:srgbClr val="C0C0C0"/>
                  </a:outerShdw>
                </a:effectLst>
                <a:latin typeface="楷体_GB2312" pitchFamily="49" charset="-122"/>
                <a:ea typeface="楷体_GB2312" pitchFamily="49" charset="-122"/>
              </a:rPr>
              <a:t>实现方法</a:t>
            </a:r>
          </a:p>
        </p:txBody>
      </p:sp>
      <p:sp>
        <p:nvSpPr>
          <p:cNvPr id="69637" name="Text Box 5"/>
          <p:cNvSpPr txBox="1">
            <a:spLocks noChangeArrowheads="1"/>
          </p:cNvSpPr>
          <p:nvPr/>
        </p:nvSpPr>
        <p:spPr bwMode="auto">
          <a:xfrm>
            <a:off x="827088" y="1268413"/>
            <a:ext cx="7561262" cy="1074737"/>
          </a:xfrm>
          <a:prstGeom prst="rect">
            <a:avLst/>
          </a:prstGeom>
          <a:noFill/>
          <a:ln>
            <a:noFill/>
          </a:ln>
          <a:effectLst/>
        </p:spPr>
        <p:txBody>
          <a:bodyPr>
            <a:spAutoFit/>
          </a:bodyPr>
          <a:lstStyle/>
          <a:p>
            <a:pPr eaLnBrk="1" hangingPunct="1">
              <a:spcBef>
                <a:spcPct val="30000"/>
              </a:spcBef>
              <a:defRPr/>
            </a:pPr>
            <a:r>
              <a:rPr lang="zh-CN" altLang="en-US">
                <a:effectLst>
                  <a:outerShdw blurRad="38100" dist="38100" dir="2700000" algn="tl">
                    <a:srgbClr val="C0C0C0"/>
                  </a:outerShdw>
                </a:effectLst>
                <a:latin typeface="Times New Roman" panose="02020603050405020304" pitchFamily="18" charset="0"/>
              </a:rPr>
              <a:t>（</a:t>
            </a:r>
            <a:r>
              <a:rPr lang="en-US" altLang="zh-CN">
                <a:effectLst>
                  <a:outerShdw blurRad="38100" dist="38100" dir="2700000" algn="tl">
                    <a:srgbClr val="C0C0C0"/>
                  </a:outerShdw>
                </a:effectLst>
                <a:latin typeface="Times New Roman" panose="02020603050405020304" pitchFamily="18" charset="0"/>
              </a:rPr>
              <a:t>1</a:t>
            </a:r>
            <a:r>
              <a:rPr lang="zh-CN" altLang="en-US">
                <a:effectLst>
                  <a:outerShdw blurRad="38100" dist="38100" dir="2700000" algn="tl">
                    <a:srgbClr val="C0C0C0"/>
                  </a:outerShdw>
                </a:effectLst>
                <a:latin typeface="Times New Roman" panose="02020603050405020304" pitchFamily="18" charset="0"/>
              </a:rPr>
              <a:t>）</a:t>
            </a:r>
            <a:r>
              <a:rPr lang="en-US" altLang="zh-CN">
                <a:effectLst>
                  <a:outerShdw blurRad="38100" dist="38100" dir="2700000" algn="tl">
                    <a:srgbClr val="C0C0C0"/>
                  </a:outerShdw>
                </a:effectLst>
                <a:latin typeface="Times New Roman" panose="02020603050405020304" pitchFamily="18" charset="0"/>
              </a:rPr>
              <a:t>T1</a:t>
            </a:r>
            <a:r>
              <a:rPr lang="zh-CN" altLang="en-US">
                <a:effectLst>
                  <a:outerShdw blurRad="38100" dist="38100" dir="2700000" algn="tl">
                    <a:srgbClr val="C0C0C0"/>
                  </a:outerShdw>
                </a:effectLst>
                <a:latin typeface="Times New Roman" panose="02020603050405020304" pitchFamily="18" charset="0"/>
              </a:rPr>
              <a:t>工作方式的设置</a:t>
            </a:r>
          </a:p>
          <a:p>
            <a:pPr eaLnBrk="1" hangingPunct="1">
              <a:spcBef>
                <a:spcPct val="30000"/>
              </a:spcBef>
              <a:defRPr/>
            </a:pPr>
            <a:r>
              <a:rPr lang="en-US" altLang="zh-CN">
                <a:effectLst>
                  <a:outerShdw blurRad="38100" dist="38100" dir="2700000" algn="tl">
                    <a:srgbClr val="C0C0C0"/>
                  </a:outerShdw>
                </a:effectLst>
                <a:latin typeface="Times New Roman" panose="02020603050405020304" pitchFamily="18" charset="0"/>
              </a:rPr>
              <a:t>         TMOD</a:t>
            </a:r>
            <a:r>
              <a:rPr lang="zh-CN" altLang="en-US">
                <a:effectLst>
                  <a:outerShdw blurRad="38100" dist="38100" dir="2700000" algn="tl">
                    <a:srgbClr val="C0C0C0"/>
                  </a:outerShdw>
                </a:effectLst>
                <a:latin typeface="Times New Roman" panose="02020603050405020304" pitchFamily="18" charset="0"/>
              </a:rPr>
              <a:t>＝</a:t>
            </a:r>
            <a:r>
              <a:rPr lang="en-US" altLang="zh-CN">
                <a:effectLst>
                  <a:outerShdw blurRad="38100" dist="38100" dir="2700000" algn="tl">
                    <a:srgbClr val="C0C0C0"/>
                  </a:outerShdw>
                </a:effectLst>
                <a:latin typeface="Times New Roman" panose="02020603050405020304" pitchFamily="18" charset="0"/>
              </a:rPr>
              <a:t>0x10</a:t>
            </a:r>
          </a:p>
        </p:txBody>
      </p:sp>
      <p:sp>
        <p:nvSpPr>
          <p:cNvPr id="69638" name="Text Box 6"/>
          <p:cNvSpPr txBox="1">
            <a:spLocks noChangeArrowheads="1"/>
          </p:cNvSpPr>
          <p:nvPr/>
        </p:nvSpPr>
        <p:spPr bwMode="auto">
          <a:xfrm>
            <a:off x="827088" y="2349500"/>
            <a:ext cx="7561262" cy="2868613"/>
          </a:xfrm>
          <a:prstGeom prst="rect">
            <a:avLst/>
          </a:prstGeom>
          <a:noFill/>
          <a:ln>
            <a:noFill/>
          </a:ln>
          <a:effectLst/>
        </p:spPr>
        <p:txBody>
          <a:bodyPr>
            <a:spAutoFit/>
          </a:bodyPr>
          <a:lstStyle/>
          <a:p>
            <a:pPr eaLnBrk="1" hangingPunct="1">
              <a:spcBef>
                <a:spcPct val="50000"/>
              </a:spcBef>
              <a:defRPr/>
            </a:pPr>
            <a:r>
              <a:rPr lang="zh-CN" altLang="en-US" dirty="0">
                <a:effectLst>
                  <a:outerShdw blurRad="38100" dist="38100" dir="2700000" algn="tl">
                    <a:srgbClr val="C0C0C0"/>
                  </a:outerShdw>
                </a:effectLst>
                <a:latin typeface="Times New Roman" panose="02020603050405020304" pitchFamily="18" charset="0"/>
              </a:rPr>
              <a:t>（</a:t>
            </a:r>
            <a:r>
              <a:rPr lang="en-US" altLang="zh-CN" dirty="0">
                <a:effectLst>
                  <a:outerShdw blurRad="38100" dist="38100" dir="2700000" algn="tl">
                    <a:srgbClr val="C0C0C0"/>
                  </a:outerShdw>
                </a:effectLst>
                <a:latin typeface="Times New Roman" panose="02020603050405020304" pitchFamily="18" charset="0"/>
              </a:rPr>
              <a:t>2</a:t>
            </a:r>
            <a:r>
              <a:rPr lang="zh-CN" altLang="en-US" dirty="0">
                <a:effectLst>
                  <a:outerShdw blurRad="38100" dist="38100" dir="2700000" algn="tl">
                    <a:srgbClr val="C0C0C0"/>
                  </a:outerShdw>
                </a:effectLst>
                <a:latin typeface="Times New Roman" panose="02020603050405020304" pitchFamily="18" charset="0"/>
              </a:rPr>
              <a:t>）定时器</a:t>
            </a:r>
            <a:r>
              <a:rPr lang="en-US" altLang="zh-CN" dirty="0">
                <a:effectLst>
                  <a:outerShdw blurRad="38100" dist="38100" dir="2700000" algn="tl">
                    <a:srgbClr val="C0C0C0"/>
                  </a:outerShdw>
                </a:effectLst>
                <a:latin typeface="Times New Roman" panose="02020603050405020304" pitchFamily="18" charset="0"/>
              </a:rPr>
              <a:t>T1</a:t>
            </a:r>
            <a:r>
              <a:rPr lang="zh-CN" altLang="en-US" dirty="0">
                <a:effectLst>
                  <a:outerShdw blurRad="38100" dist="38100" dir="2700000" algn="tl">
                    <a:srgbClr val="C0C0C0"/>
                  </a:outerShdw>
                </a:effectLst>
                <a:latin typeface="Times New Roman" panose="02020603050405020304" pitchFamily="18" charset="0"/>
              </a:rPr>
              <a:t>初值的设置</a:t>
            </a:r>
          </a:p>
          <a:p>
            <a:pPr eaLnBrk="1" hangingPunct="1">
              <a:spcBef>
                <a:spcPct val="50000"/>
              </a:spcBef>
              <a:defRPr/>
            </a:pPr>
            <a:r>
              <a:rPr lang="zh-CN" altLang="en-US" dirty="0">
                <a:effectLst>
                  <a:outerShdw blurRad="38100" dist="38100" dir="2700000" algn="tl">
                    <a:srgbClr val="C0C0C0"/>
                  </a:outerShdw>
                </a:effectLst>
                <a:latin typeface="Times New Roman" panose="02020603050405020304" pitchFamily="18" charset="0"/>
              </a:rPr>
              <a:t>单片机晶振频率为</a:t>
            </a:r>
            <a:r>
              <a:rPr lang="en-US" altLang="zh-CN" dirty="0">
                <a:effectLst>
                  <a:outerShdw blurRad="38100" dist="38100" dir="2700000" algn="tl">
                    <a:srgbClr val="C0C0C0"/>
                  </a:outerShdw>
                </a:effectLst>
                <a:latin typeface="Times New Roman" panose="02020603050405020304" pitchFamily="18" charset="0"/>
              </a:rPr>
              <a:t>12MHz</a:t>
            </a:r>
            <a:r>
              <a:rPr lang="zh-CN" altLang="en-US" dirty="0">
                <a:effectLst>
                  <a:outerShdw blurRad="38100" dist="38100" dir="2700000" algn="tl">
                    <a:srgbClr val="C0C0C0"/>
                  </a:outerShdw>
                </a:effectLst>
                <a:latin typeface="Times New Roman" panose="02020603050405020304" pitchFamily="18" charset="0"/>
              </a:rPr>
              <a:t>，则机器周期为</a:t>
            </a:r>
            <a:r>
              <a:rPr lang="en-US" altLang="zh-CN" dirty="0">
                <a:effectLst>
                  <a:outerShdw blurRad="38100" dist="38100" dir="2700000" algn="tl">
                    <a:srgbClr val="C0C0C0"/>
                  </a:outerShdw>
                </a:effectLst>
                <a:latin typeface="Times New Roman" panose="02020603050405020304" pitchFamily="18" charset="0"/>
              </a:rPr>
              <a:t>1us</a:t>
            </a:r>
            <a:r>
              <a:rPr lang="zh-CN" altLang="en-US" dirty="0">
                <a:effectLst>
                  <a:outerShdw blurRad="38100" dist="38100" dir="2700000" algn="tl">
                    <a:srgbClr val="C0C0C0"/>
                  </a:outerShdw>
                </a:effectLst>
                <a:latin typeface="Times New Roman" panose="02020603050405020304" pitchFamily="18" charset="0"/>
              </a:rPr>
              <a:t>。让单片机送给蜂鸣器的电平信号每隔音频的半个周期取反一次即可发出</a:t>
            </a:r>
            <a:r>
              <a:rPr lang="en-US" altLang="zh-CN" dirty="0">
                <a:effectLst>
                  <a:outerShdw blurRad="38100" dist="38100" dir="2700000" algn="tl">
                    <a:srgbClr val="C0C0C0"/>
                  </a:outerShdw>
                </a:effectLst>
                <a:latin typeface="Times New Roman" panose="02020603050405020304" pitchFamily="18" charset="0"/>
              </a:rPr>
              <a:t>1kHz</a:t>
            </a:r>
            <a:r>
              <a:rPr lang="zh-CN" altLang="en-US" dirty="0">
                <a:effectLst>
                  <a:outerShdw blurRad="38100" dist="38100" dir="2700000" algn="tl">
                    <a:srgbClr val="C0C0C0"/>
                  </a:outerShdw>
                </a:effectLst>
                <a:latin typeface="Times New Roman" panose="02020603050405020304" pitchFamily="18" charset="0"/>
              </a:rPr>
              <a:t>音频。音频的半周期为</a:t>
            </a:r>
            <a:r>
              <a:rPr lang="en-US" altLang="zh-CN" dirty="0">
                <a:effectLst>
                  <a:outerShdw blurRad="38100" dist="38100" dir="2700000" algn="tl">
                    <a:srgbClr val="C0C0C0"/>
                  </a:outerShdw>
                </a:effectLst>
                <a:latin typeface="Times New Roman" panose="02020603050405020304" pitchFamily="18" charset="0"/>
              </a:rPr>
              <a:t>1/1000</a:t>
            </a:r>
            <a:r>
              <a:rPr lang="zh-CN" altLang="en-US" dirty="0">
                <a:effectLst>
                  <a:outerShdw blurRad="38100" dist="38100" dir="2700000" algn="tl">
                    <a:srgbClr val="C0C0C0"/>
                  </a:outerShdw>
                </a:effectLst>
                <a:latin typeface="Times New Roman" panose="02020603050405020304" pitchFamily="18" charset="0"/>
              </a:rPr>
              <a:t>＝</a:t>
            </a:r>
            <a:r>
              <a:rPr lang="en-US" altLang="zh-CN" dirty="0">
                <a:effectLst>
                  <a:outerShdw blurRad="38100" dist="38100" dir="2700000" algn="tl">
                    <a:srgbClr val="C0C0C0"/>
                  </a:outerShdw>
                </a:effectLst>
                <a:latin typeface="Times New Roman" panose="02020603050405020304" pitchFamily="18" charset="0"/>
              </a:rPr>
              <a:t>0.001s</a:t>
            </a:r>
            <a:r>
              <a:rPr lang="zh-CN" altLang="en-US" dirty="0">
                <a:effectLst>
                  <a:outerShdw blurRad="38100" dist="38100" dir="2700000" algn="tl">
                    <a:srgbClr val="C0C0C0"/>
                  </a:outerShdw>
                </a:effectLst>
                <a:latin typeface="Times New Roman" panose="02020603050405020304" pitchFamily="18" charset="0"/>
              </a:rPr>
              <a:t>，即</a:t>
            </a:r>
            <a:r>
              <a:rPr lang="en-US" altLang="zh-CN" dirty="0">
                <a:effectLst>
                  <a:outerShdw blurRad="38100" dist="38100" dir="2700000" algn="tl">
                    <a:srgbClr val="C0C0C0"/>
                  </a:outerShdw>
                </a:effectLst>
                <a:latin typeface="Times New Roman" panose="02020603050405020304" pitchFamily="18" charset="0"/>
              </a:rPr>
              <a:t>1000us</a:t>
            </a:r>
            <a:r>
              <a:rPr lang="zh-CN" altLang="en-US" dirty="0">
                <a:effectLst>
                  <a:outerShdw blurRad="38100" dist="38100" dir="2700000" algn="tl">
                    <a:srgbClr val="C0C0C0"/>
                  </a:outerShdw>
                </a:effectLst>
                <a:latin typeface="Times New Roman" panose="02020603050405020304" pitchFamily="18" charset="0"/>
              </a:rPr>
              <a:t>，需要计数</a:t>
            </a:r>
            <a:r>
              <a:rPr lang="en-US" altLang="zh-CN" dirty="0">
                <a:effectLst>
                  <a:outerShdw blurRad="38100" dist="38100" dir="2700000" algn="tl">
                    <a:srgbClr val="C0C0C0"/>
                  </a:outerShdw>
                </a:effectLst>
                <a:latin typeface="Times New Roman" panose="02020603050405020304" pitchFamily="18" charset="0"/>
              </a:rPr>
              <a:t>1000/1=1000</a:t>
            </a:r>
            <a:r>
              <a:rPr lang="zh-CN" altLang="en-US" dirty="0">
                <a:effectLst>
                  <a:outerShdw blurRad="38100" dist="38100" dir="2700000" algn="tl">
                    <a:srgbClr val="C0C0C0"/>
                  </a:outerShdw>
                </a:effectLst>
                <a:latin typeface="Times New Roman" panose="02020603050405020304" pitchFamily="18" charset="0"/>
              </a:rPr>
              <a:t>次。定时器的初值应设置为：</a:t>
            </a:r>
          </a:p>
        </p:txBody>
      </p:sp>
      <p:sp>
        <p:nvSpPr>
          <p:cNvPr id="69640" name="Text Box 8"/>
          <p:cNvSpPr txBox="1">
            <a:spLocks noChangeArrowheads="1"/>
          </p:cNvSpPr>
          <p:nvPr/>
        </p:nvSpPr>
        <p:spPr bwMode="auto">
          <a:xfrm>
            <a:off x="1692275" y="5373688"/>
            <a:ext cx="6696075" cy="946150"/>
          </a:xfrm>
          <a:prstGeom prst="rect">
            <a:avLst/>
          </a:prstGeom>
          <a:noFill/>
          <a:ln>
            <a:noFill/>
          </a:ln>
          <a:effectLst/>
        </p:spPr>
        <p:txBody>
          <a:bodyPr>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defRPr/>
            </a:pPr>
            <a:r>
              <a:rPr lang="en-US" altLang="zh-CN" sz="2800" dirty="0">
                <a:solidFill>
                  <a:srgbClr val="0000FF"/>
                </a:solidFill>
                <a:effectLst>
                  <a:outerShdw blurRad="38100" dist="38100" dir="2700000" algn="tl">
                    <a:srgbClr val="000000">
                      <a:alpha val="43137"/>
                    </a:srgbClr>
                  </a:outerShdw>
                </a:effectLst>
                <a:latin typeface="Times New Roman" panose="02020603050405020304" pitchFamily="18" charset="0"/>
              </a:rPr>
              <a:t>TH1= (65536-1000)/256</a:t>
            </a:r>
          </a:p>
          <a:p>
            <a:pPr eaLnBrk="1" hangingPunct="1">
              <a:spcBef>
                <a:spcPct val="0"/>
              </a:spcBef>
              <a:buClrTx/>
              <a:buSzTx/>
              <a:buFontTx/>
              <a:buNone/>
              <a:defRPr/>
            </a:pPr>
            <a:r>
              <a:rPr lang="en-US" altLang="zh-CN" sz="2800" dirty="0">
                <a:solidFill>
                  <a:srgbClr val="0000FF"/>
                </a:solidFill>
                <a:effectLst>
                  <a:outerShdw blurRad="38100" dist="38100" dir="2700000" algn="tl">
                    <a:srgbClr val="000000">
                      <a:alpha val="43137"/>
                    </a:srgbClr>
                  </a:outerShdw>
                </a:effectLst>
                <a:latin typeface="Times New Roman" panose="02020603050405020304" pitchFamily="18" charset="0"/>
              </a:rPr>
              <a:t>TL1= (65536-1000)%256</a:t>
            </a:r>
            <a:endParaRPr lang="zh-CN" altLang="en-US" sz="2800" dirty="0">
              <a:solidFill>
                <a:srgbClr val="0000FF"/>
              </a:solidFill>
              <a:effectLst>
                <a:outerShdw blurRad="38100" dist="38100" dir="2700000" algn="tl">
                  <a:srgbClr val="000000">
                    <a:alpha val="43137"/>
                  </a:srgbClr>
                </a:outerShdw>
              </a:effectLst>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9637"/>
                                        </p:tgtEl>
                                        <p:attrNameLst>
                                          <p:attrName>style.visibility</p:attrName>
                                        </p:attrNameLst>
                                      </p:cBhvr>
                                      <p:to>
                                        <p:strVal val="visible"/>
                                      </p:to>
                                    </p:set>
                                    <p:animEffect transition="in" filter="box(in)">
                                      <p:cBhvr>
                                        <p:cTn id="7" dur="500"/>
                                        <p:tgtEl>
                                          <p:spTgt spid="6963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9638"/>
                                        </p:tgtEl>
                                        <p:attrNameLst>
                                          <p:attrName>style.visibility</p:attrName>
                                        </p:attrNameLst>
                                      </p:cBhvr>
                                      <p:to>
                                        <p:strVal val="visible"/>
                                      </p:to>
                                    </p:set>
                                    <p:animEffect transition="in" filter="checkerboard(across)">
                                      <p:cBhvr>
                                        <p:cTn id="12" dur="500"/>
                                        <p:tgtEl>
                                          <p:spTgt spid="6963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9640"/>
                                        </p:tgtEl>
                                        <p:attrNameLst>
                                          <p:attrName>style.visibility</p:attrName>
                                        </p:attrNameLst>
                                      </p:cBhvr>
                                      <p:to>
                                        <p:strVal val="visible"/>
                                      </p:to>
                                    </p:set>
                                    <p:animEffect transition="in" filter="dissolve">
                                      <p:cBhvr>
                                        <p:cTn id="17" dur="500"/>
                                        <p:tgtEl>
                                          <p:spTgt spid="69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p:bldP spid="69638" grpId="0"/>
      <p:bldP spid="6964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C2DD9FBB-AC24-4BC4-9DE4-8D1DE1E55E5E}" type="slidenum">
              <a:rPr lang="zh-CN" altLang="en-US" sz="1400"/>
              <a:t>26</a:t>
            </a:fld>
            <a:endParaRPr lang="en-US" altLang="zh-CN" sz="1400"/>
          </a:p>
        </p:txBody>
      </p:sp>
      <p:sp>
        <p:nvSpPr>
          <p:cNvPr id="70660" name="Text Box 4"/>
          <p:cNvSpPr txBox="1">
            <a:spLocks noChangeArrowheads="1"/>
          </p:cNvSpPr>
          <p:nvPr/>
        </p:nvSpPr>
        <p:spPr bwMode="auto">
          <a:xfrm>
            <a:off x="900113" y="620713"/>
            <a:ext cx="7561262" cy="579437"/>
          </a:xfrm>
          <a:prstGeom prst="rect">
            <a:avLst/>
          </a:prstGeom>
          <a:noFill/>
          <a:ln>
            <a:noFill/>
          </a:ln>
          <a:effectLst/>
        </p:spPr>
        <p:txBody>
          <a:bodyPr>
            <a:spAutoFit/>
          </a:bodyPr>
          <a:lstStyle/>
          <a:p>
            <a:pPr eaLnBrk="1" hangingPunct="1">
              <a:spcBef>
                <a:spcPct val="30000"/>
              </a:spcBef>
              <a:defRPr/>
            </a:pPr>
            <a:r>
              <a:rPr lang="en-US" altLang="zh-CN" sz="3200">
                <a:solidFill>
                  <a:srgbClr val="0000FF"/>
                </a:solidFill>
                <a:effectLst>
                  <a:outerShdw blurRad="38100" dist="38100" dir="2700000" algn="tl">
                    <a:srgbClr val="C0C0C0"/>
                  </a:outerShdw>
                </a:effectLst>
                <a:latin typeface="楷体_GB2312" pitchFamily="49" charset="-122"/>
                <a:ea typeface="楷体_GB2312" pitchFamily="49" charset="-122"/>
              </a:rPr>
              <a:t>2. </a:t>
            </a:r>
            <a:r>
              <a:rPr lang="zh-CN" altLang="en-US" sz="3200">
                <a:solidFill>
                  <a:srgbClr val="0000FF"/>
                </a:solidFill>
                <a:effectLst>
                  <a:outerShdw blurRad="38100" dist="38100" dir="2700000" algn="tl">
                    <a:srgbClr val="C0C0C0"/>
                  </a:outerShdw>
                </a:effectLst>
                <a:latin typeface="楷体_GB2312" pitchFamily="49" charset="-122"/>
                <a:ea typeface="楷体_GB2312" pitchFamily="49" charset="-122"/>
              </a:rPr>
              <a:t>程序设计</a:t>
            </a:r>
          </a:p>
        </p:txBody>
      </p:sp>
      <p:sp>
        <p:nvSpPr>
          <p:cNvPr id="70661" name="Text Box 5"/>
          <p:cNvSpPr txBox="1">
            <a:spLocks noChangeArrowheads="1"/>
          </p:cNvSpPr>
          <p:nvPr/>
        </p:nvSpPr>
        <p:spPr bwMode="auto">
          <a:xfrm>
            <a:off x="3851275" y="333375"/>
            <a:ext cx="4248150" cy="6370638"/>
          </a:xfrm>
          <a:prstGeom prst="rect">
            <a:avLst/>
          </a:prstGeom>
          <a:solidFill>
            <a:schemeClr val="bg1"/>
          </a:solidFill>
          <a:ln w="25400">
            <a:solidFill>
              <a:srgbClr val="0000FF"/>
            </a:solidFill>
            <a:miter lim="800000"/>
          </a:ln>
          <a:effectLst/>
        </p:spPr>
        <p:txBody>
          <a:bodyPr>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#include&lt;reg51.h&gt;</a:t>
            </a:r>
          </a:p>
          <a:p>
            <a:pPr eaLnBrk="1" hangingPunct="1">
              <a:defRPr/>
            </a:pPr>
            <a:r>
              <a:rPr lang="en-US" altLang="zh-CN" sz="2400" dirty="0" err="1">
                <a:effectLst>
                  <a:outerShdw blurRad="38100" dist="38100" dir="2700000" algn="tl">
                    <a:srgbClr val="C0C0C0"/>
                  </a:outerShdw>
                </a:effectLst>
                <a:latin typeface="Times New Roman" panose="02020603050405020304" pitchFamily="18" charset="0"/>
              </a:rPr>
              <a:t>sbit</a:t>
            </a:r>
            <a:r>
              <a:rPr lang="en-US" altLang="zh-CN" sz="2400" dirty="0">
                <a:effectLst>
                  <a:outerShdw blurRad="38100" dist="38100" dir="2700000" algn="tl">
                    <a:srgbClr val="C0C0C0"/>
                  </a:outerShdw>
                </a:effectLst>
                <a:latin typeface="Times New Roman" panose="02020603050405020304" pitchFamily="18" charset="0"/>
              </a:rPr>
              <a:t> sound=P3^7;</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void main(void)</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TMOD=0x10;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TH1=(65536-1000)/256;</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TL1=(65536-1000)%256;</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TR1=1;</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while(1)</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while(TF1==0)</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TF1=0;      </a:t>
            </a:r>
            <a:r>
              <a:rPr lang="en-US" altLang="zh-CN" sz="2400" dirty="0">
                <a:solidFill>
                  <a:srgbClr val="FF0000"/>
                </a:solidFill>
                <a:effectLst>
                  <a:outerShdw blurRad="38100" dist="38100" dir="2700000" algn="tl">
                    <a:srgbClr val="C0C0C0"/>
                  </a:outerShdw>
                </a:effectLst>
                <a:latin typeface="Times New Roman" panose="02020603050405020304" pitchFamily="18" charset="0"/>
              </a:rPr>
              <a:t>sound=~sound;</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TH1= (65536-1000)/256;</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TL1= (65536-1000)%256;</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  }</a:t>
            </a:r>
          </a:p>
          <a:p>
            <a:pPr eaLnBrk="1" hangingPunct="1">
              <a:defRPr/>
            </a:pPr>
            <a:r>
              <a:rPr lang="en-US" altLang="zh-CN" sz="2400" dirty="0">
                <a:effectLst>
                  <a:outerShdw blurRad="38100" dist="38100" dir="2700000" algn="tl">
                    <a:srgbClr val="C0C0C0"/>
                  </a:outerShdw>
                </a:effectLst>
                <a:latin typeface="Times New Roman" panose="02020603050405020304" pitchFamily="18" charset="0"/>
              </a:rPr>
              <a:t>}</a:t>
            </a:r>
            <a:endParaRPr lang="zh-CN" altLang="en-US" sz="2400" dirty="0">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E611B3F-345F-4433-A731-5A7DC65D0822}" type="slidenum">
              <a:rPr lang="zh-CN" altLang="en-US" sz="1400"/>
              <a:t>27</a:t>
            </a:fld>
            <a:endParaRPr lang="en-US" altLang="zh-CN" sz="1400"/>
          </a:p>
        </p:txBody>
      </p:sp>
      <p:sp>
        <p:nvSpPr>
          <p:cNvPr id="75780" name="Text Box 4"/>
          <p:cNvSpPr txBox="1">
            <a:spLocks noChangeArrowheads="1"/>
          </p:cNvSpPr>
          <p:nvPr/>
        </p:nvSpPr>
        <p:spPr bwMode="auto">
          <a:xfrm>
            <a:off x="1907381" y="908720"/>
            <a:ext cx="5329237" cy="762000"/>
          </a:xfrm>
          <a:prstGeom prst="rect">
            <a:avLst/>
          </a:prstGeom>
          <a:noFill/>
          <a:ln>
            <a:noFill/>
          </a:ln>
          <a:effectLst/>
        </p:spPr>
        <p:txBody>
          <a:bodyPr>
            <a:spAutoFit/>
          </a:bodyPr>
          <a:lstStyle/>
          <a:p>
            <a:pPr algn="ctr" eaLnBrk="1" hangingPunct="1">
              <a:spcBef>
                <a:spcPct val="50000"/>
              </a:spcBef>
              <a:defRPr/>
            </a:pPr>
            <a:r>
              <a:rPr lang="zh-CN" altLang="en-US" sz="4400">
                <a:solidFill>
                  <a:srgbClr val="0000FF"/>
                </a:solidFill>
                <a:effectLst>
                  <a:outerShdw blurRad="38100" dist="38100" dir="2700000" algn="tl">
                    <a:srgbClr val="C0C0C0"/>
                  </a:outerShdw>
                </a:effectLst>
                <a:ea typeface="华文行楷" pitchFamily="2" charset="-122"/>
              </a:rPr>
              <a:t>练习题</a:t>
            </a:r>
          </a:p>
        </p:txBody>
      </p:sp>
      <p:sp>
        <p:nvSpPr>
          <p:cNvPr id="6" name="Text Box 4"/>
          <p:cNvSpPr txBox="1">
            <a:spLocks noChangeArrowheads="1"/>
          </p:cNvSpPr>
          <p:nvPr/>
        </p:nvSpPr>
        <p:spPr bwMode="auto">
          <a:xfrm>
            <a:off x="827621" y="1798638"/>
            <a:ext cx="7488758" cy="1865126"/>
          </a:xfrm>
          <a:prstGeom prst="rect">
            <a:avLst/>
          </a:prstGeom>
          <a:noFill/>
          <a:ln>
            <a:noFill/>
          </a:ln>
          <a:effectLst/>
        </p:spPr>
        <p:txBody>
          <a:bodyPr wrap="square">
            <a:spAutoFit/>
          </a:bodyPr>
          <a:lstStyle/>
          <a:p>
            <a:pPr eaLnBrk="1" hangingPunct="1">
              <a:lnSpc>
                <a:spcPct val="120000"/>
              </a:lnSpc>
              <a:spcBef>
                <a:spcPct val="50000"/>
              </a:spcBef>
              <a:defRPr/>
            </a:pPr>
            <a:r>
              <a:rPr lang="en-US" altLang="zh-CN" sz="3200" dirty="0">
                <a:effectLst>
                  <a:outerShdw blurRad="38100" dist="38100" dir="2700000" algn="tl">
                    <a:srgbClr val="000000">
                      <a:alpha val="43137"/>
                    </a:srgbClr>
                  </a:outerShdw>
                </a:effectLst>
                <a:latin typeface="+mn-ea"/>
                <a:ea typeface="+mn-ea"/>
              </a:rPr>
              <a:t>    </a:t>
            </a:r>
            <a:r>
              <a:rPr lang="zh-CN" altLang="en-US" sz="3200" dirty="0">
                <a:effectLst>
                  <a:outerShdw blurRad="38100" dist="38100" dir="2700000" algn="tl">
                    <a:srgbClr val="000000">
                      <a:alpha val="43137"/>
                    </a:srgbClr>
                  </a:outerShdw>
                </a:effectLst>
                <a:latin typeface="+mn-ea"/>
                <a:ea typeface="+mn-ea"/>
              </a:rPr>
              <a:t>已知时钟频率为</a:t>
            </a:r>
            <a:r>
              <a:rPr lang="en-US" altLang="zh-CN" sz="3200" dirty="0">
                <a:effectLst>
                  <a:outerShdw blurRad="38100" dist="38100" dir="2700000" algn="tl">
                    <a:srgbClr val="000000">
                      <a:alpha val="43137"/>
                    </a:srgbClr>
                  </a:outerShdw>
                </a:effectLst>
                <a:latin typeface="+mn-ea"/>
                <a:ea typeface="+mn-ea"/>
              </a:rPr>
              <a:t>6MHz</a:t>
            </a:r>
            <a:r>
              <a:rPr lang="zh-CN" altLang="en-US" sz="3200" dirty="0">
                <a:effectLst>
                  <a:outerShdw blurRad="38100" dist="38100" dir="2700000" algn="tl">
                    <a:srgbClr val="000000">
                      <a:alpha val="43137"/>
                    </a:srgbClr>
                  </a:outerShdw>
                </a:effectLst>
                <a:latin typeface="+mn-ea"/>
                <a:ea typeface="+mn-ea"/>
              </a:rPr>
              <a:t>，利用</a:t>
            </a:r>
            <a:r>
              <a:rPr lang="en-US" altLang="zh-CN" sz="3200" dirty="0">
                <a:effectLst>
                  <a:outerShdw blurRad="38100" dist="38100" dir="2700000" algn="tl">
                    <a:srgbClr val="000000">
                      <a:alpha val="43137"/>
                    </a:srgbClr>
                  </a:outerShdw>
                </a:effectLst>
                <a:latin typeface="+mn-ea"/>
                <a:ea typeface="+mn-ea"/>
              </a:rPr>
              <a:t>T0</a:t>
            </a:r>
            <a:r>
              <a:rPr lang="zh-CN" altLang="en-US" sz="3200" dirty="0">
                <a:effectLst>
                  <a:outerShdw blurRad="38100" dist="38100" dir="2700000" algn="tl">
                    <a:srgbClr val="000000">
                      <a:alpha val="43137"/>
                    </a:srgbClr>
                  </a:outerShdw>
                </a:effectLst>
                <a:latin typeface="+mn-ea"/>
                <a:ea typeface="+mn-ea"/>
              </a:rPr>
              <a:t>工作在方式</a:t>
            </a:r>
            <a:r>
              <a:rPr lang="en-US" altLang="zh-CN" sz="3200" dirty="0">
                <a:effectLst>
                  <a:outerShdw blurRad="38100" dist="38100" dir="2700000" algn="tl">
                    <a:srgbClr val="000000">
                      <a:alpha val="43137"/>
                    </a:srgbClr>
                  </a:outerShdw>
                </a:effectLst>
                <a:latin typeface="+mn-ea"/>
                <a:ea typeface="+mn-ea"/>
              </a:rPr>
              <a:t>3</a:t>
            </a:r>
            <a:r>
              <a:rPr lang="zh-CN" altLang="en-US" sz="3200" dirty="0">
                <a:effectLst>
                  <a:outerShdw blurRad="38100" dist="38100" dir="2700000" algn="tl">
                    <a:srgbClr val="000000">
                      <a:alpha val="43137"/>
                    </a:srgbClr>
                  </a:outerShdw>
                </a:effectLst>
                <a:latin typeface="+mn-ea"/>
                <a:ea typeface="+mn-ea"/>
              </a:rPr>
              <a:t>，编写程序使</a:t>
            </a:r>
            <a:r>
              <a:rPr lang="en-US" altLang="zh-CN" sz="3200" dirty="0">
                <a:effectLst>
                  <a:outerShdw blurRad="38100" dist="38100" dir="2700000" algn="tl">
                    <a:srgbClr val="000000">
                      <a:alpha val="43137"/>
                    </a:srgbClr>
                  </a:outerShdw>
                </a:effectLst>
                <a:latin typeface="+mn-ea"/>
                <a:ea typeface="+mn-ea"/>
              </a:rPr>
              <a:t>P1.0</a:t>
            </a:r>
            <a:r>
              <a:rPr lang="zh-CN" altLang="en-US" sz="3200" dirty="0">
                <a:effectLst>
                  <a:outerShdw blurRad="38100" dist="38100" dir="2700000" algn="tl">
                    <a:srgbClr val="000000">
                      <a:alpha val="43137"/>
                    </a:srgbClr>
                  </a:outerShdw>
                </a:effectLst>
                <a:latin typeface="+mn-ea"/>
                <a:ea typeface="+mn-ea"/>
              </a:rPr>
              <a:t>和</a:t>
            </a:r>
            <a:r>
              <a:rPr lang="en-US" altLang="zh-CN" sz="3200" dirty="0">
                <a:effectLst>
                  <a:outerShdw blurRad="38100" dist="38100" dir="2700000" algn="tl">
                    <a:srgbClr val="000000">
                      <a:alpha val="43137"/>
                    </a:srgbClr>
                  </a:outerShdw>
                </a:effectLst>
                <a:latin typeface="+mn-ea"/>
                <a:ea typeface="+mn-ea"/>
              </a:rPr>
              <a:t>P1.1</a:t>
            </a:r>
            <a:r>
              <a:rPr lang="zh-CN" altLang="en-US" sz="3200" dirty="0">
                <a:effectLst>
                  <a:outerShdw blurRad="38100" dist="38100" dir="2700000" algn="tl">
                    <a:srgbClr val="000000">
                      <a:alpha val="43137"/>
                    </a:srgbClr>
                  </a:outerShdw>
                </a:effectLst>
                <a:latin typeface="+mn-ea"/>
                <a:ea typeface="+mn-ea"/>
              </a:rPr>
              <a:t>分别输出</a:t>
            </a:r>
            <a:r>
              <a:rPr lang="en-US" altLang="zh-CN" sz="3200" dirty="0">
                <a:effectLst>
                  <a:outerShdw blurRad="38100" dist="38100" dir="2700000" algn="tl">
                    <a:srgbClr val="000000">
                      <a:alpha val="43137"/>
                    </a:srgbClr>
                  </a:outerShdw>
                </a:effectLst>
                <a:latin typeface="+mn-ea"/>
                <a:ea typeface="+mn-ea"/>
              </a:rPr>
              <a:t>400us</a:t>
            </a:r>
            <a:r>
              <a:rPr lang="zh-CN" altLang="en-US" sz="3200" dirty="0">
                <a:effectLst>
                  <a:outerShdw blurRad="38100" dist="38100" dir="2700000" algn="tl">
                    <a:srgbClr val="000000">
                      <a:alpha val="43137"/>
                    </a:srgbClr>
                  </a:outerShdw>
                </a:effectLst>
                <a:latin typeface="+mn-ea"/>
                <a:ea typeface="+mn-ea"/>
              </a:rPr>
              <a:t>和</a:t>
            </a:r>
            <a:r>
              <a:rPr lang="en-US" altLang="zh-CN" sz="3200" dirty="0">
                <a:effectLst>
                  <a:outerShdw blurRad="38100" dist="38100" dir="2700000" algn="tl">
                    <a:srgbClr val="000000">
                      <a:alpha val="43137"/>
                    </a:srgbClr>
                  </a:outerShdw>
                </a:effectLst>
                <a:latin typeface="+mn-ea"/>
                <a:ea typeface="+mn-ea"/>
              </a:rPr>
              <a:t>1ms</a:t>
            </a:r>
            <a:r>
              <a:rPr lang="zh-CN" altLang="en-US" sz="3200" dirty="0">
                <a:effectLst>
                  <a:outerShdw blurRad="38100" dist="38100" dir="2700000" algn="tl">
                    <a:srgbClr val="000000">
                      <a:alpha val="43137"/>
                    </a:srgbClr>
                  </a:outerShdw>
                </a:effectLst>
                <a:latin typeface="+mn-ea"/>
                <a:ea typeface="+mn-ea"/>
              </a:rPr>
              <a:t>的方波。</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1495384-5D08-4A67-97A1-FEA5C0DD6849}" type="slidenum">
              <a:rPr lang="zh-CN" altLang="en-US" sz="1400"/>
              <a:t>28</a:t>
            </a:fld>
            <a:endParaRPr lang="en-US" altLang="zh-CN" sz="1400"/>
          </a:p>
        </p:txBody>
      </p:sp>
      <p:sp>
        <p:nvSpPr>
          <p:cNvPr id="55299" name="Rectangle 5"/>
          <p:cNvSpPr>
            <a:spLocks noChangeArrowheads="1"/>
          </p:cNvSpPr>
          <p:nvPr/>
        </p:nvSpPr>
        <p:spPr bwMode="auto">
          <a:xfrm>
            <a:off x="899592" y="692696"/>
            <a:ext cx="7920880" cy="82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3000"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例</a:t>
            </a:r>
            <a:r>
              <a:rPr lang="en-US" altLang="zh-CN" sz="3000"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4 </a:t>
            </a:r>
            <a:r>
              <a:rPr lang="zh-CN" altLang="en-US" sz="3000"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用计数器</a:t>
            </a:r>
            <a:r>
              <a:rPr lang="en-US" altLang="zh-CN" sz="3000"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T0</a:t>
            </a:r>
            <a:r>
              <a:rPr lang="zh-CN" altLang="en-US" sz="3000"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中断方式计数，显示计数结果。</a:t>
            </a:r>
          </a:p>
        </p:txBody>
      </p:sp>
      <p:sp>
        <p:nvSpPr>
          <p:cNvPr id="3" name="文本框 2"/>
          <p:cNvSpPr txBox="1"/>
          <p:nvPr/>
        </p:nvSpPr>
        <p:spPr>
          <a:xfrm>
            <a:off x="895028" y="1905818"/>
            <a:ext cx="7704856" cy="954107"/>
          </a:xfrm>
          <a:prstGeom prst="rect">
            <a:avLst/>
          </a:prstGeom>
          <a:noFill/>
        </p:spPr>
        <p:txBody>
          <a:bodyPr wrap="square" rtlCol="0">
            <a:spAutoFit/>
          </a:bodyPr>
          <a:lstStyle/>
          <a:p>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要求：使用</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T0</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方式</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对外部输入脉冲进行计数，要求每来</a:t>
            </a:r>
            <a:r>
              <a:rPr lang="zh-CN" altLang="en-US"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一个</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脉冲计数一次，显示当前计数值。</a:t>
            </a:r>
          </a:p>
        </p:txBody>
      </p:sp>
      <p:sp>
        <p:nvSpPr>
          <p:cNvPr id="7" name="文本框 6"/>
          <p:cNvSpPr txBox="1"/>
          <p:nvPr/>
        </p:nvSpPr>
        <p:spPr>
          <a:xfrm>
            <a:off x="895028" y="3096381"/>
            <a:ext cx="7704856" cy="3108543"/>
          </a:xfrm>
          <a:prstGeom prst="rect">
            <a:avLst/>
          </a:prstGeom>
          <a:noFill/>
        </p:spPr>
        <p:txBody>
          <a:bodyPr wrap="square" rtlCol="0">
            <a:spAutoFit/>
          </a:bodyPr>
          <a:lstStyle/>
          <a:p>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分析：</a:t>
            </a:r>
            <a:endPar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）每输入一个外部脉冲时计数器做一次加</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，可将计数初值设置为</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255</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，即一个脉冲到来时立刻产生定时器溢出中断，记录中断次数，送并行口显示。</a:t>
            </a:r>
            <a:endPar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）设计电路图，</a:t>
            </a:r>
            <a:r>
              <a:rPr lang="en-US" altLang="zh-CN"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P3.4</a:t>
            </a:r>
            <a:r>
              <a:rPr lang="zh-CN" altLang="en-US"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引脚接外部开关，因需检测脉冲的下降沿，可将开关另一端接地。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2B1A3A3-EF5E-4681-B6E9-233C6D1D0567}" type="slidenum">
              <a:rPr lang="zh-CN" altLang="en-US" sz="1400"/>
              <a:t>29</a:t>
            </a:fld>
            <a:endParaRPr lang="en-US" altLang="zh-CN" sz="1400"/>
          </a:p>
        </p:txBody>
      </p:sp>
      <p:pic>
        <p:nvPicPr>
          <p:cNvPr id="2" name="图片 1"/>
          <p:cNvPicPr>
            <a:picLocks noChangeAspect="1"/>
          </p:cNvPicPr>
          <p:nvPr/>
        </p:nvPicPr>
        <p:blipFill>
          <a:blip r:embed="rId2"/>
          <a:stretch>
            <a:fillRect/>
          </a:stretch>
        </p:blipFill>
        <p:spPr>
          <a:xfrm>
            <a:off x="971600" y="764704"/>
            <a:ext cx="7200800" cy="50383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5AF347-A83D-4ACF-B829-C6230AFBD0FD}" type="slidenum">
              <a:rPr lang="zh-CN" altLang="en-US" smtClean="0"/>
              <a:t>30</a:t>
            </a:fld>
            <a:endParaRPr lang="en-US" altLang="zh-CN"/>
          </a:p>
        </p:txBody>
      </p:sp>
      <p:pic>
        <p:nvPicPr>
          <p:cNvPr id="3" name="图片 2">
            <a:extLst>
              <a:ext uri="{FF2B5EF4-FFF2-40B4-BE49-F238E27FC236}">
                <a16:creationId xmlns:a16="http://schemas.microsoft.com/office/drawing/2014/main" id="{C24A9841-A462-432F-A644-81D34A9BFDCE}"/>
              </a:ext>
            </a:extLst>
          </p:cNvPr>
          <p:cNvPicPr>
            <a:picLocks noChangeAspect="1"/>
          </p:cNvPicPr>
          <p:nvPr/>
        </p:nvPicPr>
        <p:blipFill>
          <a:blip r:embed="rId2"/>
          <a:stretch>
            <a:fillRect/>
          </a:stretch>
        </p:blipFill>
        <p:spPr>
          <a:xfrm>
            <a:off x="1259632" y="908720"/>
            <a:ext cx="2880320" cy="492534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sz="half" idx="4294967295"/>
          </p:nvPr>
        </p:nvSpPr>
        <p:spPr>
          <a:xfrm>
            <a:off x="539750" y="476250"/>
            <a:ext cx="8286750" cy="896938"/>
          </a:xfrm>
        </p:spPr>
        <p:txBody>
          <a:bodyPr/>
          <a:lstStyle/>
          <a:p>
            <a:pPr marL="0" indent="0">
              <a:buFontTx/>
              <a:buNone/>
              <a:defRPr/>
            </a:pPr>
            <a:r>
              <a:rPr lang="zh-CN" altLang="en-US" sz="2800" b="1" dirty="0">
                <a:solidFill>
                  <a:srgbClr val="0000FF"/>
                </a:solidFill>
                <a:effectLst>
                  <a:outerShdw blurRad="38100" dist="38100" dir="2700000" algn="tl">
                    <a:srgbClr val="000000">
                      <a:alpha val="43137"/>
                    </a:srgbClr>
                  </a:outerShdw>
                </a:effectLst>
                <a:latin typeface="宋体" panose="02010600030101010101" pitchFamily="2" charset="-122"/>
              </a:rPr>
              <a:t>例</a:t>
            </a:r>
            <a:r>
              <a:rPr lang="en-US" altLang="zh-CN" sz="2800" b="1" dirty="0">
                <a:solidFill>
                  <a:srgbClr val="0000FF"/>
                </a:solidFill>
                <a:effectLst>
                  <a:outerShdw blurRad="38100" dist="38100" dir="2700000" algn="tl">
                    <a:srgbClr val="000000">
                      <a:alpha val="43137"/>
                    </a:srgbClr>
                  </a:outerShdw>
                </a:effectLst>
                <a:latin typeface="宋体" panose="02010600030101010101" pitchFamily="2" charset="-122"/>
              </a:rPr>
              <a:t>5</a:t>
            </a:r>
            <a:r>
              <a:rPr lang="en-US" altLang="zh-CN" sz="2800" b="1" dirty="0">
                <a:effectLst>
                  <a:outerShdw blurRad="38100" dist="38100" dir="2700000" algn="tl">
                    <a:srgbClr val="000000">
                      <a:alpha val="43137"/>
                    </a:srgbClr>
                  </a:outerShdw>
                </a:effectLst>
                <a:latin typeface="宋体" panose="02010600030101010101" pitchFamily="2" charset="-122"/>
              </a:rPr>
              <a:t>  </a:t>
            </a:r>
            <a:r>
              <a:rPr lang="zh-CN" altLang="en-US" sz="2800" b="1" dirty="0">
                <a:effectLst>
                  <a:outerShdw blurRad="38100" dist="38100" dir="2700000" algn="tl">
                    <a:srgbClr val="000000">
                      <a:alpha val="43137"/>
                    </a:srgbClr>
                  </a:outerShdw>
                </a:effectLst>
                <a:latin typeface="宋体" panose="02010600030101010101" pitchFamily="2" charset="-122"/>
              </a:rPr>
              <a:t>采用定时中断控制流水灯，实现每秒</a:t>
            </a:r>
            <a:r>
              <a:rPr lang="en-US" altLang="zh-CN" sz="2800" b="1" dirty="0">
                <a:effectLst>
                  <a:outerShdw blurRad="38100" dist="38100" dir="2700000" algn="tl">
                    <a:srgbClr val="000000">
                      <a:alpha val="43137"/>
                    </a:srgbClr>
                  </a:outerShdw>
                </a:effectLst>
                <a:latin typeface="宋体" panose="02010600030101010101" pitchFamily="2" charset="-122"/>
              </a:rPr>
              <a:t>1</a:t>
            </a:r>
            <a:r>
              <a:rPr lang="zh-CN" altLang="en-US" sz="2800" b="1" dirty="0">
                <a:effectLst>
                  <a:outerShdw blurRad="38100" dist="38100" dir="2700000" algn="tl">
                    <a:srgbClr val="000000">
                      <a:alpha val="43137"/>
                    </a:srgbClr>
                  </a:outerShdw>
                </a:effectLst>
                <a:latin typeface="宋体" panose="02010600030101010101" pitchFamily="2" charset="-122"/>
              </a:rPr>
              <a:t>位，自上而下循环功能（</a:t>
            </a:r>
            <a:r>
              <a:rPr lang="en-US" altLang="zh-CN" sz="2800" b="1" dirty="0" err="1">
                <a:effectLst>
                  <a:outerShdw blurRad="38100" dist="38100" dir="2700000" algn="tl">
                    <a:srgbClr val="000000">
                      <a:alpha val="43137"/>
                    </a:srgbClr>
                  </a:outerShdw>
                </a:effectLst>
                <a:latin typeface="宋体" panose="02010600030101010101" pitchFamily="2" charset="-122"/>
              </a:rPr>
              <a:t>fosc</a:t>
            </a:r>
            <a:r>
              <a:rPr lang="en-US" altLang="zh-CN" sz="2800" b="1" dirty="0">
                <a:effectLst>
                  <a:outerShdw blurRad="38100" dist="38100" dir="2700000" algn="tl">
                    <a:srgbClr val="000000">
                      <a:alpha val="43137"/>
                    </a:srgbClr>
                  </a:outerShdw>
                </a:effectLst>
                <a:latin typeface="宋体" panose="02010600030101010101" pitchFamily="2" charset="-122"/>
              </a:rPr>
              <a:t>=12MHz</a:t>
            </a:r>
            <a:r>
              <a:rPr lang="zh-CN" altLang="en-US" sz="2800" b="1" dirty="0">
                <a:effectLst>
                  <a:outerShdw blurRad="38100" dist="38100" dir="2700000" algn="tl">
                    <a:srgbClr val="000000">
                      <a:alpha val="43137"/>
                    </a:srgbClr>
                  </a:outerShdw>
                </a:effectLst>
                <a:latin typeface="宋体" panose="02010600030101010101" pitchFamily="2" charset="-122"/>
              </a:rPr>
              <a:t>）。</a:t>
            </a:r>
            <a:r>
              <a:rPr lang="zh-CN" altLang="en-US" sz="2000" b="1" dirty="0">
                <a:effectLst>
                  <a:outerShdw blurRad="38100" dist="38100" dir="2700000" algn="tl">
                    <a:srgbClr val="000000">
                      <a:alpha val="43137"/>
                    </a:srgbClr>
                  </a:outerShdw>
                </a:effectLst>
                <a:latin typeface="宋体" panose="02010600030101010101" pitchFamily="2" charset="-122"/>
              </a:rPr>
              <a:t>（教材</a:t>
            </a:r>
            <a:r>
              <a:rPr lang="en-US" altLang="zh-CN" sz="2000" b="1" dirty="0">
                <a:effectLst>
                  <a:outerShdw blurRad="38100" dist="38100" dir="2700000" algn="tl">
                    <a:srgbClr val="000000">
                      <a:alpha val="43137"/>
                    </a:srgbClr>
                  </a:outerShdw>
                </a:effectLst>
                <a:latin typeface="宋体" panose="02010600030101010101" pitchFamily="2" charset="-122"/>
              </a:rPr>
              <a:t>P</a:t>
            </a:r>
            <a:r>
              <a:rPr lang="en-US" altLang="zh-CN" sz="2000" b="1" baseline="-25000" dirty="0">
                <a:effectLst>
                  <a:outerShdw blurRad="38100" dist="38100" dir="2700000" algn="tl">
                    <a:srgbClr val="000000">
                      <a:alpha val="43137"/>
                    </a:srgbClr>
                  </a:outerShdw>
                </a:effectLst>
                <a:latin typeface="宋体" panose="02010600030101010101" pitchFamily="2" charset="-122"/>
              </a:rPr>
              <a:t>148</a:t>
            </a:r>
            <a:r>
              <a:rPr lang="en-US" altLang="zh-CN" sz="2000" b="1" dirty="0">
                <a:effectLst>
                  <a:outerShdw blurRad="38100" dist="38100" dir="2700000" algn="tl">
                    <a:srgbClr val="000000">
                      <a:alpha val="43137"/>
                    </a:srgbClr>
                  </a:outerShdw>
                </a:effectLst>
                <a:latin typeface="宋体" panose="02010600030101010101" pitchFamily="2" charset="-122"/>
              </a:rPr>
              <a:t>-</a:t>
            </a:r>
            <a:r>
              <a:rPr lang="zh-CN" altLang="en-US" sz="2000" b="1" dirty="0">
                <a:effectLst>
                  <a:outerShdw blurRad="38100" dist="38100" dir="2700000" algn="tl">
                    <a:srgbClr val="000000">
                      <a:alpha val="43137"/>
                    </a:srgbClr>
                  </a:outerShdw>
                </a:effectLst>
                <a:latin typeface="宋体" panose="02010600030101010101" pitchFamily="2" charset="-122"/>
              </a:rPr>
              <a:t>实例</a:t>
            </a:r>
            <a:r>
              <a:rPr lang="en-US" altLang="zh-CN" sz="2000" b="1" dirty="0">
                <a:effectLst>
                  <a:outerShdw blurRad="38100" dist="38100" dir="2700000" algn="tl">
                    <a:srgbClr val="000000">
                      <a:alpha val="43137"/>
                    </a:srgbClr>
                  </a:outerShdw>
                </a:effectLst>
                <a:latin typeface="宋体" panose="02010600030101010101" pitchFamily="2" charset="-122"/>
              </a:rPr>
              <a:t>7</a:t>
            </a:r>
            <a:r>
              <a:rPr lang="zh-CN" altLang="en-US" sz="2000" b="1" dirty="0">
                <a:effectLst>
                  <a:outerShdw blurRad="38100" dist="38100" dir="2700000" algn="tl">
                    <a:srgbClr val="000000">
                      <a:alpha val="43137"/>
                    </a:srgbClr>
                  </a:outerShdw>
                </a:effectLst>
                <a:latin typeface="宋体" panose="02010600030101010101" pitchFamily="2" charset="-122"/>
              </a:rPr>
              <a:t>）</a:t>
            </a:r>
          </a:p>
        </p:txBody>
      </p:sp>
      <p:pic>
        <p:nvPicPr>
          <p:cNvPr id="57347" name="Picture 3" descr="跑马灯"/>
          <p:cNvPicPr>
            <a:picLocks noGrp="1" noChangeAspect="1" noChangeArrowheads="1"/>
          </p:cNvPicPr>
          <p:nvPr>
            <p:ph sz="half" idx="4294967295"/>
          </p:nvPr>
        </p:nvPicPr>
        <p:blipFill>
          <a:blip r:embed="rId2">
            <a:clrChange>
              <a:clrFrom>
                <a:srgbClr val="FFFFFF"/>
              </a:clrFrom>
              <a:clrTo>
                <a:srgbClr val="FFFFFF">
                  <a:alpha val="0"/>
                </a:srgbClr>
              </a:clrTo>
            </a:clrChange>
            <a:lum contrast="6000"/>
            <a:extLst>
              <a:ext uri="{28A0092B-C50C-407E-A947-70E740481C1C}">
                <a14:useLocalDpi xmlns:a14="http://schemas.microsoft.com/office/drawing/2010/main" val="0"/>
              </a:ext>
            </a:extLst>
          </a:blip>
          <a:srcRect l="22736" t="21968" r="25603" b="30556"/>
          <a:stretch>
            <a:fillRect/>
          </a:stretch>
        </p:blipFill>
        <p:spPr>
          <a:xfrm>
            <a:off x="971550" y="1484313"/>
            <a:ext cx="7272338" cy="5114925"/>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4294967295"/>
          </p:nvPr>
        </p:nvSpPr>
        <p:spPr>
          <a:xfrm>
            <a:off x="581025" y="549275"/>
            <a:ext cx="8001000" cy="511175"/>
          </a:xfrm>
        </p:spPr>
        <p:txBody>
          <a:bodyPr/>
          <a:lstStyle/>
          <a:p>
            <a:pPr marL="0" indent="0">
              <a:lnSpc>
                <a:spcPct val="110000"/>
              </a:lnSpc>
              <a:buFontTx/>
              <a:buNone/>
              <a:defRPr/>
            </a:pPr>
            <a:r>
              <a:rPr lang="zh-CN" altLang="en-US" sz="2800" b="1" dirty="0">
                <a:solidFill>
                  <a:srgbClr val="0000FF"/>
                </a:solidFill>
                <a:effectLst>
                  <a:outerShdw blurRad="38100" dist="38100" dir="2700000" algn="tl">
                    <a:srgbClr val="000000">
                      <a:alpha val="43137"/>
                    </a:srgbClr>
                  </a:outerShdw>
                </a:effectLst>
                <a:latin typeface="宋体" panose="02010600030101010101" pitchFamily="2" charset="-122"/>
              </a:rPr>
              <a:t>分析：</a:t>
            </a:r>
            <a:r>
              <a:rPr lang="zh-CN" altLang="en-US" sz="2800" b="1" dirty="0">
                <a:effectLst>
                  <a:outerShdw blurRad="38100" dist="38100" dir="2700000" algn="tl">
                    <a:srgbClr val="000000">
                      <a:alpha val="43137"/>
                    </a:srgbClr>
                  </a:outerShdw>
                </a:effectLst>
                <a:latin typeface="宋体" panose="02010600030101010101" pitchFamily="2" charset="-122"/>
              </a:rPr>
              <a:t>可以利用</a:t>
            </a:r>
            <a:r>
              <a:rPr lang="en-US" altLang="zh-CN" sz="2800" b="1" dirty="0">
                <a:effectLst>
                  <a:outerShdw blurRad="38100" dist="38100" dir="2700000" algn="tl">
                    <a:srgbClr val="000000">
                      <a:alpha val="43137"/>
                    </a:srgbClr>
                  </a:outerShdw>
                </a:effectLst>
              </a:rPr>
              <a:t>20</a:t>
            </a:r>
            <a:r>
              <a:rPr lang="zh-CN" altLang="en-US" sz="2800" b="1" dirty="0">
                <a:effectLst>
                  <a:outerShdw blurRad="38100" dist="38100" dir="2700000" algn="tl">
                    <a:srgbClr val="000000">
                      <a:alpha val="43137"/>
                    </a:srgbClr>
                  </a:outerShdw>
                </a:effectLst>
              </a:rPr>
              <a:t>次</a:t>
            </a:r>
            <a:r>
              <a:rPr lang="en-US" altLang="zh-CN" sz="2800" b="1" dirty="0">
                <a:effectLst>
                  <a:outerShdw blurRad="38100" dist="38100" dir="2700000" algn="tl">
                    <a:srgbClr val="000000">
                      <a:alpha val="43137"/>
                    </a:srgbClr>
                  </a:outerShdw>
                </a:effectLst>
              </a:rPr>
              <a:t>50ms</a:t>
            </a:r>
            <a:r>
              <a:rPr lang="zh-CN" altLang="en-US" sz="2800" b="1" dirty="0">
                <a:effectLst>
                  <a:outerShdw blurRad="38100" dist="38100" dir="2700000" algn="tl">
                    <a:srgbClr val="000000">
                      <a:alpha val="43137"/>
                    </a:srgbClr>
                  </a:outerShdw>
                </a:effectLst>
              </a:rPr>
              <a:t>的定时中断方案</a:t>
            </a:r>
            <a:r>
              <a:rPr lang="zh-CN" altLang="en-US" sz="2800" b="1" dirty="0">
                <a:effectLst>
                  <a:outerShdw blurRad="38100" dist="38100" dir="2700000" algn="tl">
                    <a:srgbClr val="000000">
                      <a:alpha val="43137"/>
                    </a:srgbClr>
                  </a:outerShdw>
                </a:effectLst>
                <a:latin typeface="宋体" panose="02010600030101010101" pitchFamily="2" charset="-122"/>
              </a:rPr>
              <a:t>，计数初值为：</a:t>
            </a:r>
          </a:p>
        </p:txBody>
      </p:sp>
      <p:sp>
        <p:nvSpPr>
          <p:cNvPr id="975877" name="Rectangle 5"/>
          <p:cNvSpPr>
            <a:spLocks noChangeArrowheads="1"/>
          </p:cNvSpPr>
          <p:nvPr/>
        </p:nvSpPr>
        <p:spPr bwMode="auto">
          <a:xfrm>
            <a:off x="2371725" y="1049338"/>
            <a:ext cx="6161088" cy="523875"/>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defRPr/>
            </a:pPr>
            <a:r>
              <a:rPr lang="zh-CN" altLang="en-US" sz="2800" dirty="0">
                <a:effectLst>
                  <a:outerShdw blurRad="38100" dist="38100" dir="2700000" algn="tl">
                    <a:srgbClr val="000000">
                      <a:alpha val="43137"/>
                    </a:srgbClr>
                  </a:outerShdw>
                </a:effectLst>
              </a:rPr>
              <a:t> </a:t>
            </a:r>
            <a:r>
              <a:rPr lang="en-US" altLang="zh-CN" sz="2800" dirty="0">
                <a:effectLst>
                  <a:outerShdw blurRad="38100" dist="38100" dir="2700000" algn="tl">
                    <a:srgbClr val="000000">
                      <a:alpha val="43137"/>
                    </a:srgbClr>
                  </a:outerShdw>
                </a:effectLst>
              </a:rPr>
              <a:t>a = (65536-50000)×12/12 = 0x3cb0</a:t>
            </a:r>
          </a:p>
        </p:txBody>
      </p:sp>
      <p:sp>
        <p:nvSpPr>
          <p:cNvPr id="975882" name="Rectangle 2"/>
          <p:cNvSpPr>
            <a:spLocks noChangeArrowheads="1"/>
          </p:cNvSpPr>
          <p:nvPr/>
        </p:nvSpPr>
        <p:spPr bwMode="auto">
          <a:xfrm>
            <a:off x="766763" y="4537075"/>
            <a:ext cx="7766050" cy="550863"/>
          </a:xfrm>
          <a:prstGeom prst="rect">
            <a:avLst/>
          </a:prstGeom>
          <a:noFill/>
          <a:ln>
            <a:noFil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None/>
              <a:defRPr/>
            </a:pPr>
            <a:r>
              <a:rPr lang="zh-CN" altLang="en-US" sz="2800" dirty="0">
                <a:effectLst>
                  <a:outerShdw blurRad="38100" dist="38100" dir="2700000" algn="tl">
                    <a:srgbClr val="000000">
                      <a:alpha val="43137"/>
                    </a:srgbClr>
                  </a:outerShdw>
                </a:effectLst>
                <a:latin typeface="宋体" panose="02010600030101010101" pitchFamily="2" charset="-122"/>
              </a:rPr>
              <a:t>问题：中断函数内任务过多，不利于实时控制。</a:t>
            </a:r>
          </a:p>
        </p:txBody>
      </p:sp>
      <p:sp>
        <p:nvSpPr>
          <p:cNvPr id="975883" name="Rectangle 2"/>
          <p:cNvSpPr>
            <a:spLocks noChangeArrowheads="1"/>
          </p:cNvSpPr>
          <p:nvPr/>
        </p:nvSpPr>
        <p:spPr bwMode="auto">
          <a:xfrm>
            <a:off x="735013" y="5065713"/>
            <a:ext cx="8139112" cy="971550"/>
          </a:xfrm>
          <a:prstGeom prst="rect">
            <a:avLst/>
          </a:prstGeom>
          <a:noFill/>
          <a:ln>
            <a:noFil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None/>
              <a:defRPr/>
            </a:pPr>
            <a:r>
              <a:rPr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新方案：</a:t>
            </a:r>
            <a:r>
              <a:rPr lang="zh-CN" altLang="en-US" sz="2800" dirty="0">
                <a:effectLst>
                  <a:outerShdw blurRad="38100" dist="38100" dir="2700000" algn="tl">
                    <a:srgbClr val="000000">
                      <a:alpha val="43137"/>
                    </a:srgbClr>
                  </a:outerShdw>
                </a:effectLst>
                <a:latin typeface="宋体" panose="02010600030101010101" pitchFamily="2" charset="-122"/>
              </a:rPr>
              <a:t>中断函数中仅做中断次数统计和计数初值重入，控制操作改在主函数中进行。</a:t>
            </a:r>
          </a:p>
        </p:txBody>
      </p:sp>
      <p:sp>
        <p:nvSpPr>
          <p:cNvPr id="975884" name="Rectangle 2"/>
          <p:cNvSpPr>
            <a:spLocks noChangeArrowheads="1"/>
          </p:cNvSpPr>
          <p:nvPr/>
        </p:nvSpPr>
        <p:spPr bwMode="auto">
          <a:xfrm>
            <a:off x="766763" y="1700213"/>
            <a:ext cx="6200775" cy="511175"/>
          </a:xfrm>
          <a:prstGeom prst="rect">
            <a:avLst/>
          </a:prstGeom>
          <a:noFill/>
          <a:ln>
            <a:noFill/>
          </a:ln>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None/>
              <a:defRPr/>
            </a:pPr>
            <a:r>
              <a:rPr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中断函数：</a:t>
            </a:r>
          </a:p>
        </p:txBody>
      </p:sp>
      <p:pic>
        <p:nvPicPr>
          <p:cNvPr id="975887" name="Picture 15"/>
          <p:cNvPicPr>
            <a:picLocks noChangeAspect="1" noChangeArrowheads="1"/>
          </p:cNvPicPr>
          <p:nvPr/>
        </p:nvPicPr>
        <p:blipFill>
          <a:blip r:embed="rId2">
            <a:extLst>
              <a:ext uri="{28A0092B-C50C-407E-A947-70E740481C1C}">
                <a14:useLocalDpi xmlns:a14="http://schemas.microsoft.com/office/drawing/2010/main" val="0"/>
              </a:ext>
            </a:extLst>
          </a:blip>
          <a:srcRect l="17810" t="25267" r="45193" b="53917"/>
          <a:stretch>
            <a:fillRect/>
          </a:stretch>
        </p:blipFill>
        <p:spPr bwMode="auto">
          <a:xfrm>
            <a:off x="2604294" y="1573213"/>
            <a:ext cx="5695950" cy="29606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5877"/>
                                        </p:tgtEl>
                                        <p:attrNameLst>
                                          <p:attrName>style.visibility</p:attrName>
                                        </p:attrNameLst>
                                      </p:cBhvr>
                                      <p:to>
                                        <p:strVal val="visible"/>
                                      </p:to>
                                    </p:set>
                                    <p:animEffect transition="in" filter="blinds(horizontal)">
                                      <p:cBhvr>
                                        <p:cTn id="7" dur="500"/>
                                        <p:tgtEl>
                                          <p:spTgt spid="9758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5884"/>
                                        </p:tgtEl>
                                        <p:attrNameLst>
                                          <p:attrName>style.visibility</p:attrName>
                                        </p:attrNameLst>
                                      </p:cBhvr>
                                      <p:to>
                                        <p:strVal val="visible"/>
                                      </p:to>
                                    </p:set>
                                    <p:animEffect transition="in" filter="blinds(horizontal)">
                                      <p:cBhvr>
                                        <p:cTn id="12" dur="500"/>
                                        <p:tgtEl>
                                          <p:spTgt spid="9758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75887"/>
                                        </p:tgtEl>
                                        <p:attrNameLst>
                                          <p:attrName>style.visibility</p:attrName>
                                        </p:attrNameLst>
                                      </p:cBhvr>
                                      <p:to>
                                        <p:strVal val="visible"/>
                                      </p:to>
                                    </p:set>
                                    <p:animEffect transition="in" filter="blinds(horizontal)">
                                      <p:cBhvr>
                                        <p:cTn id="17" dur="500"/>
                                        <p:tgtEl>
                                          <p:spTgt spid="9758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75882">
                                            <p:txEl>
                                              <p:pRg st="0" end="0"/>
                                            </p:txEl>
                                          </p:spTgt>
                                        </p:tgtEl>
                                        <p:attrNameLst>
                                          <p:attrName>style.visibility</p:attrName>
                                        </p:attrNameLst>
                                      </p:cBhvr>
                                      <p:to>
                                        <p:strVal val="visible"/>
                                      </p:to>
                                    </p:set>
                                    <p:animEffect transition="in" filter="blinds(horizontal)">
                                      <p:cBhvr>
                                        <p:cTn id="22" dur="500"/>
                                        <p:tgtEl>
                                          <p:spTgt spid="97588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75883">
                                            <p:txEl>
                                              <p:pRg st="0" end="0"/>
                                            </p:txEl>
                                          </p:spTgt>
                                        </p:tgtEl>
                                        <p:attrNameLst>
                                          <p:attrName>style.visibility</p:attrName>
                                        </p:attrNameLst>
                                      </p:cBhvr>
                                      <p:to>
                                        <p:strVal val="visible"/>
                                      </p:to>
                                    </p:set>
                                    <p:animEffect transition="in" filter="blinds(horizontal)">
                                      <p:cBhvr>
                                        <p:cTn id="27" dur="500"/>
                                        <p:tgtEl>
                                          <p:spTgt spid="9758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5877" grpId="0"/>
      <p:bldP spid="97588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11"/>
          <p:cNvSpPr txBox="1">
            <a:spLocks noChangeArrowheads="1"/>
          </p:cNvSpPr>
          <p:nvPr/>
        </p:nvSpPr>
        <p:spPr bwMode="auto">
          <a:xfrm>
            <a:off x="107950" y="15875"/>
            <a:ext cx="2497138" cy="522288"/>
          </a:xfrm>
          <a:prstGeom prst="rect">
            <a:avLst/>
          </a:prstGeom>
          <a:noFill/>
          <a:ln>
            <a:noFill/>
          </a:ln>
          <a:effec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r>
              <a:rPr lang="zh-CN" altLang="en-US" sz="2800" dirty="0">
                <a:solidFill>
                  <a:srgbClr val="0000FF"/>
                </a:solidFill>
                <a:effectLst>
                  <a:outerShdw blurRad="38100" dist="38100" dir="2700000" algn="tl">
                    <a:srgbClr val="000000">
                      <a:alpha val="43137"/>
                    </a:srgbClr>
                  </a:outerShdw>
                </a:effectLst>
              </a:rPr>
              <a:t>参考程序</a:t>
            </a:r>
            <a:r>
              <a:rPr lang="en-US" altLang="zh-CN" sz="2800" dirty="0">
                <a:solidFill>
                  <a:srgbClr val="0000FF"/>
                </a:solidFill>
                <a:effectLst>
                  <a:outerShdw blurRad="38100" dist="38100" dir="2700000" algn="tl">
                    <a:srgbClr val="000000">
                      <a:alpha val="43137"/>
                    </a:srgbClr>
                  </a:outerShdw>
                </a:effectLst>
              </a:rPr>
              <a:t>I</a:t>
            </a:r>
            <a:endParaRPr lang="zh-CN" altLang="en-US" sz="2800" dirty="0">
              <a:solidFill>
                <a:srgbClr val="0000FF"/>
              </a:solidFill>
              <a:effectLst>
                <a:outerShdw blurRad="38100" dist="38100" dir="2700000" algn="tl">
                  <a:srgbClr val="000000">
                    <a:alpha val="43137"/>
                  </a:srgbClr>
                </a:outerShdw>
              </a:effectLst>
            </a:endParaRPr>
          </a:p>
        </p:txBody>
      </p:sp>
      <p:pic>
        <p:nvPicPr>
          <p:cNvPr id="59395" name="Picture 12"/>
          <p:cNvPicPr>
            <a:picLocks noChangeAspect="1" noChangeArrowheads="1"/>
          </p:cNvPicPr>
          <p:nvPr/>
        </p:nvPicPr>
        <p:blipFill>
          <a:blip r:embed="rId2">
            <a:extLst>
              <a:ext uri="{28A0092B-C50C-407E-A947-70E740481C1C}">
                <a14:useLocalDpi xmlns:a14="http://schemas.microsoft.com/office/drawing/2010/main" val="0"/>
              </a:ext>
            </a:extLst>
          </a:blip>
          <a:srcRect l="21638" t="16310" r="209" b="24525"/>
          <a:stretch>
            <a:fillRect/>
          </a:stretch>
        </p:blipFill>
        <p:spPr bwMode="auto">
          <a:xfrm>
            <a:off x="250825" y="620713"/>
            <a:ext cx="8642350" cy="590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7657CC-3A09-4CAA-8DD7-2B141923BCCA}"/>
              </a:ext>
            </a:extLst>
          </p:cNvPr>
          <p:cNvSpPr>
            <a:spLocks noGrp="1"/>
          </p:cNvSpPr>
          <p:nvPr>
            <p:ph type="sldNum" sz="quarter" idx="12"/>
          </p:nvPr>
        </p:nvSpPr>
        <p:spPr/>
        <p:txBody>
          <a:bodyPr/>
          <a:lstStyle/>
          <a:p>
            <a:pPr>
              <a:defRPr/>
            </a:pPr>
            <a:fld id="{C75AF347-A83D-4ACF-B829-C6230AFBD0FD}" type="slidenum">
              <a:rPr lang="zh-CN" altLang="en-US" smtClean="0"/>
              <a:t>34</a:t>
            </a:fld>
            <a:endParaRPr lang="en-US" altLang="zh-CN"/>
          </a:p>
        </p:txBody>
      </p:sp>
      <p:pic>
        <p:nvPicPr>
          <p:cNvPr id="3" name="图片 2">
            <a:extLst>
              <a:ext uri="{FF2B5EF4-FFF2-40B4-BE49-F238E27FC236}">
                <a16:creationId xmlns:a16="http://schemas.microsoft.com/office/drawing/2014/main" id="{8FAD8793-D1C7-4015-A8CE-4F6EBF9E6F3C}"/>
              </a:ext>
            </a:extLst>
          </p:cNvPr>
          <p:cNvPicPr>
            <a:picLocks noChangeAspect="1"/>
          </p:cNvPicPr>
          <p:nvPr/>
        </p:nvPicPr>
        <p:blipFill>
          <a:blip r:embed="rId2"/>
          <a:stretch>
            <a:fillRect/>
          </a:stretch>
        </p:blipFill>
        <p:spPr>
          <a:xfrm>
            <a:off x="695287" y="444444"/>
            <a:ext cx="4884713" cy="1688412"/>
          </a:xfrm>
          <a:prstGeom prst="rect">
            <a:avLst/>
          </a:prstGeom>
        </p:spPr>
      </p:pic>
      <p:pic>
        <p:nvPicPr>
          <p:cNvPr id="4" name="图片 3">
            <a:extLst>
              <a:ext uri="{FF2B5EF4-FFF2-40B4-BE49-F238E27FC236}">
                <a16:creationId xmlns:a16="http://schemas.microsoft.com/office/drawing/2014/main" id="{E1ABE8DD-5B03-4132-9AD1-4B3CACA9D506}"/>
              </a:ext>
            </a:extLst>
          </p:cNvPr>
          <p:cNvPicPr>
            <a:picLocks noChangeAspect="1"/>
          </p:cNvPicPr>
          <p:nvPr/>
        </p:nvPicPr>
        <p:blipFill>
          <a:blip r:embed="rId3"/>
          <a:stretch>
            <a:fillRect/>
          </a:stretch>
        </p:blipFill>
        <p:spPr>
          <a:xfrm>
            <a:off x="719703" y="2204864"/>
            <a:ext cx="2756135" cy="4208692"/>
          </a:xfrm>
          <a:prstGeom prst="rect">
            <a:avLst/>
          </a:prstGeom>
        </p:spPr>
      </p:pic>
      <p:pic>
        <p:nvPicPr>
          <p:cNvPr id="5" name="图片 4">
            <a:extLst>
              <a:ext uri="{FF2B5EF4-FFF2-40B4-BE49-F238E27FC236}">
                <a16:creationId xmlns:a16="http://schemas.microsoft.com/office/drawing/2014/main" id="{D75D1762-E4ED-4283-A4BB-830B1C8E5FF1}"/>
              </a:ext>
            </a:extLst>
          </p:cNvPr>
          <p:cNvPicPr>
            <a:picLocks noChangeAspect="1"/>
          </p:cNvPicPr>
          <p:nvPr/>
        </p:nvPicPr>
        <p:blipFill>
          <a:blip r:embed="rId4"/>
          <a:stretch>
            <a:fillRect/>
          </a:stretch>
        </p:blipFill>
        <p:spPr>
          <a:xfrm>
            <a:off x="5436096" y="2132855"/>
            <a:ext cx="3057067" cy="1764649"/>
          </a:xfrm>
          <a:prstGeom prst="rect">
            <a:avLst/>
          </a:prstGeom>
        </p:spPr>
      </p:pic>
      <p:sp>
        <p:nvSpPr>
          <p:cNvPr id="6" name="文本框 5">
            <a:extLst>
              <a:ext uri="{FF2B5EF4-FFF2-40B4-BE49-F238E27FC236}">
                <a16:creationId xmlns:a16="http://schemas.microsoft.com/office/drawing/2014/main" id="{9299321B-9B28-4894-BC8B-409A87FBB51E}"/>
              </a:ext>
            </a:extLst>
          </p:cNvPr>
          <p:cNvSpPr txBox="1"/>
          <p:nvPr/>
        </p:nvSpPr>
        <p:spPr>
          <a:xfrm>
            <a:off x="6156176" y="698178"/>
            <a:ext cx="1989647" cy="523220"/>
          </a:xfrm>
          <a:prstGeom prst="rect">
            <a:avLst/>
          </a:prstGeom>
          <a:noFill/>
        </p:spPr>
        <p:txBody>
          <a:bodyPr wrap="none" rtlCol="0">
            <a:spAutoFit/>
          </a:bodyPr>
          <a:lstStyle/>
          <a:p>
            <a:r>
              <a:rPr lang="zh-CN" altLang="en-US" dirty="0">
                <a:solidFill>
                  <a:srgbClr val="0000FF"/>
                </a:solidFill>
                <a:effectLst>
                  <a:outerShdw blurRad="38100" dist="38100" dir="2700000" algn="tl">
                    <a:srgbClr val="000000">
                      <a:alpha val="43137"/>
                    </a:srgbClr>
                  </a:outerShdw>
                </a:effectLst>
                <a:latin typeface="+mn-ea"/>
                <a:ea typeface="+mn-ea"/>
              </a:rPr>
              <a:t>参考程序</a:t>
            </a:r>
            <a:r>
              <a:rPr lang="en-US" altLang="zh-CN" dirty="0">
                <a:solidFill>
                  <a:srgbClr val="0000FF"/>
                </a:solidFill>
                <a:effectLst>
                  <a:outerShdw blurRad="38100" dist="38100" dir="2700000" algn="tl">
                    <a:srgbClr val="000000">
                      <a:alpha val="43137"/>
                    </a:srgbClr>
                  </a:outerShdw>
                </a:effectLst>
                <a:latin typeface="+mn-ea"/>
                <a:ea typeface="+mn-ea"/>
              </a:rPr>
              <a:t>II</a:t>
            </a:r>
            <a:endParaRPr lang="zh-CN" altLang="en-US" dirty="0">
              <a:solidFill>
                <a:srgbClr val="0000FF"/>
              </a:solidFill>
              <a:effectLst>
                <a:outerShdw blurRad="38100" dist="38100" dir="2700000" algn="tl">
                  <a:srgbClr val="000000">
                    <a:alpha val="43137"/>
                  </a:srgbClr>
                </a:outerShdw>
              </a:effectLst>
              <a:latin typeface="+mn-ea"/>
              <a:ea typeface="+mn-ea"/>
            </a:endParaRPr>
          </a:p>
        </p:txBody>
      </p:sp>
    </p:spTree>
    <p:extLst>
      <p:ext uri="{BB962C8B-B14F-4D97-AF65-F5344CB8AC3E}">
        <p14:creationId xmlns:p14="http://schemas.microsoft.com/office/powerpoint/2010/main" val="4156670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6529A1D-1030-4B1A-A251-87A2775D6204}" type="slidenum">
              <a:rPr lang="zh-CN" altLang="en-US" sz="1400"/>
              <a:t>35</a:t>
            </a:fld>
            <a:endParaRPr lang="en-US" altLang="zh-CN" sz="1400"/>
          </a:p>
        </p:txBody>
      </p:sp>
      <p:sp>
        <p:nvSpPr>
          <p:cNvPr id="43012" name="Oval 3"/>
          <p:cNvSpPr>
            <a:spLocks noChangeArrowheads="1"/>
          </p:cNvSpPr>
          <p:nvPr/>
        </p:nvSpPr>
        <p:spPr bwMode="auto">
          <a:xfrm>
            <a:off x="3810000" y="4724400"/>
            <a:ext cx="1143000" cy="381000"/>
          </a:xfrm>
          <a:prstGeom prst="ellipse">
            <a:avLst/>
          </a:prstGeom>
          <a:noFill/>
          <a:ln>
            <a:noFill/>
          </a:ln>
          <a:effectLst/>
        </p:spPr>
        <p:txBody>
          <a:bodyPr wrap="none" anchor="ct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effectLst>
                <a:outerShdw blurRad="38100" dist="38100" dir="2700000" algn="tl">
                  <a:srgbClr val="000000">
                    <a:alpha val="43137"/>
                  </a:srgbClr>
                </a:outerShdw>
              </a:effectLst>
            </a:endParaRPr>
          </a:p>
        </p:txBody>
      </p:sp>
      <p:pic>
        <p:nvPicPr>
          <p:cNvPr id="60420" name="Picture 4" descr="GIF014">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6408738"/>
            <a:ext cx="7620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5"/>
          <p:cNvSpPr txBox="1">
            <a:spLocks noChangeArrowheads="1"/>
          </p:cNvSpPr>
          <p:nvPr/>
        </p:nvSpPr>
        <p:spPr bwMode="auto">
          <a:xfrm>
            <a:off x="900113" y="476250"/>
            <a:ext cx="7704137" cy="2934335"/>
          </a:xfrm>
          <a:prstGeom prst="rect">
            <a:avLst/>
          </a:prstGeom>
          <a:solidFill>
            <a:schemeClr val="bg1"/>
          </a:solidFill>
          <a:ln>
            <a:noFill/>
          </a:ln>
          <a:effectLst/>
        </p:spPr>
        <p:txBody>
          <a:bodyPr>
            <a:spAutoFit/>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50000"/>
              </a:spcBef>
              <a:defRPr/>
            </a:pP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分析：对于</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只能为定时器，可设定时时间为</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250us</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作计数器，设计数次数为</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。每当</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计满溢出时，需用软件方法使</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引脚产生负跳变，则</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便计数一次。</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计满溢出时，延时时间为</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50ms</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，因此循环</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次即可得到</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1s</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的延时。</a:t>
            </a:r>
          </a:p>
        </p:txBody>
      </p:sp>
      <p:sp>
        <p:nvSpPr>
          <p:cNvPr id="50182" name="Text Box 6"/>
          <p:cNvSpPr txBox="1">
            <a:spLocks noChangeArrowheads="1"/>
          </p:cNvSpPr>
          <p:nvPr/>
        </p:nvSpPr>
        <p:spPr bwMode="auto">
          <a:xfrm>
            <a:off x="971550" y="3429000"/>
            <a:ext cx="7272338" cy="1641475"/>
          </a:xfrm>
          <a:prstGeom prst="rect">
            <a:avLst/>
          </a:prstGeom>
          <a:solidFill>
            <a:schemeClr val="bg1"/>
          </a:solidFill>
          <a:ln>
            <a:noFill/>
          </a:ln>
          <a:effectLst/>
        </p:spPr>
        <p:txBody>
          <a:bodyPr>
            <a:spAutoFit/>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关于</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的计数初值：</a:t>
            </a:r>
          </a:p>
          <a:p>
            <a:pPr eaLnBrk="1" hangingPunct="1">
              <a:spcBef>
                <a:spcPct val="30000"/>
              </a:spcBef>
              <a:defRPr/>
            </a:pP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
            </a:r>
            <a:r>
              <a:rPr lang="en-US" altLang="zh-CN"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=256-250=6=06H</a:t>
            </a:r>
          </a:p>
          <a:p>
            <a:pPr eaLnBrk="1" hangingPunct="1">
              <a:spcBef>
                <a:spcPct val="30000"/>
              </a:spcBef>
              <a:defRPr/>
            </a:pP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
            </a:r>
            <a:r>
              <a:rPr lang="en-US" altLang="zh-CN"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=256-200=56=38H</a:t>
            </a:r>
          </a:p>
        </p:txBody>
      </p:sp>
      <p:sp>
        <p:nvSpPr>
          <p:cNvPr id="50183" name="Text Box 7"/>
          <p:cNvSpPr txBox="1">
            <a:spLocks noChangeArrowheads="1"/>
          </p:cNvSpPr>
          <p:nvPr/>
        </p:nvSpPr>
        <p:spPr bwMode="auto">
          <a:xfrm>
            <a:off x="971550" y="5229225"/>
            <a:ext cx="7777163" cy="1082040"/>
          </a:xfrm>
          <a:prstGeom prst="rect">
            <a:avLst/>
          </a:prstGeom>
          <a:solidFill>
            <a:schemeClr val="bg1"/>
          </a:solidFill>
          <a:ln>
            <a:noFill/>
          </a:ln>
          <a:effectLst/>
        </p:spPr>
        <p:txBody>
          <a:bodyPr>
            <a:spAutoFit/>
          </a:bodyPr>
          <a:lstStyle>
            <a:lvl1pPr eaLnBrk="0" hangingPunct="0">
              <a:defRPr sz="2800" b="1">
                <a:solidFill>
                  <a:schemeClr val="tx1"/>
                </a:solidFill>
                <a:latin typeface="Tahoma" panose="020B0604030504040204" pitchFamily="34" charset="0"/>
                <a:ea typeface="宋体" panose="02010600030101010101" pitchFamily="2" charset="-122"/>
              </a:defRPr>
            </a:lvl1pPr>
            <a:lvl2pPr marL="742950" indent="-285750" eaLnBrk="0" hangingPunct="0">
              <a:defRPr sz="2800" b="1">
                <a:solidFill>
                  <a:schemeClr val="tx1"/>
                </a:solidFill>
                <a:latin typeface="Tahoma" panose="020B0604030504040204" pitchFamily="34" charset="0"/>
                <a:ea typeface="宋体" panose="02010600030101010101" pitchFamily="2" charset="-122"/>
              </a:defRPr>
            </a:lvl2pPr>
            <a:lvl3pPr marL="1143000" indent="-228600" eaLnBrk="0" hangingPunct="0">
              <a:defRPr sz="2800" b="1">
                <a:solidFill>
                  <a:schemeClr val="tx1"/>
                </a:solidFill>
                <a:latin typeface="Tahoma" panose="020B0604030504040204" pitchFamily="34" charset="0"/>
                <a:ea typeface="宋体" panose="02010600030101010101" pitchFamily="2" charset="-122"/>
              </a:defRPr>
            </a:lvl3pPr>
            <a:lvl4pPr marL="1600200" indent="-228600" eaLnBrk="0" hangingPunct="0">
              <a:defRPr sz="2800" b="1">
                <a:solidFill>
                  <a:schemeClr val="tx1"/>
                </a:solidFill>
                <a:latin typeface="Tahoma" panose="020B0604030504040204" pitchFamily="34" charset="0"/>
                <a:ea typeface="宋体" panose="02010600030101010101" pitchFamily="2" charset="-122"/>
              </a:defRPr>
            </a:lvl4pPr>
            <a:lvl5pPr marL="2057400" indent="-228600" eaLnBrk="0" hangingPunct="0">
              <a:defRPr sz="28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ahoma" panose="020B0604030504040204" pitchFamily="34" charset="0"/>
                <a:ea typeface="宋体" panose="02010600030101010101" pitchFamily="2" charset="-122"/>
              </a:defRPr>
            </a:lvl9pPr>
          </a:lstStyle>
          <a:p>
            <a:pPr eaLnBrk="1" hangingPunct="1">
              <a:spcBef>
                <a:spcPct val="30000"/>
              </a:spcBef>
              <a:defRPr/>
            </a:pPr>
            <a:r>
              <a:rPr lang="en-US" altLang="zh-CN">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TMOD</a:t>
            </a:r>
            <a:r>
              <a:rPr lang="zh-CN" alt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的设置：</a:t>
            </a:r>
            <a:r>
              <a:rPr lang="en-US" altLang="zh-CN">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0000</a:t>
            </a:r>
            <a:r>
              <a:rPr lang="en-US" altLang="zh-CN">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a:t>
            </a:r>
            <a:r>
              <a:rPr lang="en-US" altLang="zh-CN">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zh-CN">
                <a:solidFill>
                  <a:srgbClr val="99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a:t>
            </a:r>
            <a:r>
              <a:rPr lang="en-US" altLang="zh-CN">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zh-CN" alt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eaLnBrk="1" hangingPunct="1">
              <a:spcBef>
                <a:spcPct val="30000"/>
              </a:spcBef>
              <a:defRPr/>
            </a:pPr>
            <a:r>
              <a:rPr lang="zh-CN" altLang="en-US">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对于计数器</a:t>
            </a:r>
            <a:r>
              <a:rPr lang="en-US" altLang="zh-CN" sz="2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T0</a:t>
            </a:r>
            <a:r>
              <a:rPr lang="zh-CN" altLang="en-US" sz="2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60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TR0=1</a:t>
            </a:r>
            <a:r>
              <a:rPr lang="zh-CN" altLang="en-US" sz="260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启动</a:t>
            </a:r>
            <a:r>
              <a:rPr lang="zh-CN" altLang="en-US" sz="2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计数方式</a:t>
            </a:r>
            <a:r>
              <a:rPr lang="zh-CN" altLang="en-US" sz="26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600">
                <a:solidFill>
                  <a:srgbClr val="99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方式</a:t>
            </a:r>
            <a:r>
              <a:rPr lang="en-US" altLang="zh-CN" sz="2600">
                <a:solidFill>
                  <a:srgbClr val="99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p>
        </p:txBody>
      </p:sp>
      <p:sp>
        <p:nvSpPr>
          <p:cNvPr id="60424" name="矩形 4"/>
          <p:cNvSpPr>
            <a:spLocks noChangeArrowheads="1"/>
          </p:cNvSpPr>
          <p:nvPr/>
        </p:nvSpPr>
        <p:spPr bwMode="auto">
          <a:xfrm>
            <a:off x="6659563" y="138113"/>
            <a:ext cx="2484437" cy="215900"/>
          </a:xfrm>
          <a:prstGeom prst="rect">
            <a:avLst/>
          </a:prstGeom>
          <a:solidFill>
            <a:srgbClr val="FFCF37"/>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0"/>
              </a:spcBef>
              <a:buClrTx/>
              <a:buSzTx/>
              <a:buFontTx/>
              <a:buNone/>
            </a:pPr>
            <a:r>
              <a:rPr lang="zh-CN" altLang="en-US" sz="1100"/>
              <a:t>单片机原理及应用</a:t>
            </a:r>
          </a:p>
        </p:txBody>
      </p:sp>
      <p:sp>
        <p:nvSpPr>
          <p:cNvPr id="2" name="Rectangle 2"/>
          <p:cNvSpPr>
            <a:spLocks noGrp="1" noChangeArrowheads="1"/>
          </p:cNvSpPr>
          <p:nvPr>
            <p:ph type="body" idx="1"/>
          </p:nvPr>
        </p:nvSpPr>
        <p:spPr>
          <a:xfrm>
            <a:off x="244475" y="79375"/>
            <a:ext cx="8893175" cy="533400"/>
          </a:xfrm>
        </p:spPr>
        <p:txBody>
          <a:bodyPr/>
          <a:lstStyle/>
          <a:p>
            <a:pPr marL="0" indent="179705" algn="just" eaLnBrk="1" hangingPunct="1">
              <a:lnSpc>
                <a:spcPct val="90000"/>
              </a:lnSpc>
              <a:buFont typeface="Wingdings" panose="05000000000000000000" pitchFamily="2" charset="2"/>
              <a:buNone/>
              <a:defRPr/>
            </a:pPr>
            <a:r>
              <a:rPr lang="zh-CN" altLang="en-US"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例</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6  </a:t>
            </a:r>
            <a:r>
              <a:rPr lang="zh-CN" altLang="en-US"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用定时器</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0</a:t>
            </a:r>
            <a:r>
              <a:rPr lang="zh-CN" altLang="en-US"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、方式</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3</a:t>
            </a:r>
            <a:r>
              <a:rPr lang="zh-CN" altLang="en-US"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实现</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1s</a:t>
            </a:r>
            <a:r>
              <a:rPr lang="zh-CN" altLang="en-US"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的延时。</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a:t>
            </a:r>
            <a:r>
              <a:rPr lang="en-US" altLang="zh-CN" sz="2800" b="1" dirty="0" err="1">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fosc</a:t>
            </a:r>
            <a:r>
              <a:rPr lang="en-US" altLang="zh-CN" sz="2800" b="1" dirty="0">
                <a:solidFill>
                  <a:srgbClr val="0000FF"/>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rPr>
              <a:t>=12MHz)</a:t>
            </a:r>
            <a:endParaRPr lang="zh-CN" altLang="en-US" sz="2800" b="1" dirty="0">
              <a:solidFill>
                <a:srgbClr val="FF0066"/>
              </a:solidFill>
              <a:effectLst>
                <a:outerShdw blurRad="38100" dist="38100" dir="2700000" algn="tl">
                  <a:srgbClr val="000000">
                    <a:alpha val="43137"/>
                  </a:srgbClr>
                </a:outerShdw>
              </a:effectLst>
              <a:latin typeface="黑体" panose="02010609060101010101" pitchFamily="2" charset="-122"/>
              <a:ea typeface="黑体" panose="02010609060101010101" pitchFamily="2" charset="-122"/>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
                                            <p:bg/>
                                          </p:spTgt>
                                        </p:tgtEl>
                                        <p:attrNameLst>
                                          <p:attrName>style.visibility</p:attrName>
                                        </p:attrNameLst>
                                      </p:cBhvr>
                                      <p:to>
                                        <p:strVal val="visible"/>
                                      </p:to>
                                    </p:set>
                                    <p:anim calcmode="lin" valueType="num">
                                      <p:cBhvr additive="base">
                                        <p:cTn id="7" dur="500" fill="hold"/>
                                        <p:tgtEl>
                                          <p:spTgt spid="2">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2">
                                            <p:bg/>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50182"/>
                                        </p:tgtEl>
                                        <p:attrNameLst>
                                          <p:attrName>style.visibility</p:attrName>
                                        </p:attrNameLst>
                                      </p:cBhvr>
                                      <p:to>
                                        <p:strVal val="visible"/>
                                      </p:to>
                                    </p:set>
                                    <p:animEffect transition="in" filter="checkerboard(across)">
                                      <p:cBhvr>
                                        <p:cTn id="23" dur="500"/>
                                        <p:tgtEl>
                                          <p:spTgt spid="5018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0183"/>
                                        </p:tgtEl>
                                        <p:attrNameLst>
                                          <p:attrName>style.visibility</p:attrName>
                                        </p:attrNameLst>
                                      </p:cBhvr>
                                      <p:to>
                                        <p:strVal val="visible"/>
                                      </p:to>
                                    </p:set>
                                    <p:animEffect transition="in" filter="dissolve">
                                      <p:cBhvr>
                                        <p:cTn id="28"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50182" grpId="0" bldLvl="0" animBg="1" autoUpdateAnimBg="0"/>
      <p:bldP spid="50183" grpId="0" bldLvl="0" animBg="1" autoUpdateAnimBg="0"/>
      <p:bldP spid="2" grpId="0" build="p" animBg="1" autoUpdateAnimBg="0"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A5F94C9-93FF-4589-9040-BAFB4F1C82B1}" type="slidenum">
              <a:rPr lang="zh-CN" altLang="en-US" sz="1400"/>
              <a:t>36</a:t>
            </a:fld>
            <a:endParaRPr lang="en-US" altLang="zh-CN" sz="1400"/>
          </a:p>
        </p:txBody>
      </p:sp>
      <p:sp>
        <p:nvSpPr>
          <p:cNvPr id="61443" name="TextBox 4"/>
          <p:cNvSpPr txBox="1">
            <a:spLocks noChangeArrowheads="1"/>
          </p:cNvSpPr>
          <p:nvPr/>
        </p:nvSpPr>
        <p:spPr bwMode="auto">
          <a:xfrm>
            <a:off x="168275" y="115888"/>
            <a:ext cx="28797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设总循环次数为</a:t>
            </a:r>
            <a:r>
              <a:rPr lang="en-US" altLang="zh-CN"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zh-CN" alt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61444" name="圆角矩形 5"/>
          <p:cNvSpPr>
            <a:spLocks noChangeArrowheads="1"/>
          </p:cNvSpPr>
          <p:nvPr/>
        </p:nvSpPr>
        <p:spPr bwMode="auto">
          <a:xfrm>
            <a:off x="3660775" y="161925"/>
            <a:ext cx="1008063" cy="431800"/>
          </a:xfrm>
          <a:prstGeom prst="roundRect">
            <a:avLst>
              <a:gd name="adj" fmla="val 16667"/>
            </a:avLst>
          </a:prstGeom>
          <a:solidFill>
            <a:srgbClr val="000099"/>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solidFill>
                  <a:schemeClr val="bg1"/>
                </a:solidFill>
                <a:latin typeface="Times New Roman" panose="02020603050405020304" pitchFamily="18" charset="0"/>
                <a:cs typeface="Times New Roman" panose="02020603050405020304" pitchFamily="18" charset="0"/>
              </a:rPr>
              <a:t>t=0</a:t>
            </a:r>
            <a:endParaRPr lang="zh-CN" altLang="en-US" sz="2800">
              <a:solidFill>
                <a:schemeClr val="bg1"/>
              </a:solidFill>
              <a:latin typeface="Times New Roman" panose="02020603050405020304" pitchFamily="18" charset="0"/>
              <a:cs typeface="Times New Roman" panose="02020603050405020304" pitchFamily="18" charset="0"/>
            </a:endParaRPr>
          </a:p>
        </p:txBody>
      </p:sp>
      <p:sp>
        <p:nvSpPr>
          <p:cNvPr id="61445" name="流程图: 决策 6"/>
          <p:cNvSpPr>
            <a:spLocks noChangeArrowheads="1"/>
          </p:cNvSpPr>
          <p:nvPr/>
        </p:nvSpPr>
        <p:spPr bwMode="auto">
          <a:xfrm>
            <a:off x="3048000" y="836613"/>
            <a:ext cx="2232025" cy="612775"/>
          </a:xfrm>
          <a:prstGeom prst="flowChartDecision">
            <a:avLst/>
          </a:prstGeom>
          <a:solidFill>
            <a:srgbClr val="00FFFF"/>
          </a:solidFill>
          <a:ln w="9525" algn="ctr">
            <a:solidFill>
              <a:schemeClr val="tx1"/>
            </a:solidFill>
            <a:round/>
          </a:ln>
        </p:spPr>
        <p:txBody>
          <a:bodyPr lIns="36000" tIns="0" rIns="36000" bIns="72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t&lt;20</a:t>
            </a:r>
            <a:endParaRPr lang="zh-CN" altLang="en-US" sz="2800">
              <a:latin typeface="Times New Roman" panose="02020603050405020304" pitchFamily="18" charset="0"/>
              <a:cs typeface="Times New Roman" panose="02020603050405020304" pitchFamily="18" charset="0"/>
            </a:endParaRPr>
          </a:p>
        </p:txBody>
      </p:sp>
      <p:sp>
        <p:nvSpPr>
          <p:cNvPr id="61446" name="流程图: 决策 7"/>
          <p:cNvSpPr>
            <a:spLocks noChangeArrowheads="1"/>
          </p:cNvSpPr>
          <p:nvPr/>
        </p:nvSpPr>
        <p:spPr bwMode="auto">
          <a:xfrm>
            <a:off x="2862263" y="1773238"/>
            <a:ext cx="2605087" cy="612775"/>
          </a:xfrm>
          <a:prstGeom prst="flowChartDecision">
            <a:avLst/>
          </a:prstGeom>
          <a:solidFill>
            <a:srgbClr val="CCFF33"/>
          </a:solidFill>
          <a:ln w="9525" algn="ctr">
            <a:solidFill>
              <a:schemeClr val="tx1"/>
            </a:solidFill>
            <a:round/>
          </a:ln>
        </p:spPr>
        <p:txBody>
          <a:bodyPr lIns="36000" tIns="0" rIns="36000" bIns="36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TF0=0</a:t>
            </a:r>
            <a:endParaRPr lang="zh-CN" altLang="en-US" sz="2800">
              <a:latin typeface="Times New Roman" panose="02020603050405020304" pitchFamily="18" charset="0"/>
              <a:cs typeface="Times New Roman" panose="02020603050405020304" pitchFamily="18" charset="0"/>
            </a:endParaRPr>
          </a:p>
        </p:txBody>
      </p:sp>
      <p:cxnSp>
        <p:nvCxnSpPr>
          <p:cNvPr id="61447" name="直接箭头连接符 9"/>
          <p:cNvCxnSpPr>
            <a:cxnSpLocks noChangeShapeType="1"/>
            <a:stCxn id="61444" idx="2"/>
          </p:cNvCxnSpPr>
          <p:nvPr/>
        </p:nvCxnSpPr>
        <p:spPr bwMode="auto">
          <a:xfrm flipH="1">
            <a:off x="4164013" y="593725"/>
            <a:ext cx="1587" cy="261938"/>
          </a:xfrm>
          <a:prstGeom prst="straightConnector1">
            <a:avLst/>
          </a:prstGeom>
          <a:noFill/>
          <a:ln w="31750"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48" name="直接箭头连接符 11"/>
          <p:cNvCxnSpPr>
            <a:cxnSpLocks noChangeShapeType="1"/>
            <a:stCxn id="61445" idx="2"/>
            <a:endCxn id="61446" idx="0"/>
          </p:cNvCxnSpPr>
          <p:nvPr/>
        </p:nvCxnSpPr>
        <p:spPr bwMode="auto">
          <a:xfrm>
            <a:off x="4164013" y="1449388"/>
            <a:ext cx="0" cy="323850"/>
          </a:xfrm>
          <a:prstGeom prst="straightConnector1">
            <a:avLst/>
          </a:prstGeom>
          <a:noFill/>
          <a:ln w="31750"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49" name="直接箭头连接符 12"/>
          <p:cNvCxnSpPr>
            <a:cxnSpLocks noChangeShapeType="1"/>
          </p:cNvCxnSpPr>
          <p:nvPr/>
        </p:nvCxnSpPr>
        <p:spPr bwMode="auto">
          <a:xfrm>
            <a:off x="4173538" y="2386013"/>
            <a:ext cx="0" cy="323850"/>
          </a:xfrm>
          <a:prstGeom prst="straightConnector1">
            <a:avLst/>
          </a:prstGeom>
          <a:noFill/>
          <a:ln w="31750"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0" name="流程图: 决策 15"/>
          <p:cNvSpPr>
            <a:spLocks noChangeArrowheads="1"/>
          </p:cNvSpPr>
          <p:nvPr/>
        </p:nvSpPr>
        <p:spPr bwMode="auto">
          <a:xfrm>
            <a:off x="2892425" y="2709863"/>
            <a:ext cx="2603500" cy="612775"/>
          </a:xfrm>
          <a:prstGeom prst="flowChartDecision">
            <a:avLst/>
          </a:prstGeom>
          <a:solidFill>
            <a:srgbClr val="FF5050"/>
          </a:solidFill>
          <a:ln w="9525" algn="ctr">
            <a:solidFill>
              <a:schemeClr val="tx1"/>
            </a:solidFill>
            <a:round/>
          </a:ln>
        </p:spPr>
        <p:txBody>
          <a:bodyPr lIns="36000" tIns="0" rIns="36000" bIns="360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TF1=0</a:t>
            </a:r>
            <a:endParaRPr lang="zh-CN" altLang="en-US" sz="2800">
              <a:latin typeface="Times New Roman" panose="02020603050405020304" pitchFamily="18" charset="0"/>
              <a:cs typeface="Times New Roman" panose="02020603050405020304" pitchFamily="18" charset="0"/>
            </a:endParaRPr>
          </a:p>
        </p:txBody>
      </p:sp>
      <p:sp>
        <p:nvSpPr>
          <p:cNvPr id="61451" name="圆角矩形 16"/>
          <p:cNvSpPr>
            <a:spLocks noChangeArrowheads="1"/>
          </p:cNvSpPr>
          <p:nvPr/>
        </p:nvSpPr>
        <p:spPr bwMode="auto">
          <a:xfrm>
            <a:off x="3567113" y="3511550"/>
            <a:ext cx="1254125" cy="431800"/>
          </a:xfrm>
          <a:prstGeom prst="roundRect">
            <a:avLst>
              <a:gd name="adj" fmla="val 16667"/>
            </a:avLst>
          </a:prstGeom>
          <a:solidFill>
            <a:srgbClr val="FFC000"/>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TF1=0</a:t>
            </a:r>
            <a:endParaRPr lang="zh-CN" altLang="en-US" sz="2800">
              <a:latin typeface="Times New Roman" panose="02020603050405020304" pitchFamily="18" charset="0"/>
              <a:cs typeface="Times New Roman" panose="02020603050405020304" pitchFamily="18" charset="0"/>
            </a:endParaRPr>
          </a:p>
        </p:txBody>
      </p:sp>
      <p:sp>
        <p:nvSpPr>
          <p:cNvPr id="61452" name="圆角矩形 17"/>
          <p:cNvSpPr>
            <a:spLocks noChangeArrowheads="1"/>
          </p:cNvSpPr>
          <p:nvPr/>
        </p:nvSpPr>
        <p:spPr bwMode="auto">
          <a:xfrm>
            <a:off x="3462338" y="4217988"/>
            <a:ext cx="1462087" cy="431800"/>
          </a:xfrm>
          <a:prstGeom prst="roundRect">
            <a:avLst>
              <a:gd name="adj" fmla="val 16667"/>
            </a:avLst>
          </a:prstGeom>
          <a:solidFill>
            <a:srgbClr val="FFC000"/>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TH0=6</a:t>
            </a:r>
            <a:endParaRPr lang="zh-CN" altLang="en-US" sz="2800">
              <a:latin typeface="Times New Roman" panose="02020603050405020304" pitchFamily="18" charset="0"/>
              <a:cs typeface="Times New Roman" panose="02020603050405020304" pitchFamily="18" charset="0"/>
            </a:endParaRPr>
          </a:p>
        </p:txBody>
      </p:sp>
      <p:sp>
        <p:nvSpPr>
          <p:cNvPr id="61453" name="圆角矩形 18"/>
          <p:cNvSpPr>
            <a:spLocks noChangeArrowheads="1"/>
          </p:cNvSpPr>
          <p:nvPr/>
        </p:nvSpPr>
        <p:spPr bwMode="auto">
          <a:xfrm>
            <a:off x="2771775" y="4948238"/>
            <a:ext cx="2844800" cy="431800"/>
          </a:xfrm>
          <a:prstGeom prst="roundRect">
            <a:avLst>
              <a:gd name="adj" fmla="val 16667"/>
            </a:avLst>
          </a:prstGeom>
          <a:solidFill>
            <a:srgbClr val="FFC000"/>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cs typeface="Times New Roman" panose="02020603050405020304" pitchFamily="18" charset="0"/>
              </a:rPr>
              <a:t>给</a:t>
            </a:r>
            <a:r>
              <a:rPr lang="en-US" altLang="zh-CN" sz="2400">
                <a:latin typeface="Times New Roman" panose="02020603050405020304" pitchFamily="18" charset="0"/>
                <a:cs typeface="Times New Roman" panose="02020603050405020304" pitchFamily="18" charset="0"/>
              </a:rPr>
              <a:t>P3.4</a:t>
            </a:r>
            <a:r>
              <a:rPr lang="zh-CN" altLang="en-US" sz="2400">
                <a:latin typeface="Times New Roman" panose="02020603050405020304" pitchFamily="18" charset="0"/>
                <a:cs typeface="Times New Roman" panose="02020603050405020304" pitchFamily="18" charset="0"/>
              </a:rPr>
              <a:t>计数脉冲</a:t>
            </a:r>
          </a:p>
        </p:txBody>
      </p:sp>
      <p:sp>
        <p:nvSpPr>
          <p:cNvPr id="61454" name="圆角矩形 19"/>
          <p:cNvSpPr>
            <a:spLocks noChangeArrowheads="1"/>
          </p:cNvSpPr>
          <p:nvPr/>
        </p:nvSpPr>
        <p:spPr bwMode="auto">
          <a:xfrm>
            <a:off x="3575050" y="5589588"/>
            <a:ext cx="1254125" cy="431800"/>
          </a:xfrm>
          <a:prstGeom prst="roundRect">
            <a:avLst>
              <a:gd name="adj" fmla="val 16667"/>
            </a:avLst>
          </a:prstGeom>
          <a:solidFill>
            <a:srgbClr val="CCFF33"/>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TF0=0</a:t>
            </a:r>
            <a:endParaRPr lang="zh-CN" altLang="en-US" sz="2800">
              <a:latin typeface="Times New Roman" panose="02020603050405020304" pitchFamily="18" charset="0"/>
              <a:cs typeface="Times New Roman" panose="02020603050405020304" pitchFamily="18" charset="0"/>
            </a:endParaRPr>
          </a:p>
        </p:txBody>
      </p:sp>
      <p:sp>
        <p:nvSpPr>
          <p:cNvPr id="61455" name="圆角矩形 20"/>
          <p:cNvSpPr>
            <a:spLocks noChangeArrowheads="1"/>
          </p:cNvSpPr>
          <p:nvPr/>
        </p:nvSpPr>
        <p:spPr bwMode="auto">
          <a:xfrm>
            <a:off x="3479800" y="6237288"/>
            <a:ext cx="1462088" cy="431800"/>
          </a:xfrm>
          <a:prstGeom prst="roundRect">
            <a:avLst>
              <a:gd name="adj" fmla="val 16667"/>
            </a:avLst>
          </a:prstGeom>
          <a:solidFill>
            <a:srgbClr val="00FFFF"/>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TL0=56</a:t>
            </a:r>
            <a:endParaRPr lang="zh-CN" altLang="en-US" sz="2800">
              <a:latin typeface="Times New Roman" panose="02020603050405020304" pitchFamily="18" charset="0"/>
              <a:cs typeface="Times New Roman" panose="02020603050405020304" pitchFamily="18" charset="0"/>
            </a:endParaRPr>
          </a:p>
        </p:txBody>
      </p:sp>
      <p:cxnSp>
        <p:nvCxnSpPr>
          <p:cNvPr id="61456" name="直接箭头连接符 22"/>
          <p:cNvCxnSpPr>
            <a:cxnSpLocks noChangeShapeType="1"/>
            <a:stCxn id="61450" idx="2"/>
            <a:endCxn id="61451" idx="0"/>
          </p:cNvCxnSpPr>
          <p:nvPr/>
        </p:nvCxnSpPr>
        <p:spPr bwMode="auto">
          <a:xfrm flipH="1">
            <a:off x="4194175" y="3322638"/>
            <a:ext cx="0" cy="188912"/>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57" name="TextBox 23"/>
          <p:cNvSpPr txBox="1">
            <a:spLocks noChangeArrowheads="1"/>
          </p:cNvSpPr>
          <p:nvPr/>
        </p:nvSpPr>
        <p:spPr bwMode="auto">
          <a:xfrm>
            <a:off x="4284663" y="3200400"/>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N</a:t>
            </a:r>
            <a:endParaRPr lang="zh-CN" altLang="en-US" sz="2000">
              <a:solidFill>
                <a:srgbClr val="FF0000"/>
              </a:solidFill>
              <a:latin typeface="Times New Roman" panose="02020603050405020304" pitchFamily="18" charset="0"/>
              <a:cs typeface="Times New Roman" panose="02020603050405020304" pitchFamily="18" charset="0"/>
            </a:endParaRPr>
          </a:p>
        </p:txBody>
      </p:sp>
      <p:cxnSp>
        <p:nvCxnSpPr>
          <p:cNvPr id="61458" name="直接箭头连接符 25"/>
          <p:cNvCxnSpPr>
            <a:cxnSpLocks noChangeShapeType="1"/>
            <a:stCxn id="61451" idx="2"/>
            <a:endCxn id="61452" idx="0"/>
          </p:cNvCxnSpPr>
          <p:nvPr/>
        </p:nvCxnSpPr>
        <p:spPr bwMode="auto">
          <a:xfrm>
            <a:off x="4194175" y="3943350"/>
            <a:ext cx="0" cy="274638"/>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59" name="直接箭头连接符 30"/>
          <p:cNvCxnSpPr>
            <a:cxnSpLocks noChangeShapeType="1"/>
            <a:stCxn id="61452" idx="2"/>
          </p:cNvCxnSpPr>
          <p:nvPr/>
        </p:nvCxnSpPr>
        <p:spPr bwMode="auto">
          <a:xfrm>
            <a:off x="4194175" y="4649788"/>
            <a:ext cx="0" cy="29210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0" name="直接箭头连接符 37"/>
          <p:cNvCxnSpPr>
            <a:cxnSpLocks noChangeShapeType="1"/>
            <a:stCxn id="61454" idx="2"/>
          </p:cNvCxnSpPr>
          <p:nvPr/>
        </p:nvCxnSpPr>
        <p:spPr bwMode="auto">
          <a:xfrm>
            <a:off x="4202113" y="6021388"/>
            <a:ext cx="0" cy="21590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61" name="TextBox 38"/>
          <p:cNvSpPr txBox="1">
            <a:spLocks noChangeArrowheads="1"/>
          </p:cNvSpPr>
          <p:nvPr/>
        </p:nvSpPr>
        <p:spPr bwMode="auto">
          <a:xfrm>
            <a:off x="4233863" y="2347913"/>
            <a:ext cx="357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Y</a:t>
            </a:r>
            <a:endParaRPr lang="zh-CN" altLang="en-US" sz="2000">
              <a:solidFill>
                <a:srgbClr val="FF0000"/>
              </a:solidFill>
              <a:latin typeface="Times New Roman" panose="02020603050405020304" pitchFamily="18" charset="0"/>
              <a:cs typeface="Times New Roman" panose="02020603050405020304" pitchFamily="18" charset="0"/>
            </a:endParaRPr>
          </a:p>
        </p:txBody>
      </p:sp>
      <p:sp>
        <p:nvSpPr>
          <p:cNvPr id="61462" name="TextBox 39"/>
          <p:cNvSpPr txBox="1">
            <a:spLocks noChangeArrowheads="1"/>
          </p:cNvSpPr>
          <p:nvPr/>
        </p:nvSpPr>
        <p:spPr bwMode="auto">
          <a:xfrm>
            <a:off x="4211638" y="1427163"/>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Y</a:t>
            </a:r>
            <a:endParaRPr lang="zh-CN" altLang="en-US" sz="2000">
              <a:solidFill>
                <a:srgbClr val="FF0000"/>
              </a:solidFill>
              <a:latin typeface="Times New Roman" panose="02020603050405020304" pitchFamily="18" charset="0"/>
              <a:cs typeface="Times New Roman" panose="02020603050405020304" pitchFamily="18" charset="0"/>
            </a:endParaRPr>
          </a:p>
        </p:txBody>
      </p:sp>
      <p:cxnSp>
        <p:nvCxnSpPr>
          <p:cNvPr id="61463" name="直接连接符 47"/>
          <p:cNvCxnSpPr>
            <a:cxnSpLocks noChangeShapeType="1"/>
            <a:stCxn id="61446" idx="1"/>
          </p:cNvCxnSpPr>
          <p:nvPr/>
        </p:nvCxnSpPr>
        <p:spPr bwMode="auto">
          <a:xfrm flipH="1">
            <a:off x="1979613" y="2079625"/>
            <a:ext cx="882650" cy="0"/>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4" name="直接连接符 49"/>
          <p:cNvCxnSpPr>
            <a:cxnSpLocks noChangeShapeType="1"/>
          </p:cNvCxnSpPr>
          <p:nvPr/>
        </p:nvCxnSpPr>
        <p:spPr bwMode="auto">
          <a:xfrm>
            <a:off x="1979613" y="2079625"/>
            <a:ext cx="0" cy="3684588"/>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5" name="直接箭头连接符 51"/>
          <p:cNvCxnSpPr>
            <a:cxnSpLocks noChangeShapeType="1"/>
            <a:endCxn id="61454" idx="1"/>
          </p:cNvCxnSpPr>
          <p:nvPr/>
        </p:nvCxnSpPr>
        <p:spPr bwMode="auto">
          <a:xfrm>
            <a:off x="1979613" y="5764213"/>
            <a:ext cx="1595437" cy="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6" name="直接连接符 53"/>
          <p:cNvCxnSpPr>
            <a:cxnSpLocks noChangeShapeType="1"/>
            <a:stCxn id="61450" idx="1"/>
          </p:cNvCxnSpPr>
          <p:nvPr/>
        </p:nvCxnSpPr>
        <p:spPr bwMode="auto">
          <a:xfrm flipH="1">
            <a:off x="2420938" y="3016250"/>
            <a:ext cx="471487" cy="0"/>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7" name="直接连接符 55"/>
          <p:cNvCxnSpPr>
            <a:cxnSpLocks noChangeShapeType="1"/>
          </p:cNvCxnSpPr>
          <p:nvPr/>
        </p:nvCxnSpPr>
        <p:spPr bwMode="auto">
          <a:xfrm flipV="1">
            <a:off x="2420938" y="2547938"/>
            <a:ext cx="0" cy="468312"/>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68" name="直接箭头连接符 57"/>
          <p:cNvCxnSpPr>
            <a:cxnSpLocks noChangeShapeType="1"/>
          </p:cNvCxnSpPr>
          <p:nvPr/>
        </p:nvCxnSpPr>
        <p:spPr bwMode="auto">
          <a:xfrm>
            <a:off x="2420938" y="2547938"/>
            <a:ext cx="1646237" cy="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69" name="TextBox 58"/>
          <p:cNvSpPr txBox="1">
            <a:spLocks noChangeArrowheads="1"/>
          </p:cNvSpPr>
          <p:nvPr/>
        </p:nvSpPr>
        <p:spPr bwMode="auto">
          <a:xfrm>
            <a:off x="2432050" y="2581275"/>
            <a:ext cx="357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Y</a:t>
            </a:r>
            <a:endParaRPr lang="zh-CN" altLang="en-US" sz="2000">
              <a:solidFill>
                <a:srgbClr val="FF0000"/>
              </a:solidFill>
              <a:latin typeface="Times New Roman" panose="02020603050405020304" pitchFamily="18" charset="0"/>
              <a:cs typeface="Times New Roman" panose="02020603050405020304" pitchFamily="18" charset="0"/>
            </a:endParaRPr>
          </a:p>
        </p:txBody>
      </p:sp>
      <p:sp>
        <p:nvSpPr>
          <p:cNvPr id="61470" name="圆角矩形 64"/>
          <p:cNvSpPr>
            <a:spLocks noChangeArrowheads="1"/>
          </p:cNvSpPr>
          <p:nvPr/>
        </p:nvSpPr>
        <p:spPr bwMode="auto">
          <a:xfrm>
            <a:off x="539750" y="6237288"/>
            <a:ext cx="1008063" cy="431800"/>
          </a:xfrm>
          <a:prstGeom prst="roundRect">
            <a:avLst>
              <a:gd name="adj" fmla="val 16667"/>
            </a:avLst>
          </a:prstGeom>
          <a:solidFill>
            <a:srgbClr val="FFC000"/>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a:latin typeface="Times New Roman" panose="02020603050405020304" pitchFamily="18" charset="0"/>
                <a:cs typeface="Times New Roman" panose="02020603050405020304" pitchFamily="18" charset="0"/>
              </a:rPr>
              <a:t>结束</a:t>
            </a:r>
          </a:p>
        </p:txBody>
      </p:sp>
      <p:sp>
        <p:nvSpPr>
          <p:cNvPr id="61471" name="圆角矩形 65"/>
          <p:cNvSpPr>
            <a:spLocks noChangeArrowheads="1"/>
          </p:cNvSpPr>
          <p:nvPr/>
        </p:nvSpPr>
        <p:spPr bwMode="auto">
          <a:xfrm>
            <a:off x="5940425" y="6237288"/>
            <a:ext cx="1008063" cy="431800"/>
          </a:xfrm>
          <a:prstGeom prst="roundRect">
            <a:avLst>
              <a:gd name="adj" fmla="val 16667"/>
            </a:avLst>
          </a:prstGeom>
          <a:solidFill>
            <a:srgbClr val="00FFFF"/>
          </a:solidFill>
          <a:ln w="9525" algn="ctr">
            <a:solidFill>
              <a:schemeClr val="tx1"/>
            </a:solidFill>
            <a:rou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cs typeface="Times New Roman" panose="02020603050405020304" pitchFamily="18" charset="0"/>
              </a:rPr>
              <a:t>t++</a:t>
            </a:r>
            <a:endParaRPr lang="zh-CN" altLang="en-US" sz="2800">
              <a:latin typeface="Times New Roman" panose="02020603050405020304" pitchFamily="18" charset="0"/>
              <a:cs typeface="Times New Roman" panose="02020603050405020304" pitchFamily="18" charset="0"/>
            </a:endParaRPr>
          </a:p>
        </p:txBody>
      </p:sp>
      <p:cxnSp>
        <p:nvCxnSpPr>
          <p:cNvPr id="61472" name="直接箭头连接符 67"/>
          <p:cNvCxnSpPr>
            <a:cxnSpLocks noChangeShapeType="1"/>
            <a:stCxn id="61455" idx="3"/>
            <a:endCxn id="61471" idx="1"/>
          </p:cNvCxnSpPr>
          <p:nvPr/>
        </p:nvCxnSpPr>
        <p:spPr bwMode="auto">
          <a:xfrm>
            <a:off x="4941888" y="6453188"/>
            <a:ext cx="998537" cy="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73" name="直接连接符 71"/>
          <p:cNvCxnSpPr>
            <a:cxnSpLocks noChangeShapeType="1"/>
            <a:stCxn id="61471" idx="0"/>
          </p:cNvCxnSpPr>
          <p:nvPr/>
        </p:nvCxnSpPr>
        <p:spPr bwMode="auto">
          <a:xfrm flipH="1" flipV="1">
            <a:off x="6443663" y="725488"/>
            <a:ext cx="1587" cy="5511800"/>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74" name="直接箭头连接符 73"/>
          <p:cNvCxnSpPr>
            <a:cxnSpLocks noChangeShapeType="1"/>
          </p:cNvCxnSpPr>
          <p:nvPr/>
        </p:nvCxnSpPr>
        <p:spPr bwMode="auto">
          <a:xfrm flipH="1" flipV="1">
            <a:off x="4233863" y="725488"/>
            <a:ext cx="2209800" cy="0"/>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75" name="直接连接符 75"/>
          <p:cNvCxnSpPr>
            <a:cxnSpLocks noChangeShapeType="1"/>
            <a:stCxn id="61445" idx="1"/>
          </p:cNvCxnSpPr>
          <p:nvPr/>
        </p:nvCxnSpPr>
        <p:spPr bwMode="auto">
          <a:xfrm flipH="1">
            <a:off x="1042988" y="1143000"/>
            <a:ext cx="2005012" cy="0"/>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76" name="直接箭头连接符 77"/>
          <p:cNvCxnSpPr>
            <a:cxnSpLocks noChangeShapeType="1"/>
            <a:endCxn id="61470" idx="0"/>
          </p:cNvCxnSpPr>
          <p:nvPr/>
        </p:nvCxnSpPr>
        <p:spPr bwMode="auto">
          <a:xfrm>
            <a:off x="1042988" y="1143000"/>
            <a:ext cx="1587" cy="5094288"/>
          </a:xfrm>
          <a:prstGeom prst="straightConnector1">
            <a:avLst/>
          </a:prstGeom>
          <a:noFill/>
          <a:ln w="2857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77" name="TextBox 23"/>
          <p:cNvSpPr txBox="1">
            <a:spLocks noChangeArrowheads="1"/>
          </p:cNvSpPr>
          <p:nvPr/>
        </p:nvSpPr>
        <p:spPr bwMode="auto">
          <a:xfrm>
            <a:off x="1990725" y="2063750"/>
            <a:ext cx="35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Times New Roman" panose="02020603050405020304" pitchFamily="18" charset="0"/>
                <a:cs typeface="Times New Roman" panose="02020603050405020304" pitchFamily="18" charset="0"/>
              </a:rPr>
              <a:t>N</a:t>
            </a:r>
            <a:endParaRPr lang="zh-CN" altLang="en-US" sz="2000">
              <a:solidFill>
                <a:srgbClr val="FF0000"/>
              </a:solidFill>
              <a:latin typeface="Times New Roman" panose="02020603050405020304" pitchFamily="18" charset="0"/>
              <a:cs typeface="Times New Roman" panose="02020603050405020304" pitchFamily="18" charset="0"/>
            </a:endParaRPr>
          </a:p>
        </p:txBody>
      </p:sp>
      <p:sp>
        <p:nvSpPr>
          <p:cNvPr id="61478" name="TextBox 5"/>
          <p:cNvSpPr txBox="1">
            <a:spLocks noChangeArrowheads="1"/>
          </p:cNvSpPr>
          <p:nvPr/>
        </p:nvSpPr>
        <p:spPr bwMode="auto">
          <a:xfrm>
            <a:off x="6804025" y="450850"/>
            <a:ext cx="2195513"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初值：</a:t>
            </a:r>
            <a:r>
              <a:rPr lang="en-US" altLang="zh-CN"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TH0=6</a:t>
            </a:r>
          </a:p>
          <a:p>
            <a:pPr eaLnBrk="1" hangingPunct="1">
              <a:spcBef>
                <a:spcPct val="0"/>
              </a:spcBef>
              <a:buClrTx/>
              <a:buSzTx/>
              <a:buFontTx/>
              <a:buNone/>
            </a:pPr>
            <a:r>
              <a:rPr lang="en-US" altLang="zh-CN"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TL0=56</a:t>
            </a:r>
            <a:endParaRPr lang="zh-CN" altLang="en-US" sz="2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1479" name="TextBox 6"/>
          <p:cNvSpPr txBox="1">
            <a:spLocks noChangeArrowheads="1"/>
          </p:cNvSpPr>
          <p:nvPr/>
        </p:nvSpPr>
        <p:spPr bwMode="auto">
          <a:xfrm>
            <a:off x="5441950" y="2782888"/>
            <a:ext cx="3557588"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TH0</a:t>
            </a:r>
            <a:r>
              <a:rPr lang="zh-CN" altLang="en-US"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每</a:t>
            </a:r>
            <a:r>
              <a:rPr lang="en-US" altLang="zh-CN"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250us</a:t>
            </a:r>
            <a:r>
              <a:rPr lang="zh-CN" altLang="en-US"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溢出一次</a:t>
            </a:r>
          </a:p>
        </p:txBody>
      </p:sp>
      <p:sp>
        <p:nvSpPr>
          <p:cNvPr id="61480" name="TextBox 44"/>
          <p:cNvSpPr txBox="1">
            <a:spLocks noChangeArrowheads="1"/>
          </p:cNvSpPr>
          <p:nvPr/>
        </p:nvSpPr>
        <p:spPr bwMode="auto">
          <a:xfrm>
            <a:off x="6445250" y="4887913"/>
            <a:ext cx="237490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计数一次</a:t>
            </a:r>
          </a:p>
        </p:txBody>
      </p:sp>
      <p:sp>
        <p:nvSpPr>
          <p:cNvPr id="61481" name="TextBox 45"/>
          <p:cNvSpPr txBox="1">
            <a:spLocks noChangeArrowheads="1"/>
          </p:cNvSpPr>
          <p:nvPr/>
        </p:nvSpPr>
        <p:spPr bwMode="auto">
          <a:xfrm>
            <a:off x="5735955" y="5518785"/>
            <a:ext cx="190119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TL0</a:t>
            </a:r>
            <a:r>
              <a:rPr lang="zh-CN" altLang="en-US" sz="260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计满</a:t>
            </a:r>
          </a:p>
        </p:txBody>
      </p:sp>
      <p:cxnSp>
        <p:nvCxnSpPr>
          <p:cNvPr id="61482" name="直接连接符 49"/>
          <p:cNvCxnSpPr>
            <a:cxnSpLocks noChangeShapeType="1"/>
          </p:cNvCxnSpPr>
          <p:nvPr/>
        </p:nvCxnSpPr>
        <p:spPr bwMode="auto">
          <a:xfrm flipH="1">
            <a:off x="6003925" y="2063750"/>
            <a:ext cx="4763" cy="3173413"/>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83" name="直接连接符 47"/>
          <p:cNvCxnSpPr>
            <a:cxnSpLocks noChangeShapeType="1"/>
          </p:cNvCxnSpPr>
          <p:nvPr/>
        </p:nvCxnSpPr>
        <p:spPr bwMode="auto">
          <a:xfrm flipH="1">
            <a:off x="5616575" y="5237163"/>
            <a:ext cx="392113" cy="0"/>
          </a:xfrm>
          <a:prstGeom prst="line">
            <a:avLst/>
          </a:prstGeom>
          <a:noFill/>
          <a:ln w="2857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84" name="直接箭头连接符 5"/>
          <p:cNvCxnSpPr>
            <a:cxnSpLocks noChangeShapeType="1"/>
          </p:cNvCxnSpPr>
          <p:nvPr/>
        </p:nvCxnSpPr>
        <p:spPr bwMode="auto">
          <a:xfrm flipH="1">
            <a:off x="5505450" y="2063750"/>
            <a:ext cx="498475" cy="0"/>
          </a:xfrm>
          <a:prstGeom prst="straightConnector1">
            <a:avLst/>
          </a:prstGeom>
          <a:noFill/>
          <a:ln w="349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F55BE39-B505-43B7-9DAA-86BC8A6494A9}" type="slidenum">
              <a:rPr lang="zh-CN" altLang="en-US" sz="1400"/>
              <a:t>37</a:t>
            </a:fld>
            <a:endParaRPr lang="en-US" altLang="zh-CN" sz="1400"/>
          </a:p>
        </p:txBody>
      </p:sp>
      <p:sp>
        <p:nvSpPr>
          <p:cNvPr id="47107" name="Rectangle 2"/>
          <p:cNvSpPr>
            <a:spLocks noChangeArrowheads="1"/>
          </p:cNvSpPr>
          <p:nvPr/>
        </p:nvSpPr>
        <p:spPr bwMode="auto">
          <a:xfrm>
            <a:off x="467544" y="1052736"/>
            <a:ext cx="8001000" cy="5190902"/>
          </a:xfrm>
          <a:prstGeom prst="rect">
            <a:avLst/>
          </a:prstGeom>
          <a:solidFill>
            <a:schemeClr val="bg1"/>
          </a:solidFill>
          <a:ln>
            <a:noFill/>
          </a:ln>
          <a:effec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20000"/>
              </a:lnSpc>
              <a:buClr>
                <a:srgbClr val="C00000"/>
              </a:buClr>
              <a:buSzTx/>
              <a:buFont typeface="Wingdings" panose="05000000000000000000" pitchFamily="2" charset="2"/>
              <a:buChar char="p"/>
              <a:defRPr/>
            </a:pPr>
            <a:r>
              <a:rPr lang="en-US" altLang="zh-CN" sz="2600" dirty="0">
                <a:effectLst>
                  <a:outerShdw blurRad="38100" dist="38100" dir="2700000" algn="tl">
                    <a:srgbClr val="000000">
                      <a:alpha val="43137"/>
                    </a:srgbClr>
                  </a:outerShdw>
                </a:effectLst>
                <a:latin typeface="宋体" panose="02010600030101010101" pitchFamily="2" charset="-122"/>
              </a:rPr>
              <a:t>MCS-51</a:t>
            </a:r>
            <a:r>
              <a:rPr lang="zh-CN" altLang="en-US" sz="2600" dirty="0">
                <a:effectLst>
                  <a:outerShdw blurRad="38100" dist="38100" dir="2700000" algn="tl">
                    <a:srgbClr val="000000">
                      <a:alpha val="43137"/>
                    </a:srgbClr>
                  </a:outerShdw>
                </a:effectLst>
                <a:latin typeface="Times New Roman" panose="02020603050405020304" pitchFamily="18" charset="0"/>
              </a:rPr>
              <a:t>单片机内部有两个可编程定时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a:t>
            </a:r>
            <a:r>
              <a:rPr lang="en-US" altLang="zh-CN" sz="2600" dirty="0">
                <a:effectLst>
                  <a:outerShdw blurRad="38100" dist="38100" dir="2700000" algn="tl">
                    <a:srgbClr val="000000">
                      <a:alpha val="43137"/>
                    </a:srgbClr>
                  </a:outerShdw>
                </a:effectLst>
                <a:latin typeface="宋体" panose="02010600030101010101" pitchFamily="2" charset="-122"/>
              </a:rPr>
              <a:t>0</a:t>
            </a:r>
            <a:r>
              <a:rPr lang="zh-CN" altLang="en-US" sz="2600" dirty="0">
                <a:effectLst>
                  <a:outerShdw blurRad="38100" dist="38100" dir="2700000" algn="tl">
                    <a:srgbClr val="000000">
                      <a:alpha val="43137"/>
                    </a:srgbClr>
                  </a:outerShdw>
                </a:effectLst>
                <a:latin typeface="Times New Roman" panose="02020603050405020304" pitchFamily="18" charset="0"/>
              </a:rPr>
              <a:t>和</a:t>
            </a:r>
            <a:r>
              <a:rPr lang="en-US" altLang="zh-CN" sz="2600" dirty="0">
                <a:effectLst>
                  <a:outerShdw blurRad="38100" dist="38100" dir="2700000" algn="tl">
                    <a:srgbClr val="000000">
                      <a:alpha val="43137"/>
                    </a:srgbClr>
                  </a:outerShdw>
                </a:effectLst>
                <a:latin typeface="宋体" panose="02010600030101010101" pitchFamily="2" charset="-122"/>
              </a:rPr>
              <a:t>1</a:t>
            </a:r>
            <a:r>
              <a:rPr lang="zh-CN" altLang="en-US" sz="2600" dirty="0">
                <a:effectLst>
                  <a:outerShdw blurRad="38100" dist="38100" dir="2700000" algn="tl">
                    <a:srgbClr val="000000">
                      <a:alpha val="43137"/>
                    </a:srgbClr>
                  </a:outerShdw>
                </a:effectLst>
                <a:latin typeface="Times New Roman" panose="02020603050405020304" pitchFamily="18" charset="0"/>
              </a:rPr>
              <a:t>，每个定时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计数器均有</a:t>
            </a:r>
            <a:r>
              <a:rPr lang="en-US" altLang="zh-CN" sz="2600" dirty="0">
                <a:effectLst>
                  <a:outerShdw blurRad="38100" dist="38100" dir="2700000" algn="tl">
                    <a:srgbClr val="000000">
                      <a:alpha val="43137"/>
                    </a:srgbClr>
                  </a:outerShdw>
                </a:effectLst>
                <a:latin typeface="宋体" panose="02010600030101010101" pitchFamily="2" charset="-122"/>
              </a:rPr>
              <a:t>4</a:t>
            </a:r>
            <a:r>
              <a:rPr lang="zh-CN" altLang="en-US" sz="2600" dirty="0">
                <a:effectLst>
                  <a:outerShdw blurRad="38100" dist="38100" dir="2700000" algn="tl">
                    <a:srgbClr val="000000">
                      <a:alpha val="43137"/>
                    </a:srgbClr>
                  </a:outerShdw>
                </a:effectLst>
                <a:latin typeface="Times New Roman" panose="02020603050405020304" pitchFamily="18" charset="0"/>
              </a:rPr>
              <a:t>种工作方式：方式</a:t>
            </a:r>
            <a:r>
              <a:rPr lang="en-US" altLang="zh-CN" sz="2600" dirty="0">
                <a:effectLst>
                  <a:outerShdw blurRad="38100" dist="38100" dir="2700000" algn="tl">
                    <a:srgbClr val="000000">
                      <a:alpha val="43137"/>
                    </a:srgbClr>
                  </a:outerShdw>
                </a:effectLst>
                <a:latin typeface="宋体" panose="02010600030101010101" pitchFamily="2" charset="-122"/>
              </a:rPr>
              <a:t>0</a:t>
            </a:r>
            <a:r>
              <a:rPr lang="zh-CN" altLang="en-US" sz="2600" dirty="0">
                <a:effectLst>
                  <a:outerShdw blurRad="38100" dist="38100" dir="2700000" algn="tl">
                    <a:srgbClr val="000000">
                      <a:alpha val="43137"/>
                    </a:srgbClr>
                  </a:outerShdw>
                </a:effectLst>
                <a:latin typeface="Times New Roman" panose="02020603050405020304" pitchFamily="18" charset="0"/>
              </a:rPr>
              <a:t>～方式</a:t>
            </a:r>
            <a:r>
              <a:rPr lang="en-US" altLang="zh-CN" sz="2600" dirty="0">
                <a:effectLst>
                  <a:outerShdw blurRad="38100" dist="38100" dir="2700000" algn="tl">
                    <a:srgbClr val="000000">
                      <a:alpha val="43137"/>
                    </a:srgbClr>
                  </a:outerShdw>
                </a:effectLst>
                <a:latin typeface="宋体" panose="02010600030101010101" pitchFamily="2" charset="-122"/>
              </a:rPr>
              <a:t>3</a:t>
            </a:r>
            <a:r>
              <a:rPr lang="zh-CN" altLang="en-US" sz="2600" dirty="0">
                <a:effectLst>
                  <a:outerShdw blurRad="38100" dist="38100" dir="2700000" algn="tl">
                    <a:srgbClr val="000000">
                      <a:alpha val="43137"/>
                    </a:srgbClr>
                  </a:outerShdw>
                </a:effectLst>
                <a:latin typeface="Times New Roman" panose="02020603050405020304" pitchFamily="18" charset="0"/>
              </a:rPr>
              <a:t>。</a:t>
            </a:r>
            <a:endParaRPr lang="en-US" altLang="zh-CN" sz="2600" dirty="0">
              <a:effectLst>
                <a:outerShdw blurRad="38100" dist="38100" dir="2700000" algn="tl">
                  <a:srgbClr val="000000">
                    <a:alpha val="43137"/>
                  </a:srgbClr>
                </a:outerShdw>
              </a:effectLst>
              <a:latin typeface="Times New Roman" panose="02020603050405020304" pitchFamily="18" charset="0"/>
            </a:endParaRPr>
          </a:p>
          <a:p>
            <a:pPr algn="just" eaLnBrk="1" hangingPunct="1">
              <a:lnSpc>
                <a:spcPct val="120000"/>
              </a:lnSpc>
              <a:buClr>
                <a:srgbClr val="C00000"/>
              </a:buClr>
              <a:buSzTx/>
              <a:buFont typeface="Wingdings" panose="05000000000000000000" pitchFamily="2" charset="2"/>
              <a:buChar char="p"/>
              <a:defRPr/>
            </a:pPr>
            <a:r>
              <a:rPr lang="zh-CN" altLang="en-US" sz="2600" dirty="0">
                <a:effectLst>
                  <a:outerShdw blurRad="38100" dist="38100" dir="2700000" algn="tl">
                    <a:srgbClr val="000000">
                      <a:alpha val="43137"/>
                    </a:srgbClr>
                  </a:outerShdw>
                </a:effectLst>
                <a:latin typeface="Times New Roman" panose="02020603050405020304" pitchFamily="18" charset="0"/>
              </a:rPr>
              <a:t>方式</a:t>
            </a:r>
            <a:r>
              <a:rPr lang="en-US" altLang="zh-CN" sz="2600" dirty="0">
                <a:effectLst>
                  <a:outerShdw blurRad="38100" dist="38100" dir="2700000" algn="tl">
                    <a:srgbClr val="000000">
                      <a:alpha val="43137"/>
                    </a:srgbClr>
                  </a:outerShdw>
                </a:effectLst>
                <a:latin typeface="宋体" panose="02010600030101010101" pitchFamily="2" charset="-122"/>
              </a:rPr>
              <a:t>0</a:t>
            </a:r>
            <a:r>
              <a:rPr lang="zh-CN" altLang="en-US" sz="2600" dirty="0">
                <a:effectLst>
                  <a:outerShdw blurRad="38100" dist="38100" dir="2700000" algn="tl">
                    <a:srgbClr val="000000">
                      <a:alpha val="43137"/>
                    </a:srgbClr>
                  </a:outerShdw>
                </a:effectLst>
                <a:latin typeface="Times New Roman" panose="02020603050405020304" pitchFamily="18" charset="0"/>
              </a:rPr>
              <a:t>是</a:t>
            </a:r>
            <a:r>
              <a:rPr lang="en-US" altLang="zh-CN" sz="2600" dirty="0">
                <a:effectLst>
                  <a:outerShdw blurRad="38100" dist="38100" dir="2700000" algn="tl">
                    <a:srgbClr val="000000">
                      <a:alpha val="43137"/>
                    </a:srgbClr>
                  </a:outerShdw>
                </a:effectLst>
                <a:latin typeface="宋体" panose="02010600030101010101" pitchFamily="2" charset="-122"/>
              </a:rPr>
              <a:t>13</a:t>
            </a:r>
            <a:r>
              <a:rPr lang="zh-CN" altLang="en-US" sz="2600" dirty="0">
                <a:effectLst>
                  <a:outerShdw blurRad="38100" dist="38100" dir="2700000" algn="tl">
                    <a:srgbClr val="000000">
                      <a:alpha val="43137"/>
                    </a:srgbClr>
                  </a:outerShdw>
                </a:effectLst>
                <a:latin typeface="Times New Roman" panose="02020603050405020304" pitchFamily="18" charset="0"/>
              </a:rPr>
              <a:t>位的定时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计数器；方式</a:t>
            </a:r>
            <a:r>
              <a:rPr lang="en-US" altLang="zh-CN" sz="2600" dirty="0">
                <a:effectLst>
                  <a:outerShdw blurRad="38100" dist="38100" dir="2700000" algn="tl">
                    <a:srgbClr val="000000">
                      <a:alpha val="43137"/>
                    </a:srgbClr>
                  </a:outerShdw>
                </a:effectLst>
                <a:latin typeface="宋体" panose="02010600030101010101" pitchFamily="2" charset="-122"/>
              </a:rPr>
              <a:t>1</a:t>
            </a:r>
            <a:r>
              <a:rPr lang="zh-CN" altLang="en-US" sz="2600" dirty="0">
                <a:effectLst>
                  <a:outerShdw blurRad="38100" dist="38100" dir="2700000" algn="tl">
                    <a:srgbClr val="000000">
                      <a:alpha val="43137"/>
                    </a:srgbClr>
                  </a:outerShdw>
                </a:effectLst>
                <a:latin typeface="Times New Roman" panose="02020603050405020304" pitchFamily="18" charset="0"/>
              </a:rPr>
              <a:t>是</a:t>
            </a:r>
            <a:r>
              <a:rPr lang="en-US" altLang="zh-CN" sz="2600" dirty="0">
                <a:effectLst>
                  <a:outerShdw blurRad="38100" dist="38100" dir="2700000" algn="tl">
                    <a:srgbClr val="000000">
                      <a:alpha val="43137"/>
                    </a:srgbClr>
                  </a:outerShdw>
                </a:effectLst>
                <a:latin typeface="宋体" panose="02010600030101010101" pitchFamily="2" charset="-122"/>
              </a:rPr>
              <a:t>16</a:t>
            </a:r>
            <a:r>
              <a:rPr lang="zh-CN" altLang="en-US" sz="2600" dirty="0">
                <a:effectLst>
                  <a:outerShdw blurRad="38100" dist="38100" dir="2700000" algn="tl">
                    <a:srgbClr val="000000">
                      <a:alpha val="43137"/>
                    </a:srgbClr>
                  </a:outerShdw>
                </a:effectLst>
                <a:latin typeface="Times New Roman" panose="02020603050405020304" pitchFamily="18" charset="0"/>
              </a:rPr>
              <a:t>位的定时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计数器；方式</a:t>
            </a:r>
            <a:r>
              <a:rPr lang="en-US" altLang="zh-CN" sz="2600" dirty="0">
                <a:effectLst>
                  <a:outerShdw blurRad="38100" dist="38100" dir="2700000" algn="tl">
                    <a:srgbClr val="000000">
                      <a:alpha val="43137"/>
                    </a:srgbClr>
                  </a:outerShdw>
                </a:effectLst>
                <a:latin typeface="宋体" panose="02010600030101010101" pitchFamily="2" charset="-122"/>
              </a:rPr>
              <a:t>2</a:t>
            </a:r>
            <a:r>
              <a:rPr lang="zh-CN" altLang="en-US" sz="2600" dirty="0">
                <a:effectLst>
                  <a:outerShdw blurRad="38100" dist="38100" dir="2700000" algn="tl">
                    <a:srgbClr val="000000">
                      <a:alpha val="43137"/>
                    </a:srgbClr>
                  </a:outerShdw>
                </a:effectLst>
                <a:latin typeface="Times New Roman" panose="02020603050405020304" pitchFamily="18" charset="0"/>
              </a:rPr>
              <a:t>是自动重载初值的</a:t>
            </a:r>
            <a:r>
              <a:rPr lang="en-US" altLang="zh-CN" sz="2600" dirty="0">
                <a:effectLst>
                  <a:outerShdw blurRad="38100" dist="38100" dir="2700000" algn="tl">
                    <a:srgbClr val="000000">
                      <a:alpha val="43137"/>
                    </a:srgbClr>
                  </a:outerShdw>
                </a:effectLst>
                <a:latin typeface="宋体" panose="02010600030101010101" pitchFamily="2" charset="-122"/>
              </a:rPr>
              <a:t>8</a:t>
            </a:r>
            <a:r>
              <a:rPr lang="zh-CN" altLang="en-US" sz="2600" dirty="0">
                <a:effectLst>
                  <a:outerShdw blurRad="38100" dist="38100" dir="2700000" algn="tl">
                    <a:srgbClr val="000000">
                      <a:alpha val="43137"/>
                    </a:srgbClr>
                  </a:outerShdw>
                </a:effectLst>
                <a:latin typeface="Times New Roman" panose="02020603050405020304" pitchFamily="18" charset="0"/>
              </a:rPr>
              <a:t>位定时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计数器；方式</a:t>
            </a:r>
            <a:r>
              <a:rPr lang="en-US" altLang="zh-CN" sz="2600" dirty="0">
                <a:effectLst>
                  <a:outerShdw blurRad="38100" dist="38100" dir="2700000" algn="tl">
                    <a:srgbClr val="000000">
                      <a:alpha val="43137"/>
                    </a:srgbClr>
                  </a:outerShdw>
                </a:effectLst>
                <a:latin typeface="宋体" panose="02010600030101010101" pitchFamily="2" charset="-122"/>
              </a:rPr>
              <a:t>3</a:t>
            </a:r>
            <a:r>
              <a:rPr lang="zh-CN" altLang="en-US" sz="2600" dirty="0">
                <a:effectLst>
                  <a:outerShdw blurRad="38100" dist="38100" dir="2700000" algn="tl">
                    <a:srgbClr val="000000">
                      <a:alpha val="43137"/>
                    </a:srgbClr>
                  </a:outerShdw>
                </a:effectLst>
                <a:latin typeface="Times New Roman" panose="02020603050405020304" pitchFamily="18" charset="0"/>
              </a:rPr>
              <a:t>只适用于定时器</a:t>
            </a:r>
            <a:r>
              <a:rPr lang="en-US" altLang="zh-CN" sz="2600" dirty="0">
                <a:effectLst>
                  <a:outerShdw blurRad="38100" dist="38100" dir="2700000" algn="tl">
                    <a:srgbClr val="000000">
                      <a:alpha val="43137"/>
                    </a:srgbClr>
                  </a:outerShdw>
                </a:effectLst>
                <a:latin typeface="宋体" panose="02010600030101010101" pitchFamily="2" charset="-122"/>
              </a:rPr>
              <a:t>0</a:t>
            </a:r>
            <a:r>
              <a:rPr lang="zh-CN" altLang="en-US" sz="2600" dirty="0">
                <a:effectLst>
                  <a:outerShdw blurRad="38100" dist="38100" dir="2700000" algn="tl">
                    <a:srgbClr val="000000">
                      <a:alpha val="43137"/>
                    </a:srgbClr>
                  </a:outerShdw>
                </a:effectLst>
                <a:latin typeface="Times New Roman" panose="02020603050405020304" pitchFamily="18" charset="0"/>
              </a:rPr>
              <a:t>，将定时器</a:t>
            </a:r>
            <a:r>
              <a:rPr lang="en-US" altLang="zh-CN" sz="2600" dirty="0">
                <a:effectLst>
                  <a:outerShdw blurRad="38100" dist="38100" dir="2700000" algn="tl">
                    <a:srgbClr val="000000">
                      <a:alpha val="43137"/>
                    </a:srgbClr>
                  </a:outerShdw>
                </a:effectLst>
                <a:latin typeface="宋体" panose="02010600030101010101" pitchFamily="2" charset="-122"/>
              </a:rPr>
              <a:t>0</a:t>
            </a:r>
            <a:r>
              <a:rPr lang="zh-CN" altLang="en-US" sz="2600" dirty="0">
                <a:effectLst>
                  <a:outerShdw blurRad="38100" dist="38100" dir="2700000" algn="tl">
                    <a:srgbClr val="000000">
                      <a:alpha val="43137"/>
                    </a:srgbClr>
                  </a:outerShdw>
                </a:effectLst>
                <a:latin typeface="Times New Roman" panose="02020603050405020304" pitchFamily="18" charset="0"/>
              </a:rPr>
              <a:t>分为两个独立的</a:t>
            </a:r>
            <a:r>
              <a:rPr lang="en-US" altLang="zh-CN" sz="2600" dirty="0">
                <a:effectLst>
                  <a:outerShdw blurRad="38100" dist="38100" dir="2700000" algn="tl">
                    <a:srgbClr val="000000">
                      <a:alpha val="43137"/>
                    </a:srgbClr>
                  </a:outerShdw>
                </a:effectLst>
                <a:latin typeface="宋体" panose="02010600030101010101" pitchFamily="2" charset="-122"/>
              </a:rPr>
              <a:t>8</a:t>
            </a:r>
            <a:r>
              <a:rPr lang="zh-CN" altLang="en-US" sz="2600" dirty="0">
                <a:effectLst>
                  <a:outerShdw blurRad="38100" dist="38100" dir="2700000" algn="tl">
                    <a:srgbClr val="000000">
                      <a:alpha val="43137"/>
                    </a:srgbClr>
                  </a:outerShdw>
                </a:effectLst>
                <a:latin typeface="Times New Roman" panose="02020603050405020304" pitchFamily="18" charset="0"/>
              </a:rPr>
              <a:t>位定时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计数器，同时定时器</a:t>
            </a:r>
            <a:r>
              <a:rPr lang="en-US" altLang="zh-CN" sz="2600" dirty="0">
                <a:effectLst>
                  <a:outerShdw blurRad="38100" dist="38100" dir="2700000" algn="tl">
                    <a:srgbClr val="000000">
                      <a:alpha val="43137"/>
                    </a:srgbClr>
                  </a:outerShdw>
                </a:effectLst>
                <a:latin typeface="宋体" panose="02010600030101010101" pitchFamily="2" charset="-122"/>
              </a:rPr>
              <a:t>1</a:t>
            </a:r>
            <a:r>
              <a:rPr lang="zh-CN" altLang="en-US" sz="2600" dirty="0">
                <a:effectLst>
                  <a:outerShdw blurRad="38100" dist="38100" dir="2700000" algn="tl">
                    <a:srgbClr val="000000">
                      <a:alpha val="43137"/>
                    </a:srgbClr>
                  </a:outerShdw>
                </a:effectLst>
                <a:latin typeface="Times New Roman" panose="02020603050405020304" pitchFamily="18" charset="0"/>
              </a:rPr>
              <a:t>可以作为串行接口的波特率发生器。</a:t>
            </a:r>
            <a:endParaRPr lang="zh-CN" altLang="en-US" sz="2600" dirty="0">
              <a:effectLst>
                <a:outerShdw blurRad="38100" dist="38100" dir="2700000" algn="tl">
                  <a:srgbClr val="000000">
                    <a:alpha val="43137"/>
                  </a:srgbClr>
                </a:outerShdw>
              </a:effectLst>
              <a:latin typeface="宋体" panose="02010600030101010101" pitchFamily="2" charset="-122"/>
            </a:endParaRPr>
          </a:p>
          <a:p>
            <a:pPr algn="just" eaLnBrk="1" hangingPunct="1">
              <a:lnSpc>
                <a:spcPct val="120000"/>
              </a:lnSpc>
              <a:buClr>
                <a:srgbClr val="C00000"/>
              </a:buClr>
              <a:buSzTx/>
              <a:buFont typeface="Wingdings" panose="05000000000000000000" pitchFamily="2" charset="2"/>
              <a:buChar char="p"/>
              <a:defRPr/>
            </a:pPr>
            <a:r>
              <a:rPr lang="zh-CN" altLang="en-US" sz="2600" dirty="0">
                <a:effectLst>
                  <a:outerShdw blurRad="38100" dist="38100" dir="2700000" algn="tl">
                    <a:srgbClr val="000000">
                      <a:alpha val="43137"/>
                    </a:srgbClr>
                  </a:outerShdw>
                </a:effectLst>
                <a:latin typeface="Times New Roman" panose="02020603050405020304" pitchFamily="18" charset="0"/>
              </a:rPr>
              <a:t>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计数器的编程包括设置方式寄存器、初值及控制寄存器。初值由定时时间及定时</a:t>
            </a:r>
            <a:r>
              <a:rPr lang="en-US" altLang="zh-CN" sz="2600" dirty="0">
                <a:effectLst>
                  <a:outerShdw blurRad="38100" dist="38100" dir="2700000" algn="tl">
                    <a:srgbClr val="000000">
                      <a:alpha val="43137"/>
                    </a:srgbClr>
                  </a:outerShdw>
                </a:effectLst>
                <a:latin typeface="宋体" panose="02010600030101010101" pitchFamily="2" charset="-122"/>
              </a:rPr>
              <a:t>/</a:t>
            </a:r>
            <a:r>
              <a:rPr lang="zh-CN" altLang="en-US" sz="2600" dirty="0">
                <a:effectLst>
                  <a:outerShdw blurRad="38100" dist="38100" dir="2700000" algn="tl">
                    <a:srgbClr val="000000">
                      <a:alpha val="43137"/>
                    </a:srgbClr>
                  </a:outerShdw>
                </a:effectLst>
                <a:latin typeface="Times New Roman" panose="02020603050405020304" pitchFamily="18" charset="0"/>
              </a:rPr>
              <a:t>计数器的位数决定。</a:t>
            </a:r>
            <a:endParaRPr lang="zh-CN" altLang="en-US" sz="2600" dirty="0">
              <a:effectLst>
                <a:outerShdw blurRad="38100" dist="38100" dir="2700000" algn="tl">
                  <a:srgbClr val="000000">
                    <a:alpha val="43137"/>
                  </a:srgbClr>
                </a:outerShdw>
              </a:effectLst>
              <a:latin typeface="宋体" panose="02010600030101010101" pitchFamily="2" charset="-122"/>
            </a:endParaRPr>
          </a:p>
        </p:txBody>
      </p:sp>
      <p:sp>
        <p:nvSpPr>
          <p:cNvPr id="65540" name="Rectangle 3"/>
          <p:cNvSpPr>
            <a:spLocks noChangeArrowheads="1"/>
          </p:cNvSpPr>
          <p:nvPr/>
        </p:nvSpPr>
        <p:spPr bwMode="auto">
          <a:xfrm>
            <a:off x="3419872" y="549499"/>
            <a:ext cx="2268538"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3600" dirty="0">
                <a:solidFill>
                  <a:srgbClr val="0000FF"/>
                </a:solidFill>
                <a:latin typeface="微软雅黑" panose="020B0503020204020204" pitchFamily="34" charset="-122"/>
                <a:ea typeface="微软雅黑" panose="020B0503020204020204" pitchFamily="34" charset="-122"/>
              </a:rPr>
              <a:t>小</a:t>
            </a:r>
            <a:r>
              <a:rPr lang="zh-CN" altLang="en-US" sz="3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3600" dirty="0">
                <a:solidFill>
                  <a:srgbClr val="0000FF"/>
                </a:solidFill>
                <a:latin typeface="微软雅黑" panose="020B0503020204020204" pitchFamily="34" charset="-122"/>
                <a:ea typeface="微软雅黑" panose="020B0503020204020204" pitchFamily="34" charset="-122"/>
              </a:rPr>
              <a:t>结 </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440aed3e-09e5-425c-ae59-30a8575f58d9"/>
  <p:tag name="COMMONDATA" val="eyJoZGlkIjoiZDlhNzhkNzI3NzgzMjVmNTVjOTdmNzdiNmViZTJjM2MifQ=="/>
</p:tagLst>
</file>

<file path=ppt/theme/theme1.xml><?xml version="1.0" encoding="utf-8"?>
<a:theme xmlns:a="http://schemas.openxmlformats.org/drawingml/2006/main" name="1_Blends">
  <a:themeElements>
    <a:clrScheme name="1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1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zh-CN" sz="2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zh-CN" sz="2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1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704</TotalTime>
  <Words>2490</Words>
  <Application>Microsoft Office PowerPoint</Application>
  <PresentationFormat>全屏显示(4:3)</PresentationFormat>
  <Paragraphs>269</Paragraphs>
  <Slides>37</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6" baseType="lpstr">
      <vt:lpstr>方正姚体</vt:lpstr>
      <vt:lpstr>仿宋</vt:lpstr>
      <vt:lpstr>仿宋_GB2312</vt:lpstr>
      <vt:lpstr>黑体</vt:lpstr>
      <vt:lpstr>华文仿宋</vt:lpstr>
      <vt:lpstr>华文楷体</vt:lpstr>
      <vt:lpstr>华文行楷</vt:lpstr>
      <vt:lpstr>华文中宋</vt:lpstr>
      <vt:lpstr>楷体</vt:lpstr>
      <vt:lpstr>楷体_GB2312</vt:lpstr>
      <vt:lpstr>宋体</vt:lpstr>
      <vt:lpstr>微软雅黑</vt:lpstr>
      <vt:lpstr>Arial</vt:lpstr>
      <vt:lpstr>Tahoma</vt:lpstr>
      <vt:lpstr>Times New Roman</vt:lpstr>
      <vt:lpstr>Wingdings</vt:lpstr>
      <vt:lpstr>1_Blends</vt:lpstr>
      <vt:lpstr>Microsoft 公式 3.0</vt:lpstr>
      <vt:lpstr>公式</vt:lpstr>
      <vt:lpstr>6.4  定时/计数器的编程和应用</vt:lpstr>
      <vt:lpstr>PowerPoint 演示文稿</vt:lpstr>
      <vt:lpstr>PowerPoint 演示文稿</vt:lpstr>
      <vt:lpstr>PowerPoint 演示文稿</vt:lpstr>
      <vt:lpstr>4.计数初值装入说明（以T0为例）</vt:lpstr>
      <vt:lpstr>PowerPoint 演示文稿</vt:lpstr>
      <vt:lpstr>PowerPoint 演示文稿</vt:lpstr>
      <vt:lpstr>PowerPoint 演示文稿</vt:lpstr>
      <vt:lpstr>PowerPoint 演示文稿</vt:lpstr>
      <vt:lpstr>例1   定时T0，方式1，P2口输出周期为100ms的方波。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 用T1查询方式控制单片机发出1kHz音频。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island</dc:creator>
  <cp:lastModifiedBy>admin</cp:lastModifiedBy>
  <cp:revision>257</cp:revision>
  <cp:lastPrinted>2411-12-30T00:00:00Z</cp:lastPrinted>
  <dcterms:created xsi:type="dcterms:W3CDTF">2010-01-21T07:14:00Z</dcterms:created>
  <dcterms:modified xsi:type="dcterms:W3CDTF">2025-04-05T08:40:34Z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B058F1027D7C47508B469F82BA17A9EC</vt:lpwstr>
  </property>
</Properties>
</file>