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89" r:id="rId2"/>
    <p:sldId id="308" r:id="rId3"/>
    <p:sldId id="409" r:id="rId4"/>
    <p:sldId id="416" r:id="rId5"/>
    <p:sldId id="335" r:id="rId6"/>
    <p:sldId id="336" r:id="rId7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F37"/>
    <a:srgbClr val="FFC715"/>
    <a:srgbClr val="FFCC00"/>
    <a:srgbClr val="9900CC"/>
    <a:srgbClr val="000099"/>
    <a:srgbClr val="00FFFF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6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B3EECAC-C670-40E0-9155-2E5E0C01E05C}" type="datetimeFigureOut">
              <a:rPr lang="zh-CN" altLang="en-US"/>
              <a:t>2025/4/7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66FC3CB-85D3-475F-88E9-B86F831D72B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2752A1B-6A18-4427-B89A-9B6DFFAD5DE1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337" y="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4" name="Rectangle 17"/>
          <p:cNvSpPr>
            <a:spLocks noChangeArrowheads="1"/>
          </p:cNvSpPr>
          <p:nvPr userDrawn="1"/>
        </p:nvSpPr>
        <p:spPr bwMode="auto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5" name="Picture 18" descr="CITBAN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9"/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7" name="Text Box 20">
            <a:hlinkClick r:id="" action="ppaction://noaction" highlightClick="1"/>
          </p:cNvPr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1398B97-E5D7-43EB-BA8B-CF89801AAF7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96CC27-541A-4E68-A17B-2660855C8D8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70B1D-42CD-44B1-B194-193AB885DD4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4FE2D-9F4B-4952-BC69-57CA33B597A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02CD26-C81E-4169-B699-9CE4F46A478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0C01F-F4F7-4278-81A5-9CC73D9E91F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5AF347-A83D-4ACF-B829-C6230AFBD0F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8C16644-4230-45AC-8C97-A1AF9356E31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B9D072F-A63E-476B-A3E8-1FDFE133D22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AF8C992-FA53-4127-832A-3725F534E23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25CB56-CCAE-4B77-A06A-27122BCBA9F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 smtClean="0"/>
            </a:lvl1pPr>
          </a:lstStyle>
          <a:p>
            <a:pPr>
              <a:defRPr/>
            </a:pPr>
            <a:fld id="{E010547A-9904-47DB-81BA-411AE030BCB2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1038" name="Rectangle 14"/>
          <p:cNvSpPr>
            <a:spLocks noChangeArrowheads="1"/>
          </p:cNvSpPr>
          <p:nvPr userDrawn="1"/>
        </p:nvSpPr>
        <p:spPr bwMode="auto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39" name="Picture 15" descr="CITBANN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0" name="Rectangle 16"/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41" name="Text Box 17"/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1" grpId="0" autoUpdateAnimBg="0"/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6F92D8-0995-4DD3-BCEE-8A3D55B7C854}" type="slidenum">
              <a:rPr lang="zh-CN" altLang="en-US" sz="1400"/>
              <a:t>1</a:t>
            </a:fld>
            <a:endParaRPr lang="en-US" altLang="zh-CN" sz="1400"/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468313" y="1268413"/>
            <a:ext cx="8280400" cy="5184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defRPr/>
            </a:pP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8051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单片机定时器主要有几个特殊功能寄存器组成：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TMOD,TCON,TH0,TL0,TH1,TL1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 sz="26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TMOD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：设置定时器的工作方式；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 sz="26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TCON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：控制定时器的启动和停止；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 sz="26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TH0</a:t>
            </a: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6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TL0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：存放定时器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T0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的</a:t>
            </a:r>
            <a:r>
              <a:rPr lang="zh-CN" altLang="en-US" sz="2600" dirty="0">
                <a:solidFill>
                  <a:srgbClr val="99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初值或计数结果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；通常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TH0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存放高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位，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TL0 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存放低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位；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 sz="26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TH1</a:t>
            </a:r>
            <a:r>
              <a:rPr lang="zh-CN" altLang="en-US" sz="26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6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TL1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：存放定时器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T1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的</a:t>
            </a:r>
            <a:r>
              <a:rPr lang="zh-CN" altLang="en-US" sz="2600" dirty="0">
                <a:solidFill>
                  <a:srgbClr val="99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初值或计数结果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；通常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TH1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存放高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位，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TL1 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存放低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位；</a:t>
            </a:r>
            <a:endParaRPr lang="en-US" altLang="zh-CN" sz="26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根据工作方式的不同，</a:t>
            </a:r>
            <a:r>
              <a:rPr lang="en-US" altLang="zh-CN" sz="26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THx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en-US" altLang="zh-CN" sz="26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TLx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的使用要求也不同。（其中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为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或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1547813" y="620713"/>
            <a:ext cx="5767387" cy="5794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6.2 </a:t>
            </a:r>
            <a:r>
              <a:rPr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定时</a:t>
            </a:r>
            <a:r>
              <a:rPr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计数器的控制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3FBAE4-E57F-41A5-9DDE-DC4BD6F450EA}" type="slidenum">
              <a:rPr lang="zh-CN" altLang="en-US" sz="1400"/>
              <a:t>2</a:t>
            </a:fld>
            <a:endParaRPr lang="en-US" altLang="zh-CN" sz="1400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466725" y="476250"/>
            <a:ext cx="54737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6.2.1 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定时器工作方式寄存器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TMOD </a:t>
            </a: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lum bright="-24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196975"/>
            <a:ext cx="8280400" cy="195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3">
            <a:lum bright="-24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136900"/>
            <a:ext cx="7058025" cy="209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2" name="Picture 6"/>
          <p:cNvPicPr>
            <a:picLocks noChangeAspect="1" noChangeArrowheads="1"/>
          </p:cNvPicPr>
          <p:nvPr/>
        </p:nvPicPr>
        <p:blipFill>
          <a:blip r:embed="rId4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284539"/>
            <a:ext cx="8207375" cy="2592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684213" y="3357563"/>
            <a:ext cx="7848600" cy="157485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</a:rPr>
              <a:t>注意：</a:t>
            </a:r>
            <a:r>
              <a:rPr lang="en-US" altLang="zh-CN" sz="2800" dirty="0">
                <a:solidFill>
                  <a:schemeClr val="bg1"/>
                </a:solidFill>
                <a:latin typeface="宋体" panose="02010600030101010101" pitchFamily="2" charset="-122"/>
              </a:rPr>
              <a:t>TMOD</a:t>
            </a: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</a:rPr>
              <a:t>不能位寻址，只能由字节设置</a:t>
            </a:r>
            <a:r>
              <a:rPr lang="en-US" altLang="zh-CN" sz="2800" dirty="0">
                <a:solidFill>
                  <a:schemeClr val="bg1"/>
                </a:solidFill>
                <a:latin typeface="宋体" panose="02010600030101010101" pitchFamily="2" charset="-122"/>
              </a:rPr>
              <a:t>T/C</a:t>
            </a: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</a:rPr>
              <a:t>的工作方式，低半字节设定</a:t>
            </a:r>
            <a:r>
              <a:rPr lang="en-US" altLang="zh-CN" sz="2800" dirty="0">
                <a:solidFill>
                  <a:schemeClr val="bg1"/>
                </a:solidFill>
                <a:latin typeface="宋体" panose="02010600030101010101" pitchFamily="2" charset="-122"/>
              </a:rPr>
              <a:t>T/C0</a:t>
            </a: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</a:rPr>
              <a:t>，高半字节设定</a:t>
            </a:r>
            <a:r>
              <a:rPr lang="en-US" altLang="zh-CN" sz="2800" dirty="0">
                <a:solidFill>
                  <a:schemeClr val="bg1"/>
                </a:solidFill>
                <a:latin typeface="宋体" panose="02010600030101010101" pitchFamily="2" charset="-122"/>
              </a:rPr>
              <a:t>T/C1</a:t>
            </a: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</a:rPr>
              <a:t>。</a:t>
            </a:r>
            <a:endParaRPr lang="zh-CN" altLang="en-US" sz="2800" b="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1403350" y="2205038"/>
            <a:ext cx="3600450" cy="863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5003800" y="2205038"/>
            <a:ext cx="3673475" cy="8636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EDAB37-4A34-490F-9689-7389E0D37138}"/>
              </a:ext>
            </a:extLst>
          </p:cNvPr>
          <p:cNvSpPr txBox="1"/>
          <p:nvPr/>
        </p:nvSpPr>
        <p:spPr>
          <a:xfrm>
            <a:off x="6084168" y="476250"/>
            <a:ext cx="2664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Timer/Counter Mode Control Register</a:t>
            </a:r>
            <a:endParaRPr lang="zh-CN" altLang="en-US" sz="2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3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67678" y="620078"/>
            <a:ext cx="8496300" cy="5208157"/>
          </a:xfrm>
          <a:prstGeom prst="rect">
            <a:avLst/>
          </a:prstGeom>
          <a:solidFill>
            <a:srgbClr val="CCFFCC"/>
          </a:solidFill>
          <a:ln w="76200" cmpd="thickThin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  <a:defRPr/>
            </a:pPr>
            <a:r>
              <a:rPr lang="en-US" altLang="zh-CN" sz="30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GATE</a:t>
            </a:r>
            <a:r>
              <a:rPr lang="zh-CN" altLang="en-US" sz="30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计数器门控制位</a:t>
            </a:r>
            <a:r>
              <a:rPr lang="zh-CN" altLang="en-US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用来决定定时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计数器的启动是否受外部中断输入引脚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INTx#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(x=1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或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0)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输入电平控制。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lnSpc>
                <a:spcPct val="150000"/>
              </a:lnSpc>
              <a:defRPr/>
            </a:pPr>
            <a:r>
              <a:rPr lang="zh-CN" altLang="en-US" i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</a:t>
            </a:r>
            <a:r>
              <a:rPr lang="en-US" altLang="zh-CN" i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GATE=0</a:t>
            </a:r>
            <a:r>
              <a:rPr lang="zh-CN" altLang="en-US" i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时，只要启动控制位</a:t>
            </a:r>
            <a:r>
              <a:rPr lang="en-US" altLang="zh-CN" i="1" u="sng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TRx</a:t>
            </a:r>
            <a:r>
              <a:rPr lang="en-US" altLang="zh-CN" i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=1</a:t>
            </a:r>
            <a:r>
              <a:rPr lang="zh-CN" altLang="en-US" i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，定时</a:t>
            </a:r>
            <a:r>
              <a:rPr lang="en-US" altLang="zh-CN" i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zh-CN" altLang="en-US" i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计数器就开始工作；</a:t>
            </a:r>
            <a:endParaRPr lang="en-US" altLang="zh-CN" i="1" u="sng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GATE=1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，则需外部中断引脚</a:t>
            </a:r>
            <a:r>
              <a:rPr lang="en-US" altLang="zh-CN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x#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，且启动控制位</a:t>
            </a:r>
            <a:r>
              <a:rPr lang="en-US" altLang="zh-CN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TRx</a:t>
            </a: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=1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，计数器才开始工作，</a:t>
            </a:r>
            <a:r>
              <a:rPr lang="zh-CN" alt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这种设置常用来测量</a:t>
            </a:r>
            <a:r>
              <a:rPr lang="en-US" altLang="zh-CN" i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INTx#</a:t>
            </a:r>
            <a:r>
              <a:rPr lang="zh-CN" alt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引脚输入高电平的脉冲宽度</a:t>
            </a:r>
            <a:r>
              <a:rPr lang="zh-CN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20486" name="矩形 4"/>
          <p:cNvSpPr>
            <a:spLocks noChangeArrowheads="1"/>
          </p:cNvSpPr>
          <p:nvPr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100"/>
              <a:t>单片机原理及应用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3FC30E-C8B5-4207-93F2-47822B913EC5}" type="slidenum">
              <a:rPr lang="zh-CN" altLang="en-US" sz="1400"/>
              <a:t>4</a:t>
            </a:fld>
            <a:endParaRPr lang="en-US" altLang="zh-CN" sz="1400"/>
          </a:p>
        </p:txBody>
      </p:sp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1835150" y="836613"/>
            <a:ext cx="5329238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44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行楷" pitchFamily="2" charset="-122"/>
              </a:rPr>
              <a:t>练习题</a:t>
            </a:r>
          </a:p>
        </p:txBody>
      </p:sp>
      <p:sp>
        <p:nvSpPr>
          <p:cNvPr id="75782" name="Text Box 6"/>
          <p:cNvSpPr txBox="1">
            <a:spLocks noChangeArrowheads="1"/>
          </p:cNvSpPr>
          <p:nvPr/>
        </p:nvSpPr>
        <p:spPr bwMode="auto">
          <a:xfrm>
            <a:off x="827723" y="1844675"/>
            <a:ext cx="7848600" cy="31076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按下列要求设置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TMOD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T0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计数器、方式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，运行与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INT0#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有关；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	T1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定时器、方式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，运行与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INT1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#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无关。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T0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计数器、方式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，运行与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INT0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#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无关；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	T1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定时器、方式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，运行与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INT1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#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有关。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DDD497-CE35-43BE-869C-672E2E6405C8}" type="slidenum">
              <a:rPr lang="zh-CN" altLang="en-US" sz="1400"/>
              <a:t>5</a:t>
            </a:fld>
            <a:endParaRPr lang="en-US" altLang="zh-CN" sz="1400"/>
          </a:p>
        </p:txBody>
      </p:sp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323850" y="228600"/>
            <a:ext cx="8362950" cy="1511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6.2.2  </a:t>
            </a:r>
            <a:r>
              <a:rPr lang="en-US" altLang="zh-CN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控制寄存器 </a:t>
            </a:r>
            <a:r>
              <a:rPr lang="en-US" altLang="zh-CN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TCON</a:t>
            </a:r>
            <a:r>
              <a:rPr lang="zh-CN" altLang="en-US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88H</a:t>
            </a:r>
            <a:r>
              <a:rPr lang="zh-CN" altLang="en-US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</a:t>
            </a:r>
          </a:p>
          <a:p>
            <a:pPr algn="just" eaLnBrk="1" hangingPunct="1">
              <a:spcBef>
                <a:spcPct val="50000"/>
              </a:spcBef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控制寄存器 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TCON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除可字节寻址外，各位还可位寻址。各位定义及格式如下： </a:t>
            </a:r>
          </a:p>
        </p:txBody>
      </p:sp>
      <p:pic>
        <p:nvPicPr>
          <p:cNvPr id="22532" name="Picture 3" descr="T610"/>
          <p:cNvPicPr>
            <a:picLocks noChangeAspect="1" noChangeArrowheads="1"/>
          </p:cNvPicPr>
          <p:nvPr/>
        </p:nvPicPr>
        <p:blipFill>
          <a:blip r:embed="rId2">
            <a:lum bright="-48000" contras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4" t="30600" r="19115" b="55099"/>
          <a:stretch>
            <a:fillRect/>
          </a:stretch>
        </p:blipFill>
        <p:spPr bwMode="auto">
          <a:xfrm>
            <a:off x="539750" y="1698625"/>
            <a:ext cx="8077200" cy="1390650"/>
          </a:xfrm>
          <a:prstGeom prst="rect">
            <a:avLst/>
          </a:prstGeom>
          <a:noFill/>
          <a:ln w="158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228600" y="3124200"/>
            <a:ext cx="8512175" cy="30289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just" eaLnBrk="1" hangingPunct="1">
              <a:spcBef>
                <a:spcPct val="20000"/>
              </a:spcBef>
              <a:defRPr/>
            </a:pPr>
            <a:r>
              <a:rPr lang="zh-CN" altLang="en-US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</a:t>
            </a:r>
            <a:r>
              <a:rPr lang="en-US" altLang="zh-CN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 </a:t>
            </a:r>
            <a:r>
              <a:rPr lang="en-US" altLang="zh-CN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TF1</a:t>
            </a:r>
            <a:r>
              <a:rPr lang="zh-CN" altLang="en-US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TCON.7</a:t>
            </a:r>
            <a:r>
              <a:rPr lang="zh-CN" altLang="en-US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 </a:t>
            </a:r>
            <a:r>
              <a:rPr lang="en-US" altLang="zh-CN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T/C1</a:t>
            </a:r>
            <a:r>
              <a:rPr lang="zh-CN" altLang="en-US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的溢出标志位。</a:t>
            </a:r>
          </a:p>
          <a:p>
            <a:pPr algn="just" eaLnBrk="1" hangingPunct="1">
              <a:spcBef>
                <a:spcPct val="20000"/>
              </a:spcBef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当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T/C1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被允许计数后，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T/C1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从初值开始加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计数，回零时由高位产生溢出，由硬件自动置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TF1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为“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1”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，并向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CPU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请求中断，当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CPU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响应并进入中断服务程序后，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TF1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又被硬件自动清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TF1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也可以由程序查询和清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</a:t>
            </a:r>
            <a:r>
              <a:rPr lang="en-US" altLang="zh-CN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</a:t>
            </a:r>
            <a:r>
              <a:rPr lang="en-US" altLang="zh-CN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TF0</a:t>
            </a:r>
            <a:r>
              <a:rPr lang="zh-CN" altLang="en-US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TCON.5</a:t>
            </a:r>
            <a:r>
              <a:rPr lang="zh-CN" altLang="en-US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 </a:t>
            </a:r>
            <a:r>
              <a:rPr lang="en-US" altLang="zh-CN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T/C0</a:t>
            </a:r>
            <a:r>
              <a:rPr lang="zh-CN" altLang="en-US" sz="26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溢出标志位。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其功能同</a:t>
            </a:r>
            <a:r>
              <a:rPr lang="en-US" altLang="zh-CN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TF1</a:t>
            </a:r>
            <a:r>
              <a:rPr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 </a:t>
            </a:r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1116013" y="4437063"/>
            <a:ext cx="6335712" cy="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>
            <a:off x="2627313" y="4854575"/>
            <a:ext cx="5976937" cy="14288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>
            <a:off x="323850" y="5229225"/>
            <a:ext cx="2447925" cy="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 bwMode="auto">
          <a:xfrm>
            <a:off x="1619672" y="2276872"/>
            <a:ext cx="936104" cy="64807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2488322" y="2276872"/>
            <a:ext cx="936104" cy="648072"/>
          </a:xfrm>
          <a:prstGeom prst="rect">
            <a:avLst/>
          </a:prstGeom>
          <a:noFill/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3347765" y="2267373"/>
            <a:ext cx="936104" cy="64807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4182207" y="2261458"/>
            <a:ext cx="936104" cy="648072"/>
          </a:xfrm>
          <a:prstGeom prst="rect">
            <a:avLst/>
          </a:prstGeom>
          <a:noFill/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BBDA54-EDE3-4FF8-9E5A-5B3EA4714678}"/>
              </a:ext>
            </a:extLst>
          </p:cNvPr>
          <p:cNvSpPr txBox="1"/>
          <p:nvPr/>
        </p:nvSpPr>
        <p:spPr>
          <a:xfrm>
            <a:off x="5588716" y="255727"/>
            <a:ext cx="32314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Timer/Counter Control Register</a:t>
            </a:r>
            <a:endParaRPr lang="zh-CN" altLang="en-US" sz="2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EEEC86-2636-4CDB-875C-2DBDB2D4028B}" type="slidenum">
              <a:rPr lang="zh-CN" altLang="en-US" sz="1400"/>
              <a:t>6</a:t>
            </a:fld>
            <a:endParaRPr lang="en-US" altLang="zh-CN" sz="1400"/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685800" y="304800"/>
            <a:ext cx="7620000" cy="543533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just" eaLnBrk="1" hangingPunct="1">
              <a:spcBef>
                <a:spcPct val="3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TR1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TCON.6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T/C1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运行控制位。</a:t>
            </a:r>
          </a:p>
          <a:p>
            <a:pPr algn="just" eaLnBrk="1" hangingPunct="1">
              <a:spcBef>
                <a:spcPct val="3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由软件置位或复位。 </a:t>
            </a:r>
          </a:p>
          <a:p>
            <a:pPr algn="just" eaLnBrk="1" hangingPunct="1">
              <a:spcBef>
                <a:spcPct val="3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当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GATE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TMOD.7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）为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时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, </a:t>
            </a:r>
          </a:p>
          <a:p>
            <a:pPr algn="just" eaLnBrk="1" hangingPunct="1"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</a:t>
            </a:r>
            <a:r>
              <a:rPr lang="en-US" altLang="zh-CN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Webdings" panose="05030102010509060703" pitchFamily="18" charset="2"/>
              </a:rPr>
              <a:t></a:t>
            </a:r>
            <a:r>
              <a:rPr lang="en-US" altLang="zh-CN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Webdings" panose="05030102010509060703" pitchFamily="18" charset="2"/>
              </a:rPr>
              <a:t> 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TR1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启动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T/C1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计数；</a:t>
            </a:r>
          </a:p>
          <a:p>
            <a:pPr algn="just" eaLnBrk="1" hangingPunct="1">
              <a:spcBef>
                <a:spcPct val="3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Webdings" panose="05030102010509060703" pitchFamily="18" charset="2"/>
              </a:rPr>
              <a:t> 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TR1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停止</a:t>
            </a:r>
            <a:r>
              <a:rPr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T/C1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计数。</a:t>
            </a:r>
          </a:p>
          <a:p>
            <a:pPr algn="just" eaLnBrk="1" hangingPunct="1">
              <a:spcBef>
                <a:spcPct val="3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4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TR0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TCON.4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T/C0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运行控制位。</a:t>
            </a:r>
          </a:p>
          <a:p>
            <a:pPr algn="just" eaLnBrk="1" hangingPunct="1">
              <a:spcBef>
                <a:spcPct val="3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   其功能同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TR1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，只是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GATE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为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TMOD.3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。</a:t>
            </a:r>
          </a:p>
          <a:p>
            <a:pPr algn="just" eaLnBrk="1" hangingPunct="1">
              <a:spcBef>
                <a:spcPct val="3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IE1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IT1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IE0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IT0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TCON.3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～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TCON.0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）</a:t>
            </a:r>
          </a:p>
          <a:p>
            <a:pPr algn="just" eaLnBrk="1" hangingPunct="1">
              <a:spcBef>
                <a:spcPct val="3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  外部中断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INT1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INT0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的中断标志位和申请信号的触发方式控制位。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a726cd2-9a3d-4293-9c5a-7d73e60e1992"/>
  <p:tag name="COMMONDATA" val="eyJoZGlkIjoiZTk4MDg0ODYxZjc1NWE5MDU2ZWM0NWY3YTJmNGUyOTQifQ=="/>
</p:tagLst>
</file>

<file path=ppt/theme/theme1.xml><?xml version="1.0" encoding="utf-8"?>
<a:theme xmlns:a="http://schemas.openxmlformats.org/drawingml/2006/main" name="1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49</TotalTime>
  <Words>530</Words>
  <Application>Microsoft Office PowerPoint</Application>
  <PresentationFormat>全屏显示(4:3)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仿宋</vt:lpstr>
      <vt:lpstr>华文新魏</vt:lpstr>
      <vt:lpstr>华文行楷</vt:lpstr>
      <vt:lpstr>楷体</vt:lpstr>
      <vt:lpstr>楷体_GB2312</vt:lpstr>
      <vt:lpstr>宋体</vt:lpstr>
      <vt:lpstr>Arial</vt:lpstr>
      <vt:lpstr>Tahoma</vt:lpstr>
      <vt:lpstr>Times New Roman</vt:lpstr>
      <vt:lpstr>Webdings</vt:lpstr>
      <vt:lpstr>Wingdings</vt:lpstr>
      <vt:lpstr>1_Blends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island</dc:creator>
  <cp:lastModifiedBy>HEBUT</cp:lastModifiedBy>
  <cp:revision>209</cp:revision>
  <cp:lastPrinted>2411-12-30T00:00:00Z</cp:lastPrinted>
  <dcterms:created xsi:type="dcterms:W3CDTF">2010-01-21T07:14:00Z</dcterms:created>
  <dcterms:modified xsi:type="dcterms:W3CDTF">2025-04-07T02:13:09Z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BA8D20E962BA40E0964321555BC7412B</vt:lpwstr>
  </property>
</Properties>
</file>