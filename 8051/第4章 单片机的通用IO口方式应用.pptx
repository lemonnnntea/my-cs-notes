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9"/>
  </p:notesMasterIdLst>
  <p:sldIdLst>
    <p:sldId id="1131" r:id="rId2"/>
    <p:sldId id="1165" r:id="rId3"/>
    <p:sldId id="562" r:id="rId4"/>
    <p:sldId id="1166" r:id="rId5"/>
    <p:sldId id="563" r:id="rId6"/>
    <p:sldId id="1167" r:id="rId7"/>
    <p:sldId id="1168" r:id="rId8"/>
    <p:sldId id="564" r:id="rId9"/>
    <p:sldId id="904" r:id="rId10"/>
    <p:sldId id="910" r:id="rId11"/>
    <p:sldId id="567" r:id="rId12"/>
    <p:sldId id="568" r:id="rId13"/>
    <p:sldId id="569" r:id="rId14"/>
    <p:sldId id="905" r:id="rId15"/>
    <p:sldId id="570" r:id="rId16"/>
    <p:sldId id="993" r:id="rId17"/>
    <p:sldId id="573" r:id="rId18"/>
    <p:sldId id="961" r:id="rId19"/>
    <p:sldId id="575" r:id="rId20"/>
    <p:sldId id="1132" r:id="rId21"/>
    <p:sldId id="1134" r:id="rId22"/>
    <p:sldId id="1135" r:id="rId23"/>
    <p:sldId id="1136" r:id="rId24"/>
    <p:sldId id="1137" r:id="rId25"/>
    <p:sldId id="1138" r:id="rId26"/>
    <p:sldId id="579" r:id="rId27"/>
    <p:sldId id="1146" r:id="rId28"/>
    <p:sldId id="1144" r:id="rId29"/>
    <p:sldId id="1145" r:id="rId30"/>
    <p:sldId id="1147" r:id="rId31"/>
    <p:sldId id="1148" r:id="rId32"/>
    <p:sldId id="1149" r:id="rId33"/>
    <p:sldId id="1150" r:id="rId34"/>
    <p:sldId id="1151" r:id="rId35"/>
    <p:sldId id="1152" r:id="rId36"/>
    <p:sldId id="582" r:id="rId37"/>
    <p:sldId id="583" r:id="rId38"/>
    <p:sldId id="584" r:id="rId39"/>
    <p:sldId id="994" r:id="rId40"/>
    <p:sldId id="585" r:id="rId41"/>
    <p:sldId id="586" r:id="rId42"/>
    <p:sldId id="1140" r:id="rId43"/>
    <p:sldId id="1143" r:id="rId44"/>
    <p:sldId id="1141" r:id="rId45"/>
    <p:sldId id="1142" r:id="rId46"/>
    <p:sldId id="911" r:id="rId47"/>
    <p:sldId id="1153" r:id="rId48"/>
    <p:sldId id="1154" r:id="rId49"/>
    <p:sldId id="1156" r:id="rId50"/>
    <p:sldId id="1157" r:id="rId51"/>
    <p:sldId id="1158" r:id="rId52"/>
    <p:sldId id="1159" r:id="rId53"/>
    <p:sldId id="1160" r:id="rId54"/>
    <p:sldId id="1161" r:id="rId55"/>
    <p:sldId id="594" r:id="rId56"/>
    <p:sldId id="595" r:id="rId57"/>
    <p:sldId id="997" r:id="rId58"/>
    <p:sldId id="597" r:id="rId59"/>
    <p:sldId id="1169" r:id="rId60"/>
    <p:sldId id="1170" r:id="rId61"/>
    <p:sldId id="1177" r:id="rId62"/>
    <p:sldId id="599" r:id="rId63"/>
    <p:sldId id="600" r:id="rId64"/>
    <p:sldId id="601" r:id="rId65"/>
    <p:sldId id="964" r:id="rId66"/>
    <p:sldId id="1171" r:id="rId67"/>
    <p:sldId id="965" r:id="rId68"/>
    <p:sldId id="607" r:id="rId69"/>
    <p:sldId id="606" r:id="rId70"/>
    <p:sldId id="1128" r:id="rId71"/>
    <p:sldId id="1129" r:id="rId72"/>
    <p:sldId id="1172" r:id="rId73"/>
    <p:sldId id="1133" r:id="rId74"/>
    <p:sldId id="1173" r:id="rId75"/>
    <p:sldId id="1174" r:id="rId76"/>
    <p:sldId id="1175" r:id="rId77"/>
    <p:sldId id="1176" r:id="rId78"/>
  </p:sldIdLst>
  <p:sldSz cx="9144000" cy="6858000" type="screen4x3"/>
  <p:notesSz cx="6858000" cy="9144000"/>
  <p:custDataLst>
    <p:tags r:id="rId80"/>
  </p:custDataLst>
  <p:defaultTex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6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66FF"/>
    <a:srgbClr val="CC3300"/>
    <a:srgbClr val="CCFFFF"/>
    <a:srgbClr val="FF9999"/>
    <a:srgbClr val="FF7C80"/>
    <a:srgbClr val="FF3300"/>
    <a:srgbClr val="008000"/>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502" autoAdjust="0"/>
  </p:normalViewPr>
  <p:slideViewPr>
    <p:cSldViewPr snapToGrid="0">
      <p:cViewPr varScale="1">
        <p:scale>
          <a:sx n="63" d="100"/>
          <a:sy n="63" d="100"/>
        </p:scale>
        <p:origin x="1380" y="60"/>
      </p:cViewPr>
      <p:guideLst>
        <p:guide orient="horz" pos="2160"/>
        <p:guide pos="2866"/>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gs" Target="tags/tag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_rels/viewProps.xml.rels><?xml version="1.0" encoding="UTF-8" standalone="yes"?>
<Relationships xmlns="http://schemas.openxmlformats.org/package/2006/relationships"><Relationship Id="rId1"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ea typeface="宋体" panose="02010600030101010101" pitchFamily="2" charset="-122"/>
              </a:defRPr>
            </a:lvl1pPr>
          </a:lstStyle>
          <a:p>
            <a:pPr>
              <a:defRPr/>
            </a:pPr>
            <a:endParaRPr lang="en-US" altLang="zh-CN"/>
          </a:p>
        </p:txBody>
      </p:sp>
      <p:sp>
        <p:nvSpPr>
          <p:cNvPr id="5939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ea typeface="宋体" panose="02010600030101010101" pitchFamily="2" charset="-122"/>
              </a:defRPr>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5939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939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ea typeface="宋体" panose="02010600030101010101" pitchFamily="2" charset="-122"/>
              </a:defRPr>
            </a:lvl1pPr>
          </a:lstStyle>
          <a:p>
            <a:pPr>
              <a:defRPr/>
            </a:pPr>
            <a:endParaRPr lang="en-US" altLang="zh-CN"/>
          </a:p>
        </p:txBody>
      </p:sp>
      <p:sp>
        <p:nvSpPr>
          <p:cNvPr id="5939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a:defRPr/>
            </a:pPr>
            <a:fld id="{77FD691D-E985-425B-A2FD-2FE06ECAD2B3}"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hasCustomPrompt="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单击以编辑母版副标题样式</a:t>
            </a:r>
          </a:p>
        </p:txBody>
      </p:sp>
      <p:sp>
        <p:nvSpPr>
          <p:cNvPr id="4" name="日期占位符 3"/>
          <p:cNvSpPr>
            <a:spLocks noGrp="1"/>
          </p:cNvSpPr>
          <p:nvPr>
            <p:ph type="dt" sz="half"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DE0E7D2F-3C73-429F-A3ED-6AEC75F2C130}" type="slidenum">
              <a:rPr lang="en-US" altLang="zh-CN" smtClean="0"/>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F7D8DB8F-B1C6-4E0F-9E5D-B270DAF93C4D}" type="slidenum">
              <a:rPr lang="en-US" altLang="zh-CN" smtClean="0"/>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hasCustomPrompt="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8D9AD226-D225-4A86-83FF-3CD0FC8E82A0}" type="slidenum">
              <a:rPr lang="en-US" altLang="zh-CN" smtClean="0"/>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a:defRPr/>
            </a:pPr>
            <a:endParaRPr lang="en-US" altLang="zh-CN"/>
          </a:p>
        </p:txBody>
      </p:sp>
      <p:sp>
        <p:nvSpPr>
          <p:cNvPr id="6" name="页脚占位符 5"/>
          <p:cNvSpPr>
            <a:spLocks noGrp="1"/>
          </p:cNvSpPr>
          <p:nvPr>
            <p:ph type="ftr" sz="quarter" idx="11"/>
          </p:nvPr>
        </p:nvSpPr>
        <p:spPr/>
        <p:txBody>
          <a:bodyPr/>
          <a:lstStyle/>
          <a:p>
            <a:pPr>
              <a:defRPr/>
            </a:pPr>
            <a:endParaRPr lang="en-US" altLang="zh-CN"/>
          </a:p>
        </p:txBody>
      </p:sp>
      <p:sp>
        <p:nvSpPr>
          <p:cNvPr id="7" name="灯片编号占位符 6"/>
          <p:cNvSpPr>
            <a:spLocks noGrp="1"/>
          </p:cNvSpPr>
          <p:nvPr>
            <p:ph type="sldNum" sz="quarter" idx="12"/>
          </p:nvPr>
        </p:nvSpPr>
        <p:spPr/>
        <p:txBody>
          <a:bodyPr/>
          <a:lstStyle/>
          <a:p>
            <a:pPr>
              <a:defRPr/>
            </a:pPr>
            <a:fld id="{F3EE6EE7-E346-4011-8BA7-8DCA5D5BC9AC}" type="slidenum">
              <a:rPr lang="en-US" altLang="zh-CN" smtClean="0"/>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p:cNvSpPr>
            <a:spLocks noGrp="1"/>
          </p:cNvSpPr>
          <p:nvPr>
            <p:ph sz="half" idx="2" hasCustomPrompt="1"/>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p:cNvSpPr>
            <a:spLocks noGrp="1"/>
          </p:cNvSpPr>
          <p:nvPr>
            <p:ph sz="quarter" idx="4" hasCustomPrompt="1"/>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a:defRPr/>
            </a:pPr>
            <a:endParaRPr lang="en-US" altLang="zh-CN"/>
          </a:p>
        </p:txBody>
      </p:sp>
      <p:sp>
        <p:nvSpPr>
          <p:cNvPr id="8" name="页脚占位符 7"/>
          <p:cNvSpPr>
            <a:spLocks noGrp="1"/>
          </p:cNvSpPr>
          <p:nvPr>
            <p:ph type="ftr" sz="quarter" idx="11"/>
          </p:nvPr>
        </p:nvSpPr>
        <p:spPr/>
        <p:txBody>
          <a:bodyPr/>
          <a:lstStyle/>
          <a:p>
            <a:pPr>
              <a:defRPr/>
            </a:pPr>
            <a:endParaRPr lang="en-US" altLang="zh-CN"/>
          </a:p>
        </p:txBody>
      </p:sp>
      <p:sp>
        <p:nvSpPr>
          <p:cNvPr id="9" name="灯片编号占位符 8"/>
          <p:cNvSpPr>
            <a:spLocks noGrp="1"/>
          </p:cNvSpPr>
          <p:nvPr>
            <p:ph type="sldNum" sz="quarter" idx="12"/>
          </p:nvPr>
        </p:nvSpPr>
        <p:spPr/>
        <p:txBody>
          <a:bodyPr/>
          <a:lstStyle/>
          <a:p>
            <a:pPr>
              <a:defRPr/>
            </a:pPr>
            <a:fld id="{48CCACA0-5273-4821-9C9E-69D10B5E3EB7}" type="slidenum">
              <a:rPr lang="en-US" altLang="zh-CN" smtClean="0"/>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a:defRPr/>
            </a:pPr>
            <a:endParaRPr lang="en-US" altLang="zh-CN"/>
          </a:p>
        </p:txBody>
      </p:sp>
      <p:sp>
        <p:nvSpPr>
          <p:cNvPr id="4" name="页脚占位符 3"/>
          <p:cNvSpPr>
            <a:spLocks noGrp="1"/>
          </p:cNvSpPr>
          <p:nvPr>
            <p:ph type="ftr" sz="quarter" idx="11"/>
          </p:nvPr>
        </p:nvSpPr>
        <p:spPr/>
        <p:txBody>
          <a:bodyPr/>
          <a:lstStyle/>
          <a:p>
            <a:pPr>
              <a:defRPr/>
            </a:pPr>
            <a:endParaRPr lang="en-US" altLang="zh-CN"/>
          </a:p>
        </p:txBody>
      </p:sp>
      <p:sp>
        <p:nvSpPr>
          <p:cNvPr id="5" name="灯片编号占位符 4"/>
          <p:cNvSpPr>
            <a:spLocks noGrp="1"/>
          </p:cNvSpPr>
          <p:nvPr>
            <p:ph type="sldNum" sz="quarter" idx="12"/>
          </p:nvPr>
        </p:nvSpPr>
        <p:spPr/>
        <p:txBody>
          <a:bodyPr/>
          <a:lstStyle/>
          <a:p>
            <a:pPr>
              <a:defRPr/>
            </a:pPr>
            <a:fld id="{9A307C22-D895-47CD-9946-7458A8956F7D}" type="slidenum">
              <a:rPr lang="en-US" altLang="zh-CN" smtClean="0"/>
              <a:t>‹#›</a:t>
            </a:fld>
            <a:endParaRPr lang="en-US" altLang="zh-CN"/>
          </a:p>
        </p:txBody>
      </p:sp>
      <p:sp>
        <p:nvSpPr>
          <p:cNvPr id="6" name="矩形 5"/>
          <p:cNvSpPr/>
          <p:nvPr userDrawn="1"/>
        </p:nvSpPr>
        <p:spPr>
          <a:xfrm>
            <a:off x="0" y="704192"/>
            <a:ext cx="9144000" cy="1156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endParaRPr lang="en-US" altLang="zh-CN"/>
          </a:p>
        </p:txBody>
      </p:sp>
      <p:sp>
        <p:nvSpPr>
          <p:cNvPr id="3" name="页脚占位符 2"/>
          <p:cNvSpPr>
            <a:spLocks noGrp="1"/>
          </p:cNvSpPr>
          <p:nvPr>
            <p:ph type="ftr" sz="quarter" idx="11"/>
          </p:nvPr>
        </p:nvSpPr>
        <p:spPr/>
        <p:txBody>
          <a:bodyPr/>
          <a:lstStyle/>
          <a:p>
            <a:pPr>
              <a:defRPr/>
            </a:pPr>
            <a:endParaRPr lang="en-US" altLang="zh-CN"/>
          </a:p>
        </p:txBody>
      </p:sp>
      <p:sp>
        <p:nvSpPr>
          <p:cNvPr id="4" name="灯片编号占位符 3"/>
          <p:cNvSpPr>
            <a:spLocks noGrp="1"/>
          </p:cNvSpPr>
          <p:nvPr>
            <p:ph type="sldNum" sz="quarter" idx="12"/>
          </p:nvPr>
        </p:nvSpPr>
        <p:spPr/>
        <p:txBody>
          <a:bodyPr/>
          <a:lstStyle/>
          <a:p>
            <a:pPr>
              <a:defRPr/>
            </a:pPr>
            <a:fld id="{C4A364C8-8FAE-4847-BDF4-4114C5945A19}" type="slidenum">
              <a:rPr lang="en-US" altLang="zh-CN" smtClean="0"/>
              <a:t>‹#›</a:t>
            </a:fld>
            <a:endParaRPr lang="en-US" altLang="zh-CN"/>
          </a:p>
        </p:txBody>
      </p:sp>
      <p:sp>
        <p:nvSpPr>
          <p:cNvPr id="5" name="矩形 4"/>
          <p:cNvSpPr/>
          <p:nvPr userDrawn="1"/>
        </p:nvSpPr>
        <p:spPr>
          <a:xfrm>
            <a:off x="0" y="704192"/>
            <a:ext cx="9144000" cy="1156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hasCustomPrompt="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p:cNvSpPr>
            <a:spLocks noGrp="1"/>
          </p:cNvSpPr>
          <p:nvPr>
            <p:ph type="dt" sz="half" idx="10"/>
          </p:nvPr>
        </p:nvSpPr>
        <p:spPr/>
        <p:txBody>
          <a:bodyPr/>
          <a:lstStyle/>
          <a:p>
            <a:pPr>
              <a:defRPr/>
            </a:pPr>
            <a:endParaRPr lang="en-US" altLang="zh-CN"/>
          </a:p>
        </p:txBody>
      </p:sp>
      <p:sp>
        <p:nvSpPr>
          <p:cNvPr id="6" name="页脚占位符 5"/>
          <p:cNvSpPr>
            <a:spLocks noGrp="1"/>
          </p:cNvSpPr>
          <p:nvPr>
            <p:ph type="ftr" sz="quarter" idx="11"/>
          </p:nvPr>
        </p:nvSpPr>
        <p:spPr/>
        <p:txBody>
          <a:bodyPr/>
          <a:lstStyle/>
          <a:p>
            <a:pPr>
              <a:defRPr/>
            </a:pPr>
            <a:endParaRPr lang="en-US" altLang="zh-CN"/>
          </a:p>
        </p:txBody>
      </p:sp>
      <p:sp>
        <p:nvSpPr>
          <p:cNvPr id="7" name="灯片编号占位符 6"/>
          <p:cNvSpPr>
            <a:spLocks noGrp="1"/>
          </p:cNvSpPr>
          <p:nvPr>
            <p:ph type="sldNum" sz="quarter" idx="12"/>
          </p:nvPr>
        </p:nvSpPr>
        <p:spPr/>
        <p:txBody>
          <a:bodyPr/>
          <a:lstStyle/>
          <a:p>
            <a:pPr>
              <a:defRPr/>
            </a:pPr>
            <a:fld id="{4394943B-35C4-4C64-8411-681D1280EAA3}" type="slidenum">
              <a:rPr lang="en-US" altLang="zh-CN" smtClean="0"/>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hasCustomPrompt="1"/>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p:cNvSpPr>
            <a:spLocks noGrp="1"/>
          </p:cNvSpPr>
          <p:nvPr>
            <p:ph type="dt" sz="half" idx="10"/>
          </p:nvPr>
        </p:nvSpPr>
        <p:spPr/>
        <p:txBody>
          <a:bodyPr/>
          <a:lstStyle/>
          <a:p>
            <a:pPr>
              <a:defRPr/>
            </a:pPr>
            <a:endParaRPr lang="en-US" altLang="zh-CN"/>
          </a:p>
        </p:txBody>
      </p:sp>
      <p:sp>
        <p:nvSpPr>
          <p:cNvPr id="6" name="页脚占位符 5"/>
          <p:cNvSpPr>
            <a:spLocks noGrp="1"/>
          </p:cNvSpPr>
          <p:nvPr>
            <p:ph type="ftr" sz="quarter" idx="11"/>
          </p:nvPr>
        </p:nvSpPr>
        <p:spPr/>
        <p:txBody>
          <a:bodyPr/>
          <a:lstStyle/>
          <a:p>
            <a:pPr>
              <a:defRPr/>
            </a:pPr>
            <a:endParaRPr lang="en-US" altLang="zh-CN"/>
          </a:p>
        </p:txBody>
      </p:sp>
      <p:sp>
        <p:nvSpPr>
          <p:cNvPr id="7" name="灯片编号占位符 6"/>
          <p:cNvSpPr>
            <a:spLocks noGrp="1"/>
          </p:cNvSpPr>
          <p:nvPr>
            <p:ph type="sldNum" sz="quarter" idx="12"/>
          </p:nvPr>
        </p:nvSpPr>
        <p:spPr/>
        <p:txBody>
          <a:bodyPr/>
          <a:lstStyle/>
          <a:p>
            <a:pPr>
              <a:defRPr/>
            </a:pPr>
            <a:fld id="{E19702DF-A2FF-4253-9F90-C702BEE332B4}" type="slidenum">
              <a:rPr lang="en-US" altLang="zh-CN" smtClean="0"/>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E019ADCA-C549-45BB-AF21-F24AA7B3D861}" type="slidenum">
              <a:rPr lang="en-US" altLang="zh-CN" smtClean="0"/>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FEDE56F9-C42E-482F-8BE7-67D550EC0C0E}" type="slidenum">
              <a:rPr lang="en-US" altLang="zh-CN" smtClean="0"/>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ltLang="zh-CN"/>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ltLang="zh-CN"/>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FEDE56F9-C42E-482F-8BE7-67D550EC0C0E}" type="slidenum">
              <a:rPr lang="en-US" altLang="zh-CN" smtClean="0"/>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7.emf"/><Relationship Id="rId4" Type="http://schemas.openxmlformats.org/officeDocument/2006/relationships/image" Target="../media/image6.emf"/></Relationships>
</file>

<file path=ppt/slides/_rels/slide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18" Type="http://schemas.openxmlformats.org/officeDocument/2006/relationships/image" Target="../media/image39.png"/><Relationship Id="rId3" Type="http://schemas.openxmlformats.org/officeDocument/2006/relationships/image" Target="../media/image24.png"/><Relationship Id="rId21" Type="http://schemas.openxmlformats.org/officeDocument/2006/relationships/image" Target="../media/image42.png"/><Relationship Id="rId7" Type="http://schemas.openxmlformats.org/officeDocument/2006/relationships/image" Target="../media/image28.png"/><Relationship Id="rId12" Type="http://schemas.openxmlformats.org/officeDocument/2006/relationships/image" Target="../media/image33.png"/><Relationship Id="rId17" Type="http://schemas.openxmlformats.org/officeDocument/2006/relationships/image" Target="../media/image38.png"/><Relationship Id="rId2" Type="http://schemas.openxmlformats.org/officeDocument/2006/relationships/image" Target="../media/image23.png"/><Relationship Id="rId16" Type="http://schemas.openxmlformats.org/officeDocument/2006/relationships/image" Target="../media/image37.png"/><Relationship Id="rId20"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5" Type="http://schemas.openxmlformats.org/officeDocument/2006/relationships/image" Target="../media/image36.png"/><Relationship Id="rId10" Type="http://schemas.openxmlformats.org/officeDocument/2006/relationships/image" Target="../media/image31.png"/><Relationship Id="rId19" Type="http://schemas.openxmlformats.org/officeDocument/2006/relationships/image" Target="../media/image40.pn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5.png"/><Relationship Id="rId22" Type="http://schemas.openxmlformats.org/officeDocument/2006/relationships/image" Target="../media/image4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7.xml"/><Relationship Id="rId5" Type="http://schemas.openxmlformats.org/officeDocument/2006/relationships/image" Target="../media/image47.jpeg"/><Relationship Id="rId4" Type="http://schemas.openxmlformats.org/officeDocument/2006/relationships/image" Target="../media/image46.jpeg"/></Relationships>
</file>

<file path=ppt/slides/_rels/slide29.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Layout" Target="../slideLayouts/slideLayout7.xml"/><Relationship Id="rId4" Type="http://schemas.openxmlformats.org/officeDocument/2006/relationships/image" Target="../media/image50.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64.w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65.wmf"/></Relationships>
</file>

<file path=ppt/slides/_rels/slide5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7.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5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7.xml"/><Relationship Id="rId4" Type="http://schemas.openxmlformats.org/officeDocument/2006/relationships/image" Target="../media/image7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78.emf"/><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78.emf"/><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78.emf"/><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78.emf"/><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78.emf"/><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79.emf"/><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75.png"/><Relationship Id="rId1" Type="http://schemas.openxmlformats.org/officeDocument/2006/relationships/slideLayout" Target="../slideLayouts/slideLayout7.xml"/><Relationship Id="rId4" Type="http://schemas.openxmlformats.org/officeDocument/2006/relationships/image" Target="../media/image8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75.png"/><Relationship Id="rId1" Type="http://schemas.openxmlformats.org/officeDocument/2006/relationships/slideLayout" Target="../slideLayouts/slideLayout7.xml"/><Relationship Id="rId4" Type="http://schemas.openxmlformats.org/officeDocument/2006/relationships/image" Target="../media/image8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ext Box 6"/>
          <p:cNvSpPr txBox="1">
            <a:spLocks noChangeArrowheads="1"/>
          </p:cNvSpPr>
          <p:nvPr/>
        </p:nvSpPr>
        <p:spPr bwMode="auto">
          <a:xfrm>
            <a:off x="1238250" y="1754188"/>
            <a:ext cx="6961188" cy="240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ts val="600"/>
              </a:spcBef>
              <a:spcAft>
                <a:spcPts val="600"/>
              </a:spcAft>
              <a:buFontTx/>
              <a:buNone/>
              <a:defRPr/>
            </a:pPr>
            <a:r>
              <a:rPr lang="en-US" altLang="zh-CN" sz="3000" b="1" dirty="0">
                <a:solidFill>
                  <a:srgbClr val="FF0000"/>
                </a:solidFill>
                <a:effectLst>
                  <a:outerShdw blurRad="38100" dist="38100" dir="2700000" algn="tl">
                    <a:srgbClr val="000000">
                      <a:alpha val="43137"/>
                    </a:srgbClr>
                  </a:outerShdw>
                </a:effectLst>
                <a:cs typeface="Times New Roman" panose="02020603050405020304" pitchFamily="18" charset="0"/>
              </a:rPr>
              <a:t>4.1  I/O</a:t>
            </a:r>
            <a:r>
              <a:rPr lang="zh-CN" altLang="zh-CN" sz="3000" b="1" dirty="0">
                <a:solidFill>
                  <a:srgbClr val="FF0000"/>
                </a:solidFill>
                <a:effectLst>
                  <a:outerShdw blurRad="38100" dist="38100" dir="2700000" algn="tl">
                    <a:srgbClr val="000000">
                      <a:alpha val="43137"/>
                    </a:srgbClr>
                  </a:outerShdw>
                </a:effectLst>
                <a:cs typeface="Times New Roman" panose="02020603050405020304" pitchFamily="18" charset="0"/>
              </a:rPr>
              <a:t>口</a:t>
            </a:r>
            <a:r>
              <a:rPr lang="zh-CN" altLang="en-US" sz="3000" b="1" dirty="0">
                <a:solidFill>
                  <a:srgbClr val="FF0000"/>
                </a:solidFill>
                <a:effectLst>
                  <a:outerShdw blurRad="38100" dist="38100" dir="2700000" algn="tl">
                    <a:srgbClr val="000000">
                      <a:alpha val="43137"/>
                    </a:srgbClr>
                  </a:outerShdw>
                </a:effectLst>
                <a:cs typeface="Times New Roman" panose="02020603050405020304" pitchFamily="18" charset="0"/>
              </a:rPr>
              <a:t>方式</a:t>
            </a:r>
            <a:r>
              <a:rPr lang="zh-CN" altLang="zh-CN" sz="3000" b="1" dirty="0">
                <a:solidFill>
                  <a:srgbClr val="FF0000"/>
                </a:solidFill>
                <a:effectLst>
                  <a:outerShdw blurRad="38100" dist="38100" dir="2700000" algn="tl">
                    <a:srgbClr val="000000">
                      <a:alpha val="43137"/>
                    </a:srgbClr>
                  </a:outerShdw>
                </a:effectLst>
                <a:cs typeface="Times New Roman" panose="02020603050405020304" pitchFamily="18" charset="0"/>
              </a:rPr>
              <a:t>的简单应用</a:t>
            </a:r>
            <a:endParaRPr lang="en-US" altLang="zh-CN" sz="3000" b="1" dirty="0">
              <a:solidFill>
                <a:srgbClr val="FF0000"/>
              </a:solidFill>
              <a:effectLst>
                <a:outerShdw blurRad="38100" dist="38100" dir="2700000" algn="tl">
                  <a:srgbClr val="000000">
                    <a:alpha val="43137"/>
                  </a:srgbClr>
                </a:outerShdw>
              </a:effectLst>
              <a:cs typeface="Times New Roman" panose="02020603050405020304" pitchFamily="18" charset="0"/>
            </a:endParaRPr>
          </a:p>
          <a:p>
            <a:pPr indent="450850">
              <a:spcBef>
                <a:spcPts val="600"/>
              </a:spcBef>
              <a:spcAft>
                <a:spcPts val="600"/>
              </a:spcAft>
              <a:buFontTx/>
              <a:buNone/>
              <a:defRPr/>
            </a:pPr>
            <a:r>
              <a:rPr lang="en-US" altLang="zh-CN" sz="3000" b="1" dirty="0">
                <a:solidFill>
                  <a:srgbClr val="FF0000"/>
                </a:solidFill>
                <a:effectLst>
                  <a:outerShdw blurRad="38100" dist="38100" dir="2700000" algn="tl">
                    <a:srgbClr val="000000">
                      <a:alpha val="43137"/>
                    </a:srgbClr>
                  </a:outerShdw>
                </a:effectLst>
                <a:cs typeface="Times New Roman" panose="02020603050405020304" pitchFamily="18" charset="0"/>
              </a:rPr>
              <a:t>4.1.1 </a:t>
            </a:r>
            <a:r>
              <a:rPr lang="zh-CN" altLang="en-US" sz="3000" b="1" dirty="0">
                <a:solidFill>
                  <a:srgbClr val="FF0000"/>
                </a:solidFill>
                <a:effectLst>
                  <a:outerShdw blurRad="38100" dist="38100" dir="2700000" algn="tl">
                    <a:srgbClr val="000000">
                      <a:alpha val="43137"/>
                    </a:srgbClr>
                  </a:outerShdw>
                </a:effectLst>
                <a:cs typeface="Times New Roman" panose="02020603050405020304" pitchFamily="18" charset="0"/>
              </a:rPr>
              <a:t>基本输入</a:t>
            </a:r>
            <a:r>
              <a:rPr lang="en-US" altLang="zh-CN" sz="3000" b="1" dirty="0">
                <a:solidFill>
                  <a:srgbClr val="FF0000"/>
                </a:solidFill>
                <a:effectLst>
                  <a:outerShdw blurRad="38100" dist="38100" dir="2700000" algn="tl">
                    <a:srgbClr val="000000">
                      <a:alpha val="43137"/>
                    </a:srgbClr>
                  </a:outerShdw>
                </a:effectLst>
                <a:cs typeface="Times New Roman" panose="02020603050405020304" pitchFamily="18" charset="0"/>
              </a:rPr>
              <a:t>/</a:t>
            </a:r>
            <a:r>
              <a:rPr lang="zh-CN" altLang="en-US" sz="3000" b="1" dirty="0">
                <a:solidFill>
                  <a:srgbClr val="FF0000"/>
                </a:solidFill>
                <a:effectLst>
                  <a:outerShdw blurRad="38100" dist="38100" dir="2700000" algn="tl">
                    <a:srgbClr val="000000">
                      <a:alpha val="43137"/>
                    </a:srgbClr>
                  </a:outerShdw>
                </a:effectLst>
                <a:cs typeface="Times New Roman" panose="02020603050405020304" pitchFamily="18" charset="0"/>
              </a:rPr>
              <a:t>输出电路</a:t>
            </a:r>
            <a:endParaRPr lang="en-US" altLang="zh-CN" sz="3000" b="1" dirty="0">
              <a:solidFill>
                <a:srgbClr val="FF0000"/>
              </a:solidFill>
              <a:effectLst>
                <a:outerShdw blurRad="38100" dist="38100" dir="2700000" algn="tl">
                  <a:srgbClr val="000000">
                    <a:alpha val="43137"/>
                  </a:srgbClr>
                </a:outerShdw>
              </a:effectLst>
              <a:cs typeface="Times New Roman" panose="02020603050405020304" pitchFamily="18" charset="0"/>
            </a:endParaRPr>
          </a:p>
          <a:p>
            <a:pPr indent="450850">
              <a:spcBef>
                <a:spcPts val="600"/>
              </a:spcBef>
              <a:spcAft>
                <a:spcPts val="600"/>
              </a:spcAft>
              <a:buFontTx/>
              <a:buNone/>
              <a:defRPr/>
            </a:pPr>
            <a:r>
              <a:rPr lang="en-US" altLang="zh-CN" sz="3000" b="1" dirty="0">
                <a:effectLst>
                  <a:outerShdw blurRad="38100" dist="38100" dir="2700000" algn="tl">
                    <a:srgbClr val="000000">
                      <a:alpha val="43137"/>
                    </a:srgbClr>
                  </a:outerShdw>
                </a:effectLst>
                <a:cs typeface="Times New Roman" panose="02020603050405020304" pitchFamily="18" charset="0"/>
              </a:rPr>
              <a:t>4.1.2 </a:t>
            </a:r>
            <a:r>
              <a:rPr lang="zh-CN" altLang="zh-CN" sz="3000" b="1" dirty="0">
                <a:effectLst>
                  <a:outerShdw blurRad="38100" dist="38100" dir="2700000" algn="tl">
                    <a:srgbClr val="000000">
                      <a:alpha val="43137"/>
                    </a:srgbClr>
                  </a:outerShdw>
                </a:effectLst>
                <a:cs typeface="Times New Roman" panose="02020603050405020304" pitchFamily="18" charset="0"/>
              </a:rPr>
              <a:t>数码管原理与静态显示</a:t>
            </a:r>
            <a:endParaRPr lang="en-US" altLang="zh-CN" sz="3000" b="1" dirty="0">
              <a:effectLst>
                <a:outerShdw blurRad="38100" dist="38100" dir="2700000" algn="tl">
                  <a:srgbClr val="000000">
                    <a:alpha val="43137"/>
                  </a:srgbClr>
                </a:outerShdw>
              </a:effectLst>
              <a:cs typeface="Times New Roman" panose="02020603050405020304" pitchFamily="18" charset="0"/>
            </a:endParaRPr>
          </a:p>
          <a:p>
            <a:pPr eaLnBrk="1" hangingPunct="1">
              <a:spcBef>
                <a:spcPts val="600"/>
              </a:spcBef>
              <a:spcAft>
                <a:spcPts val="600"/>
              </a:spcAft>
              <a:buFontTx/>
              <a:buNone/>
              <a:defRPr/>
            </a:pPr>
            <a:r>
              <a:rPr lang="en-US" altLang="zh-CN" sz="3000" b="1" dirty="0">
                <a:effectLst>
                  <a:outerShdw blurRad="38100" dist="38100" dir="2700000" algn="tl">
                    <a:srgbClr val="000000">
                      <a:alpha val="43137"/>
                    </a:srgbClr>
                  </a:outerShdw>
                </a:effectLst>
                <a:cs typeface="Times New Roman" panose="02020603050405020304" pitchFamily="18" charset="0"/>
              </a:rPr>
              <a:t>4.2  I/O</a:t>
            </a:r>
            <a:r>
              <a:rPr lang="zh-CN" altLang="en-US" sz="3000" b="1" dirty="0">
                <a:effectLst>
                  <a:outerShdw blurRad="38100" dist="38100" dir="2700000" algn="tl">
                    <a:srgbClr val="000000">
                      <a:alpha val="43137"/>
                    </a:srgbClr>
                  </a:outerShdw>
                </a:effectLst>
                <a:cs typeface="Times New Roman" panose="02020603050405020304" pitchFamily="18" charset="0"/>
              </a:rPr>
              <a:t>方式</a:t>
            </a:r>
            <a:r>
              <a:rPr lang="zh-CN" altLang="zh-CN" sz="3000" b="1" dirty="0">
                <a:effectLst>
                  <a:outerShdw blurRad="38100" dist="38100" dir="2700000" algn="tl">
                    <a:srgbClr val="000000">
                      <a:alpha val="43137"/>
                    </a:srgbClr>
                  </a:outerShdw>
                </a:effectLst>
                <a:cs typeface="Times New Roman" panose="02020603050405020304" pitchFamily="18" charset="0"/>
              </a:rPr>
              <a:t>的进阶</a:t>
            </a:r>
            <a:r>
              <a:rPr lang="zh-CN" altLang="en-US" sz="3000" b="1" dirty="0">
                <a:effectLst>
                  <a:outerShdw blurRad="38100" dist="38100" dir="2700000" algn="tl">
                    <a:srgbClr val="000000">
                      <a:alpha val="43137"/>
                    </a:srgbClr>
                  </a:outerShdw>
                </a:effectLst>
                <a:cs typeface="Times New Roman" panose="02020603050405020304" pitchFamily="18" charset="0"/>
              </a:rPr>
              <a:t>应用</a:t>
            </a:r>
          </a:p>
        </p:txBody>
      </p:sp>
      <p:sp>
        <p:nvSpPr>
          <p:cNvPr id="4" name="Rectangle 2">
            <a:extLst>
              <a:ext uri="{FF2B5EF4-FFF2-40B4-BE49-F238E27FC236}">
                <a16:creationId xmlns:a16="http://schemas.microsoft.com/office/drawing/2014/main" id="{AC3C0C00-1297-4F3B-8498-85C64FB372CD}"/>
              </a:ext>
            </a:extLst>
          </p:cNvPr>
          <p:cNvSpPr>
            <a:spLocks noChangeArrowheads="1"/>
          </p:cNvSpPr>
          <p:nvPr/>
        </p:nvSpPr>
        <p:spPr bwMode="auto">
          <a:xfrm>
            <a:off x="5364163" y="374333"/>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a:extLst>
              <a:ext uri="{FF2B5EF4-FFF2-40B4-BE49-F238E27FC236}">
                <a16:creationId xmlns:a16="http://schemas.microsoft.com/office/drawing/2014/main" id="{06677974-AE73-4C43-BAA7-504F28CE3777}"/>
              </a:ext>
            </a:extLst>
          </p:cNvPr>
          <p:cNvSpPr txBox="1">
            <a:spLocks noChangeArrowheads="1"/>
          </p:cNvSpPr>
          <p:nvPr/>
        </p:nvSpPr>
        <p:spPr bwMode="auto">
          <a:xfrm>
            <a:off x="875997" y="1387590"/>
            <a:ext cx="7392005" cy="467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10000"/>
              </a:spcBef>
              <a:buClr>
                <a:srgbClr val="C00000"/>
              </a:buClr>
              <a:buFont typeface="Wingdings" panose="05000000000000000000" pitchFamily="2" charset="2"/>
              <a:buChar char="p"/>
            </a:pPr>
            <a:r>
              <a:rPr lang="zh-CN" altLang="zh-CN" sz="2400" b="1" dirty="0">
                <a:effectLst>
                  <a:outerShdw blurRad="38100" dist="38100" dir="2700000" algn="tl">
                    <a:srgbClr val="000000">
                      <a:alpha val="43137"/>
                    </a:srgbClr>
                  </a:outerShdw>
                </a:effectLst>
              </a:rPr>
              <a:t>并行</a:t>
            </a:r>
            <a:r>
              <a:rPr lang="en-US" altLang="zh-CN" sz="2400" b="1" dirty="0">
                <a:effectLst>
                  <a:outerShdw blurRad="38100" dist="38100" dir="2700000" algn="tl">
                    <a:srgbClr val="000000">
                      <a:alpha val="43137"/>
                    </a:srgbClr>
                  </a:outerShdw>
                </a:effectLst>
              </a:rPr>
              <a:t>I/O</a:t>
            </a:r>
            <a:r>
              <a:rPr lang="zh-CN" altLang="zh-CN" sz="2400" b="1" dirty="0">
                <a:effectLst>
                  <a:outerShdw blurRad="38100" dist="38100" dir="2700000" algn="tl">
                    <a:srgbClr val="000000">
                      <a:alpha val="43137"/>
                    </a:srgbClr>
                  </a:outerShdw>
                </a:effectLst>
              </a:rPr>
              <a:t>口是</a:t>
            </a:r>
            <a:r>
              <a:rPr lang="en-US" altLang="zh-CN" sz="2400" b="1" dirty="0">
                <a:effectLst>
                  <a:outerShdw blurRad="38100" dist="38100" dir="2700000" algn="tl">
                    <a:srgbClr val="000000">
                      <a:alpha val="43137"/>
                    </a:srgbClr>
                  </a:outerShdw>
                </a:effectLst>
              </a:rPr>
              <a:t>51</a:t>
            </a:r>
            <a:r>
              <a:rPr lang="zh-CN" altLang="zh-CN" sz="2400" b="1" dirty="0">
                <a:effectLst>
                  <a:outerShdw blurRad="38100" dist="38100" dir="2700000" algn="tl">
                    <a:srgbClr val="000000">
                      <a:alpha val="43137"/>
                    </a:srgbClr>
                  </a:outerShdw>
                </a:effectLst>
              </a:rPr>
              <a:t>单片机基本结构中的重要组成部分，共有</a:t>
            </a:r>
            <a:r>
              <a:rPr lang="en-US" altLang="zh-CN" sz="2400" b="1" dirty="0">
                <a:effectLst>
                  <a:outerShdw blurRad="38100" dist="38100" dir="2700000" algn="tl">
                    <a:srgbClr val="000000">
                      <a:alpha val="43137"/>
                    </a:srgbClr>
                  </a:outerShdw>
                </a:effectLst>
              </a:rPr>
              <a:t>P0</a:t>
            </a:r>
            <a:r>
              <a:rPr lang="zh-CN" altLang="zh-CN" sz="2400" b="1" dirty="0">
                <a:effectLst>
                  <a:outerShdw blurRad="38100" dist="38100" dir="2700000" algn="tl">
                    <a:srgbClr val="000000">
                      <a:alpha val="43137"/>
                    </a:srgbClr>
                  </a:outerShdw>
                </a:effectLst>
              </a:rPr>
              <a:t>、</a:t>
            </a:r>
            <a:r>
              <a:rPr lang="en-US" altLang="zh-CN" sz="2400" b="1" dirty="0">
                <a:effectLst>
                  <a:outerShdw blurRad="38100" dist="38100" dir="2700000" algn="tl">
                    <a:srgbClr val="000000">
                      <a:alpha val="43137"/>
                    </a:srgbClr>
                  </a:outerShdw>
                </a:effectLst>
              </a:rPr>
              <a:t>P1</a:t>
            </a:r>
            <a:r>
              <a:rPr lang="zh-CN" altLang="zh-CN" sz="2400" b="1" dirty="0">
                <a:effectLst>
                  <a:outerShdw blurRad="38100" dist="38100" dir="2700000" algn="tl">
                    <a:srgbClr val="000000">
                      <a:alpha val="43137"/>
                    </a:srgbClr>
                  </a:outerShdw>
                </a:effectLst>
              </a:rPr>
              <a:t>、</a:t>
            </a:r>
            <a:r>
              <a:rPr lang="en-US" altLang="zh-CN" sz="2400" b="1" dirty="0">
                <a:effectLst>
                  <a:outerShdw blurRad="38100" dist="38100" dir="2700000" algn="tl">
                    <a:srgbClr val="000000">
                      <a:alpha val="43137"/>
                    </a:srgbClr>
                  </a:outerShdw>
                </a:effectLst>
              </a:rPr>
              <a:t>P2</a:t>
            </a:r>
            <a:r>
              <a:rPr lang="zh-CN" altLang="zh-CN" sz="2400" b="1" dirty="0">
                <a:effectLst>
                  <a:outerShdw blurRad="38100" dist="38100" dir="2700000" algn="tl">
                    <a:srgbClr val="000000">
                      <a:alpha val="43137"/>
                    </a:srgbClr>
                  </a:outerShdw>
                </a:effectLst>
              </a:rPr>
              <a:t>和</a:t>
            </a:r>
            <a:r>
              <a:rPr lang="en-US" altLang="zh-CN" sz="2400" b="1" dirty="0">
                <a:effectLst>
                  <a:outerShdw blurRad="38100" dist="38100" dir="2700000" algn="tl">
                    <a:srgbClr val="000000">
                      <a:alpha val="43137"/>
                    </a:srgbClr>
                  </a:outerShdw>
                </a:effectLst>
              </a:rPr>
              <a:t>P3</a:t>
            </a:r>
            <a:r>
              <a:rPr lang="zh-CN" altLang="zh-CN" sz="2400" b="1" dirty="0">
                <a:effectLst>
                  <a:outerShdw blurRad="38100" dist="38100" dir="2700000" algn="tl">
                    <a:srgbClr val="000000">
                      <a:alpha val="43137"/>
                    </a:srgbClr>
                  </a:outerShdw>
                </a:effectLst>
              </a:rPr>
              <a:t>四个</a:t>
            </a:r>
            <a:r>
              <a:rPr lang="en-US" altLang="zh-CN" sz="2400" b="1" dirty="0">
                <a:effectLst>
                  <a:outerShdw blurRad="38100" dist="38100" dir="2700000" algn="tl">
                    <a:srgbClr val="000000">
                      <a:alpha val="43137"/>
                    </a:srgbClr>
                  </a:outerShdw>
                </a:effectLst>
              </a:rPr>
              <a:t>8</a:t>
            </a:r>
            <a:r>
              <a:rPr lang="zh-CN" altLang="zh-CN" sz="2400" b="1" dirty="0">
                <a:effectLst>
                  <a:outerShdw blurRad="38100" dist="38100" dir="2700000" algn="tl">
                    <a:srgbClr val="000000">
                      <a:alpha val="43137"/>
                    </a:srgbClr>
                  </a:outerShdw>
                </a:effectLst>
              </a:rPr>
              <a:t>位端口。</a:t>
            </a:r>
            <a:endParaRPr lang="en-US" altLang="zh-CN" sz="2400" b="1" dirty="0">
              <a:effectLst>
                <a:outerShdw blurRad="38100" dist="38100" dir="2700000" algn="tl">
                  <a:srgbClr val="000000">
                    <a:alpha val="43137"/>
                  </a:srgbClr>
                </a:outerShdw>
              </a:effectLst>
            </a:endParaRPr>
          </a:p>
          <a:p>
            <a:pPr eaLnBrk="1" hangingPunct="1">
              <a:spcBef>
                <a:spcPct val="10000"/>
              </a:spcBef>
              <a:buClr>
                <a:srgbClr val="C00000"/>
              </a:buClr>
              <a:buFont typeface="Wingdings" panose="05000000000000000000" pitchFamily="2" charset="2"/>
              <a:buChar char="p"/>
            </a:pPr>
            <a:r>
              <a:rPr lang="zh-CN" altLang="zh-CN" sz="2400" b="1" dirty="0">
                <a:effectLst>
                  <a:outerShdw blurRad="38100" dist="38100" dir="2700000" algn="tl">
                    <a:srgbClr val="000000">
                      <a:alpha val="43137"/>
                    </a:srgbClr>
                  </a:outerShdw>
                </a:effectLst>
              </a:rPr>
              <a:t>单片机与外设的连接有两种方式，一是采用通用</a:t>
            </a:r>
            <a:r>
              <a:rPr lang="en-US" altLang="zh-CN" sz="2400" b="1" dirty="0">
                <a:effectLst>
                  <a:outerShdw blurRad="38100" dist="38100" dir="2700000" algn="tl">
                    <a:srgbClr val="000000">
                      <a:alpha val="43137"/>
                    </a:srgbClr>
                  </a:outerShdw>
                </a:effectLst>
              </a:rPr>
              <a:t>I/O</a:t>
            </a:r>
            <a:r>
              <a:rPr lang="zh-CN" altLang="zh-CN" sz="2400" b="1" dirty="0">
                <a:effectLst>
                  <a:outerShdw blurRad="38100" dist="38100" dir="2700000" algn="tl">
                    <a:srgbClr val="000000">
                      <a:alpha val="43137"/>
                    </a:srgbClr>
                  </a:outerShdw>
                </a:effectLst>
              </a:rPr>
              <a:t>口方式（以下简称为</a:t>
            </a:r>
            <a:r>
              <a:rPr lang="en-US" altLang="zh-CN" sz="2400" b="1" dirty="0">
                <a:effectLst>
                  <a:outerShdw blurRad="38100" dist="38100" dir="2700000" algn="tl">
                    <a:srgbClr val="000000">
                      <a:alpha val="43137"/>
                    </a:srgbClr>
                  </a:outerShdw>
                </a:effectLst>
                <a:highlight>
                  <a:srgbClr val="FFFF00"/>
                </a:highlight>
              </a:rPr>
              <a:t>I/O</a:t>
            </a:r>
            <a:r>
              <a:rPr lang="zh-CN" altLang="zh-CN" sz="2400" b="1" dirty="0">
                <a:effectLst>
                  <a:outerShdw blurRad="38100" dist="38100" dir="2700000" algn="tl">
                    <a:srgbClr val="000000">
                      <a:alpha val="43137"/>
                    </a:srgbClr>
                  </a:outerShdw>
                </a:effectLst>
                <a:highlight>
                  <a:srgbClr val="FFFF00"/>
                </a:highlight>
              </a:rPr>
              <a:t>口方式</a:t>
            </a:r>
            <a:r>
              <a:rPr lang="zh-CN" altLang="zh-CN" sz="2400" b="1" dirty="0">
                <a:effectLst>
                  <a:outerShdw blurRad="38100" dist="38100" dir="2700000" algn="tl">
                    <a:srgbClr val="000000">
                      <a:alpha val="43137"/>
                    </a:srgbClr>
                  </a:outerShdw>
                </a:effectLst>
              </a:rPr>
              <a:t>），二是采用</a:t>
            </a:r>
            <a:r>
              <a:rPr lang="zh-CN" altLang="zh-CN" sz="2400" b="1" dirty="0">
                <a:effectLst>
                  <a:outerShdw blurRad="38100" dist="38100" dir="2700000" algn="tl">
                    <a:srgbClr val="000000">
                      <a:alpha val="43137"/>
                    </a:srgbClr>
                  </a:outerShdw>
                </a:effectLst>
                <a:highlight>
                  <a:srgbClr val="FFFF00"/>
                </a:highlight>
              </a:rPr>
              <a:t>片外三总线方式</a:t>
            </a:r>
            <a:r>
              <a:rPr lang="zh-CN" altLang="zh-CN" sz="2400" b="1" dirty="0">
                <a:effectLst>
                  <a:outerShdw blurRad="38100" dist="38100" dir="2700000" algn="tl">
                    <a:srgbClr val="000000">
                      <a:alpha val="43137"/>
                    </a:srgbClr>
                  </a:outerShdw>
                </a:effectLst>
              </a:rPr>
              <a:t>。</a:t>
            </a:r>
            <a:endParaRPr lang="en-US" altLang="zh-CN" sz="2400" b="1" dirty="0">
              <a:effectLst>
                <a:outerShdw blurRad="38100" dist="38100" dir="2700000" algn="tl">
                  <a:srgbClr val="000000">
                    <a:alpha val="43137"/>
                  </a:srgbClr>
                </a:outerShdw>
              </a:effectLst>
            </a:endParaRPr>
          </a:p>
          <a:p>
            <a:pPr eaLnBrk="1" hangingPunct="1">
              <a:spcBef>
                <a:spcPct val="10000"/>
              </a:spcBef>
              <a:buClr>
                <a:srgbClr val="C00000"/>
              </a:buClr>
              <a:buFont typeface="Wingdings" panose="05000000000000000000" pitchFamily="2" charset="2"/>
              <a:buChar char="p"/>
            </a:pPr>
            <a:r>
              <a:rPr lang="zh-CN" altLang="zh-CN" sz="2400" b="1" dirty="0">
                <a:effectLst>
                  <a:outerShdw blurRad="38100" dist="38100" dir="2700000" algn="tl">
                    <a:srgbClr val="000000">
                      <a:alpha val="43137"/>
                    </a:srgbClr>
                  </a:outerShdw>
                </a:effectLst>
              </a:rPr>
              <a:t>前者的接口原理比较简单，应用容易实现，但受</a:t>
            </a:r>
            <a:r>
              <a:rPr lang="en-US" altLang="zh-CN" sz="2400" b="1" dirty="0">
                <a:effectLst>
                  <a:outerShdw blurRad="38100" dist="38100" dir="2700000" algn="tl">
                    <a:srgbClr val="000000">
                      <a:alpha val="43137"/>
                    </a:srgbClr>
                  </a:outerShdw>
                </a:effectLst>
              </a:rPr>
              <a:t>I/O</a:t>
            </a:r>
            <a:r>
              <a:rPr lang="zh-CN" altLang="zh-CN" sz="2400" b="1" dirty="0">
                <a:effectLst>
                  <a:outerShdw blurRad="38100" dist="38100" dir="2700000" algn="tl">
                    <a:srgbClr val="000000">
                      <a:alpha val="43137"/>
                    </a:srgbClr>
                  </a:outerShdw>
                </a:effectLst>
              </a:rPr>
              <a:t>口线数量限制只能用于少量外设的场合。</a:t>
            </a:r>
            <a:endParaRPr lang="en-US" altLang="zh-CN" sz="2400" b="1" dirty="0">
              <a:effectLst>
                <a:outerShdw blurRad="38100" dist="38100" dir="2700000" algn="tl">
                  <a:srgbClr val="000000">
                    <a:alpha val="43137"/>
                  </a:srgbClr>
                </a:outerShdw>
              </a:effectLst>
            </a:endParaRPr>
          </a:p>
          <a:p>
            <a:pPr eaLnBrk="1" hangingPunct="1">
              <a:spcBef>
                <a:spcPct val="10000"/>
              </a:spcBef>
              <a:buClr>
                <a:srgbClr val="C00000"/>
              </a:buClr>
              <a:buFont typeface="Wingdings" panose="05000000000000000000" pitchFamily="2" charset="2"/>
              <a:buChar char="p"/>
            </a:pPr>
            <a:r>
              <a:rPr lang="zh-CN" altLang="zh-CN" sz="2400" b="1" dirty="0">
                <a:effectLst>
                  <a:outerShdw blurRad="38100" dist="38100" dir="2700000" algn="tl">
                    <a:srgbClr val="000000">
                      <a:alpha val="43137"/>
                    </a:srgbClr>
                  </a:outerShdw>
                </a:effectLst>
              </a:rPr>
              <a:t>后者的接口原理相对复杂，通常需要外围器件配合才能连接外设，但可以节省</a:t>
            </a:r>
            <a:r>
              <a:rPr lang="en-US" altLang="zh-CN" sz="2400" b="1" dirty="0">
                <a:effectLst>
                  <a:outerShdw blurRad="38100" dist="38100" dir="2700000" algn="tl">
                    <a:srgbClr val="000000">
                      <a:alpha val="43137"/>
                    </a:srgbClr>
                  </a:outerShdw>
                </a:effectLst>
              </a:rPr>
              <a:t>I/O</a:t>
            </a:r>
            <a:r>
              <a:rPr lang="zh-CN" altLang="zh-CN" sz="2400" b="1" dirty="0">
                <a:effectLst>
                  <a:outerShdw blurRad="38100" dist="38100" dir="2700000" algn="tl">
                    <a:srgbClr val="000000">
                      <a:alpha val="43137"/>
                    </a:srgbClr>
                  </a:outerShdw>
                </a:effectLst>
              </a:rPr>
              <a:t>口线，便于外设扩展。</a:t>
            </a:r>
            <a:endParaRPr lang="en-US" altLang="zh-CN" sz="2400" b="1" dirty="0">
              <a:effectLst>
                <a:outerShdw blurRad="38100" dist="38100" dir="2700000" algn="tl">
                  <a:srgbClr val="000000">
                    <a:alpha val="43137"/>
                  </a:srgbClr>
                </a:outerShdw>
              </a:effectLst>
            </a:endParaRPr>
          </a:p>
          <a:p>
            <a:pPr eaLnBrk="1" hangingPunct="1">
              <a:spcBef>
                <a:spcPct val="10000"/>
              </a:spcBef>
              <a:buClr>
                <a:srgbClr val="C00000"/>
              </a:buClr>
              <a:buFont typeface="Wingdings" panose="05000000000000000000" pitchFamily="2" charset="2"/>
              <a:buChar char="p"/>
            </a:pPr>
            <a:r>
              <a:rPr lang="zh-CN" altLang="zh-CN" sz="2400" b="1" dirty="0">
                <a:effectLst>
                  <a:outerShdw blurRad="38100" dist="38100" dir="2700000" algn="tl">
                    <a:srgbClr val="000000">
                      <a:alpha val="43137"/>
                    </a:srgbClr>
                  </a:outerShdw>
                </a:effectLst>
              </a:rPr>
              <a:t>本章仅介绍基于通用</a:t>
            </a:r>
            <a:r>
              <a:rPr lang="en-US" altLang="zh-CN" sz="2400" b="1" dirty="0">
                <a:effectLst>
                  <a:outerShdw blurRad="38100" dist="38100" dir="2700000" algn="tl">
                    <a:srgbClr val="000000">
                      <a:alpha val="43137"/>
                    </a:srgbClr>
                  </a:outerShdw>
                </a:effectLst>
              </a:rPr>
              <a:t>I/O</a:t>
            </a:r>
            <a:r>
              <a:rPr lang="zh-CN" altLang="zh-CN" sz="2400" b="1" dirty="0">
                <a:effectLst>
                  <a:outerShdw blurRad="38100" dist="38100" dir="2700000" algn="tl">
                    <a:srgbClr val="000000">
                      <a:alpha val="43137"/>
                    </a:srgbClr>
                  </a:outerShdw>
                </a:effectLst>
              </a:rPr>
              <a:t>口方式的单片机应用技术，总线方式应用技术将在第</a:t>
            </a:r>
            <a:r>
              <a:rPr lang="en-US" altLang="zh-CN" sz="2400" b="1" dirty="0">
                <a:effectLst>
                  <a:outerShdw blurRad="38100" dist="38100" dir="2700000" algn="tl">
                    <a:srgbClr val="000000">
                      <a:alpha val="43137"/>
                    </a:srgbClr>
                  </a:outerShdw>
                </a:effectLst>
              </a:rPr>
              <a:t>8</a:t>
            </a:r>
            <a:r>
              <a:rPr lang="zh-CN" altLang="zh-CN" sz="2400" b="1" dirty="0">
                <a:effectLst>
                  <a:outerShdw blurRad="38100" dist="38100" dir="2700000" algn="tl">
                    <a:srgbClr val="000000">
                      <a:alpha val="43137"/>
                    </a:srgbClr>
                  </a:outerShdw>
                </a:effectLst>
              </a:rPr>
              <a:t>章中介绍。</a:t>
            </a:r>
            <a:endParaRPr lang="zh-CN" altLang="en-US" sz="2400" b="1" dirty="0">
              <a:effectLst>
                <a:outerShdw blurRad="38100" dist="38100" dir="2700000" algn="tl">
                  <a:srgbClr val="000000">
                    <a:alpha val="43137"/>
                  </a:srgbClr>
                </a:outerShdw>
              </a:effectLst>
            </a:endParaRPr>
          </a:p>
        </p:txBody>
      </p:sp>
      <p:sp>
        <p:nvSpPr>
          <p:cNvPr id="3" name="Rectangle 4">
            <a:extLst>
              <a:ext uri="{FF2B5EF4-FFF2-40B4-BE49-F238E27FC236}">
                <a16:creationId xmlns:a16="http://schemas.microsoft.com/office/drawing/2014/main" id="{5F86A1F0-E804-4804-B73E-0132AA069186}"/>
              </a:ext>
            </a:extLst>
          </p:cNvPr>
          <p:cNvSpPr>
            <a:spLocks noChangeArrowheads="1"/>
          </p:cNvSpPr>
          <p:nvPr/>
        </p:nvSpPr>
        <p:spPr bwMode="auto">
          <a:xfrm>
            <a:off x="798261" y="791969"/>
            <a:ext cx="632088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ts val="600"/>
              </a:spcBef>
              <a:spcAft>
                <a:spcPts val="600"/>
              </a:spcAft>
              <a:buFontTx/>
              <a:buNone/>
            </a:pPr>
            <a:r>
              <a:rPr lang="zh-CN" altLang="en-US"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Times New Roman" panose="02020603050405020304" pitchFamily="18" charset="0"/>
              </a:rPr>
              <a:t>概述</a:t>
            </a:r>
            <a:endParaRPr lang="en-US" altLang="zh-CN"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4" name="Rectangle 2">
            <a:extLst>
              <a:ext uri="{FF2B5EF4-FFF2-40B4-BE49-F238E27FC236}">
                <a16:creationId xmlns:a16="http://schemas.microsoft.com/office/drawing/2014/main" id="{1DE6ACB3-F299-4ACD-BF28-F6423C4B1613}"/>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725790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3" name="Rectangle 5"/>
          <p:cNvSpPr>
            <a:spLocks noChangeArrowheads="1"/>
          </p:cNvSpPr>
          <p:nvPr/>
        </p:nvSpPr>
        <p:spPr bwMode="auto">
          <a:xfrm>
            <a:off x="600074" y="1705966"/>
            <a:ext cx="8455025"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1" dirty="0">
                <a:solidFill>
                  <a:srgbClr val="FF3300"/>
                </a:solidFill>
                <a:effectLst>
                  <a:outerShdw blurRad="38100" dist="38100" dir="2700000" algn="tl">
                    <a:srgbClr val="000000">
                      <a:alpha val="43137"/>
                    </a:srgbClr>
                  </a:outerShdw>
                </a:effectLst>
              </a:rPr>
              <a:t>输出电路</a:t>
            </a:r>
            <a:r>
              <a:rPr lang="zh-CN" altLang="en-US" sz="2800" b="1" dirty="0">
                <a:effectLst>
                  <a:outerShdw blurRad="38100" dist="38100" dir="2700000" algn="tl">
                    <a:srgbClr val="000000">
                      <a:alpha val="43137"/>
                    </a:srgbClr>
                  </a:outerShdw>
                </a:effectLst>
              </a:rPr>
              <a:t>：</a:t>
            </a:r>
            <a:r>
              <a:rPr lang="zh-CN" altLang="en-US" sz="2800" b="1" dirty="0">
                <a:solidFill>
                  <a:srgbClr val="CC0000"/>
                </a:solidFill>
                <a:effectLst>
                  <a:outerShdw blurRad="38100" dist="38100" dir="2700000" algn="tl">
                    <a:srgbClr val="000000">
                      <a:alpha val="43137"/>
                    </a:srgbClr>
                  </a:outerShdw>
                </a:effectLst>
              </a:rPr>
              <a:t> </a:t>
            </a:r>
          </a:p>
          <a:p>
            <a:pPr eaLnBrk="1" hangingPunct="1">
              <a:spcBef>
                <a:spcPct val="0"/>
              </a:spcBef>
              <a:buFontTx/>
              <a:buNone/>
            </a:pPr>
            <a:r>
              <a:rPr lang="zh-CN" altLang="en-US" sz="2800" b="1" dirty="0">
                <a:effectLst>
                  <a:outerShdw blurRad="38100" dist="38100" dir="2700000" algn="tl">
                    <a:srgbClr val="000000">
                      <a:alpha val="43137"/>
                    </a:srgbClr>
                  </a:outerShdw>
                </a:effectLst>
              </a:rPr>
              <a:t>基本输出元件：发光二极管（</a:t>
            </a:r>
            <a:r>
              <a:rPr lang="en-US" altLang="zh-CN" sz="2800" b="1" dirty="0">
                <a:solidFill>
                  <a:srgbClr val="CC3300"/>
                </a:solidFill>
                <a:effectLst>
                  <a:outerShdw blurRad="38100" dist="38100" dir="2700000" algn="tl">
                    <a:srgbClr val="000000">
                      <a:alpha val="43137"/>
                    </a:srgbClr>
                  </a:outerShdw>
                </a:effectLst>
              </a:rPr>
              <a:t>L</a:t>
            </a:r>
            <a:r>
              <a:rPr lang="en-US" altLang="zh-CN" sz="2800" b="1" dirty="0">
                <a:effectLst>
                  <a:outerShdw blurRad="38100" dist="38100" dir="2700000" algn="tl">
                    <a:srgbClr val="000000">
                      <a:alpha val="43137"/>
                    </a:srgbClr>
                  </a:outerShdw>
                </a:effectLst>
              </a:rPr>
              <a:t>ight </a:t>
            </a:r>
            <a:r>
              <a:rPr lang="en-US" altLang="zh-CN" sz="2800" b="1" dirty="0">
                <a:solidFill>
                  <a:srgbClr val="CC3300"/>
                </a:solidFill>
                <a:effectLst>
                  <a:outerShdw blurRad="38100" dist="38100" dir="2700000" algn="tl">
                    <a:srgbClr val="000000">
                      <a:alpha val="43137"/>
                    </a:srgbClr>
                  </a:outerShdw>
                </a:effectLst>
              </a:rPr>
              <a:t>E</a:t>
            </a:r>
            <a:r>
              <a:rPr lang="en-US" altLang="zh-CN" sz="2800" b="1" dirty="0">
                <a:effectLst>
                  <a:outerShdw blurRad="38100" dist="38100" dir="2700000" algn="tl">
                    <a:srgbClr val="000000">
                      <a:alpha val="43137"/>
                    </a:srgbClr>
                  </a:outerShdw>
                </a:effectLst>
              </a:rPr>
              <a:t>mitting </a:t>
            </a:r>
            <a:r>
              <a:rPr lang="en-US" altLang="zh-CN" sz="2800" b="1" dirty="0">
                <a:solidFill>
                  <a:srgbClr val="CC3300"/>
                </a:solidFill>
                <a:effectLst>
                  <a:outerShdw blurRad="38100" dist="38100" dir="2700000" algn="tl">
                    <a:srgbClr val="000000">
                      <a:alpha val="43137"/>
                    </a:srgbClr>
                  </a:outerShdw>
                </a:effectLst>
              </a:rPr>
              <a:t>D</a:t>
            </a:r>
            <a:r>
              <a:rPr lang="en-US" altLang="zh-CN" sz="2800" b="1" dirty="0">
                <a:effectLst>
                  <a:outerShdw blurRad="38100" dist="38100" dir="2700000" algn="tl">
                    <a:srgbClr val="000000">
                      <a:alpha val="43137"/>
                    </a:srgbClr>
                  </a:outerShdw>
                </a:effectLst>
              </a:rPr>
              <a:t>iode</a:t>
            </a:r>
            <a:r>
              <a:rPr lang="zh-CN" altLang="en-US" sz="2800" b="1" dirty="0">
                <a:effectLst>
                  <a:outerShdw blurRad="38100" dist="38100" dir="2700000" algn="tl">
                    <a:srgbClr val="000000">
                      <a:alpha val="43137"/>
                    </a:srgbClr>
                  </a:outerShdw>
                </a:effectLst>
              </a:rPr>
              <a:t>）</a:t>
            </a:r>
          </a:p>
        </p:txBody>
      </p:sp>
      <p:pic>
        <p:nvPicPr>
          <p:cNvPr id="334854" name="Picture 6" descr="led驱动方式"/>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17345" t="28017" r="27055" b="52310"/>
          <a:stretch>
            <a:fillRect/>
          </a:stretch>
        </p:blipFill>
        <p:spPr bwMode="auto">
          <a:xfrm>
            <a:off x="685800" y="2795005"/>
            <a:ext cx="7737088" cy="2192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4855" name="Text Box 7"/>
          <p:cNvSpPr txBox="1">
            <a:spLocks noChangeArrowheads="1"/>
          </p:cNvSpPr>
          <p:nvPr/>
        </p:nvSpPr>
        <p:spPr bwMode="auto">
          <a:xfrm>
            <a:off x="1919558" y="3670356"/>
            <a:ext cx="19208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低电平驱动</a:t>
            </a:r>
          </a:p>
        </p:txBody>
      </p:sp>
      <p:sp>
        <p:nvSpPr>
          <p:cNvPr id="334857" name="Text Box 9"/>
          <p:cNvSpPr txBox="1">
            <a:spLocks noChangeArrowheads="1"/>
          </p:cNvSpPr>
          <p:nvPr/>
        </p:nvSpPr>
        <p:spPr bwMode="auto">
          <a:xfrm>
            <a:off x="6200349" y="3514570"/>
            <a:ext cx="19208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eaLnBrk="1" hangingPunct="1">
              <a:spcBef>
                <a:spcPct val="50000"/>
              </a:spcBef>
              <a:buFontTx/>
              <a:buNone/>
              <a:defRPr b="1">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defRPr>
            </a:lvl1pPr>
            <a:lvl2pPr marL="742950" indent="-285750">
              <a:spcBef>
                <a:spcPct val="20000"/>
              </a:spcBef>
              <a:buChar char="–"/>
              <a:defRPr sz="2800"/>
            </a:lvl2pPr>
            <a:lvl3pPr marL="1143000" indent="-228600">
              <a:spcBef>
                <a:spcPct val="20000"/>
              </a:spcBef>
              <a:buChar char="•"/>
            </a:lvl3pPr>
            <a:lvl4pPr marL="1600200" indent="-228600">
              <a:spcBef>
                <a:spcPct val="20000"/>
              </a:spcBef>
              <a:buChar char="–"/>
              <a:defRPr sz="2000"/>
            </a:lvl4pPr>
            <a:lvl5pPr marL="2057400" indent="-228600">
              <a:spcBef>
                <a:spcPct val="20000"/>
              </a:spcBef>
              <a:buChar char="»"/>
              <a:defRPr sz="2000"/>
            </a:lvl5pPr>
            <a:lvl6pPr marL="2514600" indent="-228600" eaLnBrk="0" fontAlgn="base" hangingPunct="0">
              <a:spcBef>
                <a:spcPct val="20000"/>
              </a:spcBef>
              <a:spcAft>
                <a:spcPct val="0"/>
              </a:spcAft>
              <a:buChar char="»"/>
              <a:defRPr sz="2000"/>
            </a:lvl6pPr>
            <a:lvl7pPr marL="2971800" indent="-228600" eaLnBrk="0" fontAlgn="base" hangingPunct="0">
              <a:spcBef>
                <a:spcPct val="20000"/>
              </a:spcBef>
              <a:spcAft>
                <a:spcPct val="0"/>
              </a:spcAft>
              <a:buChar char="»"/>
              <a:defRPr sz="2000"/>
            </a:lvl7pPr>
            <a:lvl8pPr marL="3429000" indent="-228600" eaLnBrk="0" fontAlgn="base" hangingPunct="0">
              <a:spcBef>
                <a:spcPct val="20000"/>
              </a:spcBef>
              <a:spcAft>
                <a:spcPct val="0"/>
              </a:spcAft>
              <a:buChar char="»"/>
              <a:defRPr sz="2000"/>
            </a:lvl8pPr>
            <a:lvl9pPr marL="3886200" indent="-228600" eaLnBrk="0" fontAlgn="base" hangingPunct="0">
              <a:spcBef>
                <a:spcPct val="20000"/>
              </a:spcBef>
              <a:spcAft>
                <a:spcPct val="0"/>
              </a:spcAft>
              <a:buChar char="»"/>
              <a:defRPr sz="2000"/>
            </a:lvl9pPr>
          </a:lstStyle>
          <a:p>
            <a:r>
              <a:rPr lang="zh-CN" altLang="en-US" dirty="0"/>
              <a:t>高电平驱动</a:t>
            </a:r>
          </a:p>
        </p:txBody>
      </p:sp>
      <p:sp>
        <p:nvSpPr>
          <p:cNvPr id="4107" name="Rectangle 4"/>
          <p:cNvSpPr>
            <a:spLocks noChangeArrowheads="1"/>
          </p:cNvSpPr>
          <p:nvPr/>
        </p:nvSpPr>
        <p:spPr bwMode="auto">
          <a:xfrm>
            <a:off x="685800" y="852442"/>
            <a:ext cx="632088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ts val="600"/>
              </a:spcBef>
              <a:spcAft>
                <a:spcPts val="600"/>
              </a:spcAft>
              <a:buFontTx/>
              <a:buNone/>
            </a:pPr>
            <a:r>
              <a:rPr lang="en-US" altLang="zh-CN"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Times New Roman" panose="02020603050405020304" pitchFamily="18" charset="0"/>
              </a:rPr>
              <a:t>4.1.1 </a:t>
            </a:r>
            <a:r>
              <a:rPr lang="zh-CN" altLang="zh-CN"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发光二极管与应用编程</a:t>
            </a:r>
            <a:endParaRPr lang="en-US" altLang="zh-CN"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4110" name="Rectangle 2"/>
          <p:cNvSpPr>
            <a:spLocks noChangeArrowheads="1"/>
          </p:cNvSpPr>
          <p:nvPr/>
        </p:nvSpPr>
        <p:spPr bwMode="auto">
          <a:xfrm>
            <a:off x="5364163" y="404813"/>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
        <p:nvSpPr>
          <p:cNvPr id="8" name="Rectangle 4">
            <a:extLst>
              <a:ext uri="{FF2B5EF4-FFF2-40B4-BE49-F238E27FC236}">
                <a16:creationId xmlns:a16="http://schemas.microsoft.com/office/drawing/2014/main" id="{52454D75-B29A-4D42-847E-1D87737A78B3}"/>
              </a:ext>
            </a:extLst>
          </p:cNvPr>
          <p:cNvSpPr>
            <a:spLocks noChangeArrowheads="1"/>
          </p:cNvSpPr>
          <p:nvPr/>
        </p:nvSpPr>
        <p:spPr bwMode="auto">
          <a:xfrm>
            <a:off x="269875" y="107848"/>
            <a:ext cx="632088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ts val="600"/>
              </a:spcBef>
              <a:spcAft>
                <a:spcPts val="600"/>
              </a:spcAft>
              <a:buFontTx/>
              <a:buNone/>
            </a:pPr>
            <a:r>
              <a:rPr lang="en-US" altLang="zh-CN"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Times New Roman" panose="02020603050405020304" pitchFamily="18" charset="0"/>
              </a:rPr>
              <a:t>4.1 I/O</a:t>
            </a:r>
            <a:r>
              <a:rPr lang="zh-CN" altLang="en-US"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Times New Roman" panose="02020603050405020304" pitchFamily="18" charset="0"/>
              </a:rPr>
              <a:t>端口的简单应用</a:t>
            </a:r>
            <a:endParaRPr lang="en-US" altLang="zh-CN"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9" name="Line 10">
            <a:extLst>
              <a:ext uri="{FF2B5EF4-FFF2-40B4-BE49-F238E27FC236}">
                <a16:creationId xmlns:a16="http://schemas.microsoft.com/office/drawing/2014/main" id="{5125517E-7F15-4926-8B5D-447676979689}"/>
              </a:ext>
            </a:extLst>
          </p:cNvPr>
          <p:cNvSpPr>
            <a:spLocks noChangeShapeType="1"/>
          </p:cNvSpPr>
          <p:nvPr/>
        </p:nvSpPr>
        <p:spPr bwMode="auto">
          <a:xfrm flipH="1">
            <a:off x="2106137" y="4739121"/>
            <a:ext cx="706437" cy="0"/>
          </a:xfrm>
          <a:prstGeom prst="line">
            <a:avLst/>
          </a:prstGeom>
          <a:noFill/>
          <a:ln w="28575">
            <a:solidFill>
              <a:srgbClr val="0000FF"/>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b="1" dirty="0">
              <a:effectLst>
                <a:outerShdw blurRad="38100" dist="38100" dir="2700000" algn="tl">
                  <a:srgbClr val="000000">
                    <a:alpha val="43137"/>
                  </a:srgbClr>
                </a:outerShdw>
              </a:effectLst>
            </a:endParaRPr>
          </a:p>
        </p:txBody>
      </p:sp>
      <p:sp>
        <p:nvSpPr>
          <p:cNvPr id="10" name="Text Box 12">
            <a:extLst>
              <a:ext uri="{FF2B5EF4-FFF2-40B4-BE49-F238E27FC236}">
                <a16:creationId xmlns:a16="http://schemas.microsoft.com/office/drawing/2014/main" id="{93076733-E9B7-4091-BBE9-D7D51E982C61}"/>
              </a:ext>
            </a:extLst>
          </p:cNvPr>
          <p:cNvSpPr txBox="1">
            <a:spLocks noChangeArrowheads="1"/>
          </p:cNvSpPr>
          <p:nvPr/>
        </p:nvSpPr>
        <p:spPr bwMode="auto">
          <a:xfrm>
            <a:off x="2768500" y="4579302"/>
            <a:ext cx="12573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1600" b="1" dirty="0">
                <a:effectLst>
                  <a:outerShdw blurRad="38100" dist="38100" dir="2700000" algn="tl">
                    <a:srgbClr val="000000">
                      <a:alpha val="43137"/>
                    </a:srgbClr>
                  </a:outerShdw>
                </a:effectLst>
              </a:rPr>
              <a:t>电流方向</a:t>
            </a:r>
          </a:p>
        </p:txBody>
      </p:sp>
      <p:sp>
        <p:nvSpPr>
          <p:cNvPr id="11" name="Line 11">
            <a:extLst>
              <a:ext uri="{FF2B5EF4-FFF2-40B4-BE49-F238E27FC236}">
                <a16:creationId xmlns:a16="http://schemas.microsoft.com/office/drawing/2014/main" id="{3EBC950F-9A4F-42A6-8F21-DEBB462C67DB}"/>
              </a:ext>
            </a:extLst>
          </p:cNvPr>
          <p:cNvSpPr>
            <a:spLocks noChangeShapeType="1"/>
          </p:cNvSpPr>
          <p:nvPr/>
        </p:nvSpPr>
        <p:spPr bwMode="auto">
          <a:xfrm flipH="1">
            <a:off x="6253207" y="4667233"/>
            <a:ext cx="706438" cy="0"/>
          </a:xfrm>
          <a:prstGeom prst="line">
            <a:avLst/>
          </a:prstGeom>
          <a:noFill/>
          <a:ln w="28575">
            <a:solidFill>
              <a:srgbClr val="0000FF"/>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b="1" dirty="0">
              <a:effectLst>
                <a:outerShdw blurRad="38100" dist="38100" dir="2700000" algn="tl">
                  <a:srgbClr val="000000">
                    <a:alpha val="43137"/>
                  </a:srgbClr>
                </a:outerShdw>
              </a:effectLst>
            </a:endParaRPr>
          </a:p>
        </p:txBody>
      </p:sp>
      <p:sp>
        <p:nvSpPr>
          <p:cNvPr id="12" name="Text Box 13">
            <a:extLst>
              <a:ext uri="{FF2B5EF4-FFF2-40B4-BE49-F238E27FC236}">
                <a16:creationId xmlns:a16="http://schemas.microsoft.com/office/drawing/2014/main" id="{F6BFFA5F-7D87-4590-818F-707C583C7A31}"/>
              </a:ext>
            </a:extLst>
          </p:cNvPr>
          <p:cNvSpPr txBox="1">
            <a:spLocks noChangeArrowheads="1"/>
          </p:cNvSpPr>
          <p:nvPr/>
        </p:nvSpPr>
        <p:spPr bwMode="auto">
          <a:xfrm>
            <a:off x="6900791" y="4497956"/>
            <a:ext cx="10791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1600" b="1" dirty="0">
                <a:effectLst>
                  <a:outerShdw blurRad="38100" dist="38100" dir="2700000" algn="tl">
                    <a:srgbClr val="000000">
                      <a:alpha val="43137"/>
                    </a:srgbClr>
                  </a:outerShdw>
                </a:effectLst>
              </a:rPr>
              <a:t>电流方向</a:t>
            </a:r>
          </a:p>
        </p:txBody>
      </p:sp>
      <p:sp>
        <p:nvSpPr>
          <p:cNvPr id="13" name="Rectangle 31">
            <a:extLst>
              <a:ext uri="{FF2B5EF4-FFF2-40B4-BE49-F238E27FC236}">
                <a16:creationId xmlns:a16="http://schemas.microsoft.com/office/drawing/2014/main" id="{78F45231-92DE-4B23-8D70-6FEEA95415A4}"/>
              </a:ext>
            </a:extLst>
          </p:cNvPr>
          <p:cNvSpPr>
            <a:spLocks noChangeArrowheads="1"/>
          </p:cNvSpPr>
          <p:nvPr/>
        </p:nvSpPr>
        <p:spPr bwMode="auto">
          <a:xfrm>
            <a:off x="1030081" y="4917856"/>
            <a:ext cx="2995818"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600" b="1" dirty="0">
                <a:effectLst>
                  <a:outerShdw blurRad="38100" dist="38100" dir="2700000" algn="tl">
                    <a:srgbClr val="000000">
                      <a:alpha val="43137"/>
                    </a:srgbClr>
                  </a:outerShdw>
                </a:effectLst>
              </a:rPr>
              <a:t>单片机输出低电平时，</a:t>
            </a:r>
            <a:r>
              <a:rPr lang="en-US" altLang="zh-CN" sz="1600" b="1" dirty="0">
                <a:effectLst>
                  <a:outerShdw blurRad="38100" dist="38100" dir="2700000" algn="tl">
                    <a:srgbClr val="000000">
                      <a:alpha val="43137"/>
                    </a:srgbClr>
                  </a:outerShdw>
                </a:effectLst>
              </a:rPr>
              <a:t>LED</a:t>
            </a:r>
            <a:r>
              <a:rPr lang="zh-CN" altLang="en-US" sz="1600" b="1" dirty="0">
                <a:effectLst>
                  <a:outerShdw blurRad="38100" dist="38100" dir="2700000" algn="tl">
                    <a:srgbClr val="000000">
                      <a:alpha val="43137"/>
                    </a:srgbClr>
                  </a:outerShdw>
                </a:effectLst>
              </a:rPr>
              <a:t>导通</a:t>
            </a:r>
            <a:r>
              <a:rPr lang="en-US" altLang="zh-CN" sz="1600" b="1" dirty="0">
                <a:effectLst>
                  <a:outerShdw blurRad="38100" dist="38100" dir="2700000" algn="tl">
                    <a:srgbClr val="000000">
                      <a:alpha val="43137"/>
                    </a:srgbClr>
                  </a:outerShdw>
                </a:effectLst>
              </a:rPr>
              <a:t>——</a:t>
            </a:r>
            <a:r>
              <a:rPr lang="zh-CN" altLang="en-US" sz="1600" b="1" dirty="0">
                <a:effectLst>
                  <a:outerShdw blurRad="38100" dist="38100" dir="2700000" algn="tl">
                    <a:srgbClr val="000000">
                      <a:alpha val="43137"/>
                    </a:srgbClr>
                  </a:outerShdw>
                </a:effectLst>
              </a:rPr>
              <a:t>低电平驱动</a:t>
            </a:r>
            <a:endParaRPr lang="en-US" altLang="zh-CN" sz="1600" b="1" dirty="0">
              <a:effectLst>
                <a:outerShdw blurRad="38100" dist="38100" dir="2700000" algn="tl">
                  <a:srgbClr val="000000">
                    <a:alpha val="43137"/>
                  </a:srgbClr>
                </a:outerShdw>
              </a:effectLst>
            </a:endParaRPr>
          </a:p>
          <a:p>
            <a:pPr>
              <a:spcBef>
                <a:spcPct val="0"/>
              </a:spcBef>
              <a:buFontTx/>
              <a:buNone/>
            </a:pPr>
            <a:r>
              <a:rPr lang="zh-CN" altLang="en-US" sz="1600" b="1" dirty="0">
                <a:solidFill>
                  <a:srgbClr val="FF0000"/>
                </a:solidFill>
                <a:effectLst>
                  <a:outerShdw blurRad="38100" dist="38100" dir="2700000" algn="tl">
                    <a:srgbClr val="000000">
                      <a:alpha val="43137"/>
                    </a:srgbClr>
                  </a:outerShdw>
                </a:effectLst>
              </a:rPr>
              <a:t>电流方向向内</a:t>
            </a:r>
            <a:r>
              <a:rPr lang="en-US" altLang="zh-CN" sz="1600" b="1" dirty="0">
                <a:solidFill>
                  <a:srgbClr val="FF0000"/>
                </a:solidFill>
                <a:effectLst>
                  <a:outerShdw blurRad="38100" dist="38100" dir="2700000" algn="tl">
                    <a:srgbClr val="000000">
                      <a:alpha val="43137"/>
                    </a:srgbClr>
                  </a:outerShdw>
                </a:effectLst>
              </a:rPr>
              <a:t>——</a:t>
            </a:r>
            <a:r>
              <a:rPr lang="zh-CN" altLang="en-US" sz="1600" b="1" dirty="0">
                <a:solidFill>
                  <a:srgbClr val="FF0000"/>
                </a:solidFill>
                <a:effectLst>
                  <a:outerShdw blurRad="38100" dist="38100" dir="2700000" algn="tl">
                    <a:srgbClr val="000000">
                      <a:alpha val="43137"/>
                    </a:srgbClr>
                  </a:outerShdw>
                </a:effectLst>
              </a:rPr>
              <a:t>灌电流</a:t>
            </a:r>
            <a:r>
              <a:rPr lang="zh-CN" altLang="en-US" sz="1600" b="1" dirty="0">
                <a:effectLst>
                  <a:outerShdw blurRad="38100" dist="38100" dir="2700000" algn="tl">
                    <a:srgbClr val="000000">
                      <a:alpha val="43137"/>
                    </a:srgbClr>
                  </a:outerShdw>
                </a:effectLst>
              </a:rPr>
              <a:t>，最大电流为 </a:t>
            </a:r>
            <a:r>
              <a:rPr lang="en-US" altLang="zh-CN" sz="1600" b="1" dirty="0">
                <a:effectLst>
                  <a:outerShdw blurRad="38100" dist="38100" dir="2700000" algn="tl">
                    <a:srgbClr val="000000">
                      <a:alpha val="43137"/>
                    </a:srgbClr>
                  </a:outerShdw>
                </a:effectLst>
              </a:rPr>
              <a:t>10 mA                           </a:t>
            </a:r>
            <a:endParaRPr lang="zh-CN" altLang="en-US" sz="1800" b="1" dirty="0">
              <a:effectLst>
                <a:outerShdw blurRad="38100" dist="38100" dir="2700000" algn="tl">
                  <a:srgbClr val="000000">
                    <a:alpha val="43137"/>
                  </a:srgbClr>
                </a:outerShdw>
              </a:effectLst>
            </a:endParaRPr>
          </a:p>
        </p:txBody>
      </p:sp>
      <p:sp>
        <p:nvSpPr>
          <p:cNvPr id="14" name="Rectangle 31">
            <a:extLst>
              <a:ext uri="{FF2B5EF4-FFF2-40B4-BE49-F238E27FC236}">
                <a16:creationId xmlns:a16="http://schemas.microsoft.com/office/drawing/2014/main" id="{275F4765-A0E4-4D31-9137-B86F42B18798}"/>
              </a:ext>
            </a:extLst>
          </p:cNvPr>
          <p:cNvSpPr>
            <a:spLocks noChangeArrowheads="1"/>
          </p:cNvSpPr>
          <p:nvPr/>
        </p:nvSpPr>
        <p:spPr bwMode="auto">
          <a:xfrm>
            <a:off x="5125406" y="4917856"/>
            <a:ext cx="2995818"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600" b="1" dirty="0">
                <a:effectLst>
                  <a:outerShdw blurRad="38100" dist="38100" dir="2700000" algn="tl">
                    <a:srgbClr val="000000">
                      <a:alpha val="43137"/>
                    </a:srgbClr>
                  </a:outerShdw>
                </a:effectLst>
              </a:rPr>
              <a:t>单片机输出高电平时，</a:t>
            </a:r>
            <a:r>
              <a:rPr lang="en-US" altLang="zh-CN" sz="1600" b="1" dirty="0">
                <a:effectLst>
                  <a:outerShdw blurRad="38100" dist="38100" dir="2700000" algn="tl">
                    <a:srgbClr val="000000">
                      <a:alpha val="43137"/>
                    </a:srgbClr>
                  </a:outerShdw>
                </a:effectLst>
              </a:rPr>
              <a:t>LED</a:t>
            </a:r>
            <a:r>
              <a:rPr lang="zh-CN" altLang="en-US" sz="1600" b="1" dirty="0">
                <a:effectLst>
                  <a:outerShdw blurRad="38100" dist="38100" dir="2700000" algn="tl">
                    <a:srgbClr val="000000">
                      <a:alpha val="43137"/>
                    </a:srgbClr>
                  </a:outerShdw>
                </a:effectLst>
              </a:rPr>
              <a:t>导通</a:t>
            </a:r>
            <a:r>
              <a:rPr lang="en-US" altLang="zh-CN" sz="1600" b="1" dirty="0">
                <a:effectLst>
                  <a:outerShdw blurRad="38100" dist="38100" dir="2700000" algn="tl">
                    <a:srgbClr val="000000">
                      <a:alpha val="43137"/>
                    </a:srgbClr>
                  </a:outerShdw>
                </a:effectLst>
              </a:rPr>
              <a:t>——</a:t>
            </a:r>
            <a:r>
              <a:rPr lang="zh-CN" altLang="en-US" sz="1600" b="1" dirty="0">
                <a:effectLst>
                  <a:outerShdw blurRad="38100" dist="38100" dir="2700000" algn="tl">
                    <a:srgbClr val="000000">
                      <a:alpha val="43137"/>
                    </a:srgbClr>
                  </a:outerShdw>
                </a:effectLst>
              </a:rPr>
              <a:t>高电平驱动</a:t>
            </a:r>
            <a:endParaRPr lang="en-US" altLang="zh-CN" sz="1600" b="1" dirty="0">
              <a:effectLst>
                <a:outerShdw blurRad="38100" dist="38100" dir="2700000" algn="tl">
                  <a:srgbClr val="000000">
                    <a:alpha val="43137"/>
                  </a:srgbClr>
                </a:outerShdw>
              </a:effectLst>
            </a:endParaRPr>
          </a:p>
          <a:p>
            <a:pPr>
              <a:spcBef>
                <a:spcPct val="0"/>
              </a:spcBef>
              <a:buFontTx/>
              <a:buNone/>
            </a:pPr>
            <a:r>
              <a:rPr lang="zh-CN" altLang="en-US" sz="1600" b="1" dirty="0">
                <a:solidFill>
                  <a:srgbClr val="FF0000"/>
                </a:solidFill>
                <a:effectLst>
                  <a:outerShdw blurRad="38100" dist="38100" dir="2700000" algn="tl">
                    <a:srgbClr val="000000">
                      <a:alpha val="43137"/>
                    </a:srgbClr>
                  </a:outerShdw>
                </a:effectLst>
              </a:rPr>
              <a:t>电流方向向外</a:t>
            </a:r>
            <a:r>
              <a:rPr lang="en-US" altLang="zh-CN" sz="1600" b="1" dirty="0">
                <a:solidFill>
                  <a:srgbClr val="FF0000"/>
                </a:solidFill>
                <a:effectLst>
                  <a:outerShdw blurRad="38100" dist="38100" dir="2700000" algn="tl">
                    <a:srgbClr val="000000">
                      <a:alpha val="43137"/>
                    </a:srgbClr>
                  </a:outerShdw>
                </a:effectLst>
              </a:rPr>
              <a:t>——</a:t>
            </a:r>
            <a:r>
              <a:rPr lang="zh-CN" altLang="en-US" sz="1600" b="1" dirty="0">
                <a:solidFill>
                  <a:srgbClr val="FF0000"/>
                </a:solidFill>
                <a:effectLst>
                  <a:outerShdw blurRad="38100" dist="38100" dir="2700000" algn="tl">
                    <a:srgbClr val="000000">
                      <a:alpha val="43137"/>
                    </a:srgbClr>
                  </a:outerShdw>
                </a:effectLst>
              </a:rPr>
              <a:t>拉电流</a:t>
            </a:r>
            <a:r>
              <a:rPr lang="zh-CN" altLang="en-US" sz="1600" b="1" dirty="0">
                <a:effectLst>
                  <a:outerShdw blurRad="38100" dist="38100" dir="2700000" algn="tl">
                    <a:srgbClr val="000000">
                      <a:alpha val="43137"/>
                    </a:srgbClr>
                  </a:outerShdw>
                </a:effectLst>
              </a:rPr>
              <a:t>，最大电流为 </a:t>
            </a:r>
            <a:r>
              <a:rPr lang="en-US" altLang="zh-CN" sz="1600" b="1" dirty="0">
                <a:effectLst>
                  <a:outerShdw blurRad="38100" dist="38100" dir="2700000" algn="tl">
                    <a:srgbClr val="000000">
                      <a:alpha val="43137"/>
                    </a:srgbClr>
                  </a:outerShdw>
                </a:effectLst>
              </a:rPr>
              <a:t>1 mA                           </a:t>
            </a:r>
            <a:endParaRPr lang="zh-CN" altLang="en-US" sz="1800" b="1" dirty="0">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34853"/>
                                        </p:tgtEl>
                                        <p:attrNameLst>
                                          <p:attrName>style.visibility</p:attrName>
                                        </p:attrNameLst>
                                      </p:cBhvr>
                                      <p:to>
                                        <p:strVal val="visible"/>
                                      </p:to>
                                    </p:set>
                                    <p:animEffect transition="in" filter="diamond(in)">
                                      <p:cBhvr>
                                        <p:cTn id="7" dur="500"/>
                                        <p:tgtEl>
                                          <p:spTgt spid="33485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34854"/>
                                        </p:tgtEl>
                                        <p:attrNameLst>
                                          <p:attrName>style.visibility</p:attrName>
                                        </p:attrNameLst>
                                      </p:cBhvr>
                                      <p:to>
                                        <p:strVal val="visible"/>
                                      </p:to>
                                    </p:set>
                                    <p:animEffect transition="in" filter="blinds(horizontal)">
                                      <p:cBhvr>
                                        <p:cTn id="12" dur="500"/>
                                        <p:tgtEl>
                                          <p:spTgt spid="334854"/>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34855"/>
                                        </p:tgtEl>
                                        <p:attrNameLst>
                                          <p:attrName>style.visibility</p:attrName>
                                        </p:attrNameLst>
                                      </p:cBhvr>
                                      <p:to>
                                        <p:strVal val="visible"/>
                                      </p:to>
                                    </p:set>
                                    <p:animEffect transition="in" filter="blinds(horizontal)">
                                      <p:cBhvr>
                                        <p:cTn id="15" dur="500"/>
                                        <p:tgtEl>
                                          <p:spTgt spid="334855"/>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34857"/>
                                        </p:tgtEl>
                                        <p:attrNameLst>
                                          <p:attrName>style.visibility</p:attrName>
                                        </p:attrNameLst>
                                      </p:cBhvr>
                                      <p:to>
                                        <p:strVal val="visible"/>
                                      </p:to>
                                    </p:set>
                                    <p:animEffect transition="in" filter="blinds(horizontal)">
                                      <p:cBhvr>
                                        <p:cTn id="18" dur="500"/>
                                        <p:tgtEl>
                                          <p:spTgt spid="3348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853" grpId="0"/>
      <p:bldP spid="334855" grpId="0"/>
      <p:bldP spid="33485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9">
            <a:extLst>
              <a:ext uri="{FF2B5EF4-FFF2-40B4-BE49-F238E27FC236}">
                <a16:creationId xmlns:a16="http://schemas.microsoft.com/office/drawing/2014/main" id="{2BA202FF-C182-4916-8D6D-0FA0FD7C2A96}"/>
              </a:ext>
            </a:extLst>
          </p:cNvPr>
          <p:cNvSpPr txBox="1">
            <a:spLocks noChangeArrowheads="1"/>
          </p:cNvSpPr>
          <p:nvPr/>
        </p:nvSpPr>
        <p:spPr bwMode="auto">
          <a:xfrm>
            <a:off x="533400" y="961038"/>
            <a:ext cx="18150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dirty="0">
                <a:solidFill>
                  <a:srgbClr val="FF0000"/>
                </a:solidFill>
                <a:effectLst>
                  <a:outerShdw blurRad="38100" dist="38100" dir="2700000" algn="tl">
                    <a:srgbClr val="000000">
                      <a:alpha val="43137"/>
                    </a:srgbClr>
                  </a:outerShdw>
                </a:effectLst>
              </a:rPr>
              <a:t>P1</a:t>
            </a:r>
            <a:r>
              <a:rPr lang="zh-CN" altLang="en-US" sz="2400" b="1" dirty="0">
                <a:solidFill>
                  <a:srgbClr val="FF0000"/>
                </a:solidFill>
                <a:effectLst>
                  <a:outerShdw blurRad="38100" dist="38100" dir="2700000" algn="tl">
                    <a:srgbClr val="000000">
                      <a:alpha val="43137"/>
                    </a:srgbClr>
                  </a:outerShdw>
                </a:effectLst>
              </a:rPr>
              <a:t>口为例</a:t>
            </a:r>
          </a:p>
        </p:txBody>
      </p:sp>
      <p:grpSp>
        <p:nvGrpSpPr>
          <p:cNvPr id="3" name="组合 2">
            <a:extLst>
              <a:ext uri="{FF2B5EF4-FFF2-40B4-BE49-F238E27FC236}">
                <a16:creationId xmlns:a16="http://schemas.microsoft.com/office/drawing/2014/main" id="{5720DAE8-20AE-493B-A53F-BF7491658341}"/>
              </a:ext>
            </a:extLst>
          </p:cNvPr>
          <p:cNvGrpSpPr/>
          <p:nvPr/>
        </p:nvGrpSpPr>
        <p:grpSpPr>
          <a:xfrm>
            <a:off x="1752600" y="1773838"/>
            <a:ext cx="6718300" cy="3864962"/>
            <a:chOff x="3103866" y="4648239"/>
            <a:chExt cx="4178227" cy="1995083"/>
          </a:xfrm>
        </p:grpSpPr>
        <p:pic>
          <p:nvPicPr>
            <p:cNvPr id="4" name="Picture 7">
              <a:extLst>
                <a:ext uri="{FF2B5EF4-FFF2-40B4-BE49-F238E27FC236}">
                  <a16:creationId xmlns:a16="http://schemas.microsoft.com/office/drawing/2014/main" id="{746429E5-699E-4B0D-BABE-F592FEFC25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03866" y="4648239"/>
              <a:ext cx="2984241" cy="1995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连接符: 肘形 4">
              <a:extLst>
                <a:ext uri="{FF2B5EF4-FFF2-40B4-BE49-F238E27FC236}">
                  <a16:creationId xmlns:a16="http://schemas.microsoft.com/office/drawing/2014/main" id="{17215B7A-DF6C-489C-802B-795AA600F0D0}"/>
                </a:ext>
              </a:extLst>
            </p:cNvPr>
            <p:cNvCxnSpPr/>
            <p:nvPr/>
          </p:nvCxnSpPr>
          <p:spPr bwMode="auto">
            <a:xfrm>
              <a:off x="5299129" y="4949072"/>
              <a:ext cx="670919" cy="367646"/>
            </a:xfrm>
            <a:prstGeom prst="bentConnector3">
              <a:avLst>
                <a:gd name="adj1" fmla="val 823"/>
              </a:avLst>
            </a:prstGeom>
            <a:solidFill>
              <a:schemeClr val="accent1"/>
            </a:solidFill>
            <a:ln w="28575" cap="flat" cmpd="sng" algn="ctr">
              <a:solidFill>
                <a:srgbClr val="FF3300"/>
              </a:solidFill>
              <a:prstDash val="solid"/>
              <a:round/>
              <a:headEnd type="none" w="med" len="med"/>
              <a:tailEnd type="triangle"/>
            </a:ln>
            <a:effectLst/>
          </p:spPr>
        </p:cxnSp>
        <p:sp>
          <p:nvSpPr>
            <p:cNvPr id="6" name="Text Box 9">
              <a:extLst>
                <a:ext uri="{FF2B5EF4-FFF2-40B4-BE49-F238E27FC236}">
                  <a16:creationId xmlns:a16="http://schemas.microsoft.com/office/drawing/2014/main" id="{6A579DBD-1B60-4CF5-8551-A516491A5B8E}"/>
                </a:ext>
              </a:extLst>
            </p:cNvPr>
            <p:cNvSpPr txBox="1">
              <a:spLocks noChangeArrowheads="1"/>
            </p:cNvSpPr>
            <p:nvPr/>
          </p:nvSpPr>
          <p:spPr bwMode="auto">
            <a:xfrm>
              <a:off x="5970048" y="5132895"/>
              <a:ext cx="13120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1800" dirty="0">
                  <a:solidFill>
                    <a:srgbClr val="FF0000"/>
                  </a:solidFill>
                </a:rPr>
                <a:t>拉电流</a:t>
              </a:r>
            </a:p>
          </p:txBody>
        </p:sp>
        <p:cxnSp>
          <p:nvCxnSpPr>
            <p:cNvPr id="7" name="连接符: 肘形 6">
              <a:extLst>
                <a:ext uri="{FF2B5EF4-FFF2-40B4-BE49-F238E27FC236}">
                  <a16:creationId xmlns:a16="http://schemas.microsoft.com/office/drawing/2014/main" id="{BFF86151-5321-409C-92DE-FAAF39B00994}"/>
                </a:ext>
              </a:extLst>
            </p:cNvPr>
            <p:cNvCxnSpPr>
              <a:cxnSpLocks/>
            </p:cNvCxnSpPr>
            <p:nvPr/>
          </p:nvCxnSpPr>
          <p:spPr bwMode="auto">
            <a:xfrm rot="10800000" flipV="1">
              <a:off x="5203908" y="5810059"/>
              <a:ext cx="766141" cy="339919"/>
            </a:xfrm>
            <a:prstGeom prst="bentConnector3">
              <a:avLst>
                <a:gd name="adj1" fmla="val 101678"/>
              </a:avLst>
            </a:prstGeom>
            <a:solidFill>
              <a:schemeClr val="accent1"/>
            </a:solidFill>
            <a:ln w="28575" cap="flat" cmpd="sng" algn="ctr">
              <a:solidFill>
                <a:srgbClr val="FF3300"/>
              </a:solidFill>
              <a:prstDash val="solid"/>
              <a:round/>
              <a:headEnd type="none" w="med" len="med"/>
              <a:tailEnd type="triangle"/>
            </a:ln>
            <a:effectLst/>
          </p:spPr>
        </p:cxnSp>
        <p:sp>
          <p:nvSpPr>
            <p:cNvPr id="8" name="Text Box 9">
              <a:extLst>
                <a:ext uri="{FF2B5EF4-FFF2-40B4-BE49-F238E27FC236}">
                  <a16:creationId xmlns:a16="http://schemas.microsoft.com/office/drawing/2014/main" id="{38D39043-9E3A-4420-A3CC-F1CA8D013492}"/>
                </a:ext>
              </a:extLst>
            </p:cNvPr>
            <p:cNvSpPr txBox="1">
              <a:spLocks noChangeArrowheads="1"/>
            </p:cNvSpPr>
            <p:nvPr/>
          </p:nvSpPr>
          <p:spPr bwMode="auto">
            <a:xfrm>
              <a:off x="5963227" y="5601786"/>
              <a:ext cx="13120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1800" dirty="0">
                  <a:solidFill>
                    <a:srgbClr val="FF0000"/>
                  </a:solidFill>
                </a:rPr>
                <a:t>灌电流</a:t>
              </a:r>
            </a:p>
          </p:txBody>
        </p:sp>
      </p:grpSp>
      <p:sp>
        <p:nvSpPr>
          <p:cNvPr id="9" name="Rectangle 2">
            <a:extLst>
              <a:ext uri="{FF2B5EF4-FFF2-40B4-BE49-F238E27FC236}">
                <a16:creationId xmlns:a16="http://schemas.microsoft.com/office/drawing/2014/main" id="{6BC156B0-AEA0-477C-AF4F-F678B1582A64}"/>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946427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5" descr="开关量"/>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17355" t="20436" r="59256" b="53658"/>
          <a:stretch>
            <a:fillRect/>
          </a:stretch>
        </p:blipFill>
        <p:spPr bwMode="auto">
          <a:xfrm>
            <a:off x="2362044" y="2142186"/>
            <a:ext cx="4130023" cy="3199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Rectangle 2"/>
          <p:cNvSpPr>
            <a:spLocks noChangeAspect="1" noChangeArrowheads="1"/>
          </p:cNvSpPr>
          <p:nvPr/>
        </p:nvSpPr>
        <p:spPr bwMode="auto">
          <a:xfrm>
            <a:off x="666750" y="863408"/>
            <a:ext cx="8376889" cy="1040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1">
                <a:solidFill>
                  <a:srgbClr val="FF3300"/>
                </a:solidFill>
                <a:effectLst>
                  <a:outerShdw blurRad="38100" dist="38100" dir="2700000" algn="tl">
                    <a:srgbClr val="000000">
                      <a:alpha val="43137"/>
                    </a:srgbClr>
                  </a:outerShdw>
                </a:effectLst>
              </a:rPr>
              <a:t>输入电路</a:t>
            </a:r>
            <a:r>
              <a:rPr lang="zh-CN" altLang="en-US" sz="2800" b="1">
                <a:effectLst>
                  <a:outerShdw blurRad="38100" dist="38100" dir="2700000" algn="tl">
                    <a:srgbClr val="000000">
                      <a:alpha val="43137"/>
                    </a:srgbClr>
                  </a:outerShdw>
                </a:effectLst>
              </a:rPr>
              <a:t>：</a:t>
            </a:r>
            <a:r>
              <a:rPr lang="zh-CN" altLang="en-US" sz="2800" b="1">
                <a:solidFill>
                  <a:srgbClr val="CC0000"/>
                </a:solidFill>
                <a:effectLst>
                  <a:outerShdw blurRad="38100" dist="38100" dir="2700000" algn="tl">
                    <a:srgbClr val="000000">
                      <a:alpha val="43137"/>
                    </a:srgbClr>
                  </a:outerShdw>
                </a:effectLst>
              </a:rPr>
              <a:t> </a:t>
            </a:r>
            <a:r>
              <a:rPr lang="zh-CN" altLang="en-US" sz="2800" b="1">
                <a:effectLst>
                  <a:outerShdw blurRad="38100" dist="38100" dir="2700000" algn="tl">
                    <a:srgbClr val="000000">
                      <a:alpha val="43137"/>
                    </a:srgbClr>
                  </a:outerShdw>
                </a:effectLst>
              </a:rPr>
              <a:t>       </a:t>
            </a:r>
          </a:p>
          <a:p>
            <a:pPr eaLnBrk="1" hangingPunct="1">
              <a:buFontTx/>
              <a:buNone/>
            </a:pPr>
            <a:r>
              <a:rPr lang="zh-CN" altLang="en-US" sz="2800" b="1">
                <a:effectLst>
                  <a:outerShdw blurRad="38100" dist="38100" dir="2700000" algn="tl">
                    <a:srgbClr val="000000">
                      <a:alpha val="43137"/>
                    </a:srgbClr>
                  </a:outerShdw>
                </a:effectLst>
              </a:rPr>
              <a:t>基本</a:t>
            </a:r>
            <a:r>
              <a:rPr lang="zh-CN" altLang="en-US" sz="2800" b="1">
                <a:solidFill>
                  <a:srgbClr val="CC0000"/>
                </a:solidFill>
                <a:effectLst>
                  <a:outerShdw blurRad="38100" dist="38100" dir="2700000" algn="tl">
                    <a:srgbClr val="000000">
                      <a:alpha val="43137"/>
                    </a:srgbClr>
                  </a:outerShdw>
                </a:effectLst>
              </a:rPr>
              <a:t>输入元件：</a:t>
            </a:r>
            <a:r>
              <a:rPr lang="zh-CN" altLang="en-US" sz="2800" b="1">
                <a:effectLst>
                  <a:outerShdw blurRad="38100" dist="38100" dir="2700000" algn="tl">
                    <a:srgbClr val="000000">
                      <a:alpha val="43137"/>
                    </a:srgbClr>
                  </a:outerShdw>
                </a:effectLst>
              </a:rPr>
              <a:t>按钮</a:t>
            </a:r>
            <a:r>
              <a:rPr lang="en-US" altLang="zh-CN" sz="2800" b="1">
                <a:effectLst>
                  <a:outerShdw blurRad="38100" dist="38100" dir="2700000" algn="tl">
                    <a:srgbClr val="000000">
                      <a:alpha val="43137"/>
                    </a:srgbClr>
                  </a:outerShdw>
                </a:effectLst>
              </a:rPr>
              <a:t>(Button)</a:t>
            </a:r>
            <a:r>
              <a:rPr lang="zh-CN" altLang="en-US" sz="2800" b="1">
                <a:effectLst>
                  <a:outerShdw blurRad="38100" dist="38100" dir="2700000" algn="tl">
                    <a:srgbClr val="000000">
                      <a:alpha val="43137"/>
                    </a:srgbClr>
                  </a:outerShdw>
                </a:effectLst>
              </a:rPr>
              <a:t>或开关（</a:t>
            </a:r>
            <a:r>
              <a:rPr lang="en-US" altLang="zh-CN" sz="2800" b="1">
                <a:effectLst>
                  <a:outerShdw blurRad="38100" dist="38100" dir="2700000" algn="tl">
                    <a:srgbClr val="000000">
                      <a:alpha val="43137"/>
                    </a:srgbClr>
                  </a:outerShdw>
                </a:effectLst>
              </a:rPr>
              <a:t>Switch</a:t>
            </a:r>
            <a:r>
              <a:rPr lang="zh-CN" altLang="en-US" sz="2800" b="1">
                <a:effectLst>
                  <a:outerShdw blurRad="38100" dist="38100" dir="2700000" algn="tl">
                    <a:srgbClr val="000000">
                      <a:alpha val="43137"/>
                    </a:srgbClr>
                  </a:outerShdw>
                </a:effectLst>
              </a:rPr>
              <a:t>）</a:t>
            </a:r>
          </a:p>
        </p:txBody>
      </p:sp>
      <p:sp>
        <p:nvSpPr>
          <p:cNvPr id="335876" name="Rectangle 4"/>
          <p:cNvSpPr>
            <a:spLocks noChangeAspect="1" noChangeArrowheads="1"/>
          </p:cNvSpPr>
          <p:nvPr/>
        </p:nvSpPr>
        <p:spPr bwMode="auto">
          <a:xfrm>
            <a:off x="2617083" y="5579093"/>
            <a:ext cx="625704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2400" b="1" dirty="0">
                <a:effectLst>
                  <a:outerShdw blurRad="38100" dist="38100" dir="2700000" algn="tl">
                    <a:srgbClr val="000000">
                      <a:alpha val="43137"/>
                    </a:srgbClr>
                  </a:outerShdw>
                </a:effectLst>
              </a:rPr>
              <a:t>无上拉电阻，只能检测到</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P0.x</a:t>
            </a:r>
            <a:r>
              <a:rPr kumimoji="0" lang="zh-CN" altLang="en-US" sz="2400" b="1" dirty="0">
                <a:effectLst>
                  <a:outerShdw blurRad="38100" dist="38100" dir="2700000" algn="tl">
                    <a:srgbClr val="000000">
                      <a:alpha val="43137"/>
                    </a:srgbClr>
                  </a:outerShdw>
                </a:effectLst>
              </a:rPr>
              <a:t>是否为</a:t>
            </a:r>
            <a:r>
              <a:rPr kumimoji="0" lang="en-US" altLang="zh-CN" sz="2400" b="1" dirty="0">
                <a:effectLst>
                  <a:outerShdw blurRad="38100" dist="38100" dir="2700000" algn="tl">
                    <a:srgbClr val="000000">
                      <a:alpha val="43137"/>
                    </a:srgbClr>
                  </a:outerShdw>
                </a:effectLst>
              </a:rPr>
              <a:t>0</a:t>
            </a:r>
            <a:r>
              <a:rPr kumimoji="0" lang="zh-CN" altLang="en-US" sz="2400" b="1" dirty="0">
                <a:effectLst>
                  <a:outerShdw blurRad="38100" dist="38100" dir="2700000" algn="tl">
                    <a:srgbClr val="000000">
                      <a:alpha val="43137"/>
                    </a:srgbClr>
                  </a:outerShdw>
                </a:effectLst>
              </a:rPr>
              <a:t>状态；</a:t>
            </a:r>
            <a:endParaRPr kumimoji="0" lang="en-US" altLang="zh-CN" sz="2400" b="1" dirty="0">
              <a:effectLst>
                <a:outerShdw blurRad="38100" dist="38100" dir="2700000" algn="tl">
                  <a:srgbClr val="000000">
                    <a:alpha val="43137"/>
                  </a:srgbClr>
                </a:outerShdw>
              </a:effectLst>
            </a:endParaRPr>
          </a:p>
          <a:p>
            <a:pPr eaLnBrk="1" hangingPunct="1">
              <a:spcBef>
                <a:spcPct val="0"/>
              </a:spcBef>
              <a:buFontTx/>
              <a:buNone/>
            </a:pPr>
            <a:r>
              <a:rPr kumimoji="0" lang="zh-CN" altLang="en-US" sz="2400" b="1" dirty="0">
                <a:effectLst>
                  <a:outerShdw blurRad="38100" dist="38100" dir="2700000" algn="tl">
                    <a:srgbClr val="000000">
                      <a:alpha val="43137"/>
                    </a:srgbClr>
                  </a:outerShdw>
                </a:effectLst>
              </a:rPr>
              <a:t>按键抬起时，</a:t>
            </a:r>
            <a:r>
              <a:rPr kumimoji="0" lang="en-US" altLang="zh-CN" sz="2400" b="1" dirty="0" err="1">
                <a:effectLst>
                  <a:outerShdw blurRad="38100" dist="38100" dir="2700000" algn="tl">
                    <a:srgbClr val="000000">
                      <a:alpha val="43137"/>
                    </a:srgbClr>
                  </a:outerShdw>
                </a:effectLst>
              </a:rPr>
              <a:t>Px.n</a:t>
            </a:r>
            <a:r>
              <a:rPr kumimoji="0" lang="zh-CN" altLang="en-US" sz="2400" b="1" dirty="0">
                <a:effectLst>
                  <a:outerShdw blurRad="38100" dist="38100" dir="2700000" algn="tl">
                    <a:srgbClr val="000000">
                      <a:alpha val="43137"/>
                    </a:srgbClr>
                  </a:outerShdw>
                </a:effectLst>
              </a:rPr>
              <a:t>状态不确定，按下为</a:t>
            </a:r>
            <a:r>
              <a:rPr kumimoji="0" lang="en-US" altLang="zh-CN" sz="2400" b="1" dirty="0">
                <a:effectLst>
                  <a:outerShdw blurRad="38100" dist="38100" dir="2700000" algn="tl">
                    <a:srgbClr val="000000">
                      <a:alpha val="43137"/>
                    </a:srgbClr>
                  </a:outerShdw>
                </a:effectLst>
              </a:rPr>
              <a:t>0</a:t>
            </a:r>
            <a:r>
              <a:rPr kumimoji="0" lang="zh-CN" altLang="en-US" sz="2400" b="1" dirty="0">
                <a:effectLst>
                  <a:outerShdw blurRad="38100" dist="38100" dir="2700000" algn="tl">
                    <a:srgbClr val="000000">
                      <a:alpha val="43137"/>
                    </a:srgbClr>
                  </a:outerShdw>
                </a:effectLst>
              </a:rPr>
              <a:t>。</a:t>
            </a:r>
          </a:p>
        </p:txBody>
      </p:sp>
      <p:sp>
        <p:nvSpPr>
          <p:cNvPr id="2" name="对话气泡: 矩形 1">
            <a:extLst>
              <a:ext uri="{FF2B5EF4-FFF2-40B4-BE49-F238E27FC236}">
                <a16:creationId xmlns:a16="http://schemas.microsoft.com/office/drawing/2014/main" id="{B185D2D3-60AC-47B9-B6E1-10D0214C01A8}"/>
              </a:ext>
            </a:extLst>
          </p:cNvPr>
          <p:cNvSpPr/>
          <p:nvPr/>
        </p:nvSpPr>
        <p:spPr>
          <a:xfrm>
            <a:off x="5147733" y="2047059"/>
            <a:ext cx="2506133" cy="1202541"/>
          </a:xfrm>
          <a:prstGeom prst="wedgeRectCallout">
            <a:avLst>
              <a:gd name="adj1" fmla="val -39752"/>
              <a:gd name="adj2" fmla="val 9817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有上拉电阻</a:t>
            </a:r>
            <a:endParaRPr lang="en-US" altLang="zh-CN"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r>
              <a:rPr lang="zh-CN" altLang="en-US"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按键抬起是</a:t>
            </a:r>
            <a:r>
              <a:rPr lang="en-US" altLang="zh-CN"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P0.x</a:t>
            </a:r>
            <a:r>
              <a:rPr lang="zh-CN" altLang="en-US"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为</a:t>
            </a:r>
            <a:r>
              <a:rPr lang="en-US" altLang="zh-CN"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1</a:t>
            </a:r>
            <a:r>
              <a:rPr lang="zh-CN" altLang="en-US"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，按下为</a:t>
            </a:r>
            <a:r>
              <a:rPr lang="en-US" altLang="zh-CN"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0</a:t>
            </a:r>
            <a:endParaRPr lang="zh-CN" altLang="en-US"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3" name="箭头: 上 2">
            <a:extLst>
              <a:ext uri="{FF2B5EF4-FFF2-40B4-BE49-F238E27FC236}">
                <a16:creationId xmlns:a16="http://schemas.microsoft.com/office/drawing/2014/main" id="{C8BEC7D4-A58C-4521-9298-09F1C925702C}"/>
              </a:ext>
            </a:extLst>
          </p:cNvPr>
          <p:cNvSpPr/>
          <p:nvPr/>
        </p:nvSpPr>
        <p:spPr>
          <a:xfrm>
            <a:off x="5364163" y="4920805"/>
            <a:ext cx="270934" cy="58233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Rectangle 2">
            <a:extLst>
              <a:ext uri="{FF2B5EF4-FFF2-40B4-BE49-F238E27FC236}">
                <a16:creationId xmlns:a16="http://schemas.microsoft.com/office/drawing/2014/main" id="{5E38A52D-26E4-4546-8D6E-0575C7F1C955}"/>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35876"/>
                                        </p:tgtEl>
                                        <p:attrNameLst>
                                          <p:attrName>style.visibility</p:attrName>
                                        </p:attrNameLst>
                                      </p:cBhvr>
                                      <p:to>
                                        <p:strVal val="visible"/>
                                      </p:to>
                                    </p:set>
                                    <p:animEffect transition="in" filter="randombar(horizontal)">
                                      <p:cBhvr>
                                        <p:cTn id="17" dur="500"/>
                                        <p:tgtEl>
                                          <p:spTgt spid="3358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5876" grpId="0"/>
      <p:bldP spid="2" grpId="0" animBg="1"/>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70FC88B4-2C6F-4A25-83D8-15412AA63FE8}"/>
              </a:ext>
            </a:extLst>
          </p:cNvPr>
          <p:cNvSpPr>
            <a:spLocks noChangeAspect="1" noChangeArrowheads="1"/>
          </p:cNvSpPr>
          <p:nvPr/>
        </p:nvSpPr>
        <p:spPr bwMode="auto">
          <a:xfrm>
            <a:off x="801567" y="4376612"/>
            <a:ext cx="7376561"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2000" b="1" dirty="0">
                <a:solidFill>
                  <a:srgbClr val="FF0000"/>
                </a:solidFill>
              </a:rPr>
              <a:t>有上拉电阻时</a:t>
            </a:r>
            <a:r>
              <a:rPr kumimoji="0" lang="zh-CN" altLang="en-US" sz="2000" b="1" dirty="0"/>
              <a:t>，可以检测到</a:t>
            </a:r>
            <a:r>
              <a:rPr kumimoji="0" lang="en-US" altLang="zh-CN" sz="2000" b="1" dirty="0"/>
              <a:t>1</a:t>
            </a:r>
            <a:r>
              <a:rPr kumimoji="0" lang="zh-CN" altLang="en-US" sz="2000" b="1" dirty="0"/>
              <a:t>和</a:t>
            </a:r>
            <a:r>
              <a:rPr kumimoji="0" lang="en-US" altLang="zh-CN" sz="2000" b="1" dirty="0"/>
              <a:t>0</a:t>
            </a:r>
            <a:r>
              <a:rPr kumimoji="0" lang="zh-CN" altLang="en-US" sz="2000" b="1" dirty="0"/>
              <a:t>两种状态，其中按键未按下为</a:t>
            </a:r>
            <a:r>
              <a:rPr kumimoji="0" lang="en-US" altLang="zh-CN" sz="2000" b="1" dirty="0"/>
              <a:t>1</a:t>
            </a:r>
            <a:r>
              <a:rPr kumimoji="0" lang="zh-CN" altLang="en-US" sz="2000" b="1" dirty="0"/>
              <a:t>，按下为</a:t>
            </a:r>
            <a:r>
              <a:rPr kumimoji="0" lang="en-US" altLang="zh-CN" sz="2000" b="1" dirty="0"/>
              <a:t>0</a:t>
            </a:r>
            <a:r>
              <a:rPr kumimoji="0" lang="zh-CN" altLang="en-US" sz="2000" b="1" dirty="0"/>
              <a:t>；</a:t>
            </a:r>
            <a:endParaRPr kumimoji="0" lang="en-US" altLang="zh-CN" sz="2000" b="1" dirty="0"/>
          </a:p>
          <a:p>
            <a:pPr eaLnBrk="1" hangingPunct="1">
              <a:spcBef>
                <a:spcPct val="0"/>
              </a:spcBef>
              <a:buFontTx/>
              <a:buNone/>
            </a:pPr>
            <a:r>
              <a:rPr kumimoji="0" lang="zh-CN" altLang="en-US" sz="2000" b="1" dirty="0">
                <a:solidFill>
                  <a:srgbClr val="FF0000"/>
                </a:solidFill>
              </a:rPr>
              <a:t>无上拉电阻时</a:t>
            </a:r>
            <a:r>
              <a:rPr kumimoji="0" lang="zh-CN" altLang="en-US" sz="2000" b="1" dirty="0"/>
              <a:t>，只能检测到是否为</a:t>
            </a:r>
            <a:r>
              <a:rPr kumimoji="0" lang="en-US" altLang="zh-CN" sz="2000" b="1" dirty="0"/>
              <a:t>0</a:t>
            </a:r>
            <a:r>
              <a:rPr kumimoji="0" lang="zh-CN" altLang="en-US" sz="2000" b="1" dirty="0"/>
              <a:t>状态，其中按键未按下为</a:t>
            </a:r>
            <a:r>
              <a:rPr kumimoji="0" lang="zh-CN" altLang="en-US" sz="2000" b="1" dirty="0">
                <a:highlight>
                  <a:srgbClr val="FFFF00"/>
                </a:highlight>
              </a:rPr>
              <a:t>不确定状态</a:t>
            </a:r>
            <a:r>
              <a:rPr kumimoji="0" lang="zh-CN" altLang="en-US" sz="2000" b="1" dirty="0"/>
              <a:t>，按下为</a:t>
            </a:r>
            <a:r>
              <a:rPr kumimoji="0" lang="en-US" altLang="zh-CN" sz="2000" b="1" dirty="0"/>
              <a:t>0</a:t>
            </a:r>
            <a:r>
              <a:rPr kumimoji="0" lang="zh-CN" altLang="en-US" sz="2000" b="1" dirty="0"/>
              <a:t>。</a:t>
            </a:r>
          </a:p>
        </p:txBody>
      </p:sp>
      <p:pic>
        <p:nvPicPr>
          <p:cNvPr id="3" name="Picture 6">
            <a:extLst>
              <a:ext uri="{FF2B5EF4-FFF2-40B4-BE49-F238E27FC236}">
                <a16:creationId xmlns:a16="http://schemas.microsoft.com/office/drawing/2014/main" id="{E0775E72-EF00-416F-92D3-B1857394C692}"/>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21881" t="26625" r="28717" b="21127"/>
          <a:stretch>
            <a:fillRect/>
          </a:stretch>
        </p:blipFill>
        <p:spPr bwMode="auto">
          <a:xfrm>
            <a:off x="5005386" y="1113890"/>
            <a:ext cx="4202814" cy="2772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BB83420A-5BE3-4A77-84FA-9586A49A782E}"/>
              </a:ext>
            </a:extLst>
          </p:cNvPr>
          <p:cNvSpPr txBox="1"/>
          <p:nvPr/>
        </p:nvSpPr>
        <p:spPr>
          <a:xfrm>
            <a:off x="842398" y="3938608"/>
            <a:ext cx="3647450" cy="400110"/>
          </a:xfrm>
          <a:prstGeom prst="rect">
            <a:avLst/>
          </a:prstGeom>
          <a:noFill/>
        </p:spPr>
        <p:txBody>
          <a:bodyPr wrap="square">
            <a:spAutoFit/>
          </a:bodyPr>
          <a:lstStyle/>
          <a:p>
            <a:r>
              <a:rPr kumimoji="0" lang="en-US" altLang="zh-CN" sz="2000" b="1" dirty="0">
                <a:solidFill>
                  <a:srgbClr val="0000FF"/>
                </a:solidFill>
              </a:rPr>
              <a:t>P0</a:t>
            </a:r>
            <a:r>
              <a:rPr kumimoji="0" lang="zh-CN" altLang="en-US" sz="2000" b="1" dirty="0">
                <a:solidFill>
                  <a:srgbClr val="0000FF"/>
                </a:solidFill>
              </a:rPr>
              <a:t>口的两种接口电路有差别</a:t>
            </a:r>
            <a:endParaRPr lang="zh-CN" altLang="en-US" sz="2000" b="1" dirty="0">
              <a:solidFill>
                <a:srgbClr val="0000FF"/>
              </a:solidFill>
            </a:endParaRPr>
          </a:p>
        </p:txBody>
      </p:sp>
      <p:sp>
        <p:nvSpPr>
          <p:cNvPr id="5" name="文本框 4">
            <a:extLst>
              <a:ext uri="{FF2B5EF4-FFF2-40B4-BE49-F238E27FC236}">
                <a16:creationId xmlns:a16="http://schemas.microsoft.com/office/drawing/2014/main" id="{B4117155-0173-403C-B466-698FD8F99E69}"/>
              </a:ext>
            </a:extLst>
          </p:cNvPr>
          <p:cNvSpPr txBox="1"/>
          <p:nvPr/>
        </p:nvSpPr>
        <p:spPr>
          <a:xfrm>
            <a:off x="6024942" y="3886200"/>
            <a:ext cx="2276660" cy="369332"/>
          </a:xfrm>
          <a:prstGeom prst="rect">
            <a:avLst/>
          </a:prstGeom>
          <a:noFill/>
        </p:spPr>
        <p:txBody>
          <a:bodyPr wrap="square">
            <a:spAutoFit/>
          </a:bodyPr>
          <a:lstStyle/>
          <a:p>
            <a:r>
              <a:rPr kumimoji="0" lang="en-US" altLang="zh-CN" sz="1800" b="1" dirty="0">
                <a:effectLst>
                  <a:outerShdw blurRad="38100" dist="38100" dir="2700000" algn="tl">
                    <a:srgbClr val="000000">
                      <a:alpha val="43137"/>
                    </a:srgbClr>
                  </a:outerShdw>
                </a:effectLst>
              </a:rPr>
              <a:t>P0</a:t>
            </a:r>
            <a:r>
              <a:rPr kumimoji="0" lang="zh-CN" altLang="en-US" sz="1800" b="1" dirty="0">
                <a:effectLst>
                  <a:outerShdw blurRad="38100" dist="38100" dir="2700000" algn="tl">
                    <a:srgbClr val="000000">
                      <a:alpha val="43137"/>
                    </a:srgbClr>
                  </a:outerShdw>
                </a:effectLst>
              </a:rPr>
              <a:t>口内部结构</a:t>
            </a:r>
            <a:endParaRPr lang="zh-CN" altLang="en-US" sz="1800" b="1" dirty="0">
              <a:effectLst>
                <a:outerShdw blurRad="38100" dist="38100" dir="2700000" algn="tl">
                  <a:srgbClr val="000000">
                    <a:alpha val="43137"/>
                  </a:srgbClr>
                </a:outerShdw>
              </a:effectLst>
            </a:endParaRPr>
          </a:p>
        </p:txBody>
      </p:sp>
      <p:sp>
        <p:nvSpPr>
          <p:cNvPr id="6" name="文本框 5">
            <a:extLst>
              <a:ext uri="{FF2B5EF4-FFF2-40B4-BE49-F238E27FC236}">
                <a16:creationId xmlns:a16="http://schemas.microsoft.com/office/drawing/2014/main" id="{842F9537-72C4-4E31-8021-F451EFC459A5}"/>
              </a:ext>
            </a:extLst>
          </p:cNvPr>
          <p:cNvSpPr txBox="1"/>
          <p:nvPr/>
        </p:nvSpPr>
        <p:spPr>
          <a:xfrm>
            <a:off x="582985" y="927116"/>
            <a:ext cx="1012564" cy="461665"/>
          </a:xfrm>
          <a:prstGeom prst="rect">
            <a:avLst/>
          </a:prstGeom>
          <a:noFill/>
        </p:spPr>
        <p:txBody>
          <a:bodyPr wrap="square">
            <a:spAutoFit/>
          </a:bodyPr>
          <a:lstStyle/>
          <a:p>
            <a:r>
              <a:rPr kumimoji="0" lang="en-US" altLang="zh-CN" sz="2400" b="1" dirty="0">
                <a:solidFill>
                  <a:srgbClr val="FF0000"/>
                </a:solidFill>
              </a:rPr>
              <a:t>P0</a:t>
            </a:r>
            <a:r>
              <a:rPr kumimoji="0" lang="zh-CN" altLang="en-US" sz="2400" b="1" dirty="0">
                <a:solidFill>
                  <a:srgbClr val="FF0000"/>
                </a:solidFill>
              </a:rPr>
              <a:t>口</a:t>
            </a:r>
            <a:endParaRPr lang="zh-CN" altLang="en-US" dirty="0"/>
          </a:p>
        </p:txBody>
      </p:sp>
      <p:sp>
        <p:nvSpPr>
          <p:cNvPr id="7" name="箭头: 下 6">
            <a:extLst>
              <a:ext uri="{FF2B5EF4-FFF2-40B4-BE49-F238E27FC236}">
                <a16:creationId xmlns:a16="http://schemas.microsoft.com/office/drawing/2014/main" id="{BBB9A925-50D7-4E8D-BADD-0FB1682D704C}"/>
              </a:ext>
            </a:extLst>
          </p:cNvPr>
          <p:cNvSpPr/>
          <p:nvPr/>
        </p:nvSpPr>
        <p:spPr bwMode="auto">
          <a:xfrm>
            <a:off x="3054073" y="3169433"/>
            <a:ext cx="235670" cy="489779"/>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pic>
        <p:nvPicPr>
          <p:cNvPr id="8" name="图片 7" descr="图示, 示意图&#10;&#10;描述已自动生成">
            <a:extLst>
              <a:ext uri="{FF2B5EF4-FFF2-40B4-BE49-F238E27FC236}">
                <a16:creationId xmlns:a16="http://schemas.microsoft.com/office/drawing/2014/main" id="{07B34A12-BF4E-4942-B8F6-705C064B400E}"/>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220056" y="668512"/>
            <a:ext cx="3654541" cy="2971753"/>
          </a:xfrm>
          <a:prstGeom prst="rect">
            <a:avLst/>
          </a:prstGeom>
        </p:spPr>
      </p:pic>
      <p:sp>
        <p:nvSpPr>
          <p:cNvPr id="9" name="文本框 8">
            <a:extLst>
              <a:ext uri="{FF2B5EF4-FFF2-40B4-BE49-F238E27FC236}">
                <a16:creationId xmlns:a16="http://schemas.microsoft.com/office/drawing/2014/main" id="{B0B2BF74-7EB7-474B-9526-281DDA3B8019}"/>
              </a:ext>
            </a:extLst>
          </p:cNvPr>
          <p:cNvSpPr txBox="1"/>
          <p:nvPr/>
        </p:nvSpPr>
        <p:spPr>
          <a:xfrm>
            <a:off x="842398" y="5881116"/>
            <a:ext cx="7565002" cy="707886"/>
          </a:xfrm>
          <a:prstGeom prst="rect">
            <a:avLst/>
          </a:prstGeom>
          <a:noFill/>
        </p:spPr>
        <p:txBody>
          <a:bodyPr wrap="square">
            <a:spAutoFit/>
          </a:bodyPr>
          <a:lstStyle/>
          <a:p>
            <a:r>
              <a:rPr kumimoji="0" lang="en-US" altLang="zh-CN" sz="2000" b="1" dirty="0">
                <a:solidFill>
                  <a:srgbClr val="0000FF"/>
                </a:solidFill>
              </a:rPr>
              <a:t>P0</a:t>
            </a:r>
            <a:r>
              <a:rPr kumimoji="0" lang="zh-CN" altLang="en-US" sz="2000" b="1" dirty="0">
                <a:solidFill>
                  <a:srgbClr val="0000FF"/>
                </a:solidFill>
              </a:rPr>
              <a:t>口内部结构为漏极开路状态，有外部上拉电阻时，引脚才有确定的电平状态。</a:t>
            </a:r>
            <a:endParaRPr lang="zh-CN" altLang="en-US" sz="2000" b="1" dirty="0">
              <a:solidFill>
                <a:srgbClr val="0000FF"/>
              </a:solidFill>
            </a:endParaRPr>
          </a:p>
        </p:txBody>
      </p:sp>
      <p:sp>
        <p:nvSpPr>
          <p:cNvPr id="10" name="Rectangle 2">
            <a:extLst>
              <a:ext uri="{FF2B5EF4-FFF2-40B4-BE49-F238E27FC236}">
                <a16:creationId xmlns:a16="http://schemas.microsoft.com/office/drawing/2014/main" id="{32E31233-647F-4E7E-8155-824D78F5567C}"/>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979024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412D370-D87D-4EA2-A289-808A35D60739}"/>
              </a:ext>
            </a:extLst>
          </p:cNvPr>
          <p:cNvSpPr>
            <a:spLocks noChangeAspect="1" noChangeArrowheads="1"/>
          </p:cNvSpPr>
          <p:nvPr/>
        </p:nvSpPr>
        <p:spPr bwMode="auto">
          <a:xfrm>
            <a:off x="728252" y="904091"/>
            <a:ext cx="26158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400" b="1" dirty="0">
                <a:solidFill>
                  <a:srgbClr val="FF0000"/>
                </a:solidFill>
              </a:rPr>
              <a:t>P1</a:t>
            </a:r>
            <a:r>
              <a:rPr lang="zh-CN" altLang="en-US" sz="2400" b="1" dirty="0">
                <a:solidFill>
                  <a:srgbClr val="FF0000"/>
                </a:solidFill>
              </a:rPr>
              <a:t>～</a:t>
            </a:r>
            <a:r>
              <a:rPr lang="en-US" altLang="zh-CN" sz="2400" b="1" dirty="0">
                <a:solidFill>
                  <a:srgbClr val="FF0000"/>
                </a:solidFill>
              </a:rPr>
              <a:t>P3</a:t>
            </a:r>
            <a:r>
              <a:rPr lang="zh-CN" altLang="en-US" sz="2400" b="1" dirty="0">
                <a:solidFill>
                  <a:srgbClr val="FF0000"/>
                </a:solidFill>
              </a:rPr>
              <a:t>口</a:t>
            </a:r>
            <a:r>
              <a:rPr lang="zh-CN" altLang="en-US" sz="2400" b="1" dirty="0">
                <a:solidFill>
                  <a:srgbClr val="CC0000"/>
                </a:solidFill>
              </a:rPr>
              <a:t>：</a:t>
            </a:r>
            <a:endParaRPr lang="zh-CN" altLang="en-US" sz="2400" dirty="0"/>
          </a:p>
        </p:txBody>
      </p:sp>
      <p:sp>
        <p:nvSpPr>
          <p:cNvPr id="3" name="Rectangle 4">
            <a:extLst>
              <a:ext uri="{FF2B5EF4-FFF2-40B4-BE49-F238E27FC236}">
                <a16:creationId xmlns:a16="http://schemas.microsoft.com/office/drawing/2014/main" id="{C8E2A2E9-EC31-475B-BFC0-D9294DC81AEB}"/>
              </a:ext>
            </a:extLst>
          </p:cNvPr>
          <p:cNvSpPr>
            <a:spLocks noChangeAspect="1" noChangeArrowheads="1"/>
          </p:cNvSpPr>
          <p:nvPr/>
        </p:nvSpPr>
        <p:spPr bwMode="auto">
          <a:xfrm>
            <a:off x="5379248" y="1944246"/>
            <a:ext cx="393777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2000" b="1" dirty="0">
                <a:solidFill>
                  <a:srgbClr val="FF0000"/>
                </a:solidFill>
              </a:rPr>
              <a:t>两种接口方式没有差别</a:t>
            </a:r>
            <a:endParaRPr kumimoji="0" lang="en-US" altLang="zh-CN" sz="2000" b="1" dirty="0">
              <a:solidFill>
                <a:srgbClr val="FF0000"/>
              </a:solidFill>
            </a:endParaRPr>
          </a:p>
          <a:p>
            <a:pPr eaLnBrk="1" hangingPunct="1">
              <a:spcBef>
                <a:spcPct val="0"/>
              </a:spcBef>
              <a:buFontTx/>
              <a:buNone/>
            </a:pPr>
            <a:r>
              <a:rPr kumimoji="0" lang="zh-CN" altLang="en-US" sz="2000" dirty="0"/>
              <a:t>有上拉电阻可检测</a:t>
            </a:r>
            <a:r>
              <a:rPr kumimoji="0" lang="en-US" altLang="zh-CN" sz="2000" dirty="0"/>
              <a:t>0</a:t>
            </a:r>
            <a:r>
              <a:rPr kumimoji="0" lang="zh-CN" altLang="en-US" sz="2000" dirty="0"/>
              <a:t>和</a:t>
            </a:r>
            <a:r>
              <a:rPr kumimoji="0" lang="en-US" altLang="zh-CN" sz="2000" dirty="0"/>
              <a:t>1</a:t>
            </a:r>
            <a:r>
              <a:rPr kumimoji="0" lang="zh-CN" altLang="en-US" sz="2000" dirty="0"/>
              <a:t>两种状态</a:t>
            </a:r>
            <a:endParaRPr kumimoji="0" lang="en-US" altLang="zh-CN" sz="2000" dirty="0"/>
          </a:p>
          <a:p>
            <a:pPr eaLnBrk="1" hangingPunct="1">
              <a:spcBef>
                <a:spcPct val="0"/>
              </a:spcBef>
              <a:buFontTx/>
              <a:buNone/>
            </a:pPr>
            <a:r>
              <a:rPr kumimoji="0" lang="zh-CN" altLang="en-US" sz="2000" dirty="0"/>
              <a:t>无上拉电阻可检测</a:t>
            </a:r>
            <a:r>
              <a:rPr kumimoji="0" lang="en-US" altLang="zh-CN" sz="2000" dirty="0"/>
              <a:t>0</a:t>
            </a:r>
            <a:r>
              <a:rPr kumimoji="0" lang="zh-CN" altLang="en-US" sz="2000" dirty="0"/>
              <a:t>和</a:t>
            </a:r>
            <a:r>
              <a:rPr kumimoji="0" lang="en-US" altLang="zh-CN" sz="2000" dirty="0"/>
              <a:t>1</a:t>
            </a:r>
            <a:r>
              <a:rPr kumimoji="0" lang="zh-CN" altLang="en-US" sz="2000" dirty="0"/>
              <a:t>两种状态</a:t>
            </a:r>
          </a:p>
        </p:txBody>
      </p:sp>
      <p:pic>
        <p:nvPicPr>
          <p:cNvPr id="4" name="Picture 5" descr="开关量">
            <a:extLst>
              <a:ext uri="{FF2B5EF4-FFF2-40B4-BE49-F238E27FC236}">
                <a16:creationId xmlns:a16="http://schemas.microsoft.com/office/drawing/2014/main" id="{72D02F34-EC65-4C5F-A39F-CB2EDC61F253}"/>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17355" t="20436" r="59256" b="53658"/>
          <a:stretch>
            <a:fillRect/>
          </a:stretch>
        </p:blipFill>
        <p:spPr bwMode="auto">
          <a:xfrm>
            <a:off x="1952474" y="977627"/>
            <a:ext cx="2963851" cy="2295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a16="http://schemas.microsoft.com/office/drawing/2014/main" id="{CB8922D7-D91E-474C-BAEE-B53C686D1B8F}"/>
              </a:ext>
            </a:extLst>
          </p:cNvPr>
          <p:cNvSpPr/>
          <p:nvPr/>
        </p:nvSpPr>
        <p:spPr bwMode="auto">
          <a:xfrm>
            <a:off x="2540000" y="2286143"/>
            <a:ext cx="292291" cy="131937"/>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rPr>
              <a:t>P1,0</a:t>
            </a:r>
            <a:endParaRPr kumimoji="1" lang="zh-CN" altLang="en-US" sz="1200" b="0" i="0" u="none" strike="noStrike" cap="none" normalizeH="0" baseline="0" dirty="0">
              <a:ln>
                <a:noFill/>
              </a:ln>
              <a:solidFill>
                <a:schemeClr val="tx1"/>
              </a:solidFill>
              <a:effectLst/>
              <a:latin typeface="Times New Roman" pitchFamily="18" charset="0"/>
              <a:ea typeface="宋体" pitchFamily="2" charset="-122"/>
            </a:endParaRPr>
          </a:p>
        </p:txBody>
      </p:sp>
      <p:sp>
        <p:nvSpPr>
          <p:cNvPr id="6" name="矩形 5">
            <a:extLst>
              <a:ext uri="{FF2B5EF4-FFF2-40B4-BE49-F238E27FC236}">
                <a16:creationId xmlns:a16="http://schemas.microsoft.com/office/drawing/2014/main" id="{23259818-EDAB-4DA4-B847-A2AE7334353C}"/>
              </a:ext>
            </a:extLst>
          </p:cNvPr>
          <p:cNvSpPr/>
          <p:nvPr/>
        </p:nvSpPr>
        <p:spPr bwMode="auto">
          <a:xfrm>
            <a:off x="2553139" y="2738686"/>
            <a:ext cx="283826" cy="226541"/>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rPr>
              <a:t>P1,n</a:t>
            </a:r>
            <a:endParaRPr kumimoji="1" lang="zh-CN" altLang="en-US" sz="1200" b="0" i="0" u="none" strike="noStrike" cap="none" normalizeH="0" baseline="0" dirty="0">
              <a:ln>
                <a:noFill/>
              </a:ln>
              <a:solidFill>
                <a:schemeClr val="tx1"/>
              </a:solidFill>
              <a:effectLst/>
              <a:latin typeface="Times New Roman" pitchFamily="18" charset="0"/>
              <a:ea typeface="宋体" pitchFamily="2" charset="-122"/>
            </a:endParaRPr>
          </a:p>
        </p:txBody>
      </p:sp>
      <p:sp>
        <p:nvSpPr>
          <p:cNvPr id="7" name="Rectangle 4">
            <a:extLst>
              <a:ext uri="{FF2B5EF4-FFF2-40B4-BE49-F238E27FC236}">
                <a16:creationId xmlns:a16="http://schemas.microsoft.com/office/drawing/2014/main" id="{07FF3A34-6A8B-412B-95CE-F748FCA19018}"/>
              </a:ext>
            </a:extLst>
          </p:cNvPr>
          <p:cNvSpPr>
            <a:spLocks noChangeAspect="1" noChangeArrowheads="1"/>
          </p:cNvSpPr>
          <p:nvPr/>
        </p:nvSpPr>
        <p:spPr bwMode="auto">
          <a:xfrm>
            <a:off x="726273" y="1659551"/>
            <a:ext cx="160858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1600" b="1" dirty="0">
                <a:solidFill>
                  <a:srgbClr val="0000FF"/>
                </a:solidFill>
                <a:effectLst>
                  <a:outerShdw blurRad="38100" dist="38100" dir="2700000" algn="tl">
                    <a:srgbClr val="000000">
                      <a:alpha val="43137"/>
                    </a:srgbClr>
                  </a:outerShdw>
                </a:effectLst>
              </a:rPr>
              <a:t>以</a:t>
            </a:r>
            <a:r>
              <a:rPr kumimoji="0" lang="en-US" altLang="zh-CN" sz="1600" b="1" dirty="0">
                <a:solidFill>
                  <a:srgbClr val="0000FF"/>
                </a:solidFill>
                <a:effectLst>
                  <a:outerShdw blurRad="38100" dist="38100" dir="2700000" algn="tl">
                    <a:srgbClr val="000000">
                      <a:alpha val="43137"/>
                    </a:srgbClr>
                  </a:outerShdw>
                </a:effectLst>
              </a:rPr>
              <a:t>P1</a:t>
            </a:r>
            <a:r>
              <a:rPr kumimoji="0" lang="zh-CN" altLang="en-US" sz="1600" b="1" dirty="0">
                <a:solidFill>
                  <a:srgbClr val="0000FF"/>
                </a:solidFill>
                <a:effectLst>
                  <a:outerShdw blurRad="38100" dist="38100" dir="2700000" algn="tl">
                    <a:srgbClr val="000000">
                      <a:alpha val="43137"/>
                    </a:srgbClr>
                  </a:outerShdw>
                </a:effectLst>
              </a:rPr>
              <a:t>口为例</a:t>
            </a:r>
          </a:p>
        </p:txBody>
      </p:sp>
      <p:sp>
        <p:nvSpPr>
          <p:cNvPr id="8" name="Rectangle 4">
            <a:extLst>
              <a:ext uri="{FF2B5EF4-FFF2-40B4-BE49-F238E27FC236}">
                <a16:creationId xmlns:a16="http://schemas.microsoft.com/office/drawing/2014/main" id="{5F00AF05-18A3-4E91-905E-A206617285C1}"/>
              </a:ext>
            </a:extLst>
          </p:cNvPr>
          <p:cNvSpPr>
            <a:spLocks noChangeAspect="1" noChangeArrowheads="1"/>
          </p:cNvSpPr>
          <p:nvPr/>
        </p:nvSpPr>
        <p:spPr bwMode="auto">
          <a:xfrm>
            <a:off x="895542" y="5888018"/>
            <a:ext cx="775315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2000" dirty="0">
                <a:solidFill>
                  <a:srgbClr val="0000FF"/>
                </a:solidFill>
              </a:rPr>
              <a:t>P1</a:t>
            </a:r>
            <a:r>
              <a:rPr kumimoji="0" lang="zh-CN" altLang="en-US" sz="2000" dirty="0">
                <a:solidFill>
                  <a:srgbClr val="0000FF"/>
                </a:solidFill>
              </a:rPr>
              <a:t>～</a:t>
            </a:r>
            <a:r>
              <a:rPr kumimoji="0" lang="en-US" altLang="zh-CN" sz="2000" dirty="0">
                <a:solidFill>
                  <a:srgbClr val="0000FF"/>
                </a:solidFill>
              </a:rPr>
              <a:t>P3</a:t>
            </a:r>
            <a:r>
              <a:rPr kumimoji="0" lang="zh-CN" altLang="en-US" sz="2000" dirty="0">
                <a:solidFill>
                  <a:srgbClr val="0000FF"/>
                </a:solidFill>
              </a:rPr>
              <a:t>口内部有上拉电阻，引脚已有确定电平状态。</a:t>
            </a:r>
          </a:p>
        </p:txBody>
      </p:sp>
      <p:grpSp>
        <p:nvGrpSpPr>
          <p:cNvPr id="9" name="组合 8">
            <a:extLst>
              <a:ext uri="{FF2B5EF4-FFF2-40B4-BE49-F238E27FC236}">
                <a16:creationId xmlns:a16="http://schemas.microsoft.com/office/drawing/2014/main" id="{4B6595B2-876B-4646-8D62-5C6307B8E0FF}"/>
              </a:ext>
            </a:extLst>
          </p:cNvPr>
          <p:cNvGrpSpPr/>
          <p:nvPr/>
        </p:nvGrpSpPr>
        <p:grpSpPr>
          <a:xfrm>
            <a:off x="751997" y="3514240"/>
            <a:ext cx="8040246" cy="2260508"/>
            <a:chOff x="1003463" y="3710781"/>
            <a:chExt cx="7666170" cy="1712913"/>
          </a:xfrm>
        </p:grpSpPr>
        <p:pic>
          <p:nvPicPr>
            <p:cNvPr id="10" name="Picture 7">
              <a:extLst>
                <a:ext uri="{FF2B5EF4-FFF2-40B4-BE49-F238E27FC236}">
                  <a16:creationId xmlns:a16="http://schemas.microsoft.com/office/drawing/2014/main" id="{E20685FE-C15B-4CD3-9C6F-4D182D7F69D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03463" y="3779806"/>
              <a:ext cx="2333625" cy="156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8">
              <a:extLst>
                <a:ext uri="{FF2B5EF4-FFF2-40B4-BE49-F238E27FC236}">
                  <a16:creationId xmlns:a16="http://schemas.microsoft.com/office/drawing/2014/main" id="{AB3B7587-276D-4892-B8A4-EEDA54FAF13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39183" y="3710781"/>
              <a:ext cx="2330450" cy="171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6">
              <a:extLst>
                <a:ext uri="{FF2B5EF4-FFF2-40B4-BE49-F238E27FC236}">
                  <a16:creationId xmlns:a16="http://schemas.microsoft.com/office/drawing/2014/main" id="{187F3F63-72A6-47B9-8030-FAE604D0764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642206" y="3734594"/>
              <a:ext cx="2476500" cy="168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椭圆 12">
              <a:extLst>
                <a:ext uri="{FF2B5EF4-FFF2-40B4-BE49-F238E27FC236}">
                  <a16:creationId xmlns:a16="http://schemas.microsoft.com/office/drawing/2014/main" id="{6365FE9D-E0CB-4D8F-9B11-912332A78C90}"/>
                </a:ext>
              </a:extLst>
            </p:cNvPr>
            <p:cNvSpPr/>
            <p:nvPr/>
          </p:nvSpPr>
          <p:spPr bwMode="auto">
            <a:xfrm>
              <a:off x="2468940" y="4030485"/>
              <a:ext cx="292231" cy="379855"/>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w="57150">
                  <a:solidFill>
                    <a:schemeClr val="tx1"/>
                  </a:solidFill>
                </a:ln>
                <a:solidFill>
                  <a:schemeClr val="tx1"/>
                </a:solidFill>
                <a:effectLst/>
                <a:latin typeface="Times New Roman" pitchFamily="18" charset="0"/>
                <a:ea typeface="宋体" pitchFamily="2" charset="-122"/>
              </a:endParaRPr>
            </a:p>
          </p:txBody>
        </p:sp>
        <p:sp>
          <p:nvSpPr>
            <p:cNvPr id="14" name="椭圆 13">
              <a:extLst>
                <a:ext uri="{FF2B5EF4-FFF2-40B4-BE49-F238E27FC236}">
                  <a16:creationId xmlns:a16="http://schemas.microsoft.com/office/drawing/2014/main" id="{8780157F-63A8-481E-87BA-211F166893AE}"/>
                </a:ext>
              </a:extLst>
            </p:cNvPr>
            <p:cNvSpPr/>
            <p:nvPr/>
          </p:nvSpPr>
          <p:spPr bwMode="auto">
            <a:xfrm>
              <a:off x="5364163" y="4057171"/>
              <a:ext cx="292231" cy="379855"/>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w="38100">
                  <a:solidFill>
                    <a:schemeClr val="tx1"/>
                  </a:solidFill>
                </a:ln>
                <a:solidFill>
                  <a:schemeClr val="tx1"/>
                </a:solidFill>
                <a:effectLst/>
                <a:latin typeface="Times New Roman" pitchFamily="18" charset="0"/>
                <a:ea typeface="宋体" pitchFamily="2" charset="-122"/>
              </a:endParaRPr>
            </a:p>
          </p:txBody>
        </p:sp>
        <p:sp>
          <p:nvSpPr>
            <p:cNvPr id="15" name="椭圆 14">
              <a:extLst>
                <a:ext uri="{FF2B5EF4-FFF2-40B4-BE49-F238E27FC236}">
                  <a16:creationId xmlns:a16="http://schemas.microsoft.com/office/drawing/2014/main" id="{928A4BAA-D767-488C-82E3-8F9BDA885288}"/>
                </a:ext>
              </a:extLst>
            </p:cNvPr>
            <p:cNvSpPr/>
            <p:nvPr/>
          </p:nvSpPr>
          <p:spPr bwMode="auto">
            <a:xfrm>
              <a:off x="7966141" y="3957344"/>
              <a:ext cx="292231" cy="379855"/>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w="38100">
                  <a:solidFill>
                    <a:schemeClr val="tx1"/>
                  </a:solidFill>
                </a:ln>
                <a:solidFill>
                  <a:schemeClr val="tx1"/>
                </a:solidFill>
                <a:effectLst/>
                <a:latin typeface="Times New Roman" pitchFamily="18" charset="0"/>
                <a:ea typeface="宋体" pitchFamily="2" charset="-122"/>
              </a:endParaRPr>
            </a:p>
          </p:txBody>
        </p:sp>
      </p:grpSp>
      <p:sp>
        <p:nvSpPr>
          <p:cNvPr id="16" name="箭头: 右 15">
            <a:extLst>
              <a:ext uri="{FF2B5EF4-FFF2-40B4-BE49-F238E27FC236}">
                <a16:creationId xmlns:a16="http://schemas.microsoft.com/office/drawing/2014/main" id="{CD83430C-E3D3-4297-9261-CECE43BE8929}"/>
              </a:ext>
            </a:extLst>
          </p:cNvPr>
          <p:cNvSpPr/>
          <p:nvPr/>
        </p:nvSpPr>
        <p:spPr bwMode="auto">
          <a:xfrm>
            <a:off x="4825083" y="2602613"/>
            <a:ext cx="471829" cy="226541"/>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7" name="Rectangle 2">
            <a:extLst>
              <a:ext uri="{FF2B5EF4-FFF2-40B4-BE49-F238E27FC236}">
                <a16:creationId xmlns:a16="http://schemas.microsoft.com/office/drawing/2014/main" id="{0E58F2DE-093C-44A7-B949-2C69DD6D96C9}"/>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526979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spect="1" noChangeArrowheads="1"/>
          </p:cNvSpPr>
          <p:nvPr/>
        </p:nvSpPr>
        <p:spPr bwMode="auto">
          <a:xfrm>
            <a:off x="574675" y="1031875"/>
            <a:ext cx="784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zh-CN" altLang="en-US" sz="2400" b="1" dirty="0">
                <a:effectLst>
                  <a:outerShdw blurRad="38100" dist="38100" dir="2700000" algn="tl">
                    <a:srgbClr val="000000">
                      <a:alpha val="43137"/>
                    </a:srgbClr>
                  </a:outerShdw>
                </a:effectLst>
              </a:rPr>
              <a:t>实例</a:t>
            </a:r>
            <a:r>
              <a:rPr lang="en-US" altLang="zh-CN" sz="2400" b="1" dirty="0">
                <a:effectLst>
                  <a:outerShdw blurRad="38100" dist="38100" dir="2700000" algn="tl">
                    <a:srgbClr val="000000">
                      <a:alpha val="43137"/>
                    </a:srgbClr>
                  </a:outerShdw>
                </a:effectLst>
              </a:rPr>
              <a:t>1  </a:t>
            </a:r>
            <a:r>
              <a:rPr lang="zh-CN" altLang="en-US" sz="2400" b="1" dirty="0">
                <a:effectLst>
                  <a:outerShdw blurRad="38100" dist="38100" dir="2700000" algn="tl">
                    <a:srgbClr val="000000">
                      <a:alpha val="43137"/>
                    </a:srgbClr>
                  </a:outerShdw>
                </a:effectLst>
              </a:rPr>
              <a:t>独立按键识别</a:t>
            </a:r>
          </a:p>
        </p:txBody>
      </p:sp>
      <p:sp>
        <p:nvSpPr>
          <p:cNvPr id="6147" name="Rectangle 3"/>
          <p:cNvSpPr>
            <a:spLocks noChangeAspect="1" noChangeArrowheads="1"/>
          </p:cNvSpPr>
          <p:nvPr/>
        </p:nvSpPr>
        <p:spPr bwMode="auto">
          <a:xfrm>
            <a:off x="457200" y="1501775"/>
            <a:ext cx="840422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
                <a:schemeClr val="bg2"/>
              </a:buClr>
              <a:buSzPct val="75000"/>
              <a:buFont typeface="Wingdings" panose="05000000000000000000" pitchFamily="2" charset="2"/>
              <a:buNone/>
            </a:pPr>
            <a:r>
              <a:rPr kumimoji="0" lang="en-US" altLang="zh-CN" sz="2400" b="1" dirty="0">
                <a:effectLst>
                  <a:outerShdw blurRad="38100" dist="38100" dir="2700000" algn="tl">
                    <a:srgbClr val="000000">
                      <a:alpha val="43137"/>
                    </a:srgbClr>
                  </a:outerShdw>
                </a:effectLst>
              </a:rPr>
              <a:t>【</a:t>
            </a:r>
            <a:r>
              <a:rPr kumimoji="0" lang="zh-CN" altLang="en-US" sz="2400" b="1" dirty="0">
                <a:effectLst>
                  <a:outerShdw blurRad="38100" dist="38100" dir="2700000" algn="tl">
                    <a:srgbClr val="000000">
                      <a:alpha val="43137"/>
                    </a:srgbClr>
                  </a:outerShdw>
                </a:effectLst>
              </a:rPr>
              <a:t>要求</a:t>
            </a:r>
            <a:r>
              <a:rPr kumimoji="0" lang="en-US" altLang="zh-CN" sz="2400" b="1" dirty="0">
                <a:effectLst>
                  <a:outerShdw blurRad="38100" dist="38100" dir="2700000" algn="tl">
                    <a:srgbClr val="000000">
                      <a:alpha val="43137"/>
                    </a:srgbClr>
                  </a:outerShdw>
                </a:effectLst>
              </a:rPr>
              <a:t>】</a:t>
            </a:r>
            <a:r>
              <a:rPr kumimoji="0" lang="zh-CN" altLang="en-US" sz="2400" b="1" dirty="0">
                <a:effectLst>
                  <a:outerShdw blurRad="38100" dist="38100" dir="2700000" algn="tl">
                    <a:srgbClr val="000000">
                      <a:alpha val="43137"/>
                    </a:srgbClr>
                  </a:outerShdw>
                </a:effectLst>
              </a:rPr>
              <a:t>采用独立按键方式实现下述功能：开机时</a:t>
            </a:r>
            <a:r>
              <a:rPr kumimoji="0" lang="en-US" altLang="zh-CN" sz="2400" b="1" dirty="0">
                <a:effectLst>
                  <a:outerShdw blurRad="38100" dist="38100" dir="2700000" algn="tl">
                    <a:srgbClr val="000000">
                      <a:alpha val="43137"/>
                    </a:srgbClr>
                  </a:outerShdw>
                </a:effectLst>
              </a:rPr>
              <a:t>LED</a:t>
            </a:r>
            <a:r>
              <a:rPr kumimoji="0" lang="zh-CN" altLang="en-US" sz="2400" b="1" dirty="0">
                <a:effectLst>
                  <a:outerShdw blurRad="38100" dist="38100" dir="2700000" algn="tl">
                    <a:srgbClr val="000000">
                      <a:alpha val="43137"/>
                    </a:srgbClr>
                  </a:outerShdw>
                </a:effectLst>
              </a:rPr>
              <a:t>全熄，然后根据按键动作使相应灯亮，并</a:t>
            </a:r>
            <a:r>
              <a:rPr kumimoji="0" lang="zh-CN" altLang="en-US" sz="2400" b="1" dirty="0">
                <a:solidFill>
                  <a:srgbClr val="0000FF"/>
                </a:solidFill>
                <a:effectLst>
                  <a:outerShdw blurRad="38100" dist="38100" dir="2700000" algn="tl">
                    <a:srgbClr val="000000">
                      <a:alpha val="43137"/>
                    </a:srgbClr>
                  </a:outerShdw>
                </a:effectLst>
              </a:rPr>
              <a:t>将亮灯状态保持到按压其它键时为止</a:t>
            </a:r>
            <a:r>
              <a:rPr kumimoji="0" lang="zh-CN" altLang="en-US" sz="2400" b="1" dirty="0">
                <a:effectLst>
                  <a:outerShdw blurRad="38100" dist="38100" dir="2700000" algn="tl">
                    <a:srgbClr val="000000">
                      <a:alpha val="43137"/>
                    </a:srgbClr>
                  </a:outerShdw>
                </a:effectLst>
              </a:rPr>
              <a:t>。</a:t>
            </a:r>
          </a:p>
        </p:txBody>
      </p:sp>
      <p:sp>
        <p:nvSpPr>
          <p:cNvPr id="336902" name="Rectangle 6"/>
          <p:cNvSpPr>
            <a:spLocks noChangeArrowheads="1"/>
          </p:cNvSpPr>
          <p:nvPr/>
        </p:nvSpPr>
        <p:spPr bwMode="auto">
          <a:xfrm>
            <a:off x="642938" y="5667375"/>
            <a:ext cx="81470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dirty="0">
                <a:solidFill>
                  <a:srgbClr val="CC0000"/>
                </a:solidFill>
                <a:effectLst>
                  <a:outerShdw blurRad="38100" dist="38100" dir="2700000" algn="tl">
                    <a:srgbClr val="000000">
                      <a:alpha val="43137"/>
                    </a:srgbClr>
                  </a:outerShdw>
                </a:effectLst>
              </a:rPr>
              <a:t>独立按键</a:t>
            </a:r>
            <a:r>
              <a:rPr lang="en-US" altLang="zh-CN" sz="2400" b="1" dirty="0">
                <a:effectLst>
                  <a:outerShdw blurRad="38100" dist="38100" dir="2700000" algn="tl">
                    <a:srgbClr val="000000">
                      <a:alpha val="43137"/>
                    </a:srgbClr>
                  </a:outerShdw>
                </a:effectLst>
              </a:rPr>
              <a:t>——</a:t>
            </a:r>
            <a:r>
              <a:rPr kumimoji="0" lang="zh-CN" altLang="en-US" sz="2400" b="1" dirty="0">
                <a:effectLst>
                  <a:outerShdw blurRad="38100" dist="38100" dir="2700000" algn="tl">
                    <a:srgbClr val="000000">
                      <a:alpha val="43137"/>
                    </a:srgbClr>
                  </a:outerShdw>
                </a:effectLst>
              </a:rPr>
              <a:t>每个按键都彼此独立地各占有一位</a:t>
            </a:r>
            <a:r>
              <a:rPr kumimoji="0" lang="en-US" altLang="zh-CN" sz="2400" b="1" dirty="0">
                <a:effectLst>
                  <a:outerShdw blurRad="38100" dist="38100" dir="2700000" algn="tl">
                    <a:srgbClr val="000000">
                      <a:alpha val="43137"/>
                    </a:srgbClr>
                  </a:outerShdw>
                </a:effectLst>
              </a:rPr>
              <a:t>I/O</a:t>
            </a:r>
            <a:r>
              <a:rPr kumimoji="0" lang="zh-CN" altLang="en-US" sz="2400" b="1" dirty="0">
                <a:effectLst>
                  <a:outerShdw blurRad="38100" dist="38100" dir="2700000" algn="tl">
                    <a:srgbClr val="000000">
                      <a:alpha val="43137"/>
                    </a:srgbClr>
                  </a:outerShdw>
                </a:effectLst>
              </a:rPr>
              <a:t>口线。特点是电路简单，但占用</a:t>
            </a:r>
            <a:r>
              <a:rPr kumimoji="0" lang="en-US" altLang="zh-CN" sz="2400" b="1" dirty="0">
                <a:effectLst>
                  <a:outerShdw blurRad="38100" dist="38100" dir="2700000" algn="tl">
                    <a:srgbClr val="000000">
                      <a:alpha val="43137"/>
                    </a:srgbClr>
                  </a:outerShdw>
                </a:effectLst>
              </a:rPr>
              <a:t>I/O</a:t>
            </a:r>
            <a:r>
              <a:rPr kumimoji="0" lang="zh-CN" altLang="en-US" sz="2400" b="1" dirty="0">
                <a:effectLst>
                  <a:outerShdw blurRad="38100" dist="38100" dir="2700000" algn="tl">
                    <a:srgbClr val="000000">
                      <a:alpha val="43137"/>
                    </a:srgbClr>
                  </a:outerShdw>
                </a:effectLst>
              </a:rPr>
              <a:t>口线较多。</a:t>
            </a:r>
          </a:p>
        </p:txBody>
      </p:sp>
      <p:pic>
        <p:nvPicPr>
          <p:cNvPr id="6150" name="Picture 21" descr="实例1"/>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23698" t="23399" r="30119" b="24060"/>
          <a:stretch>
            <a:fillRect/>
          </a:stretch>
        </p:blipFill>
        <p:spPr bwMode="auto">
          <a:xfrm>
            <a:off x="2498725" y="2257425"/>
            <a:ext cx="4321175" cy="340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2">
            <a:extLst>
              <a:ext uri="{FF2B5EF4-FFF2-40B4-BE49-F238E27FC236}">
                <a16:creationId xmlns:a16="http://schemas.microsoft.com/office/drawing/2014/main" id="{1FF87D3C-FD13-4741-8337-34A9CD2DF0D2}"/>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6902"/>
                                        </p:tgtEl>
                                        <p:attrNameLst>
                                          <p:attrName>style.visibility</p:attrName>
                                        </p:attrNameLst>
                                      </p:cBhvr>
                                      <p:to>
                                        <p:strVal val="visible"/>
                                      </p:to>
                                    </p:set>
                                    <p:animEffect transition="in" filter="blinds(horizontal)">
                                      <p:cBhvr>
                                        <p:cTn id="7" dur="500"/>
                                        <p:tgtEl>
                                          <p:spTgt spid="3369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690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5" name="Rectangle 5"/>
          <p:cNvSpPr>
            <a:spLocks noChangeAspect="1" noChangeArrowheads="1"/>
          </p:cNvSpPr>
          <p:nvPr/>
        </p:nvSpPr>
        <p:spPr bwMode="auto">
          <a:xfrm>
            <a:off x="4533900" y="981075"/>
            <a:ext cx="4159250" cy="3595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15000"/>
              </a:spcBef>
              <a:buFontTx/>
              <a:buNone/>
            </a:pPr>
            <a:r>
              <a:rPr lang="zh-CN" altLang="zh-CN" sz="2400" b="1" dirty="0">
                <a:effectLst>
                  <a:outerShdw blurRad="38100" dist="38100" dir="2700000" algn="tl">
                    <a:srgbClr val="000000">
                      <a:alpha val="43137"/>
                    </a:srgbClr>
                  </a:outerShdw>
                </a:effectLst>
              </a:rPr>
              <a:t>由于</a:t>
            </a:r>
            <a:r>
              <a:rPr lang="en-US" altLang="zh-CN" sz="2400" b="1" dirty="0">
                <a:effectLst>
                  <a:outerShdw blurRad="38100" dist="38100" dir="2700000" algn="tl">
                    <a:srgbClr val="000000">
                      <a:alpha val="43137"/>
                    </a:srgbClr>
                  </a:outerShdw>
                </a:effectLst>
              </a:rPr>
              <a:t>P0</a:t>
            </a:r>
            <a:r>
              <a:rPr lang="zh-CN" altLang="zh-CN" sz="2400" b="1" dirty="0">
                <a:effectLst>
                  <a:outerShdw blurRad="38100" dist="38100" dir="2700000" algn="tl">
                    <a:srgbClr val="000000">
                      <a:alpha val="43137"/>
                    </a:srgbClr>
                  </a:outerShdw>
                </a:effectLst>
              </a:rPr>
              <a:t>口高</a:t>
            </a:r>
            <a:r>
              <a:rPr lang="en-US" altLang="zh-CN" sz="2400" b="1" dirty="0">
                <a:effectLst>
                  <a:outerShdw blurRad="38100" dist="38100" dir="2700000" algn="tl">
                    <a:srgbClr val="000000">
                      <a:alpha val="43137"/>
                    </a:srgbClr>
                  </a:outerShdw>
                </a:effectLst>
              </a:rPr>
              <a:t>4</a:t>
            </a:r>
            <a:r>
              <a:rPr lang="zh-CN" altLang="zh-CN" sz="2400" b="1" dirty="0">
                <a:effectLst>
                  <a:outerShdw blurRad="38100" dist="38100" dir="2700000" algn="tl">
                    <a:srgbClr val="000000">
                      <a:alpha val="43137"/>
                    </a:srgbClr>
                  </a:outerShdw>
                </a:effectLst>
              </a:rPr>
              <a:t>位引脚空置，电平为不确定值。为在读取</a:t>
            </a:r>
            <a:r>
              <a:rPr lang="en-US" altLang="zh-CN" sz="2400" b="1" dirty="0">
                <a:effectLst>
                  <a:outerShdw blurRad="38100" dist="38100" dir="2700000" algn="tl">
                    <a:srgbClr val="000000">
                      <a:alpha val="43137"/>
                    </a:srgbClr>
                  </a:outerShdw>
                </a:effectLst>
              </a:rPr>
              <a:t>P0</a:t>
            </a:r>
            <a:r>
              <a:rPr lang="zh-CN" altLang="zh-CN" sz="2400" b="1" dirty="0">
                <a:effectLst>
                  <a:outerShdw blurRad="38100" dist="38100" dir="2700000" algn="tl">
                    <a:srgbClr val="000000">
                      <a:alpha val="43137"/>
                    </a:srgbClr>
                  </a:outerShdw>
                </a:effectLst>
              </a:rPr>
              <a:t>口时能得到一个仅与按键状态有关的读入值，需要将高</a:t>
            </a:r>
            <a:r>
              <a:rPr lang="en-US" altLang="zh-CN" sz="2400" b="1" dirty="0">
                <a:effectLst>
                  <a:outerShdw blurRad="38100" dist="38100" dir="2700000" algn="tl">
                    <a:srgbClr val="000000">
                      <a:alpha val="43137"/>
                    </a:srgbClr>
                  </a:outerShdw>
                </a:effectLst>
              </a:rPr>
              <a:t>4</a:t>
            </a:r>
            <a:r>
              <a:rPr lang="zh-CN" altLang="zh-CN" sz="2400" b="1" dirty="0">
                <a:effectLst>
                  <a:outerShdw blurRad="38100" dist="38100" dir="2700000" algn="tl">
                    <a:srgbClr val="000000">
                      <a:alpha val="43137"/>
                    </a:srgbClr>
                  </a:outerShdw>
                </a:effectLst>
              </a:rPr>
              <a:t>位强制为</a:t>
            </a:r>
            <a:r>
              <a:rPr lang="en-US" altLang="zh-CN" sz="2400" b="1" dirty="0">
                <a:effectLst>
                  <a:outerShdw blurRad="38100" dist="38100" dir="2700000" algn="tl">
                    <a:srgbClr val="000000">
                      <a:alpha val="43137"/>
                    </a:srgbClr>
                  </a:outerShdw>
                </a:effectLst>
              </a:rPr>
              <a:t>0</a:t>
            </a:r>
            <a:r>
              <a:rPr lang="zh-CN" altLang="zh-CN" sz="2400" b="1" dirty="0">
                <a:effectLst>
                  <a:outerShdw blurRad="38100" dist="38100" dir="2700000" algn="tl">
                    <a:srgbClr val="000000">
                      <a:alpha val="43137"/>
                    </a:srgbClr>
                  </a:outerShdw>
                </a:effectLst>
              </a:rPr>
              <a:t>，为此</a:t>
            </a:r>
            <a:r>
              <a:rPr lang="zh-CN" altLang="zh-CN" sz="2400" b="1" dirty="0">
                <a:solidFill>
                  <a:srgbClr val="FF0000"/>
                </a:solidFill>
                <a:effectLst>
                  <a:outerShdw blurRad="38100" dist="38100" dir="2700000" algn="tl">
                    <a:srgbClr val="000000">
                      <a:alpha val="43137"/>
                    </a:srgbClr>
                  </a:outerShdw>
                </a:effectLst>
              </a:rPr>
              <a:t>可对读取的</a:t>
            </a:r>
            <a:r>
              <a:rPr lang="en-US" altLang="zh-CN" sz="2400" b="1" dirty="0">
                <a:solidFill>
                  <a:srgbClr val="FF0000"/>
                </a:solidFill>
                <a:effectLst>
                  <a:outerShdw blurRad="38100" dist="38100" dir="2700000" algn="tl">
                    <a:srgbClr val="000000">
                      <a:alpha val="43137"/>
                    </a:srgbClr>
                  </a:outerShdw>
                </a:effectLst>
              </a:rPr>
              <a:t>P0</a:t>
            </a:r>
            <a:r>
              <a:rPr lang="zh-CN" altLang="zh-CN" sz="2400" b="1" dirty="0">
                <a:solidFill>
                  <a:srgbClr val="FF0000"/>
                </a:solidFill>
                <a:effectLst>
                  <a:outerShdw blurRad="38100" dist="38100" dir="2700000" algn="tl">
                    <a:srgbClr val="000000">
                      <a:alpha val="43137"/>
                    </a:srgbClr>
                  </a:outerShdw>
                </a:effectLst>
              </a:rPr>
              <a:t>口值进行与操作</a:t>
            </a:r>
            <a:r>
              <a:rPr lang="zh-CN" altLang="zh-CN" sz="2400" b="1" dirty="0">
                <a:effectLst>
                  <a:outerShdw blurRad="38100" dist="38100" dir="2700000" algn="tl">
                    <a:srgbClr val="000000">
                      <a:alpha val="43137"/>
                    </a:srgbClr>
                  </a:outerShdw>
                </a:effectLst>
              </a:rPr>
              <a:t>，即</a:t>
            </a:r>
            <a:r>
              <a:rPr lang="en-US" altLang="zh-CN" sz="2400" b="1" dirty="0">
                <a:effectLst>
                  <a:outerShdw blurRad="38100" dist="38100" dir="2700000" algn="tl">
                    <a:srgbClr val="000000">
                      <a:alpha val="43137"/>
                    </a:srgbClr>
                  </a:outerShdw>
                </a:effectLst>
              </a:rPr>
              <a:t>key = P0 &amp; 0x0f</a:t>
            </a:r>
            <a:r>
              <a:rPr lang="zh-CN" altLang="zh-CN" sz="2400" b="1" dirty="0">
                <a:effectLst>
                  <a:outerShdw blurRad="38100" dist="38100" dir="2700000" algn="tl">
                    <a:srgbClr val="000000">
                      <a:alpha val="43137"/>
                    </a:srgbClr>
                  </a:outerShdw>
                </a:effectLst>
              </a:rPr>
              <a:t>，使</a:t>
            </a:r>
            <a:r>
              <a:rPr lang="en-US" altLang="zh-CN" sz="2400" b="1" dirty="0">
                <a:effectLst>
                  <a:outerShdw blurRad="38100" dist="38100" dir="2700000" algn="tl">
                    <a:srgbClr val="000000">
                      <a:alpha val="43137"/>
                    </a:srgbClr>
                  </a:outerShdw>
                </a:effectLst>
              </a:rPr>
              <a:t>P0</a:t>
            </a:r>
            <a:r>
              <a:rPr lang="zh-CN" altLang="zh-CN" sz="2400" b="1" dirty="0">
                <a:effectLst>
                  <a:outerShdw blurRad="38100" dist="38100" dir="2700000" algn="tl">
                    <a:srgbClr val="000000">
                      <a:alpha val="43137"/>
                    </a:srgbClr>
                  </a:outerShdw>
                </a:effectLst>
              </a:rPr>
              <a:t>高</a:t>
            </a:r>
            <a:r>
              <a:rPr lang="en-US" altLang="zh-CN" sz="2400" b="1" dirty="0">
                <a:effectLst>
                  <a:outerShdw blurRad="38100" dist="38100" dir="2700000" algn="tl">
                    <a:srgbClr val="000000">
                      <a:alpha val="43137"/>
                    </a:srgbClr>
                  </a:outerShdw>
                </a:effectLst>
              </a:rPr>
              <a:t>4</a:t>
            </a:r>
            <a:r>
              <a:rPr lang="zh-CN" altLang="zh-CN" sz="2400" b="1" dirty="0">
                <a:effectLst>
                  <a:outerShdw blurRad="38100" dist="38100" dir="2700000" algn="tl">
                    <a:srgbClr val="000000">
                      <a:alpha val="43137"/>
                    </a:srgbClr>
                  </a:outerShdw>
                </a:effectLst>
              </a:rPr>
              <a:t>位始终为</a:t>
            </a:r>
            <a:r>
              <a:rPr lang="en-US" altLang="zh-CN" sz="2400" b="1" dirty="0">
                <a:effectLst>
                  <a:outerShdw blurRad="38100" dist="38100" dir="2700000" algn="tl">
                    <a:srgbClr val="000000">
                      <a:alpha val="43137"/>
                    </a:srgbClr>
                  </a:outerShdw>
                </a:effectLst>
              </a:rPr>
              <a:t>0</a:t>
            </a:r>
            <a:r>
              <a:rPr lang="zh-CN" altLang="zh-CN" sz="2400" b="1" dirty="0">
                <a:effectLst>
                  <a:outerShdw blurRad="38100" dist="38100" dir="2700000" algn="tl">
                    <a:srgbClr val="000000">
                      <a:alpha val="43137"/>
                    </a:srgbClr>
                  </a:outerShdw>
                </a:effectLst>
              </a:rPr>
              <a:t>。</a:t>
            </a:r>
            <a:endParaRPr lang="zh-CN" altLang="en-US" sz="2400" b="1" dirty="0">
              <a:effectLst>
                <a:outerShdw blurRad="38100" dist="38100" dir="2700000" algn="tl">
                  <a:srgbClr val="000000">
                    <a:alpha val="43137"/>
                  </a:srgbClr>
                </a:outerShdw>
              </a:effectLst>
            </a:endParaRPr>
          </a:p>
        </p:txBody>
      </p:sp>
      <p:sp>
        <p:nvSpPr>
          <p:cNvPr id="7171" name="Rectangle 7"/>
          <p:cNvSpPr>
            <a:spLocks noChangeArrowheads="1"/>
          </p:cNvSpPr>
          <p:nvPr/>
        </p:nvSpPr>
        <p:spPr bwMode="auto">
          <a:xfrm>
            <a:off x="582613" y="789781"/>
            <a:ext cx="2032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defRPr/>
            </a:pPr>
            <a:r>
              <a:rPr lang="en-US" altLang="zh-CN" sz="2400" dirty="0"/>
              <a:t>【</a:t>
            </a:r>
            <a:r>
              <a:rPr lang="zh-CN" altLang="en-US" sz="2400" b="1" dirty="0">
                <a:solidFill>
                  <a:srgbClr val="0000FF"/>
                </a:solidFill>
                <a:effectLst>
                  <a:outerShdw blurRad="38100" dist="38100" dir="2700000" algn="tl">
                    <a:srgbClr val="000000">
                      <a:alpha val="43137"/>
                    </a:srgbClr>
                  </a:outerShdw>
                </a:effectLst>
              </a:rPr>
              <a:t>解题分析</a:t>
            </a:r>
            <a:r>
              <a:rPr lang="en-US" altLang="zh-CN" sz="2400" dirty="0"/>
              <a:t>】</a:t>
            </a:r>
          </a:p>
        </p:txBody>
      </p:sp>
      <p:pic>
        <p:nvPicPr>
          <p:cNvPr id="7172" name="Picture 22" descr="实例1"/>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23698" t="23399" r="30119" b="24060"/>
          <a:stretch>
            <a:fillRect/>
          </a:stretch>
        </p:blipFill>
        <p:spPr bwMode="auto">
          <a:xfrm>
            <a:off x="582613" y="1251744"/>
            <a:ext cx="3951287" cy="3236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4" name="矩形 1"/>
          <p:cNvSpPr>
            <a:spLocks noChangeArrowheads="1"/>
          </p:cNvSpPr>
          <p:nvPr/>
        </p:nvSpPr>
        <p:spPr bwMode="auto">
          <a:xfrm>
            <a:off x="582613" y="4725988"/>
            <a:ext cx="8110537"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zh-CN" sz="24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为避免将按键释放后读到的</a:t>
            </a:r>
            <a:r>
              <a:rPr lang="en-US" altLang="zh-CN" sz="24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P0</a:t>
            </a:r>
            <a:r>
              <a:rPr lang="zh-CN" altLang="zh-CN" sz="24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值写入</a:t>
            </a:r>
            <a:r>
              <a:rPr lang="en-US" altLang="zh-CN" sz="24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P2</a:t>
            </a:r>
            <a:r>
              <a:rPr lang="zh-CN" altLang="zh-CN" sz="24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口，可以利用语句</a:t>
            </a:r>
            <a:r>
              <a:rPr lang="en-US" altLang="zh-CN" sz="24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if (key!= 0x0f ) P2=key</a:t>
            </a:r>
            <a:r>
              <a:rPr lang="zh-CN" altLang="zh-CN" sz="24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a:t>
            </a:r>
            <a:r>
              <a:rPr lang="zh-CN" altLang="zh-CN" sz="2400" b="1" dirty="0">
                <a:solidFill>
                  <a:srgbClr val="FF0000"/>
                </a:solidFill>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仅在低</a:t>
            </a:r>
            <a:r>
              <a:rPr lang="en-US" altLang="zh-CN" sz="2400" b="1" dirty="0">
                <a:solidFill>
                  <a:srgbClr val="FF0000"/>
                </a:solidFill>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4</a:t>
            </a:r>
            <a:r>
              <a:rPr lang="zh-CN" altLang="zh-CN" sz="2400" b="1" dirty="0">
                <a:solidFill>
                  <a:srgbClr val="FF0000"/>
                </a:solidFill>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位读入值不为</a:t>
            </a:r>
            <a:r>
              <a:rPr lang="en-US" altLang="zh-CN" sz="2400" b="1" dirty="0">
                <a:solidFill>
                  <a:srgbClr val="FF0000"/>
                </a:solidFill>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0x0f</a:t>
            </a:r>
            <a:r>
              <a:rPr lang="zh-CN" altLang="zh-CN" sz="2400" b="1" dirty="0">
                <a:solidFill>
                  <a:srgbClr val="FF0000"/>
                </a:solidFill>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时才向</a:t>
            </a:r>
            <a:r>
              <a:rPr lang="en-US" altLang="zh-CN" sz="2400" b="1" dirty="0">
                <a:solidFill>
                  <a:srgbClr val="FF0000"/>
                </a:solidFill>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P2</a:t>
            </a:r>
            <a:r>
              <a:rPr lang="zh-CN" altLang="zh-CN" sz="2400" b="1" dirty="0">
                <a:solidFill>
                  <a:srgbClr val="FF0000"/>
                </a:solidFill>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输出</a:t>
            </a:r>
            <a:r>
              <a:rPr lang="en-US" altLang="zh-CN" sz="2400" b="1" dirty="0">
                <a:solidFill>
                  <a:srgbClr val="FF0000"/>
                </a:solidFill>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P0</a:t>
            </a:r>
            <a:r>
              <a:rPr lang="zh-CN" altLang="zh-CN" sz="2400" b="1" dirty="0">
                <a:solidFill>
                  <a:srgbClr val="FF0000"/>
                </a:solidFill>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状态值</a:t>
            </a:r>
            <a:r>
              <a:rPr lang="zh-CN" altLang="zh-CN" sz="24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，这样就能保持先前的亮灯状态，直至有新的按键压下时才刷新显示。</a:t>
            </a:r>
            <a:endParaRPr lang="zh-CN" altLang="en-US" sz="2400" b="1" dirty="0">
              <a:effectLst>
                <a:outerShdw blurRad="38100" dist="38100" dir="2700000" algn="tl">
                  <a:srgbClr val="000000">
                    <a:alpha val="43137"/>
                  </a:srgbClr>
                </a:outerShdw>
              </a:effectLst>
            </a:endParaRPr>
          </a:p>
        </p:txBody>
      </p:sp>
      <p:sp>
        <p:nvSpPr>
          <p:cNvPr id="7" name="Rectangle 2">
            <a:extLst>
              <a:ext uri="{FF2B5EF4-FFF2-40B4-BE49-F238E27FC236}">
                <a16:creationId xmlns:a16="http://schemas.microsoft.com/office/drawing/2014/main" id="{8EEAAAE0-96C3-44FB-8754-33B83C3C61BE}"/>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37925"/>
                                        </p:tgtEl>
                                        <p:attrNameLst>
                                          <p:attrName>style.visibility</p:attrName>
                                        </p:attrNameLst>
                                      </p:cBhvr>
                                      <p:to>
                                        <p:strVal val="visible"/>
                                      </p:to>
                                    </p:set>
                                    <p:animEffect transition="in" filter="checkerboard(across)">
                                      <p:cBhvr>
                                        <p:cTn id="7" dur="500"/>
                                        <p:tgtEl>
                                          <p:spTgt spid="3379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2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spect="1" noChangeArrowheads="1"/>
          </p:cNvSpPr>
          <p:nvPr/>
        </p:nvSpPr>
        <p:spPr bwMode="auto">
          <a:xfrm>
            <a:off x="668261" y="867569"/>
            <a:ext cx="784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defRPr/>
            </a:pPr>
            <a:r>
              <a:rPr lang="zh-CN" altLang="en-US" sz="2400" b="1" dirty="0">
                <a:solidFill>
                  <a:srgbClr val="0000FF"/>
                </a:solidFill>
                <a:effectLst>
                  <a:outerShdw blurRad="38100" dist="38100" dir="2700000" algn="tl">
                    <a:srgbClr val="000000">
                      <a:alpha val="43137"/>
                    </a:srgbClr>
                  </a:outerShdw>
                </a:effectLst>
              </a:rPr>
              <a:t>实例</a:t>
            </a:r>
            <a:r>
              <a:rPr lang="en-US" altLang="zh-CN" sz="2400" b="1" dirty="0">
                <a:solidFill>
                  <a:srgbClr val="0000FF"/>
                </a:solidFill>
                <a:effectLst>
                  <a:outerShdw blurRad="38100" dist="38100" dir="2700000" algn="tl">
                    <a:srgbClr val="000000">
                      <a:alpha val="43137"/>
                    </a:srgbClr>
                  </a:outerShdw>
                </a:effectLst>
              </a:rPr>
              <a:t>1</a:t>
            </a:r>
            <a:r>
              <a:rPr lang="zh-CN" altLang="en-US" sz="2400" b="1" dirty="0">
                <a:solidFill>
                  <a:srgbClr val="0000FF"/>
                </a:solidFill>
                <a:effectLst>
                  <a:outerShdw blurRad="38100" dist="38100" dir="2700000" algn="tl">
                    <a:srgbClr val="000000">
                      <a:alpha val="43137"/>
                    </a:srgbClr>
                  </a:outerShdw>
                </a:effectLst>
              </a:rPr>
              <a:t>：独立按键识别</a:t>
            </a:r>
          </a:p>
        </p:txBody>
      </p:sp>
      <p:pic>
        <p:nvPicPr>
          <p:cNvPr id="8196" name="图片 2"/>
          <p:cNvPicPr>
            <a:picLocks noChangeAspect="1"/>
          </p:cNvPicPr>
          <p:nvPr/>
        </p:nvPicPr>
        <p:blipFill rotWithShape="1">
          <a:blip r:embed="rId2">
            <a:extLst>
              <a:ext uri="{28A0092B-C50C-407E-A947-70E740481C1C}">
                <a14:useLocalDpi xmlns:a14="http://schemas.microsoft.com/office/drawing/2010/main" val="0"/>
              </a:ext>
            </a:extLst>
          </a:blip>
          <a:srcRect t="10958"/>
          <a:stretch/>
        </p:blipFill>
        <p:spPr bwMode="auto">
          <a:xfrm>
            <a:off x="755650" y="1449388"/>
            <a:ext cx="6904990" cy="297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7" name="Picture 22" descr="实例1"/>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23698" t="23399" r="30119" b="24060"/>
          <a:stretch>
            <a:fillRect/>
          </a:stretch>
        </p:blipFill>
        <p:spPr bwMode="auto">
          <a:xfrm>
            <a:off x="4411663" y="3540125"/>
            <a:ext cx="4011612" cy="316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a:extLst>
              <a:ext uri="{FF2B5EF4-FFF2-40B4-BE49-F238E27FC236}">
                <a16:creationId xmlns:a16="http://schemas.microsoft.com/office/drawing/2014/main" id="{225ACE37-FFC4-4971-B524-15D522BDAACE}"/>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p:cNvSpPr>
            <a:spLocks noChangeArrowheads="1"/>
          </p:cNvSpPr>
          <p:nvPr/>
        </p:nvSpPr>
        <p:spPr bwMode="auto">
          <a:xfrm>
            <a:off x="1341438" y="979488"/>
            <a:ext cx="25987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dirty="0">
                <a:solidFill>
                  <a:srgbClr val="CC0000"/>
                </a:solidFill>
              </a:rPr>
              <a:t>实例</a:t>
            </a:r>
            <a:r>
              <a:rPr lang="en-US" altLang="zh-CN" sz="2400" b="1" dirty="0">
                <a:solidFill>
                  <a:srgbClr val="CC0000"/>
                </a:solidFill>
              </a:rPr>
              <a:t>1</a:t>
            </a:r>
            <a:r>
              <a:rPr lang="zh-CN" altLang="en-US" sz="2400" b="1" dirty="0">
                <a:solidFill>
                  <a:srgbClr val="CC0000"/>
                </a:solidFill>
              </a:rPr>
              <a:t>编程界面</a:t>
            </a:r>
          </a:p>
        </p:txBody>
      </p:sp>
      <p:pic>
        <p:nvPicPr>
          <p:cNvPr id="9220" name="图片 62885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1438" y="1503363"/>
            <a:ext cx="5835650" cy="435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432A7BD1-D825-4955-8596-05269D51F68B}"/>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7"/>
          <p:cNvSpPr>
            <a:spLocks noChangeArrowheads="1"/>
          </p:cNvSpPr>
          <p:nvPr/>
        </p:nvSpPr>
        <p:spPr bwMode="auto">
          <a:xfrm>
            <a:off x="914400" y="5697538"/>
            <a:ext cx="74898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zh-CN" sz="2000"/>
              <a:t>仿真运行表明，所有功能都符合题意要求，程序设计结束。</a:t>
            </a:r>
            <a:endParaRPr lang="zh-CN" altLang="en-US" sz="2000"/>
          </a:p>
        </p:txBody>
      </p:sp>
      <p:pic>
        <p:nvPicPr>
          <p:cNvPr id="10244"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60463" y="1500188"/>
            <a:ext cx="5573712" cy="411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5" name="矩形 1"/>
          <p:cNvSpPr>
            <a:spLocks noChangeArrowheads="1"/>
          </p:cNvSpPr>
          <p:nvPr/>
        </p:nvSpPr>
        <p:spPr bwMode="auto">
          <a:xfrm>
            <a:off x="1089025" y="1038225"/>
            <a:ext cx="21955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dirty="0">
                <a:solidFill>
                  <a:srgbClr val="FF0000"/>
                </a:solidFill>
              </a:rPr>
              <a:t>实例</a:t>
            </a:r>
            <a:r>
              <a:rPr lang="en-US" altLang="zh-CN" sz="2400" b="1" dirty="0">
                <a:solidFill>
                  <a:srgbClr val="FF0000"/>
                </a:solidFill>
              </a:rPr>
              <a:t>1</a:t>
            </a:r>
            <a:r>
              <a:rPr lang="zh-CN" altLang="en-US" sz="2400" b="1" dirty="0">
                <a:solidFill>
                  <a:srgbClr val="FF0000"/>
                </a:solidFill>
              </a:rPr>
              <a:t>仿真运行</a:t>
            </a:r>
          </a:p>
        </p:txBody>
      </p:sp>
      <p:sp>
        <p:nvSpPr>
          <p:cNvPr id="7" name="Rectangle 2">
            <a:extLst>
              <a:ext uri="{FF2B5EF4-FFF2-40B4-BE49-F238E27FC236}">
                <a16:creationId xmlns:a16="http://schemas.microsoft.com/office/drawing/2014/main" id="{EEC65458-DBE3-4FF6-9EAF-9564384542B0}"/>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1267"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1268" name="Rectangle 4"/>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1269" name="Rectangle 5"/>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1270" name="Rectangle 6"/>
          <p:cNvSpPr>
            <a:spLocks noChangeArrowheads="1"/>
          </p:cNvSpPr>
          <p:nvPr/>
        </p:nvSpPr>
        <p:spPr bwMode="auto">
          <a:xfrm>
            <a:off x="536614" y="740718"/>
            <a:ext cx="27350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defRPr/>
            </a:pPr>
            <a:r>
              <a:rPr lang="zh-CN" altLang="en-US" sz="2400" b="1" dirty="0">
                <a:solidFill>
                  <a:srgbClr val="0000FF"/>
                </a:solidFill>
                <a:effectLst>
                  <a:outerShdw blurRad="38100" dist="38100" dir="2700000" algn="tl">
                    <a:srgbClr val="000000">
                      <a:alpha val="43137"/>
                    </a:srgbClr>
                  </a:outerShdw>
                </a:effectLst>
              </a:rPr>
              <a:t>实例</a:t>
            </a:r>
            <a:r>
              <a:rPr lang="en-US" altLang="zh-CN" sz="2400" b="1" dirty="0">
                <a:solidFill>
                  <a:srgbClr val="0000FF"/>
                </a:solidFill>
                <a:effectLst>
                  <a:outerShdw blurRad="38100" dist="38100" dir="2700000" algn="tl">
                    <a:srgbClr val="000000">
                      <a:alpha val="43137"/>
                    </a:srgbClr>
                  </a:outerShdw>
                </a:effectLst>
              </a:rPr>
              <a:t>2  </a:t>
            </a:r>
            <a:r>
              <a:rPr lang="zh-CN" altLang="en-US" sz="2400" b="1" dirty="0">
                <a:solidFill>
                  <a:srgbClr val="0000FF"/>
                </a:solidFill>
                <a:effectLst>
                  <a:outerShdw blurRad="38100" dist="38100" dir="2700000" algn="tl">
                    <a:srgbClr val="000000">
                      <a:alpha val="43137"/>
                    </a:srgbClr>
                  </a:outerShdw>
                </a:effectLst>
              </a:rPr>
              <a:t>键控流水灯 </a:t>
            </a:r>
          </a:p>
        </p:txBody>
      </p:sp>
      <p:sp>
        <p:nvSpPr>
          <p:cNvPr id="11271" name="Rectangle 8"/>
          <p:cNvSpPr>
            <a:spLocks noChangeArrowheads="1"/>
          </p:cNvSpPr>
          <p:nvPr/>
        </p:nvSpPr>
        <p:spPr bwMode="auto">
          <a:xfrm>
            <a:off x="422275" y="1281905"/>
            <a:ext cx="8721725"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92075" indent="-92075">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b="1" dirty="0">
                <a:effectLst>
                  <a:outerShdw blurRad="38100" dist="38100" dir="2700000" algn="tl">
                    <a:srgbClr val="000000">
                      <a:alpha val="43137"/>
                    </a:srgbClr>
                  </a:outerShdw>
                </a:effectLst>
              </a:rPr>
              <a:t>【</a:t>
            </a:r>
            <a:r>
              <a:rPr lang="zh-CN" altLang="en-US" sz="2000" b="1" dirty="0">
                <a:effectLst>
                  <a:outerShdw blurRad="38100" dist="38100" dir="2700000" algn="tl">
                    <a:srgbClr val="000000">
                      <a:alpha val="43137"/>
                    </a:srgbClr>
                  </a:outerShdw>
                </a:effectLst>
              </a:rPr>
              <a:t>要求</a:t>
            </a:r>
            <a:r>
              <a:rPr lang="en-US" altLang="zh-CN" sz="2000" b="1" dirty="0">
                <a:effectLst>
                  <a:outerShdw blurRad="38100" dist="38100" dir="2700000" algn="tl">
                    <a:srgbClr val="000000">
                      <a:alpha val="43137"/>
                    </a:srgbClr>
                  </a:outerShdw>
                </a:effectLst>
              </a:rPr>
              <a:t>】</a:t>
            </a:r>
            <a:r>
              <a:rPr lang="zh-CN" altLang="zh-CN" sz="2000" b="1" dirty="0">
                <a:effectLst>
                  <a:outerShdw blurRad="38100" dist="38100" dir="2700000" algn="tl">
                    <a:srgbClr val="000000">
                      <a:alpha val="43137"/>
                    </a:srgbClr>
                  </a:outerShdw>
                </a:effectLst>
              </a:rPr>
              <a:t>在实例</a:t>
            </a:r>
            <a:r>
              <a:rPr lang="en-US" altLang="zh-CN" sz="2000" b="1" dirty="0">
                <a:effectLst>
                  <a:outerShdw blurRad="38100" dist="38100" dir="2700000" algn="tl">
                    <a:srgbClr val="000000">
                      <a:alpha val="43137"/>
                    </a:srgbClr>
                  </a:outerShdw>
                </a:effectLst>
              </a:rPr>
              <a:t>1</a:t>
            </a:r>
            <a:r>
              <a:rPr lang="zh-CN" altLang="zh-CN" sz="2000" b="1" dirty="0">
                <a:effectLst>
                  <a:outerShdw blurRad="38100" dist="38100" dir="2700000" algn="tl">
                    <a:srgbClr val="000000">
                      <a:alpha val="43137"/>
                    </a:srgbClr>
                  </a:outerShdw>
                </a:effectLst>
              </a:rPr>
              <a:t>电路图的基础上，实现</a:t>
            </a:r>
            <a:r>
              <a:rPr lang="zh-CN" altLang="en-US" sz="2000" b="1" dirty="0">
                <a:effectLst>
                  <a:outerShdw blurRad="38100" dist="38100" dir="2700000" algn="tl">
                    <a:srgbClr val="000000">
                      <a:alpha val="43137"/>
                    </a:srgbClr>
                  </a:outerShdw>
                </a:effectLst>
              </a:rPr>
              <a:t>以下</a:t>
            </a:r>
            <a:r>
              <a:rPr lang="zh-CN" altLang="zh-CN" sz="2000" b="1" dirty="0">
                <a:effectLst>
                  <a:outerShdw blurRad="38100" dist="38100" dir="2700000" algn="tl">
                    <a:srgbClr val="000000">
                      <a:alpha val="43137"/>
                    </a:srgbClr>
                  </a:outerShdw>
                </a:effectLst>
              </a:rPr>
              <a:t>功能</a:t>
            </a:r>
            <a:r>
              <a:rPr lang="zh-CN" altLang="en-US" sz="2000" b="1" dirty="0">
                <a:effectLst>
                  <a:outerShdw blurRad="38100" dist="38100" dir="2700000" algn="tl">
                    <a:srgbClr val="000000">
                      <a:alpha val="43137"/>
                    </a:srgbClr>
                  </a:outerShdw>
                </a:effectLst>
              </a:rPr>
              <a:t>：</a:t>
            </a:r>
            <a:endParaRPr lang="en-US" altLang="zh-CN" sz="2000" b="1" dirty="0">
              <a:effectLst>
                <a:outerShdw blurRad="38100" dist="38100" dir="2700000" algn="tl">
                  <a:srgbClr val="000000">
                    <a:alpha val="43137"/>
                  </a:srgbClr>
                </a:outerShdw>
              </a:effectLst>
            </a:endParaRPr>
          </a:p>
          <a:p>
            <a:pPr eaLnBrk="1" hangingPunct="1">
              <a:spcBef>
                <a:spcPct val="0"/>
              </a:spcBef>
              <a:buFontTx/>
              <a:buNone/>
            </a:pPr>
            <a:r>
              <a:rPr lang="en-US" altLang="zh-CN" sz="2000" b="1" dirty="0">
                <a:effectLst>
                  <a:outerShdw blurRad="38100" dist="38100" dir="2700000" algn="tl">
                    <a:srgbClr val="000000">
                      <a:alpha val="43137"/>
                    </a:srgbClr>
                  </a:outerShdw>
                </a:effectLst>
              </a:rPr>
              <a:t>  K1</a:t>
            </a:r>
            <a:r>
              <a:rPr lang="zh-CN" altLang="en-US" sz="2000" b="1" dirty="0">
                <a:effectLst>
                  <a:outerShdw blurRad="38100" dist="38100" dir="2700000" algn="tl">
                    <a:srgbClr val="000000">
                      <a:alpha val="43137"/>
                    </a:srgbClr>
                  </a:outerShdw>
                </a:effectLst>
              </a:rPr>
              <a:t>为“</a:t>
            </a:r>
            <a:r>
              <a:rPr lang="zh-CN" altLang="en-US" sz="2000" b="1" dirty="0">
                <a:solidFill>
                  <a:srgbClr val="CC0000"/>
                </a:solidFill>
                <a:effectLst>
                  <a:outerShdw blurRad="38100" dist="38100" dir="2700000" algn="tl">
                    <a:srgbClr val="000000">
                      <a:alpha val="43137"/>
                    </a:srgbClr>
                  </a:outerShdw>
                </a:effectLst>
              </a:rPr>
              <a:t>启动键</a:t>
            </a:r>
            <a:r>
              <a:rPr lang="zh-CN" altLang="en-US" sz="2000" b="1" dirty="0">
                <a:effectLst>
                  <a:outerShdw blurRad="38100" dist="38100" dir="2700000" algn="tl">
                    <a:srgbClr val="000000">
                      <a:alpha val="43137"/>
                    </a:srgbClr>
                  </a:outerShdw>
                </a:effectLst>
              </a:rPr>
              <a:t>”，首次按压</a:t>
            </a:r>
            <a:r>
              <a:rPr lang="en-US" altLang="zh-CN" sz="2000" b="1" dirty="0">
                <a:effectLst>
                  <a:outerShdw blurRad="38100" dist="38100" dir="2700000" algn="tl">
                    <a:srgbClr val="000000">
                      <a:alpha val="43137"/>
                    </a:srgbClr>
                  </a:outerShdw>
                </a:effectLst>
              </a:rPr>
              <a:t>K1</a:t>
            </a:r>
            <a:r>
              <a:rPr lang="zh-CN" altLang="en-US" sz="2000" b="1" dirty="0">
                <a:effectLst>
                  <a:outerShdw blurRad="38100" dist="38100" dir="2700000" algn="tl">
                    <a:srgbClr val="000000">
                      <a:alpha val="43137"/>
                    </a:srgbClr>
                  </a:outerShdw>
                </a:effectLst>
              </a:rPr>
              <a:t>可产生“自下向上” 的流水灯运动</a:t>
            </a:r>
            <a:r>
              <a:rPr lang="en-US" altLang="zh-CN" sz="2000" b="1" dirty="0">
                <a:effectLst>
                  <a:outerShdw blurRad="38100" dist="38100" dir="2700000" algn="tl">
                    <a:srgbClr val="000000">
                      <a:alpha val="43137"/>
                    </a:srgbClr>
                  </a:outerShdw>
                </a:effectLst>
              </a:rPr>
              <a:t>;</a:t>
            </a:r>
          </a:p>
          <a:p>
            <a:pPr eaLnBrk="1" hangingPunct="1">
              <a:spcBef>
                <a:spcPct val="0"/>
              </a:spcBef>
              <a:buFontTx/>
              <a:buNone/>
            </a:pPr>
            <a:r>
              <a:rPr lang="en-US" altLang="zh-CN" sz="2000" b="1" dirty="0">
                <a:effectLst>
                  <a:outerShdw blurRad="38100" dist="38100" dir="2700000" algn="tl">
                    <a:srgbClr val="000000">
                      <a:alpha val="43137"/>
                    </a:srgbClr>
                  </a:outerShdw>
                </a:effectLst>
              </a:rPr>
              <a:t>  K2 </a:t>
            </a:r>
            <a:r>
              <a:rPr lang="zh-CN" altLang="en-US" sz="2000" b="1" dirty="0">
                <a:effectLst>
                  <a:outerShdw blurRad="38100" dist="38100" dir="2700000" algn="tl">
                    <a:srgbClr val="000000">
                      <a:alpha val="43137"/>
                    </a:srgbClr>
                  </a:outerShdw>
                </a:effectLst>
              </a:rPr>
              <a:t>为“</a:t>
            </a:r>
            <a:r>
              <a:rPr lang="zh-CN" altLang="en-US" sz="2000" b="1" dirty="0">
                <a:solidFill>
                  <a:srgbClr val="CC0000"/>
                </a:solidFill>
                <a:effectLst>
                  <a:outerShdw blurRad="38100" dist="38100" dir="2700000" algn="tl">
                    <a:srgbClr val="000000">
                      <a:alpha val="43137"/>
                    </a:srgbClr>
                  </a:outerShdw>
                </a:effectLst>
              </a:rPr>
              <a:t>停止键</a:t>
            </a:r>
            <a:r>
              <a:rPr lang="zh-CN" altLang="en-US" sz="2000" b="1" dirty="0">
                <a:effectLst>
                  <a:outerShdw blurRad="38100" dist="38100" dir="2700000" algn="tl">
                    <a:srgbClr val="000000">
                      <a:alpha val="43137"/>
                    </a:srgbClr>
                  </a:outerShdw>
                </a:effectLst>
              </a:rPr>
              <a:t>”，按压</a:t>
            </a:r>
            <a:r>
              <a:rPr lang="en-US" altLang="zh-CN" sz="2000" b="1" dirty="0">
                <a:effectLst>
                  <a:outerShdw blurRad="38100" dist="38100" dir="2700000" algn="tl">
                    <a:srgbClr val="000000">
                      <a:alpha val="43137"/>
                    </a:srgbClr>
                  </a:outerShdw>
                </a:effectLst>
              </a:rPr>
              <a:t>K2</a:t>
            </a:r>
            <a:r>
              <a:rPr lang="zh-CN" altLang="en-US" sz="2000" b="1" dirty="0">
                <a:effectLst>
                  <a:outerShdw blurRad="38100" dist="38100" dir="2700000" algn="tl">
                    <a:srgbClr val="000000">
                      <a:alpha val="43137"/>
                    </a:srgbClr>
                  </a:outerShdw>
                </a:effectLst>
              </a:rPr>
              <a:t>可终止流水灯的运动；</a:t>
            </a:r>
          </a:p>
          <a:p>
            <a:pPr eaLnBrk="1" hangingPunct="1">
              <a:spcBef>
                <a:spcPct val="0"/>
              </a:spcBef>
              <a:buFontTx/>
              <a:buNone/>
            </a:pPr>
            <a:r>
              <a:rPr lang="zh-CN" altLang="en-US" sz="2000" b="1" dirty="0">
                <a:effectLst>
                  <a:outerShdw blurRad="38100" dist="38100" dir="2700000" algn="tl">
                    <a:srgbClr val="000000">
                      <a:alpha val="43137"/>
                    </a:srgbClr>
                  </a:outerShdw>
                </a:effectLst>
              </a:rPr>
              <a:t>  </a:t>
            </a:r>
            <a:r>
              <a:rPr lang="en-US" altLang="zh-CN" sz="2000" b="1" dirty="0">
                <a:effectLst>
                  <a:outerShdw blurRad="38100" dist="38100" dir="2700000" algn="tl">
                    <a:srgbClr val="000000">
                      <a:alpha val="43137"/>
                    </a:srgbClr>
                  </a:outerShdw>
                </a:effectLst>
              </a:rPr>
              <a:t>K3</a:t>
            </a:r>
            <a:r>
              <a:rPr lang="zh-CN" altLang="en-US" sz="2000" b="1" dirty="0">
                <a:effectLst>
                  <a:outerShdw blurRad="38100" dist="38100" dir="2700000" algn="tl">
                    <a:srgbClr val="000000">
                      <a:alpha val="43137"/>
                    </a:srgbClr>
                  </a:outerShdw>
                </a:effectLst>
              </a:rPr>
              <a:t>和</a:t>
            </a:r>
            <a:r>
              <a:rPr lang="en-US" altLang="zh-CN" sz="2000" b="1" dirty="0">
                <a:effectLst>
                  <a:outerShdw blurRad="38100" dist="38100" dir="2700000" algn="tl">
                    <a:srgbClr val="000000">
                      <a:alpha val="43137"/>
                    </a:srgbClr>
                  </a:outerShdw>
                </a:effectLst>
              </a:rPr>
              <a:t>K4</a:t>
            </a:r>
            <a:r>
              <a:rPr lang="zh-CN" altLang="en-US" sz="2000" b="1" dirty="0">
                <a:effectLst>
                  <a:outerShdw blurRad="38100" dist="38100" dir="2700000" algn="tl">
                    <a:srgbClr val="000000">
                      <a:alpha val="43137"/>
                    </a:srgbClr>
                  </a:outerShdw>
                </a:effectLst>
              </a:rPr>
              <a:t>为“</a:t>
            </a:r>
            <a:r>
              <a:rPr lang="zh-CN" altLang="en-US" sz="2000" b="1" dirty="0">
                <a:solidFill>
                  <a:srgbClr val="CC0000"/>
                </a:solidFill>
                <a:effectLst>
                  <a:outerShdw blurRad="38100" dist="38100" dir="2700000" algn="tl">
                    <a:srgbClr val="000000">
                      <a:alpha val="43137"/>
                    </a:srgbClr>
                  </a:outerShdw>
                </a:effectLst>
              </a:rPr>
              <a:t>方向键</a:t>
            </a:r>
            <a:r>
              <a:rPr lang="zh-CN" altLang="en-US" sz="2000" b="1" dirty="0">
                <a:effectLst>
                  <a:outerShdw blurRad="38100" dist="38100" dir="2700000" algn="tl">
                    <a:srgbClr val="000000">
                      <a:alpha val="43137"/>
                    </a:srgbClr>
                  </a:outerShdw>
                </a:effectLst>
              </a:rPr>
              <a:t>”</a:t>
            </a:r>
            <a:r>
              <a:rPr lang="en-US" altLang="zh-CN" sz="2000" b="1" dirty="0">
                <a:effectLst>
                  <a:outerShdw blurRad="38100" dist="38100" dir="2700000" algn="tl">
                    <a:srgbClr val="000000">
                      <a:alpha val="43137"/>
                    </a:srgbClr>
                  </a:outerShdw>
                </a:effectLst>
              </a:rPr>
              <a:t>,</a:t>
            </a:r>
            <a:r>
              <a:rPr lang="zh-CN" altLang="en-US" sz="2000" b="1" dirty="0">
                <a:effectLst>
                  <a:outerShdw blurRad="38100" dist="38100" dir="2700000" algn="tl">
                    <a:srgbClr val="000000">
                      <a:alpha val="43137"/>
                    </a:srgbClr>
                  </a:outerShdw>
                </a:effectLst>
              </a:rPr>
              <a:t>分别产生 “自上向下”和 “自下向上” 运动。</a:t>
            </a:r>
          </a:p>
        </p:txBody>
      </p:sp>
      <p:pic>
        <p:nvPicPr>
          <p:cNvPr id="11272" name="Picture 22" descr="实例1"/>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23698" t="23399" r="30119" b="24060"/>
          <a:stretch>
            <a:fillRect/>
          </a:stretch>
        </p:blipFill>
        <p:spPr bwMode="auto">
          <a:xfrm>
            <a:off x="2076025" y="2686047"/>
            <a:ext cx="4775200" cy="376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2">
            <a:extLst>
              <a:ext uri="{FF2B5EF4-FFF2-40B4-BE49-F238E27FC236}">
                <a16:creationId xmlns:a16="http://schemas.microsoft.com/office/drawing/2014/main" id="{1C95C3FB-D000-4310-B851-8C781C7CCBDC}"/>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2291"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2292" name="Rectangle 4"/>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2293" name="Text Box 16"/>
          <p:cNvSpPr txBox="1">
            <a:spLocks noChangeArrowheads="1"/>
          </p:cNvSpPr>
          <p:nvPr/>
        </p:nvSpPr>
        <p:spPr bwMode="auto">
          <a:xfrm>
            <a:off x="376238" y="952500"/>
            <a:ext cx="8269287" cy="175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dirty="0">
                <a:solidFill>
                  <a:srgbClr val="FF3300"/>
                </a:solidFill>
                <a:effectLst>
                  <a:outerShdw blurRad="38100" dist="38100" dir="2700000" algn="tl">
                    <a:srgbClr val="000000">
                      <a:alpha val="43137"/>
                    </a:srgbClr>
                  </a:outerShdw>
                </a:effectLst>
              </a:rPr>
              <a:t>思路分析</a:t>
            </a:r>
            <a:r>
              <a:rPr lang="zh-CN" altLang="en-US" sz="2400" b="1" dirty="0">
                <a:effectLst>
                  <a:outerShdw blurRad="38100" dist="38100" dir="2700000" algn="tl">
                    <a:srgbClr val="000000">
                      <a:alpha val="43137"/>
                    </a:srgbClr>
                  </a:outerShdw>
                </a:effectLst>
              </a:rPr>
              <a:t>：</a:t>
            </a:r>
            <a:endParaRPr lang="en-US" altLang="zh-CN" sz="2400" b="1" dirty="0">
              <a:effectLst>
                <a:outerShdw blurRad="38100" dist="38100" dir="2700000" algn="tl">
                  <a:srgbClr val="000000">
                    <a:alpha val="43137"/>
                  </a:srgbClr>
                </a:outerShdw>
              </a:effectLst>
            </a:endParaRPr>
          </a:p>
          <a:p>
            <a:pPr eaLnBrk="1" hangingPunct="1">
              <a:spcBef>
                <a:spcPct val="50000"/>
              </a:spcBef>
              <a:buFontTx/>
              <a:buNone/>
            </a:pPr>
            <a:r>
              <a:rPr lang="zh-CN" altLang="zh-CN" sz="2400" b="1" dirty="0">
                <a:effectLst>
                  <a:outerShdw blurRad="38100" dist="38100" dir="2700000" algn="tl">
                    <a:srgbClr val="000000">
                      <a:alpha val="43137"/>
                    </a:srgbClr>
                  </a:outerShdw>
                </a:effectLst>
              </a:rPr>
              <a:t>①通过读取键值引导程序进行分支控制。需要设立两个可根据键值修改的标志变量，然后再根据标志变量的组合关系控制流水灯的流向与启停</a:t>
            </a:r>
            <a:r>
              <a:rPr lang="zh-CN" altLang="en-US" sz="2400" b="1" dirty="0">
                <a:effectLst>
                  <a:outerShdw blurRad="38100" dist="38100" dir="2700000" algn="tl">
                    <a:srgbClr val="000000">
                      <a:alpha val="43137"/>
                    </a:srgbClr>
                  </a:outerShdw>
                </a:effectLst>
              </a:rPr>
              <a:t>。</a:t>
            </a:r>
          </a:p>
        </p:txBody>
      </p:sp>
      <p:pic>
        <p:nvPicPr>
          <p:cNvPr id="312337" name="Picture 17"/>
          <p:cNvPicPr>
            <a:picLocks noChangeAspect="1" noChangeArrowheads="1"/>
          </p:cNvPicPr>
          <p:nvPr/>
        </p:nvPicPr>
        <p:blipFill>
          <a:blip r:embed="rId2">
            <a:extLst>
              <a:ext uri="{28A0092B-C50C-407E-A947-70E740481C1C}">
                <a14:useLocalDpi xmlns:a14="http://schemas.microsoft.com/office/drawing/2010/main" val="0"/>
              </a:ext>
            </a:extLst>
          </a:blip>
          <a:srcRect l="17548" t="42052" r="18288" b="42236"/>
          <a:stretch>
            <a:fillRect/>
          </a:stretch>
        </p:blipFill>
        <p:spPr bwMode="auto">
          <a:xfrm>
            <a:off x="3816350" y="4483099"/>
            <a:ext cx="4951730" cy="1136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2338" name="Rectangle 5"/>
          <p:cNvSpPr>
            <a:spLocks noChangeArrowheads="1"/>
          </p:cNvSpPr>
          <p:nvPr/>
        </p:nvSpPr>
        <p:spPr bwMode="auto">
          <a:xfrm>
            <a:off x="1233488" y="5818187"/>
            <a:ext cx="2219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dirty="0"/>
              <a:t>分支控制流程图</a:t>
            </a:r>
          </a:p>
        </p:txBody>
      </p:sp>
      <p:pic>
        <p:nvPicPr>
          <p:cNvPr id="312339" name="Picture 19"/>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19434" t="15289" r="33611" b="30428"/>
          <a:stretch>
            <a:fillRect/>
          </a:stretch>
        </p:blipFill>
        <p:spPr bwMode="auto">
          <a:xfrm>
            <a:off x="655637" y="2717804"/>
            <a:ext cx="3165027" cy="3187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3816350" y="2706688"/>
            <a:ext cx="4635500" cy="1570037"/>
          </a:xfrm>
          <a:prstGeom prst="rect">
            <a:avLst/>
          </a:prstGeom>
        </p:spPr>
        <p:txBody>
          <a:bodyPr>
            <a:spAutoFit/>
          </a:bodyPr>
          <a:lstStyle/>
          <a:p>
            <a:pPr>
              <a:defRPr/>
            </a:pPr>
            <a:r>
              <a:rPr lang="zh-CN" altLang="zh-CN" b="1" kern="0" dirty="0">
                <a:effectLst>
                  <a:outerShdw blurRad="38100" dist="38100" dir="2700000" algn="tl">
                    <a:srgbClr val="000000">
                      <a:alpha val="43137"/>
                    </a:srgbClr>
                  </a:outerShdw>
                </a:effectLst>
                <a:cs typeface="宋体" panose="02010600030101010101" pitchFamily="2" charset="-122"/>
              </a:rPr>
              <a:t>②流水灯的控制</a:t>
            </a:r>
            <a:r>
              <a:rPr lang="zh-CN" altLang="en-US" b="1" kern="0" dirty="0">
                <a:effectLst>
                  <a:outerShdw blurRad="38100" dist="38100" dir="2700000" algn="tl">
                    <a:srgbClr val="000000">
                      <a:alpha val="43137"/>
                    </a:srgbClr>
                  </a:outerShdw>
                </a:effectLst>
                <a:cs typeface="宋体" panose="02010600030101010101" pitchFamily="2" charset="-122"/>
              </a:rPr>
              <a:t>：</a:t>
            </a:r>
            <a:r>
              <a:rPr lang="zh-CN" altLang="zh-CN" b="1" kern="0" dirty="0">
                <a:effectLst>
                  <a:outerShdw blurRad="38100" dist="38100" dir="2700000" algn="tl">
                    <a:srgbClr val="000000">
                      <a:alpha val="43137"/>
                    </a:srgbClr>
                  </a:outerShdw>
                </a:effectLst>
                <a:cs typeface="宋体" panose="02010600030101010101" pitchFamily="2" charset="-122"/>
              </a:rPr>
              <a:t>提前将</a:t>
            </a:r>
            <a:r>
              <a:rPr lang="en-US" altLang="zh-CN" b="1" kern="0" dirty="0">
                <a:effectLst>
                  <a:outerShdw blurRad="38100" dist="38100" dir="2700000" algn="tl">
                    <a:srgbClr val="000000">
                      <a:alpha val="43137"/>
                    </a:srgbClr>
                  </a:outerShdw>
                </a:effectLst>
                <a:cs typeface="宋体" panose="02010600030101010101" pitchFamily="2" charset="-122"/>
              </a:rPr>
              <a:t>4</a:t>
            </a:r>
            <a:r>
              <a:rPr lang="zh-CN" altLang="zh-CN" b="1" kern="0" dirty="0">
                <a:effectLst>
                  <a:outerShdw blurRad="38100" dist="38100" dir="2700000" algn="tl">
                    <a:srgbClr val="000000">
                      <a:alpha val="43137"/>
                    </a:srgbClr>
                  </a:outerShdw>
                </a:effectLst>
                <a:cs typeface="宋体" panose="02010600030101010101" pitchFamily="2" charset="-122"/>
              </a:rPr>
              <a:t>种亮灯花样数据作为数组元素存入数组</a:t>
            </a:r>
            <a:r>
              <a:rPr lang="en-US" altLang="zh-CN" b="1" kern="0" dirty="0">
                <a:effectLst>
                  <a:outerShdw blurRad="38100" dist="38100" dir="2700000" algn="tl">
                    <a:srgbClr val="000000">
                      <a:alpha val="43137"/>
                    </a:srgbClr>
                  </a:outerShdw>
                </a:effectLst>
                <a:cs typeface="宋体" panose="02010600030101010101" pitchFamily="2" charset="-122"/>
              </a:rPr>
              <a:t>led</a:t>
            </a:r>
            <a:r>
              <a:rPr lang="zh-CN" altLang="zh-CN" b="1" kern="0" dirty="0">
                <a:effectLst>
                  <a:outerShdw blurRad="38100" dist="38100" dir="2700000" algn="tl">
                    <a:srgbClr val="000000">
                      <a:alpha val="43137"/>
                    </a:srgbClr>
                  </a:outerShdw>
                </a:effectLst>
                <a:cs typeface="宋体" panose="02010600030101010101" pitchFamily="2" charset="-122"/>
              </a:rPr>
              <a:t>中，然后再利用下标法依次调用。</a:t>
            </a:r>
            <a:endParaRPr lang="zh-CN" altLang="en-US" b="1" dirty="0">
              <a:effectLst>
                <a:outerShdw blurRad="38100" dist="38100" dir="2700000" algn="tl">
                  <a:srgbClr val="000000">
                    <a:alpha val="43137"/>
                  </a:srgbClr>
                </a:outerShdw>
              </a:effectLst>
            </a:endParaRPr>
          </a:p>
        </p:txBody>
      </p:sp>
      <p:sp>
        <p:nvSpPr>
          <p:cNvPr id="11" name="Rectangle 2">
            <a:extLst>
              <a:ext uri="{FF2B5EF4-FFF2-40B4-BE49-F238E27FC236}">
                <a16:creationId xmlns:a16="http://schemas.microsoft.com/office/drawing/2014/main" id="{A4FC1163-9D19-433B-A048-8C268E5773CF}"/>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12337"/>
                                        </p:tgtEl>
                                        <p:attrNameLst>
                                          <p:attrName>style.visibility</p:attrName>
                                        </p:attrNameLst>
                                      </p:cBhvr>
                                      <p:to>
                                        <p:strVal val="visible"/>
                                      </p:to>
                                    </p:set>
                                    <p:animEffect transition="in" filter="blinds(horizontal)">
                                      <p:cBhvr>
                                        <p:cTn id="7" dur="500"/>
                                        <p:tgtEl>
                                          <p:spTgt spid="31233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12339"/>
                                        </p:tgtEl>
                                        <p:attrNameLst>
                                          <p:attrName>style.visibility</p:attrName>
                                        </p:attrNameLst>
                                      </p:cBhvr>
                                      <p:to>
                                        <p:strVal val="visible"/>
                                      </p:to>
                                    </p:set>
                                    <p:animEffect transition="in" filter="blinds(horizontal)">
                                      <p:cBhvr>
                                        <p:cTn id="12" dur="500"/>
                                        <p:tgtEl>
                                          <p:spTgt spid="312339"/>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12338"/>
                                        </p:tgtEl>
                                        <p:attrNameLst>
                                          <p:attrName>style.visibility</p:attrName>
                                        </p:attrNameLst>
                                      </p:cBhvr>
                                      <p:to>
                                        <p:strVal val="visible"/>
                                      </p:to>
                                    </p:set>
                                    <p:animEffect transition="in" filter="blinds(horizontal)">
                                      <p:cBhvr>
                                        <p:cTn id="15" dur="500"/>
                                        <p:tgtEl>
                                          <p:spTgt spid="312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233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31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316" name="Rectangle 4"/>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312368" name="Text Box 48"/>
          <p:cNvSpPr txBox="1">
            <a:spLocks noChangeArrowheads="1"/>
          </p:cNvSpPr>
          <p:nvPr/>
        </p:nvSpPr>
        <p:spPr bwMode="auto">
          <a:xfrm>
            <a:off x="4789488" y="2185988"/>
            <a:ext cx="2609850" cy="2097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dirty="0">
                <a:effectLst>
                  <a:outerShdw blurRad="38100" dist="38100" dir="2700000" algn="tl">
                    <a:srgbClr val="000000">
                      <a:alpha val="43137"/>
                    </a:srgbClr>
                  </a:outerShdw>
                </a:effectLst>
              </a:rPr>
              <a:t>按</a:t>
            </a:r>
            <a:r>
              <a:rPr lang="zh-CN" altLang="en-US" sz="1800" b="1" dirty="0">
                <a:solidFill>
                  <a:srgbClr val="FF3300"/>
                </a:solidFill>
                <a:effectLst>
                  <a:outerShdw blurRad="38100" dist="38100" dir="2700000" algn="tl">
                    <a:srgbClr val="000000">
                      <a:alpha val="43137"/>
                    </a:srgbClr>
                  </a:outerShdw>
                </a:effectLst>
              </a:rPr>
              <a:t>键</a:t>
            </a:r>
            <a:r>
              <a:rPr lang="zh-CN" altLang="en-US" sz="1800" b="1" dirty="0">
                <a:effectLst>
                  <a:outerShdw blurRad="38100" dist="38100" dir="2700000" algn="tl">
                    <a:srgbClr val="000000">
                      <a:alpha val="43137"/>
                    </a:srgbClr>
                  </a:outerShdw>
                </a:effectLst>
              </a:rPr>
              <a:t>状态</a:t>
            </a:r>
            <a:r>
              <a:rPr lang="zh-CN" altLang="en-US" sz="1800" b="1" dirty="0">
                <a:solidFill>
                  <a:srgbClr val="FF3300"/>
                </a:solidFill>
                <a:effectLst>
                  <a:outerShdw blurRad="38100" dist="38100" dir="2700000" algn="tl">
                    <a:srgbClr val="000000">
                      <a:alpha val="43137"/>
                    </a:srgbClr>
                  </a:outerShdw>
                </a:effectLst>
              </a:rPr>
              <a:t>值</a:t>
            </a:r>
            <a:r>
              <a:rPr lang="zh-CN" altLang="en-US" sz="1800" b="1" dirty="0">
                <a:effectLst>
                  <a:outerShdw blurRad="38100" dist="38100" dir="2700000" algn="tl">
                    <a:srgbClr val="000000">
                      <a:alpha val="43137"/>
                    </a:srgbClr>
                  </a:outerShdw>
                </a:effectLst>
              </a:rPr>
              <a:t>：</a:t>
            </a:r>
          </a:p>
          <a:p>
            <a:pPr eaLnBrk="1" hangingPunct="1">
              <a:spcBef>
                <a:spcPct val="30000"/>
              </a:spcBef>
              <a:buFontTx/>
              <a:buNone/>
            </a:pPr>
            <a:r>
              <a:rPr lang="zh-CN" altLang="en-US" sz="1800" b="1" dirty="0">
                <a:effectLst>
                  <a:outerShdw blurRad="38100" dist="38100" dir="2700000" algn="tl">
                    <a:srgbClr val="000000">
                      <a:alpha val="43137"/>
                    </a:srgbClr>
                  </a:outerShdw>
                </a:effectLst>
              </a:rPr>
              <a:t>无按键</a:t>
            </a:r>
            <a:r>
              <a:rPr lang="en-US" altLang="zh-CN" sz="1800" b="1" dirty="0">
                <a:effectLst>
                  <a:outerShdw blurRad="38100" dist="38100" dir="2700000" algn="tl">
                    <a:srgbClr val="000000">
                      <a:alpha val="43137"/>
                    </a:srgbClr>
                  </a:outerShdw>
                </a:effectLst>
              </a:rPr>
              <a:t>—— </a:t>
            </a:r>
            <a:r>
              <a:rPr lang="en-US" altLang="zh-CN" sz="1800" b="1" dirty="0" err="1">
                <a:effectLst>
                  <a:outerShdw blurRad="38100" dist="38100" dir="2700000" algn="tl">
                    <a:srgbClr val="000000">
                      <a:alpha val="43137"/>
                    </a:srgbClr>
                  </a:outerShdw>
                </a:effectLst>
              </a:rPr>
              <a:t>xxxx</a:t>
            </a:r>
            <a:r>
              <a:rPr lang="en-US" altLang="zh-CN" sz="1800" b="1" dirty="0">
                <a:effectLst>
                  <a:outerShdw blurRad="38100" dist="38100" dir="2700000" algn="tl">
                    <a:srgbClr val="000000">
                      <a:alpha val="43137"/>
                    </a:srgbClr>
                  </a:outerShdw>
                </a:effectLst>
              </a:rPr>
              <a:t> 1111B</a:t>
            </a:r>
            <a:endParaRPr lang="zh-CN" altLang="en-US" sz="1800" b="1" dirty="0">
              <a:effectLst>
                <a:outerShdw blurRad="38100" dist="38100" dir="2700000" algn="tl">
                  <a:srgbClr val="000000">
                    <a:alpha val="43137"/>
                  </a:srgbClr>
                </a:outerShdw>
              </a:effectLst>
            </a:endParaRPr>
          </a:p>
          <a:p>
            <a:pPr eaLnBrk="1" hangingPunct="1">
              <a:spcBef>
                <a:spcPct val="0"/>
              </a:spcBef>
              <a:buFontTx/>
              <a:buNone/>
            </a:pPr>
            <a:r>
              <a:rPr lang="zh-CN" altLang="en-US" sz="1800" b="1" dirty="0">
                <a:effectLst>
                  <a:outerShdw blurRad="38100" dist="38100" dir="2700000" algn="tl">
                    <a:srgbClr val="000000">
                      <a:alpha val="43137"/>
                    </a:srgbClr>
                  </a:outerShdw>
                </a:effectLst>
              </a:rPr>
              <a:t>按压</a:t>
            </a:r>
            <a:r>
              <a:rPr lang="en-US" altLang="zh-CN" sz="1800" b="1" dirty="0">
                <a:effectLst>
                  <a:outerShdw blurRad="38100" dist="38100" dir="2700000" algn="tl">
                    <a:srgbClr val="000000">
                      <a:alpha val="43137"/>
                    </a:srgbClr>
                  </a:outerShdw>
                </a:effectLst>
              </a:rPr>
              <a:t>K1——</a:t>
            </a:r>
            <a:r>
              <a:rPr lang="en-US" altLang="zh-CN" sz="1800" b="1" dirty="0" err="1">
                <a:effectLst>
                  <a:outerShdw blurRad="38100" dist="38100" dir="2700000" algn="tl">
                    <a:srgbClr val="000000">
                      <a:alpha val="43137"/>
                    </a:srgbClr>
                  </a:outerShdw>
                </a:effectLst>
              </a:rPr>
              <a:t>xxxx</a:t>
            </a:r>
            <a:r>
              <a:rPr lang="en-US" altLang="zh-CN" sz="1800" b="1" dirty="0">
                <a:effectLst>
                  <a:outerShdw blurRad="38100" dist="38100" dir="2700000" algn="tl">
                    <a:srgbClr val="000000">
                      <a:alpha val="43137"/>
                    </a:srgbClr>
                  </a:outerShdw>
                </a:effectLst>
              </a:rPr>
              <a:t> 1110B</a:t>
            </a:r>
            <a:endParaRPr lang="zh-CN" altLang="en-US" sz="1800" b="1" dirty="0">
              <a:effectLst>
                <a:outerShdw blurRad="38100" dist="38100" dir="2700000" algn="tl">
                  <a:srgbClr val="000000">
                    <a:alpha val="43137"/>
                  </a:srgbClr>
                </a:outerShdw>
              </a:effectLst>
            </a:endParaRPr>
          </a:p>
          <a:p>
            <a:pPr eaLnBrk="1" hangingPunct="1">
              <a:spcBef>
                <a:spcPct val="0"/>
              </a:spcBef>
              <a:buFontTx/>
              <a:buNone/>
            </a:pPr>
            <a:r>
              <a:rPr lang="zh-CN" altLang="en-US" sz="1800" b="1" dirty="0">
                <a:effectLst>
                  <a:outerShdw blurRad="38100" dist="38100" dir="2700000" algn="tl">
                    <a:srgbClr val="000000">
                      <a:alpha val="43137"/>
                    </a:srgbClr>
                  </a:outerShdw>
                </a:effectLst>
              </a:rPr>
              <a:t>按压</a:t>
            </a:r>
            <a:r>
              <a:rPr lang="en-US" altLang="zh-CN" sz="1800" b="1" dirty="0">
                <a:effectLst>
                  <a:outerShdw blurRad="38100" dist="38100" dir="2700000" algn="tl">
                    <a:srgbClr val="000000">
                      <a:alpha val="43137"/>
                    </a:srgbClr>
                  </a:outerShdw>
                </a:effectLst>
              </a:rPr>
              <a:t>K2——</a:t>
            </a:r>
            <a:r>
              <a:rPr lang="en-US" altLang="zh-CN" sz="1800" b="1" dirty="0" err="1">
                <a:effectLst>
                  <a:outerShdw blurRad="38100" dist="38100" dir="2700000" algn="tl">
                    <a:srgbClr val="000000">
                      <a:alpha val="43137"/>
                    </a:srgbClr>
                  </a:outerShdw>
                </a:effectLst>
              </a:rPr>
              <a:t>xxxx</a:t>
            </a:r>
            <a:r>
              <a:rPr lang="en-US" altLang="zh-CN" sz="1800" b="1" dirty="0">
                <a:effectLst>
                  <a:outerShdw blurRad="38100" dist="38100" dir="2700000" algn="tl">
                    <a:srgbClr val="000000">
                      <a:alpha val="43137"/>
                    </a:srgbClr>
                  </a:outerShdw>
                </a:effectLst>
              </a:rPr>
              <a:t> 1101B</a:t>
            </a:r>
            <a:endParaRPr lang="zh-CN" altLang="en-US" sz="1800" b="1" dirty="0">
              <a:effectLst>
                <a:outerShdw blurRad="38100" dist="38100" dir="2700000" algn="tl">
                  <a:srgbClr val="000000">
                    <a:alpha val="43137"/>
                  </a:srgbClr>
                </a:outerShdw>
              </a:effectLst>
            </a:endParaRPr>
          </a:p>
          <a:p>
            <a:pPr eaLnBrk="1" hangingPunct="1">
              <a:spcBef>
                <a:spcPct val="0"/>
              </a:spcBef>
              <a:buFontTx/>
              <a:buNone/>
            </a:pPr>
            <a:r>
              <a:rPr lang="zh-CN" altLang="en-US" sz="1800" b="1" dirty="0">
                <a:effectLst>
                  <a:outerShdw blurRad="38100" dist="38100" dir="2700000" algn="tl">
                    <a:srgbClr val="000000">
                      <a:alpha val="43137"/>
                    </a:srgbClr>
                  </a:outerShdw>
                </a:effectLst>
              </a:rPr>
              <a:t>按压</a:t>
            </a:r>
            <a:r>
              <a:rPr lang="en-US" altLang="zh-CN" sz="1800" b="1" dirty="0">
                <a:effectLst>
                  <a:outerShdw blurRad="38100" dist="38100" dir="2700000" algn="tl">
                    <a:srgbClr val="000000">
                      <a:alpha val="43137"/>
                    </a:srgbClr>
                  </a:outerShdw>
                </a:effectLst>
              </a:rPr>
              <a:t>K3——</a:t>
            </a:r>
            <a:r>
              <a:rPr lang="en-US" altLang="zh-CN" sz="1800" b="1" dirty="0" err="1">
                <a:effectLst>
                  <a:outerShdw blurRad="38100" dist="38100" dir="2700000" algn="tl">
                    <a:srgbClr val="000000">
                      <a:alpha val="43137"/>
                    </a:srgbClr>
                  </a:outerShdw>
                </a:effectLst>
              </a:rPr>
              <a:t>xxxx</a:t>
            </a:r>
            <a:r>
              <a:rPr lang="en-US" altLang="zh-CN" sz="1800" b="1" dirty="0">
                <a:effectLst>
                  <a:outerShdw blurRad="38100" dist="38100" dir="2700000" algn="tl">
                    <a:srgbClr val="000000">
                      <a:alpha val="43137"/>
                    </a:srgbClr>
                  </a:outerShdw>
                </a:effectLst>
              </a:rPr>
              <a:t> 1011B </a:t>
            </a:r>
          </a:p>
          <a:p>
            <a:pPr eaLnBrk="1" hangingPunct="1">
              <a:spcBef>
                <a:spcPct val="0"/>
              </a:spcBef>
              <a:buFontTx/>
              <a:buNone/>
            </a:pPr>
            <a:r>
              <a:rPr lang="zh-CN" altLang="en-US" sz="1800" b="1" dirty="0">
                <a:effectLst>
                  <a:outerShdw blurRad="38100" dist="38100" dir="2700000" algn="tl">
                    <a:srgbClr val="000000">
                      <a:alpha val="43137"/>
                    </a:srgbClr>
                  </a:outerShdw>
                </a:effectLst>
              </a:rPr>
              <a:t>按压</a:t>
            </a:r>
            <a:r>
              <a:rPr lang="en-US" altLang="zh-CN" sz="1800" b="1" dirty="0">
                <a:effectLst>
                  <a:outerShdw blurRad="38100" dist="38100" dir="2700000" algn="tl">
                    <a:srgbClr val="000000">
                      <a:alpha val="43137"/>
                    </a:srgbClr>
                  </a:outerShdw>
                </a:effectLst>
              </a:rPr>
              <a:t>K4——</a:t>
            </a:r>
            <a:r>
              <a:rPr lang="en-US" altLang="zh-CN" sz="1800" b="1" dirty="0" err="1">
                <a:effectLst>
                  <a:outerShdw blurRad="38100" dist="38100" dir="2700000" algn="tl">
                    <a:srgbClr val="000000">
                      <a:alpha val="43137"/>
                    </a:srgbClr>
                  </a:outerShdw>
                </a:effectLst>
              </a:rPr>
              <a:t>xxxx</a:t>
            </a:r>
            <a:r>
              <a:rPr lang="en-US" altLang="zh-CN" sz="1800" b="1" dirty="0">
                <a:effectLst>
                  <a:outerShdw blurRad="38100" dist="38100" dir="2700000" algn="tl">
                    <a:srgbClr val="000000">
                      <a:alpha val="43137"/>
                    </a:srgbClr>
                  </a:outerShdw>
                </a:effectLst>
              </a:rPr>
              <a:t> 0111B</a:t>
            </a:r>
            <a:endParaRPr lang="zh-CN" altLang="en-US" sz="1800" b="1" dirty="0">
              <a:effectLst>
                <a:outerShdw blurRad="38100" dist="38100" dir="2700000" algn="tl">
                  <a:srgbClr val="000000">
                    <a:alpha val="43137"/>
                  </a:srgbClr>
                </a:outerShdw>
              </a:effectLst>
            </a:endParaRPr>
          </a:p>
          <a:p>
            <a:pPr eaLnBrk="1" hangingPunct="1">
              <a:spcBef>
                <a:spcPct val="0"/>
              </a:spcBef>
              <a:buFontTx/>
              <a:buNone/>
            </a:pPr>
            <a:endParaRPr lang="zh-CN" altLang="en-US" sz="1800" b="1" dirty="0">
              <a:effectLst>
                <a:outerShdw blurRad="38100" dist="38100" dir="2700000" algn="tl">
                  <a:srgbClr val="000000">
                    <a:alpha val="43137"/>
                  </a:srgbClr>
                </a:outerShdw>
              </a:effectLst>
            </a:endParaRPr>
          </a:p>
        </p:txBody>
      </p:sp>
      <p:sp>
        <p:nvSpPr>
          <p:cNvPr id="312369" name="Text Box 49"/>
          <p:cNvSpPr txBox="1">
            <a:spLocks noChangeArrowheads="1"/>
          </p:cNvSpPr>
          <p:nvPr/>
        </p:nvSpPr>
        <p:spPr bwMode="auto">
          <a:xfrm>
            <a:off x="698500" y="4691063"/>
            <a:ext cx="773906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dirty="0">
                <a:effectLst>
                  <a:outerShdw blurRad="38100" dist="38100" dir="2700000" algn="tl">
                    <a:srgbClr val="000000">
                      <a:alpha val="43137"/>
                    </a:srgbClr>
                  </a:outerShdw>
                </a:effectLst>
              </a:rPr>
              <a:t>按键动作判断</a:t>
            </a:r>
            <a:r>
              <a:rPr lang="en-US" altLang="zh-CN" sz="2400" b="1" dirty="0">
                <a:effectLst>
                  <a:outerShdw blurRad="38100" dist="38100" dir="2700000" algn="tl">
                    <a:srgbClr val="000000">
                      <a:alpha val="43137"/>
                    </a:srgbClr>
                  </a:outerShdw>
                </a:effectLst>
              </a:rPr>
              <a:t>——</a:t>
            </a:r>
            <a:r>
              <a:rPr lang="zh-CN" altLang="en-US" sz="2400" b="1" dirty="0">
                <a:effectLst>
                  <a:outerShdw blurRad="38100" dist="38100" dir="2700000" algn="tl">
                    <a:srgbClr val="000000">
                      <a:alpha val="43137"/>
                    </a:srgbClr>
                  </a:outerShdw>
                </a:effectLst>
              </a:rPr>
              <a:t>（</a:t>
            </a:r>
            <a:r>
              <a:rPr lang="en-US" altLang="zh-CN" sz="2400" b="1" dirty="0">
                <a:effectLst>
                  <a:outerShdw blurRad="38100" dist="38100" dir="2700000" algn="tl">
                    <a:srgbClr val="000000">
                      <a:alpha val="43137"/>
                    </a:srgbClr>
                  </a:outerShdw>
                </a:effectLst>
              </a:rPr>
              <a:t>P0 &amp; 0x0f</a:t>
            </a:r>
            <a:r>
              <a:rPr lang="zh-CN" altLang="en-US" sz="2400" b="1" dirty="0">
                <a:effectLst>
                  <a:outerShdw blurRad="38100" dist="38100" dir="2700000" algn="tl">
                    <a:srgbClr val="000000">
                      <a:alpha val="43137"/>
                    </a:srgbClr>
                  </a:outerShdw>
                </a:effectLst>
              </a:rPr>
              <a:t>）是否等于 </a:t>
            </a:r>
            <a:r>
              <a:rPr lang="en-US" altLang="zh-CN" sz="2400" b="1" dirty="0">
                <a:effectLst>
                  <a:outerShdw blurRad="38100" dist="38100" dir="2700000" algn="tl">
                    <a:srgbClr val="000000">
                      <a:alpha val="43137"/>
                    </a:srgbClr>
                  </a:outerShdw>
                </a:effectLst>
              </a:rPr>
              <a:t>0x0f</a:t>
            </a:r>
            <a:r>
              <a:rPr lang="zh-CN" altLang="en-US" sz="2400" b="1" dirty="0">
                <a:effectLst>
                  <a:outerShdw blurRad="38100" dist="38100" dir="2700000" algn="tl">
                    <a:srgbClr val="000000">
                      <a:alpha val="43137"/>
                    </a:srgbClr>
                  </a:outerShdw>
                </a:effectLst>
              </a:rPr>
              <a:t>？若是，说明无按键动作，反之则有按键动作。</a:t>
            </a:r>
          </a:p>
        </p:txBody>
      </p:sp>
      <p:sp>
        <p:nvSpPr>
          <p:cNvPr id="2" name="Text Box 48"/>
          <p:cNvSpPr txBox="1">
            <a:spLocks noChangeArrowheads="1"/>
          </p:cNvSpPr>
          <p:nvPr/>
        </p:nvSpPr>
        <p:spPr bwMode="auto">
          <a:xfrm>
            <a:off x="7269163" y="2552700"/>
            <a:ext cx="107950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a:solidFill>
                  <a:srgbClr val="FF3300"/>
                </a:solidFill>
                <a:effectLst>
                  <a:outerShdw blurRad="38100" dist="38100" dir="2700000" algn="tl">
                    <a:srgbClr val="000000">
                      <a:alpha val="43137"/>
                    </a:srgbClr>
                  </a:outerShdw>
                </a:effectLst>
              </a:rPr>
              <a:t>→</a:t>
            </a:r>
            <a:r>
              <a:rPr lang="en-US" altLang="zh-CN" sz="1800" b="1">
                <a:solidFill>
                  <a:srgbClr val="FF3300"/>
                </a:solidFill>
                <a:effectLst>
                  <a:outerShdw blurRad="38100" dist="38100" dir="2700000" algn="tl">
                    <a:srgbClr val="000000">
                      <a:alpha val="43137"/>
                    </a:srgbClr>
                  </a:outerShdw>
                </a:effectLst>
              </a:rPr>
              <a:t> 0x0f</a:t>
            </a:r>
            <a:endParaRPr lang="zh-CN" altLang="en-US" sz="1800" b="1">
              <a:solidFill>
                <a:srgbClr val="FF3300"/>
              </a:solidFill>
              <a:effectLst>
                <a:outerShdw blurRad="38100" dist="38100" dir="2700000" algn="tl">
                  <a:srgbClr val="000000">
                    <a:alpha val="43137"/>
                  </a:srgbClr>
                </a:outerShdw>
              </a:effectLst>
            </a:endParaRPr>
          </a:p>
          <a:p>
            <a:pPr eaLnBrk="1" hangingPunct="1">
              <a:spcBef>
                <a:spcPct val="0"/>
              </a:spcBef>
              <a:buFontTx/>
              <a:buNone/>
            </a:pPr>
            <a:r>
              <a:rPr lang="zh-CN" altLang="en-US" sz="1800" b="1">
                <a:solidFill>
                  <a:srgbClr val="FF3300"/>
                </a:solidFill>
                <a:effectLst>
                  <a:outerShdw blurRad="38100" dist="38100" dir="2700000" algn="tl">
                    <a:srgbClr val="000000">
                      <a:alpha val="43137"/>
                    </a:srgbClr>
                  </a:outerShdw>
                </a:effectLst>
              </a:rPr>
              <a:t>→</a:t>
            </a:r>
            <a:r>
              <a:rPr lang="en-US" altLang="zh-CN" sz="1800" b="1">
                <a:solidFill>
                  <a:srgbClr val="FF3300"/>
                </a:solidFill>
                <a:effectLst>
                  <a:outerShdw blurRad="38100" dist="38100" dir="2700000" algn="tl">
                    <a:srgbClr val="000000">
                      <a:alpha val="43137"/>
                    </a:srgbClr>
                  </a:outerShdw>
                </a:effectLst>
              </a:rPr>
              <a:t> 0x0e</a:t>
            </a:r>
            <a:endParaRPr lang="zh-CN" altLang="en-US" sz="1800" b="1">
              <a:solidFill>
                <a:srgbClr val="FF3300"/>
              </a:solidFill>
              <a:effectLst>
                <a:outerShdw blurRad="38100" dist="38100" dir="2700000" algn="tl">
                  <a:srgbClr val="000000">
                    <a:alpha val="43137"/>
                  </a:srgbClr>
                </a:outerShdw>
              </a:effectLst>
            </a:endParaRPr>
          </a:p>
          <a:p>
            <a:pPr eaLnBrk="1" hangingPunct="1">
              <a:spcBef>
                <a:spcPct val="0"/>
              </a:spcBef>
              <a:buFontTx/>
              <a:buNone/>
            </a:pPr>
            <a:r>
              <a:rPr lang="zh-CN" altLang="en-US" sz="1800" b="1">
                <a:solidFill>
                  <a:srgbClr val="FF3300"/>
                </a:solidFill>
                <a:effectLst>
                  <a:outerShdw blurRad="38100" dist="38100" dir="2700000" algn="tl">
                    <a:srgbClr val="000000">
                      <a:alpha val="43137"/>
                    </a:srgbClr>
                  </a:outerShdw>
                </a:effectLst>
              </a:rPr>
              <a:t>→</a:t>
            </a:r>
            <a:r>
              <a:rPr lang="en-US" altLang="zh-CN" sz="1800" b="1">
                <a:solidFill>
                  <a:srgbClr val="FF3300"/>
                </a:solidFill>
                <a:effectLst>
                  <a:outerShdw blurRad="38100" dist="38100" dir="2700000" algn="tl">
                    <a:srgbClr val="000000">
                      <a:alpha val="43137"/>
                    </a:srgbClr>
                  </a:outerShdw>
                </a:effectLst>
              </a:rPr>
              <a:t> 0x0d</a:t>
            </a:r>
            <a:endParaRPr lang="zh-CN" altLang="en-US" sz="1800" b="1">
              <a:solidFill>
                <a:srgbClr val="FF3300"/>
              </a:solidFill>
              <a:effectLst>
                <a:outerShdw blurRad="38100" dist="38100" dir="2700000" algn="tl">
                  <a:srgbClr val="000000">
                    <a:alpha val="43137"/>
                  </a:srgbClr>
                </a:outerShdw>
              </a:effectLst>
            </a:endParaRPr>
          </a:p>
          <a:p>
            <a:pPr eaLnBrk="1" hangingPunct="1">
              <a:spcBef>
                <a:spcPct val="0"/>
              </a:spcBef>
              <a:buFontTx/>
              <a:buNone/>
            </a:pPr>
            <a:r>
              <a:rPr lang="zh-CN" altLang="en-US" sz="1800" b="1">
                <a:solidFill>
                  <a:srgbClr val="FF3300"/>
                </a:solidFill>
                <a:effectLst>
                  <a:outerShdw blurRad="38100" dist="38100" dir="2700000" algn="tl">
                    <a:srgbClr val="000000">
                      <a:alpha val="43137"/>
                    </a:srgbClr>
                  </a:outerShdw>
                </a:effectLst>
              </a:rPr>
              <a:t>→</a:t>
            </a:r>
            <a:r>
              <a:rPr lang="en-US" altLang="zh-CN" sz="1800" b="1">
                <a:solidFill>
                  <a:srgbClr val="FF3300"/>
                </a:solidFill>
                <a:effectLst>
                  <a:outerShdw blurRad="38100" dist="38100" dir="2700000" algn="tl">
                    <a:srgbClr val="000000">
                      <a:alpha val="43137"/>
                    </a:srgbClr>
                  </a:outerShdw>
                </a:effectLst>
              </a:rPr>
              <a:t> 0x0b</a:t>
            </a:r>
            <a:endParaRPr lang="zh-CN" altLang="en-US" sz="1800" b="1">
              <a:solidFill>
                <a:srgbClr val="FF3300"/>
              </a:solidFill>
              <a:effectLst>
                <a:outerShdw blurRad="38100" dist="38100" dir="2700000" algn="tl">
                  <a:srgbClr val="000000">
                    <a:alpha val="43137"/>
                  </a:srgbClr>
                </a:outerShdw>
              </a:effectLst>
            </a:endParaRPr>
          </a:p>
          <a:p>
            <a:pPr eaLnBrk="1" hangingPunct="1">
              <a:spcBef>
                <a:spcPct val="0"/>
              </a:spcBef>
              <a:buFontTx/>
              <a:buNone/>
            </a:pPr>
            <a:r>
              <a:rPr lang="zh-CN" altLang="en-US" sz="1800" b="1">
                <a:solidFill>
                  <a:srgbClr val="FF3300"/>
                </a:solidFill>
                <a:effectLst>
                  <a:outerShdw blurRad="38100" dist="38100" dir="2700000" algn="tl">
                    <a:srgbClr val="000000">
                      <a:alpha val="43137"/>
                    </a:srgbClr>
                  </a:outerShdw>
                </a:effectLst>
              </a:rPr>
              <a:t>→</a:t>
            </a:r>
            <a:r>
              <a:rPr lang="en-US" altLang="zh-CN" sz="1800" b="1">
                <a:solidFill>
                  <a:srgbClr val="FF3300"/>
                </a:solidFill>
                <a:effectLst>
                  <a:outerShdw blurRad="38100" dist="38100" dir="2700000" algn="tl">
                    <a:srgbClr val="000000">
                      <a:alpha val="43137"/>
                    </a:srgbClr>
                  </a:outerShdw>
                </a:effectLst>
              </a:rPr>
              <a:t> 0x07</a:t>
            </a:r>
            <a:endParaRPr lang="zh-CN" altLang="en-US" sz="1800" b="1">
              <a:solidFill>
                <a:srgbClr val="FF3300"/>
              </a:solidFill>
              <a:effectLst>
                <a:outerShdw blurRad="38100" dist="38100" dir="2700000" algn="tl">
                  <a:srgbClr val="000000">
                    <a:alpha val="43137"/>
                  </a:srgbClr>
                </a:outerShdw>
              </a:effectLst>
            </a:endParaRPr>
          </a:p>
        </p:txBody>
      </p:sp>
      <p:sp>
        <p:nvSpPr>
          <p:cNvPr id="13320" name="Rectangle 5"/>
          <p:cNvSpPr>
            <a:spLocks noChangeArrowheads="1"/>
          </p:cNvSpPr>
          <p:nvPr/>
        </p:nvSpPr>
        <p:spPr bwMode="auto">
          <a:xfrm>
            <a:off x="595274" y="783431"/>
            <a:ext cx="25320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dirty="0">
                <a:solidFill>
                  <a:srgbClr val="0000FF"/>
                </a:solidFill>
                <a:effectLst>
                  <a:outerShdw blurRad="38100" dist="38100" dir="2700000" algn="tl">
                    <a:srgbClr val="000000">
                      <a:alpha val="43137"/>
                    </a:srgbClr>
                  </a:outerShdw>
                </a:effectLst>
              </a:rPr>
              <a:t>获取按键状态</a:t>
            </a:r>
            <a:endParaRPr lang="zh-CN" altLang="en-US" sz="2400" dirty="0">
              <a:solidFill>
                <a:srgbClr val="0000FF"/>
              </a:solidFill>
              <a:effectLst>
                <a:outerShdw blurRad="38100" dist="38100" dir="2700000" algn="tl">
                  <a:srgbClr val="000000">
                    <a:alpha val="43137"/>
                  </a:srgbClr>
                </a:outerShdw>
              </a:effectLst>
            </a:endParaRPr>
          </a:p>
        </p:txBody>
      </p:sp>
      <p:pic>
        <p:nvPicPr>
          <p:cNvPr id="13321" name="Picture 22" descr="实例1"/>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23698" t="23399" r="30119" b="24060"/>
          <a:stretch>
            <a:fillRect/>
          </a:stretch>
        </p:blipFill>
        <p:spPr bwMode="auto">
          <a:xfrm>
            <a:off x="698500" y="1403350"/>
            <a:ext cx="4090988" cy="328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2">
            <a:extLst>
              <a:ext uri="{FF2B5EF4-FFF2-40B4-BE49-F238E27FC236}">
                <a16:creationId xmlns:a16="http://schemas.microsoft.com/office/drawing/2014/main" id="{1CDC6D93-B84B-4F80-8851-8AD2537DB4D1}"/>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2368"/>
                                        </p:tgtEl>
                                        <p:attrNameLst>
                                          <p:attrName>style.visibility</p:attrName>
                                        </p:attrNameLst>
                                      </p:cBhvr>
                                      <p:to>
                                        <p:strVal val="visible"/>
                                      </p:to>
                                    </p:set>
                                    <p:animEffect transition="in" filter="blinds(horizontal)">
                                      <p:cBhvr>
                                        <p:cTn id="7" dur="500"/>
                                        <p:tgtEl>
                                          <p:spTgt spid="31236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12369"/>
                                        </p:tgtEl>
                                        <p:attrNameLst>
                                          <p:attrName>style.visibility</p:attrName>
                                        </p:attrNameLst>
                                      </p:cBhvr>
                                      <p:to>
                                        <p:strVal val="visible"/>
                                      </p:to>
                                    </p:set>
                                    <p:animEffect transition="in" filter="blinds(horizontal)">
                                      <p:cBhvr>
                                        <p:cTn id="17" dur="500"/>
                                        <p:tgtEl>
                                          <p:spTgt spid="3123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2368" grpId="0"/>
      <p:bldP spid="312369" grpId="0"/>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339"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340" name="Rectangle 4"/>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342" name="Rectangle 5"/>
          <p:cNvSpPr>
            <a:spLocks noChangeArrowheads="1"/>
          </p:cNvSpPr>
          <p:nvPr/>
        </p:nvSpPr>
        <p:spPr bwMode="auto">
          <a:xfrm>
            <a:off x="606425" y="1074738"/>
            <a:ext cx="3908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dirty="0">
                <a:effectLst>
                  <a:outerShdw blurRad="38100" dist="38100" dir="2700000" algn="tl">
                    <a:srgbClr val="000000">
                      <a:alpha val="43137"/>
                    </a:srgbClr>
                  </a:outerShdw>
                </a:effectLst>
              </a:rPr>
              <a:t>修改方向和启停标志值</a:t>
            </a:r>
            <a:endParaRPr lang="zh-CN" altLang="en-US" sz="2400" dirty="0">
              <a:effectLst>
                <a:outerShdw blurRad="38100" dist="38100" dir="2700000" algn="tl">
                  <a:srgbClr val="000000">
                    <a:alpha val="43137"/>
                  </a:srgbClr>
                </a:outerShdw>
              </a:effectLst>
            </a:endParaRPr>
          </a:p>
        </p:txBody>
      </p:sp>
      <p:pic>
        <p:nvPicPr>
          <p:cNvPr id="14343" name="Picture 11"/>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24652" t="34224" r="52348" b="52328"/>
          <a:stretch>
            <a:fillRect/>
          </a:stretch>
        </p:blipFill>
        <p:spPr bwMode="auto">
          <a:xfrm>
            <a:off x="4281488" y="1906588"/>
            <a:ext cx="4068762" cy="22193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4" name="Picture 22" descr="实例1"/>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23698" t="23399" r="30119" b="24060"/>
          <a:stretch>
            <a:fillRect/>
          </a:stretch>
        </p:blipFill>
        <p:spPr bwMode="auto">
          <a:xfrm>
            <a:off x="606425" y="1719263"/>
            <a:ext cx="3408014" cy="3075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2">
            <a:extLst>
              <a:ext uri="{FF2B5EF4-FFF2-40B4-BE49-F238E27FC236}">
                <a16:creationId xmlns:a16="http://schemas.microsoft.com/office/drawing/2014/main" id="{D583A61C-7B5D-4789-B84E-06105DB9E25F}"/>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5363"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315398" name="AutoShape 6"/>
          <p:cNvSpPr>
            <a:spLocks noChangeArrowheads="1"/>
          </p:cNvSpPr>
          <p:nvPr/>
        </p:nvSpPr>
        <p:spPr bwMode="auto">
          <a:xfrm>
            <a:off x="792163" y="4468813"/>
            <a:ext cx="1806575" cy="1730375"/>
          </a:xfrm>
          <a:prstGeom prst="flowChart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CC3300"/>
                </a:solidFill>
              </a:rPr>
              <a:t>P2</a:t>
            </a:r>
            <a:r>
              <a:rPr lang="zh-CN" altLang="en-US" sz="1600" b="1">
                <a:solidFill>
                  <a:srgbClr val="CC3300"/>
                </a:solidFill>
              </a:rPr>
              <a:t>口亮灯编码</a:t>
            </a:r>
            <a:r>
              <a:rPr lang="zh-CN" altLang="en-US" sz="1600"/>
              <a:t>：</a:t>
            </a:r>
          </a:p>
          <a:p>
            <a:pPr eaLnBrk="1" hangingPunct="1">
              <a:spcBef>
                <a:spcPct val="0"/>
              </a:spcBef>
              <a:buFontTx/>
              <a:buNone/>
            </a:pPr>
            <a:r>
              <a:rPr lang="en-US" altLang="zh-CN" sz="2000"/>
              <a:t>xxxx 1110</a:t>
            </a:r>
            <a:endParaRPr lang="zh-CN" altLang="en-US" sz="2000"/>
          </a:p>
          <a:p>
            <a:pPr eaLnBrk="1" hangingPunct="1">
              <a:spcBef>
                <a:spcPct val="0"/>
              </a:spcBef>
              <a:buFontTx/>
              <a:buNone/>
            </a:pPr>
            <a:r>
              <a:rPr lang="en-US" altLang="zh-CN" sz="2000"/>
              <a:t>xxxx 1101</a:t>
            </a:r>
            <a:endParaRPr lang="zh-CN" altLang="en-US" sz="2000"/>
          </a:p>
          <a:p>
            <a:pPr eaLnBrk="1" hangingPunct="1">
              <a:spcBef>
                <a:spcPct val="0"/>
              </a:spcBef>
              <a:buFontTx/>
              <a:buNone/>
            </a:pPr>
            <a:r>
              <a:rPr lang="en-US" altLang="zh-CN" sz="2000"/>
              <a:t>xxxx 1011</a:t>
            </a:r>
            <a:endParaRPr lang="zh-CN" altLang="en-US" sz="2000"/>
          </a:p>
          <a:p>
            <a:pPr eaLnBrk="1" hangingPunct="1">
              <a:spcBef>
                <a:spcPct val="0"/>
              </a:spcBef>
              <a:buFontTx/>
              <a:buNone/>
            </a:pPr>
            <a:r>
              <a:rPr lang="en-US" altLang="zh-CN" sz="2000"/>
              <a:t>xxxx 0111</a:t>
            </a:r>
          </a:p>
        </p:txBody>
      </p:sp>
      <p:pic>
        <p:nvPicPr>
          <p:cNvPr id="315430" name="Picture 38"/>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26547" t="31682" r="25754" b="30682"/>
          <a:stretch>
            <a:fillRect/>
          </a:stretch>
        </p:blipFill>
        <p:spPr bwMode="auto">
          <a:xfrm>
            <a:off x="3105150" y="1451770"/>
            <a:ext cx="5580063" cy="308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Rectangle 5"/>
          <p:cNvSpPr>
            <a:spLocks noChangeArrowheads="1"/>
          </p:cNvSpPr>
          <p:nvPr/>
        </p:nvSpPr>
        <p:spPr bwMode="auto">
          <a:xfrm>
            <a:off x="606425" y="785019"/>
            <a:ext cx="3511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dirty="0">
                <a:effectLst>
                  <a:outerShdw blurRad="38100" dist="38100" dir="2700000" algn="tl">
                    <a:srgbClr val="000000">
                      <a:alpha val="43137"/>
                    </a:srgbClr>
                  </a:outerShdw>
                </a:effectLst>
              </a:rPr>
              <a:t>D1</a:t>
            </a:r>
            <a:r>
              <a:rPr lang="en-US" altLang="en-US" sz="2400" b="1" dirty="0">
                <a:effectLst>
                  <a:outerShdw blurRad="38100" dist="38100" dir="2700000" algn="tl">
                    <a:srgbClr val="000000">
                      <a:alpha val="43137"/>
                    </a:srgbClr>
                  </a:outerShdw>
                </a:effectLst>
              </a:rPr>
              <a:t>～</a:t>
            </a:r>
            <a:r>
              <a:rPr lang="en-US" altLang="zh-CN" sz="2400" b="1" dirty="0">
                <a:effectLst>
                  <a:outerShdw blurRad="38100" dist="38100" dir="2700000" algn="tl">
                    <a:srgbClr val="000000">
                      <a:alpha val="43137"/>
                    </a:srgbClr>
                  </a:outerShdw>
                </a:effectLst>
              </a:rPr>
              <a:t>D4</a:t>
            </a:r>
            <a:r>
              <a:rPr lang="zh-CN" altLang="en-US" sz="2400" b="1" dirty="0">
                <a:effectLst>
                  <a:outerShdw blurRad="38100" dist="38100" dir="2700000" algn="tl">
                    <a:srgbClr val="000000">
                      <a:alpha val="43137"/>
                    </a:srgbClr>
                  </a:outerShdw>
                </a:effectLst>
              </a:rPr>
              <a:t>循环方向控制</a:t>
            </a:r>
            <a:endParaRPr lang="en-US" altLang="zh-CN" sz="2400" b="1" dirty="0">
              <a:effectLst>
                <a:outerShdw blurRad="38100" dist="38100" dir="2700000" algn="tl">
                  <a:srgbClr val="000000">
                    <a:alpha val="43137"/>
                  </a:srgbClr>
                </a:outerShdw>
              </a:effectLst>
            </a:endParaRPr>
          </a:p>
        </p:txBody>
      </p:sp>
      <p:sp>
        <p:nvSpPr>
          <p:cNvPr id="315433" name="AutoShape 6"/>
          <p:cNvSpPr>
            <a:spLocks noChangeArrowheads="1"/>
          </p:cNvSpPr>
          <p:nvPr/>
        </p:nvSpPr>
        <p:spPr bwMode="auto">
          <a:xfrm>
            <a:off x="2136775" y="4546600"/>
            <a:ext cx="6223000" cy="444500"/>
          </a:xfrm>
          <a:prstGeom prst="flowChart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2400"/>
              <a:t>      </a:t>
            </a:r>
            <a:r>
              <a:rPr kumimoji="0" lang="en-US" altLang="zh-CN" sz="2400">
                <a:solidFill>
                  <a:srgbClr val="FF3300"/>
                </a:solidFill>
              </a:rPr>
              <a:t>char led [ ] =</a:t>
            </a:r>
            <a:r>
              <a:rPr lang="en-US" altLang="zh-CN" sz="2400">
                <a:solidFill>
                  <a:srgbClr val="FF3300"/>
                </a:solidFill>
              </a:rPr>
              <a:t> {</a:t>
            </a:r>
            <a:r>
              <a:rPr kumimoji="0" lang="en-US" altLang="zh-CN" sz="2400">
                <a:solidFill>
                  <a:srgbClr val="FF3300"/>
                </a:solidFill>
              </a:rPr>
              <a:t>0xfe,0xfd,0xfb,0xf7</a:t>
            </a:r>
            <a:r>
              <a:rPr lang="en-US" altLang="zh-CN" sz="2400">
                <a:solidFill>
                  <a:srgbClr val="FF3300"/>
                </a:solidFill>
              </a:rPr>
              <a:t>};</a:t>
            </a:r>
          </a:p>
        </p:txBody>
      </p:sp>
      <p:sp>
        <p:nvSpPr>
          <p:cNvPr id="314380" name="Text Box 12"/>
          <p:cNvSpPr txBox="1">
            <a:spLocks noChangeArrowheads="1"/>
          </p:cNvSpPr>
          <p:nvPr/>
        </p:nvSpPr>
        <p:spPr bwMode="auto">
          <a:xfrm>
            <a:off x="2636838" y="5005388"/>
            <a:ext cx="57261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for (i=0; i&lt;=3; i++){ </a:t>
            </a:r>
            <a:r>
              <a:rPr lang="en-US" altLang="zh-CN" sz="2400" b="1">
                <a:solidFill>
                  <a:srgbClr val="FF3300"/>
                </a:solidFill>
              </a:rPr>
              <a:t>P2 = led [i];</a:t>
            </a:r>
            <a:r>
              <a:rPr lang="en-US" altLang="zh-CN" sz="2400"/>
              <a:t> } </a:t>
            </a:r>
            <a:r>
              <a:rPr lang="en-US" altLang="zh-CN" sz="2000"/>
              <a:t>//</a:t>
            </a:r>
            <a:r>
              <a:rPr lang="en-US" altLang="en-US" sz="2000"/>
              <a:t>↓</a:t>
            </a:r>
            <a:r>
              <a:rPr lang="zh-CN" altLang="en-US" sz="2000"/>
              <a:t>移动</a:t>
            </a:r>
          </a:p>
        </p:txBody>
      </p:sp>
      <p:sp>
        <p:nvSpPr>
          <p:cNvPr id="314381" name="Text Box 13"/>
          <p:cNvSpPr txBox="1">
            <a:spLocks noChangeArrowheads="1"/>
          </p:cNvSpPr>
          <p:nvPr/>
        </p:nvSpPr>
        <p:spPr bwMode="auto">
          <a:xfrm>
            <a:off x="2632075" y="5491163"/>
            <a:ext cx="5708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for (i=3; i&gt;=0; i-- ) { </a:t>
            </a:r>
            <a:r>
              <a:rPr lang="en-US" altLang="zh-CN" sz="2400" b="1">
                <a:solidFill>
                  <a:srgbClr val="FF3300"/>
                </a:solidFill>
              </a:rPr>
              <a:t>P2 = led [i];</a:t>
            </a:r>
            <a:r>
              <a:rPr lang="en-US" altLang="zh-CN" sz="2400"/>
              <a:t> } </a:t>
            </a:r>
            <a:r>
              <a:rPr lang="en-US" altLang="zh-CN" sz="2000"/>
              <a:t>//</a:t>
            </a:r>
            <a:r>
              <a:rPr lang="zh-CN" altLang="en-US" sz="2000"/>
              <a:t>↑移动</a:t>
            </a:r>
          </a:p>
        </p:txBody>
      </p:sp>
      <p:sp>
        <p:nvSpPr>
          <p:cNvPr id="314383" name="Text Box 15"/>
          <p:cNvSpPr txBox="1">
            <a:spLocks noChangeArrowheads="1"/>
          </p:cNvSpPr>
          <p:nvPr/>
        </p:nvSpPr>
        <p:spPr bwMode="auto">
          <a:xfrm>
            <a:off x="8294688" y="4711700"/>
            <a:ext cx="479425" cy="1219200"/>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
              </a:spcBef>
              <a:buFontTx/>
              <a:buNone/>
            </a:pPr>
            <a:r>
              <a:rPr lang="zh-CN" altLang="en-US" sz="1800"/>
              <a:t>查</a:t>
            </a:r>
          </a:p>
          <a:p>
            <a:pPr eaLnBrk="1" hangingPunct="1">
              <a:spcBef>
                <a:spcPct val="5000"/>
              </a:spcBef>
              <a:buFontTx/>
              <a:buNone/>
            </a:pPr>
            <a:r>
              <a:rPr lang="zh-CN" altLang="en-US" sz="1800"/>
              <a:t>表</a:t>
            </a:r>
          </a:p>
          <a:p>
            <a:pPr eaLnBrk="1" hangingPunct="1">
              <a:spcBef>
                <a:spcPct val="5000"/>
              </a:spcBef>
              <a:buFontTx/>
              <a:buNone/>
            </a:pPr>
            <a:r>
              <a:rPr lang="zh-CN" altLang="en-US" sz="1800"/>
              <a:t>方法</a:t>
            </a:r>
          </a:p>
        </p:txBody>
      </p:sp>
      <p:pic>
        <p:nvPicPr>
          <p:cNvPr id="15371" name="Picture 22" descr="实例1"/>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34224" t="24229" r="30119" b="24060"/>
          <a:stretch>
            <a:fillRect/>
          </a:stretch>
        </p:blipFill>
        <p:spPr bwMode="auto">
          <a:xfrm>
            <a:off x="450850" y="1535907"/>
            <a:ext cx="2654300" cy="2668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2">
            <a:extLst>
              <a:ext uri="{FF2B5EF4-FFF2-40B4-BE49-F238E27FC236}">
                <a16:creationId xmlns:a16="http://schemas.microsoft.com/office/drawing/2014/main" id="{C3135022-3BD7-4A66-862E-A8DAC2D70958}"/>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5398"/>
                                        </p:tgtEl>
                                        <p:attrNameLst>
                                          <p:attrName>style.visibility</p:attrName>
                                        </p:attrNameLst>
                                      </p:cBhvr>
                                      <p:to>
                                        <p:strVal val="visible"/>
                                      </p:to>
                                    </p:set>
                                    <p:animEffect transition="in" filter="blinds(horizontal)">
                                      <p:cBhvr>
                                        <p:cTn id="7" dur="500"/>
                                        <p:tgtEl>
                                          <p:spTgt spid="31539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15433"/>
                                        </p:tgtEl>
                                        <p:attrNameLst>
                                          <p:attrName>style.visibility</p:attrName>
                                        </p:attrNameLst>
                                      </p:cBhvr>
                                      <p:to>
                                        <p:strVal val="visible"/>
                                      </p:to>
                                    </p:set>
                                    <p:animEffect transition="in" filter="blinds(horizontal)">
                                      <p:cBhvr>
                                        <p:cTn id="12" dur="500"/>
                                        <p:tgtEl>
                                          <p:spTgt spid="31543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15430"/>
                                        </p:tgtEl>
                                        <p:attrNameLst>
                                          <p:attrName>style.visibility</p:attrName>
                                        </p:attrNameLst>
                                      </p:cBhvr>
                                      <p:to>
                                        <p:strVal val="visible"/>
                                      </p:to>
                                    </p:set>
                                    <p:animEffect transition="in" filter="blinds(horizontal)">
                                      <p:cBhvr>
                                        <p:cTn id="17" dur="500"/>
                                        <p:tgtEl>
                                          <p:spTgt spid="31543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14380"/>
                                        </p:tgtEl>
                                        <p:attrNameLst>
                                          <p:attrName>style.visibility</p:attrName>
                                        </p:attrNameLst>
                                      </p:cBhvr>
                                      <p:to>
                                        <p:strVal val="visible"/>
                                      </p:to>
                                    </p:set>
                                    <p:animEffect transition="in" filter="blinds(horizontal)">
                                      <p:cBhvr>
                                        <p:cTn id="22" dur="500"/>
                                        <p:tgtEl>
                                          <p:spTgt spid="31438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14381"/>
                                        </p:tgtEl>
                                        <p:attrNameLst>
                                          <p:attrName>style.visibility</p:attrName>
                                        </p:attrNameLst>
                                      </p:cBhvr>
                                      <p:to>
                                        <p:strVal val="visible"/>
                                      </p:to>
                                    </p:set>
                                    <p:animEffect transition="in" filter="blinds(horizontal)">
                                      <p:cBhvr>
                                        <p:cTn id="27" dur="500"/>
                                        <p:tgtEl>
                                          <p:spTgt spid="31438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14383"/>
                                        </p:tgtEl>
                                        <p:attrNameLst>
                                          <p:attrName>style.visibility</p:attrName>
                                        </p:attrNameLst>
                                      </p:cBhvr>
                                      <p:to>
                                        <p:strVal val="visible"/>
                                      </p:to>
                                    </p:set>
                                    <p:animEffect transition="in" filter="blinds(horizontal)">
                                      <p:cBhvr>
                                        <p:cTn id="32" dur="500"/>
                                        <p:tgtEl>
                                          <p:spTgt spid="3143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398" grpId="0"/>
      <p:bldP spid="315433" grpId="0"/>
      <p:bldP spid="314380" grpId="0"/>
      <p:bldP spid="314381" grpId="0"/>
      <p:bldP spid="31438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pic>
        <p:nvPicPr>
          <p:cNvPr id="874503" name="Picture 7"/>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19434" t="15289" r="33611" b="30428"/>
          <a:stretch>
            <a:fillRect/>
          </a:stretch>
        </p:blipFill>
        <p:spPr bwMode="auto">
          <a:xfrm>
            <a:off x="5821593" y="1400175"/>
            <a:ext cx="3093808" cy="348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130EEFAD-8343-4FD0-9336-8B2BE089E421}"/>
              </a:ext>
            </a:extLst>
          </p:cNvPr>
          <p:cNvPicPr>
            <a:picLocks noChangeAspect="1"/>
          </p:cNvPicPr>
          <p:nvPr/>
        </p:nvPicPr>
        <p:blipFill>
          <a:blip r:embed="rId3"/>
          <a:stretch>
            <a:fillRect/>
          </a:stretch>
        </p:blipFill>
        <p:spPr>
          <a:xfrm>
            <a:off x="228600" y="929386"/>
            <a:ext cx="5592992" cy="5641881"/>
          </a:xfrm>
          <a:prstGeom prst="rect">
            <a:avLst/>
          </a:prstGeom>
        </p:spPr>
      </p:pic>
      <p:sp>
        <p:nvSpPr>
          <p:cNvPr id="6" name="Rectangle 2">
            <a:extLst>
              <a:ext uri="{FF2B5EF4-FFF2-40B4-BE49-F238E27FC236}">
                <a16:creationId xmlns:a16="http://schemas.microsoft.com/office/drawing/2014/main" id="{48882F7D-0C31-42F4-86F6-C6DA4F230E00}"/>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74503"/>
                                        </p:tgtEl>
                                        <p:attrNameLst>
                                          <p:attrName>style.visibility</p:attrName>
                                        </p:attrNameLst>
                                      </p:cBhvr>
                                      <p:to>
                                        <p:strVal val="visible"/>
                                      </p:to>
                                    </p:set>
                                    <p:animEffect transition="in" filter="blinds(horizontal)">
                                      <p:cBhvr>
                                        <p:cTn id="7" dur="500"/>
                                        <p:tgtEl>
                                          <p:spTgt spid="8745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ChangeArrowheads="1"/>
          </p:cNvSpPr>
          <p:nvPr/>
        </p:nvSpPr>
        <p:spPr bwMode="auto">
          <a:xfrm>
            <a:off x="531813" y="954088"/>
            <a:ext cx="21859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dirty="0">
                <a:effectLst>
                  <a:outerShdw blurRad="38100" dist="38100" dir="2700000" algn="tl">
                    <a:srgbClr val="000000">
                      <a:alpha val="43137"/>
                    </a:srgbClr>
                  </a:outerShdw>
                </a:effectLst>
              </a:rPr>
              <a:t>实例</a:t>
            </a:r>
            <a:r>
              <a:rPr lang="en-US" altLang="zh-CN" sz="2400" b="1" dirty="0">
                <a:effectLst>
                  <a:outerShdw blurRad="38100" dist="38100" dir="2700000" algn="tl">
                    <a:srgbClr val="000000">
                      <a:alpha val="43137"/>
                    </a:srgbClr>
                  </a:outerShdw>
                </a:effectLst>
              </a:rPr>
              <a:t>2</a:t>
            </a:r>
            <a:r>
              <a:rPr lang="zh-CN" altLang="en-US" sz="2400" b="1" dirty="0">
                <a:effectLst>
                  <a:outerShdw blurRad="38100" dist="38100" dir="2700000" algn="tl">
                    <a:srgbClr val="000000">
                      <a:alpha val="43137"/>
                    </a:srgbClr>
                  </a:outerShdw>
                </a:effectLst>
              </a:rPr>
              <a:t>仿真运行</a:t>
            </a:r>
            <a:endParaRPr lang="zh-CN" altLang="en-US" sz="2400" b="1" dirty="0">
              <a:solidFill>
                <a:srgbClr val="CC0000"/>
              </a:solidFill>
              <a:effectLst>
                <a:outerShdw blurRad="38100" dist="38100" dir="2700000" algn="tl">
                  <a:srgbClr val="000000">
                    <a:alpha val="43137"/>
                  </a:srgbClr>
                </a:outerShdw>
              </a:effectLst>
            </a:endParaRPr>
          </a:p>
        </p:txBody>
      </p:sp>
      <p:pic>
        <p:nvPicPr>
          <p:cNvPr id="17412" name="图片 6"/>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57713" y="1598613"/>
            <a:ext cx="3960812" cy="292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485775" y="4597400"/>
            <a:ext cx="8145463" cy="1570038"/>
          </a:xfrm>
          <a:prstGeom prst="rect">
            <a:avLst/>
          </a:prstGeom>
        </p:spPr>
        <p:txBody>
          <a:bodyPr>
            <a:spAutoFit/>
          </a:bodyPr>
          <a:lstStyle/>
          <a:p>
            <a:pPr>
              <a:defRPr/>
            </a:pPr>
            <a:r>
              <a:rPr lang="zh-CN" altLang="zh-CN" b="1" kern="0" dirty="0">
                <a:effectLst>
                  <a:outerShdw blurRad="38100" dist="38100" dir="2700000" algn="tl">
                    <a:srgbClr val="000000">
                      <a:alpha val="43137"/>
                    </a:srgbClr>
                  </a:outerShdw>
                </a:effectLst>
                <a:cs typeface="宋体" panose="02010600030101010101" pitchFamily="2" charset="-122"/>
              </a:rPr>
              <a:t>仿真</a:t>
            </a:r>
            <a:r>
              <a:rPr lang="zh-CN" altLang="en-US" b="1" kern="0" dirty="0">
                <a:effectLst>
                  <a:outerShdw blurRad="38100" dist="38100" dir="2700000" algn="tl">
                    <a:srgbClr val="000000">
                      <a:alpha val="43137"/>
                    </a:srgbClr>
                  </a:outerShdw>
                </a:effectLst>
                <a:cs typeface="宋体" panose="02010600030101010101" pitchFamily="2" charset="-122"/>
              </a:rPr>
              <a:t>结果：</a:t>
            </a:r>
            <a:r>
              <a:rPr lang="zh-CN" altLang="zh-CN" b="1" kern="0" dirty="0">
                <a:solidFill>
                  <a:srgbClr val="0000FF"/>
                </a:solidFill>
                <a:effectLst>
                  <a:outerShdw blurRad="38100" dist="38100" dir="2700000" algn="tl">
                    <a:srgbClr val="000000">
                      <a:alpha val="43137"/>
                    </a:srgbClr>
                  </a:outerShdw>
                </a:effectLst>
                <a:cs typeface="宋体" panose="02010600030101010101" pitchFamily="2" charset="-122"/>
              </a:rPr>
              <a:t>可以产生题意要求的效果</a:t>
            </a:r>
            <a:r>
              <a:rPr lang="zh-CN" altLang="zh-CN" b="1" kern="0" dirty="0">
                <a:effectLst>
                  <a:outerShdw blurRad="38100" dist="38100" dir="2700000" algn="tl">
                    <a:srgbClr val="000000">
                      <a:alpha val="43137"/>
                    </a:srgbClr>
                  </a:outerShdw>
                </a:effectLst>
                <a:cs typeface="宋体" panose="02010600030101010101" pitchFamily="2" charset="-122"/>
              </a:rPr>
              <a:t>，只是按键切换时</a:t>
            </a:r>
            <a:r>
              <a:rPr lang="zh-CN" altLang="zh-CN" b="1" kern="0" dirty="0">
                <a:solidFill>
                  <a:srgbClr val="0000FF"/>
                </a:solidFill>
                <a:effectLst>
                  <a:outerShdw blurRad="38100" dist="38100" dir="2700000" algn="tl">
                    <a:srgbClr val="000000">
                      <a:alpha val="43137"/>
                    </a:srgbClr>
                  </a:outerShdw>
                </a:effectLst>
                <a:cs typeface="宋体" panose="02010600030101010101" pitchFamily="2" charset="-122"/>
              </a:rPr>
              <a:t>流水灯会有明显的滞后效果</a:t>
            </a:r>
            <a:r>
              <a:rPr lang="zh-CN" altLang="zh-CN" b="1" kern="0" dirty="0">
                <a:effectLst>
                  <a:outerShdw blurRad="38100" dist="38100" dir="2700000" algn="tl">
                    <a:srgbClr val="000000">
                      <a:alpha val="43137"/>
                    </a:srgbClr>
                  </a:outerShdw>
                </a:effectLst>
                <a:cs typeface="宋体" panose="02010600030101010101" pitchFamily="2" charset="-122"/>
              </a:rPr>
              <a:t>，这是</a:t>
            </a:r>
            <a:r>
              <a:rPr lang="zh-CN" altLang="zh-CN" b="1" kern="0" dirty="0">
                <a:solidFill>
                  <a:srgbClr val="0000FF"/>
                </a:solidFill>
                <a:effectLst>
                  <a:outerShdw blurRad="38100" dist="38100" dir="2700000" algn="tl">
                    <a:srgbClr val="000000">
                      <a:alpha val="43137"/>
                    </a:srgbClr>
                  </a:outerShdw>
                </a:effectLst>
                <a:cs typeface="宋体" panose="02010600030101010101" pitchFamily="2" charset="-122"/>
              </a:rPr>
              <a:t>由于按键检测函数的调用不是实时进行导致的</a:t>
            </a:r>
            <a:r>
              <a:rPr lang="zh-CN" altLang="zh-CN" b="1" kern="0" dirty="0">
                <a:effectLst>
                  <a:outerShdw blurRad="38100" dist="38100" dir="2700000" algn="tl">
                    <a:srgbClr val="000000">
                      <a:alpha val="43137"/>
                    </a:srgbClr>
                  </a:outerShdw>
                </a:effectLst>
                <a:cs typeface="宋体" panose="02010600030101010101" pitchFamily="2" charset="-122"/>
              </a:rPr>
              <a:t>。解决这一问题的最好方法是将按键检测置于中断函数里，改进方法将在第</a:t>
            </a:r>
            <a:r>
              <a:rPr lang="en-US" altLang="zh-CN" b="1" kern="0" dirty="0">
                <a:effectLst>
                  <a:outerShdw blurRad="38100" dist="38100" dir="2700000" algn="tl">
                    <a:srgbClr val="000000">
                      <a:alpha val="43137"/>
                    </a:srgbClr>
                  </a:outerShdw>
                </a:effectLst>
                <a:cs typeface="宋体" panose="02010600030101010101" pitchFamily="2" charset="-122"/>
              </a:rPr>
              <a:t>5</a:t>
            </a:r>
            <a:r>
              <a:rPr lang="zh-CN" altLang="zh-CN" b="1" kern="0" dirty="0">
                <a:effectLst>
                  <a:outerShdw blurRad="38100" dist="38100" dir="2700000" algn="tl">
                    <a:srgbClr val="000000">
                      <a:alpha val="43137"/>
                    </a:srgbClr>
                  </a:outerShdw>
                </a:effectLst>
                <a:cs typeface="宋体" panose="02010600030101010101" pitchFamily="2" charset="-122"/>
              </a:rPr>
              <a:t>章中介绍。</a:t>
            </a:r>
            <a:endParaRPr lang="zh-CN" altLang="en-US" b="1" dirty="0">
              <a:effectLst>
                <a:outerShdw blurRad="38100" dist="38100" dir="2700000" algn="tl">
                  <a:srgbClr val="000000">
                    <a:alpha val="43137"/>
                  </a:srgbClr>
                </a:outerShdw>
              </a:effectLst>
            </a:endParaRPr>
          </a:p>
        </p:txBody>
      </p:sp>
      <p:pic>
        <p:nvPicPr>
          <p:cNvPr id="17414" name="图片 62885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1813" y="1598613"/>
            <a:ext cx="3968750" cy="29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a:extLst>
              <a:ext uri="{FF2B5EF4-FFF2-40B4-BE49-F238E27FC236}">
                <a16:creationId xmlns:a16="http://schemas.microsoft.com/office/drawing/2014/main" id="{C30F9FA2-EB82-429C-8453-406C6A528A9F}"/>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ChangeArrowheads="1"/>
          </p:cNvSpPr>
          <p:nvPr/>
        </p:nvSpPr>
        <p:spPr bwMode="auto">
          <a:xfrm>
            <a:off x="528520" y="674612"/>
            <a:ext cx="8043863"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defRPr/>
            </a:pPr>
            <a:r>
              <a:rPr lang="zh-CN" altLang="zh-CN" sz="2400" b="1" dirty="0">
                <a:solidFill>
                  <a:srgbClr val="C00000"/>
                </a:solidFill>
                <a:effectLst>
                  <a:outerShdw blurRad="38100" dist="38100" dir="2700000" algn="tl">
                    <a:srgbClr val="000000">
                      <a:alpha val="43137"/>
                    </a:srgbClr>
                  </a:outerShdw>
                </a:effectLst>
              </a:rPr>
              <a:t>实例</a:t>
            </a:r>
            <a:r>
              <a:rPr lang="en-US" altLang="zh-CN" sz="2400" b="1" dirty="0">
                <a:solidFill>
                  <a:srgbClr val="C00000"/>
                </a:solidFill>
                <a:effectLst>
                  <a:outerShdw blurRad="38100" dist="38100" dir="2700000" algn="tl">
                    <a:srgbClr val="000000">
                      <a:alpha val="43137"/>
                    </a:srgbClr>
                  </a:outerShdw>
                </a:effectLst>
              </a:rPr>
              <a:t>3 </a:t>
            </a:r>
            <a:r>
              <a:rPr lang="zh-CN" altLang="en-US" sz="2400" b="1" dirty="0">
                <a:solidFill>
                  <a:srgbClr val="C00000"/>
                </a:solidFill>
                <a:effectLst>
                  <a:outerShdw blurRad="38100" dist="38100" dir="2700000" algn="tl">
                    <a:srgbClr val="000000">
                      <a:alpha val="43137"/>
                    </a:srgbClr>
                  </a:outerShdw>
                </a:effectLst>
              </a:rPr>
              <a:t>流水灯控制。</a:t>
            </a:r>
            <a:r>
              <a:rPr lang="zh-CN" altLang="zh-CN" sz="2400" b="1" dirty="0">
                <a:effectLst>
                  <a:outerShdw blurRad="38100" dist="38100" dir="2700000" algn="tl">
                    <a:srgbClr val="000000">
                      <a:alpha val="43137"/>
                    </a:srgbClr>
                  </a:outerShdw>
                </a:effectLst>
              </a:rPr>
              <a:t>在</a:t>
            </a:r>
            <a:r>
              <a:rPr lang="en-US" altLang="zh-CN" sz="2400" b="1" dirty="0" err="1">
                <a:effectLst>
                  <a:outerShdw blurRad="38100" dist="38100" dir="2700000" algn="tl">
                    <a:srgbClr val="000000">
                      <a:alpha val="43137"/>
                    </a:srgbClr>
                  </a:outerShdw>
                </a:effectLst>
              </a:rPr>
              <a:t>P2</a:t>
            </a:r>
            <a:r>
              <a:rPr lang="zh-CN" altLang="zh-CN" sz="2400" b="1" dirty="0">
                <a:effectLst>
                  <a:outerShdw blurRad="38100" dist="38100" dir="2700000" algn="tl">
                    <a:srgbClr val="000000">
                      <a:alpha val="43137"/>
                    </a:srgbClr>
                  </a:outerShdw>
                </a:effectLst>
              </a:rPr>
              <a:t>口处连接</a:t>
            </a:r>
            <a:r>
              <a:rPr lang="en-US" altLang="zh-CN" sz="2400" b="1" dirty="0">
                <a:effectLst>
                  <a:outerShdw blurRad="38100" dist="38100" dir="2700000" algn="tl">
                    <a:srgbClr val="000000">
                      <a:alpha val="43137"/>
                    </a:srgbClr>
                  </a:outerShdw>
                </a:effectLst>
              </a:rPr>
              <a:t>8</a:t>
            </a:r>
            <a:r>
              <a:rPr lang="zh-CN" altLang="zh-CN" sz="2400" b="1" dirty="0">
                <a:effectLst>
                  <a:outerShdw blurRad="38100" dist="38100" dir="2700000" algn="tl">
                    <a:srgbClr val="000000">
                      <a:alpha val="43137"/>
                    </a:srgbClr>
                  </a:outerShdw>
                </a:effectLst>
              </a:rPr>
              <a:t>个</a:t>
            </a:r>
            <a:r>
              <a:rPr lang="en-US" altLang="zh-CN" sz="2400" b="1" dirty="0">
                <a:effectLst>
                  <a:outerShdw blurRad="38100" dist="38100" dir="2700000" algn="tl">
                    <a:srgbClr val="000000">
                      <a:alpha val="43137"/>
                    </a:srgbClr>
                  </a:outerShdw>
                </a:effectLst>
              </a:rPr>
              <a:t>LED</a:t>
            </a:r>
            <a:r>
              <a:rPr lang="zh-CN" altLang="zh-CN" sz="2400" b="1" dirty="0">
                <a:effectLst>
                  <a:outerShdw blurRad="38100" dist="38100" dir="2700000" algn="tl">
                    <a:srgbClr val="000000">
                      <a:alpha val="43137"/>
                    </a:srgbClr>
                  </a:outerShdw>
                </a:effectLst>
              </a:rPr>
              <a:t>（见图</a:t>
            </a:r>
            <a:r>
              <a:rPr lang="en-US" altLang="zh-CN" sz="2400" b="1" dirty="0">
                <a:effectLst>
                  <a:outerShdw blurRad="38100" dist="38100" dir="2700000" algn="tl">
                    <a:srgbClr val="000000">
                      <a:alpha val="43137"/>
                    </a:srgbClr>
                  </a:outerShdw>
                </a:effectLst>
              </a:rPr>
              <a:t>4.8</a:t>
            </a:r>
            <a:r>
              <a:rPr lang="zh-CN" altLang="zh-CN" sz="2400" b="1" dirty="0">
                <a:effectLst>
                  <a:outerShdw blurRad="38100" dist="38100" dir="2700000" algn="tl">
                    <a:srgbClr val="000000">
                      <a:alpha val="43137"/>
                    </a:srgbClr>
                  </a:outerShdw>
                </a:effectLst>
              </a:rPr>
              <a:t>）。要求采用</a:t>
            </a:r>
            <a:r>
              <a:rPr lang="zh-CN" altLang="zh-CN" sz="2400" b="1" dirty="0">
                <a:effectLst>
                  <a:outerShdw blurRad="38100" dist="38100" dir="2700000" algn="tl">
                    <a:srgbClr val="000000">
                      <a:alpha val="43137"/>
                    </a:srgbClr>
                  </a:outerShdw>
                </a:effectLst>
                <a:highlight>
                  <a:srgbClr val="FFFF00"/>
                </a:highlight>
              </a:rPr>
              <a:t>循环移位法</a:t>
            </a:r>
            <a:r>
              <a:rPr lang="zh-CN" altLang="zh-CN" sz="2400" b="1" dirty="0">
                <a:effectLst>
                  <a:outerShdw blurRad="38100" dist="38100" dir="2700000" algn="tl">
                    <a:srgbClr val="000000">
                      <a:alpha val="43137"/>
                    </a:srgbClr>
                  </a:outerShdw>
                </a:effectLst>
              </a:rPr>
              <a:t>实现如下功能：首先点亮连接</a:t>
            </a:r>
            <a:r>
              <a:rPr lang="en-US" altLang="zh-CN" sz="2400" b="1" dirty="0" err="1">
                <a:effectLst>
                  <a:outerShdw blurRad="38100" dist="38100" dir="2700000" algn="tl">
                    <a:srgbClr val="000000">
                      <a:alpha val="43137"/>
                    </a:srgbClr>
                  </a:outerShdw>
                </a:effectLst>
              </a:rPr>
              <a:t>D8</a:t>
            </a:r>
            <a:r>
              <a:rPr lang="zh-CN" altLang="zh-CN" sz="2400" b="1" dirty="0">
                <a:effectLst>
                  <a:outerShdw blurRad="38100" dist="38100" dir="2700000" algn="tl">
                    <a:srgbClr val="000000">
                      <a:alpha val="43137"/>
                    </a:srgbClr>
                  </a:outerShdw>
                </a:effectLst>
              </a:rPr>
              <a:t>，延时一定时间后熄灭，再点亮</a:t>
            </a:r>
            <a:r>
              <a:rPr lang="en-US" altLang="zh-CN" sz="2400" b="1" dirty="0" err="1">
                <a:effectLst>
                  <a:outerShdw blurRad="38100" dist="38100" dir="2700000" algn="tl">
                    <a:srgbClr val="000000">
                      <a:alpha val="43137"/>
                    </a:srgbClr>
                  </a:outerShdw>
                </a:effectLst>
              </a:rPr>
              <a:t>D7</a:t>
            </a:r>
            <a:r>
              <a:rPr lang="zh-CN" altLang="zh-CN" sz="2400" b="1" dirty="0">
                <a:effectLst>
                  <a:outerShdw blurRad="38100" dist="38100" dir="2700000" algn="tl">
                    <a:srgbClr val="000000">
                      <a:alpha val="43137"/>
                    </a:srgbClr>
                  </a:outerShdw>
                </a:effectLst>
              </a:rPr>
              <a:t>，如此依次顺序点亮每个</a:t>
            </a:r>
            <a:r>
              <a:rPr lang="en-US" altLang="zh-CN" sz="2400" b="1" dirty="0">
                <a:effectLst>
                  <a:outerShdw blurRad="38100" dist="38100" dir="2700000" algn="tl">
                    <a:srgbClr val="000000">
                      <a:alpha val="43137"/>
                    </a:srgbClr>
                  </a:outerShdw>
                </a:effectLst>
              </a:rPr>
              <a:t>LED</a:t>
            </a:r>
            <a:r>
              <a:rPr lang="zh-CN" altLang="zh-CN" sz="2400" b="1" dirty="0">
                <a:effectLst>
                  <a:outerShdw blurRad="38100" dist="38100" dir="2700000" algn="tl">
                    <a:srgbClr val="000000">
                      <a:alpha val="43137"/>
                    </a:srgbClr>
                  </a:outerShdw>
                </a:effectLst>
              </a:rPr>
              <a:t>，直至最后的</a:t>
            </a:r>
            <a:r>
              <a:rPr lang="en-US" altLang="zh-CN" sz="2400" b="1" dirty="0" err="1">
                <a:effectLst>
                  <a:outerShdw blurRad="38100" dist="38100" dir="2700000" algn="tl">
                    <a:srgbClr val="000000">
                      <a:alpha val="43137"/>
                    </a:srgbClr>
                  </a:outerShdw>
                </a:effectLst>
              </a:rPr>
              <a:t>D1</a:t>
            </a:r>
            <a:r>
              <a:rPr lang="zh-CN" altLang="zh-CN" sz="2400" b="1" dirty="0">
                <a:effectLst>
                  <a:outerShdw blurRad="38100" dist="38100" dir="2700000" algn="tl">
                    <a:srgbClr val="000000">
                      <a:alpha val="43137"/>
                    </a:srgbClr>
                  </a:outerShdw>
                </a:effectLst>
              </a:rPr>
              <a:t>，然后再从头开始无限循环，产生</a:t>
            </a:r>
            <a:r>
              <a:rPr lang="zh-CN" altLang="zh-CN" sz="2400" b="1" dirty="0">
                <a:effectLst>
                  <a:outerShdw blurRad="38100" dist="38100" dir="2700000" algn="tl">
                    <a:srgbClr val="000000">
                      <a:alpha val="43137"/>
                    </a:srgbClr>
                  </a:outerShdw>
                </a:effectLst>
                <a:highlight>
                  <a:srgbClr val="FFFF00"/>
                </a:highlight>
              </a:rPr>
              <a:t>流水灯</a:t>
            </a:r>
            <a:r>
              <a:rPr lang="zh-CN" altLang="zh-CN" sz="2400" b="1" dirty="0">
                <a:effectLst>
                  <a:outerShdw blurRad="38100" dist="38100" dir="2700000" algn="tl">
                    <a:srgbClr val="000000">
                      <a:alpha val="43137"/>
                    </a:srgbClr>
                  </a:outerShdw>
                </a:effectLst>
              </a:rPr>
              <a:t>效果。</a:t>
            </a:r>
            <a:endParaRPr lang="zh-CN" altLang="en-US" sz="2400" b="1" dirty="0">
              <a:solidFill>
                <a:srgbClr val="CC0000"/>
              </a:solidFill>
              <a:effectLst>
                <a:outerShdw blurRad="38100" dist="38100" dir="2700000" algn="tl">
                  <a:srgbClr val="000000">
                    <a:alpha val="43137"/>
                  </a:srgbClr>
                </a:outerShdw>
              </a:effectLst>
            </a:endParaRPr>
          </a:p>
        </p:txBody>
      </p:sp>
      <p:pic>
        <p:nvPicPr>
          <p:cNvPr id="18436" name="图片 7"/>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05829" y="2428333"/>
            <a:ext cx="7112620" cy="4005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89E06897-36C2-4A95-86BF-4B424B9D7331}"/>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ChangeArrowheads="1"/>
          </p:cNvSpPr>
          <p:nvPr/>
        </p:nvSpPr>
        <p:spPr bwMode="auto">
          <a:xfrm>
            <a:off x="549950" y="782176"/>
            <a:ext cx="8043862" cy="5293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ts val="600"/>
              </a:spcBef>
              <a:spcAft>
                <a:spcPts val="600"/>
              </a:spcAft>
              <a:buFontTx/>
              <a:buNone/>
              <a:defRPr/>
            </a:pPr>
            <a:r>
              <a:rPr lang="zh-CN" altLang="zh-CN" sz="2800" b="1" dirty="0">
                <a:solidFill>
                  <a:srgbClr val="0000FF"/>
                </a:solidFill>
                <a:effectLst>
                  <a:outerShdw blurRad="38100" dist="38100" dir="2700000" algn="tl">
                    <a:srgbClr val="000000">
                      <a:alpha val="43137"/>
                    </a:srgbClr>
                  </a:outerShdw>
                </a:effectLst>
              </a:rPr>
              <a:t>解题思路</a:t>
            </a:r>
            <a:r>
              <a:rPr lang="zh-CN" altLang="zh-CN" sz="2800" dirty="0">
                <a:solidFill>
                  <a:srgbClr val="0000FF"/>
                </a:solidFill>
                <a:effectLst>
                  <a:outerShdw blurRad="38100" dist="38100" dir="2700000" algn="tl">
                    <a:srgbClr val="000000">
                      <a:alpha val="43137"/>
                    </a:srgbClr>
                  </a:outerShdw>
                </a:effectLst>
              </a:rPr>
              <a:t>：</a:t>
            </a:r>
            <a:endParaRPr lang="en-US" altLang="zh-CN" sz="2800" dirty="0">
              <a:solidFill>
                <a:srgbClr val="0000FF"/>
              </a:solidFill>
              <a:effectLst>
                <a:outerShdw blurRad="38100" dist="38100" dir="2700000" algn="tl">
                  <a:srgbClr val="000000">
                    <a:alpha val="43137"/>
                  </a:srgbClr>
                </a:outerShdw>
              </a:effectLst>
            </a:endParaRPr>
          </a:p>
          <a:p>
            <a:pPr marL="514350" indent="-514350" eaLnBrk="1" hangingPunct="1">
              <a:spcBef>
                <a:spcPts val="600"/>
              </a:spcBef>
              <a:spcAft>
                <a:spcPts val="600"/>
              </a:spcAft>
              <a:buFont typeface="+mj-ea"/>
              <a:buAutoNum type="circleNumDbPlain"/>
              <a:defRPr/>
            </a:pPr>
            <a:r>
              <a:rPr lang="zh-CN" altLang="en-US" sz="2800" b="1" dirty="0">
                <a:effectLst>
                  <a:outerShdw blurRad="38100" dist="38100" dir="2700000" algn="tl">
                    <a:srgbClr val="000000">
                      <a:alpha val="43137"/>
                    </a:srgbClr>
                  </a:outerShdw>
                </a:effectLst>
              </a:rPr>
              <a:t>采用低电平驱动方案</a:t>
            </a:r>
            <a:r>
              <a:rPr lang="zh-CN" altLang="zh-CN" sz="2800" b="1" dirty="0">
                <a:effectLst>
                  <a:outerShdw blurRad="38100" dist="38100" dir="2700000" algn="tl">
                    <a:srgbClr val="000000">
                      <a:alpha val="43137"/>
                    </a:srgbClr>
                  </a:outerShdw>
                </a:effectLst>
              </a:rPr>
              <a:t>，</a:t>
            </a:r>
            <a:r>
              <a:rPr lang="en-US" altLang="zh-CN" sz="2800" b="1" dirty="0">
                <a:effectLst>
                  <a:outerShdw blurRad="38100" dist="38100" dir="2700000" algn="tl">
                    <a:srgbClr val="000000">
                      <a:alpha val="43137"/>
                    </a:srgbClr>
                  </a:outerShdw>
                </a:effectLst>
              </a:rPr>
              <a:t>P2</a:t>
            </a:r>
            <a:r>
              <a:rPr lang="zh-CN" altLang="zh-CN" sz="2800" b="1" dirty="0">
                <a:effectLst>
                  <a:outerShdw blurRad="38100" dist="38100" dir="2700000" algn="tl">
                    <a:srgbClr val="000000">
                      <a:alpha val="43137"/>
                    </a:srgbClr>
                  </a:outerShdw>
                </a:effectLst>
              </a:rPr>
              <a:t>口</a:t>
            </a:r>
            <a:r>
              <a:rPr lang="zh-CN" altLang="en-US" sz="2800" b="1" dirty="0">
                <a:effectLst>
                  <a:outerShdw blurRad="38100" dist="38100" dir="2700000" algn="tl">
                    <a:srgbClr val="000000">
                      <a:alpha val="43137"/>
                    </a:srgbClr>
                  </a:outerShdw>
                </a:effectLst>
              </a:rPr>
              <a:t>的</a:t>
            </a:r>
            <a:r>
              <a:rPr lang="en-US" altLang="zh-CN" sz="2800" b="1" dirty="0">
                <a:effectLst>
                  <a:outerShdw blurRad="38100" dist="38100" dir="2700000" algn="tl">
                    <a:srgbClr val="000000">
                      <a:alpha val="43137"/>
                    </a:srgbClr>
                  </a:outerShdw>
                </a:effectLst>
              </a:rPr>
              <a:t>0</a:t>
            </a:r>
            <a:r>
              <a:rPr lang="zh-CN" altLang="zh-CN" sz="2800" b="1" dirty="0">
                <a:effectLst>
                  <a:outerShdw blurRad="38100" dist="38100" dir="2700000" algn="tl">
                    <a:srgbClr val="000000">
                      <a:alpha val="43137"/>
                    </a:srgbClr>
                  </a:outerShdw>
                </a:effectLst>
              </a:rPr>
              <a:t>电平</a:t>
            </a:r>
            <a:r>
              <a:rPr lang="zh-CN" altLang="en-US" sz="2800" b="1" dirty="0">
                <a:effectLst>
                  <a:outerShdw blurRad="38100" dist="38100" dir="2700000" algn="tl">
                    <a:srgbClr val="000000">
                      <a:alpha val="43137"/>
                    </a:srgbClr>
                  </a:outerShdw>
                </a:effectLst>
              </a:rPr>
              <a:t>对应于</a:t>
            </a:r>
            <a:r>
              <a:rPr lang="en-US" altLang="zh-CN" sz="2800" b="1" dirty="0">
                <a:effectLst>
                  <a:outerShdw blurRad="38100" dist="38100" dir="2700000" algn="tl">
                    <a:srgbClr val="000000">
                      <a:alpha val="43137"/>
                    </a:srgbClr>
                  </a:outerShdw>
                </a:effectLst>
              </a:rPr>
              <a:t>LED</a:t>
            </a:r>
            <a:r>
              <a:rPr lang="zh-CN" altLang="zh-CN" sz="2800" b="1" dirty="0">
                <a:effectLst>
                  <a:outerShdw blurRad="38100" dist="38100" dir="2700000" algn="tl">
                    <a:srgbClr val="000000">
                      <a:alpha val="43137"/>
                    </a:srgbClr>
                  </a:outerShdw>
                </a:effectLst>
              </a:rPr>
              <a:t>点亮。</a:t>
            </a:r>
            <a:endParaRPr lang="en-US" altLang="zh-CN" sz="2800" b="1" dirty="0">
              <a:effectLst>
                <a:outerShdw blurRad="38100" dist="38100" dir="2700000" algn="tl">
                  <a:srgbClr val="000000">
                    <a:alpha val="43137"/>
                  </a:srgbClr>
                </a:outerShdw>
              </a:effectLst>
            </a:endParaRPr>
          </a:p>
          <a:p>
            <a:pPr marL="514350" indent="-514350" eaLnBrk="1" hangingPunct="1">
              <a:spcBef>
                <a:spcPts val="600"/>
              </a:spcBef>
              <a:spcAft>
                <a:spcPts val="600"/>
              </a:spcAft>
              <a:buFont typeface="+mj-ea"/>
              <a:buAutoNum type="circleNumDbPlain"/>
              <a:defRPr/>
            </a:pPr>
            <a:r>
              <a:rPr lang="zh-CN" altLang="en-US" sz="2800" b="1" dirty="0">
                <a:effectLst>
                  <a:outerShdw blurRad="38100" dist="38100" dir="2700000" algn="tl">
                    <a:srgbClr val="000000">
                      <a:alpha val="43137"/>
                    </a:srgbClr>
                  </a:outerShdw>
                </a:effectLst>
              </a:rPr>
              <a:t>采用循环移位方法，即设法</a:t>
            </a:r>
            <a:r>
              <a:rPr lang="zh-CN" altLang="zh-CN" sz="2800" b="1" dirty="0">
                <a:effectLst>
                  <a:outerShdw blurRad="38100" dist="38100" dir="2700000" algn="tl">
                    <a:srgbClr val="000000">
                      <a:alpha val="43137"/>
                    </a:srgbClr>
                  </a:outerShdw>
                </a:effectLst>
              </a:rPr>
              <a:t>使</a:t>
            </a:r>
            <a:r>
              <a:rPr lang="en-US" altLang="zh-CN" sz="2800" b="1" dirty="0">
                <a:effectLst>
                  <a:outerShdw blurRad="38100" dist="38100" dir="2700000" algn="tl">
                    <a:srgbClr val="000000">
                      <a:alpha val="43137"/>
                    </a:srgbClr>
                  </a:outerShdw>
                </a:effectLst>
              </a:rPr>
              <a:t>P2</a:t>
            </a:r>
            <a:r>
              <a:rPr lang="zh-CN" altLang="en-US" sz="2800" b="1" dirty="0">
                <a:effectLst>
                  <a:outerShdw blurRad="38100" dist="38100" dir="2700000" algn="tl">
                    <a:srgbClr val="000000">
                      <a:alpha val="43137"/>
                    </a:srgbClr>
                  </a:outerShdw>
                </a:effectLst>
              </a:rPr>
              <a:t>口中的</a:t>
            </a:r>
            <a:r>
              <a:rPr lang="en-US" altLang="zh-CN" sz="2800" b="1" dirty="0">
                <a:effectLst>
                  <a:outerShdw blurRad="38100" dist="38100" dir="2700000" algn="tl">
                    <a:srgbClr val="000000">
                      <a:alpha val="43137"/>
                    </a:srgbClr>
                  </a:outerShdw>
                </a:effectLst>
              </a:rPr>
              <a:t>8</a:t>
            </a:r>
            <a:r>
              <a:rPr lang="zh-CN" altLang="zh-CN" sz="2800" b="1" dirty="0">
                <a:effectLst>
                  <a:outerShdw blurRad="38100" dist="38100" dir="2700000" algn="tl">
                    <a:srgbClr val="000000">
                      <a:alpha val="43137"/>
                    </a:srgbClr>
                  </a:outerShdw>
                </a:effectLst>
              </a:rPr>
              <a:t>位二进制数依次</a:t>
            </a:r>
            <a:r>
              <a:rPr lang="zh-CN" altLang="en-US" sz="2800" b="1" dirty="0">
                <a:effectLst>
                  <a:outerShdw blurRad="38100" dist="38100" dir="2700000" algn="tl">
                    <a:srgbClr val="000000">
                      <a:alpha val="43137"/>
                    </a:srgbClr>
                  </a:outerShdw>
                </a:effectLst>
              </a:rPr>
              <a:t>循环移位，每次只有一只</a:t>
            </a:r>
            <a:r>
              <a:rPr lang="en-US" altLang="zh-CN" sz="2800" b="1" dirty="0">
                <a:effectLst>
                  <a:outerShdw blurRad="38100" dist="38100" dir="2700000" algn="tl">
                    <a:srgbClr val="000000">
                      <a:alpha val="43137"/>
                    </a:srgbClr>
                  </a:outerShdw>
                </a:effectLst>
              </a:rPr>
              <a:t>LED</a:t>
            </a:r>
            <a:r>
              <a:rPr lang="zh-CN" altLang="en-US" sz="2800" b="1" dirty="0">
                <a:effectLst>
                  <a:outerShdw blurRad="38100" dist="38100" dir="2700000" algn="tl">
                    <a:srgbClr val="000000">
                      <a:alpha val="43137"/>
                    </a:srgbClr>
                  </a:outerShdw>
                </a:effectLst>
              </a:rPr>
              <a:t>亮</a:t>
            </a:r>
            <a:r>
              <a:rPr lang="en-US" altLang="zh-CN" sz="2800" b="1" dirty="0">
                <a:effectLst>
                  <a:outerShdw blurRad="38100" dist="38100" dir="2700000" algn="tl">
                    <a:srgbClr val="000000">
                      <a:alpha val="43137"/>
                    </a:srgbClr>
                  </a:outerShdw>
                </a:effectLst>
              </a:rPr>
              <a:t>7</a:t>
            </a:r>
            <a:r>
              <a:rPr lang="zh-CN" altLang="en-US" sz="2800" b="1" dirty="0">
                <a:effectLst>
                  <a:outerShdw blurRad="38100" dist="38100" dir="2700000" algn="tl">
                    <a:srgbClr val="000000">
                      <a:alpha val="43137"/>
                    </a:srgbClr>
                  </a:outerShdw>
                </a:effectLst>
              </a:rPr>
              <a:t>只灭，从而也产生流水灯效果。</a:t>
            </a:r>
            <a:endParaRPr lang="en-US" altLang="zh-CN" sz="2800" b="1" dirty="0">
              <a:effectLst>
                <a:outerShdw blurRad="38100" dist="38100" dir="2700000" algn="tl">
                  <a:srgbClr val="000000">
                    <a:alpha val="43137"/>
                  </a:srgbClr>
                </a:outerShdw>
              </a:effectLst>
            </a:endParaRPr>
          </a:p>
          <a:p>
            <a:pPr marL="514350" indent="-514350" eaLnBrk="1" hangingPunct="1">
              <a:spcBef>
                <a:spcPts val="600"/>
              </a:spcBef>
              <a:spcAft>
                <a:spcPts val="600"/>
              </a:spcAft>
              <a:buFont typeface="+mj-ea"/>
              <a:buAutoNum type="circleNumDbPlain"/>
              <a:defRPr/>
            </a:pPr>
            <a:r>
              <a:rPr lang="en-US" altLang="zh-CN" sz="2800" b="1" dirty="0">
                <a:effectLst>
                  <a:outerShdw blurRad="38100" dist="38100" dir="2700000" algn="tl">
                    <a:srgbClr val="000000">
                      <a:alpha val="43137"/>
                    </a:srgbClr>
                  </a:outerShdw>
                </a:effectLst>
              </a:rPr>
              <a:t>C51</a:t>
            </a:r>
            <a:r>
              <a:rPr lang="zh-CN" altLang="zh-CN" sz="2800" b="1" dirty="0">
                <a:effectLst>
                  <a:outerShdw blurRad="38100" dist="38100" dir="2700000" algn="tl">
                    <a:srgbClr val="000000">
                      <a:alpha val="43137"/>
                    </a:srgbClr>
                  </a:outerShdw>
                </a:effectLst>
              </a:rPr>
              <a:t>的</a:t>
            </a:r>
            <a:r>
              <a:rPr lang="en-US" altLang="zh-CN" sz="2800" b="1" dirty="0" err="1">
                <a:solidFill>
                  <a:srgbClr val="0000FF"/>
                </a:solidFill>
              </a:rPr>
              <a:t>intrins.h</a:t>
            </a:r>
            <a:r>
              <a:rPr lang="zh-CN" altLang="zh-CN" sz="2800" b="1" dirty="0">
                <a:solidFill>
                  <a:srgbClr val="0000FF"/>
                </a:solidFill>
              </a:rPr>
              <a:t>库函数</a:t>
            </a:r>
            <a:r>
              <a:rPr lang="zh-CN" altLang="zh-CN" sz="2800" b="1" dirty="0">
                <a:effectLst>
                  <a:outerShdw blurRad="38100" dist="38100" dir="2700000" algn="tl">
                    <a:srgbClr val="000000">
                      <a:alpha val="43137"/>
                    </a:srgbClr>
                  </a:outerShdw>
                </a:effectLst>
              </a:rPr>
              <a:t>中有一个</a:t>
            </a:r>
            <a:r>
              <a:rPr lang="zh-CN" altLang="zh-CN" sz="2800" b="1" dirty="0">
                <a:effectLst>
                  <a:outerShdw blurRad="38100" dist="38100" dir="2700000" algn="tl">
                    <a:srgbClr val="000000">
                      <a:alpha val="43137"/>
                    </a:srgbClr>
                  </a:outerShdw>
                </a:effectLst>
                <a:highlight>
                  <a:srgbClr val="FFFF00"/>
                </a:highlight>
              </a:rPr>
              <a:t>字符循环右移</a:t>
            </a:r>
            <a:r>
              <a:rPr lang="zh-CN" altLang="zh-CN" sz="2800" b="1" dirty="0">
                <a:effectLst>
                  <a:outerShdw blurRad="38100" dist="38100" dir="2700000" algn="tl">
                    <a:srgbClr val="000000">
                      <a:alpha val="43137"/>
                    </a:srgbClr>
                  </a:outerShdw>
                </a:effectLst>
              </a:rPr>
              <a:t>函数</a:t>
            </a:r>
            <a:r>
              <a:rPr lang="en-US" altLang="zh-CN" sz="2800" b="1" dirty="0">
                <a:solidFill>
                  <a:srgbClr val="C00000"/>
                </a:solidFill>
              </a:rPr>
              <a:t>_</a:t>
            </a:r>
            <a:r>
              <a:rPr lang="en-US" altLang="zh-CN" sz="2800" b="1" dirty="0" err="1">
                <a:solidFill>
                  <a:srgbClr val="C00000"/>
                </a:solidFill>
              </a:rPr>
              <a:t>cror</a:t>
            </a:r>
            <a:r>
              <a:rPr lang="en-US" altLang="zh-CN" sz="2800" b="1" dirty="0">
                <a:solidFill>
                  <a:srgbClr val="C00000"/>
                </a:solidFill>
              </a:rPr>
              <a:t>_(</a:t>
            </a:r>
            <a:r>
              <a:rPr lang="en-US" altLang="zh-CN" sz="2800" b="1" dirty="0" err="1">
                <a:solidFill>
                  <a:srgbClr val="C00000"/>
                </a:solidFill>
              </a:rPr>
              <a:t>x,n</a:t>
            </a:r>
            <a:r>
              <a:rPr lang="en-US" altLang="zh-CN" sz="2800" b="1" dirty="0">
                <a:solidFill>
                  <a:srgbClr val="C00000"/>
                </a:solidFill>
              </a:rPr>
              <a:t>) </a:t>
            </a:r>
            <a:r>
              <a:rPr lang="zh-CN" altLang="zh-CN" sz="2800" b="1" dirty="0">
                <a:effectLst>
                  <a:outerShdw blurRad="38100" dist="38100" dir="2700000" algn="tl">
                    <a:srgbClr val="000000">
                      <a:alpha val="43137"/>
                    </a:srgbClr>
                  </a:outerShdw>
                </a:effectLst>
              </a:rPr>
              <a:t>可供用户使用，它具有将低位移出值补到高位的功能。该函数有两个无符号字符型的形参，</a:t>
            </a:r>
            <a:r>
              <a:rPr lang="en-US" altLang="zh-CN" sz="2800" b="1" dirty="0">
                <a:effectLst>
                  <a:outerShdw blurRad="38100" dist="38100" dir="2700000" algn="tl">
                    <a:srgbClr val="000000">
                      <a:alpha val="43137"/>
                    </a:srgbClr>
                  </a:outerShdw>
                </a:effectLst>
              </a:rPr>
              <a:t>x</a:t>
            </a:r>
            <a:r>
              <a:rPr lang="zh-CN" altLang="zh-CN" sz="2800" b="1" dirty="0">
                <a:effectLst>
                  <a:outerShdw blurRad="38100" dist="38100" dir="2700000" algn="tl">
                    <a:srgbClr val="000000">
                      <a:alpha val="43137"/>
                    </a:srgbClr>
                  </a:outerShdw>
                </a:effectLst>
              </a:rPr>
              <a:t>用来存放被移位的数据，</a:t>
            </a:r>
            <a:r>
              <a:rPr lang="en-US" altLang="zh-CN" sz="2800" b="1" dirty="0">
                <a:effectLst>
                  <a:outerShdw blurRad="38100" dist="38100" dir="2700000" algn="tl">
                    <a:srgbClr val="000000">
                      <a:alpha val="43137"/>
                    </a:srgbClr>
                  </a:outerShdw>
                </a:effectLst>
              </a:rPr>
              <a:t>n</a:t>
            </a:r>
            <a:r>
              <a:rPr lang="zh-CN" altLang="zh-CN" sz="2800" b="1" dirty="0">
                <a:effectLst>
                  <a:outerShdw blurRad="38100" dist="38100" dir="2700000" algn="tl">
                    <a:srgbClr val="000000">
                      <a:alpha val="43137"/>
                    </a:srgbClr>
                  </a:outerShdw>
                </a:effectLst>
              </a:rPr>
              <a:t>用来存放移位次数。</a:t>
            </a:r>
            <a:endParaRPr lang="en-US" altLang="zh-CN" sz="2800" b="1" dirty="0">
              <a:effectLst>
                <a:outerShdw blurRad="38100" dist="38100" dir="2700000" algn="tl">
                  <a:srgbClr val="000000">
                    <a:alpha val="43137"/>
                  </a:srgbClr>
                </a:outerShdw>
              </a:effectLst>
            </a:endParaRPr>
          </a:p>
        </p:txBody>
      </p:sp>
      <p:sp>
        <p:nvSpPr>
          <p:cNvPr id="4" name="Rectangle 2">
            <a:extLst>
              <a:ext uri="{FF2B5EF4-FFF2-40B4-BE49-F238E27FC236}">
                <a16:creationId xmlns:a16="http://schemas.microsoft.com/office/drawing/2014/main" id="{D8A0689E-B13F-44C9-816F-FF0C7618021C}"/>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ChangeArrowheads="1"/>
          </p:cNvSpPr>
          <p:nvPr/>
        </p:nvSpPr>
        <p:spPr bwMode="auto">
          <a:xfrm>
            <a:off x="606425" y="944563"/>
            <a:ext cx="778668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ts val="600"/>
              </a:spcBef>
              <a:spcAft>
                <a:spcPts val="600"/>
              </a:spcAft>
              <a:buFontTx/>
              <a:buNone/>
            </a:pPr>
            <a:r>
              <a:rPr lang="zh-CN" altLang="en-US" sz="2400" b="1" dirty="0">
                <a:effectLst>
                  <a:outerShdw blurRad="38100" dist="38100" dir="2700000" algn="tl">
                    <a:srgbClr val="000000">
                      <a:alpha val="43137"/>
                    </a:srgbClr>
                  </a:outerShdw>
                </a:effectLst>
              </a:rPr>
              <a:t>为了正确调用库</a:t>
            </a:r>
            <a:r>
              <a:rPr lang="zh-CN" altLang="zh-CN" sz="2400" b="1" dirty="0">
                <a:effectLst>
                  <a:outerShdw blurRad="38100" dist="38100" dir="2700000" algn="tl">
                    <a:srgbClr val="000000">
                      <a:alpha val="43137"/>
                    </a:srgbClr>
                  </a:outerShdw>
                </a:effectLst>
              </a:rPr>
              <a:t>函数</a:t>
            </a:r>
            <a:r>
              <a:rPr lang="en-US" altLang="zh-CN" sz="2400" b="1" dirty="0">
                <a:effectLst>
                  <a:outerShdw blurRad="38100" dist="38100" dir="2700000" algn="tl">
                    <a:srgbClr val="000000">
                      <a:alpha val="43137"/>
                    </a:srgbClr>
                  </a:outerShdw>
                </a:effectLst>
              </a:rPr>
              <a:t>_</a:t>
            </a:r>
            <a:r>
              <a:rPr lang="en-US" altLang="zh-CN" sz="2400" b="1" dirty="0" err="1">
                <a:effectLst>
                  <a:outerShdw blurRad="38100" dist="38100" dir="2700000" algn="tl">
                    <a:srgbClr val="000000">
                      <a:alpha val="43137"/>
                    </a:srgbClr>
                  </a:outerShdw>
                </a:effectLst>
              </a:rPr>
              <a:t>cror</a:t>
            </a:r>
            <a:r>
              <a:rPr lang="en-US" altLang="zh-CN" sz="2400" b="1" dirty="0">
                <a:effectLst>
                  <a:outerShdw blurRad="38100" dist="38100" dir="2700000" algn="tl">
                    <a:srgbClr val="000000">
                      <a:alpha val="43137"/>
                    </a:srgbClr>
                  </a:outerShdw>
                </a:effectLst>
              </a:rPr>
              <a:t>_</a:t>
            </a:r>
            <a:r>
              <a:rPr lang="zh-CN" altLang="en-US" sz="2400" b="1" dirty="0">
                <a:effectLst>
                  <a:outerShdw blurRad="38100" dist="38100" dir="2700000" algn="tl">
                    <a:srgbClr val="000000">
                      <a:alpha val="43137"/>
                    </a:srgbClr>
                  </a:outerShdw>
                </a:effectLst>
              </a:rPr>
              <a:t>需要查看库函数的声明（本书附录</a:t>
            </a:r>
            <a:r>
              <a:rPr lang="en-US" altLang="zh-CN" sz="2400" b="1" dirty="0">
                <a:effectLst>
                  <a:outerShdw blurRad="38100" dist="38100" dir="2700000" algn="tl">
                    <a:srgbClr val="000000">
                      <a:alpha val="43137"/>
                    </a:srgbClr>
                  </a:outerShdw>
                </a:effectLst>
              </a:rPr>
              <a:t>C</a:t>
            </a:r>
            <a:r>
              <a:rPr lang="zh-CN" altLang="en-US" sz="2400" b="1" dirty="0">
                <a:effectLst>
                  <a:outerShdw blurRad="38100" dist="38100" dir="2700000" algn="tl">
                    <a:srgbClr val="000000">
                      <a:alpha val="43137"/>
                    </a:srgbClr>
                  </a:outerShdw>
                </a:effectLst>
              </a:rPr>
              <a:t>）。</a:t>
            </a:r>
            <a:r>
              <a:rPr lang="en-US" altLang="zh-CN" sz="2400" b="1" dirty="0">
                <a:effectLst>
                  <a:outerShdw blurRad="38100" dist="38100" dir="2700000" algn="tl">
                    <a:srgbClr val="000000">
                      <a:alpha val="43137"/>
                    </a:srgbClr>
                  </a:outerShdw>
                </a:effectLst>
              </a:rPr>
              <a:t> </a:t>
            </a:r>
          </a:p>
        </p:txBody>
      </p:sp>
      <p:pic>
        <p:nvPicPr>
          <p:cNvPr id="20484" name="图片 1"/>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76350" y="1776413"/>
            <a:ext cx="6181725" cy="461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右箭头 2"/>
          <p:cNvSpPr>
            <a:spLocks noChangeArrowheads="1"/>
          </p:cNvSpPr>
          <p:nvPr/>
        </p:nvSpPr>
        <p:spPr bwMode="auto">
          <a:xfrm>
            <a:off x="614363" y="4183063"/>
            <a:ext cx="661987" cy="201612"/>
          </a:xfrm>
          <a:prstGeom prst="rightArrow">
            <a:avLst>
              <a:gd name="adj1" fmla="val 50000"/>
              <a:gd name="adj2" fmla="val 49708"/>
            </a:avLst>
          </a:prstGeom>
          <a:solidFill>
            <a:schemeClr val="accent1"/>
          </a:solidFill>
          <a:ln w="9525" algn="ctr">
            <a:solidFill>
              <a:schemeClr val="tx1"/>
            </a:solidFill>
            <a:round/>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6" name="Rectangle 2">
            <a:extLst>
              <a:ext uri="{FF2B5EF4-FFF2-40B4-BE49-F238E27FC236}">
                <a16:creationId xmlns:a16="http://schemas.microsoft.com/office/drawing/2014/main" id="{38498F6B-4030-4FA2-9F3A-32D58A804746}"/>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7" name="图片 1"/>
          <p:cNvPicPr>
            <a:picLocks noChangeAspect="1"/>
          </p:cNvPicPr>
          <p:nvPr/>
        </p:nvPicPr>
        <p:blipFill>
          <a:blip r:embed="rId2">
            <a:extLst>
              <a:ext uri="{28A0092B-C50C-407E-A947-70E740481C1C}">
                <a14:useLocalDpi xmlns:a14="http://schemas.microsoft.com/office/drawing/2010/main" val="0"/>
              </a:ext>
            </a:extLst>
          </a:blip>
          <a:srcRect l="1245" t="49088" r="1016" b="37978"/>
          <a:stretch>
            <a:fillRect/>
          </a:stretch>
        </p:blipFill>
        <p:spPr bwMode="auto">
          <a:xfrm>
            <a:off x="889000" y="1504950"/>
            <a:ext cx="7351713"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787400" y="2230438"/>
            <a:ext cx="7554913" cy="3278187"/>
          </a:xfrm>
          <a:prstGeom prst="rect">
            <a:avLst/>
          </a:prstGeom>
        </p:spPr>
        <p:txBody>
          <a:bodyPr>
            <a:spAutoFit/>
          </a:bodyPr>
          <a:lstStyle/>
          <a:p>
            <a:pPr>
              <a:lnSpc>
                <a:spcPct val="150000"/>
              </a:lnSpc>
              <a:spcAft>
                <a:spcPts val="0"/>
              </a:spcAft>
              <a:defRPr/>
            </a:pPr>
            <a:r>
              <a:rPr lang="zh-CN" altLang="zh-CN" b="1" kern="100" dirty="0">
                <a:solidFill>
                  <a:srgbClr val="000000"/>
                </a:solidFill>
                <a:effectLst>
                  <a:outerShdw blurRad="38100" dist="38100" dir="2700000" algn="tl">
                    <a:srgbClr val="000000">
                      <a:alpha val="43137"/>
                    </a:srgbClr>
                  </a:outerShdw>
                </a:effectLst>
                <a:latin typeface="Verdana" panose="020B0604030504040204" pitchFamily="34" charset="0"/>
                <a:cs typeface="Times New Roman" panose="02020603050405020304" pitchFamily="18" charset="0"/>
              </a:rPr>
              <a:t>可以看出，</a:t>
            </a:r>
            <a:r>
              <a:rPr lang="en-US" altLang="zh-CN" b="1" kern="100" dirty="0">
                <a:solidFill>
                  <a:srgbClr val="0000FF"/>
                </a:solidFill>
                <a:effectLst>
                  <a:outerShdw blurRad="38100" dist="38100" dir="2700000" algn="tl">
                    <a:srgbClr val="000000">
                      <a:alpha val="43137"/>
                    </a:srgbClr>
                  </a:outerShdw>
                </a:effectLst>
                <a:latin typeface="Verdana" panose="020B0604030504040204" pitchFamily="34" charset="0"/>
                <a:cs typeface="Times New Roman" panose="02020603050405020304" pitchFamily="18" charset="0"/>
              </a:rPr>
              <a:t>_</a:t>
            </a:r>
            <a:r>
              <a:rPr lang="en-US" altLang="zh-CN" b="1" kern="100" dirty="0" err="1">
                <a:solidFill>
                  <a:srgbClr val="0000FF"/>
                </a:solidFill>
                <a:effectLst>
                  <a:outerShdw blurRad="38100" dist="38100" dir="2700000" algn="tl">
                    <a:srgbClr val="000000">
                      <a:alpha val="43137"/>
                    </a:srgbClr>
                  </a:outerShdw>
                </a:effectLst>
                <a:latin typeface="Verdana" panose="020B0604030504040204" pitchFamily="34" charset="0"/>
                <a:cs typeface="Times New Roman" panose="02020603050405020304" pitchFamily="18" charset="0"/>
              </a:rPr>
              <a:t>cror</a:t>
            </a:r>
            <a:r>
              <a:rPr lang="en-US" altLang="zh-CN" b="1" kern="100" dirty="0">
                <a:solidFill>
                  <a:srgbClr val="0000FF"/>
                </a:solidFill>
                <a:effectLst>
                  <a:outerShdw blurRad="38100" dist="38100" dir="2700000" algn="tl">
                    <a:srgbClr val="000000">
                      <a:alpha val="43137"/>
                    </a:srgbClr>
                  </a:outerShdw>
                </a:effectLst>
                <a:latin typeface="Verdana" panose="020B0604030504040204" pitchFamily="34" charset="0"/>
                <a:cs typeface="Times New Roman" panose="02020603050405020304" pitchFamily="18" charset="0"/>
              </a:rPr>
              <a:t>_</a:t>
            </a:r>
            <a:r>
              <a:rPr lang="zh-CN" altLang="zh-CN" b="1" kern="100" dirty="0">
                <a:solidFill>
                  <a:srgbClr val="0000FF"/>
                </a:solidFill>
                <a:effectLst>
                  <a:outerShdw blurRad="38100" dist="38100" dir="2700000" algn="tl">
                    <a:srgbClr val="000000">
                      <a:alpha val="43137"/>
                    </a:srgbClr>
                  </a:outerShdw>
                </a:effectLst>
                <a:latin typeface="Verdana" panose="020B0604030504040204" pitchFamily="34" charset="0"/>
                <a:cs typeface="Times New Roman" panose="02020603050405020304" pitchFamily="18" charset="0"/>
              </a:rPr>
              <a:t>函数具有将低位移出值补到高位的功能。该函数有两个无符号字符型的形参，前者用来存放被移位的数据，后者用来存放移位次数，函数返回值是无符号字符型。</a:t>
            </a:r>
            <a:r>
              <a:rPr lang="zh-CN" altLang="zh-CN" b="1" kern="100" dirty="0">
                <a:solidFill>
                  <a:srgbClr val="000000"/>
                </a:solidFill>
                <a:effectLst>
                  <a:outerShdw blurRad="38100" dist="38100" dir="2700000" algn="tl">
                    <a:srgbClr val="000000">
                      <a:alpha val="43137"/>
                    </a:srgbClr>
                  </a:outerShdw>
                </a:effectLst>
                <a:latin typeface="Verdana" panose="020B0604030504040204" pitchFamily="34" charset="0"/>
                <a:cs typeface="Times New Roman" panose="02020603050405020304" pitchFamily="18" charset="0"/>
              </a:rPr>
              <a:t>由此可知，利用以下语句便可得到循环右移</a:t>
            </a:r>
            <a:r>
              <a:rPr lang="en-US" altLang="zh-CN" b="1" kern="100" dirty="0">
                <a:solidFill>
                  <a:srgbClr val="000000"/>
                </a:solidFill>
                <a:effectLst>
                  <a:outerShdw blurRad="38100" dist="38100" dir="2700000" algn="tl">
                    <a:srgbClr val="000000">
                      <a:alpha val="43137"/>
                    </a:srgbClr>
                  </a:outerShdw>
                </a:effectLst>
                <a:latin typeface="Verdana" panose="020B0604030504040204" pitchFamily="34" charset="0"/>
                <a:cs typeface="Times New Roman" panose="02020603050405020304" pitchFamily="18" charset="0"/>
              </a:rPr>
              <a:t>1</a:t>
            </a:r>
            <a:r>
              <a:rPr lang="zh-CN" altLang="zh-CN" b="1" kern="100" dirty="0">
                <a:solidFill>
                  <a:srgbClr val="000000"/>
                </a:solidFill>
                <a:effectLst>
                  <a:outerShdw blurRad="38100" dist="38100" dir="2700000" algn="tl">
                    <a:srgbClr val="000000">
                      <a:alpha val="43137"/>
                    </a:srgbClr>
                  </a:outerShdw>
                </a:effectLst>
                <a:latin typeface="Verdana" panose="020B0604030504040204" pitchFamily="34" charset="0"/>
                <a:cs typeface="Times New Roman" panose="02020603050405020304" pitchFamily="18" charset="0"/>
              </a:rPr>
              <a:t>位的结果：</a:t>
            </a:r>
            <a:endParaRPr lang="zh-CN" altLang="zh-CN" b="1" kern="100"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endParaRPr>
          </a:p>
          <a:p>
            <a:pPr indent="242570">
              <a:lnSpc>
                <a:spcPct val="150000"/>
              </a:lnSpc>
              <a:spcAft>
                <a:spcPts val="0"/>
              </a:spcAft>
              <a:defRPr/>
            </a:pPr>
            <a:r>
              <a:rPr lang="en-US" altLang="zh-CN" sz="1800" b="1" kern="100" dirty="0">
                <a:solidFill>
                  <a:schemeClr val="accent6"/>
                </a:solidFill>
                <a:effectLst>
                  <a:outerShdw blurRad="38100" dist="38100" dir="2700000" algn="tl">
                    <a:srgbClr val="000000">
                      <a:alpha val="43137"/>
                    </a:srgbClr>
                  </a:outerShdw>
                </a:effectLst>
                <a:latin typeface="Verdana" panose="020B0604030504040204" pitchFamily="34" charset="0"/>
                <a:cs typeface="Times New Roman" panose="02020603050405020304" pitchFamily="18" charset="0"/>
              </a:rPr>
              <a:t>       </a:t>
            </a:r>
            <a:r>
              <a:rPr lang="en-US" altLang="zh-CN" sz="1800" b="1" kern="100" dirty="0">
                <a:solidFill>
                  <a:srgbClr val="C00000"/>
                </a:solidFill>
                <a:effectLst>
                  <a:outerShdw blurRad="38100" dist="38100" dir="2700000" algn="tl">
                    <a:srgbClr val="000000">
                      <a:alpha val="43137"/>
                    </a:srgbClr>
                  </a:outerShdw>
                </a:effectLst>
                <a:latin typeface="Verdana" panose="020B0604030504040204" pitchFamily="34" charset="0"/>
                <a:cs typeface="Times New Roman" panose="02020603050405020304" pitchFamily="18" charset="0"/>
              </a:rPr>
              <a:t>P2 =_</a:t>
            </a:r>
            <a:r>
              <a:rPr lang="en-US" altLang="zh-CN" sz="1800" b="1" kern="100" dirty="0" err="1">
                <a:solidFill>
                  <a:srgbClr val="C00000"/>
                </a:solidFill>
                <a:effectLst>
                  <a:outerShdw blurRad="38100" dist="38100" dir="2700000" algn="tl">
                    <a:srgbClr val="000000">
                      <a:alpha val="43137"/>
                    </a:srgbClr>
                  </a:outerShdw>
                </a:effectLst>
                <a:latin typeface="Verdana" panose="020B0604030504040204" pitchFamily="34" charset="0"/>
                <a:cs typeface="Times New Roman" panose="02020603050405020304" pitchFamily="18" charset="0"/>
              </a:rPr>
              <a:t>cror</a:t>
            </a:r>
            <a:r>
              <a:rPr lang="en-US" altLang="zh-CN" sz="1800" b="1" kern="100" dirty="0">
                <a:solidFill>
                  <a:srgbClr val="C00000"/>
                </a:solidFill>
                <a:effectLst>
                  <a:outerShdw blurRad="38100" dist="38100" dir="2700000" algn="tl">
                    <a:srgbClr val="000000">
                      <a:alpha val="43137"/>
                    </a:srgbClr>
                  </a:outerShdw>
                </a:effectLst>
                <a:latin typeface="Verdana" panose="020B0604030504040204" pitchFamily="34" charset="0"/>
                <a:cs typeface="Times New Roman" panose="02020603050405020304" pitchFamily="18" charset="0"/>
              </a:rPr>
              <a:t>_(P2,1);</a:t>
            </a:r>
            <a:endParaRPr lang="zh-CN" altLang="zh-CN" b="1" kern="100" dirty="0">
              <a:solidFill>
                <a:srgbClr val="C00000"/>
              </a:solidFill>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endParaRPr>
          </a:p>
        </p:txBody>
      </p:sp>
      <p:sp>
        <p:nvSpPr>
          <p:cNvPr id="5" name="Rectangle 2">
            <a:extLst>
              <a:ext uri="{FF2B5EF4-FFF2-40B4-BE49-F238E27FC236}">
                <a16:creationId xmlns:a16="http://schemas.microsoft.com/office/drawing/2014/main" id="{F63B749E-22D6-489E-AA2E-76A7E0C071D9}"/>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1"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79488" y="1441450"/>
            <a:ext cx="7200900" cy="421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2" name="矩形 4"/>
          <p:cNvSpPr>
            <a:spLocks noChangeArrowheads="1"/>
          </p:cNvSpPr>
          <p:nvPr/>
        </p:nvSpPr>
        <p:spPr bwMode="auto">
          <a:xfrm>
            <a:off x="979488" y="979488"/>
            <a:ext cx="31099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zh-CN" sz="24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实例</a:t>
            </a:r>
            <a:r>
              <a:rPr lang="en-US" altLang="zh-CN" sz="24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4</a:t>
            </a:r>
            <a:r>
              <a:rPr lang="zh-CN" altLang="zh-CN" sz="24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的源程序如下：</a:t>
            </a:r>
            <a:endParaRPr lang="zh-CN" altLang="en-US" sz="2400" b="1" dirty="0">
              <a:effectLst>
                <a:outerShdw blurRad="38100" dist="38100" dir="2700000" algn="tl">
                  <a:srgbClr val="000000">
                    <a:alpha val="43137"/>
                  </a:srgbClr>
                </a:outerShdw>
              </a:effectLst>
            </a:endParaRPr>
          </a:p>
        </p:txBody>
      </p:sp>
      <p:sp>
        <p:nvSpPr>
          <p:cNvPr id="5" name="Rectangle 2">
            <a:extLst>
              <a:ext uri="{FF2B5EF4-FFF2-40B4-BE49-F238E27FC236}">
                <a16:creationId xmlns:a16="http://schemas.microsoft.com/office/drawing/2014/main" id="{3B4DFE61-9A88-496E-98CC-B8E4097A7D9F}"/>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矩形 4"/>
          <p:cNvSpPr>
            <a:spLocks noChangeArrowheads="1"/>
          </p:cNvSpPr>
          <p:nvPr/>
        </p:nvSpPr>
        <p:spPr bwMode="auto">
          <a:xfrm>
            <a:off x="979488" y="979488"/>
            <a:ext cx="67611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zh-CN" sz="2400" b="1" dirty="0">
                <a:effectLst>
                  <a:outerShdw blurRad="38100" dist="38100" dir="2700000" algn="tl">
                    <a:srgbClr val="000000">
                      <a:alpha val="43137"/>
                    </a:srgbClr>
                  </a:outerShdw>
                </a:effectLst>
              </a:rPr>
              <a:t>实例</a:t>
            </a:r>
            <a:r>
              <a:rPr lang="en-US" altLang="zh-CN" sz="2400" b="1" dirty="0">
                <a:effectLst>
                  <a:outerShdw blurRad="38100" dist="38100" dir="2700000" algn="tl">
                    <a:srgbClr val="000000">
                      <a:alpha val="43137"/>
                    </a:srgbClr>
                  </a:outerShdw>
                </a:effectLst>
              </a:rPr>
              <a:t>3</a:t>
            </a:r>
            <a:r>
              <a:rPr lang="zh-CN" altLang="zh-CN" sz="2400" b="1" dirty="0">
                <a:effectLst>
                  <a:outerShdw blurRad="38100" dist="38100" dir="2700000" algn="tl">
                    <a:srgbClr val="000000">
                      <a:alpha val="43137"/>
                    </a:srgbClr>
                  </a:outerShdw>
                </a:effectLst>
              </a:rPr>
              <a:t>的编程界面和运行界面</a:t>
            </a:r>
            <a:endParaRPr lang="zh-CN" altLang="en-US" sz="2400" b="1" dirty="0">
              <a:effectLst>
                <a:outerShdw blurRad="38100" dist="38100" dir="2700000" algn="tl">
                  <a:srgbClr val="000000">
                    <a:alpha val="43137"/>
                  </a:srgbClr>
                </a:outerShdw>
              </a:effectLst>
            </a:endParaRPr>
          </a:p>
        </p:txBody>
      </p:sp>
      <p:pic>
        <p:nvPicPr>
          <p:cNvPr id="23556" name="图片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27463" y="2054225"/>
            <a:ext cx="487045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7" name="矩形 1"/>
          <p:cNvSpPr>
            <a:spLocks noChangeArrowheads="1"/>
          </p:cNvSpPr>
          <p:nvPr/>
        </p:nvSpPr>
        <p:spPr bwMode="auto">
          <a:xfrm>
            <a:off x="652463" y="5754688"/>
            <a:ext cx="82216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400">
                <a:latin typeface="Calibri" panose="020F0502020204030204" pitchFamily="34" charset="0"/>
                <a:cs typeface="Times New Roman" panose="02020603050405020304" pitchFamily="18" charset="0"/>
              </a:rPr>
              <a:t>仿真结果：</a:t>
            </a:r>
            <a:r>
              <a:rPr lang="zh-CN" altLang="zh-CN" sz="2400">
                <a:latin typeface="Calibri" panose="020F0502020204030204" pitchFamily="34" charset="0"/>
                <a:cs typeface="Times New Roman" panose="02020603050405020304" pitchFamily="18" charset="0"/>
              </a:rPr>
              <a:t>实现了自下而上的流水灯效果，达到题意要求。</a:t>
            </a:r>
            <a:endParaRPr lang="zh-CN" altLang="en-US" sz="2400"/>
          </a:p>
        </p:txBody>
      </p:sp>
      <p:pic>
        <p:nvPicPr>
          <p:cNvPr id="23558" name="图片 62885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488" y="1441450"/>
            <a:ext cx="4870450" cy="362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a:extLst>
              <a:ext uri="{FF2B5EF4-FFF2-40B4-BE49-F238E27FC236}">
                <a16:creationId xmlns:a16="http://schemas.microsoft.com/office/drawing/2014/main" id="{BA37C786-F66C-4A8F-8BF7-CB95649EBDB1}"/>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4579" name="Rectangle 4"/>
          <p:cNvSpPr>
            <a:spLocks noChangeArrowheads="1"/>
          </p:cNvSpPr>
          <p:nvPr/>
        </p:nvSpPr>
        <p:spPr bwMode="auto">
          <a:xfrm>
            <a:off x="517525" y="314038"/>
            <a:ext cx="724931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b="1" dirty="0">
                <a:solidFill>
                  <a:srgbClr val="FF0000"/>
                </a:solidFill>
                <a:effectLst>
                  <a:outerShdw blurRad="38100" dist="38100" dir="2700000" algn="tl">
                    <a:srgbClr val="000000">
                      <a:alpha val="43137"/>
                    </a:srgbClr>
                  </a:outerShdw>
                </a:effectLst>
              </a:rPr>
              <a:t>4.2.2  </a:t>
            </a:r>
            <a:r>
              <a:rPr lang="zh-CN" altLang="en-US" b="1" dirty="0">
                <a:solidFill>
                  <a:srgbClr val="FF0000"/>
                </a:solidFill>
                <a:effectLst>
                  <a:outerShdw blurRad="38100" dist="38100" dir="2700000" algn="tl">
                    <a:srgbClr val="000000">
                      <a:alpha val="43137"/>
                    </a:srgbClr>
                  </a:outerShdw>
                </a:effectLst>
              </a:rPr>
              <a:t>数码管静态显示原理与编程 </a:t>
            </a:r>
          </a:p>
        </p:txBody>
      </p:sp>
      <p:sp>
        <p:nvSpPr>
          <p:cNvPr id="24580" name="Rectangle 5"/>
          <p:cNvSpPr>
            <a:spLocks noChangeArrowheads="1"/>
          </p:cNvSpPr>
          <p:nvPr/>
        </p:nvSpPr>
        <p:spPr bwMode="auto">
          <a:xfrm>
            <a:off x="517525" y="1700949"/>
            <a:ext cx="8296275"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pP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LED (Light Emitting Diode)</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，发光二极管，简称</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LED</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，人机交互输出设备是一种能够将电能转化为可见光的固态的半导体器件，它可以直接把电转化为光。</a:t>
            </a:r>
            <a:endPar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eaLnBrk="1" hangingPunct="1">
              <a:spcBef>
                <a:spcPct val="50000"/>
              </a:spcBef>
              <a:buFontTx/>
              <a:buNone/>
            </a:pPr>
            <a:endPar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grpSp>
        <p:nvGrpSpPr>
          <p:cNvPr id="24581" name="Group 55"/>
          <p:cNvGrpSpPr/>
          <p:nvPr/>
        </p:nvGrpSpPr>
        <p:grpSpPr bwMode="auto">
          <a:xfrm>
            <a:off x="2072907" y="3186694"/>
            <a:ext cx="5345112" cy="3325813"/>
            <a:chOff x="1113" y="1672"/>
            <a:chExt cx="3367" cy="2095"/>
          </a:xfrm>
        </p:grpSpPr>
        <p:sp>
          <p:nvSpPr>
            <p:cNvPr id="24583" name="Rectangle 7"/>
            <p:cNvSpPr>
              <a:spLocks noChangeArrowheads="1"/>
            </p:cNvSpPr>
            <p:nvPr/>
          </p:nvSpPr>
          <p:spPr bwMode="auto">
            <a:xfrm>
              <a:off x="1113" y="1672"/>
              <a:ext cx="3367" cy="2095"/>
            </a:xfrm>
            <a:prstGeom prst="rect">
              <a:avLst/>
            </a:prstGeom>
            <a:solidFill>
              <a:srgbClr val="EAEAEA"/>
            </a:solidFill>
            <a:ln w="127000" cmpd="tri">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pic>
          <p:nvPicPr>
            <p:cNvPr id="24584" name="Picture 8" descr="7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0" y="1763"/>
              <a:ext cx="301"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5" name="Picture 9" descr="7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3" y="1825"/>
              <a:ext cx="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6" name="Picture 10" descr="LEDYUA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6" y="2363"/>
              <a:ext cx="354"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587" name="Group 11"/>
            <p:cNvGrpSpPr/>
            <p:nvPr/>
          </p:nvGrpSpPr>
          <p:grpSpPr bwMode="auto">
            <a:xfrm>
              <a:off x="2649" y="1726"/>
              <a:ext cx="1752" cy="697"/>
              <a:chOff x="2640" y="516"/>
              <a:chExt cx="2928" cy="1380"/>
            </a:xfrm>
          </p:grpSpPr>
          <p:pic>
            <p:nvPicPr>
              <p:cNvPr id="24615" name="Picture 12" descr="LEDDUO"/>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58" y="516"/>
                <a:ext cx="2868" cy="1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16" name="Oval 13"/>
              <p:cNvSpPr>
                <a:spLocks noChangeArrowheads="1"/>
              </p:cNvSpPr>
              <p:nvPr/>
            </p:nvSpPr>
            <p:spPr bwMode="auto">
              <a:xfrm>
                <a:off x="2640" y="516"/>
                <a:ext cx="2928" cy="1380"/>
              </a:xfrm>
              <a:prstGeom prst="ellipse">
                <a:avLst/>
              </a:prstGeom>
              <a:noFill/>
              <a:ln w="38100">
                <a:solidFill>
                  <a:srgbClr val="008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pic>
          <p:nvPicPr>
            <p:cNvPr id="24588" name="Picture 14" descr="LEDYUA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94" y="2411"/>
              <a:ext cx="355"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9" name="Picture 15" descr="LEDYUA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65" y="2435"/>
              <a:ext cx="35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0" name="Picture 16" descr="LEDYpoint"/>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63" y="2826"/>
              <a:ext cx="1327" cy="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1" name="Picture 17" descr="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13" y="1780"/>
              <a:ext cx="331"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2" name="Picture 18" descr="888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74" y="2181"/>
              <a:ext cx="772"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3" name="Picture 19" descr="LEDYpaipai"/>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79" y="3096"/>
              <a:ext cx="4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4" name="Picture 20" descr="mi"/>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87" y="2381"/>
              <a:ext cx="427"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5" name="Picture 21" descr="fang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96" y="2364"/>
              <a:ext cx="276"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6" name="Picture 22" descr="fa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40" y="2681"/>
              <a:ext cx="165"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7" name="Picture 23" descr="fa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60" y="2681"/>
              <a:ext cx="165"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8" name="Picture 24" descr="fa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80" y="2681"/>
              <a:ext cx="165"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9" name="Picture 25" descr="fa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01" y="2681"/>
              <a:ext cx="165"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00" name="Rectangle 26"/>
            <p:cNvSpPr>
              <a:spLocks noChangeArrowheads="1"/>
            </p:cNvSpPr>
            <p:nvPr/>
          </p:nvSpPr>
          <p:spPr bwMode="auto">
            <a:xfrm>
              <a:off x="3783" y="2607"/>
              <a:ext cx="633" cy="256"/>
            </a:xfrm>
            <a:prstGeom prst="rect">
              <a:avLst/>
            </a:prstGeom>
            <a:solidFill>
              <a:schemeClr val="bg1"/>
            </a:solidFill>
            <a:ln w="9525">
              <a:solidFill>
                <a:srgbClr val="0033CC"/>
              </a:solidFill>
              <a:miter lim="800000"/>
            </a:ln>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000" b="1">
                  <a:solidFill>
                    <a:srgbClr val="0033CC"/>
                  </a:solidFill>
                  <a:latin typeface="Arial" panose="020B0604020202020204" pitchFamily="34" charset="0"/>
                </a:rPr>
                <a:t>点式</a:t>
              </a:r>
            </a:p>
          </p:txBody>
        </p:sp>
        <p:sp>
          <p:nvSpPr>
            <p:cNvPr id="24601" name="Rectangle 27"/>
            <p:cNvSpPr>
              <a:spLocks noChangeArrowheads="1"/>
            </p:cNvSpPr>
            <p:nvPr/>
          </p:nvSpPr>
          <p:spPr bwMode="auto">
            <a:xfrm>
              <a:off x="2015" y="2358"/>
              <a:ext cx="644" cy="256"/>
            </a:xfrm>
            <a:prstGeom prst="rect">
              <a:avLst/>
            </a:prstGeom>
            <a:solidFill>
              <a:schemeClr val="bg1"/>
            </a:solidFill>
            <a:ln w="9525">
              <a:solidFill>
                <a:srgbClr val="0033CC"/>
              </a:solidFill>
              <a:miter lim="800000"/>
            </a:ln>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b="1">
                  <a:solidFill>
                    <a:srgbClr val="0033CC"/>
                  </a:solidFill>
                  <a:latin typeface="Arial" panose="020B0604020202020204" pitchFamily="34" charset="0"/>
                </a:rPr>
                <a:t>字段式</a:t>
              </a:r>
              <a:endParaRPr lang="zh-CN" altLang="en-US" sz="2000" b="1">
                <a:solidFill>
                  <a:srgbClr val="0033CC"/>
                </a:solidFill>
              </a:endParaRPr>
            </a:p>
          </p:txBody>
        </p:sp>
        <p:sp>
          <p:nvSpPr>
            <p:cNvPr id="24602" name="Rectangle 28"/>
            <p:cNvSpPr>
              <a:spLocks noChangeArrowheads="1"/>
            </p:cNvSpPr>
            <p:nvPr/>
          </p:nvSpPr>
          <p:spPr bwMode="auto">
            <a:xfrm>
              <a:off x="1597" y="3474"/>
              <a:ext cx="602" cy="256"/>
            </a:xfrm>
            <a:prstGeom prst="rect">
              <a:avLst/>
            </a:prstGeom>
            <a:solidFill>
              <a:schemeClr val="bg1"/>
            </a:solidFill>
            <a:ln w="9525">
              <a:solidFill>
                <a:srgbClr val="0033CC"/>
              </a:solidFill>
              <a:miter lim="800000"/>
            </a:ln>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000" b="1">
                  <a:solidFill>
                    <a:srgbClr val="0033CC"/>
                  </a:solidFill>
                </a:rPr>
                <a:t>点阵式</a:t>
              </a:r>
            </a:p>
          </p:txBody>
        </p:sp>
        <p:sp>
          <p:nvSpPr>
            <p:cNvPr id="24603" name="Rectangle 29"/>
            <p:cNvSpPr>
              <a:spLocks noChangeArrowheads="1"/>
            </p:cNvSpPr>
            <p:nvPr/>
          </p:nvSpPr>
          <p:spPr bwMode="auto">
            <a:xfrm>
              <a:off x="3311" y="3469"/>
              <a:ext cx="666" cy="256"/>
            </a:xfrm>
            <a:prstGeom prst="rect">
              <a:avLst/>
            </a:prstGeom>
            <a:solidFill>
              <a:schemeClr val="bg1"/>
            </a:solidFill>
            <a:ln w="9525">
              <a:solidFill>
                <a:srgbClr val="0033CC"/>
              </a:solidFill>
              <a:miter lim="800000"/>
            </a:ln>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000" b="1">
                  <a:solidFill>
                    <a:srgbClr val="0033CC"/>
                  </a:solidFill>
                  <a:latin typeface="Arial" panose="020B0604020202020204" pitchFamily="34" charset="0"/>
                </a:rPr>
                <a:t>光柱式</a:t>
              </a:r>
            </a:p>
          </p:txBody>
        </p:sp>
        <p:pic>
          <p:nvPicPr>
            <p:cNvPr id="24604" name="Picture 30" descr="lcd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36" y="2198"/>
              <a:ext cx="165"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05" name="Picture 31" descr="LEDYpaipai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54" y="3281"/>
              <a:ext cx="359" cy="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06" name="Picture 32" descr="LEDYpaipai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999" y="3281"/>
              <a:ext cx="359" cy="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07" name="Picture 33" descr="LEDYpaipai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57" y="3393"/>
              <a:ext cx="757"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08" name="Picture 34" descr="lcd1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29" y="2370"/>
              <a:ext cx="147"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09" name="Picture 35" descr="LEDYpointz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195" y="2708"/>
              <a:ext cx="377" cy="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10" name="Picture 36" descr="LEDYpointz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798" y="2721"/>
              <a:ext cx="381"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11" name="Picture 37" descr="LEDYpointz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213" y="3239"/>
              <a:ext cx="298"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12" name="Picture 38" descr="LEDYpai"/>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003" y="2997"/>
              <a:ext cx="470"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13" name="Picture 39" descr="LEDYpointz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491" y="3313"/>
              <a:ext cx="172"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14" name="AutoShape 40"/>
            <p:cNvSpPr>
              <a:spLocks noChangeArrowheads="1"/>
            </p:cNvSpPr>
            <p:nvPr/>
          </p:nvSpPr>
          <p:spPr bwMode="auto">
            <a:xfrm>
              <a:off x="2382" y="1743"/>
              <a:ext cx="642" cy="453"/>
            </a:xfrm>
            <a:prstGeom prst="roundRect">
              <a:avLst>
                <a:gd name="adj" fmla="val 16667"/>
              </a:avLst>
            </a:prstGeom>
            <a:solidFill>
              <a:srgbClr val="FF0066"/>
            </a:solidFill>
            <a:ln w="19050">
              <a:solidFill>
                <a:schemeClr val="bg1"/>
              </a:solidFill>
              <a:round/>
            </a:ln>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800" b="1">
                  <a:solidFill>
                    <a:schemeClr val="bg1"/>
                  </a:solidFill>
                  <a:latin typeface="Arial" panose="020B0604020202020204" pitchFamily="34" charset="0"/>
                </a:rPr>
                <a:t>LED </a:t>
              </a:r>
              <a:r>
                <a:rPr lang="zh-CN" altLang="en-US" sz="1800" b="1">
                  <a:solidFill>
                    <a:schemeClr val="bg1"/>
                  </a:solidFill>
                  <a:latin typeface="Arial" panose="020B0604020202020204" pitchFamily="34" charset="0"/>
                </a:rPr>
                <a:t>的类型</a:t>
              </a:r>
            </a:p>
          </p:txBody>
        </p:sp>
      </p:grpSp>
      <p:sp>
        <p:nvSpPr>
          <p:cNvPr id="41" name="Rectangle 2"/>
          <p:cNvSpPr>
            <a:spLocks noGrp="1" noChangeArrowheads="1"/>
          </p:cNvSpPr>
          <p:nvPr>
            <p:ph type="title"/>
          </p:nvPr>
        </p:nvSpPr>
        <p:spPr>
          <a:xfrm>
            <a:off x="517525" y="853569"/>
            <a:ext cx="8229600" cy="774700"/>
          </a:xfrm>
        </p:spPr>
        <p:txBody>
          <a:bodyPr>
            <a:normAutofit/>
          </a:bodyPr>
          <a:lstStyle/>
          <a:p>
            <a:pPr algn="l" eaLnBrk="1" hangingPunct="1">
              <a:defRPr/>
            </a:pPr>
            <a:r>
              <a:rPr lang="zh-CN" altLang="en-US" sz="3000" b="1" dirty="0">
                <a:solidFill>
                  <a:srgbClr val="0000FF"/>
                </a:solidFill>
                <a:effectLst>
                  <a:outerShdw blurRad="38100" dist="38100" dir="2700000" algn="tl">
                    <a:srgbClr val="C0C0C0"/>
                  </a:outerShdw>
                </a:effectLst>
                <a:latin typeface="楷体_GB2312" pitchFamily="49" charset="-122"/>
                <a:ea typeface="楷体_GB2312" pitchFamily="49" charset="-122"/>
              </a:rPr>
              <a:t>一、</a:t>
            </a:r>
            <a:r>
              <a:rPr lang="en-US" altLang="zh-CN" sz="3000" b="1" dirty="0">
                <a:solidFill>
                  <a:srgbClr val="0000FF"/>
                </a:solidFill>
                <a:effectLst>
                  <a:outerShdw blurRad="38100" dist="38100" dir="2700000" algn="tl">
                    <a:srgbClr val="C0C0C0"/>
                  </a:outerShdw>
                </a:effectLst>
                <a:latin typeface="楷体_GB2312" pitchFamily="49" charset="-122"/>
                <a:ea typeface="楷体_GB2312" pitchFamily="49" charset="-122"/>
              </a:rPr>
              <a:t>LED</a:t>
            </a:r>
            <a:r>
              <a:rPr lang="zh-CN" altLang="en-US" sz="3000" b="1" dirty="0">
                <a:solidFill>
                  <a:srgbClr val="0000FF"/>
                </a:solidFill>
                <a:effectLst>
                  <a:outerShdw blurRad="38100" dist="38100" dir="2700000" algn="tl">
                    <a:srgbClr val="C0C0C0"/>
                  </a:outerShdw>
                </a:effectLst>
                <a:latin typeface="楷体_GB2312" pitchFamily="49" charset="-122"/>
                <a:ea typeface="楷体_GB2312" pitchFamily="49" charset="-122"/>
              </a:rPr>
              <a:t>概念</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Rectangle 3"/>
          <p:cNvSpPr>
            <a:spLocks noGrp="1" noChangeArrowheads="1"/>
          </p:cNvSpPr>
          <p:nvPr>
            <p:ph type="body" idx="1"/>
          </p:nvPr>
        </p:nvSpPr>
        <p:spPr>
          <a:xfrm>
            <a:off x="684213" y="989129"/>
            <a:ext cx="7772400" cy="4824413"/>
          </a:xfrm>
        </p:spPr>
        <p:txBody>
          <a:bodyPr/>
          <a:lstStyle/>
          <a:p>
            <a:pPr marL="0" indent="0" eaLnBrk="1" hangingPunct="1">
              <a:lnSpc>
                <a:spcPct val="115000"/>
              </a:lnSpc>
              <a:buFontTx/>
              <a:buNone/>
              <a:defRPr/>
            </a:pP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本节以段式</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LED</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数码管为例，讲述</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LED</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的结构及显示原理，以及在</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Proteus + </a:t>
            </a:r>
            <a:r>
              <a:rPr lang="en-US" altLang="zh-CN" sz="2800" b="1" dirty="0" err="1">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Keil</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C51</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仿真环境下如何使用</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LED</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显示数据。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16739">
                                            <p:txEl>
                                              <p:pRg st="0" end="0"/>
                                            </p:txEl>
                                          </p:spTgt>
                                        </p:tgtEl>
                                        <p:attrNameLst>
                                          <p:attrName>style.visibility</p:attrName>
                                        </p:attrNameLst>
                                      </p:cBhvr>
                                      <p:to>
                                        <p:strVal val="visible"/>
                                      </p:to>
                                    </p:set>
                                    <p:animEffect transition="in" filter="randombar(horizontal)">
                                      <p:cBhvr>
                                        <p:cTn id="7" dur="500"/>
                                        <p:tgtEl>
                                          <p:spTgt spid="11673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9"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5" name="Picture 5" descr="LED照明灯"/>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476250"/>
            <a:ext cx="3744913" cy="245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6" name="Picture 6" descr="LED隧道灯"/>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363" y="3284538"/>
            <a:ext cx="3571875"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7" name="Picture 7" descr="LED水立方"/>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3357563"/>
            <a:ext cx="3292475"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9" name="Picture 9" descr="LED灯图片"/>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3800" y="549275"/>
            <a:ext cx="338455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5365"/>
                                        </p:tgtEl>
                                        <p:attrNameLst>
                                          <p:attrName>style.visibility</p:attrName>
                                        </p:attrNameLst>
                                      </p:cBhvr>
                                      <p:to>
                                        <p:strVal val="visible"/>
                                      </p:to>
                                    </p:set>
                                    <p:animEffect transition="in" filter="diamond(in)">
                                      <p:cBhvr>
                                        <p:cTn id="7" dur="500"/>
                                        <p:tgtEl>
                                          <p:spTgt spid="1536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5366"/>
                                        </p:tgtEl>
                                        <p:attrNameLst>
                                          <p:attrName>style.visibility</p:attrName>
                                        </p:attrNameLst>
                                      </p:cBhvr>
                                      <p:to>
                                        <p:strVal val="visible"/>
                                      </p:to>
                                    </p:set>
                                    <p:animEffect transition="in" filter="box(out)">
                                      <p:cBhvr>
                                        <p:cTn id="12" dur="500"/>
                                        <p:tgtEl>
                                          <p:spTgt spid="1536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5369"/>
                                        </p:tgtEl>
                                        <p:attrNameLst>
                                          <p:attrName>style.visibility</p:attrName>
                                        </p:attrNameLst>
                                      </p:cBhvr>
                                      <p:to>
                                        <p:strVal val="visible"/>
                                      </p:to>
                                    </p:set>
                                    <p:animEffect transition="in" filter="dissolve">
                                      <p:cBhvr>
                                        <p:cTn id="17" dur="500"/>
                                        <p:tgtEl>
                                          <p:spTgt spid="15369"/>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5367"/>
                                        </p:tgtEl>
                                        <p:attrNameLst>
                                          <p:attrName>style.visibility</p:attrName>
                                        </p:attrNameLst>
                                      </p:cBhvr>
                                      <p:to>
                                        <p:strVal val="visible"/>
                                      </p:to>
                                    </p:set>
                                    <p:animEffect transition="in" filter="checkerboard(across)">
                                      <p:cBhvr>
                                        <p:cTn id="22" dur="500"/>
                                        <p:tgtEl>
                                          <p:spTgt spid="153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4" descr="匈牙利LED灯汽车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471488"/>
            <a:ext cx="3960813" cy="2608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3" name="Picture 5" descr="匈牙利LED灯汽车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3279775"/>
            <a:ext cx="3959225" cy="252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4" name="Picture 6" descr="匈牙利LED灯汽车"/>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6825" y="765175"/>
            <a:ext cx="3243263" cy="482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68313" y="260350"/>
            <a:ext cx="8229600" cy="774700"/>
          </a:xfrm>
        </p:spPr>
        <p:txBody>
          <a:bodyPr>
            <a:normAutofit/>
          </a:bodyPr>
          <a:lstStyle/>
          <a:p>
            <a:pPr algn="l" eaLnBrk="1" hangingPunct="1">
              <a:defRPr/>
            </a:pPr>
            <a:r>
              <a:rPr lang="zh-CN" altLang="en-US" sz="3200" b="1" dirty="0">
                <a:solidFill>
                  <a:srgbClr val="0000FF"/>
                </a:solidFill>
                <a:effectLst>
                  <a:outerShdw blurRad="38100" dist="38100" dir="2700000" algn="tl">
                    <a:srgbClr val="C0C0C0"/>
                  </a:outerShdw>
                </a:effectLst>
                <a:latin typeface="楷体_GB2312" pitchFamily="49" charset="-122"/>
                <a:ea typeface="楷体_GB2312" pitchFamily="49" charset="-122"/>
              </a:rPr>
              <a:t>二、</a:t>
            </a:r>
            <a:r>
              <a:rPr lang="en-US" altLang="zh-CN" sz="3200" b="1" dirty="0">
                <a:solidFill>
                  <a:srgbClr val="0000FF"/>
                </a:solidFill>
                <a:effectLst>
                  <a:outerShdw blurRad="38100" dist="38100" dir="2700000" algn="tl">
                    <a:srgbClr val="C0C0C0"/>
                  </a:outerShdw>
                </a:effectLst>
                <a:latin typeface="楷体_GB2312" pitchFamily="49" charset="-122"/>
                <a:ea typeface="楷体_GB2312" pitchFamily="49" charset="-122"/>
              </a:rPr>
              <a:t>LED</a:t>
            </a:r>
            <a:r>
              <a:rPr lang="zh-CN" altLang="en-US" sz="3200" b="1" dirty="0">
                <a:solidFill>
                  <a:srgbClr val="0000FF"/>
                </a:solidFill>
                <a:effectLst>
                  <a:outerShdw blurRad="38100" dist="38100" dir="2700000" algn="tl">
                    <a:srgbClr val="C0C0C0"/>
                  </a:outerShdw>
                </a:effectLst>
                <a:latin typeface="楷体_GB2312" pitchFamily="49" charset="-122"/>
                <a:ea typeface="楷体_GB2312" pitchFamily="49" charset="-122"/>
              </a:rPr>
              <a:t>结构</a:t>
            </a:r>
          </a:p>
        </p:txBody>
      </p:sp>
      <p:sp>
        <p:nvSpPr>
          <p:cNvPr id="9219" name="Text Box 3"/>
          <p:cNvSpPr txBox="1">
            <a:spLocks noChangeArrowheads="1"/>
          </p:cNvSpPr>
          <p:nvPr/>
        </p:nvSpPr>
        <p:spPr bwMode="auto">
          <a:xfrm>
            <a:off x="611188" y="1268413"/>
            <a:ext cx="3168650" cy="579437"/>
          </a:xfrm>
          <a:prstGeom prst="rect">
            <a:avLst/>
          </a:prstGeom>
          <a:noFill/>
          <a:ln>
            <a:noFill/>
          </a:ln>
          <a:effectLst/>
        </p:spPr>
        <p:txBody>
          <a:bodyPr>
            <a:spAutoFit/>
          </a:bodyPr>
          <a:lstStyle/>
          <a:p>
            <a:pPr eaLnBrk="1" hangingPunct="1">
              <a:spcBef>
                <a:spcPct val="50000"/>
              </a:spcBef>
              <a:defRPr/>
            </a:pPr>
            <a:r>
              <a:rPr lang="en-US" altLang="zh-CN" sz="3200" b="1" dirty="0">
                <a:effectLst>
                  <a:outerShdw blurRad="38100" dist="38100" dir="2700000" algn="tl">
                    <a:srgbClr val="C0C0C0"/>
                  </a:outerShdw>
                </a:effectLst>
              </a:rPr>
              <a:t>1</a:t>
            </a:r>
            <a:r>
              <a:rPr lang="zh-CN" altLang="en-US" sz="3200" b="1" dirty="0">
                <a:effectLst>
                  <a:outerShdw blurRad="38100" dist="38100" dir="2700000" algn="tl">
                    <a:srgbClr val="C0C0C0"/>
                  </a:outerShdw>
                </a:effectLst>
              </a:rPr>
              <a:t>、外形结构</a:t>
            </a:r>
          </a:p>
        </p:txBody>
      </p:sp>
      <p:sp>
        <p:nvSpPr>
          <p:cNvPr id="9220" name="AutoShape 4"/>
          <p:cNvSpPr>
            <a:spLocks noChangeArrowheads="1"/>
          </p:cNvSpPr>
          <p:nvPr/>
        </p:nvSpPr>
        <p:spPr bwMode="auto">
          <a:xfrm>
            <a:off x="5003800" y="1223963"/>
            <a:ext cx="719138" cy="107950"/>
          </a:xfrm>
          <a:prstGeom prst="flowChartTerminator">
            <a:avLst/>
          </a:prstGeom>
          <a:solidFill>
            <a:srgbClr val="FF0000"/>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9221" name="AutoShape 5"/>
          <p:cNvSpPr>
            <a:spLocks noChangeArrowheads="1"/>
          </p:cNvSpPr>
          <p:nvPr/>
        </p:nvSpPr>
        <p:spPr bwMode="auto">
          <a:xfrm rot="5400000">
            <a:off x="4625181" y="1645444"/>
            <a:ext cx="719138" cy="107950"/>
          </a:xfrm>
          <a:prstGeom prst="flowChartTerminator">
            <a:avLst/>
          </a:prstGeom>
          <a:solidFill>
            <a:srgbClr val="FF0000"/>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9222" name="AutoShape 6"/>
          <p:cNvSpPr>
            <a:spLocks noChangeArrowheads="1"/>
          </p:cNvSpPr>
          <p:nvPr/>
        </p:nvSpPr>
        <p:spPr bwMode="auto">
          <a:xfrm rot="5400000">
            <a:off x="4625181" y="2467769"/>
            <a:ext cx="719138" cy="107950"/>
          </a:xfrm>
          <a:prstGeom prst="flowChartTerminator">
            <a:avLst/>
          </a:prstGeom>
          <a:solidFill>
            <a:srgbClr val="FF0000"/>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9223" name="AutoShape 7"/>
          <p:cNvSpPr>
            <a:spLocks noChangeArrowheads="1"/>
          </p:cNvSpPr>
          <p:nvPr/>
        </p:nvSpPr>
        <p:spPr bwMode="auto">
          <a:xfrm rot="5400000">
            <a:off x="5388769" y="1645444"/>
            <a:ext cx="719138" cy="107950"/>
          </a:xfrm>
          <a:prstGeom prst="flowChartTerminator">
            <a:avLst/>
          </a:prstGeom>
          <a:solidFill>
            <a:srgbClr val="FF0000"/>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9224" name="AutoShape 8"/>
          <p:cNvSpPr>
            <a:spLocks noChangeArrowheads="1"/>
          </p:cNvSpPr>
          <p:nvPr/>
        </p:nvSpPr>
        <p:spPr bwMode="auto">
          <a:xfrm rot="5400000">
            <a:off x="5388769" y="2466182"/>
            <a:ext cx="719137" cy="107950"/>
          </a:xfrm>
          <a:prstGeom prst="flowChartTerminator">
            <a:avLst/>
          </a:prstGeom>
          <a:solidFill>
            <a:srgbClr val="FF0000"/>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9225" name="AutoShape 9"/>
          <p:cNvSpPr>
            <a:spLocks noChangeArrowheads="1"/>
          </p:cNvSpPr>
          <p:nvPr/>
        </p:nvSpPr>
        <p:spPr bwMode="auto">
          <a:xfrm>
            <a:off x="5003800" y="2044700"/>
            <a:ext cx="719138" cy="107950"/>
          </a:xfrm>
          <a:prstGeom prst="flowChartTerminator">
            <a:avLst/>
          </a:prstGeom>
          <a:solidFill>
            <a:srgbClr val="FF0000"/>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9226" name="AutoShape 10"/>
          <p:cNvSpPr>
            <a:spLocks noChangeArrowheads="1"/>
          </p:cNvSpPr>
          <p:nvPr/>
        </p:nvSpPr>
        <p:spPr bwMode="auto">
          <a:xfrm>
            <a:off x="5003800" y="2881313"/>
            <a:ext cx="719138" cy="107950"/>
          </a:xfrm>
          <a:prstGeom prst="flowChartTerminator">
            <a:avLst/>
          </a:prstGeom>
          <a:solidFill>
            <a:srgbClr val="FF0000"/>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9227" name="Oval 11"/>
          <p:cNvSpPr>
            <a:spLocks noChangeArrowheads="1"/>
          </p:cNvSpPr>
          <p:nvPr/>
        </p:nvSpPr>
        <p:spPr bwMode="auto">
          <a:xfrm>
            <a:off x="5867400" y="2881313"/>
            <a:ext cx="142875" cy="142875"/>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9228" name="Text Box 12"/>
          <p:cNvSpPr txBox="1">
            <a:spLocks noChangeArrowheads="1"/>
          </p:cNvSpPr>
          <p:nvPr/>
        </p:nvSpPr>
        <p:spPr bwMode="auto">
          <a:xfrm>
            <a:off x="5260975" y="836613"/>
            <a:ext cx="2889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a</a:t>
            </a:r>
          </a:p>
        </p:txBody>
      </p:sp>
      <p:sp>
        <p:nvSpPr>
          <p:cNvPr id="9229" name="Text Box 13"/>
          <p:cNvSpPr txBox="1">
            <a:spLocks noChangeArrowheads="1"/>
          </p:cNvSpPr>
          <p:nvPr/>
        </p:nvSpPr>
        <p:spPr bwMode="auto">
          <a:xfrm>
            <a:off x="5867400" y="1484313"/>
            <a:ext cx="2889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b</a:t>
            </a:r>
          </a:p>
        </p:txBody>
      </p:sp>
      <p:sp>
        <p:nvSpPr>
          <p:cNvPr id="9230" name="Text Box 14"/>
          <p:cNvSpPr txBox="1">
            <a:spLocks noChangeArrowheads="1"/>
          </p:cNvSpPr>
          <p:nvPr/>
        </p:nvSpPr>
        <p:spPr bwMode="auto">
          <a:xfrm>
            <a:off x="5867400" y="2347913"/>
            <a:ext cx="2889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c</a:t>
            </a:r>
          </a:p>
        </p:txBody>
      </p:sp>
      <p:sp>
        <p:nvSpPr>
          <p:cNvPr id="9231" name="Text Box 15"/>
          <p:cNvSpPr txBox="1">
            <a:spLocks noChangeArrowheads="1"/>
          </p:cNvSpPr>
          <p:nvPr/>
        </p:nvSpPr>
        <p:spPr bwMode="auto">
          <a:xfrm>
            <a:off x="5219700" y="2995613"/>
            <a:ext cx="2889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d</a:t>
            </a:r>
          </a:p>
        </p:txBody>
      </p:sp>
      <p:sp>
        <p:nvSpPr>
          <p:cNvPr id="9232" name="Text Box 16"/>
          <p:cNvSpPr txBox="1">
            <a:spLocks noChangeArrowheads="1"/>
          </p:cNvSpPr>
          <p:nvPr/>
        </p:nvSpPr>
        <p:spPr bwMode="auto">
          <a:xfrm>
            <a:off x="4714875" y="2347913"/>
            <a:ext cx="2889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e</a:t>
            </a:r>
          </a:p>
        </p:txBody>
      </p:sp>
      <p:sp>
        <p:nvSpPr>
          <p:cNvPr id="9233" name="Text Box 17"/>
          <p:cNvSpPr txBox="1">
            <a:spLocks noChangeArrowheads="1"/>
          </p:cNvSpPr>
          <p:nvPr/>
        </p:nvSpPr>
        <p:spPr bwMode="auto">
          <a:xfrm>
            <a:off x="4714875" y="1555750"/>
            <a:ext cx="2889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f</a:t>
            </a:r>
          </a:p>
        </p:txBody>
      </p:sp>
      <p:sp>
        <p:nvSpPr>
          <p:cNvPr id="9234" name="Text Box 18"/>
          <p:cNvSpPr txBox="1">
            <a:spLocks noChangeArrowheads="1"/>
          </p:cNvSpPr>
          <p:nvPr/>
        </p:nvSpPr>
        <p:spPr bwMode="auto">
          <a:xfrm>
            <a:off x="5219700" y="1628775"/>
            <a:ext cx="2889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g</a:t>
            </a:r>
          </a:p>
        </p:txBody>
      </p:sp>
      <p:sp>
        <p:nvSpPr>
          <p:cNvPr id="9235" name="Text Box 19"/>
          <p:cNvSpPr txBox="1">
            <a:spLocks noChangeArrowheads="1"/>
          </p:cNvSpPr>
          <p:nvPr/>
        </p:nvSpPr>
        <p:spPr bwMode="auto">
          <a:xfrm>
            <a:off x="6083300" y="2779713"/>
            <a:ext cx="2889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h</a:t>
            </a:r>
          </a:p>
        </p:txBody>
      </p:sp>
      <p:sp>
        <p:nvSpPr>
          <p:cNvPr id="9236" name="Text Box 20"/>
          <p:cNvSpPr txBox="1">
            <a:spLocks noChangeArrowheads="1"/>
          </p:cNvSpPr>
          <p:nvPr/>
        </p:nvSpPr>
        <p:spPr bwMode="auto">
          <a:xfrm>
            <a:off x="825500" y="3405188"/>
            <a:ext cx="7777163" cy="307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FontTx/>
              <a:buNone/>
            </a:pPr>
            <a:r>
              <a:rPr lang="zh-CN" altLang="en-US" sz="2700" b="1"/>
              <a:t>       </a:t>
            </a:r>
            <a:r>
              <a:rPr lang="en-US" altLang="zh-CN" sz="2700" b="1"/>
              <a:t>LED</a:t>
            </a:r>
            <a:r>
              <a:rPr lang="zh-CN" altLang="en-US" sz="2700" b="1"/>
              <a:t>数码管由七个发光二极管组成一个</a:t>
            </a:r>
            <a:r>
              <a:rPr lang="en-US" altLang="zh-CN" sz="2700" b="1"/>
              <a:t>8</a:t>
            </a:r>
            <a:r>
              <a:rPr lang="zh-CN" altLang="en-US" sz="2700" b="1"/>
              <a:t>字形，用来显示数据或部分字符；另外一个发光二极管做成圆点形，主要作为显示数据的小数点使用，共用</a:t>
            </a:r>
            <a:r>
              <a:rPr lang="en-US" altLang="zh-CN" sz="2700" b="1"/>
              <a:t>8</a:t>
            </a:r>
            <a:r>
              <a:rPr lang="zh-CN" altLang="en-US" sz="2700" b="1"/>
              <a:t>个发光二极管，故称为</a:t>
            </a:r>
            <a:r>
              <a:rPr lang="en-US" altLang="zh-CN" sz="2700" b="1"/>
              <a:t>8</a:t>
            </a:r>
            <a:r>
              <a:rPr lang="zh-CN" altLang="en-US" sz="2700" b="1"/>
              <a:t>段</a:t>
            </a:r>
            <a:r>
              <a:rPr lang="en-US" altLang="zh-CN" sz="2700" b="1"/>
              <a:t>LED</a:t>
            </a:r>
            <a:r>
              <a:rPr lang="zh-CN" altLang="en-US" sz="2700" b="1"/>
              <a:t>数码管。</a:t>
            </a:r>
            <a:endParaRPr lang="en-US" altLang="zh-CN" sz="2700" b="1"/>
          </a:p>
          <a:p>
            <a:pPr eaLnBrk="1" hangingPunct="1">
              <a:lnSpc>
                <a:spcPct val="120000"/>
              </a:lnSpc>
              <a:spcBef>
                <a:spcPct val="0"/>
              </a:spcBef>
              <a:buFontTx/>
              <a:buNone/>
            </a:pPr>
            <a:r>
              <a:rPr lang="en-US" altLang="zh-CN" sz="2800" b="1">
                <a:solidFill>
                  <a:srgbClr val="0000FF"/>
                </a:solidFill>
                <a:latin typeface="黑体" panose="02010609060101010101" pitchFamily="49" charset="-122"/>
                <a:ea typeface="黑体" panose="02010609060101010101" pitchFamily="49" charset="-122"/>
              </a:rPr>
              <a:t>    </a:t>
            </a:r>
            <a:r>
              <a:rPr lang="zh-CN" altLang="zh-CN" sz="2800" b="1">
                <a:solidFill>
                  <a:srgbClr val="0000FF"/>
                </a:solidFill>
                <a:latin typeface="黑体" panose="02010609060101010101" pitchFamily="49" charset="-122"/>
                <a:ea typeface="黑体" panose="02010609060101010101" pitchFamily="49" charset="-122"/>
              </a:rPr>
              <a:t>正向压降一般为</a:t>
            </a:r>
            <a:r>
              <a:rPr lang="en-US" altLang="zh-CN" sz="2800" b="1">
                <a:solidFill>
                  <a:srgbClr val="0000FF"/>
                </a:solidFill>
                <a:latin typeface="黑体" panose="02010609060101010101" pitchFamily="49" charset="-122"/>
                <a:ea typeface="黑体" panose="02010609060101010101" pitchFamily="49" charset="-122"/>
              </a:rPr>
              <a:t>1.5</a:t>
            </a:r>
            <a:r>
              <a:rPr lang="zh-CN" altLang="zh-CN" sz="2800" b="1">
                <a:solidFill>
                  <a:srgbClr val="0000FF"/>
                </a:solidFill>
                <a:latin typeface="黑体" panose="02010609060101010101" pitchFamily="49" charset="-122"/>
                <a:ea typeface="黑体" panose="02010609060101010101" pitchFamily="49" charset="-122"/>
              </a:rPr>
              <a:t>～</a:t>
            </a:r>
            <a:r>
              <a:rPr lang="en-US" altLang="zh-CN" sz="2800" b="1">
                <a:solidFill>
                  <a:srgbClr val="0000FF"/>
                </a:solidFill>
                <a:latin typeface="黑体" panose="02010609060101010101" pitchFamily="49" charset="-122"/>
                <a:ea typeface="黑体" panose="02010609060101010101" pitchFamily="49" charset="-122"/>
              </a:rPr>
              <a:t>2V</a:t>
            </a:r>
            <a:r>
              <a:rPr lang="zh-CN" altLang="zh-CN" sz="2800" b="1">
                <a:solidFill>
                  <a:srgbClr val="0000FF"/>
                </a:solidFill>
                <a:latin typeface="黑体" panose="02010609060101010101" pitchFamily="49" charset="-122"/>
                <a:ea typeface="黑体" panose="02010609060101010101" pitchFamily="49" charset="-122"/>
              </a:rPr>
              <a:t>，额定电流为</a:t>
            </a:r>
            <a:r>
              <a:rPr lang="en-US" altLang="zh-CN" sz="2800" b="1">
                <a:solidFill>
                  <a:srgbClr val="0000FF"/>
                </a:solidFill>
                <a:latin typeface="黑体" panose="02010609060101010101" pitchFamily="49" charset="-122"/>
                <a:ea typeface="黑体" panose="02010609060101010101" pitchFamily="49" charset="-122"/>
              </a:rPr>
              <a:t>10mA</a:t>
            </a:r>
            <a:r>
              <a:rPr lang="zh-CN" altLang="zh-CN" sz="2800" b="1">
                <a:solidFill>
                  <a:srgbClr val="0000FF"/>
                </a:solidFill>
                <a:latin typeface="黑体" panose="02010609060101010101" pitchFamily="49" charset="-122"/>
                <a:ea typeface="黑体" panose="02010609060101010101" pitchFamily="49" charset="-122"/>
              </a:rPr>
              <a:t>，最大电流为</a:t>
            </a:r>
            <a:r>
              <a:rPr lang="en-US" altLang="zh-CN" sz="2800" b="1">
                <a:solidFill>
                  <a:srgbClr val="0000FF"/>
                </a:solidFill>
                <a:latin typeface="黑体" panose="02010609060101010101" pitchFamily="49" charset="-122"/>
                <a:ea typeface="黑体" panose="02010609060101010101" pitchFamily="49" charset="-122"/>
              </a:rPr>
              <a:t>40mA</a:t>
            </a:r>
            <a:r>
              <a:rPr lang="zh-CN" altLang="zh-CN" sz="2800" b="1">
                <a:solidFill>
                  <a:srgbClr val="0000FF"/>
                </a:solidFill>
                <a:latin typeface="黑体" panose="02010609060101010101" pitchFamily="49" charset="-122"/>
                <a:ea typeface="黑体" panose="02010609060101010101" pitchFamily="49" charset="-122"/>
              </a:rPr>
              <a:t>。</a:t>
            </a:r>
            <a:endParaRPr lang="zh-CN" altLang="en-US" sz="27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221"/>
                                        </p:tgtEl>
                                        <p:attrNameLst>
                                          <p:attrName>style.visibility</p:attrName>
                                        </p:attrNameLst>
                                      </p:cBhvr>
                                      <p:to>
                                        <p:strVal val="visible"/>
                                      </p:to>
                                    </p:set>
                                    <p:animEffect transition="in" filter="dissolve">
                                      <p:cBhvr>
                                        <p:cTn id="7" dur="500"/>
                                        <p:tgtEl>
                                          <p:spTgt spid="9221"/>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9222"/>
                                        </p:tgtEl>
                                        <p:attrNameLst>
                                          <p:attrName>style.visibility</p:attrName>
                                        </p:attrNameLst>
                                      </p:cBhvr>
                                      <p:to>
                                        <p:strVal val="visible"/>
                                      </p:to>
                                    </p:set>
                                    <p:animEffect transition="in" filter="dissolve">
                                      <p:cBhvr>
                                        <p:cTn id="11" dur="500"/>
                                        <p:tgtEl>
                                          <p:spTgt spid="9222"/>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9220"/>
                                        </p:tgtEl>
                                        <p:attrNameLst>
                                          <p:attrName>style.visibility</p:attrName>
                                        </p:attrNameLst>
                                      </p:cBhvr>
                                      <p:to>
                                        <p:strVal val="visible"/>
                                      </p:to>
                                    </p:set>
                                    <p:animEffect transition="in" filter="dissolve">
                                      <p:cBhvr>
                                        <p:cTn id="15" dur="500"/>
                                        <p:tgtEl>
                                          <p:spTgt spid="9220"/>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9223"/>
                                        </p:tgtEl>
                                        <p:attrNameLst>
                                          <p:attrName>style.visibility</p:attrName>
                                        </p:attrNameLst>
                                      </p:cBhvr>
                                      <p:to>
                                        <p:strVal val="visible"/>
                                      </p:to>
                                    </p:set>
                                    <p:animEffect transition="in" filter="dissolve">
                                      <p:cBhvr>
                                        <p:cTn id="19" dur="500"/>
                                        <p:tgtEl>
                                          <p:spTgt spid="9223"/>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9224"/>
                                        </p:tgtEl>
                                        <p:attrNameLst>
                                          <p:attrName>style.visibility</p:attrName>
                                        </p:attrNameLst>
                                      </p:cBhvr>
                                      <p:to>
                                        <p:strVal val="visible"/>
                                      </p:to>
                                    </p:set>
                                    <p:animEffect transition="in" filter="dissolve">
                                      <p:cBhvr>
                                        <p:cTn id="23" dur="500"/>
                                        <p:tgtEl>
                                          <p:spTgt spid="9224"/>
                                        </p:tgtEl>
                                      </p:cBhvr>
                                    </p:animEffect>
                                  </p:childTnLst>
                                </p:cTn>
                              </p:par>
                            </p:childTnLst>
                          </p:cTn>
                        </p:par>
                        <p:par>
                          <p:cTn id="24" fill="hold">
                            <p:stCondLst>
                              <p:cond delay="2500"/>
                            </p:stCondLst>
                            <p:childTnLst>
                              <p:par>
                                <p:cTn id="25" presetID="9" presetClass="entr" presetSubtype="0" fill="hold" grpId="0" nodeType="afterEffect">
                                  <p:stCondLst>
                                    <p:cond delay="0"/>
                                  </p:stCondLst>
                                  <p:childTnLst>
                                    <p:set>
                                      <p:cBhvr>
                                        <p:cTn id="26" dur="1" fill="hold">
                                          <p:stCondLst>
                                            <p:cond delay="0"/>
                                          </p:stCondLst>
                                        </p:cTn>
                                        <p:tgtEl>
                                          <p:spTgt spid="9225"/>
                                        </p:tgtEl>
                                        <p:attrNameLst>
                                          <p:attrName>style.visibility</p:attrName>
                                        </p:attrNameLst>
                                      </p:cBhvr>
                                      <p:to>
                                        <p:strVal val="visible"/>
                                      </p:to>
                                    </p:set>
                                    <p:animEffect transition="in" filter="dissolve">
                                      <p:cBhvr>
                                        <p:cTn id="27" dur="500"/>
                                        <p:tgtEl>
                                          <p:spTgt spid="9225"/>
                                        </p:tgtEl>
                                      </p:cBhvr>
                                    </p:animEffect>
                                  </p:childTnLst>
                                </p:cTn>
                              </p:par>
                            </p:childTnLst>
                          </p:cTn>
                        </p:par>
                        <p:par>
                          <p:cTn id="28" fill="hold">
                            <p:stCondLst>
                              <p:cond delay="3000"/>
                            </p:stCondLst>
                            <p:childTnLst>
                              <p:par>
                                <p:cTn id="29" presetID="9" presetClass="entr" presetSubtype="0" fill="hold" grpId="0" nodeType="afterEffect">
                                  <p:stCondLst>
                                    <p:cond delay="0"/>
                                  </p:stCondLst>
                                  <p:childTnLst>
                                    <p:set>
                                      <p:cBhvr>
                                        <p:cTn id="30" dur="1" fill="hold">
                                          <p:stCondLst>
                                            <p:cond delay="0"/>
                                          </p:stCondLst>
                                        </p:cTn>
                                        <p:tgtEl>
                                          <p:spTgt spid="9226"/>
                                        </p:tgtEl>
                                        <p:attrNameLst>
                                          <p:attrName>style.visibility</p:attrName>
                                        </p:attrNameLst>
                                      </p:cBhvr>
                                      <p:to>
                                        <p:strVal val="visible"/>
                                      </p:to>
                                    </p:set>
                                    <p:animEffect transition="in" filter="dissolve">
                                      <p:cBhvr>
                                        <p:cTn id="31" dur="500"/>
                                        <p:tgtEl>
                                          <p:spTgt spid="9226"/>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9227"/>
                                        </p:tgtEl>
                                        <p:attrNameLst>
                                          <p:attrName>style.visibility</p:attrName>
                                        </p:attrNameLst>
                                      </p:cBhvr>
                                      <p:to>
                                        <p:strVal val="visible"/>
                                      </p:to>
                                    </p:set>
                                    <p:animEffect transition="in" filter="dissolve">
                                      <p:cBhvr>
                                        <p:cTn id="36" dur="500"/>
                                        <p:tgtEl>
                                          <p:spTgt spid="9227"/>
                                        </p:tgtEl>
                                      </p:cBhvr>
                                    </p:animEffect>
                                  </p:childTnLst>
                                </p:cTn>
                              </p:par>
                            </p:childTnLst>
                          </p:cTn>
                        </p:par>
                      </p:childTnLst>
                    </p:cTn>
                  </p:par>
                  <p:par>
                    <p:cTn id="37" fill="hold">
                      <p:stCondLst>
                        <p:cond delay="indefinite"/>
                      </p:stCondLst>
                      <p:childTnLst>
                        <p:par>
                          <p:cTn id="38" fill="hold">
                            <p:stCondLst>
                              <p:cond delay="0"/>
                            </p:stCondLst>
                            <p:childTnLst>
                              <p:par>
                                <p:cTn id="39" presetID="5" presetClass="entr" presetSubtype="10" fill="hold" grpId="0" nodeType="clickEffect">
                                  <p:stCondLst>
                                    <p:cond delay="0"/>
                                  </p:stCondLst>
                                  <p:childTnLst>
                                    <p:set>
                                      <p:cBhvr>
                                        <p:cTn id="40" dur="1" fill="hold">
                                          <p:stCondLst>
                                            <p:cond delay="0"/>
                                          </p:stCondLst>
                                        </p:cTn>
                                        <p:tgtEl>
                                          <p:spTgt spid="9228"/>
                                        </p:tgtEl>
                                        <p:attrNameLst>
                                          <p:attrName>style.visibility</p:attrName>
                                        </p:attrNameLst>
                                      </p:cBhvr>
                                      <p:to>
                                        <p:strVal val="visible"/>
                                      </p:to>
                                    </p:set>
                                    <p:animEffect transition="in" filter="checkerboard(across)">
                                      <p:cBhvr>
                                        <p:cTn id="41" dur="500"/>
                                        <p:tgtEl>
                                          <p:spTgt spid="9228"/>
                                        </p:tgtEl>
                                      </p:cBhvr>
                                    </p:animEffect>
                                  </p:childTnLst>
                                </p:cTn>
                              </p:par>
                              <p:par>
                                <p:cTn id="42" presetID="5" presetClass="entr" presetSubtype="10" fill="hold" grpId="0" nodeType="withEffect">
                                  <p:stCondLst>
                                    <p:cond delay="0"/>
                                  </p:stCondLst>
                                  <p:childTnLst>
                                    <p:set>
                                      <p:cBhvr>
                                        <p:cTn id="43" dur="1" fill="hold">
                                          <p:stCondLst>
                                            <p:cond delay="0"/>
                                          </p:stCondLst>
                                        </p:cTn>
                                        <p:tgtEl>
                                          <p:spTgt spid="9229"/>
                                        </p:tgtEl>
                                        <p:attrNameLst>
                                          <p:attrName>style.visibility</p:attrName>
                                        </p:attrNameLst>
                                      </p:cBhvr>
                                      <p:to>
                                        <p:strVal val="visible"/>
                                      </p:to>
                                    </p:set>
                                    <p:animEffect transition="in" filter="checkerboard(across)">
                                      <p:cBhvr>
                                        <p:cTn id="44" dur="500"/>
                                        <p:tgtEl>
                                          <p:spTgt spid="9229"/>
                                        </p:tgtEl>
                                      </p:cBhvr>
                                    </p:animEffect>
                                  </p:childTnLst>
                                </p:cTn>
                              </p:par>
                              <p:par>
                                <p:cTn id="45" presetID="5" presetClass="entr" presetSubtype="10" fill="hold" grpId="0" nodeType="withEffect">
                                  <p:stCondLst>
                                    <p:cond delay="0"/>
                                  </p:stCondLst>
                                  <p:childTnLst>
                                    <p:set>
                                      <p:cBhvr>
                                        <p:cTn id="46" dur="1" fill="hold">
                                          <p:stCondLst>
                                            <p:cond delay="0"/>
                                          </p:stCondLst>
                                        </p:cTn>
                                        <p:tgtEl>
                                          <p:spTgt spid="9230"/>
                                        </p:tgtEl>
                                        <p:attrNameLst>
                                          <p:attrName>style.visibility</p:attrName>
                                        </p:attrNameLst>
                                      </p:cBhvr>
                                      <p:to>
                                        <p:strVal val="visible"/>
                                      </p:to>
                                    </p:set>
                                    <p:animEffect transition="in" filter="checkerboard(across)">
                                      <p:cBhvr>
                                        <p:cTn id="47" dur="500"/>
                                        <p:tgtEl>
                                          <p:spTgt spid="9230"/>
                                        </p:tgtEl>
                                      </p:cBhvr>
                                    </p:animEffect>
                                  </p:childTnLst>
                                </p:cTn>
                              </p:par>
                              <p:par>
                                <p:cTn id="48" presetID="5" presetClass="entr" presetSubtype="10" fill="hold" grpId="0" nodeType="withEffect">
                                  <p:stCondLst>
                                    <p:cond delay="0"/>
                                  </p:stCondLst>
                                  <p:childTnLst>
                                    <p:set>
                                      <p:cBhvr>
                                        <p:cTn id="49" dur="1" fill="hold">
                                          <p:stCondLst>
                                            <p:cond delay="0"/>
                                          </p:stCondLst>
                                        </p:cTn>
                                        <p:tgtEl>
                                          <p:spTgt spid="9231"/>
                                        </p:tgtEl>
                                        <p:attrNameLst>
                                          <p:attrName>style.visibility</p:attrName>
                                        </p:attrNameLst>
                                      </p:cBhvr>
                                      <p:to>
                                        <p:strVal val="visible"/>
                                      </p:to>
                                    </p:set>
                                    <p:animEffect transition="in" filter="checkerboard(across)">
                                      <p:cBhvr>
                                        <p:cTn id="50" dur="500"/>
                                        <p:tgtEl>
                                          <p:spTgt spid="9231"/>
                                        </p:tgtEl>
                                      </p:cBhvr>
                                    </p:animEffect>
                                  </p:childTnLst>
                                </p:cTn>
                              </p:par>
                              <p:par>
                                <p:cTn id="51" presetID="5" presetClass="entr" presetSubtype="10" fill="hold" grpId="0" nodeType="withEffect">
                                  <p:stCondLst>
                                    <p:cond delay="0"/>
                                  </p:stCondLst>
                                  <p:childTnLst>
                                    <p:set>
                                      <p:cBhvr>
                                        <p:cTn id="52" dur="1" fill="hold">
                                          <p:stCondLst>
                                            <p:cond delay="0"/>
                                          </p:stCondLst>
                                        </p:cTn>
                                        <p:tgtEl>
                                          <p:spTgt spid="9232"/>
                                        </p:tgtEl>
                                        <p:attrNameLst>
                                          <p:attrName>style.visibility</p:attrName>
                                        </p:attrNameLst>
                                      </p:cBhvr>
                                      <p:to>
                                        <p:strVal val="visible"/>
                                      </p:to>
                                    </p:set>
                                    <p:animEffect transition="in" filter="checkerboard(across)">
                                      <p:cBhvr>
                                        <p:cTn id="53" dur="500"/>
                                        <p:tgtEl>
                                          <p:spTgt spid="9232"/>
                                        </p:tgtEl>
                                      </p:cBhvr>
                                    </p:animEffect>
                                  </p:childTnLst>
                                </p:cTn>
                              </p:par>
                              <p:par>
                                <p:cTn id="54" presetID="5" presetClass="entr" presetSubtype="10" fill="hold" grpId="0" nodeType="withEffect">
                                  <p:stCondLst>
                                    <p:cond delay="0"/>
                                  </p:stCondLst>
                                  <p:childTnLst>
                                    <p:set>
                                      <p:cBhvr>
                                        <p:cTn id="55" dur="1" fill="hold">
                                          <p:stCondLst>
                                            <p:cond delay="0"/>
                                          </p:stCondLst>
                                        </p:cTn>
                                        <p:tgtEl>
                                          <p:spTgt spid="9233"/>
                                        </p:tgtEl>
                                        <p:attrNameLst>
                                          <p:attrName>style.visibility</p:attrName>
                                        </p:attrNameLst>
                                      </p:cBhvr>
                                      <p:to>
                                        <p:strVal val="visible"/>
                                      </p:to>
                                    </p:set>
                                    <p:animEffect transition="in" filter="checkerboard(across)">
                                      <p:cBhvr>
                                        <p:cTn id="56" dur="500"/>
                                        <p:tgtEl>
                                          <p:spTgt spid="9233"/>
                                        </p:tgtEl>
                                      </p:cBhvr>
                                    </p:animEffect>
                                  </p:childTnLst>
                                </p:cTn>
                              </p:par>
                              <p:par>
                                <p:cTn id="57" presetID="5" presetClass="entr" presetSubtype="10" fill="hold" grpId="0" nodeType="withEffect">
                                  <p:stCondLst>
                                    <p:cond delay="0"/>
                                  </p:stCondLst>
                                  <p:childTnLst>
                                    <p:set>
                                      <p:cBhvr>
                                        <p:cTn id="58" dur="1" fill="hold">
                                          <p:stCondLst>
                                            <p:cond delay="0"/>
                                          </p:stCondLst>
                                        </p:cTn>
                                        <p:tgtEl>
                                          <p:spTgt spid="9234"/>
                                        </p:tgtEl>
                                        <p:attrNameLst>
                                          <p:attrName>style.visibility</p:attrName>
                                        </p:attrNameLst>
                                      </p:cBhvr>
                                      <p:to>
                                        <p:strVal val="visible"/>
                                      </p:to>
                                    </p:set>
                                    <p:animEffect transition="in" filter="checkerboard(across)">
                                      <p:cBhvr>
                                        <p:cTn id="59" dur="500"/>
                                        <p:tgtEl>
                                          <p:spTgt spid="9234"/>
                                        </p:tgtEl>
                                      </p:cBhvr>
                                    </p:animEffect>
                                  </p:childTnLst>
                                </p:cTn>
                              </p:par>
                              <p:par>
                                <p:cTn id="60" presetID="5" presetClass="entr" presetSubtype="10" fill="hold" grpId="0" nodeType="withEffect">
                                  <p:stCondLst>
                                    <p:cond delay="0"/>
                                  </p:stCondLst>
                                  <p:childTnLst>
                                    <p:set>
                                      <p:cBhvr>
                                        <p:cTn id="61" dur="1" fill="hold">
                                          <p:stCondLst>
                                            <p:cond delay="0"/>
                                          </p:stCondLst>
                                        </p:cTn>
                                        <p:tgtEl>
                                          <p:spTgt spid="9235"/>
                                        </p:tgtEl>
                                        <p:attrNameLst>
                                          <p:attrName>style.visibility</p:attrName>
                                        </p:attrNameLst>
                                      </p:cBhvr>
                                      <p:to>
                                        <p:strVal val="visible"/>
                                      </p:to>
                                    </p:set>
                                    <p:animEffect transition="in" filter="checkerboard(across)">
                                      <p:cBhvr>
                                        <p:cTn id="62" dur="500"/>
                                        <p:tgtEl>
                                          <p:spTgt spid="9235"/>
                                        </p:tgtEl>
                                      </p:cBhvr>
                                    </p:animEffect>
                                  </p:childTnLst>
                                </p:cTn>
                              </p:par>
                            </p:childTnLst>
                          </p:cTn>
                        </p:par>
                      </p:childTnLst>
                    </p:cTn>
                  </p:par>
                  <p:par>
                    <p:cTn id="63" fill="hold">
                      <p:stCondLst>
                        <p:cond delay="indefinite"/>
                      </p:stCondLst>
                      <p:childTnLst>
                        <p:par>
                          <p:cTn id="64" fill="hold">
                            <p:stCondLst>
                              <p:cond delay="0"/>
                            </p:stCondLst>
                            <p:childTnLst>
                              <p:par>
                                <p:cTn id="65" presetID="5" presetClass="entr" presetSubtype="10" fill="hold" grpId="0" nodeType="clickEffect">
                                  <p:stCondLst>
                                    <p:cond delay="0"/>
                                  </p:stCondLst>
                                  <p:childTnLst>
                                    <p:set>
                                      <p:cBhvr>
                                        <p:cTn id="66" dur="1" fill="hold">
                                          <p:stCondLst>
                                            <p:cond delay="0"/>
                                          </p:stCondLst>
                                        </p:cTn>
                                        <p:tgtEl>
                                          <p:spTgt spid="9236"/>
                                        </p:tgtEl>
                                        <p:attrNameLst>
                                          <p:attrName>style.visibility</p:attrName>
                                        </p:attrNameLst>
                                      </p:cBhvr>
                                      <p:to>
                                        <p:strVal val="visible"/>
                                      </p:to>
                                    </p:set>
                                    <p:animEffect transition="in" filter="checkerboard(across)">
                                      <p:cBhvr>
                                        <p:cTn id="67" dur="500"/>
                                        <p:tgtEl>
                                          <p:spTgt spid="92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animBg="1"/>
      <p:bldP spid="9221" grpId="0" animBg="1"/>
      <p:bldP spid="9222" grpId="0" animBg="1"/>
      <p:bldP spid="9223" grpId="0" animBg="1"/>
      <p:bldP spid="9224" grpId="0" animBg="1"/>
      <p:bldP spid="9225" grpId="0" animBg="1"/>
      <p:bldP spid="9226" grpId="0" animBg="1"/>
      <p:bldP spid="9227" grpId="0" animBg="1"/>
      <p:bldP spid="9228" grpId="0" autoUpdateAnimBg="0"/>
      <p:bldP spid="9229" grpId="0" autoUpdateAnimBg="0"/>
      <p:bldP spid="9230" grpId="0" autoUpdateAnimBg="0"/>
      <p:bldP spid="9231" grpId="0" autoUpdateAnimBg="0"/>
      <p:bldP spid="9232" grpId="0" autoUpdateAnimBg="0"/>
      <p:bldP spid="9233" grpId="0" autoUpdateAnimBg="0"/>
      <p:bldP spid="9234" grpId="0" autoUpdateAnimBg="0"/>
      <p:bldP spid="9235" grpId="0" autoUpdateAnimBg="0"/>
      <p:bldP spid="9236"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2" name="Group 2"/>
          <p:cNvGrpSpPr/>
          <p:nvPr/>
        </p:nvGrpSpPr>
        <p:grpSpPr bwMode="auto">
          <a:xfrm>
            <a:off x="4054475" y="1700213"/>
            <a:ext cx="360363" cy="1095375"/>
            <a:chOff x="0" y="0"/>
            <a:chExt cx="318" cy="871"/>
          </a:xfrm>
        </p:grpSpPr>
        <p:sp>
          <p:nvSpPr>
            <p:cNvPr id="2" name="AutoShape 3"/>
            <p:cNvSpPr>
              <a:spLocks noChangeArrowheads="1"/>
            </p:cNvSpPr>
            <p:nvPr/>
          </p:nvSpPr>
          <p:spPr bwMode="auto">
            <a:xfrm>
              <a:off x="0" y="272"/>
              <a:ext cx="318" cy="318"/>
            </a:xfrm>
            <a:prstGeom prst="flowChartMerge">
              <a:avLst/>
            </a:prstGeom>
            <a:solidFill>
              <a:schemeClr val="accent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56" name="Line 4"/>
            <p:cNvSpPr>
              <a:spLocks noChangeShapeType="1"/>
            </p:cNvSpPr>
            <p:nvPr/>
          </p:nvSpPr>
          <p:spPr bwMode="auto">
            <a:xfrm>
              <a:off x="0" y="599"/>
              <a:ext cx="31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57" name="Line 5"/>
            <p:cNvSpPr>
              <a:spLocks noChangeShapeType="1"/>
            </p:cNvSpPr>
            <p:nvPr/>
          </p:nvSpPr>
          <p:spPr bwMode="auto">
            <a:xfrm>
              <a:off x="159" y="0"/>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58" name="Line 6"/>
            <p:cNvSpPr>
              <a:spLocks noChangeShapeType="1"/>
            </p:cNvSpPr>
            <p:nvPr/>
          </p:nvSpPr>
          <p:spPr bwMode="auto">
            <a:xfrm>
              <a:off x="159" y="599"/>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247" name="Group 7"/>
          <p:cNvGrpSpPr/>
          <p:nvPr/>
        </p:nvGrpSpPr>
        <p:grpSpPr bwMode="auto">
          <a:xfrm>
            <a:off x="4630738" y="1700213"/>
            <a:ext cx="3729037" cy="1095375"/>
            <a:chOff x="0" y="0"/>
            <a:chExt cx="2349" cy="690"/>
          </a:xfrm>
        </p:grpSpPr>
        <p:grpSp>
          <p:nvGrpSpPr>
            <p:cNvPr id="10320" name="Group 8"/>
            <p:cNvGrpSpPr/>
            <p:nvPr/>
          </p:nvGrpSpPr>
          <p:grpSpPr bwMode="auto">
            <a:xfrm>
              <a:off x="0" y="0"/>
              <a:ext cx="227" cy="690"/>
              <a:chOff x="0" y="0"/>
              <a:chExt cx="318" cy="871"/>
            </a:xfrm>
          </p:grpSpPr>
          <p:sp>
            <p:nvSpPr>
              <p:cNvPr id="10351" name="AutoShape 9"/>
              <p:cNvSpPr>
                <a:spLocks noChangeArrowheads="1"/>
              </p:cNvSpPr>
              <p:nvPr/>
            </p:nvSpPr>
            <p:spPr bwMode="auto">
              <a:xfrm>
                <a:off x="0" y="272"/>
                <a:ext cx="318" cy="318"/>
              </a:xfrm>
              <a:prstGeom prst="flowChartMerge">
                <a:avLst/>
              </a:prstGeom>
              <a:solidFill>
                <a:schemeClr val="accent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52" name="Line 10"/>
              <p:cNvSpPr>
                <a:spLocks noChangeShapeType="1"/>
              </p:cNvSpPr>
              <p:nvPr/>
            </p:nvSpPr>
            <p:spPr bwMode="auto">
              <a:xfrm>
                <a:off x="0" y="599"/>
                <a:ext cx="31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53" name="Line 11"/>
              <p:cNvSpPr>
                <a:spLocks noChangeShapeType="1"/>
              </p:cNvSpPr>
              <p:nvPr/>
            </p:nvSpPr>
            <p:spPr bwMode="auto">
              <a:xfrm>
                <a:off x="159" y="0"/>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54" name="Line 12"/>
              <p:cNvSpPr>
                <a:spLocks noChangeShapeType="1"/>
              </p:cNvSpPr>
              <p:nvPr/>
            </p:nvSpPr>
            <p:spPr bwMode="auto">
              <a:xfrm>
                <a:off x="159" y="599"/>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321" name="Group 13"/>
            <p:cNvGrpSpPr/>
            <p:nvPr/>
          </p:nvGrpSpPr>
          <p:grpSpPr bwMode="auto">
            <a:xfrm>
              <a:off x="354" y="0"/>
              <a:ext cx="227" cy="690"/>
              <a:chOff x="0" y="0"/>
              <a:chExt cx="318" cy="871"/>
            </a:xfrm>
          </p:grpSpPr>
          <p:sp>
            <p:nvSpPr>
              <p:cNvPr id="10347" name="AutoShape 14"/>
              <p:cNvSpPr>
                <a:spLocks noChangeArrowheads="1"/>
              </p:cNvSpPr>
              <p:nvPr/>
            </p:nvSpPr>
            <p:spPr bwMode="auto">
              <a:xfrm>
                <a:off x="0" y="272"/>
                <a:ext cx="318" cy="318"/>
              </a:xfrm>
              <a:prstGeom prst="flowChartMerge">
                <a:avLst/>
              </a:prstGeom>
              <a:solidFill>
                <a:schemeClr val="accent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48" name="Line 15"/>
              <p:cNvSpPr>
                <a:spLocks noChangeShapeType="1"/>
              </p:cNvSpPr>
              <p:nvPr/>
            </p:nvSpPr>
            <p:spPr bwMode="auto">
              <a:xfrm>
                <a:off x="0" y="599"/>
                <a:ext cx="31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49" name="Line 16"/>
              <p:cNvSpPr>
                <a:spLocks noChangeShapeType="1"/>
              </p:cNvSpPr>
              <p:nvPr/>
            </p:nvSpPr>
            <p:spPr bwMode="auto">
              <a:xfrm>
                <a:off x="159" y="0"/>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50" name="Line 17"/>
              <p:cNvSpPr>
                <a:spLocks noChangeShapeType="1"/>
              </p:cNvSpPr>
              <p:nvPr/>
            </p:nvSpPr>
            <p:spPr bwMode="auto">
              <a:xfrm>
                <a:off x="159" y="599"/>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322" name="Group 18"/>
            <p:cNvGrpSpPr/>
            <p:nvPr/>
          </p:nvGrpSpPr>
          <p:grpSpPr bwMode="auto">
            <a:xfrm>
              <a:off x="708" y="0"/>
              <a:ext cx="227" cy="690"/>
              <a:chOff x="0" y="0"/>
              <a:chExt cx="318" cy="871"/>
            </a:xfrm>
          </p:grpSpPr>
          <p:sp>
            <p:nvSpPr>
              <p:cNvPr id="3" name="AutoShape 19"/>
              <p:cNvSpPr>
                <a:spLocks noChangeArrowheads="1"/>
              </p:cNvSpPr>
              <p:nvPr/>
            </p:nvSpPr>
            <p:spPr bwMode="auto">
              <a:xfrm>
                <a:off x="0" y="272"/>
                <a:ext cx="318" cy="318"/>
              </a:xfrm>
              <a:prstGeom prst="flowChartMerge">
                <a:avLst/>
              </a:prstGeom>
              <a:solidFill>
                <a:schemeClr val="accent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4" name="Line 20"/>
              <p:cNvSpPr>
                <a:spLocks noChangeShapeType="1"/>
              </p:cNvSpPr>
              <p:nvPr/>
            </p:nvSpPr>
            <p:spPr bwMode="auto">
              <a:xfrm>
                <a:off x="0" y="599"/>
                <a:ext cx="31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 name="Line 21"/>
              <p:cNvSpPr>
                <a:spLocks noChangeShapeType="1"/>
              </p:cNvSpPr>
              <p:nvPr/>
            </p:nvSpPr>
            <p:spPr bwMode="auto">
              <a:xfrm>
                <a:off x="159" y="0"/>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 name="Line 22"/>
              <p:cNvSpPr>
                <a:spLocks noChangeShapeType="1"/>
              </p:cNvSpPr>
              <p:nvPr/>
            </p:nvSpPr>
            <p:spPr bwMode="auto">
              <a:xfrm>
                <a:off x="159" y="599"/>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323" name="Group 23"/>
            <p:cNvGrpSpPr/>
            <p:nvPr/>
          </p:nvGrpSpPr>
          <p:grpSpPr bwMode="auto">
            <a:xfrm>
              <a:off x="1052" y="0"/>
              <a:ext cx="227" cy="690"/>
              <a:chOff x="0" y="0"/>
              <a:chExt cx="318" cy="871"/>
            </a:xfrm>
          </p:grpSpPr>
          <p:sp>
            <p:nvSpPr>
              <p:cNvPr id="10339" name="AutoShape 24"/>
              <p:cNvSpPr>
                <a:spLocks noChangeArrowheads="1"/>
              </p:cNvSpPr>
              <p:nvPr/>
            </p:nvSpPr>
            <p:spPr bwMode="auto">
              <a:xfrm>
                <a:off x="0" y="272"/>
                <a:ext cx="318" cy="318"/>
              </a:xfrm>
              <a:prstGeom prst="flowChartMerge">
                <a:avLst/>
              </a:prstGeom>
              <a:solidFill>
                <a:schemeClr val="accent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40" name="Line 25"/>
              <p:cNvSpPr>
                <a:spLocks noChangeShapeType="1"/>
              </p:cNvSpPr>
              <p:nvPr/>
            </p:nvSpPr>
            <p:spPr bwMode="auto">
              <a:xfrm>
                <a:off x="0" y="599"/>
                <a:ext cx="31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41" name="Line 26"/>
              <p:cNvSpPr>
                <a:spLocks noChangeShapeType="1"/>
              </p:cNvSpPr>
              <p:nvPr/>
            </p:nvSpPr>
            <p:spPr bwMode="auto">
              <a:xfrm>
                <a:off x="159" y="0"/>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 name="Line 27"/>
              <p:cNvSpPr>
                <a:spLocks noChangeShapeType="1"/>
              </p:cNvSpPr>
              <p:nvPr/>
            </p:nvSpPr>
            <p:spPr bwMode="auto">
              <a:xfrm>
                <a:off x="159" y="599"/>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324" name="Group 28"/>
            <p:cNvGrpSpPr/>
            <p:nvPr/>
          </p:nvGrpSpPr>
          <p:grpSpPr bwMode="auto">
            <a:xfrm>
              <a:off x="1415" y="0"/>
              <a:ext cx="227" cy="690"/>
              <a:chOff x="0" y="0"/>
              <a:chExt cx="318" cy="871"/>
            </a:xfrm>
          </p:grpSpPr>
          <p:sp>
            <p:nvSpPr>
              <p:cNvPr id="10335" name="AutoShape 29"/>
              <p:cNvSpPr>
                <a:spLocks noChangeArrowheads="1"/>
              </p:cNvSpPr>
              <p:nvPr/>
            </p:nvSpPr>
            <p:spPr bwMode="auto">
              <a:xfrm>
                <a:off x="0" y="272"/>
                <a:ext cx="318" cy="318"/>
              </a:xfrm>
              <a:prstGeom prst="flowChartMerge">
                <a:avLst/>
              </a:prstGeom>
              <a:solidFill>
                <a:schemeClr val="accent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36" name="Line 30"/>
              <p:cNvSpPr>
                <a:spLocks noChangeShapeType="1"/>
              </p:cNvSpPr>
              <p:nvPr/>
            </p:nvSpPr>
            <p:spPr bwMode="auto">
              <a:xfrm>
                <a:off x="0" y="599"/>
                <a:ext cx="31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37" name="Line 31"/>
              <p:cNvSpPr>
                <a:spLocks noChangeShapeType="1"/>
              </p:cNvSpPr>
              <p:nvPr/>
            </p:nvSpPr>
            <p:spPr bwMode="auto">
              <a:xfrm>
                <a:off x="159" y="0"/>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38" name="Line 32"/>
              <p:cNvSpPr>
                <a:spLocks noChangeShapeType="1"/>
              </p:cNvSpPr>
              <p:nvPr/>
            </p:nvSpPr>
            <p:spPr bwMode="auto">
              <a:xfrm>
                <a:off x="159" y="599"/>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325" name="Group 33"/>
            <p:cNvGrpSpPr/>
            <p:nvPr/>
          </p:nvGrpSpPr>
          <p:grpSpPr bwMode="auto">
            <a:xfrm>
              <a:off x="1760" y="0"/>
              <a:ext cx="227" cy="690"/>
              <a:chOff x="0" y="0"/>
              <a:chExt cx="318" cy="871"/>
            </a:xfrm>
          </p:grpSpPr>
          <p:sp>
            <p:nvSpPr>
              <p:cNvPr id="10331" name="AutoShape 34"/>
              <p:cNvSpPr>
                <a:spLocks noChangeArrowheads="1"/>
              </p:cNvSpPr>
              <p:nvPr/>
            </p:nvSpPr>
            <p:spPr bwMode="auto">
              <a:xfrm>
                <a:off x="0" y="272"/>
                <a:ext cx="318" cy="318"/>
              </a:xfrm>
              <a:prstGeom prst="flowChartMerge">
                <a:avLst/>
              </a:prstGeom>
              <a:solidFill>
                <a:schemeClr val="accent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32" name="Line 35"/>
              <p:cNvSpPr>
                <a:spLocks noChangeShapeType="1"/>
              </p:cNvSpPr>
              <p:nvPr/>
            </p:nvSpPr>
            <p:spPr bwMode="auto">
              <a:xfrm>
                <a:off x="0" y="599"/>
                <a:ext cx="31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33" name="Line 36"/>
              <p:cNvSpPr>
                <a:spLocks noChangeShapeType="1"/>
              </p:cNvSpPr>
              <p:nvPr/>
            </p:nvSpPr>
            <p:spPr bwMode="auto">
              <a:xfrm>
                <a:off x="159" y="0"/>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34" name="Line 37"/>
              <p:cNvSpPr>
                <a:spLocks noChangeShapeType="1"/>
              </p:cNvSpPr>
              <p:nvPr/>
            </p:nvSpPr>
            <p:spPr bwMode="auto">
              <a:xfrm>
                <a:off x="159" y="599"/>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326" name="Group 38"/>
            <p:cNvGrpSpPr/>
            <p:nvPr/>
          </p:nvGrpSpPr>
          <p:grpSpPr bwMode="auto">
            <a:xfrm>
              <a:off x="2122" y="0"/>
              <a:ext cx="227" cy="690"/>
              <a:chOff x="0" y="0"/>
              <a:chExt cx="318" cy="871"/>
            </a:xfrm>
          </p:grpSpPr>
          <p:sp>
            <p:nvSpPr>
              <p:cNvPr id="10327" name="AutoShape 39"/>
              <p:cNvSpPr>
                <a:spLocks noChangeArrowheads="1"/>
              </p:cNvSpPr>
              <p:nvPr/>
            </p:nvSpPr>
            <p:spPr bwMode="auto">
              <a:xfrm>
                <a:off x="0" y="272"/>
                <a:ext cx="318" cy="318"/>
              </a:xfrm>
              <a:prstGeom prst="flowChartMerge">
                <a:avLst/>
              </a:prstGeom>
              <a:solidFill>
                <a:schemeClr val="accent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28" name="Line 40"/>
              <p:cNvSpPr>
                <a:spLocks noChangeShapeType="1"/>
              </p:cNvSpPr>
              <p:nvPr/>
            </p:nvSpPr>
            <p:spPr bwMode="auto">
              <a:xfrm>
                <a:off x="0" y="599"/>
                <a:ext cx="31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29" name="Line 41"/>
              <p:cNvSpPr>
                <a:spLocks noChangeShapeType="1"/>
              </p:cNvSpPr>
              <p:nvPr/>
            </p:nvSpPr>
            <p:spPr bwMode="auto">
              <a:xfrm>
                <a:off x="159" y="0"/>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30" name="Line 42"/>
              <p:cNvSpPr>
                <a:spLocks noChangeShapeType="1"/>
              </p:cNvSpPr>
              <p:nvPr/>
            </p:nvSpPr>
            <p:spPr bwMode="auto">
              <a:xfrm>
                <a:off x="159" y="599"/>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0283" name="AutoShape 43"/>
          <p:cNvSpPr>
            <a:spLocks noChangeArrowheads="1"/>
          </p:cNvSpPr>
          <p:nvPr/>
        </p:nvSpPr>
        <p:spPr bwMode="auto">
          <a:xfrm>
            <a:off x="2901950" y="1052513"/>
            <a:ext cx="1008063" cy="504825"/>
          </a:xfrm>
          <a:prstGeom prst="wedgeRoundRectCallout">
            <a:avLst>
              <a:gd name="adj1" fmla="val 76931"/>
              <a:gd name="adj2" fmla="val 118241"/>
              <a:gd name="adj3" fmla="val 16667"/>
            </a:avLst>
          </a:prstGeom>
          <a:solidFill>
            <a:srgbClr val="FFCC99"/>
          </a:solidFill>
          <a:ln w="19050">
            <a:solidFill>
              <a:srgbClr val="800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400" b="1"/>
              <a:t>阳极</a:t>
            </a:r>
          </a:p>
        </p:txBody>
      </p:sp>
      <p:sp>
        <p:nvSpPr>
          <p:cNvPr id="10284" name="AutoShape 44"/>
          <p:cNvSpPr>
            <a:spLocks noChangeArrowheads="1"/>
          </p:cNvSpPr>
          <p:nvPr/>
        </p:nvSpPr>
        <p:spPr bwMode="auto">
          <a:xfrm>
            <a:off x="2887663" y="2779713"/>
            <a:ext cx="1008062" cy="504825"/>
          </a:xfrm>
          <a:prstGeom prst="wedgeRoundRectCallout">
            <a:avLst>
              <a:gd name="adj1" fmla="val 78347"/>
              <a:gd name="adj2" fmla="val -85847"/>
              <a:gd name="adj3" fmla="val 16667"/>
            </a:avLst>
          </a:prstGeom>
          <a:solidFill>
            <a:srgbClr val="FFCC99"/>
          </a:solidFill>
          <a:ln w="19050">
            <a:solidFill>
              <a:srgbClr val="800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400" b="1"/>
              <a:t>阴极</a:t>
            </a:r>
          </a:p>
        </p:txBody>
      </p:sp>
      <p:sp>
        <p:nvSpPr>
          <p:cNvPr id="10285" name="Line 45"/>
          <p:cNvSpPr>
            <a:spLocks noChangeShapeType="1"/>
          </p:cNvSpPr>
          <p:nvPr/>
        </p:nvSpPr>
        <p:spPr bwMode="auto">
          <a:xfrm>
            <a:off x="4227513" y="1700213"/>
            <a:ext cx="3960812" cy="0"/>
          </a:xfrm>
          <a:prstGeom prst="line">
            <a:avLst/>
          </a:prstGeom>
          <a:noFill/>
          <a:ln w="317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86" name="Line 46"/>
          <p:cNvSpPr>
            <a:spLocks noChangeShapeType="1"/>
          </p:cNvSpPr>
          <p:nvPr/>
        </p:nvSpPr>
        <p:spPr bwMode="auto">
          <a:xfrm flipV="1">
            <a:off x="6215063" y="1123950"/>
            <a:ext cx="0" cy="576263"/>
          </a:xfrm>
          <a:prstGeom prst="line">
            <a:avLst/>
          </a:prstGeom>
          <a:noFill/>
          <a:ln w="317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87" name="Oval 47"/>
          <p:cNvSpPr>
            <a:spLocks noChangeAspect="1" noChangeArrowheads="1"/>
          </p:cNvSpPr>
          <p:nvPr/>
        </p:nvSpPr>
        <p:spPr bwMode="auto">
          <a:xfrm>
            <a:off x="6172200" y="1022350"/>
            <a:ext cx="90488" cy="90488"/>
          </a:xfrm>
          <a:prstGeom prst="ellipse">
            <a:avLst/>
          </a:prstGeom>
          <a:noFill/>
          <a:ln w="317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288" name="Text Box 48"/>
          <p:cNvSpPr txBox="1">
            <a:spLocks noChangeArrowheads="1"/>
          </p:cNvSpPr>
          <p:nvPr/>
        </p:nvSpPr>
        <p:spPr bwMode="auto">
          <a:xfrm>
            <a:off x="5897563" y="692150"/>
            <a:ext cx="1008062" cy="396875"/>
          </a:xfrm>
          <a:prstGeom prst="rect">
            <a:avLst/>
          </a:prstGeom>
          <a:noFill/>
          <a:ln>
            <a:noFill/>
          </a:ln>
          <a:effectLst/>
        </p:spPr>
        <p:txBody>
          <a:bodyPr lIns="18000" rIns="18000">
            <a:spAutoFit/>
          </a:bodyPr>
          <a:lstStyle/>
          <a:p>
            <a:pPr eaLnBrk="1" hangingPunct="1">
              <a:spcBef>
                <a:spcPct val="50000"/>
              </a:spcBef>
              <a:defRPr/>
            </a:pPr>
            <a:r>
              <a:rPr lang="en-US" altLang="zh-CN" sz="2000" b="1" dirty="0">
                <a:effectLst>
                  <a:outerShdw blurRad="38100" dist="38100" dir="2700000" algn="tl">
                    <a:srgbClr val="000000">
                      <a:alpha val="43137"/>
                    </a:srgbClr>
                  </a:outerShdw>
                </a:effectLst>
              </a:rPr>
              <a:t>COM</a:t>
            </a:r>
          </a:p>
        </p:txBody>
      </p:sp>
      <p:sp>
        <p:nvSpPr>
          <p:cNvPr id="10289" name="Text Box 49"/>
          <p:cNvSpPr txBox="1">
            <a:spLocks noChangeArrowheads="1"/>
          </p:cNvSpPr>
          <p:nvPr/>
        </p:nvSpPr>
        <p:spPr bwMode="auto">
          <a:xfrm>
            <a:off x="684213" y="333375"/>
            <a:ext cx="3095625" cy="579438"/>
          </a:xfrm>
          <a:prstGeom prst="rect">
            <a:avLst/>
          </a:prstGeom>
          <a:noFill/>
          <a:ln>
            <a:noFill/>
          </a:ln>
          <a:effectLst/>
        </p:spPr>
        <p:txBody>
          <a:bodyPr>
            <a:spAutoFit/>
          </a:bodyPr>
          <a:lstStyle/>
          <a:p>
            <a:pPr eaLnBrk="1" hangingPunct="1">
              <a:spcBef>
                <a:spcPct val="50000"/>
              </a:spcBef>
              <a:defRPr/>
            </a:pPr>
            <a:r>
              <a:rPr lang="en-US" altLang="zh-CN" sz="3200" b="1">
                <a:solidFill>
                  <a:srgbClr val="0000FF"/>
                </a:solidFill>
                <a:effectLst>
                  <a:outerShdw blurRad="38100" dist="38100" dir="2700000" algn="tl">
                    <a:srgbClr val="C0C0C0"/>
                  </a:outerShdw>
                </a:effectLst>
                <a:latin typeface="楷体_GB2312" pitchFamily="49" charset="-122"/>
                <a:ea typeface="楷体_GB2312" pitchFamily="49" charset="-122"/>
              </a:rPr>
              <a:t>2</a:t>
            </a:r>
            <a:r>
              <a:rPr lang="zh-CN" altLang="en-US" sz="3200" b="1">
                <a:solidFill>
                  <a:srgbClr val="0000FF"/>
                </a:solidFill>
                <a:effectLst>
                  <a:outerShdw blurRad="38100" dist="38100" dir="2700000" algn="tl">
                    <a:srgbClr val="C0C0C0"/>
                  </a:outerShdw>
                </a:effectLst>
                <a:latin typeface="楷体_GB2312" pitchFamily="49" charset="-122"/>
                <a:ea typeface="楷体_GB2312" pitchFamily="49" charset="-122"/>
              </a:rPr>
              <a:t>、内部结构</a:t>
            </a:r>
          </a:p>
        </p:txBody>
      </p:sp>
      <p:sp>
        <p:nvSpPr>
          <p:cNvPr id="10290" name="Text Box 50"/>
          <p:cNvSpPr txBox="1">
            <a:spLocks noChangeArrowheads="1"/>
          </p:cNvSpPr>
          <p:nvPr/>
        </p:nvSpPr>
        <p:spPr bwMode="auto">
          <a:xfrm>
            <a:off x="468313" y="1196975"/>
            <a:ext cx="22320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b="1"/>
              <a:t>（</a:t>
            </a:r>
            <a:r>
              <a:rPr lang="en-US" altLang="zh-CN" sz="2800" b="1"/>
              <a:t>1</a:t>
            </a:r>
            <a:r>
              <a:rPr lang="zh-CN" altLang="en-US" sz="2800" b="1"/>
              <a:t>）共阳极</a:t>
            </a:r>
          </a:p>
        </p:txBody>
      </p:sp>
      <p:grpSp>
        <p:nvGrpSpPr>
          <p:cNvPr id="10291" name="Group 51"/>
          <p:cNvGrpSpPr/>
          <p:nvPr/>
        </p:nvGrpSpPr>
        <p:grpSpPr bwMode="auto">
          <a:xfrm>
            <a:off x="4140200" y="2738438"/>
            <a:ext cx="4248150" cy="365125"/>
            <a:chOff x="0" y="0"/>
            <a:chExt cx="2676" cy="230"/>
          </a:xfrm>
        </p:grpSpPr>
        <p:sp>
          <p:nvSpPr>
            <p:cNvPr id="10312" name="Text Box 52"/>
            <p:cNvSpPr txBox="1">
              <a:spLocks noChangeArrowheads="1"/>
            </p:cNvSpPr>
            <p:nvPr/>
          </p:nvSpPr>
          <p:spPr bwMode="auto">
            <a:xfrm>
              <a:off x="2495" y="0"/>
              <a:ext cx="1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a:t>
              </a:r>
            </a:p>
          </p:txBody>
        </p:sp>
        <p:sp>
          <p:nvSpPr>
            <p:cNvPr id="10313" name="Text Box 53"/>
            <p:cNvSpPr txBox="1">
              <a:spLocks noChangeArrowheads="1"/>
            </p:cNvSpPr>
            <p:nvPr/>
          </p:nvSpPr>
          <p:spPr bwMode="auto">
            <a:xfrm>
              <a:off x="2132" y="0"/>
              <a:ext cx="1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b</a:t>
              </a:r>
            </a:p>
          </p:txBody>
        </p:sp>
        <p:sp>
          <p:nvSpPr>
            <p:cNvPr id="10314" name="Text Box 54"/>
            <p:cNvSpPr txBox="1">
              <a:spLocks noChangeArrowheads="1"/>
            </p:cNvSpPr>
            <p:nvPr/>
          </p:nvSpPr>
          <p:spPr bwMode="auto">
            <a:xfrm>
              <a:off x="1769" y="0"/>
              <a:ext cx="1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c</a:t>
              </a:r>
            </a:p>
          </p:txBody>
        </p:sp>
        <p:sp>
          <p:nvSpPr>
            <p:cNvPr id="10315" name="Text Box 55"/>
            <p:cNvSpPr txBox="1">
              <a:spLocks noChangeArrowheads="1"/>
            </p:cNvSpPr>
            <p:nvPr/>
          </p:nvSpPr>
          <p:spPr bwMode="auto">
            <a:xfrm>
              <a:off x="1406" y="0"/>
              <a:ext cx="1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d</a:t>
              </a:r>
            </a:p>
          </p:txBody>
        </p:sp>
        <p:sp>
          <p:nvSpPr>
            <p:cNvPr id="10316" name="Text Box 56"/>
            <p:cNvSpPr txBox="1">
              <a:spLocks noChangeArrowheads="1"/>
            </p:cNvSpPr>
            <p:nvPr/>
          </p:nvSpPr>
          <p:spPr bwMode="auto">
            <a:xfrm>
              <a:off x="1088" y="0"/>
              <a:ext cx="1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e</a:t>
              </a:r>
            </a:p>
          </p:txBody>
        </p:sp>
        <p:sp>
          <p:nvSpPr>
            <p:cNvPr id="10317" name="Text Box 57"/>
            <p:cNvSpPr txBox="1">
              <a:spLocks noChangeArrowheads="1"/>
            </p:cNvSpPr>
            <p:nvPr/>
          </p:nvSpPr>
          <p:spPr bwMode="auto">
            <a:xfrm>
              <a:off x="726" y="0"/>
              <a:ext cx="1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f</a:t>
              </a:r>
            </a:p>
          </p:txBody>
        </p:sp>
        <p:sp>
          <p:nvSpPr>
            <p:cNvPr id="10318" name="Text Box 58"/>
            <p:cNvSpPr txBox="1">
              <a:spLocks noChangeArrowheads="1"/>
            </p:cNvSpPr>
            <p:nvPr/>
          </p:nvSpPr>
          <p:spPr bwMode="auto">
            <a:xfrm>
              <a:off x="363" y="0"/>
              <a:ext cx="1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g</a:t>
              </a:r>
            </a:p>
          </p:txBody>
        </p:sp>
        <p:sp>
          <p:nvSpPr>
            <p:cNvPr id="10319" name="Text Box 59"/>
            <p:cNvSpPr txBox="1">
              <a:spLocks noChangeArrowheads="1"/>
            </p:cNvSpPr>
            <p:nvPr/>
          </p:nvSpPr>
          <p:spPr bwMode="auto">
            <a:xfrm>
              <a:off x="0" y="0"/>
              <a:ext cx="1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h</a:t>
              </a:r>
            </a:p>
          </p:txBody>
        </p:sp>
      </p:grpSp>
      <p:sp>
        <p:nvSpPr>
          <p:cNvPr id="10300" name="Text Box 60"/>
          <p:cNvSpPr txBox="1">
            <a:spLocks noChangeArrowheads="1"/>
          </p:cNvSpPr>
          <p:nvPr/>
        </p:nvSpPr>
        <p:spPr bwMode="auto">
          <a:xfrm>
            <a:off x="669925" y="4160838"/>
            <a:ext cx="22320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b="1"/>
              <a:t>（</a:t>
            </a:r>
            <a:r>
              <a:rPr lang="en-US" altLang="zh-CN" sz="2800" b="1"/>
              <a:t>2</a:t>
            </a:r>
            <a:r>
              <a:rPr lang="zh-CN" altLang="en-US" sz="2800" b="1"/>
              <a:t>）共阴极</a:t>
            </a:r>
          </a:p>
        </p:txBody>
      </p:sp>
      <p:grpSp>
        <p:nvGrpSpPr>
          <p:cNvPr id="10301" name="Group 61"/>
          <p:cNvGrpSpPr/>
          <p:nvPr/>
        </p:nvGrpSpPr>
        <p:grpSpPr bwMode="auto">
          <a:xfrm>
            <a:off x="4054475" y="4078288"/>
            <a:ext cx="4305300" cy="1095375"/>
            <a:chOff x="0" y="0"/>
            <a:chExt cx="2712" cy="690"/>
          </a:xfrm>
        </p:grpSpPr>
        <p:grpSp>
          <p:nvGrpSpPr>
            <p:cNvPr id="10272" name="Group 62"/>
            <p:cNvGrpSpPr/>
            <p:nvPr/>
          </p:nvGrpSpPr>
          <p:grpSpPr bwMode="auto">
            <a:xfrm>
              <a:off x="0" y="0"/>
              <a:ext cx="227" cy="690"/>
              <a:chOff x="0" y="0"/>
              <a:chExt cx="318" cy="871"/>
            </a:xfrm>
          </p:grpSpPr>
          <p:sp>
            <p:nvSpPr>
              <p:cNvPr id="10308" name="AutoShape 63"/>
              <p:cNvSpPr>
                <a:spLocks noChangeArrowheads="1"/>
              </p:cNvSpPr>
              <p:nvPr/>
            </p:nvSpPr>
            <p:spPr bwMode="auto">
              <a:xfrm>
                <a:off x="0" y="272"/>
                <a:ext cx="318" cy="318"/>
              </a:xfrm>
              <a:prstGeom prst="flowChartMerge">
                <a:avLst/>
              </a:prstGeom>
              <a:solidFill>
                <a:schemeClr val="accent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09" name="Line 64"/>
              <p:cNvSpPr>
                <a:spLocks noChangeShapeType="1"/>
              </p:cNvSpPr>
              <p:nvPr/>
            </p:nvSpPr>
            <p:spPr bwMode="auto">
              <a:xfrm>
                <a:off x="0" y="599"/>
                <a:ext cx="31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10" name="Line 65"/>
              <p:cNvSpPr>
                <a:spLocks noChangeShapeType="1"/>
              </p:cNvSpPr>
              <p:nvPr/>
            </p:nvSpPr>
            <p:spPr bwMode="auto">
              <a:xfrm>
                <a:off x="159" y="0"/>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11" name="Line 66"/>
              <p:cNvSpPr>
                <a:spLocks noChangeShapeType="1"/>
              </p:cNvSpPr>
              <p:nvPr/>
            </p:nvSpPr>
            <p:spPr bwMode="auto">
              <a:xfrm>
                <a:off x="159" y="599"/>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273" name="Group 67"/>
            <p:cNvGrpSpPr/>
            <p:nvPr/>
          </p:nvGrpSpPr>
          <p:grpSpPr bwMode="auto">
            <a:xfrm>
              <a:off x="363" y="0"/>
              <a:ext cx="227" cy="690"/>
              <a:chOff x="0" y="0"/>
              <a:chExt cx="318" cy="871"/>
            </a:xfrm>
          </p:grpSpPr>
          <p:sp>
            <p:nvSpPr>
              <p:cNvPr id="10304" name="AutoShape 68"/>
              <p:cNvSpPr>
                <a:spLocks noChangeArrowheads="1"/>
              </p:cNvSpPr>
              <p:nvPr/>
            </p:nvSpPr>
            <p:spPr bwMode="auto">
              <a:xfrm>
                <a:off x="0" y="272"/>
                <a:ext cx="318" cy="318"/>
              </a:xfrm>
              <a:prstGeom prst="flowChartMerge">
                <a:avLst/>
              </a:prstGeom>
              <a:solidFill>
                <a:schemeClr val="accent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05" name="Line 69"/>
              <p:cNvSpPr>
                <a:spLocks noChangeShapeType="1"/>
              </p:cNvSpPr>
              <p:nvPr/>
            </p:nvSpPr>
            <p:spPr bwMode="auto">
              <a:xfrm>
                <a:off x="0" y="599"/>
                <a:ext cx="31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06" name="Line 70"/>
              <p:cNvSpPr>
                <a:spLocks noChangeShapeType="1"/>
              </p:cNvSpPr>
              <p:nvPr/>
            </p:nvSpPr>
            <p:spPr bwMode="auto">
              <a:xfrm>
                <a:off x="159" y="0"/>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07" name="Line 71"/>
              <p:cNvSpPr>
                <a:spLocks noChangeShapeType="1"/>
              </p:cNvSpPr>
              <p:nvPr/>
            </p:nvSpPr>
            <p:spPr bwMode="auto">
              <a:xfrm>
                <a:off x="159" y="599"/>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274" name="Group 72"/>
            <p:cNvGrpSpPr/>
            <p:nvPr/>
          </p:nvGrpSpPr>
          <p:grpSpPr bwMode="auto">
            <a:xfrm>
              <a:off x="717" y="0"/>
              <a:ext cx="227" cy="690"/>
              <a:chOff x="0" y="0"/>
              <a:chExt cx="318" cy="871"/>
            </a:xfrm>
          </p:grpSpPr>
          <p:sp>
            <p:nvSpPr>
              <p:cNvPr id="8" name="AutoShape 73"/>
              <p:cNvSpPr>
                <a:spLocks noChangeArrowheads="1"/>
              </p:cNvSpPr>
              <p:nvPr/>
            </p:nvSpPr>
            <p:spPr bwMode="auto">
              <a:xfrm>
                <a:off x="0" y="272"/>
                <a:ext cx="318" cy="318"/>
              </a:xfrm>
              <a:prstGeom prst="flowChartMerge">
                <a:avLst/>
              </a:prstGeom>
              <a:solidFill>
                <a:schemeClr val="accent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9" name="Line 74"/>
              <p:cNvSpPr>
                <a:spLocks noChangeShapeType="1"/>
              </p:cNvSpPr>
              <p:nvPr/>
            </p:nvSpPr>
            <p:spPr bwMode="auto">
              <a:xfrm>
                <a:off x="0" y="599"/>
                <a:ext cx="31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02" name="Line 75"/>
              <p:cNvSpPr>
                <a:spLocks noChangeShapeType="1"/>
              </p:cNvSpPr>
              <p:nvPr/>
            </p:nvSpPr>
            <p:spPr bwMode="auto">
              <a:xfrm>
                <a:off x="159" y="0"/>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03" name="Line 76"/>
              <p:cNvSpPr>
                <a:spLocks noChangeShapeType="1"/>
              </p:cNvSpPr>
              <p:nvPr/>
            </p:nvSpPr>
            <p:spPr bwMode="auto">
              <a:xfrm>
                <a:off x="159" y="599"/>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275" name="Group 77"/>
            <p:cNvGrpSpPr/>
            <p:nvPr/>
          </p:nvGrpSpPr>
          <p:grpSpPr bwMode="auto">
            <a:xfrm>
              <a:off x="1071" y="0"/>
              <a:ext cx="227" cy="690"/>
              <a:chOff x="0" y="0"/>
              <a:chExt cx="318" cy="871"/>
            </a:xfrm>
          </p:grpSpPr>
          <p:sp>
            <p:nvSpPr>
              <p:cNvPr id="10296" name="AutoShape 78"/>
              <p:cNvSpPr>
                <a:spLocks noChangeArrowheads="1"/>
              </p:cNvSpPr>
              <p:nvPr/>
            </p:nvSpPr>
            <p:spPr bwMode="auto">
              <a:xfrm>
                <a:off x="0" y="272"/>
                <a:ext cx="318" cy="318"/>
              </a:xfrm>
              <a:prstGeom prst="flowChartMerge">
                <a:avLst/>
              </a:prstGeom>
              <a:solidFill>
                <a:schemeClr val="accent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297" name="Line 79"/>
              <p:cNvSpPr>
                <a:spLocks noChangeShapeType="1"/>
              </p:cNvSpPr>
              <p:nvPr/>
            </p:nvSpPr>
            <p:spPr bwMode="auto">
              <a:xfrm>
                <a:off x="0" y="599"/>
                <a:ext cx="31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98" name="Line 80"/>
              <p:cNvSpPr>
                <a:spLocks noChangeShapeType="1"/>
              </p:cNvSpPr>
              <p:nvPr/>
            </p:nvSpPr>
            <p:spPr bwMode="auto">
              <a:xfrm>
                <a:off x="159" y="0"/>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99" name="Line 81"/>
              <p:cNvSpPr>
                <a:spLocks noChangeShapeType="1"/>
              </p:cNvSpPr>
              <p:nvPr/>
            </p:nvSpPr>
            <p:spPr bwMode="auto">
              <a:xfrm>
                <a:off x="159" y="599"/>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276" name="Group 82"/>
            <p:cNvGrpSpPr/>
            <p:nvPr/>
          </p:nvGrpSpPr>
          <p:grpSpPr bwMode="auto">
            <a:xfrm>
              <a:off x="1415" y="0"/>
              <a:ext cx="227" cy="690"/>
              <a:chOff x="0" y="0"/>
              <a:chExt cx="318" cy="871"/>
            </a:xfrm>
          </p:grpSpPr>
          <p:sp>
            <p:nvSpPr>
              <p:cNvPr id="10292" name="AutoShape 83"/>
              <p:cNvSpPr>
                <a:spLocks noChangeArrowheads="1"/>
              </p:cNvSpPr>
              <p:nvPr/>
            </p:nvSpPr>
            <p:spPr bwMode="auto">
              <a:xfrm>
                <a:off x="0" y="272"/>
                <a:ext cx="318" cy="318"/>
              </a:xfrm>
              <a:prstGeom prst="flowChartMerge">
                <a:avLst/>
              </a:prstGeom>
              <a:solidFill>
                <a:schemeClr val="accent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293" name="Line 84"/>
              <p:cNvSpPr>
                <a:spLocks noChangeShapeType="1"/>
              </p:cNvSpPr>
              <p:nvPr/>
            </p:nvSpPr>
            <p:spPr bwMode="auto">
              <a:xfrm>
                <a:off x="0" y="599"/>
                <a:ext cx="31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94" name="Line 85"/>
              <p:cNvSpPr>
                <a:spLocks noChangeShapeType="1"/>
              </p:cNvSpPr>
              <p:nvPr/>
            </p:nvSpPr>
            <p:spPr bwMode="auto">
              <a:xfrm>
                <a:off x="159" y="0"/>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95" name="Line 86"/>
              <p:cNvSpPr>
                <a:spLocks noChangeShapeType="1"/>
              </p:cNvSpPr>
              <p:nvPr/>
            </p:nvSpPr>
            <p:spPr bwMode="auto">
              <a:xfrm>
                <a:off x="159" y="599"/>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277" name="Group 87"/>
            <p:cNvGrpSpPr/>
            <p:nvPr/>
          </p:nvGrpSpPr>
          <p:grpSpPr bwMode="auto">
            <a:xfrm>
              <a:off x="1778" y="0"/>
              <a:ext cx="227" cy="690"/>
              <a:chOff x="0" y="0"/>
              <a:chExt cx="318" cy="871"/>
            </a:xfrm>
          </p:grpSpPr>
          <p:sp>
            <p:nvSpPr>
              <p:cNvPr id="10" name="AutoShape 88"/>
              <p:cNvSpPr>
                <a:spLocks noChangeArrowheads="1"/>
              </p:cNvSpPr>
              <p:nvPr/>
            </p:nvSpPr>
            <p:spPr bwMode="auto">
              <a:xfrm>
                <a:off x="0" y="272"/>
                <a:ext cx="318" cy="318"/>
              </a:xfrm>
              <a:prstGeom prst="flowChartMerge">
                <a:avLst/>
              </a:prstGeom>
              <a:solidFill>
                <a:schemeClr val="accent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1" name="Line 89"/>
              <p:cNvSpPr>
                <a:spLocks noChangeShapeType="1"/>
              </p:cNvSpPr>
              <p:nvPr/>
            </p:nvSpPr>
            <p:spPr bwMode="auto">
              <a:xfrm>
                <a:off x="0" y="599"/>
                <a:ext cx="31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90"/>
              <p:cNvSpPr>
                <a:spLocks noChangeShapeType="1"/>
              </p:cNvSpPr>
              <p:nvPr/>
            </p:nvSpPr>
            <p:spPr bwMode="auto">
              <a:xfrm>
                <a:off x="159" y="0"/>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91"/>
              <p:cNvSpPr>
                <a:spLocks noChangeShapeType="1"/>
              </p:cNvSpPr>
              <p:nvPr/>
            </p:nvSpPr>
            <p:spPr bwMode="auto">
              <a:xfrm>
                <a:off x="159" y="599"/>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278" name="Group 92"/>
            <p:cNvGrpSpPr/>
            <p:nvPr/>
          </p:nvGrpSpPr>
          <p:grpSpPr bwMode="auto">
            <a:xfrm>
              <a:off x="2123" y="0"/>
              <a:ext cx="227" cy="690"/>
              <a:chOff x="0" y="0"/>
              <a:chExt cx="318" cy="871"/>
            </a:xfrm>
          </p:grpSpPr>
          <p:sp>
            <p:nvSpPr>
              <p:cNvPr id="14" name="AutoShape 93"/>
              <p:cNvSpPr>
                <a:spLocks noChangeArrowheads="1"/>
              </p:cNvSpPr>
              <p:nvPr/>
            </p:nvSpPr>
            <p:spPr bwMode="auto">
              <a:xfrm>
                <a:off x="0" y="272"/>
                <a:ext cx="318" cy="318"/>
              </a:xfrm>
              <a:prstGeom prst="flowChartMerge">
                <a:avLst/>
              </a:prstGeom>
              <a:solidFill>
                <a:schemeClr val="accent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5" name="Line 94"/>
              <p:cNvSpPr>
                <a:spLocks noChangeShapeType="1"/>
              </p:cNvSpPr>
              <p:nvPr/>
            </p:nvSpPr>
            <p:spPr bwMode="auto">
              <a:xfrm>
                <a:off x="0" y="599"/>
                <a:ext cx="31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95"/>
              <p:cNvSpPr>
                <a:spLocks noChangeShapeType="1"/>
              </p:cNvSpPr>
              <p:nvPr/>
            </p:nvSpPr>
            <p:spPr bwMode="auto">
              <a:xfrm>
                <a:off x="159" y="0"/>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96"/>
              <p:cNvSpPr>
                <a:spLocks noChangeShapeType="1"/>
              </p:cNvSpPr>
              <p:nvPr/>
            </p:nvSpPr>
            <p:spPr bwMode="auto">
              <a:xfrm>
                <a:off x="159" y="599"/>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279" name="Group 97"/>
            <p:cNvGrpSpPr/>
            <p:nvPr/>
          </p:nvGrpSpPr>
          <p:grpSpPr bwMode="auto">
            <a:xfrm>
              <a:off x="2485" y="0"/>
              <a:ext cx="227" cy="690"/>
              <a:chOff x="0" y="0"/>
              <a:chExt cx="318" cy="871"/>
            </a:xfrm>
          </p:grpSpPr>
          <p:sp>
            <p:nvSpPr>
              <p:cNvPr id="10280" name="AutoShape 98"/>
              <p:cNvSpPr>
                <a:spLocks noChangeArrowheads="1"/>
              </p:cNvSpPr>
              <p:nvPr/>
            </p:nvSpPr>
            <p:spPr bwMode="auto">
              <a:xfrm>
                <a:off x="0" y="272"/>
                <a:ext cx="318" cy="318"/>
              </a:xfrm>
              <a:prstGeom prst="flowChartMerge">
                <a:avLst/>
              </a:prstGeom>
              <a:solidFill>
                <a:schemeClr val="accent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281" name="Line 99"/>
              <p:cNvSpPr>
                <a:spLocks noChangeShapeType="1"/>
              </p:cNvSpPr>
              <p:nvPr/>
            </p:nvSpPr>
            <p:spPr bwMode="auto">
              <a:xfrm>
                <a:off x="0" y="599"/>
                <a:ext cx="31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82" name="Line 100"/>
              <p:cNvSpPr>
                <a:spLocks noChangeShapeType="1"/>
              </p:cNvSpPr>
              <p:nvPr/>
            </p:nvSpPr>
            <p:spPr bwMode="auto">
              <a:xfrm>
                <a:off x="159" y="0"/>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101"/>
              <p:cNvSpPr>
                <a:spLocks noChangeShapeType="1"/>
              </p:cNvSpPr>
              <p:nvPr/>
            </p:nvSpPr>
            <p:spPr bwMode="auto">
              <a:xfrm>
                <a:off x="159" y="599"/>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0342" name="Line 102"/>
          <p:cNvSpPr>
            <a:spLocks noChangeShapeType="1"/>
          </p:cNvSpPr>
          <p:nvPr/>
        </p:nvSpPr>
        <p:spPr bwMode="auto">
          <a:xfrm>
            <a:off x="4227513" y="5157788"/>
            <a:ext cx="3960812" cy="0"/>
          </a:xfrm>
          <a:prstGeom prst="line">
            <a:avLst/>
          </a:prstGeom>
          <a:noFill/>
          <a:ln w="317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43" name="Line 103"/>
          <p:cNvSpPr>
            <a:spLocks noChangeShapeType="1"/>
          </p:cNvSpPr>
          <p:nvPr/>
        </p:nvSpPr>
        <p:spPr bwMode="auto">
          <a:xfrm flipV="1">
            <a:off x="6229350" y="5157788"/>
            <a:ext cx="0" cy="576262"/>
          </a:xfrm>
          <a:prstGeom prst="line">
            <a:avLst/>
          </a:prstGeom>
          <a:noFill/>
          <a:ln w="317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44" name="Oval 104"/>
          <p:cNvSpPr>
            <a:spLocks noChangeAspect="1" noChangeArrowheads="1"/>
          </p:cNvSpPr>
          <p:nvPr/>
        </p:nvSpPr>
        <p:spPr bwMode="auto">
          <a:xfrm>
            <a:off x="6186488" y="5719763"/>
            <a:ext cx="90487" cy="90487"/>
          </a:xfrm>
          <a:prstGeom prst="ellipse">
            <a:avLst/>
          </a:prstGeom>
          <a:noFill/>
          <a:ln w="317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45" name="Text Box 105"/>
          <p:cNvSpPr txBox="1">
            <a:spLocks noChangeArrowheads="1"/>
          </p:cNvSpPr>
          <p:nvPr/>
        </p:nvSpPr>
        <p:spPr bwMode="auto">
          <a:xfrm>
            <a:off x="6300788" y="5445125"/>
            <a:ext cx="1008062" cy="396875"/>
          </a:xfrm>
          <a:prstGeom prst="rect">
            <a:avLst/>
          </a:prstGeom>
          <a:noFill/>
          <a:ln>
            <a:noFill/>
          </a:ln>
          <a:effectLst/>
        </p:spPr>
        <p:txBody>
          <a:bodyPr lIns="18000" rIns="18000">
            <a:spAutoFit/>
          </a:bodyPr>
          <a:lstStyle/>
          <a:p>
            <a:pPr eaLnBrk="1" hangingPunct="1">
              <a:spcBef>
                <a:spcPct val="50000"/>
              </a:spcBef>
              <a:defRPr/>
            </a:pPr>
            <a:r>
              <a:rPr lang="en-US" altLang="zh-CN" sz="2000" b="1" dirty="0">
                <a:effectLst>
                  <a:outerShdw blurRad="38100" dist="38100" dir="2700000" algn="tl">
                    <a:srgbClr val="000000">
                      <a:alpha val="43137"/>
                    </a:srgbClr>
                  </a:outerShdw>
                </a:effectLst>
              </a:rPr>
              <a:t>COM</a:t>
            </a:r>
          </a:p>
        </p:txBody>
      </p:sp>
      <p:grpSp>
        <p:nvGrpSpPr>
          <p:cNvPr id="10346" name="Group 106"/>
          <p:cNvGrpSpPr/>
          <p:nvPr/>
        </p:nvGrpSpPr>
        <p:grpSpPr bwMode="auto">
          <a:xfrm>
            <a:off x="4140200" y="3640138"/>
            <a:ext cx="4248150" cy="365125"/>
            <a:chOff x="0" y="0"/>
            <a:chExt cx="2676" cy="230"/>
          </a:xfrm>
        </p:grpSpPr>
        <p:sp>
          <p:nvSpPr>
            <p:cNvPr id="10264" name="Text Box 107"/>
            <p:cNvSpPr txBox="1">
              <a:spLocks noChangeArrowheads="1"/>
            </p:cNvSpPr>
            <p:nvPr/>
          </p:nvSpPr>
          <p:spPr bwMode="auto">
            <a:xfrm>
              <a:off x="2495" y="0"/>
              <a:ext cx="1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a:t>
              </a:r>
            </a:p>
          </p:txBody>
        </p:sp>
        <p:sp>
          <p:nvSpPr>
            <p:cNvPr id="10265" name="Text Box 108"/>
            <p:cNvSpPr txBox="1">
              <a:spLocks noChangeArrowheads="1"/>
            </p:cNvSpPr>
            <p:nvPr/>
          </p:nvSpPr>
          <p:spPr bwMode="auto">
            <a:xfrm>
              <a:off x="2132" y="0"/>
              <a:ext cx="1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b</a:t>
              </a:r>
            </a:p>
          </p:txBody>
        </p:sp>
        <p:sp>
          <p:nvSpPr>
            <p:cNvPr id="10266" name="Text Box 109"/>
            <p:cNvSpPr txBox="1">
              <a:spLocks noChangeArrowheads="1"/>
            </p:cNvSpPr>
            <p:nvPr/>
          </p:nvSpPr>
          <p:spPr bwMode="auto">
            <a:xfrm>
              <a:off x="1769" y="0"/>
              <a:ext cx="1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c</a:t>
              </a:r>
            </a:p>
          </p:txBody>
        </p:sp>
        <p:sp>
          <p:nvSpPr>
            <p:cNvPr id="10267" name="Text Box 110"/>
            <p:cNvSpPr txBox="1">
              <a:spLocks noChangeArrowheads="1"/>
            </p:cNvSpPr>
            <p:nvPr/>
          </p:nvSpPr>
          <p:spPr bwMode="auto">
            <a:xfrm>
              <a:off x="1406" y="0"/>
              <a:ext cx="1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d</a:t>
              </a:r>
            </a:p>
          </p:txBody>
        </p:sp>
        <p:sp>
          <p:nvSpPr>
            <p:cNvPr id="10268" name="Text Box 111"/>
            <p:cNvSpPr txBox="1">
              <a:spLocks noChangeArrowheads="1"/>
            </p:cNvSpPr>
            <p:nvPr/>
          </p:nvSpPr>
          <p:spPr bwMode="auto">
            <a:xfrm>
              <a:off x="1088" y="0"/>
              <a:ext cx="1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e</a:t>
              </a:r>
            </a:p>
          </p:txBody>
        </p:sp>
        <p:sp>
          <p:nvSpPr>
            <p:cNvPr id="10269" name="Text Box 112"/>
            <p:cNvSpPr txBox="1">
              <a:spLocks noChangeArrowheads="1"/>
            </p:cNvSpPr>
            <p:nvPr/>
          </p:nvSpPr>
          <p:spPr bwMode="auto">
            <a:xfrm>
              <a:off x="726" y="0"/>
              <a:ext cx="1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f</a:t>
              </a:r>
            </a:p>
          </p:txBody>
        </p:sp>
        <p:sp>
          <p:nvSpPr>
            <p:cNvPr id="10270" name="Text Box 113"/>
            <p:cNvSpPr txBox="1">
              <a:spLocks noChangeArrowheads="1"/>
            </p:cNvSpPr>
            <p:nvPr/>
          </p:nvSpPr>
          <p:spPr bwMode="auto">
            <a:xfrm>
              <a:off x="363" y="0"/>
              <a:ext cx="1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g</a:t>
              </a:r>
            </a:p>
          </p:txBody>
        </p:sp>
        <p:sp>
          <p:nvSpPr>
            <p:cNvPr id="10271" name="Text Box 114"/>
            <p:cNvSpPr txBox="1">
              <a:spLocks noChangeArrowheads="1"/>
            </p:cNvSpPr>
            <p:nvPr/>
          </p:nvSpPr>
          <p:spPr bwMode="auto">
            <a:xfrm>
              <a:off x="0" y="0"/>
              <a:ext cx="1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h</a:t>
              </a:r>
            </a:p>
          </p:txBody>
        </p:sp>
      </p:grpSp>
      <p:sp>
        <p:nvSpPr>
          <p:cNvPr id="10355" name="Line 115"/>
          <p:cNvSpPr>
            <a:spLocks noChangeShapeType="1"/>
          </p:cNvSpPr>
          <p:nvPr/>
        </p:nvSpPr>
        <p:spPr bwMode="auto">
          <a:xfrm>
            <a:off x="755650" y="3457575"/>
            <a:ext cx="7632700" cy="0"/>
          </a:xfrm>
          <a:prstGeom prst="line">
            <a:avLst/>
          </a:prstGeom>
          <a:noFill/>
          <a:ln w="31750">
            <a:solidFill>
              <a:srgbClr val="FF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 name="AutoShape 43"/>
          <p:cNvSpPr>
            <a:spLocks noChangeArrowheads="1"/>
          </p:cNvSpPr>
          <p:nvPr/>
        </p:nvSpPr>
        <p:spPr bwMode="auto">
          <a:xfrm>
            <a:off x="6877050" y="392113"/>
            <a:ext cx="1655763" cy="504825"/>
          </a:xfrm>
          <a:prstGeom prst="wedgeRoundRectCallout">
            <a:avLst>
              <a:gd name="adj1" fmla="val -76687"/>
              <a:gd name="adj2" fmla="val 77990"/>
              <a:gd name="adj3" fmla="val 16667"/>
            </a:avLst>
          </a:prstGeom>
          <a:solidFill>
            <a:srgbClr val="FFCC99"/>
          </a:solidFill>
          <a:ln w="19050">
            <a:solidFill>
              <a:srgbClr val="800080"/>
            </a:solidFill>
            <a:miter lim="800000"/>
          </a:ln>
          <a:effectLst/>
        </p:spPr>
        <p:txBody>
          <a:bodyPr/>
          <a:lstStyle/>
          <a:p>
            <a:pPr algn="ctr" eaLnBrk="1" hangingPunct="1">
              <a:defRPr/>
            </a:pPr>
            <a:r>
              <a:rPr lang="zh-CN" altLang="en-US" b="1" dirty="0">
                <a:effectLst>
                  <a:outerShdw blurRad="38100" dist="38100" dir="2700000" algn="tl">
                    <a:srgbClr val="000000">
                      <a:alpha val="43137"/>
                    </a:srgbClr>
                  </a:outerShdw>
                </a:effectLst>
              </a:rPr>
              <a:t>接高电平</a:t>
            </a:r>
          </a:p>
        </p:txBody>
      </p:sp>
      <p:sp>
        <p:nvSpPr>
          <p:cNvPr id="117" name="AutoShape 43"/>
          <p:cNvSpPr>
            <a:spLocks noChangeArrowheads="1"/>
          </p:cNvSpPr>
          <p:nvPr/>
        </p:nvSpPr>
        <p:spPr bwMode="auto">
          <a:xfrm>
            <a:off x="7124700" y="5716588"/>
            <a:ext cx="1655763" cy="504825"/>
          </a:xfrm>
          <a:prstGeom prst="wedgeRoundRectCallout">
            <a:avLst>
              <a:gd name="adj1" fmla="val -90716"/>
              <a:gd name="adj2" fmla="val -34139"/>
              <a:gd name="adj3" fmla="val 16667"/>
            </a:avLst>
          </a:prstGeom>
          <a:solidFill>
            <a:srgbClr val="FFCC99"/>
          </a:solidFill>
          <a:ln w="19050">
            <a:solidFill>
              <a:srgbClr val="800080"/>
            </a:solidFill>
            <a:miter lim="800000"/>
          </a:ln>
          <a:effectLst/>
        </p:spPr>
        <p:txBody>
          <a:bodyPr/>
          <a:lstStyle/>
          <a:p>
            <a:pPr algn="ctr" eaLnBrk="1" hangingPunct="1">
              <a:defRPr/>
            </a:pPr>
            <a:r>
              <a:rPr lang="zh-CN" altLang="en-US" b="1" dirty="0">
                <a:effectLst>
                  <a:outerShdw blurRad="38100" dist="38100" dir="2700000" algn="tl">
                    <a:srgbClr val="000000">
                      <a:alpha val="43137"/>
                    </a:srgbClr>
                  </a:outerShdw>
                </a:effectLst>
              </a:rPr>
              <a:t>接地</a:t>
            </a:r>
          </a:p>
        </p:txBody>
      </p:sp>
      <p:pic>
        <p:nvPicPr>
          <p:cNvPr id="1026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63" y="1749425"/>
            <a:ext cx="1314450" cy="236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wipe(up)">
                                      <p:cBhvr>
                                        <p:cTn id="7" dur="500"/>
                                        <p:tgtEl>
                                          <p:spTgt spid="1024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283"/>
                                        </p:tgtEl>
                                        <p:attrNameLst>
                                          <p:attrName>style.visibility</p:attrName>
                                        </p:attrNameLst>
                                      </p:cBhvr>
                                      <p:to>
                                        <p:strVal val="visible"/>
                                      </p:to>
                                    </p:set>
                                    <p:animEffect transition="in" filter="blinds(horizontal)">
                                      <p:cBhvr>
                                        <p:cTn id="12" dur="500"/>
                                        <p:tgtEl>
                                          <p:spTgt spid="1028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284"/>
                                        </p:tgtEl>
                                        <p:attrNameLst>
                                          <p:attrName>style.visibility</p:attrName>
                                        </p:attrNameLst>
                                      </p:cBhvr>
                                      <p:to>
                                        <p:strVal val="visible"/>
                                      </p:to>
                                    </p:set>
                                    <p:animEffect transition="in" filter="blinds(horizontal)">
                                      <p:cBhvr>
                                        <p:cTn id="17" dur="500"/>
                                        <p:tgtEl>
                                          <p:spTgt spid="1028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247"/>
                                        </p:tgtEl>
                                        <p:attrNameLst>
                                          <p:attrName>style.visibility</p:attrName>
                                        </p:attrNameLst>
                                      </p:cBhvr>
                                      <p:to>
                                        <p:strVal val="visible"/>
                                      </p:to>
                                    </p:set>
                                    <p:animEffect transition="in" filter="wipe(left)">
                                      <p:cBhvr>
                                        <p:cTn id="22" dur="500"/>
                                        <p:tgtEl>
                                          <p:spTgt spid="1024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0291"/>
                                        </p:tgtEl>
                                        <p:attrNameLst>
                                          <p:attrName>style.visibility</p:attrName>
                                        </p:attrNameLst>
                                      </p:cBhvr>
                                      <p:to>
                                        <p:strVal val="visible"/>
                                      </p:to>
                                    </p:set>
                                    <p:animEffect transition="in" filter="dissolve">
                                      <p:cBhvr>
                                        <p:cTn id="27" dur="500"/>
                                        <p:tgtEl>
                                          <p:spTgt spid="1029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285"/>
                                        </p:tgtEl>
                                        <p:attrNameLst>
                                          <p:attrName>style.visibility</p:attrName>
                                        </p:attrNameLst>
                                      </p:cBhvr>
                                      <p:to>
                                        <p:strVal val="visible"/>
                                      </p:to>
                                    </p:set>
                                    <p:animEffect transition="in" filter="wipe(left)">
                                      <p:cBhvr>
                                        <p:cTn id="32" dur="500"/>
                                        <p:tgtEl>
                                          <p:spTgt spid="10285"/>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0286"/>
                                        </p:tgtEl>
                                        <p:attrNameLst>
                                          <p:attrName>style.visibility</p:attrName>
                                        </p:attrNameLst>
                                      </p:cBhvr>
                                      <p:to>
                                        <p:strVal val="visible"/>
                                      </p:to>
                                    </p:set>
                                    <p:animEffect transition="in" filter="dissolve">
                                      <p:cBhvr>
                                        <p:cTn id="37" dur="500"/>
                                        <p:tgtEl>
                                          <p:spTgt spid="10286"/>
                                        </p:tgtEl>
                                      </p:cBhvr>
                                    </p:animEffect>
                                  </p:childTnLst>
                                </p:cTn>
                              </p:par>
                            </p:childTnLst>
                          </p:cTn>
                        </p:par>
                        <p:par>
                          <p:cTn id="38" fill="hold">
                            <p:stCondLst>
                              <p:cond delay="500"/>
                            </p:stCondLst>
                            <p:childTnLst>
                              <p:par>
                                <p:cTn id="39" presetID="9" presetClass="entr" presetSubtype="0" fill="hold" grpId="0" nodeType="afterEffect">
                                  <p:stCondLst>
                                    <p:cond delay="0"/>
                                  </p:stCondLst>
                                  <p:childTnLst>
                                    <p:set>
                                      <p:cBhvr>
                                        <p:cTn id="40" dur="1" fill="hold">
                                          <p:stCondLst>
                                            <p:cond delay="0"/>
                                          </p:stCondLst>
                                        </p:cTn>
                                        <p:tgtEl>
                                          <p:spTgt spid="10287"/>
                                        </p:tgtEl>
                                        <p:attrNameLst>
                                          <p:attrName>style.visibility</p:attrName>
                                        </p:attrNameLst>
                                      </p:cBhvr>
                                      <p:to>
                                        <p:strVal val="visible"/>
                                      </p:to>
                                    </p:set>
                                    <p:animEffect transition="in" filter="dissolve">
                                      <p:cBhvr>
                                        <p:cTn id="41" dur="500"/>
                                        <p:tgtEl>
                                          <p:spTgt spid="10287"/>
                                        </p:tgtEl>
                                      </p:cBhvr>
                                    </p:animEffect>
                                  </p:childTnLst>
                                </p:cTn>
                              </p:par>
                            </p:childTnLst>
                          </p:cTn>
                        </p:par>
                        <p:par>
                          <p:cTn id="42" fill="hold">
                            <p:stCondLst>
                              <p:cond delay="1000"/>
                            </p:stCondLst>
                            <p:childTnLst>
                              <p:par>
                                <p:cTn id="43" presetID="4" presetClass="entr" presetSubtype="16" fill="hold" grpId="0" nodeType="afterEffect">
                                  <p:stCondLst>
                                    <p:cond delay="0"/>
                                  </p:stCondLst>
                                  <p:childTnLst>
                                    <p:set>
                                      <p:cBhvr>
                                        <p:cTn id="44" dur="1" fill="hold">
                                          <p:stCondLst>
                                            <p:cond delay="0"/>
                                          </p:stCondLst>
                                        </p:cTn>
                                        <p:tgtEl>
                                          <p:spTgt spid="10288"/>
                                        </p:tgtEl>
                                        <p:attrNameLst>
                                          <p:attrName>style.visibility</p:attrName>
                                        </p:attrNameLst>
                                      </p:cBhvr>
                                      <p:to>
                                        <p:strVal val="visible"/>
                                      </p:to>
                                    </p:set>
                                    <p:animEffect transition="in" filter="box(in)">
                                      <p:cBhvr>
                                        <p:cTn id="45" dur="500"/>
                                        <p:tgtEl>
                                          <p:spTgt spid="10288"/>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16"/>
                                        </p:tgtEl>
                                        <p:attrNameLst>
                                          <p:attrName>style.visibility</p:attrName>
                                        </p:attrNameLst>
                                      </p:cBhvr>
                                      <p:to>
                                        <p:strVal val="visible"/>
                                      </p:to>
                                    </p:set>
                                    <p:animEffect transition="in" filter="blinds(horizontal)">
                                      <p:cBhvr>
                                        <p:cTn id="50" dur="500"/>
                                        <p:tgtEl>
                                          <p:spTgt spid="116"/>
                                        </p:tgtEl>
                                      </p:cBhvr>
                                    </p:animEffect>
                                  </p:childTnLst>
                                </p:cTn>
                              </p:par>
                            </p:childTnLst>
                          </p:cTn>
                        </p:par>
                      </p:childTnLst>
                    </p:cTn>
                  </p:par>
                  <p:par>
                    <p:cTn id="51" fill="hold">
                      <p:stCondLst>
                        <p:cond delay="indefinite"/>
                      </p:stCondLst>
                      <p:childTnLst>
                        <p:par>
                          <p:cTn id="52" fill="hold">
                            <p:stCondLst>
                              <p:cond delay="0"/>
                            </p:stCondLst>
                            <p:childTnLst>
                              <p:par>
                                <p:cTn id="53" presetID="5" presetClass="entr" presetSubtype="10" fill="hold" grpId="0" nodeType="clickEffect">
                                  <p:stCondLst>
                                    <p:cond delay="0"/>
                                  </p:stCondLst>
                                  <p:childTnLst>
                                    <p:set>
                                      <p:cBhvr>
                                        <p:cTn id="54" dur="1" fill="hold">
                                          <p:stCondLst>
                                            <p:cond delay="0"/>
                                          </p:stCondLst>
                                        </p:cTn>
                                        <p:tgtEl>
                                          <p:spTgt spid="10290"/>
                                        </p:tgtEl>
                                        <p:attrNameLst>
                                          <p:attrName>style.visibility</p:attrName>
                                        </p:attrNameLst>
                                      </p:cBhvr>
                                      <p:to>
                                        <p:strVal val="visible"/>
                                      </p:to>
                                    </p:set>
                                    <p:animEffect transition="in" filter="checkerboard(across)">
                                      <p:cBhvr>
                                        <p:cTn id="55" dur="500"/>
                                        <p:tgtEl>
                                          <p:spTgt spid="10290"/>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10355"/>
                                        </p:tgtEl>
                                        <p:attrNameLst>
                                          <p:attrName>style.visibility</p:attrName>
                                        </p:attrNameLst>
                                      </p:cBhvr>
                                      <p:to>
                                        <p:strVal val="visible"/>
                                      </p:to>
                                    </p:set>
                                    <p:animEffect transition="in" filter="wipe(left)">
                                      <p:cBhvr>
                                        <p:cTn id="60" dur="500"/>
                                        <p:tgtEl>
                                          <p:spTgt spid="10355"/>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10301"/>
                                        </p:tgtEl>
                                        <p:attrNameLst>
                                          <p:attrName>style.visibility</p:attrName>
                                        </p:attrNameLst>
                                      </p:cBhvr>
                                      <p:to>
                                        <p:strVal val="visible"/>
                                      </p:to>
                                    </p:set>
                                    <p:animEffect transition="in" filter="wipe(left)">
                                      <p:cBhvr>
                                        <p:cTn id="65" dur="500"/>
                                        <p:tgtEl>
                                          <p:spTgt spid="10301"/>
                                        </p:tgtEl>
                                      </p:cBhvr>
                                    </p:animEffect>
                                  </p:childTnLst>
                                </p:cTn>
                              </p:par>
                            </p:childTnLst>
                          </p:cTn>
                        </p:par>
                      </p:childTnLst>
                    </p:cTn>
                  </p:par>
                  <p:par>
                    <p:cTn id="66" fill="hold">
                      <p:stCondLst>
                        <p:cond delay="indefinite"/>
                      </p:stCondLst>
                      <p:childTnLst>
                        <p:par>
                          <p:cTn id="67" fill="hold">
                            <p:stCondLst>
                              <p:cond delay="0"/>
                            </p:stCondLst>
                            <p:childTnLst>
                              <p:par>
                                <p:cTn id="68" presetID="5" presetClass="entr" presetSubtype="10" fill="hold" nodeType="clickEffect">
                                  <p:stCondLst>
                                    <p:cond delay="0"/>
                                  </p:stCondLst>
                                  <p:childTnLst>
                                    <p:set>
                                      <p:cBhvr>
                                        <p:cTn id="69" dur="1" fill="hold">
                                          <p:stCondLst>
                                            <p:cond delay="0"/>
                                          </p:stCondLst>
                                        </p:cTn>
                                        <p:tgtEl>
                                          <p:spTgt spid="10346"/>
                                        </p:tgtEl>
                                        <p:attrNameLst>
                                          <p:attrName>style.visibility</p:attrName>
                                        </p:attrNameLst>
                                      </p:cBhvr>
                                      <p:to>
                                        <p:strVal val="visible"/>
                                      </p:to>
                                    </p:set>
                                    <p:animEffect transition="in" filter="checkerboard(across)">
                                      <p:cBhvr>
                                        <p:cTn id="70" dur="500"/>
                                        <p:tgtEl>
                                          <p:spTgt spid="10346"/>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10342"/>
                                        </p:tgtEl>
                                        <p:attrNameLst>
                                          <p:attrName>style.visibility</p:attrName>
                                        </p:attrNameLst>
                                      </p:cBhvr>
                                      <p:to>
                                        <p:strVal val="visible"/>
                                      </p:to>
                                    </p:set>
                                    <p:animEffect transition="in" filter="wipe(left)">
                                      <p:cBhvr>
                                        <p:cTn id="75" dur="500"/>
                                        <p:tgtEl>
                                          <p:spTgt spid="10342"/>
                                        </p:tgtEl>
                                      </p:cBhvr>
                                    </p:animEffect>
                                  </p:childTnLst>
                                </p:cTn>
                              </p:par>
                            </p:childTnLst>
                          </p:cTn>
                        </p:par>
                      </p:childTnLst>
                    </p:cTn>
                  </p:par>
                  <p:par>
                    <p:cTn id="76" fill="hold">
                      <p:stCondLst>
                        <p:cond delay="indefinite"/>
                      </p:stCondLst>
                      <p:childTnLst>
                        <p:par>
                          <p:cTn id="77" fill="hold">
                            <p:stCondLst>
                              <p:cond delay="0"/>
                            </p:stCondLst>
                            <p:childTnLst>
                              <p:par>
                                <p:cTn id="78" presetID="9" presetClass="entr" presetSubtype="0" fill="hold" nodeType="clickEffect">
                                  <p:stCondLst>
                                    <p:cond delay="0"/>
                                  </p:stCondLst>
                                  <p:childTnLst>
                                    <p:set>
                                      <p:cBhvr>
                                        <p:cTn id="79" dur="1" fill="hold">
                                          <p:stCondLst>
                                            <p:cond delay="0"/>
                                          </p:stCondLst>
                                        </p:cTn>
                                        <p:tgtEl>
                                          <p:spTgt spid="10343"/>
                                        </p:tgtEl>
                                        <p:attrNameLst>
                                          <p:attrName>style.visibility</p:attrName>
                                        </p:attrNameLst>
                                      </p:cBhvr>
                                      <p:to>
                                        <p:strVal val="visible"/>
                                      </p:to>
                                    </p:set>
                                    <p:animEffect transition="in" filter="dissolve">
                                      <p:cBhvr>
                                        <p:cTn id="80" dur="500"/>
                                        <p:tgtEl>
                                          <p:spTgt spid="10343"/>
                                        </p:tgtEl>
                                      </p:cBhvr>
                                    </p:animEffect>
                                  </p:childTnLst>
                                </p:cTn>
                              </p:par>
                            </p:childTnLst>
                          </p:cTn>
                        </p:par>
                        <p:par>
                          <p:cTn id="81" fill="hold">
                            <p:stCondLst>
                              <p:cond delay="500"/>
                            </p:stCondLst>
                            <p:childTnLst>
                              <p:par>
                                <p:cTn id="82" presetID="9" presetClass="entr" presetSubtype="0" fill="hold" grpId="0" nodeType="afterEffect">
                                  <p:stCondLst>
                                    <p:cond delay="0"/>
                                  </p:stCondLst>
                                  <p:childTnLst>
                                    <p:set>
                                      <p:cBhvr>
                                        <p:cTn id="83" dur="1" fill="hold">
                                          <p:stCondLst>
                                            <p:cond delay="0"/>
                                          </p:stCondLst>
                                        </p:cTn>
                                        <p:tgtEl>
                                          <p:spTgt spid="10344"/>
                                        </p:tgtEl>
                                        <p:attrNameLst>
                                          <p:attrName>style.visibility</p:attrName>
                                        </p:attrNameLst>
                                      </p:cBhvr>
                                      <p:to>
                                        <p:strVal val="visible"/>
                                      </p:to>
                                    </p:set>
                                    <p:animEffect transition="in" filter="dissolve">
                                      <p:cBhvr>
                                        <p:cTn id="84" dur="500"/>
                                        <p:tgtEl>
                                          <p:spTgt spid="10344"/>
                                        </p:tgtEl>
                                      </p:cBhvr>
                                    </p:animEffect>
                                  </p:childTnLst>
                                </p:cTn>
                              </p:par>
                            </p:childTnLst>
                          </p:cTn>
                        </p:par>
                        <p:par>
                          <p:cTn id="85" fill="hold">
                            <p:stCondLst>
                              <p:cond delay="1000"/>
                            </p:stCondLst>
                            <p:childTnLst>
                              <p:par>
                                <p:cTn id="86" presetID="4" presetClass="entr" presetSubtype="16" fill="hold" grpId="0" nodeType="afterEffect">
                                  <p:stCondLst>
                                    <p:cond delay="0"/>
                                  </p:stCondLst>
                                  <p:childTnLst>
                                    <p:set>
                                      <p:cBhvr>
                                        <p:cTn id="87" dur="1" fill="hold">
                                          <p:stCondLst>
                                            <p:cond delay="0"/>
                                          </p:stCondLst>
                                        </p:cTn>
                                        <p:tgtEl>
                                          <p:spTgt spid="10345"/>
                                        </p:tgtEl>
                                        <p:attrNameLst>
                                          <p:attrName>style.visibility</p:attrName>
                                        </p:attrNameLst>
                                      </p:cBhvr>
                                      <p:to>
                                        <p:strVal val="visible"/>
                                      </p:to>
                                    </p:set>
                                    <p:animEffect transition="in" filter="box(in)">
                                      <p:cBhvr>
                                        <p:cTn id="88" dur="500"/>
                                        <p:tgtEl>
                                          <p:spTgt spid="10345"/>
                                        </p:tgtEl>
                                      </p:cBhvr>
                                    </p:animEffect>
                                  </p:childTnLst>
                                </p:cTn>
                              </p:par>
                            </p:childTnLst>
                          </p:cTn>
                        </p:par>
                      </p:childTnLst>
                    </p:cTn>
                  </p:par>
                  <p:par>
                    <p:cTn id="89" fill="hold">
                      <p:stCondLst>
                        <p:cond delay="indefinite"/>
                      </p:stCondLst>
                      <p:childTnLst>
                        <p:par>
                          <p:cTn id="90" fill="hold">
                            <p:stCondLst>
                              <p:cond delay="0"/>
                            </p:stCondLst>
                            <p:childTnLst>
                              <p:par>
                                <p:cTn id="91" presetID="3" presetClass="entr" presetSubtype="10" fill="hold" grpId="0" nodeType="clickEffect">
                                  <p:stCondLst>
                                    <p:cond delay="0"/>
                                  </p:stCondLst>
                                  <p:childTnLst>
                                    <p:set>
                                      <p:cBhvr>
                                        <p:cTn id="92" dur="1" fill="hold">
                                          <p:stCondLst>
                                            <p:cond delay="0"/>
                                          </p:stCondLst>
                                        </p:cTn>
                                        <p:tgtEl>
                                          <p:spTgt spid="117"/>
                                        </p:tgtEl>
                                        <p:attrNameLst>
                                          <p:attrName>style.visibility</p:attrName>
                                        </p:attrNameLst>
                                      </p:cBhvr>
                                      <p:to>
                                        <p:strVal val="visible"/>
                                      </p:to>
                                    </p:set>
                                    <p:animEffect transition="in" filter="blinds(horizontal)">
                                      <p:cBhvr>
                                        <p:cTn id="93" dur="500"/>
                                        <p:tgtEl>
                                          <p:spTgt spid="117"/>
                                        </p:tgtEl>
                                      </p:cBhvr>
                                    </p:animEffect>
                                  </p:childTnLst>
                                </p:cTn>
                              </p:par>
                            </p:childTnLst>
                          </p:cTn>
                        </p:par>
                      </p:childTnLst>
                    </p:cTn>
                  </p:par>
                  <p:par>
                    <p:cTn id="94" fill="hold">
                      <p:stCondLst>
                        <p:cond delay="indefinite"/>
                      </p:stCondLst>
                      <p:childTnLst>
                        <p:par>
                          <p:cTn id="95" fill="hold">
                            <p:stCondLst>
                              <p:cond delay="0"/>
                            </p:stCondLst>
                            <p:childTnLst>
                              <p:par>
                                <p:cTn id="96" presetID="5" presetClass="entr" presetSubtype="10" fill="hold" grpId="0" nodeType="clickEffect">
                                  <p:stCondLst>
                                    <p:cond delay="0"/>
                                  </p:stCondLst>
                                  <p:childTnLst>
                                    <p:set>
                                      <p:cBhvr>
                                        <p:cTn id="97" dur="1" fill="hold">
                                          <p:stCondLst>
                                            <p:cond delay="0"/>
                                          </p:stCondLst>
                                        </p:cTn>
                                        <p:tgtEl>
                                          <p:spTgt spid="10300"/>
                                        </p:tgtEl>
                                        <p:attrNameLst>
                                          <p:attrName>style.visibility</p:attrName>
                                        </p:attrNameLst>
                                      </p:cBhvr>
                                      <p:to>
                                        <p:strVal val="visible"/>
                                      </p:to>
                                    </p:set>
                                    <p:animEffect transition="in" filter="checkerboard(across)">
                                      <p:cBhvr>
                                        <p:cTn id="98" dur="500"/>
                                        <p:tgtEl>
                                          <p:spTgt spid="103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83" grpId="0" animBg="1" autoUpdateAnimBg="0"/>
      <p:bldP spid="10284" grpId="0" animBg="1" autoUpdateAnimBg="0"/>
      <p:bldP spid="10287" grpId="0" animBg="1"/>
      <p:bldP spid="10288" grpId="0" autoUpdateAnimBg="0"/>
      <p:bldP spid="10290" grpId="0" autoUpdateAnimBg="0"/>
      <p:bldP spid="10300" grpId="0" autoUpdateAnimBg="0"/>
      <p:bldP spid="10344" grpId="0" animBg="1"/>
      <p:bldP spid="10345" grpId="0" autoUpdateAnimBg="0"/>
      <p:bldP spid="116" grpId="0" animBg="1" autoUpdateAnimBg="0"/>
      <p:bldP spid="117" grpId="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684213" y="165565"/>
            <a:ext cx="3887787" cy="579438"/>
          </a:xfrm>
          <a:prstGeom prst="rect">
            <a:avLst/>
          </a:prstGeom>
          <a:noFill/>
          <a:ln>
            <a:noFill/>
          </a:ln>
          <a:effec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3200" b="1" dirty="0">
                <a:solidFill>
                  <a:srgbClr val="0000FF"/>
                </a:solidFill>
                <a:effectLst>
                  <a:outerShdw blurRad="38100" dist="38100" dir="2700000" algn="tl">
                    <a:srgbClr val="C0C0C0"/>
                  </a:outerShdw>
                </a:effectLst>
                <a:latin typeface="楷体_GB2312" pitchFamily="49" charset="-122"/>
                <a:ea typeface="楷体_GB2312" pitchFamily="49" charset="-122"/>
              </a:rPr>
              <a:t>三、</a:t>
            </a:r>
            <a:r>
              <a:rPr lang="en-US" altLang="zh-CN" sz="3200" b="1" dirty="0">
                <a:solidFill>
                  <a:srgbClr val="0000FF"/>
                </a:solidFill>
                <a:effectLst>
                  <a:outerShdw blurRad="38100" dist="38100" dir="2700000" algn="tl">
                    <a:srgbClr val="C0C0C0"/>
                  </a:outerShdw>
                </a:effectLst>
                <a:latin typeface="楷体_GB2312" pitchFamily="49" charset="-122"/>
                <a:ea typeface="楷体_GB2312" pitchFamily="49" charset="-122"/>
              </a:rPr>
              <a:t>LED</a:t>
            </a:r>
            <a:r>
              <a:rPr lang="zh-CN" altLang="en-US" sz="3200" b="1" dirty="0">
                <a:solidFill>
                  <a:srgbClr val="0000FF"/>
                </a:solidFill>
                <a:effectLst>
                  <a:outerShdw blurRad="38100" dist="38100" dir="2700000" algn="tl">
                    <a:srgbClr val="C0C0C0"/>
                  </a:outerShdw>
                </a:effectLst>
                <a:latin typeface="楷体_GB2312" pitchFamily="49" charset="-122"/>
                <a:ea typeface="楷体_GB2312" pitchFamily="49" charset="-122"/>
              </a:rPr>
              <a:t>显示原理</a:t>
            </a:r>
          </a:p>
        </p:txBody>
      </p:sp>
      <p:sp>
        <p:nvSpPr>
          <p:cNvPr id="11267" name="Text Box 3"/>
          <p:cNvSpPr txBox="1">
            <a:spLocks noChangeArrowheads="1"/>
          </p:cNvSpPr>
          <p:nvPr/>
        </p:nvSpPr>
        <p:spPr bwMode="auto">
          <a:xfrm>
            <a:off x="468313" y="1196975"/>
            <a:ext cx="22320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b="1"/>
              <a:t>（</a:t>
            </a:r>
            <a:r>
              <a:rPr lang="en-US" altLang="zh-CN" sz="2800" b="1"/>
              <a:t>1</a:t>
            </a:r>
            <a:r>
              <a:rPr lang="zh-CN" altLang="en-US" sz="2800" b="1"/>
              <a:t>）共阳极</a:t>
            </a:r>
          </a:p>
        </p:txBody>
      </p:sp>
      <p:sp>
        <p:nvSpPr>
          <p:cNvPr id="11268" name="Text Box 4"/>
          <p:cNvSpPr txBox="1">
            <a:spLocks noChangeArrowheads="1"/>
          </p:cNvSpPr>
          <p:nvPr/>
        </p:nvSpPr>
        <p:spPr bwMode="auto">
          <a:xfrm>
            <a:off x="468313" y="3213100"/>
            <a:ext cx="22320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b="1"/>
              <a:t>（</a:t>
            </a:r>
            <a:r>
              <a:rPr lang="en-US" altLang="zh-CN" sz="2800" b="1"/>
              <a:t>2</a:t>
            </a:r>
            <a:r>
              <a:rPr lang="zh-CN" altLang="en-US" sz="2800" b="1"/>
              <a:t>）共阴极</a:t>
            </a:r>
          </a:p>
        </p:txBody>
      </p:sp>
      <p:grpSp>
        <p:nvGrpSpPr>
          <p:cNvPr id="11269" name="Group 5"/>
          <p:cNvGrpSpPr/>
          <p:nvPr/>
        </p:nvGrpSpPr>
        <p:grpSpPr bwMode="auto">
          <a:xfrm>
            <a:off x="3995738" y="0"/>
            <a:ext cx="4333875" cy="2597150"/>
            <a:chOff x="0" y="0"/>
            <a:chExt cx="2730" cy="1636"/>
          </a:xfrm>
        </p:grpSpPr>
        <p:grpSp>
          <p:nvGrpSpPr>
            <p:cNvPr id="11327" name="Group 6"/>
            <p:cNvGrpSpPr/>
            <p:nvPr/>
          </p:nvGrpSpPr>
          <p:grpSpPr bwMode="auto">
            <a:xfrm>
              <a:off x="0" y="635"/>
              <a:ext cx="227" cy="690"/>
              <a:chOff x="0" y="0"/>
              <a:chExt cx="318" cy="871"/>
            </a:xfrm>
          </p:grpSpPr>
          <p:sp>
            <p:nvSpPr>
              <p:cNvPr id="11375" name="AutoShape 7"/>
              <p:cNvSpPr>
                <a:spLocks noChangeArrowheads="1"/>
              </p:cNvSpPr>
              <p:nvPr/>
            </p:nvSpPr>
            <p:spPr bwMode="auto">
              <a:xfrm>
                <a:off x="0" y="272"/>
                <a:ext cx="318" cy="318"/>
              </a:xfrm>
              <a:prstGeom prst="flowChartMerge">
                <a:avLst/>
              </a:prstGeom>
              <a:solidFill>
                <a:schemeClr val="accent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 name="Line 8"/>
              <p:cNvSpPr>
                <a:spLocks noChangeShapeType="1"/>
              </p:cNvSpPr>
              <p:nvPr/>
            </p:nvSpPr>
            <p:spPr bwMode="auto">
              <a:xfrm>
                <a:off x="0" y="599"/>
                <a:ext cx="31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 name="Line 9"/>
              <p:cNvSpPr>
                <a:spLocks noChangeShapeType="1"/>
              </p:cNvSpPr>
              <p:nvPr/>
            </p:nvSpPr>
            <p:spPr bwMode="auto">
              <a:xfrm>
                <a:off x="159" y="0"/>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 name="Line 10"/>
              <p:cNvSpPr>
                <a:spLocks noChangeShapeType="1"/>
              </p:cNvSpPr>
              <p:nvPr/>
            </p:nvSpPr>
            <p:spPr bwMode="auto">
              <a:xfrm>
                <a:off x="159" y="599"/>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1328" name="Group 11"/>
            <p:cNvGrpSpPr/>
            <p:nvPr/>
          </p:nvGrpSpPr>
          <p:grpSpPr bwMode="auto">
            <a:xfrm>
              <a:off x="363" y="635"/>
              <a:ext cx="227" cy="690"/>
              <a:chOff x="0" y="0"/>
              <a:chExt cx="318" cy="871"/>
            </a:xfrm>
          </p:grpSpPr>
          <p:sp>
            <p:nvSpPr>
              <p:cNvPr id="11371" name="AutoShape 12"/>
              <p:cNvSpPr>
                <a:spLocks noChangeArrowheads="1"/>
              </p:cNvSpPr>
              <p:nvPr/>
            </p:nvSpPr>
            <p:spPr bwMode="auto">
              <a:xfrm>
                <a:off x="0" y="272"/>
                <a:ext cx="318" cy="318"/>
              </a:xfrm>
              <a:prstGeom prst="flowChartMerge">
                <a:avLst/>
              </a:prstGeom>
              <a:solidFill>
                <a:schemeClr val="accent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1372" name="Line 13"/>
              <p:cNvSpPr>
                <a:spLocks noChangeShapeType="1"/>
              </p:cNvSpPr>
              <p:nvPr/>
            </p:nvSpPr>
            <p:spPr bwMode="auto">
              <a:xfrm>
                <a:off x="0" y="599"/>
                <a:ext cx="31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73" name="Line 14"/>
              <p:cNvSpPr>
                <a:spLocks noChangeShapeType="1"/>
              </p:cNvSpPr>
              <p:nvPr/>
            </p:nvSpPr>
            <p:spPr bwMode="auto">
              <a:xfrm>
                <a:off x="159" y="0"/>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74" name="Line 15"/>
              <p:cNvSpPr>
                <a:spLocks noChangeShapeType="1"/>
              </p:cNvSpPr>
              <p:nvPr/>
            </p:nvSpPr>
            <p:spPr bwMode="auto">
              <a:xfrm>
                <a:off x="159" y="599"/>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1329" name="Group 16"/>
            <p:cNvGrpSpPr/>
            <p:nvPr/>
          </p:nvGrpSpPr>
          <p:grpSpPr bwMode="auto">
            <a:xfrm>
              <a:off x="717" y="635"/>
              <a:ext cx="227" cy="690"/>
              <a:chOff x="0" y="0"/>
              <a:chExt cx="318" cy="871"/>
            </a:xfrm>
          </p:grpSpPr>
          <p:sp>
            <p:nvSpPr>
              <p:cNvPr id="11367" name="AutoShape 17"/>
              <p:cNvSpPr>
                <a:spLocks noChangeArrowheads="1"/>
              </p:cNvSpPr>
              <p:nvPr/>
            </p:nvSpPr>
            <p:spPr bwMode="auto">
              <a:xfrm>
                <a:off x="0" y="272"/>
                <a:ext cx="318" cy="318"/>
              </a:xfrm>
              <a:prstGeom prst="flowChartMerge">
                <a:avLst/>
              </a:prstGeom>
              <a:solidFill>
                <a:schemeClr val="accent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1368" name="Line 18"/>
              <p:cNvSpPr>
                <a:spLocks noChangeShapeType="1"/>
              </p:cNvSpPr>
              <p:nvPr/>
            </p:nvSpPr>
            <p:spPr bwMode="auto">
              <a:xfrm>
                <a:off x="0" y="599"/>
                <a:ext cx="31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69" name="Line 19"/>
              <p:cNvSpPr>
                <a:spLocks noChangeShapeType="1"/>
              </p:cNvSpPr>
              <p:nvPr/>
            </p:nvSpPr>
            <p:spPr bwMode="auto">
              <a:xfrm>
                <a:off x="159" y="0"/>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70" name="Line 20"/>
              <p:cNvSpPr>
                <a:spLocks noChangeShapeType="1"/>
              </p:cNvSpPr>
              <p:nvPr/>
            </p:nvSpPr>
            <p:spPr bwMode="auto">
              <a:xfrm>
                <a:off x="159" y="599"/>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1330" name="Group 21"/>
            <p:cNvGrpSpPr/>
            <p:nvPr/>
          </p:nvGrpSpPr>
          <p:grpSpPr bwMode="auto">
            <a:xfrm>
              <a:off x="1071" y="635"/>
              <a:ext cx="227" cy="690"/>
              <a:chOff x="0" y="0"/>
              <a:chExt cx="318" cy="871"/>
            </a:xfrm>
          </p:grpSpPr>
          <p:sp>
            <p:nvSpPr>
              <p:cNvPr id="11363" name="AutoShape 22"/>
              <p:cNvSpPr>
                <a:spLocks noChangeArrowheads="1"/>
              </p:cNvSpPr>
              <p:nvPr/>
            </p:nvSpPr>
            <p:spPr bwMode="auto">
              <a:xfrm>
                <a:off x="0" y="272"/>
                <a:ext cx="318" cy="318"/>
              </a:xfrm>
              <a:prstGeom prst="flowChartMerge">
                <a:avLst/>
              </a:prstGeom>
              <a:solidFill>
                <a:schemeClr val="accent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1364" name="Line 23"/>
              <p:cNvSpPr>
                <a:spLocks noChangeShapeType="1"/>
              </p:cNvSpPr>
              <p:nvPr/>
            </p:nvSpPr>
            <p:spPr bwMode="auto">
              <a:xfrm>
                <a:off x="0" y="599"/>
                <a:ext cx="31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65" name="Line 24"/>
              <p:cNvSpPr>
                <a:spLocks noChangeShapeType="1"/>
              </p:cNvSpPr>
              <p:nvPr/>
            </p:nvSpPr>
            <p:spPr bwMode="auto">
              <a:xfrm>
                <a:off x="159" y="0"/>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66" name="Line 25"/>
              <p:cNvSpPr>
                <a:spLocks noChangeShapeType="1"/>
              </p:cNvSpPr>
              <p:nvPr/>
            </p:nvSpPr>
            <p:spPr bwMode="auto">
              <a:xfrm>
                <a:off x="159" y="599"/>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1331" name="Group 26"/>
            <p:cNvGrpSpPr/>
            <p:nvPr/>
          </p:nvGrpSpPr>
          <p:grpSpPr bwMode="auto">
            <a:xfrm>
              <a:off x="1415" y="635"/>
              <a:ext cx="227" cy="690"/>
              <a:chOff x="0" y="0"/>
              <a:chExt cx="318" cy="871"/>
            </a:xfrm>
          </p:grpSpPr>
          <p:sp>
            <p:nvSpPr>
              <p:cNvPr id="11359" name="AutoShape 27"/>
              <p:cNvSpPr>
                <a:spLocks noChangeArrowheads="1"/>
              </p:cNvSpPr>
              <p:nvPr/>
            </p:nvSpPr>
            <p:spPr bwMode="auto">
              <a:xfrm>
                <a:off x="0" y="272"/>
                <a:ext cx="318" cy="318"/>
              </a:xfrm>
              <a:prstGeom prst="flowChartMerge">
                <a:avLst/>
              </a:prstGeom>
              <a:solidFill>
                <a:schemeClr val="accent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1360" name="Line 28"/>
              <p:cNvSpPr>
                <a:spLocks noChangeShapeType="1"/>
              </p:cNvSpPr>
              <p:nvPr/>
            </p:nvSpPr>
            <p:spPr bwMode="auto">
              <a:xfrm>
                <a:off x="0" y="599"/>
                <a:ext cx="31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61" name="Line 29"/>
              <p:cNvSpPr>
                <a:spLocks noChangeShapeType="1"/>
              </p:cNvSpPr>
              <p:nvPr/>
            </p:nvSpPr>
            <p:spPr bwMode="auto">
              <a:xfrm>
                <a:off x="159" y="0"/>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62" name="Line 30"/>
              <p:cNvSpPr>
                <a:spLocks noChangeShapeType="1"/>
              </p:cNvSpPr>
              <p:nvPr/>
            </p:nvSpPr>
            <p:spPr bwMode="auto">
              <a:xfrm>
                <a:off x="159" y="599"/>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1332" name="Group 31"/>
            <p:cNvGrpSpPr/>
            <p:nvPr/>
          </p:nvGrpSpPr>
          <p:grpSpPr bwMode="auto">
            <a:xfrm>
              <a:off x="1778" y="635"/>
              <a:ext cx="227" cy="690"/>
              <a:chOff x="0" y="0"/>
              <a:chExt cx="318" cy="871"/>
            </a:xfrm>
          </p:grpSpPr>
          <p:sp>
            <p:nvSpPr>
              <p:cNvPr id="11355" name="AutoShape 32"/>
              <p:cNvSpPr>
                <a:spLocks noChangeArrowheads="1"/>
              </p:cNvSpPr>
              <p:nvPr/>
            </p:nvSpPr>
            <p:spPr bwMode="auto">
              <a:xfrm>
                <a:off x="0" y="272"/>
                <a:ext cx="318" cy="318"/>
              </a:xfrm>
              <a:prstGeom prst="flowChartMerge">
                <a:avLst/>
              </a:prstGeom>
              <a:solidFill>
                <a:schemeClr val="accent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1356" name="Line 33"/>
              <p:cNvSpPr>
                <a:spLocks noChangeShapeType="1"/>
              </p:cNvSpPr>
              <p:nvPr/>
            </p:nvSpPr>
            <p:spPr bwMode="auto">
              <a:xfrm>
                <a:off x="0" y="599"/>
                <a:ext cx="31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57" name="Line 34"/>
              <p:cNvSpPr>
                <a:spLocks noChangeShapeType="1"/>
              </p:cNvSpPr>
              <p:nvPr/>
            </p:nvSpPr>
            <p:spPr bwMode="auto">
              <a:xfrm>
                <a:off x="159" y="0"/>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58" name="Line 35"/>
              <p:cNvSpPr>
                <a:spLocks noChangeShapeType="1"/>
              </p:cNvSpPr>
              <p:nvPr/>
            </p:nvSpPr>
            <p:spPr bwMode="auto">
              <a:xfrm>
                <a:off x="159" y="599"/>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1333" name="Group 36"/>
            <p:cNvGrpSpPr/>
            <p:nvPr/>
          </p:nvGrpSpPr>
          <p:grpSpPr bwMode="auto">
            <a:xfrm>
              <a:off x="2123" y="635"/>
              <a:ext cx="227" cy="690"/>
              <a:chOff x="0" y="0"/>
              <a:chExt cx="318" cy="871"/>
            </a:xfrm>
          </p:grpSpPr>
          <p:sp>
            <p:nvSpPr>
              <p:cNvPr id="11351" name="AutoShape 37"/>
              <p:cNvSpPr>
                <a:spLocks noChangeArrowheads="1"/>
              </p:cNvSpPr>
              <p:nvPr/>
            </p:nvSpPr>
            <p:spPr bwMode="auto">
              <a:xfrm>
                <a:off x="0" y="272"/>
                <a:ext cx="318" cy="318"/>
              </a:xfrm>
              <a:prstGeom prst="flowChartMerge">
                <a:avLst/>
              </a:prstGeom>
              <a:solidFill>
                <a:schemeClr val="accent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1352" name="Line 38"/>
              <p:cNvSpPr>
                <a:spLocks noChangeShapeType="1"/>
              </p:cNvSpPr>
              <p:nvPr/>
            </p:nvSpPr>
            <p:spPr bwMode="auto">
              <a:xfrm>
                <a:off x="0" y="599"/>
                <a:ext cx="31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53" name="Line 39"/>
              <p:cNvSpPr>
                <a:spLocks noChangeShapeType="1"/>
              </p:cNvSpPr>
              <p:nvPr/>
            </p:nvSpPr>
            <p:spPr bwMode="auto">
              <a:xfrm>
                <a:off x="159" y="0"/>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54" name="Line 40"/>
              <p:cNvSpPr>
                <a:spLocks noChangeShapeType="1"/>
              </p:cNvSpPr>
              <p:nvPr/>
            </p:nvSpPr>
            <p:spPr bwMode="auto">
              <a:xfrm>
                <a:off x="159" y="599"/>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1334" name="Group 41"/>
            <p:cNvGrpSpPr/>
            <p:nvPr/>
          </p:nvGrpSpPr>
          <p:grpSpPr bwMode="auto">
            <a:xfrm>
              <a:off x="2485" y="635"/>
              <a:ext cx="227" cy="690"/>
              <a:chOff x="0" y="0"/>
              <a:chExt cx="318" cy="871"/>
            </a:xfrm>
          </p:grpSpPr>
          <p:sp>
            <p:nvSpPr>
              <p:cNvPr id="11347" name="AutoShape 42"/>
              <p:cNvSpPr>
                <a:spLocks noChangeArrowheads="1"/>
              </p:cNvSpPr>
              <p:nvPr/>
            </p:nvSpPr>
            <p:spPr bwMode="auto">
              <a:xfrm>
                <a:off x="0" y="272"/>
                <a:ext cx="318" cy="318"/>
              </a:xfrm>
              <a:prstGeom prst="flowChartMerge">
                <a:avLst/>
              </a:prstGeom>
              <a:solidFill>
                <a:schemeClr val="accent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1348" name="Line 43"/>
              <p:cNvSpPr>
                <a:spLocks noChangeShapeType="1"/>
              </p:cNvSpPr>
              <p:nvPr/>
            </p:nvSpPr>
            <p:spPr bwMode="auto">
              <a:xfrm>
                <a:off x="0" y="599"/>
                <a:ext cx="31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49" name="Line 44"/>
              <p:cNvSpPr>
                <a:spLocks noChangeShapeType="1"/>
              </p:cNvSpPr>
              <p:nvPr/>
            </p:nvSpPr>
            <p:spPr bwMode="auto">
              <a:xfrm>
                <a:off x="159" y="0"/>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50" name="Line 45"/>
              <p:cNvSpPr>
                <a:spLocks noChangeShapeType="1"/>
              </p:cNvSpPr>
              <p:nvPr/>
            </p:nvSpPr>
            <p:spPr bwMode="auto">
              <a:xfrm>
                <a:off x="159" y="599"/>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335" name="Line 46"/>
            <p:cNvSpPr>
              <a:spLocks noChangeShapeType="1"/>
            </p:cNvSpPr>
            <p:nvPr/>
          </p:nvSpPr>
          <p:spPr bwMode="auto">
            <a:xfrm>
              <a:off x="109" y="635"/>
              <a:ext cx="2495" cy="0"/>
            </a:xfrm>
            <a:prstGeom prst="line">
              <a:avLst/>
            </a:prstGeom>
            <a:noFill/>
            <a:ln w="317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36" name="Line 47"/>
            <p:cNvSpPr>
              <a:spLocks noChangeShapeType="1"/>
            </p:cNvSpPr>
            <p:nvPr/>
          </p:nvSpPr>
          <p:spPr bwMode="auto">
            <a:xfrm flipV="1">
              <a:off x="1406" y="272"/>
              <a:ext cx="0" cy="363"/>
            </a:xfrm>
            <a:prstGeom prst="line">
              <a:avLst/>
            </a:prstGeom>
            <a:noFill/>
            <a:ln w="317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37" name="Oval 48"/>
            <p:cNvSpPr>
              <a:spLocks noChangeAspect="1" noChangeArrowheads="1"/>
            </p:cNvSpPr>
            <p:nvPr/>
          </p:nvSpPr>
          <p:spPr bwMode="auto">
            <a:xfrm>
              <a:off x="1379" y="208"/>
              <a:ext cx="57" cy="57"/>
            </a:xfrm>
            <a:prstGeom prst="ellipse">
              <a:avLst/>
            </a:prstGeom>
            <a:noFill/>
            <a:ln w="317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1338" name="Text Box 49"/>
            <p:cNvSpPr txBox="1">
              <a:spLocks noChangeArrowheads="1"/>
            </p:cNvSpPr>
            <p:nvPr/>
          </p:nvSpPr>
          <p:spPr bwMode="auto">
            <a:xfrm>
              <a:off x="1206" y="0"/>
              <a:ext cx="63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dirty="0"/>
                <a:t>COM</a:t>
              </a:r>
            </a:p>
          </p:txBody>
        </p:sp>
        <p:sp>
          <p:nvSpPr>
            <p:cNvPr id="11339" name="Text Box 50"/>
            <p:cNvSpPr txBox="1">
              <a:spLocks noChangeArrowheads="1"/>
            </p:cNvSpPr>
            <p:nvPr/>
          </p:nvSpPr>
          <p:spPr bwMode="auto">
            <a:xfrm>
              <a:off x="2549" y="1406"/>
              <a:ext cx="1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a:t>
              </a:r>
            </a:p>
          </p:txBody>
        </p:sp>
        <p:sp>
          <p:nvSpPr>
            <p:cNvPr id="11340" name="Text Box 51"/>
            <p:cNvSpPr txBox="1">
              <a:spLocks noChangeArrowheads="1"/>
            </p:cNvSpPr>
            <p:nvPr/>
          </p:nvSpPr>
          <p:spPr bwMode="auto">
            <a:xfrm>
              <a:off x="2186" y="1406"/>
              <a:ext cx="1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b</a:t>
              </a:r>
            </a:p>
          </p:txBody>
        </p:sp>
        <p:sp>
          <p:nvSpPr>
            <p:cNvPr id="11341" name="Text Box 52"/>
            <p:cNvSpPr txBox="1">
              <a:spLocks noChangeArrowheads="1"/>
            </p:cNvSpPr>
            <p:nvPr/>
          </p:nvSpPr>
          <p:spPr bwMode="auto">
            <a:xfrm>
              <a:off x="1823" y="1406"/>
              <a:ext cx="1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c</a:t>
              </a:r>
            </a:p>
          </p:txBody>
        </p:sp>
        <p:sp>
          <p:nvSpPr>
            <p:cNvPr id="11342" name="Text Box 53"/>
            <p:cNvSpPr txBox="1">
              <a:spLocks noChangeArrowheads="1"/>
            </p:cNvSpPr>
            <p:nvPr/>
          </p:nvSpPr>
          <p:spPr bwMode="auto">
            <a:xfrm>
              <a:off x="1460" y="1406"/>
              <a:ext cx="1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d</a:t>
              </a:r>
            </a:p>
          </p:txBody>
        </p:sp>
        <p:sp>
          <p:nvSpPr>
            <p:cNvPr id="11343" name="Text Box 54"/>
            <p:cNvSpPr txBox="1">
              <a:spLocks noChangeArrowheads="1"/>
            </p:cNvSpPr>
            <p:nvPr/>
          </p:nvSpPr>
          <p:spPr bwMode="auto">
            <a:xfrm>
              <a:off x="1142" y="1406"/>
              <a:ext cx="1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e</a:t>
              </a:r>
            </a:p>
          </p:txBody>
        </p:sp>
        <p:sp>
          <p:nvSpPr>
            <p:cNvPr id="11344" name="Text Box 55"/>
            <p:cNvSpPr txBox="1">
              <a:spLocks noChangeArrowheads="1"/>
            </p:cNvSpPr>
            <p:nvPr/>
          </p:nvSpPr>
          <p:spPr bwMode="auto">
            <a:xfrm>
              <a:off x="780" y="1406"/>
              <a:ext cx="1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f</a:t>
              </a:r>
            </a:p>
          </p:txBody>
        </p:sp>
        <p:sp>
          <p:nvSpPr>
            <p:cNvPr id="11345" name="Text Box 56"/>
            <p:cNvSpPr txBox="1">
              <a:spLocks noChangeArrowheads="1"/>
            </p:cNvSpPr>
            <p:nvPr/>
          </p:nvSpPr>
          <p:spPr bwMode="auto">
            <a:xfrm>
              <a:off x="417" y="1406"/>
              <a:ext cx="1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g</a:t>
              </a:r>
            </a:p>
          </p:txBody>
        </p:sp>
        <p:sp>
          <p:nvSpPr>
            <p:cNvPr id="11346" name="Text Box 57"/>
            <p:cNvSpPr txBox="1">
              <a:spLocks noChangeArrowheads="1"/>
            </p:cNvSpPr>
            <p:nvPr/>
          </p:nvSpPr>
          <p:spPr bwMode="auto">
            <a:xfrm>
              <a:off x="54" y="1406"/>
              <a:ext cx="1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h</a:t>
              </a:r>
            </a:p>
          </p:txBody>
        </p:sp>
      </p:grpSp>
      <p:sp>
        <p:nvSpPr>
          <p:cNvPr id="11322" name="Text Box 58"/>
          <p:cNvSpPr txBox="1">
            <a:spLocks noChangeArrowheads="1"/>
          </p:cNvSpPr>
          <p:nvPr/>
        </p:nvSpPr>
        <p:spPr bwMode="auto">
          <a:xfrm>
            <a:off x="684213" y="2636838"/>
            <a:ext cx="8135937" cy="519112"/>
          </a:xfrm>
          <a:prstGeom prst="rect">
            <a:avLst/>
          </a:prstGeom>
          <a:solidFill>
            <a:srgbClr val="FFCC99"/>
          </a:solidFill>
          <a:ln>
            <a:noFill/>
          </a:ln>
          <a:effectLst/>
        </p:spPr>
        <p:txBody>
          <a:bodyPr lIns="18000" rIns="18000">
            <a:spAutoFit/>
          </a:bodyPr>
          <a:lstStyle/>
          <a:p>
            <a:pPr eaLnBrk="1" hangingPunct="1">
              <a:spcBef>
                <a:spcPct val="50000"/>
              </a:spcBef>
              <a:defRPr/>
            </a:pPr>
            <a:r>
              <a:rPr lang="zh-CN" altLang="en-US" sz="2800" b="1">
                <a:effectLst>
                  <a:outerShdw blurRad="38100" dist="38100" dir="2700000" algn="tl">
                    <a:srgbClr val="FFFFFF"/>
                  </a:outerShdw>
                </a:effectLst>
                <a:latin typeface="楷体_GB2312" pitchFamily="49" charset="-122"/>
                <a:ea typeface="楷体_GB2312" pitchFamily="49" charset="-122"/>
              </a:rPr>
              <a:t>原理：</a:t>
            </a:r>
            <a:r>
              <a:rPr lang="en-US" altLang="zh-CN" sz="2800" b="1">
                <a:effectLst>
                  <a:outerShdw blurRad="38100" dist="38100" dir="2700000" algn="tl">
                    <a:srgbClr val="FFFFFF"/>
                  </a:outerShdw>
                </a:effectLst>
                <a:latin typeface="楷体_GB2312" pitchFamily="49" charset="-122"/>
                <a:ea typeface="楷体_GB2312" pitchFamily="49" charset="-122"/>
              </a:rPr>
              <a:t>COM</a:t>
            </a:r>
            <a:r>
              <a:rPr lang="zh-CN" altLang="en-US" sz="2800" b="1">
                <a:effectLst>
                  <a:outerShdw blurRad="38100" dist="38100" dir="2700000" algn="tl">
                    <a:srgbClr val="FFFFFF"/>
                  </a:outerShdw>
                </a:effectLst>
                <a:latin typeface="楷体_GB2312" pitchFamily="49" charset="-122"/>
                <a:ea typeface="楷体_GB2312" pitchFamily="49" charset="-122"/>
              </a:rPr>
              <a:t>端接电源，</a:t>
            </a:r>
            <a:r>
              <a:rPr lang="zh-CN" altLang="en-US" sz="2800" b="1">
                <a:solidFill>
                  <a:srgbClr val="3333CC"/>
                </a:solidFill>
                <a:effectLst>
                  <a:outerShdw blurRad="38100" dist="38100" dir="2700000" algn="tl">
                    <a:srgbClr val="000000"/>
                  </a:outerShdw>
                </a:effectLst>
                <a:latin typeface="楷体_GB2312" pitchFamily="49" charset="-122"/>
                <a:ea typeface="楷体_GB2312" pitchFamily="49" charset="-122"/>
              </a:rPr>
              <a:t>阴极</a:t>
            </a:r>
            <a:r>
              <a:rPr lang="zh-CN" altLang="en-US" sz="2800" b="1">
                <a:effectLst>
                  <a:outerShdw blurRad="38100" dist="38100" dir="2700000" algn="tl">
                    <a:srgbClr val="FFFFFF"/>
                  </a:outerShdw>
                </a:effectLst>
                <a:latin typeface="楷体_GB2312" pitchFamily="49" charset="-122"/>
                <a:ea typeface="楷体_GB2312" pitchFamily="49" charset="-122"/>
              </a:rPr>
              <a:t>分开控制，低电平点亮。</a:t>
            </a:r>
          </a:p>
        </p:txBody>
      </p:sp>
      <p:grpSp>
        <p:nvGrpSpPr>
          <p:cNvPr id="11271" name="Group 59"/>
          <p:cNvGrpSpPr/>
          <p:nvPr/>
        </p:nvGrpSpPr>
        <p:grpSpPr bwMode="auto">
          <a:xfrm>
            <a:off x="3997325" y="3213100"/>
            <a:ext cx="4333875" cy="2201863"/>
            <a:chOff x="0" y="0"/>
            <a:chExt cx="2730" cy="1387"/>
          </a:xfrm>
        </p:grpSpPr>
        <p:grpSp>
          <p:nvGrpSpPr>
            <p:cNvPr id="11275" name="Group 60"/>
            <p:cNvGrpSpPr/>
            <p:nvPr/>
          </p:nvGrpSpPr>
          <p:grpSpPr bwMode="auto">
            <a:xfrm>
              <a:off x="0" y="276"/>
              <a:ext cx="227" cy="690"/>
              <a:chOff x="0" y="0"/>
              <a:chExt cx="318" cy="871"/>
            </a:xfrm>
          </p:grpSpPr>
          <p:sp>
            <p:nvSpPr>
              <p:cNvPr id="11323" name="AutoShape 61"/>
              <p:cNvSpPr>
                <a:spLocks noChangeArrowheads="1"/>
              </p:cNvSpPr>
              <p:nvPr/>
            </p:nvSpPr>
            <p:spPr bwMode="auto">
              <a:xfrm>
                <a:off x="0" y="272"/>
                <a:ext cx="318" cy="318"/>
              </a:xfrm>
              <a:prstGeom prst="flowChartMerge">
                <a:avLst/>
              </a:prstGeom>
              <a:solidFill>
                <a:schemeClr val="accent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1324" name="Line 62"/>
              <p:cNvSpPr>
                <a:spLocks noChangeShapeType="1"/>
              </p:cNvSpPr>
              <p:nvPr/>
            </p:nvSpPr>
            <p:spPr bwMode="auto">
              <a:xfrm>
                <a:off x="0" y="599"/>
                <a:ext cx="31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25" name="Line 63"/>
              <p:cNvSpPr>
                <a:spLocks noChangeShapeType="1"/>
              </p:cNvSpPr>
              <p:nvPr/>
            </p:nvSpPr>
            <p:spPr bwMode="auto">
              <a:xfrm>
                <a:off x="159" y="0"/>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26" name="Line 64"/>
              <p:cNvSpPr>
                <a:spLocks noChangeShapeType="1"/>
              </p:cNvSpPr>
              <p:nvPr/>
            </p:nvSpPr>
            <p:spPr bwMode="auto">
              <a:xfrm>
                <a:off x="159" y="599"/>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1276" name="Group 65"/>
            <p:cNvGrpSpPr/>
            <p:nvPr/>
          </p:nvGrpSpPr>
          <p:grpSpPr bwMode="auto">
            <a:xfrm>
              <a:off x="363" y="276"/>
              <a:ext cx="227" cy="690"/>
              <a:chOff x="0" y="0"/>
              <a:chExt cx="318" cy="871"/>
            </a:xfrm>
          </p:grpSpPr>
          <p:sp>
            <p:nvSpPr>
              <p:cNvPr id="11319" name="AutoShape 66"/>
              <p:cNvSpPr>
                <a:spLocks noChangeArrowheads="1"/>
              </p:cNvSpPr>
              <p:nvPr/>
            </p:nvSpPr>
            <p:spPr bwMode="auto">
              <a:xfrm>
                <a:off x="0" y="272"/>
                <a:ext cx="318" cy="318"/>
              </a:xfrm>
              <a:prstGeom prst="flowChartMerge">
                <a:avLst/>
              </a:prstGeom>
              <a:solidFill>
                <a:schemeClr val="accent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1320" name="Line 67"/>
              <p:cNvSpPr>
                <a:spLocks noChangeShapeType="1"/>
              </p:cNvSpPr>
              <p:nvPr/>
            </p:nvSpPr>
            <p:spPr bwMode="auto">
              <a:xfrm>
                <a:off x="0" y="599"/>
                <a:ext cx="31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21" name="Line 68"/>
              <p:cNvSpPr>
                <a:spLocks noChangeShapeType="1"/>
              </p:cNvSpPr>
              <p:nvPr/>
            </p:nvSpPr>
            <p:spPr bwMode="auto">
              <a:xfrm>
                <a:off x="159" y="0"/>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 name="Line 69"/>
              <p:cNvSpPr>
                <a:spLocks noChangeShapeType="1"/>
              </p:cNvSpPr>
              <p:nvPr/>
            </p:nvSpPr>
            <p:spPr bwMode="auto">
              <a:xfrm>
                <a:off x="159" y="599"/>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1277" name="Group 70"/>
            <p:cNvGrpSpPr/>
            <p:nvPr/>
          </p:nvGrpSpPr>
          <p:grpSpPr bwMode="auto">
            <a:xfrm>
              <a:off x="717" y="276"/>
              <a:ext cx="227" cy="690"/>
              <a:chOff x="0" y="0"/>
              <a:chExt cx="318" cy="871"/>
            </a:xfrm>
          </p:grpSpPr>
          <p:sp>
            <p:nvSpPr>
              <p:cNvPr id="11315" name="AutoShape 71"/>
              <p:cNvSpPr>
                <a:spLocks noChangeArrowheads="1"/>
              </p:cNvSpPr>
              <p:nvPr/>
            </p:nvSpPr>
            <p:spPr bwMode="auto">
              <a:xfrm>
                <a:off x="0" y="272"/>
                <a:ext cx="318" cy="318"/>
              </a:xfrm>
              <a:prstGeom prst="flowChartMerge">
                <a:avLst/>
              </a:prstGeom>
              <a:solidFill>
                <a:schemeClr val="accent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1316" name="Line 72"/>
              <p:cNvSpPr>
                <a:spLocks noChangeShapeType="1"/>
              </p:cNvSpPr>
              <p:nvPr/>
            </p:nvSpPr>
            <p:spPr bwMode="auto">
              <a:xfrm>
                <a:off x="0" y="599"/>
                <a:ext cx="31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17" name="Line 73"/>
              <p:cNvSpPr>
                <a:spLocks noChangeShapeType="1"/>
              </p:cNvSpPr>
              <p:nvPr/>
            </p:nvSpPr>
            <p:spPr bwMode="auto">
              <a:xfrm>
                <a:off x="159" y="0"/>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18" name="Line 74"/>
              <p:cNvSpPr>
                <a:spLocks noChangeShapeType="1"/>
              </p:cNvSpPr>
              <p:nvPr/>
            </p:nvSpPr>
            <p:spPr bwMode="auto">
              <a:xfrm>
                <a:off x="159" y="599"/>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1278" name="Group 75"/>
            <p:cNvGrpSpPr/>
            <p:nvPr/>
          </p:nvGrpSpPr>
          <p:grpSpPr bwMode="auto">
            <a:xfrm>
              <a:off x="1071" y="276"/>
              <a:ext cx="227" cy="690"/>
              <a:chOff x="0" y="0"/>
              <a:chExt cx="318" cy="871"/>
            </a:xfrm>
          </p:grpSpPr>
          <p:sp>
            <p:nvSpPr>
              <p:cNvPr id="11311" name="AutoShape 76"/>
              <p:cNvSpPr>
                <a:spLocks noChangeArrowheads="1"/>
              </p:cNvSpPr>
              <p:nvPr/>
            </p:nvSpPr>
            <p:spPr bwMode="auto">
              <a:xfrm>
                <a:off x="0" y="272"/>
                <a:ext cx="318" cy="318"/>
              </a:xfrm>
              <a:prstGeom prst="flowChartMerge">
                <a:avLst/>
              </a:prstGeom>
              <a:solidFill>
                <a:schemeClr val="accent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1312" name="Line 77"/>
              <p:cNvSpPr>
                <a:spLocks noChangeShapeType="1"/>
              </p:cNvSpPr>
              <p:nvPr/>
            </p:nvSpPr>
            <p:spPr bwMode="auto">
              <a:xfrm>
                <a:off x="0" y="599"/>
                <a:ext cx="31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13" name="Line 78"/>
              <p:cNvSpPr>
                <a:spLocks noChangeShapeType="1"/>
              </p:cNvSpPr>
              <p:nvPr/>
            </p:nvSpPr>
            <p:spPr bwMode="auto">
              <a:xfrm>
                <a:off x="159" y="0"/>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14" name="Line 79"/>
              <p:cNvSpPr>
                <a:spLocks noChangeShapeType="1"/>
              </p:cNvSpPr>
              <p:nvPr/>
            </p:nvSpPr>
            <p:spPr bwMode="auto">
              <a:xfrm>
                <a:off x="159" y="599"/>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1279" name="Group 80"/>
            <p:cNvGrpSpPr/>
            <p:nvPr/>
          </p:nvGrpSpPr>
          <p:grpSpPr bwMode="auto">
            <a:xfrm>
              <a:off x="1415" y="276"/>
              <a:ext cx="227" cy="690"/>
              <a:chOff x="0" y="0"/>
              <a:chExt cx="318" cy="871"/>
            </a:xfrm>
          </p:grpSpPr>
          <p:sp>
            <p:nvSpPr>
              <p:cNvPr id="11307" name="AutoShape 81"/>
              <p:cNvSpPr>
                <a:spLocks noChangeArrowheads="1"/>
              </p:cNvSpPr>
              <p:nvPr/>
            </p:nvSpPr>
            <p:spPr bwMode="auto">
              <a:xfrm>
                <a:off x="0" y="272"/>
                <a:ext cx="318" cy="318"/>
              </a:xfrm>
              <a:prstGeom prst="flowChartMerge">
                <a:avLst/>
              </a:prstGeom>
              <a:solidFill>
                <a:schemeClr val="accent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1308" name="Line 82"/>
              <p:cNvSpPr>
                <a:spLocks noChangeShapeType="1"/>
              </p:cNvSpPr>
              <p:nvPr/>
            </p:nvSpPr>
            <p:spPr bwMode="auto">
              <a:xfrm>
                <a:off x="0" y="599"/>
                <a:ext cx="31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09" name="Line 83"/>
              <p:cNvSpPr>
                <a:spLocks noChangeShapeType="1"/>
              </p:cNvSpPr>
              <p:nvPr/>
            </p:nvSpPr>
            <p:spPr bwMode="auto">
              <a:xfrm>
                <a:off x="159" y="0"/>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10" name="Line 84"/>
              <p:cNvSpPr>
                <a:spLocks noChangeShapeType="1"/>
              </p:cNvSpPr>
              <p:nvPr/>
            </p:nvSpPr>
            <p:spPr bwMode="auto">
              <a:xfrm>
                <a:off x="159" y="599"/>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1280" name="Group 85"/>
            <p:cNvGrpSpPr/>
            <p:nvPr/>
          </p:nvGrpSpPr>
          <p:grpSpPr bwMode="auto">
            <a:xfrm>
              <a:off x="1778" y="276"/>
              <a:ext cx="227" cy="690"/>
              <a:chOff x="0" y="0"/>
              <a:chExt cx="318" cy="871"/>
            </a:xfrm>
          </p:grpSpPr>
          <p:sp>
            <p:nvSpPr>
              <p:cNvPr id="11303" name="AutoShape 86"/>
              <p:cNvSpPr>
                <a:spLocks noChangeArrowheads="1"/>
              </p:cNvSpPr>
              <p:nvPr/>
            </p:nvSpPr>
            <p:spPr bwMode="auto">
              <a:xfrm>
                <a:off x="0" y="272"/>
                <a:ext cx="318" cy="318"/>
              </a:xfrm>
              <a:prstGeom prst="flowChartMerge">
                <a:avLst/>
              </a:prstGeom>
              <a:solidFill>
                <a:schemeClr val="accent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1304" name="Line 87"/>
              <p:cNvSpPr>
                <a:spLocks noChangeShapeType="1"/>
              </p:cNvSpPr>
              <p:nvPr/>
            </p:nvSpPr>
            <p:spPr bwMode="auto">
              <a:xfrm>
                <a:off x="0" y="599"/>
                <a:ext cx="31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05" name="Line 88"/>
              <p:cNvSpPr>
                <a:spLocks noChangeShapeType="1"/>
              </p:cNvSpPr>
              <p:nvPr/>
            </p:nvSpPr>
            <p:spPr bwMode="auto">
              <a:xfrm>
                <a:off x="159" y="0"/>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06" name="Line 89"/>
              <p:cNvSpPr>
                <a:spLocks noChangeShapeType="1"/>
              </p:cNvSpPr>
              <p:nvPr/>
            </p:nvSpPr>
            <p:spPr bwMode="auto">
              <a:xfrm>
                <a:off x="159" y="599"/>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1281" name="Group 90"/>
            <p:cNvGrpSpPr/>
            <p:nvPr/>
          </p:nvGrpSpPr>
          <p:grpSpPr bwMode="auto">
            <a:xfrm>
              <a:off x="2123" y="276"/>
              <a:ext cx="227" cy="690"/>
              <a:chOff x="0" y="0"/>
              <a:chExt cx="318" cy="871"/>
            </a:xfrm>
          </p:grpSpPr>
          <p:sp>
            <p:nvSpPr>
              <p:cNvPr id="11299" name="AutoShape 91"/>
              <p:cNvSpPr>
                <a:spLocks noChangeArrowheads="1"/>
              </p:cNvSpPr>
              <p:nvPr/>
            </p:nvSpPr>
            <p:spPr bwMode="auto">
              <a:xfrm>
                <a:off x="0" y="272"/>
                <a:ext cx="318" cy="318"/>
              </a:xfrm>
              <a:prstGeom prst="flowChartMerge">
                <a:avLst/>
              </a:prstGeom>
              <a:solidFill>
                <a:schemeClr val="accent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1300" name="Line 92"/>
              <p:cNvSpPr>
                <a:spLocks noChangeShapeType="1"/>
              </p:cNvSpPr>
              <p:nvPr/>
            </p:nvSpPr>
            <p:spPr bwMode="auto">
              <a:xfrm>
                <a:off x="0" y="599"/>
                <a:ext cx="31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01" name="Line 93"/>
              <p:cNvSpPr>
                <a:spLocks noChangeShapeType="1"/>
              </p:cNvSpPr>
              <p:nvPr/>
            </p:nvSpPr>
            <p:spPr bwMode="auto">
              <a:xfrm>
                <a:off x="159" y="0"/>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02" name="Line 94"/>
              <p:cNvSpPr>
                <a:spLocks noChangeShapeType="1"/>
              </p:cNvSpPr>
              <p:nvPr/>
            </p:nvSpPr>
            <p:spPr bwMode="auto">
              <a:xfrm>
                <a:off x="159" y="599"/>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1282" name="Group 95"/>
            <p:cNvGrpSpPr/>
            <p:nvPr/>
          </p:nvGrpSpPr>
          <p:grpSpPr bwMode="auto">
            <a:xfrm>
              <a:off x="2485" y="276"/>
              <a:ext cx="227" cy="690"/>
              <a:chOff x="0" y="0"/>
              <a:chExt cx="318" cy="871"/>
            </a:xfrm>
          </p:grpSpPr>
          <p:sp>
            <p:nvSpPr>
              <p:cNvPr id="11295" name="AutoShape 96"/>
              <p:cNvSpPr>
                <a:spLocks noChangeArrowheads="1"/>
              </p:cNvSpPr>
              <p:nvPr/>
            </p:nvSpPr>
            <p:spPr bwMode="auto">
              <a:xfrm>
                <a:off x="0" y="272"/>
                <a:ext cx="318" cy="318"/>
              </a:xfrm>
              <a:prstGeom prst="flowChartMerge">
                <a:avLst/>
              </a:prstGeom>
              <a:solidFill>
                <a:schemeClr val="accent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1296" name="Line 97"/>
              <p:cNvSpPr>
                <a:spLocks noChangeShapeType="1"/>
              </p:cNvSpPr>
              <p:nvPr/>
            </p:nvSpPr>
            <p:spPr bwMode="auto">
              <a:xfrm>
                <a:off x="0" y="599"/>
                <a:ext cx="31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97" name="Line 98"/>
              <p:cNvSpPr>
                <a:spLocks noChangeShapeType="1"/>
              </p:cNvSpPr>
              <p:nvPr/>
            </p:nvSpPr>
            <p:spPr bwMode="auto">
              <a:xfrm>
                <a:off x="159" y="0"/>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98" name="Line 99"/>
              <p:cNvSpPr>
                <a:spLocks noChangeShapeType="1"/>
              </p:cNvSpPr>
              <p:nvPr/>
            </p:nvSpPr>
            <p:spPr bwMode="auto">
              <a:xfrm>
                <a:off x="159" y="599"/>
                <a:ext cx="0"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283" name="Line 100"/>
            <p:cNvSpPr>
              <a:spLocks noChangeShapeType="1"/>
            </p:cNvSpPr>
            <p:nvPr/>
          </p:nvSpPr>
          <p:spPr bwMode="auto">
            <a:xfrm>
              <a:off x="109" y="956"/>
              <a:ext cx="2495" cy="0"/>
            </a:xfrm>
            <a:prstGeom prst="line">
              <a:avLst/>
            </a:prstGeom>
            <a:noFill/>
            <a:ln w="317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4" name="Line 101"/>
            <p:cNvSpPr>
              <a:spLocks noChangeShapeType="1"/>
            </p:cNvSpPr>
            <p:nvPr/>
          </p:nvSpPr>
          <p:spPr bwMode="auto">
            <a:xfrm flipV="1">
              <a:off x="1370" y="956"/>
              <a:ext cx="0" cy="363"/>
            </a:xfrm>
            <a:prstGeom prst="line">
              <a:avLst/>
            </a:prstGeom>
            <a:noFill/>
            <a:ln w="317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5" name="Oval 102"/>
            <p:cNvSpPr>
              <a:spLocks noChangeAspect="1" noChangeArrowheads="1"/>
            </p:cNvSpPr>
            <p:nvPr/>
          </p:nvSpPr>
          <p:spPr bwMode="auto">
            <a:xfrm>
              <a:off x="1343" y="1310"/>
              <a:ext cx="57" cy="57"/>
            </a:xfrm>
            <a:prstGeom prst="ellipse">
              <a:avLst/>
            </a:prstGeom>
            <a:noFill/>
            <a:ln w="317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1286" name="Text Box 103"/>
            <p:cNvSpPr txBox="1">
              <a:spLocks noChangeArrowheads="1"/>
            </p:cNvSpPr>
            <p:nvPr/>
          </p:nvSpPr>
          <p:spPr bwMode="auto">
            <a:xfrm>
              <a:off x="1415" y="1137"/>
              <a:ext cx="63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COM</a:t>
              </a:r>
            </a:p>
          </p:txBody>
        </p:sp>
        <p:sp>
          <p:nvSpPr>
            <p:cNvPr id="11287" name="Text Box 104"/>
            <p:cNvSpPr txBox="1">
              <a:spLocks noChangeArrowheads="1"/>
            </p:cNvSpPr>
            <p:nvPr/>
          </p:nvSpPr>
          <p:spPr bwMode="auto">
            <a:xfrm>
              <a:off x="2549" y="0"/>
              <a:ext cx="1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a:t>
              </a:r>
            </a:p>
          </p:txBody>
        </p:sp>
        <p:sp>
          <p:nvSpPr>
            <p:cNvPr id="11288" name="Text Box 105"/>
            <p:cNvSpPr txBox="1">
              <a:spLocks noChangeArrowheads="1"/>
            </p:cNvSpPr>
            <p:nvPr/>
          </p:nvSpPr>
          <p:spPr bwMode="auto">
            <a:xfrm>
              <a:off x="2186" y="0"/>
              <a:ext cx="1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b</a:t>
              </a:r>
            </a:p>
          </p:txBody>
        </p:sp>
        <p:sp>
          <p:nvSpPr>
            <p:cNvPr id="11289" name="Text Box 106"/>
            <p:cNvSpPr txBox="1">
              <a:spLocks noChangeArrowheads="1"/>
            </p:cNvSpPr>
            <p:nvPr/>
          </p:nvSpPr>
          <p:spPr bwMode="auto">
            <a:xfrm>
              <a:off x="1823" y="0"/>
              <a:ext cx="1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c</a:t>
              </a:r>
            </a:p>
          </p:txBody>
        </p:sp>
        <p:sp>
          <p:nvSpPr>
            <p:cNvPr id="11290" name="Text Box 107"/>
            <p:cNvSpPr txBox="1">
              <a:spLocks noChangeArrowheads="1"/>
            </p:cNvSpPr>
            <p:nvPr/>
          </p:nvSpPr>
          <p:spPr bwMode="auto">
            <a:xfrm>
              <a:off x="1460" y="0"/>
              <a:ext cx="1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d</a:t>
              </a:r>
            </a:p>
          </p:txBody>
        </p:sp>
        <p:sp>
          <p:nvSpPr>
            <p:cNvPr id="11291" name="Text Box 108"/>
            <p:cNvSpPr txBox="1">
              <a:spLocks noChangeArrowheads="1"/>
            </p:cNvSpPr>
            <p:nvPr/>
          </p:nvSpPr>
          <p:spPr bwMode="auto">
            <a:xfrm>
              <a:off x="1142" y="0"/>
              <a:ext cx="1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e</a:t>
              </a:r>
            </a:p>
          </p:txBody>
        </p:sp>
        <p:sp>
          <p:nvSpPr>
            <p:cNvPr id="11292" name="Text Box 109"/>
            <p:cNvSpPr txBox="1">
              <a:spLocks noChangeArrowheads="1"/>
            </p:cNvSpPr>
            <p:nvPr/>
          </p:nvSpPr>
          <p:spPr bwMode="auto">
            <a:xfrm>
              <a:off x="780" y="0"/>
              <a:ext cx="1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f</a:t>
              </a:r>
            </a:p>
          </p:txBody>
        </p:sp>
        <p:sp>
          <p:nvSpPr>
            <p:cNvPr id="11293" name="Text Box 110"/>
            <p:cNvSpPr txBox="1">
              <a:spLocks noChangeArrowheads="1"/>
            </p:cNvSpPr>
            <p:nvPr/>
          </p:nvSpPr>
          <p:spPr bwMode="auto">
            <a:xfrm>
              <a:off x="417" y="0"/>
              <a:ext cx="1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g</a:t>
              </a:r>
            </a:p>
          </p:txBody>
        </p:sp>
        <p:sp>
          <p:nvSpPr>
            <p:cNvPr id="11294" name="Text Box 111"/>
            <p:cNvSpPr txBox="1">
              <a:spLocks noChangeArrowheads="1"/>
            </p:cNvSpPr>
            <p:nvPr/>
          </p:nvSpPr>
          <p:spPr bwMode="auto">
            <a:xfrm>
              <a:off x="54" y="0"/>
              <a:ext cx="1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h</a:t>
              </a:r>
            </a:p>
          </p:txBody>
        </p:sp>
      </p:grpSp>
      <p:sp>
        <p:nvSpPr>
          <p:cNvPr id="11376" name="Text Box 112"/>
          <p:cNvSpPr txBox="1">
            <a:spLocks noChangeArrowheads="1"/>
          </p:cNvSpPr>
          <p:nvPr/>
        </p:nvSpPr>
        <p:spPr bwMode="auto">
          <a:xfrm>
            <a:off x="612775" y="5445125"/>
            <a:ext cx="7920038" cy="519113"/>
          </a:xfrm>
          <a:prstGeom prst="rect">
            <a:avLst/>
          </a:prstGeom>
          <a:solidFill>
            <a:srgbClr val="FFCC99"/>
          </a:solidFill>
          <a:ln>
            <a:noFill/>
          </a:ln>
          <a:effectLst/>
        </p:spPr>
        <p:txBody>
          <a:bodyPr>
            <a:spAutoFit/>
          </a:bodyPr>
          <a:lstStyle/>
          <a:p>
            <a:pPr eaLnBrk="1" hangingPunct="1">
              <a:spcBef>
                <a:spcPct val="50000"/>
              </a:spcBef>
              <a:defRPr/>
            </a:pPr>
            <a:r>
              <a:rPr lang="zh-CN" altLang="en-US" sz="2800" b="1">
                <a:effectLst>
                  <a:outerShdw blurRad="38100" dist="38100" dir="2700000" algn="tl">
                    <a:srgbClr val="FFFFFF"/>
                  </a:outerShdw>
                </a:effectLst>
                <a:latin typeface="楷体_GB2312" pitchFamily="49" charset="-122"/>
                <a:ea typeface="楷体_GB2312" pitchFamily="49" charset="-122"/>
              </a:rPr>
              <a:t>原理：</a:t>
            </a:r>
            <a:r>
              <a:rPr lang="en-US" altLang="zh-CN" sz="2800" b="1">
                <a:effectLst>
                  <a:outerShdw blurRad="38100" dist="38100" dir="2700000" algn="tl">
                    <a:srgbClr val="FFFFFF"/>
                  </a:outerShdw>
                </a:effectLst>
                <a:latin typeface="楷体_GB2312" pitchFamily="49" charset="-122"/>
                <a:ea typeface="楷体_GB2312" pitchFamily="49" charset="-122"/>
              </a:rPr>
              <a:t>COM</a:t>
            </a:r>
            <a:r>
              <a:rPr lang="zh-CN" altLang="en-US" sz="2800" b="1">
                <a:effectLst>
                  <a:outerShdw blurRad="38100" dist="38100" dir="2700000" algn="tl">
                    <a:srgbClr val="FFFFFF"/>
                  </a:outerShdw>
                </a:effectLst>
                <a:latin typeface="楷体_GB2312" pitchFamily="49" charset="-122"/>
                <a:ea typeface="楷体_GB2312" pitchFamily="49" charset="-122"/>
              </a:rPr>
              <a:t>端接地，</a:t>
            </a:r>
            <a:r>
              <a:rPr lang="zh-CN" altLang="en-US" sz="2800" b="1">
                <a:solidFill>
                  <a:srgbClr val="3333CC"/>
                </a:solidFill>
                <a:effectLst>
                  <a:outerShdw blurRad="38100" dist="38100" dir="2700000" algn="tl">
                    <a:srgbClr val="000000"/>
                  </a:outerShdw>
                </a:effectLst>
                <a:latin typeface="楷体_GB2312" pitchFamily="49" charset="-122"/>
                <a:ea typeface="楷体_GB2312" pitchFamily="49" charset="-122"/>
              </a:rPr>
              <a:t>阳极</a:t>
            </a:r>
            <a:r>
              <a:rPr lang="zh-CN" altLang="en-US" sz="2800" b="1">
                <a:effectLst>
                  <a:outerShdw blurRad="38100" dist="38100" dir="2700000" algn="tl">
                    <a:srgbClr val="FFFFFF"/>
                  </a:outerShdw>
                </a:effectLst>
                <a:latin typeface="楷体_GB2312" pitchFamily="49" charset="-122"/>
                <a:ea typeface="楷体_GB2312" pitchFamily="49" charset="-122"/>
              </a:rPr>
              <a:t>分开控制，高电平点亮。</a:t>
            </a:r>
          </a:p>
        </p:txBody>
      </p:sp>
      <p:sp>
        <p:nvSpPr>
          <p:cNvPr id="11377" name="Text Box 113"/>
          <p:cNvSpPr txBox="1">
            <a:spLocks noChangeArrowheads="1"/>
          </p:cNvSpPr>
          <p:nvPr/>
        </p:nvSpPr>
        <p:spPr bwMode="auto">
          <a:xfrm>
            <a:off x="6440092" y="294747"/>
            <a:ext cx="863600" cy="304800"/>
          </a:xfrm>
          <a:prstGeom prst="rect">
            <a:avLst/>
          </a:prstGeom>
          <a:solidFill>
            <a:schemeClr val="bg1"/>
          </a:solidFill>
          <a:ln>
            <a:noFill/>
          </a:ln>
          <a:effectLst/>
        </p:spPr>
        <p:txBody>
          <a:bodyPr lIns="18000" tIns="0" rIns="18000" bIns="0">
            <a:spAutoFit/>
          </a:bodyPr>
          <a:lstStyle/>
          <a:p>
            <a:pPr eaLnBrk="1" hangingPunct="1">
              <a:spcBef>
                <a:spcPct val="50000"/>
              </a:spcBef>
              <a:defRPr/>
            </a:pPr>
            <a:r>
              <a:rPr lang="zh-CN" altLang="en-US" sz="2000" b="1" dirty="0">
                <a:solidFill>
                  <a:srgbClr val="FF0000"/>
                </a:solidFill>
                <a:effectLst>
                  <a:outerShdw blurRad="38100" dist="38100" dir="2700000" algn="tl">
                    <a:srgbClr val="C0C0C0"/>
                  </a:outerShdw>
                </a:effectLst>
              </a:rPr>
              <a:t>＋</a:t>
            </a:r>
            <a:r>
              <a:rPr lang="en-US" altLang="zh-CN" sz="2000" b="1" dirty="0">
                <a:solidFill>
                  <a:srgbClr val="FF0000"/>
                </a:solidFill>
                <a:effectLst>
                  <a:outerShdw blurRad="38100" dist="38100" dir="2700000" algn="tl">
                    <a:srgbClr val="C0C0C0"/>
                  </a:outerShdw>
                </a:effectLst>
              </a:rPr>
              <a:t>5V</a:t>
            </a:r>
          </a:p>
        </p:txBody>
      </p:sp>
      <p:sp>
        <p:nvSpPr>
          <p:cNvPr id="11378" name="Text Box 114"/>
          <p:cNvSpPr txBox="1">
            <a:spLocks noChangeArrowheads="1"/>
          </p:cNvSpPr>
          <p:nvPr/>
        </p:nvSpPr>
        <p:spPr bwMode="auto">
          <a:xfrm>
            <a:off x="6272213" y="4941888"/>
            <a:ext cx="863600" cy="396875"/>
          </a:xfrm>
          <a:prstGeom prst="rect">
            <a:avLst/>
          </a:prstGeom>
          <a:solidFill>
            <a:schemeClr val="bg1"/>
          </a:solidFill>
          <a:ln>
            <a:noFill/>
          </a:ln>
          <a:effectLst/>
        </p:spPr>
        <p:txBody>
          <a:bodyPr lIns="18000" rIns="18000">
            <a:spAutoFit/>
          </a:bodyPr>
          <a:lstStyle/>
          <a:p>
            <a:pPr eaLnBrk="1" hangingPunct="1">
              <a:spcBef>
                <a:spcPct val="50000"/>
              </a:spcBef>
              <a:defRPr/>
            </a:pPr>
            <a:r>
              <a:rPr lang="en-US" altLang="zh-CN" sz="2000" b="1" dirty="0">
                <a:solidFill>
                  <a:srgbClr val="FF0000"/>
                </a:solidFill>
                <a:effectLst>
                  <a:outerShdw blurRad="38100" dist="38100" dir="2700000" algn="tl">
                    <a:srgbClr val="C0C0C0"/>
                  </a:outerShdw>
                </a:effectLst>
              </a:rPr>
              <a:t>GND</a:t>
            </a:r>
          </a:p>
        </p:txBody>
      </p:sp>
      <p:sp>
        <p:nvSpPr>
          <p:cNvPr id="115" name="Text Box 114">
            <a:extLst>
              <a:ext uri="{FF2B5EF4-FFF2-40B4-BE49-F238E27FC236}">
                <a16:creationId xmlns:a16="http://schemas.microsoft.com/office/drawing/2014/main" id="{8ADE9F6B-E6E2-4ADF-A783-821CADA63480}"/>
              </a:ext>
            </a:extLst>
          </p:cNvPr>
          <p:cNvSpPr txBox="1">
            <a:spLocks noChangeArrowheads="1"/>
          </p:cNvSpPr>
          <p:nvPr/>
        </p:nvSpPr>
        <p:spPr bwMode="auto">
          <a:xfrm>
            <a:off x="5455885" y="5066066"/>
            <a:ext cx="863600" cy="396875"/>
          </a:xfrm>
          <a:prstGeom prst="rect">
            <a:avLst/>
          </a:prstGeom>
          <a:noFill/>
          <a:ln>
            <a:noFill/>
          </a:ln>
          <a:effectLst/>
        </p:spPr>
        <p:txBody>
          <a:bodyPr lIns="18000" rIns="18000">
            <a:spAutoFit/>
          </a:bodyPr>
          <a:lstStyle/>
          <a:p>
            <a:pPr eaLnBrk="1" hangingPunct="1">
              <a:spcBef>
                <a:spcPct val="50000"/>
              </a:spcBef>
              <a:defRPr/>
            </a:pPr>
            <a:r>
              <a:rPr lang="en-US" altLang="zh-CN" sz="2000" b="1" dirty="0">
                <a:solidFill>
                  <a:srgbClr val="0000FF"/>
                </a:solidFill>
                <a:effectLst>
                  <a:outerShdw blurRad="38100" dist="38100" dir="2700000" algn="tl">
                    <a:srgbClr val="C0C0C0"/>
                  </a:outerShdw>
                </a:effectLst>
              </a:rPr>
              <a:t>COM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377"/>
                                        </p:tgtEl>
                                        <p:attrNameLst>
                                          <p:attrName>style.visibility</p:attrName>
                                        </p:attrNameLst>
                                      </p:cBhvr>
                                      <p:to>
                                        <p:strVal val="visible"/>
                                      </p:to>
                                    </p:set>
                                    <p:animEffect transition="in" filter="box(in)">
                                      <p:cBhvr>
                                        <p:cTn id="7" dur="500"/>
                                        <p:tgtEl>
                                          <p:spTgt spid="11377"/>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1322"/>
                                        </p:tgtEl>
                                        <p:attrNameLst>
                                          <p:attrName>style.visibility</p:attrName>
                                        </p:attrNameLst>
                                      </p:cBhvr>
                                      <p:to>
                                        <p:strVal val="visible"/>
                                      </p:to>
                                    </p:set>
                                    <p:animEffect transition="in" filter="checkerboard(across)">
                                      <p:cBhvr>
                                        <p:cTn id="12" dur="500"/>
                                        <p:tgtEl>
                                          <p:spTgt spid="1132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1378"/>
                                        </p:tgtEl>
                                        <p:attrNameLst>
                                          <p:attrName>style.visibility</p:attrName>
                                        </p:attrNameLst>
                                      </p:cBhvr>
                                      <p:to>
                                        <p:strVal val="visible"/>
                                      </p:to>
                                    </p:set>
                                    <p:animEffect transition="in" filter="box(in)">
                                      <p:cBhvr>
                                        <p:cTn id="17" dur="500"/>
                                        <p:tgtEl>
                                          <p:spTgt spid="11378"/>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1376"/>
                                        </p:tgtEl>
                                        <p:attrNameLst>
                                          <p:attrName>style.visibility</p:attrName>
                                        </p:attrNameLst>
                                      </p:cBhvr>
                                      <p:to>
                                        <p:strVal val="visible"/>
                                      </p:to>
                                    </p:set>
                                    <p:animEffect transition="in" filter="checkerboard(across)">
                                      <p:cBhvr>
                                        <p:cTn id="22" dur="500"/>
                                        <p:tgtEl>
                                          <p:spTgt spid="11376"/>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15"/>
                                        </p:tgtEl>
                                        <p:attrNameLst>
                                          <p:attrName>style.visibility</p:attrName>
                                        </p:attrNameLst>
                                      </p:cBhvr>
                                      <p:to>
                                        <p:strVal val="visible"/>
                                      </p:to>
                                    </p:set>
                                    <p:animEffect transition="in" filter="box(in)">
                                      <p:cBhvr>
                                        <p:cTn id="27" dur="500"/>
                                        <p:tgtEl>
                                          <p:spTgt spid="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22" grpId="0" animBg="1" autoUpdateAnimBg="0"/>
      <p:bldP spid="11376" grpId="0" animBg="1" autoUpdateAnimBg="0"/>
      <p:bldP spid="11377" grpId="0" animBg="1" autoUpdateAnimBg="0"/>
      <p:bldP spid="11378" grpId="0" animBg="1" autoUpdateAnimBg="0"/>
      <p:bldP spid="11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555625"/>
            <a:ext cx="5383213" cy="520700"/>
          </a:xfrm>
          <a:gradFill>
            <a:gsLst>
              <a:gs pos="0">
                <a:srgbClr val="000000"/>
              </a:gs>
              <a:gs pos="20000">
                <a:srgbClr val="000040"/>
              </a:gs>
              <a:gs pos="50000">
                <a:srgbClr val="400040"/>
              </a:gs>
              <a:gs pos="75000">
                <a:srgbClr val="8F0040"/>
              </a:gs>
              <a:gs pos="89999">
                <a:srgbClr val="F27300"/>
              </a:gs>
              <a:gs pos="100000">
                <a:srgbClr val="FFBF00"/>
              </a:gs>
            </a:gsLst>
            <a:lin ang="5400000" scaled="0"/>
          </a:gradFill>
        </p:spPr>
        <p:txBody>
          <a:bodyPr>
            <a:normAutofit fontScale="90000"/>
          </a:bodyPr>
          <a:lstStyle/>
          <a:p>
            <a:pPr eaLnBrk="1" hangingPunct="1">
              <a:defRPr/>
            </a:pPr>
            <a:r>
              <a:rPr lang="zh-CN" altLang="en-US" sz="3200" b="1" dirty="0">
                <a:solidFill>
                  <a:srgbClr val="FFFFFF"/>
                </a:solidFill>
                <a:effectLst>
                  <a:outerShdw blurRad="38100" dist="38100" dir="2700000" algn="tl">
                    <a:srgbClr val="000000"/>
                  </a:outerShdw>
                </a:effectLst>
                <a:latin typeface="黑体" panose="02010609060101010101" pitchFamily="49" charset="-122"/>
                <a:ea typeface="黑体" panose="02010609060101010101" pitchFamily="49" charset="-122"/>
              </a:rPr>
              <a:t>四、</a:t>
            </a:r>
            <a:r>
              <a:rPr lang="en-US" altLang="zh-CN" sz="3200" b="1" dirty="0">
                <a:solidFill>
                  <a:srgbClr val="FFFFFF"/>
                </a:solidFill>
                <a:effectLst>
                  <a:outerShdw blurRad="38100" dist="38100" dir="2700000" algn="tl">
                    <a:srgbClr val="000000"/>
                  </a:outerShdw>
                </a:effectLst>
                <a:latin typeface="黑体" panose="02010609060101010101" pitchFamily="49" charset="-122"/>
                <a:ea typeface="黑体" panose="02010609060101010101" pitchFamily="49" charset="-122"/>
              </a:rPr>
              <a:t>LED</a:t>
            </a:r>
            <a:r>
              <a:rPr lang="zh-CN" altLang="zh-CN" sz="3200" b="1" dirty="0">
                <a:solidFill>
                  <a:srgbClr val="FFFFFF"/>
                </a:solidFill>
                <a:effectLst>
                  <a:outerShdw blurRad="38100" dist="38100" dir="2700000" algn="tl">
                    <a:srgbClr val="000000"/>
                  </a:outerShdw>
                </a:effectLst>
                <a:latin typeface="黑体" panose="02010609060101010101" pitchFamily="49" charset="-122"/>
                <a:ea typeface="黑体" panose="02010609060101010101" pitchFamily="49" charset="-122"/>
              </a:rPr>
              <a:t>数码管编码</a:t>
            </a:r>
            <a:r>
              <a:rPr lang="zh-CN" altLang="zh-CN" sz="3200" b="1" dirty="0">
                <a:solidFill>
                  <a:srgbClr val="FFFFFF"/>
                </a:solidFill>
                <a:effectLst>
                  <a:outerShdw blurRad="38100" dist="38100" dir="2700000" algn="tl">
                    <a:srgbClr val="000000"/>
                  </a:outerShdw>
                </a:effectLst>
                <a:latin typeface="楷体_GB2312" pitchFamily="49" charset="-122"/>
                <a:ea typeface="楷体_GB2312" pitchFamily="49" charset="-122"/>
              </a:rPr>
              <a:t>方式</a:t>
            </a:r>
            <a:endParaRPr lang="zh-CN" altLang="en-US" sz="3200" b="1" dirty="0">
              <a:solidFill>
                <a:srgbClr val="FFFFFF"/>
              </a:solidFill>
              <a:effectLst>
                <a:outerShdw blurRad="38100" dist="38100" dir="2700000" algn="tl">
                  <a:srgbClr val="000000"/>
                </a:outerShdw>
              </a:effectLst>
              <a:latin typeface="楷体_GB2312" pitchFamily="49" charset="-122"/>
              <a:ea typeface="楷体_GB2312" pitchFamily="49" charset="-122"/>
            </a:endParaRPr>
          </a:p>
        </p:txBody>
      </p:sp>
      <p:graphicFrame>
        <p:nvGraphicFramePr>
          <p:cNvPr id="326690" name="Group 34"/>
          <p:cNvGraphicFramePr>
            <a:graphicFrameLocks noGrp="1"/>
          </p:cNvGraphicFramePr>
          <p:nvPr>
            <p:custDataLst>
              <p:tags r:id="rId1"/>
            </p:custDataLst>
            <p:extLst>
              <p:ext uri="{D42A27DB-BD31-4B8C-83A1-F6EECF244321}">
                <p14:modId xmlns:p14="http://schemas.microsoft.com/office/powerpoint/2010/main" val="1012641510"/>
              </p:ext>
            </p:extLst>
          </p:nvPr>
        </p:nvGraphicFramePr>
        <p:xfrm>
          <a:off x="827088" y="1399822"/>
          <a:ext cx="6967538" cy="1036638"/>
        </p:xfrm>
        <a:graphic>
          <a:graphicData uri="http://schemas.openxmlformats.org/drawingml/2006/table">
            <a:tbl>
              <a:tblPr/>
              <a:tblGrid>
                <a:gridCol w="871628">
                  <a:extLst>
                    <a:ext uri="{9D8B030D-6E8A-4147-A177-3AD203B41FA5}">
                      <a16:colId xmlns:a16="http://schemas.microsoft.com/office/drawing/2014/main" val="20000"/>
                    </a:ext>
                  </a:extLst>
                </a:gridCol>
                <a:gridCol w="870257">
                  <a:extLst>
                    <a:ext uri="{9D8B030D-6E8A-4147-A177-3AD203B41FA5}">
                      <a16:colId xmlns:a16="http://schemas.microsoft.com/office/drawing/2014/main" val="20001"/>
                    </a:ext>
                  </a:extLst>
                </a:gridCol>
                <a:gridCol w="871628">
                  <a:extLst>
                    <a:ext uri="{9D8B030D-6E8A-4147-A177-3AD203B41FA5}">
                      <a16:colId xmlns:a16="http://schemas.microsoft.com/office/drawing/2014/main" val="20002"/>
                    </a:ext>
                  </a:extLst>
                </a:gridCol>
                <a:gridCol w="870256">
                  <a:extLst>
                    <a:ext uri="{9D8B030D-6E8A-4147-A177-3AD203B41FA5}">
                      <a16:colId xmlns:a16="http://schemas.microsoft.com/office/drawing/2014/main" val="20003"/>
                    </a:ext>
                  </a:extLst>
                </a:gridCol>
                <a:gridCol w="871628">
                  <a:extLst>
                    <a:ext uri="{9D8B030D-6E8A-4147-A177-3AD203B41FA5}">
                      <a16:colId xmlns:a16="http://schemas.microsoft.com/office/drawing/2014/main" val="20004"/>
                    </a:ext>
                  </a:extLst>
                </a:gridCol>
                <a:gridCol w="870257">
                  <a:extLst>
                    <a:ext uri="{9D8B030D-6E8A-4147-A177-3AD203B41FA5}">
                      <a16:colId xmlns:a16="http://schemas.microsoft.com/office/drawing/2014/main" val="20005"/>
                    </a:ext>
                  </a:extLst>
                </a:gridCol>
                <a:gridCol w="871628">
                  <a:extLst>
                    <a:ext uri="{9D8B030D-6E8A-4147-A177-3AD203B41FA5}">
                      <a16:colId xmlns:a16="http://schemas.microsoft.com/office/drawing/2014/main" val="20006"/>
                    </a:ext>
                  </a:extLst>
                </a:gridCol>
                <a:gridCol w="870256">
                  <a:extLst>
                    <a:ext uri="{9D8B030D-6E8A-4147-A177-3AD203B41FA5}">
                      <a16:colId xmlns:a16="http://schemas.microsoft.com/office/drawing/2014/main" val="20007"/>
                    </a:ext>
                  </a:extLst>
                </a:gridCol>
              </a:tblGrid>
              <a:tr h="51831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a:ln>
                            <a:noFill/>
                          </a:ln>
                          <a:solidFill>
                            <a:srgbClr val="FFFFFF"/>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rPr>
                        <a:t>D7</a:t>
                      </a:r>
                      <a:endParaRPr kumimoji="0" lang="zh-CN" altLang="en-US" sz="2800" b="1" i="0" u="none" strike="noStrike" cap="none" normalizeH="0" baseline="0" dirty="0">
                        <a:ln>
                          <a:noFill/>
                        </a:ln>
                        <a:solidFill>
                          <a:srgbClr val="FFFFFF"/>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endParaRPr>
                    </a:p>
                  </a:txBody>
                  <a:tcPr marL="91449" marR="91449" marT="45688" marB="4568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a:ln>
                            <a:noFill/>
                          </a:ln>
                          <a:solidFill>
                            <a:srgbClr val="FFFFFF"/>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rPr>
                        <a:t>D6</a:t>
                      </a:r>
                      <a:endParaRPr kumimoji="0" lang="zh-CN" altLang="en-US" sz="2800" b="1" i="0" u="none" strike="noStrike" cap="none" normalizeH="0" baseline="0" dirty="0">
                        <a:ln>
                          <a:noFill/>
                        </a:ln>
                        <a:solidFill>
                          <a:srgbClr val="FFFFFF"/>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endParaRPr>
                    </a:p>
                  </a:txBody>
                  <a:tcPr marL="91449" marR="91449" marT="45688" marB="4568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a:ln>
                            <a:noFill/>
                          </a:ln>
                          <a:solidFill>
                            <a:srgbClr val="FFFFFF"/>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rPr>
                        <a:t>D5</a:t>
                      </a:r>
                      <a:endParaRPr kumimoji="0" lang="zh-CN" altLang="en-US" sz="2800" b="1" i="0" u="none" strike="noStrike" cap="none" normalizeH="0" baseline="0" dirty="0">
                        <a:ln>
                          <a:noFill/>
                        </a:ln>
                        <a:solidFill>
                          <a:srgbClr val="FFFFFF"/>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endParaRPr>
                    </a:p>
                  </a:txBody>
                  <a:tcPr marL="91449" marR="91449" marT="45688" marB="4568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a:ln>
                            <a:noFill/>
                          </a:ln>
                          <a:solidFill>
                            <a:srgbClr val="FFFFFF"/>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rPr>
                        <a:t>D4</a:t>
                      </a:r>
                      <a:endParaRPr kumimoji="0" lang="zh-CN" altLang="en-US" sz="2800" b="1" i="0" u="none" strike="noStrike" cap="none" normalizeH="0" baseline="0" dirty="0">
                        <a:ln>
                          <a:noFill/>
                        </a:ln>
                        <a:solidFill>
                          <a:srgbClr val="FFFFFF"/>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endParaRPr>
                    </a:p>
                  </a:txBody>
                  <a:tcPr marL="91449" marR="91449" marT="45688" marB="4568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a:ln>
                            <a:noFill/>
                          </a:ln>
                          <a:solidFill>
                            <a:srgbClr val="FFFFFF"/>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rPr>
                        <a:t>D3</a:t>
                      </a:r>
                      <a:endParaRPr kumimoji="0" lang="zh-CN" altLang="en-US" sz="2800" b="1" i="0" u="none" strike="noStrike" cap="none" normalizeH="0" baseline="0" dirty="0">
                        <a:ln>
                          <a:noFill/>
                        </a:ln>
                        <a:solidFill>
                          <a:srgbClr val="FFFFFF"/>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endParaRPr>
                    </a:p>
                  </a:txBody>
                  <a:tcPr marL="91449" marR="91449" marT="45688" marB="4568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a:ln>
                            <a:noFill/>
                          </a:ln>
                          <a:solidFill>
                            <a:srgbClr val="FFFFFF"/>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rPr>
                        <a:t>D2</a:t>
                      </a:r>
                      <a:endParaRPr kumimoji="0" lang="zh-CN" altLang="en-US" sz="2800" b="1" i="0" u="none" strike="noStrike" cap="none" normalizeH="0" baseline="0" dirty="0">
                        <a:ln>
                          <a:noFill/>
                        </a:ln>
                        <a:solidFill>
                          <a:srgbClr val="FFFFFF"/>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endParaRPr>
                    </a:p>
                  </a:txBody>
                  <a:tcPr marL="91449" marR="91449" marT="45688" marB="4568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a:ln>
                            <a:noFill/>
                          </a:ln>
                          <a:solidFill>
                            <a:srgbClr val="FFFFFF"/>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rPr>
                        <a:t>D1</a:t>
                      </a:r>
                      <a:endParaRPr kumimoji="0" lang="zh-CN" altLang="en-US" sz="2800" b="1" i="0" u="none" strike="noStrike" cap="none" normalizeH="0" baseline="0" dirty="0">
                        <a:ln>
                          <a:noFill/>
                        </a:ln>
                        <a:solidFill>
                          <a:srgbClr val="FFFFFF"/>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endParaRPr>
                    </a:p>
                  </a:txBody>
                  <a:tcPr marL="91449" marR="91449" marT="45688" marB="4568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a:ln>
                            <a:noFill/>
                          </a:ln>
                          <a:solidFill>
                            <a:srgbClr val="FFFFFF"/>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rPr>
                        <a:t>D0</a:t>
                      </a:r>
                      <a:endParaRPr kumimoji="0" lang="zh-CN" altLang="en-US" sz="2800" b="1" i="0" u="none" strike="noStrike" cap="none" normalizeH="0" baseline="0" dirty="0">
                        <a:ln>
                          <a:noFill/>
                        </a:ln>
                        <a:solidFill>
                          <a:srgbClr val="FFFFFF"/>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endParaRPr>
                    </a:p>
                  </a:txBody>
                  <a:tcPr marL="91449" marR="91449" marT="45688" marB="4568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51831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err="1">
                          <a:ln>
                            <a:noFill/>
                          </a:ln>
                          <a:solidFill>
                            <a:srgbClr val="800000"/>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rPr>
                        <a:t>Dp</a:t>
                      </a:r>
                      <a:endParaRPr kumimoji="0" lang="zh-CN" altLang="en-US" sz="2800" b="1" i="0" u="none" strike="noStrike" cap="none" normalizeH="0" baseline="0" dirty="0">
                        <a:ln>
                          <a:noFill/>
                        </a:ln>
                        <a:solidFill>
                          <a:srgbClr val="800000"/>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endParaRPr>
                    </a:p>
                  </a:txBody>
                  <a:tcPr marL="91449" marR="91449" marT="45688" marB="4568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a:ln>
                            <a:noFill/>
                          </a:ln>
                          <a:solidFill>
                            <a:srgbClr val="800000"/>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rPr>
                        <a:t>g</a:t>
                      </a:r>
                      <a:endParaRPr kumimoji="0" lang="zh-CN" altLang="en-US" sz="2800" b="1" i="0" u="none" strike="noStrike" cap="none" normalizeH="0" baseline="0" dirty="0">
                        <a:ln>
                          <a:noFill/>
                        </a:ln>
                        <a:solidFill>
                          <a:srgbClr val="800000"/>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endParaRPr>
                    </a:p>
                  </a:txBody>
                  <a:tcPr marL="91449" marR="91449" marT="45688" marB="4568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a:ln>
                            <a:noFill/>
                          </a:ln>
                          <a:solidFill>
                            <a:srgbClr val="800000"/>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rPr>
                        <a:t>f</a:t>
                      </a:r>
                      <a:endParaRPr kumimoji="0" lang="zh-CN" altLang="en-US" sz="2800" b="1" i="0" u="none" strike="noStrike" cap="none" normalizeH="0" baseline="0" dirty="0">
                        <a:ln>
                          <a:noFill/>
                        </a:ln>
                        <a:solidFill>
                          <a:srgbClr val="800000"/>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endParaRPr>
                    </a:p>
                  </a:txBody>
                  <a:tcPr marL="91449" marR="91449" marT="45688" marB="4568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a:ln>
                            <a:noFill/>
                          </a:ln>
                          <a:solidFill>
                            <a:srgbClr val="800000"/>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rPr>
                        <a:t>e</a:t>
                      </a:r>
                      <a:endParaRPr kumimoji="0" lang="zh-CN" altLang="en-US" sz="2800" b="1" i="0" u="none" strike="noStrike" cap="none" normalizeH="0" baseline="0" dirty="0">
                        <a:ln>
                          <a:noFill/>
                        </a:ln>
                        <a:solidFill>
                          <a:srgbClr val="800000"/>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endParaRPr>
                    </a:p>
                  </a:txBody>
                  <a:tcPr marL="91449" marR="91449" marT="45688" marB="4568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a:ln>
                            <a:noFill/>
                          </a:ln>
                          <a:solidFill>
                            <a:srgbClr val="800000"/>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rPr>
                        <a:t>d</a:t>
                      </a:r>
                      <a:endParaRPr kumimoji="0" lang="zh-CN" altLang="en-US" sz="2800" b="1" i="0" u="none" strike="noStrike" cap="none" normalizeH="0" baseline="0" dirty="0">
                        <a:ln>
                          <a:noFill/>
                        </a:ln>
                        <a:solidFill>
                          <a:srgbClr val="800000"/>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endParaRPr>
                    </a:p>
                  </a:txBody>
                  <a:tcPr marL="91449" marR="91449" marT="45688" marB="4568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a:ln>
                            <a:noFill/>
                          </a:ln>
                          <a:solidFill>
                            <a:srgbClr val="800000"/>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rPr>
                        <a:t>c</a:t>
                      </a:r>
                      <a:endParaRPr kumimoji="0" lang="zh-CN" altLang="en-US" sz="2800" b="1" i="0" u="none" strike="noStrike" cap="none" normalizeH="0" baseline="0" dirty="0">
                        <a:ln>
                          <a:noFill/>
                        </a:ln>
                        <a:solidFill>
                          <a:srgbClr val="800000"/>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endParaRPr>
                    </a:p>
                  </a:txBody>
                  <a:tcPr marL="91449" marR="91449" marT="45688" marB="4568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a:ln>
                            <a:noFill/>
                          </a:ln>
                          <a:solidFill>
                            <a:srgbClr val="800000"/>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rPr>
                        <a:t>b</a:t>
                      </a:r>
                      <a:endParaRPr kumimoji="0" lang="zh-CN" altLang="en-US" sz="2800" b="1" i="0" u="none" strike="noStrike" cap="none" normalizeH="0" baseline="0" dirty="0">
                        <a:ln>
                          <a:noFill/>
                        </a:ln>
                        <a:solidFill>
                          <a:srgbClr val="800000"/>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endParaRPr>
                    </a:p>
                  </a:txBody>
                  <a:tcPr marL="91449" marR="91449" marT="45688" marB="4568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a:ln>
                            <a:noFill/>
                          </a:ln>
                          <a:solidFill>
                            <a:srgbClr val="800000"/>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rPr>
                        <a:t>a</a:t>
                      </a:r>
                      <a:endParaRPr kumimoji="0" lang="zh-CN" altLang="en-US" sz="2800" b="1" i="0" u="none" strike="noStrike" cap="none" normalizeH="0" baseline="0" dirty="0">
                        <a:ln>
                          <a:noFill/>
                        </a:ln>
                        <a:solidFill>
                          <a:srgbClr val="800000"/>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endParaRPr>
                    </a:p>
                  </a:txBody>
                  <a:tcPr marL="91449" marR="91449" marT="45688" marB="4568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10001"/>
                  </a:ext>
                </a:extLst>
              </a:tr>
            </a:tbl>
          </a:graphicData>
        </a:graphic>
      </p:graphicFrame>
      <p:sp>
        <p:nvSpPr>
          <p:cNvPr id="5" name="Rectangle 2">
            <a:extLst>
              <a:ext uri="{FF2B5EF4-FFF2-40B4-BE49-F238E27FC236}">
                <a16:creationId xmlns:a16="http://schemas.microsoft.com/office/drawing/2014/main" id="{6E1F4E62-DC89-4A17-997F-29C987077569}"/>
              </a:ext>
            </a:extLst>
          </p:cNvPr>
          <p:cNvSpPr>
            <a:spLocks noChangeArrowheads="1"/>
          </p:cNvSpPr>
          <p:nvPr/>
        </p:nvSpPr>
        <p:spPr bwMode="auto">
          <a:xfrm>
            <a:off x="827088" y="2536296"/>
            <a:ext cx="7154863" cy="1481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130000"/>
              </a:lnSpc>
            </a:pPr>
            <a:r>
              <a:rPr lang="en-US" altLang="zh-CN" b="1" dirty="0">
                <a:effectLst>
                  <a:outerShdw blurRad="38100" dist="38100" dir="2700000" algn="tl">
                    <a:srgbClr val="000000">
                      <a:alpha val="43137"/>
                    </a:srgbClr>
                  </a:outerShdw>
                </a:effectLst>
              </a:rPr>
              <a:t>LED</a:t>
            </a:r>
            <a:r>
              <a:rPr lang="zh-CN" altLang="en-US" b="1" dirty="0">
                <a:effectLst>
                  <a:outerShdw blurRad="38100" dist="38100" dir="2700000" algn="tl">
                    <a:srgbClr val="000000">
                      <a:alpha val="43137"/>
                    </a:srgbClr>
                  </a:outerShdw>
                </a:effectLst>
              </a:rPr>
              <a:t>具有正向连接时点亮，反向连接时熄灭的特性，改变</a:t>
            </a:r>
            <a:r>
              <a:rPr lang="en-US" altLang="zh-CN" b="1" dirty="0" err="1">
                <a:effectLst>
                  <a:outerShdw blurRad="38100" dist="38100" dir="2700000" algn="tl">
                    <a:srgbClr val="000000">
                      <a:alpha val="43137"/>
                    </a:srgbClr>
                  </a:outerShdw>
                </a:effectLst>
              </a:rPr>
              <a:t>a~g</a:t>
            </a:r>
            <a:r>
              <a:rPr lang="zh-CN" altLang="en-US" b="1" dirty="0">
                <a:effectLst>
                  <a:outerShdw blurRad="38100" dist="38100" dir="2700000" algn="tl">
                    <a:srgbClr val="000000">
                      <a:alpha val="43137"/>
                    </a:srgbClr>
                  </a:outerShdw>
                </a:effectLst>
              </a:rPr>
              <a:t>的组合电平即可形成不同的字形，这种组合电平称为</a:t>
            </a:r>
            <a:r>
              <a:rPr lang="zh-CN" altLang="en-US" b="1" dirty="0">
                <a:effectLst>
                  <a:outerShdw blurRad="38100" dist="38100" dir="2700000" algn="tl">
                    <a:srgbClr val="000000">
                      <a:alpha val="43137"/>
                    </a:srgbClr>
                  </a:outerShdw>
                </a:effectLst>
                <a:highlight>
                  <a:srgbClr val="FFFF00"/>
                </a:highlight>
              </a:rPr>
              <a:t>显示字模、显示码或段码</a:t>
            </a:r>
            <a:r>
              <a:rPr lang="zh-CN" altLang="en-US" b="1" dirty="0">
                <a:effectLst>
                  <a:outerShdw blurRad="38100" dist="38100" dir="2700000" algn="tl">
                    <a:srgbClr val="000000">
                      <a:alpha val="43137"/>
                    </a:srgbClr>
                  </a:outerShdw>
                </a:effectLst>
              </a:rPr>
              <a:t>。</a:t>
            </a:r>
          </a:p>
        </p:txBody>
      </p:sp>
      <p:sp>
        <p:nvSpPr>
          <p:cNvPr id="8" name="文本框 5" descr="羊皮纸">
            <a:extLst>
              <a:ext uri="{FF2B5EF4-FFF2-40B4-BE49-F238E27FC236}">
                <a16:creationId xmlns:a16="http://schemas.microsoft.com/office/drawing/2014/main" id="{1E5678C1-B0D3-4C73-93F0-FDCC0C0F0053}"/>
              </a:ext>
            </a:extLst>
          </p:cNvPr>
          <p:cNvSpPr txBox="1">
            <a:spLocks noChangeArrowheads="1"/>
          </p:cNvSpPr>
          <p:nvPr/>
        </p:nvSpPr>
        <p:spPr bwMode="auto">
          <a:xfrm>
            <a:off x="656873" y="4199468"/>
            <a:ext cx="7567613" cy="1944763"/>
          </a:xfrm>
          <a:prstGeom prst="rect">
            <a:avLst/>
          </a:prstGeom>
          <a:blipFill dpi="0" rotWithShape="1">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0"/>
              </a:spcBef>
              <a:buFontTx/>
              <a:buNone/>
            </a:pPr>
            <a:r>
              <a:rPr lang="zh-CN" altLang="en-US" sz="2400" dirty="0">
                <a:latin typeface="楷体" panose="02010609060101010101" pitchFamily="49" charset="-122"/>
                <a:ea typeface="楷体" panose="02010609060101010101" pitchFamily="49" charset="-122"/>
              </a:rPr>
              <a:t> </a:t>
            </a:r>
            <a:r>
              <a:rPr lang="zh-CN" altLang="en-US" sz="2400" b="1" dirty="0">
                <a:solidFill>
                  <a:srgbClr val="0000FF"/>
                </a:solidFill>
                <a:latin typeface="楷体" panose="02010609060101010101" pitchFamily="49" charset="-122"/>
                <a:ea typeface="楷体" panose="02010609060101010101" pitchFamily="49" charset="-122"/>
              </a:rPr>
              <a:t>为了使数码管显示不同的符号或数字，要把某些段发光二极管点亮，就要为</a:t>
            </a:r>
            <a:r>
              <a:rPr lang="en-US" altLang="zh-CN" sz="2400" b="1" dirty="0">
                <a:solidFill>
                  <a:srgbClr val="0000FF"/>
                </a:solidFill>
                <a:latin typeface="楷体" panose="02010609060101010101" pitchFamily="49" charset="-122"/>
                <a:ea typeface="楷体" panose="02010609060101010101" pitchFamily="49" charset="-122"/>
              </a:rPr>
              <a:t>LED</a:t>
            </a:r>
            <a:r>
              <a:rPr lang="zh-CN" altLang="en-US" sz="2400" b="1" dirty="0">
                <a:solidFill>
                  <a:srgbClr val="0000FF"/>
                </a:solidFill>
                <a:latin typeface="楷体" panose="02010609060101010101" pitchFamily="49" charset="-122"/>
                <a:ea typeface="楷体" panose="02010609060101010101" pitchFamily="49" charset="-122"/>
              </a:rPr>
              <a:t>数码管提供段码（字形码）</a:t>
            </a:r>
            <a:r>
              <a:rPr lang="zh-CN" altLang="en-US" sz="2400" b="1" dirty="0">
                <a:solidFill>
                  <a:schemeClr val="hlink"/>
                </a:solidFill>
                <a:latin typeface="楷体" panose="02010609060101010101" pitchFamily="49" charset="-122"/>
                <a:ea typeface="楷体" panose="02010609060101010101" pitchFamily="49" charset="-122"/>
              </a:rPr>
              <a:t>。</a:t>
            </a:r>
            <a:endParaRPr lang="en-US" altLang="zh-CN" sz="2400" b="1" dirty="0">
              <a:solidFill>
                <a:schemeClr val="hlink"/>
              </a:solidFill>
              <a:latin typeface="楷体" panose="02010609060101010101" pitchFamily="49" charset="-122"/>
              <a:ea typeface="楷体" panose="02010609060101010101" pitchFamily="49" charset="-122"/>
            </a:endParaRPr>
          </a:p>
          <a:p>
            <a:pPr eaLnBrk="1" hangingPunct="1">
              <a:lnSpc>
                <a:spcPct val="130000"/>
              </a:lnSpc>
              <a:spcBef>
                <a:spcPct val="0"/>
              </a:spcBef>
              <a:buFontTx/>
              <a:buNone/>
            </a:pPr>
            <a:r>
              <a:rPr lang="en-US" altLang="zh-CN" sz="2400" b="1" dirty="0">
                <a:solidFill>
                  <a:schemeClr val="hlink"/>
                </a:solidFill>
                <a:latin typeface="楷体" panose="02010609060101010101" pitchFamily="49" charset="-122"/>
                <a:ea typeface="楷体" panose="02010609060101010101" pitchFamily="49" charset="-122"/>
              </a:rPr>
              <a:t>  </a:t>
            </a:r>
            <a:r>
              <a:rPr lang="en-US" altLang="zh-CN" sz="2400" b="1" dirty="0">
                <a:latin typeface="楷体" panose="02010609060101010101" pitchFamily="49" charset="-122"/>
                <a:ea typeface="楷体" panose="02010609060101010101" pitchFamily="49" charset="-122"/>
              </a:rPr>
              <a:t>LED</a:t>
            </a:r>
            <a:r>
              <a:rPr lang="zh-CN" altLang="en-US" sz="2400" b="1" dirty="0">
                <a:latin typeface="楷体" panose="02010609060101010101" pitchFamily="49" charset="-122"/>
                <a:ea typeface="楷体" panose="02010609060101010101" pitchFamily="49" charset="-122"/>
              </a:rPr>
              <a:t>数码管共计</a:t>
            </a:r>
            <a:r>
              <a:rPr lang="en-US" altLang="zh-CN" sz="2400" b="1" dirty="0">
                <a:latin typeface="楷体" panose="02010609060101010101" pitchFamily="49" charset="-122"/>
                <a:ea typeface="楷体" panose="02010609060101010101" pitchFamily="49" charset="-122"/>
              </a:rPr>
              <a:t>8</a:t>
            </a:r>
            <a:r>
              <a:rPr lang="zh-CN" altLang="en-US" sz="2400" b="1" dirty="0">
                <a:latin typeface="楷体" panose="02010609060101010101" pitchFamily="49" charset="-122"/>
                <a:ea typeface="楷体" panose="02010609060101010101" pitchFamily="49" charset="-122"/>
              </a:rPr>
              <a:t>段。正好是一个字节。</a:t>
            </a:r>
          </a:p>
          <a:p>
            <a:pPr eaLnBrk="1" hangingPunct="1">
              <a:lnSpc>
                <a:spcPct val="130000"/>
              </a:lnSpc>
              <a:spcBef>
                <a:spcPct val="0"/>
              </a:spcBef>
              <a:buFontTx/>
              <a:buNone/>
            </a:pPr>
            <a:r>
              <a:rPr lang="zh-CN" altLang="en-US" sz="2400" b="1" u="sng" dirty="0">
                <a:latin typeface="楷体" panose="02010609060101010101" pitchFamily="49" charset="-122"/>
                <a:ea typeface="楷体" panose="02010609060101010101" pitchFamily="49" charset="-122"/>
              </a:rPr>
              <a:t>  习惯上是</a:t>
            </a:r>
            <a:r>
              <a:rPr lang="zh-CN" altLang="en-US" sz="2400" b="1" u="sng" dirty="0">
                <a:solidFill>
                  <a:srgbClr val="FF0000"/>
                </a:solidFill>
                <a:latin typeface="楷体" panose="02010609060101010101" pitchFamily="49" charset="-122"/>
                <a:ea typeface="楷体" panose="02010609060101010101" pitchFamily="49" charset="-122"/>
              </a:rPr>
              <a:t>以“</a:t>
            </a:r>
            <a:r>
              <a:rPr lang="en-US" altLang="zh-CN" sz="2400" b="1" u="sng" dirty="0">
                <a:solidFill>
                  <a:srgbClr val="FF0000"/>
                </a:solidFill>
                <a:latin typeface="楷体" panose="02010609060101010101" pitchFamily="49" charset="-122"/>
                <a:ea typeface="楷体" panose="02010609060101010101" pitchFamily="49" charset="-122"/>
              </a:rPr>
              <a:t>a”</a:t>
            </a:r>
            <a:r>
              <a:rPr lang="zh-CN" altLang="en-US" sz="2400" b="1" u="sng" dirty="0">
                <a:solidFill>
                  <a:srgbClr val="FF0000"/>
                </a:solidFill>
                <a:latin typeface="楷体" panose="02010609060101010101" pitchFamily="49" charset="-122"/>
                <a:ea typeface="楷体" panose="02010609060101010101" pitchFamily="49" charset="-122"/>
              </a:rPr>
              <a:t>段对应段码字节的最低位</a:t>
            </a:r>
            <a:r>
              <a:rPr lang="zh-CN" altLang="en-US" sz="2400" b="1" u="sng" dirty="0">
                <a:latin typeface="楷体" panose="02010609060101010101" pitchFamily="49" charset="-122"/>
                <a:ea typeface="楷体" panose="02010609060101010101" pitchFamily="49" charset="-122"/>
              </a:rP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389" name="Group 45"/>
          <p:cNvGrpSpPr/>
          <p:nvPr/>
        </p:nvGrpSpPr>
        <p:grpSpPr bwMode="auto">
          <a:xfrm>
            <a:off x="7392988" y="1003300"/>
            <a:ext cx="1117600" cy="1571625"/>
            <a:chOff x="4416" y="144"/>
            <a:chExt cx="1056" cy="1536"/>
          </a:xfrm>
        </p:grpSpPr>
        <p:sp>
          <p:nvSpPr>
            <p:cNvPr id="14376" name="Rectangle 2"/>
            <p:cNvSpPr>
              <a:spLocks noChangeArrowheads="1"/>
            </p:cNvSpPr>
            <p:nvPr/>
          </p:nvSpPr>
          <p:spPr bwMode="auto">
            <a:xfrm>
              <a:off x="4416" y="144"/>
              <a:ext cx="1056" cy="1536"/>
            </a:xfrm>
            <a:prstGeom prst="rect">
              <a:avLst/>
            </a:prstGeom>
            <a:noFill/>
            <a:ln w="38100">
              <a:solidFill>
                <a:srgbClr val="99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377" name="Line 3"/>
            <p:cNvSpPr>
              <a:spLocks noChangeShapeType="1"/>
            </p:cNvSpPr>
            <p:nvPr/>
          </p:nvSpPr>
          <p:spPr bwMode="auto">
            <a:xfrm>
              <a:off x="4560" y="336"/>
              <a:ext cx="0" cy="432"/>
            </a:xfrm>
            <a:prstGeom prst="line">
              <a:avLst/>
            </a:prstGeom>
            <a:noFill/>
            <a:ln w="38100">
              <a:solidFill>
                <a:srgbClr val="8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8" name="Line 4"/>
            <p:cNvSpPr>
              <a:spLocks noChangeShapeType="1"/>
            </p:cNvSpPr>
            <p:nvPr/>
          </p:nvSpPr>
          <p:spPr bwMode="auto">
            <a:xfrm>
              <a:off x="5136" y="336"/>
              <a:ext cx="0" cy="432"/>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9" name="Line 5"/>
            <p:cNvSpPr>
              <a:spLocks noChangeShapeType="1"/>
            </p:cNvSpPr>
            <p:nvPr/>
          </p:nvSpPr>
          <p:spPr bwMode="auto">
            <a:xfrm>
              <a:off x="4560" y="1032"/>
              <a:ext cx="0" cy="432"/>
            </a:xfrm>
            <a:prstGeom prst="line">
              <a:avLst/>
            </a:prstGeom>
            <a:noFill/>
            <a:ln w="38100">
              <a:solidFill>
                <a:srgbClr val="8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80" name="Line 6"/>
            <p:cNvSpPr>
              <a:spLocks noChangeShapeType="1"/>
            </p:cNvSpPr>
            <p:nvPr/>
          </p:nvSpPr>
          <p:spPr bwMode="auto">
            <a:xfrm>
              <a:off x="5136" y="1008"/>
              <a:ext cx="0" cy="432"/>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81" name="Line 7"/>
            <p:cNvSpPr>
              <a:spLocks noChangeShapeType="1"/>
            </p:cNvSpPr>
            <p:nvPr/>
          </p:nvSpPr>
          <p:spPr bwMode="auto">
            <a:xfrm>
              <a:off x="4656" y="288"/>
              <a:ext cx="384" cy="0"/>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82" name="Line 8"/>
            <p:cNvSpPr>
              <a:spLocks noChangeShapeType="1"/>
            </p:cNvSpPr>
            <p:nvPr/>
          </p:nvSpPr>
          <p:spPr bwMode="auto">
            <a:xfrm>
              <a:off x="4656" y="912"/>
              <a:ext cx="384" cy="0"/>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83" name="Line 9"/>
            <p:cNvSpPr>
              <a:spLocks noChangeShapeType="1"/>
            </p:cNvSpPr>
            <p:nvPr/>
          </p:nvSpPr>
          <p:spPr bwMode="auto">
            <a:xfrm>
              <a:off x="4656" y="1488"/>
              <a:ext cx="384" cy="0"/>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84" name="Oval 10"/>
            <p:cNvSpPr>
              <a:spLocks noChangeArrowheads="1"/>
            </p:cNvSpPr>
            <p:nvPr/>
          </p:nvSpPr>
          <p:spPr bwMode="auto">
            <a:xfrm>
              <a:off x="5232" y="1344"/>
              <a:ext cx="96" cy="96"/>
            </a:xfrm>
            <a:prstGeom prst="ellipse">
              <a:avLst/>
            </a:prstGeom>
            <a:solidFill>
              <a:srgbClr val="FF0000"/>
            </a:solidFill>
            <a:ln w="38100">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pic>
        <p:nvPicPr>
          <p:cNvPr id="57356" name="Picture 12" descr="xiao1"/>
          <p:cNvPicPr>
            <a:picLocks noChangeAspect="1" noChangeArrowheads="1"/>
          </p:cNvPicPr>
          <p:nvPr/>
        </p:nvPicPr>
        <p:blipFill>
          <a:blip r:embed="rId2">
            <a:extLst>
              <a:ext uri="{28A0092B-C50C-407E-A947-70E740481C1C}">
                <a14:useLocalDpi xmlns:a14="http://schemas.microsoft.com/office/drawing/2010/main" val="0"/>
              </a:ext>
            </a:extLst>
          </a:blip>
          <a:srcRect r="72917" b="14285"/>
          <a:stretch>
            <a:fillRect/>
          </a:stretch>
        </p:blipFill>
        <p:spPr bwMode="auto">
          <a:xfrm>
            <a:off x="5463858" y="796925"/>
            <a:ext cx="1817687" cy="251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57" name="Text Box 13"/>
          <p:cNvSpPr txBox="1">
            <a:spLocks noChangeArrowheads="1"/>
          </p:cNvSpPr>
          <p:nvPr/>
        </p:nvSpPr>
        <p:spPr bwMode="auto">
          <a:xfrm>
            <a:off x="5768975" y="342900"/>
            <a:ext cx="2582863" cy="522288"/>
          </a:xfrm>
          <a:prstGeom prst="rect">
            <a:avLst/>
          </a:prstGeom>
          <a:noFill/>
          <a:ln>
            <a:noFill/>
          </a:ln>
          <a:effectLst/>
        </p:spPr>
        <p:txBody>
          <a:bodyPr>
            <a:spAutoFit/>
          </a:bodyPr>
          <a:lstStyle/>
          <a:p>
            <a:pPr eaLnBrk="1" hangingPunct="1">
              <a:spcBef>
                <a:spcPct val="50000"/>
              </a:spcBef>
              <a:defRPr/>
            </a:pPr>
            <a:r>
              <a:rPr lang="zh-CN" altLang="en-US" sz="2800" b="1" dirty="0">
                <a:solidFill>
                  <a:srgbClr val="0000FF"/>
                </a:solidFill>
                <a:effectLst>
                  <a:outerShdw blurRad="38100" dist="38100" dir="2700000" algn="tl">
                    <a:srgbClr val="C0C0C0"/>
                  </a:outerShdw>
                </a:effectLst>
              </a:rPr>
              <a:t>以共阴极为例</a:t>
            </a:r>
            <a:endParaRPr lang="zh-CN" altLang="en-US" sz="2800" b="1" dirty="0">
              <a:effectLst>
                <a:outerShdw blurRad="38100" dist="38100" dir="2700000" algn="tl">
                  <a:srgbClr val="C0C0C0"/>
                </a:outerShdw>
              </a:effectLst>
            </a:endParaRPr>
          </a:p>
        </p:txBody>
      </p:sp>
      <p:sp>
        <p:nvSpPr>
          <p:cNvPr id="57388" name="Text Box 44"/>
          <p:cNvSpPr txBox="1">
            <a:spLocks noChangeArrowheads="1"/>
          </p:cNvSpPr>
          <p:nvPr/>
        </p:nvSpPr>
        <p:spPr bwMode="auto">
          <a:xfrm>
            <a:off x="4876800" y="5448300"/>
            <a:ext cx="3657600" cy="1016000"/>
          </a:xfrm>
          <a:prstGeom prst="rect">
            <a:avLst/>
          </a:prstGeom>
          <a:noFill/>
          <a:ln>
            <a:noFill/>
          </a:ln>
          <a:effectLst/>
        </p:spPr>
        <p:txBody>
          <a:bodyPr>
            <a:spAutoFit/>
          </a:bodyPr>
          <a:lstStyle/>
          <a:p>
            <a:pPr eaLnBrk="1" hangingPunct="1">
              <a:spcBef>
                <a:spcPct val="50000"/>
              </a:spcBef>
              <a:defRPr/>
            </a:pPr>
            <a:r>
              <a:rPr lang="zh-CN" altLang="en-US" b="1" dirty="0">
                <a:solidFill>
                  <a:schemeClr val="accent2"/>
                </a:solidFill>
                <a:effectLst>
                  <a:outerShdw blurRad="38100" dist="38100" dir="2700000" algn="tl">
                    <a:srgbClr val="C0C0C0"/>
                  </a:outerShdw>
                </a:effectLst>
                <a:latin typeface="Arial Black" panose="020B0A04020102020204" pitchFamily="34" charset="0"/>
                <a:ea typeface="黑体" panose="02010609060101010101" pitchFamily="49" charset="-122"/>
              </a:rPr>
              <a:t>称</a:t>
            </a:r>
            <a:r>
              <a:rPr lang="en-US" altLang="zh-CN" b="1" dirty="0">
                <a:solidFill>
                  <a:schemeClr val="accent2"/>
                </a:solidFill>
                <a:effectLst>
                  <a:outerShdw blurRad="38100" dist="38100" dir="2700000" algn="tl">
                    <a:srgbClr val="C0C0C0"/>
                  </a:outerShdw>
                </a:effectLst>
                <a:latin typeface="Arial Black" panose="020B0A04020102020204" pitchFamily="34" charset="0"/>
                <a:ea typeface="黑体" panose="02010609060101010101" pitchFamily="49" charset="-122"/>
              </a:rPr>
              <a:t>0CFH</a:t>
            </a:r>
            <a:r>
              <a:rPr lang="zh-CN" altLang="en-US" b="1" dirty="0">
                <a:solidFill>
                  <a:schemeClr val="accent2"/>
                </a:solidFill>
                <a:effectLst>
                  <a:outerShdw blurRad="38100" dist="38100" dir="2700000" algn="tl">
                    <a:srgbClr val="C0C0C0"/>
                  </a:outerShdw>
                </a:effectLst>
                <a:latin typeface="Arial Black" panose="020B0A04020102020204" pitchFamily="34" charset="0"/>
                <a:ea typeface="黑体" panose="02010609060101010101" pitchFamily="49" charset="-122"/>
              </a:rPr>
              <a:t>为码码</a:t>
            </a:r>
          </a:p>
          <a:p>
            <a:pPr eaLnBrk="1" hangingPunct="1">
              <a:spcBef>
                <a:spcPct val="50000"/>
              </a:spcBef>
              <a:defRPr/>
            </a:pPr>
            <a:r>
              <a:rPr lang="en-US" altLang="zh-CN" b="1" dirty="0">
                <a:solidFill>
                  <a:schemeClr val="accent2"/>
                </a:solidFill>
                <a:effectLst>
                  <a:outerShdw blurRad="38100" dist="38100" dir="2700000" algn="tl">
                    <a:srgbClr val="C0C0C0"/>
                  </a:outerShdw>
                </a:effectLst>
                <a:latin typeface="Arial Black" panose="020B0A04020102020204" pitchFamily="34" charset="0"/>
                <a:ea typeface="黑体" panose="02010609060101010101" pitchFamily="49" charset="-122"/>
              </a:rPr>
              <a:t>G</a:t>
            </a:r>
            <a:r>
              <a:rPr lang="zh-CN" altLang="en-US" b="1" dirty="0">
                <a:solidFill>
                  <a:schemeClr val="accent2"/>
                </a:solidFill>
                <a:effectLst>
                  <a:outerShdw blurRad="38100" dist="38100" dir="2700000" algn="tl">
                    <a:srgbClr val="C0C0C0"/>
                  </a:outerShdw>
                </a:effectLst>
                <a:latin typeface="Arial Black" panose="020B0A04020102020204" pitchFamily="34" charset="0"/>
                <a:ea typeface="黑体" panose="02010609060101010101" pitchFamily="49" charset="-122"/>
              </a:rPr>
              <a:t>端称为公共端</a:t>
            </a:r>
          </a:p>
        </p:txBody>
      </p:sp>
      <p:grpSp>
        <p:nvGrpSpPr>
          <p:cNvPr id="57396" name="Group 52"/>
          <p:cNvGrpSpPr/>
          <p:nvPr/>
        </p:nvGrpSpPr>
        <p:grpSpPr bwMode="auto">
          <a:xfrm>
            <a:off x="4267200" y="3413125"/>
            <a:ext cx="4781550" cy="2176463"/>
            <a:chOff x="2784" y="1632"/>
            <a:chExt cx="2917" cy="1371"/>
          </a:xfrm>
        </p:grpSpPr>
        <p:sp>
          <p:nvSpPr>
            <p:cNvPr id="57373" name="Text Box 29"/>
            <p:cNvSpPr txBox="1">
              <a:spLocks noChangeArrowheads="1"/>
            </p:cNvSpPr>
            <p:nvPr/>
          </p:nvSpPr>
          <p:spPr bwMode="auto">
            <a:xfrm>
              <a:off x="2784" y="1680"/>
              <a:ext cx="2304" cy="1323"/>
            </a:xfrm>
            <a:prstGeom prst="rect">
              <a:avLst/>
            </a:prstGeom>
            <a:noFill/>
            <a:ln>
              <a:noFill/>
            </a:ln>
            <a:effec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defRPr/>
              </a:pPr>
              <a:r>
                <a:rPr lang="en-US" altLang="zh-CN" b="1" dirty="0" err="1">
                  <a:effectLst>
                    <a:outerShdw blurRad="38100" dist="38100" dir="2700000" algn="tl">
                      <a:srgbClr val="C0C0C0"/>
                    </a:outerShdw>
                  </a:effectLst>
                </a:rPr>
                <a:t>dp</a:t>
              </a:r>
              <a:r>
                <a:rPr lang="en-US" altLang="zh-CN" b="1" dirty="0">
                  <a:effectLst>
                    <a:outerShdw blurRad="38100" dist="38100" dir="2700000" algn="tl">
                      <a:srgbClr val="C0C0C0"/>
                    </a:outerShdw>
                  </a:effectLst>
                </a:rPr>
                <a:t>   g    f     e   d    c    b    a</a:t>
              </a:r>
            </a:p>
            <a:p>
              <a:pPr eaLnBrk="1" hangingPunct="1">
                <a:spcBef>
                  <a:spcPct val="50000"/>
                </a:spcBef>
                <a:defRPr/>
              </a:pPr>
              <a:r>
                <a:rPr lang="en-US" altLang="zh-CN" b="1" dirty="0">
                  <a:effectLst>
                    <a:outerShdw blurRad="38100" dist="38100" dir="2700000" algn="tl">
                      <a:srgbClr val="C0C0C0"/>
                    </a:outerShdw>
                  </a:effectLst>
                </a:rPr>
                <a:t>d7  d6  d5  d4  d3  d2  d1 d0</a:t>
              </a:r>
            </a:p>
            <a:p>
              <a:pPr eaLnBrk="1" hangingPunct="1">
                <a:spcBef>
                  <a:spcPct val="50000"/>
                </a:spcBef>
                <a:buFontTx/>
                <a:buAutoNum type="arabicPlain"/>
                <a:defRPr/>
              </a:pPr>
              <a:r>
                <a:rPr lang="en-US" altLang="zh-CN" b="1" dirty="0">
                  <a:effectLst>
                    <a:outerShdw blurRad="38100" dist="38100" dir="2700000" algn="tl">
                      <a:srgbClr val="C0C0C0"/>
                    </a:outerShdw>
                  </a:effectLst>
                </a:rPr>
                <a:t>1     0    0    1    1    1   1</a:t>
              </a:r>
            </a:p>
            <a:p>
              <a:pPr eaLnBrk="1" hangingPunct="1">
                <a:spcBef>
                  <a:spcPct val="50000"/>
                </a:spcBef>
                <a:defRPr/>
              </a:pPr>
              <a:endParaRPr lang="en-US" altLang="zh-CN" b="1" dirty="0">
                <a:effectLst>
                  <a:outerShdw blurRad="38100" dist="38100" dir="2700000" algn="tl">
                    <a:srgbClr val="C0C0C0"/>
                  </a:outerShdw>
                </a:effectLst>
              </a:endParaRPr>
            </a:p>
          </p:txBody>
        </p:sp>
        <p:grpSp>
          <p:nvGrpSpPr>
            <p:cNvPr id="14363" name="Group 41"/>
            <p:cNvGrpSpPr/>
            <p:nvPr/>
          </p:nvGrpSpPr>
          <p:grpSpPr bwMode="auto">
            <a:xfrm>
              <a:off x="2784" y="1632"/>
              <a:ext cx="2208" cy="1057"/>
              <a:chOff x="3264" y="1920"/>
              <a:chExt cx="2208" cy="1057"/>
            </a:xfrm>
          </p:grpSpPr>
          <p:sp>
            <p:nvSpPr>
              <p:cNvPr id="14366" name="Rectangle 30"/>
              <p:cNvSpPr>
                <a:spLocks noChangeArrowheads="1"/>
              </p:cNvSpPr>
              <p:nvPr/>
            </p:nvSpPr>
            <p:spPr bwMode="auto">
              <a:xfrm>
                <a:off x="3264" y="1920"/>
                <a:ext cx="2208" cy="384"/>
              </a:xfrm>
              <a:prstGeom prst="rect">
                <a:avLst/>
              </a:prstGeom>
              <a:noFill/>
              <a:ln w="9525">
                <a:solidFill>
                  <a:srgbClr val="99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367" name="Rectangle 32"/>
              <p:cNvSpPr>
                <a:spLocks noChangeArrowheads="1"/>
              </p:cNvSpPr>
              <p:nvPr/>
            </p:nvSpPr>
            <p:spPr bwMode="auto">
              <a:xfrm>
                <a:off x="3264" y="2304"/>
                <a:ext cx="2208" cy="336"/>
              </a:xfrm>
              <a:prstGeom prst="rect">
                <a:avLst/>
              </a:prstGeom>
              <a:noFill/>
              <a:ln w="9525">
                <a:solidFill>
                  <a:srgbClr val="99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368" name="Rectangle 33"/>
              <p:cNvSpPr>
                <a:spLocks noChangeArrowheads="1"/>
              </p:cNvSpPr>
              <p:nvPr/>
            </p:nvSpPr>
            <p:spPr bwMode="auto">
              <a:xfrm>
                <a:off x="3264" y="2640"/>
                <a:ext cx="2208" cy="336"/>
              </a:xfrm>
              <a:prstGeom prst="rect">
                <a:avLst/>
              </a:prstGeom>
              <a:noFill/>
              <a:ln w="9525">
                <a:solidFill>
                  <a:srgbClr val="99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369" name="Line 34"/>
              <p:cNvSpPr>
                <a:spLocks noChangeShapeType="1"/>
              </p:cNvSpPr>
              <p:nvPr/>
            </p:nvSpPr>
            <p:spPr bwMode="auto">
              <a:xfrm>
                <a:off x="3552" y="1923"/>
                <a:ext cx="0" cy="1054"/>
              </a:xfrm>
              <a:prstGeom prst="line">
                <a:avLst/>
              </a:prstGeom>
              <a:noFill/>
              <a:ln w="9525">
                <a:solidFill>
                  <a:srgbClr val="99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0" name="Line 35"/>
              <p:cNvSpPr>
                <a:spLocks noChangeShapeType="1"/>
              </p:cNvSpPr>
              <p:nvPr/>
            </p:nvSpPr>
            <p:spPr bwMode="auto">
              <a:xfrm>
                <a:off x="3840" y="1920"/>
                <a:ext cx="0" cy="1054"/>
              </a:xfrm>
              <a:prstGeom prst="line">
                <a:avLst/>
              </a:prstGeom>
              <a:noFill/>
              <a:ln w="9525">
                <a:solidFill>
                  <a:srgbClr val="99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1" name="Line 36"/>
              <p:cNvSpPr>
                <a:spLocks noChangeShapeType="1"/>
              </p:cNvSpPr>
              <p:nvPr/>
            </p:nvSpPr>
            <p:spPr bwMode="auto">
              <a:xfrm>
                <a:off x="4128" y="1920"/>
                <a:ext cx="0" cy="1054"/>
              </a:xfrm>
              <a:prstGeom prst="line">
                <a:avLst/>
              </a:prstGeom>
              <a:noFill/>
              <a:ln w="9525">
                <a:solidFill>
                  <a:srgbClr val="99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2" name="Line 37"/>
              <p:cNvSpPr>
                <a:spLocks noChangeShapeType="1"/>
              </p:cNvSpPr>
              <p:nvPr/>
            </p:nvSpPr>
            <p:spPr bwMode="auto">
              <a:xfrm>
                <a:off x="4416" y="1920"/>
                <a:ext cx="0" cy="1054"/>
              </a:xfrm>
              <a:prstGeom prst="line">
                <a:avLst/>
              </a:prstGeom>
              <a:noFill/>
              <a:ln w="9525">
                <a:solidFill>
                  <a:srgbClr val="99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3" name="Line 38"/>
              <p:cNvSpPr>
                <a:spLocks noChangeShapeType="1"/>
              </p:cNvSpPr>
              <p:nvPr/>
            </p:nvSpPr>
            <p:spPr bwMode="auto">
              <a:xfrm>
                <a:off x="4704" y="1920"/>
                <a:ext cx="0" cy="1054"/>
              </a:xfrm>
              <a:prstGeom prst="line">
                <a:avLst/>
              </a:prstGeom>
              <a:noFill/>
              <a:ln w="9525">
                <a:solidFill>
                  <a:srgbClr val="99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4" name="Line 39"/>
              <p:cNvSpPr>
                <a:spLocks noChangeShapeType="1"/>
              </p:cNvSpPr>
              <p:nvPr/>
            </p:nvSpPr>
            <p:spPr bwMode="auto">
              <a:xfrm>
                <a:off x="4944" y="1920"/>
                <a:ext cx="0" cy="1054"/>
              </a:xfrm>
              <a:prstGeom prst="line">
                <a:avLst/>
              </a:prstGeom>
              <a:noFill/>
              <a:ln w="9525">
                <a:solidFill>
                  <a:srgbClr val="99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5" name="Line 40"/>
              <p:cNvSpPr>
                <a:spLocks noChangeShapeType="1"/>
              </p:cNvSpPr>
              <p:nvPr/>
            </p:nvSpPr>
            <p:spPr bwMode="auto">
              <a:xfrm>
                <a:off x="5232" y="1920"/>
                <a:ext cx="0" cy="1054"/>
              </a:xfrm>
              <a:prstGeom prst="line">
                <a:avLst/>
              </a:prstGeom>
              <a:noFill/>
              <a:ln w="9525">
                <a:solidFill>
                  <a:srgbClr val="99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364" name="Line 46"/>
            <p:cNvSpPr>
              <a:spLocks noChangeShapeType="1"/>
            </p:cNvSpPr>
            <p:nvPr/>
          </p:nvSpPr>
          <p:spPr bwMode="auto">
            <a:xfrm flipV="1">
              <a:off x="3648" y="2736"/>
              <a:ext cx="288" cy="192"/>
            </a:xfrm>
            <a:prstGeom prst="line">
              <a:avLst/>
            </a:prstGeom>
            <a:noFill/>
            <a:ln w="57150">
              <a:solidFill>
                <a:srgbClr val="99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91" name="Rectangle 47"/>
            <p:cNvSpPr>
              <a:spLocks noChangeArrowheads="1"/>
            </p:cNvSpPr>
            <p:nvPr/>
          </p:nvSpPr>
          <p:spPr bwMode="auto">
            <a:xfrm>
              <a:off x="5040" y="2352"/>
              <a:ext cx="661" cy="288"/>
            </a:xfrm>
            <a:prstGeom prst="rect">
              <a:avLst/>
            </a:prstGeom>
            <a:noFill/>
            <a:ln>
              <a:noFill/>
            </a:ln>
            <a:effectLst/>
          </p:spPr>
          <p:txBody>
            <a:bodyPr wrap="none">
              <a:spAutoFit/>
            </a:bodyPr>
            <a:lstStyle/>
            <a:p>
              <a:pPr eaLnBrk="1" hangingPunct="1">
                <a:defRPr/>
              </a:pPr>
              <a:r>
                <a:rPr lang="en-US" altLang="zh-CN" b="1" dirty="0">
                  <a:solidFill>
                    <a:schemeClr val="accent2"/>
                  </a:solidFill>
                  <a:effectLst>
                    <a:outerShdw blurRad="38100" dist="38100" dir="2700000" algn="tl">
                      <a:srgbClr val="C0C0C0"/>
                    </a:outerShdw>
                  </a:effectLst>
                  <a:latin typeface="Arial Black" panose="020B0A04020102020204" pitchFamily="34" charset="0"/>
                  <a:ea typeface="黑体" panose="02010609060101010101" pitchFamily="49" charset="-122"/>
                </a:rPr>
                <a:t>0CFH</a:t>
              </a:r>
            </a:p>
          </p:txBody>
        </p:sp>
      </p:grpSp>
      <p:grpSp>
        <p:nvGrpSpPr>
          <p:cNvPr id="57395" name="Group 51"/>
          <p:cNvGrpSpPr/>
          <p:nvPr/>
        </p:nvGrpSpPr>
        <p:grpSpPr bwMode="auto">
          <a:xfrm>
            <a:off x="228600" y="2947988"/>
            <a:ext cx="4038600" cy="3505200"/>
            <a:chOff x="144" y="1440"/>
            <a:chExt cx="2544" cy="2208"/>
          </a:xfrm>
        </p:grpSpPr>
        <p:pic>
          <p:nvPicPr>
            <p:cNvPr id="14346" name="Picture 15" descr="xiao1"/>
            <p:cNvPicPr>
              <a:picLocks noChangeAspect="1" noChangeArrowheads="1"/>
            </p:cNvPicPr>
            <p:nvPr/>
          </p:nvPicPr>
          <p:blipFill>
            <a:blip r:embed="rId2">
              <a:extLst>
                <a:ext uri="{28A0092B-C50C-407E-A947-70E740481C1C}">
                  <a14:useLocalDpi xmlns:a14="http://schemas.microsoft.com/office/drawing/2010/main" val="0"/>
                </a:ext>
              </a:extLst>
            </a:blip>
            <a:srcRect l="26508" r="42708" b="11363"/>
            <a:stretch>
              <a:fillRect/>
            </a:stretch>
          </p:blipFill>
          <p:spPr bwMode="auto">
            <a:xfrm>
              <a:off x="624" y="1440"/>
              <a:ext cx="1776" cy="2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60" name="Text Box 16"/>
            <p:cNvSpPr txBox="1">
              <a:spLocks noChangeArrowheads="1"/>
            </p:cNvSpPr>
            <p:nvPr/>
          </p:nvSpPr>
          <p:spPr bwMode="auto">
            <a:xfrm>
              <a:off x="144" y="1584"/>
              <a:ext cx="576" cy="288"/>
            </a:xfrm>
            <a:prstGeom prst="rect">
              <a:avLst/>
            </a:prstGeom>
            <a:noFill/>
            <a:ln>
              <a:noFill/>
            </a:ln>
            <a:effectLst/>
          </p:spPr>
          <p:txBody>
            <a:bodyPr>
              <a:spAutoFit/>
            </a:bodyPr>
            <a:lstStyle/>
            <a:p>
              <a:pPr eaLnBrk="1" hangingPunct="1">
                <a:spcBef>
                  <a:spcPct val="50000"/>
                </a:spcBef>
                <a:defRPr/>
              </a:pPr>
              <a:r>
                <a:rPr lang="en-US" altLang="zh-CN" b="1">
                  <a:solidFill>
                    <a:srgbClr val="FF0000"/>
                  </a:solidFill>
                  <a:effectLst>
                    <a:outerShdw blurRad="38100" dist="38100" dir="2700000" algn="tl">
                      <a:srgbClr val="C0C0C0"/>
                    </a:outerShdw>
                  </a:effectLst>
                  <a:latin typeface="Arial Black" panose="020B0A04020102020204" pitchFamily="34" charset="0"/>
                </a:rPr>
                <a:t>+5v</a:t>
              </a:r>
            </a:p>
          </p:txBody>
        </p:sp>
        <p:sp>
          <p:nvSpPr>
            <p:cNvPr id="14348" name="Line 18"/>
            <p:cNvSpPr>
              <a:spLocks noChangeShapeType="1"/>
            </p:cNvSpPr>
            <p:nvPr/>
          </p:nvSpPr>
          <p:spPr bwMode="auto">
            <a:xfrm>
              <a:off x="2160" y="3120"/>
              <a:ext cx="33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9" name="Line 19"/>
            <p:cNvSpPr>
              <a:spLocks noChangeShapeType="1"/>
            </p:cNvSpPr>
            <p:nvPr/>
          </p:nvSpPr>
          <p:spPr bwMode="auto">
            <a:xfrm>
              <a:off x="2496" y="3120"/>
              <a:ext cx="0" cy="336"/>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0" name="Line 20"/>
            <p:cNvSpPr>
              <a:spLocks noChangeShapeType="1"/>
            </p:cNvSpPr>
            <p:nvPr/>
          </p:nvSpPr>
          <p:spPr bwMode="auto">
            <a:xfrm>
              <a:off x="2322" y="3456"/>
              <a:ext cx="33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1" name="Line 21"/>
            <p:cNvSpPr>
              <a:spLocks noChangeShapeType="1"/>
            </p:cNvSpPr>
            <p:nvPr/>
          </p:nvSpPr>
          <p:spPr bwMode="auto">
            <a:xfrm>
              <a:off x="2400" y="3552"/>
              <a:ext cx="19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2" name="Line 22"/>
            <p:cNvSpPr>
              <a:spLocks noChangeShapeType="1"/>
            </p:cNvSpPr>
            <p:nvPr/>
          </p:nvSpPr>
          <p:spPr bwMode="auto">
            <a:xfrm>
              <a:off x="624" y="1728"/>
              <a:ext cx="336" cy="0"/>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3" name="Freeform 23"/>
            <p:cNvSpPr/>
            <p:nvPr/>
          </p:nvSpPr>
          <p:spPr bwMode="auto">
            <a:xfrm>
              <a:off x="672" y="1728"/>
              <a:ext cx="5" cy="1378"/>
            </a:xfrm>
            <a:custGeom>
              <a:avLst/>
              <a:gdLst>
                <a:gd name="T0" fmla="*/ 0 w 5"/>
                <a:gd name="T1" fmla="*/ 0 h 1152"/>
                <a:gd name="T2" fmla="*/ 5 w 5"/>
                <a:gd name="T3" fmla="*/ 701 h 1152"/>
                <a:gd name="T4" fmla="*/ 5 w 5"/>
                <a:gd name="T5" fmla="*/ 1315 h 1152"/>
                <a:gd name="T6" fmla="*/ 0 w 5"/>
                <a:gd name="T7" fmla="*/ 4036 h 1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 h="1152">
                  <a:moveTo>
                    <a:pt x="0" y="0"/>
                  </a:moveTo>
                  <a:lnTo>
                    <a:pt x="5" y="201"/>
                  </a:lnTo>
                  <a:lnTo>
                    <a:pt x="5" y="375"/>
                  </a:lnTo>
                  <a:lnTo>
                    <a:pt x="0" y="1152"/>
                  </a:lnTo>
                </a:path>
              </a:pathLst>
            </a:custGeom>
            <a:noFill/>
            <a:ln w="38100" cmpd="sng">
              <a:solidFill>
                <a:srgbClr val="FF0000"/>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4" name="Line 24"/>
            <p:cNvSpPr>
              <a:spLocks noChangeShapeType="1"/>
            </p:cNvSpPr>
            <p:nvPr/>
          </p:nvSpPr>
          <p:spPr bwMode="auto">
            <a:xfrm>
              <a:off x="672" y="2112"/>
              <a:ext cx="336" cy="0"/>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5" name="Line 25"/>
            <p:cNvSpPr>
              <a:spLocks noChangeShapeType="1"/>
            </p:cNvSpPr>
            <p:nvPr/>
          </p:nvSpPr>
          <p:spPr bwMode="auto">
            <a:xfrm>
              <a:off x="672" y="3120"/>
              <a:ext cx="336" cy="0"/>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6" name="Line 26"/>
            <p:cNvSpPr>
              <a:spLocks noChangeShapeType="1"/>
            </p:cNvSpPr>
            <p:nvPr/>
          </p:nvSpPr>
          <p:spPr bwMode="auto">
            <a:xfrm>
              <a:off x="672" y="1908"/>
              <a:ext cx="336" cy="0"/>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7" name="Line 27"/>
            <p:cNvSpPr>
              <a:spLocks noChangeShapeType="1"/>
            </p:cNvSpPr>
            <p:nvPr/>
          </p:nvSpPr>
          <p:spPr bwMode="auto">
            <a:xfrm>
              <a:off x="672" y="2292"/>
              <a:ext cx="288" cy="0"/>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8" name="Line 28"/>
            <p:cNvSpPr>
              <a:spLocks noChangeShapeType="1"/>
            </p:cNvSpPr>
            <p:nvPr/>
          </p:nvSpPr>
          <p:spPr bwMode="auto">
            <a:xfrm>
              <a:off x="672" y="2880"/>
              <a:ext cx="336" cy="0"/>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92" name="Text Box 48"/>
            <p:cNvSpPr txBox="1">
              <a:spLocks noChangeArrowheads="1"/>
            </p:cNvSpPr>
            <p:nvPr/>
          </p:nvSpPr>
          <p:spPr bwMode="auto">
            <a:xfrm>
              <a:off x="144" y="1920"/>
              <a:ext cx="480" cy="288"/>
            </a:xfrm>
            <a:prstGeom prst="rect">
              <a:avLst/>
            </a:prstGeom>
            <a:noFill/>
            <a:ln>
              <a:noFill/>
            </a:ln>
            <a:effectLst/>
          </p:spPr>
          <p:txBody>
            <a:bodyPr>
              <a:spAutoFit/>
            </a:bodyPr>
            <a:lstStyle/>
            <a:p>
              <a:pPr eaLnBrk="1" hangingPunct="1">
                <a:spcBef>
                  <a:spcPct val="50000"/>
                </a:spcBef>
                <a:defRPr/>
              </a:pPr>
              <a:r>
                <a:rPr lang="en-US" altLang="zh-CN" b="1">
                  <a:solidFill>
                    <a:schemeClr val="accent2"/>
                  </a:solidFill>
                  <a:effectLst>
                    <a:outerShdw blurRad="38100" dist="38100" dir="2700000" algn="tl">
                      <a:srgbClr val="C0C0C0"/>
                    </a:outerShdw>
                  </a:effectLst>
                </a:rPr>
                <a:t>“1”</a:t>
              </a:r>
            </a:p>
          </p:txBody>
        </p:sp>
        <p:sp>
          <p:nvSpPr>
            <p:cNvPr id="57393" name="Text Box 49"/>
            <p:cNvSpPr txBox="1">
              <a:spLocks noChangeArrowheads="1"/>
            </p:cNvSpPr>
            <p:nvPr/>
          </p:nvSpPr>
          <p:spPr bwMode="auto">
            <a:xfrm>
              <a:off x="2208" y="2784"/>
              <a:ext cx="480" cy="288"/>
            </a:xfrm>
            <a:prstGeom prst="rect">
              <a:avLst/>
            </a:prstGeom>
            <a:noFill/>
            <a:ln>
              <a:noFill/>
            </a:ln>
            <a:effectLst/>
          </p:spPr>
          <p:txBody>
            <a:bodyPr>
              <a:spAutoFit/>
            </a:bodyPr>
            <a:lstStyle/>
            <a:p>
              <a:pPr eaLnBrk="1" hangingPunct="1">
                <a:spcBef>
                  <a:spcPct val="50000"/>
                </a:spcBef>
                <a:defRPr/>
              </a:pPr>
              <a:r>
                <a:rPr lang="en-US" altLang="zh-CN" b="1">
                  <a:solidFill>
                    <a:schemeClr val="accent2"/>
                  </a:solidFill>
                  <a:effectLst>
                    <a:outerShdw blurRad="38100" dist="38100" dir="2700000" algn="tl">
                      <a:srgbClr val="C0C0C0"/>
                    </a:outerShdw>
                  </a:effectLst>
                </a:rPr>
                <a:t>“0”</a:t>
              </a:r>
            </a:p>
          </p:txBody>
        </p:sp>
        <p:sp>
          <p:nvSpPr>
            <p:cNvPr id="14361" name="Line 50"/>
            <p:cNvSpPr>
              <a:spLocks noChangeShapeType="1"/>
            </p:cNvSpPr>
            <p:nvPr/>
          </p:nvSpPr>
          <p:spPr bwMode="auto">
            <a:xfrm>
              <a:off x="2448" y="3648"/>
              <a:ext cx="96" cy="0"/>
            </a:xfrm>
            <a:prstGeom prst="line">
              <a:avLst/>
            </a:prstGeom>
            <a:noFill/>
            <a:ln w="571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9" name="Text Box 2"/>
          <p:cNvSpPr txBox="1">
            <a:spLocks noChangeArrowheads="1"/>
          </p:cNvSpPr>
          <p:nvPr/>
        </p:nvSpPr>
        <p:spPr bwMode="auto">
          <a:xfrm>
            <a:off x="609600" y="217488"/>
            <a:ext cx="3887788" cy="579437"/>
          </a:xfrm>
          <a:prstGeom prst="rect">
            <a:avLst/>
          </a:prstGeom>
          <a:noFill/>
          <a:ln>
            <a:noFill/>
          </a:ln>
          <a:effec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3600" b="1" dirty="0">
                <a:solidFill>
                  <a:srgbClr val="0000FF"/>
                </a:solidFill>
                <a:effectLst>
                  <a:outerShdw blurRad="38100" dist="38100" dir="2700000" algn="tl">
                    <a:srgbClr val="C0C0C0"/>
                  </a:outerShdw>
                </a:effectLst>
                <a:latin typeface="楷体_GB2312" pitchFamily="49" charset="-122"/>
                <a:ea typeface="楷体_GB2312" pitchFamily="49" charset="-122"/>
              </a:rPr>
              <a:t>段码</a:t>
            </a:r>
          </a:p>
        </p:txBody>
      </p:sp>
      <p:sp>
        <p:nvSpPr>
          <p:cNvPr id="50" name="Text Box 3"/>
          <p:cNvSpPr txBox="1">
            <a:spLocks noChangeArrowheads="1"/>
          </p:cNvSpPr>
          <p:nvPr/>
        </p:nvSpPr>
        <p:spPr bwMode="auto">
          <a:xfrm>
            <a:off x="571500" y="960438"/>
            <a:ext cx="4997450" cy="1987550"/>
          </a:xfrm>
          <a:prstGeom prst="rect">
            <a:avLst/>
          </a:prstGeom>
          <a:noFill/>
          <a:ln>
            <a:noFill/>
          </a:ln>
          <a:effectLst/>
        </p:spPr>
        <p:txBody>
          <a:bodyPr rIns="18000">
            <a:spAutoFit/>
          </a:bodyPr>
          <a:lstStyle/>
          <a:p>
            <a:pPr eaLnBrk="1" hangingPunct="1">
              <a:lnSpc>
                <a:spcPct val="110000"/>
              </a:lnSpc>
              <a:spcBef>
                <a:spcPct val="50000"/>
              </a:spcBef>
              <a:defRPr/>
            </a:pPr>
            <a:r>
              <a:rPr lang="zh-CN" altLang="en-US" sz="2800" b="1" dirty="0"/>
              <a:t>      每一段发光二极的亮灭状态分别用“</a:t>
            </a:r>
            <a:r>
              <a:rPr lang="en-US" altLang="zh-CN" sz="2800" b="1" dirty="0"/>
              <a:t>1”</a:t>
            </a:r>
            <a:r>
              <a:rPr lang="zh-CN" altLang="en-US" sz="2800" b="1" dirty="0"/>
              <a:t>或“</a:t>
            </a:r>
            <a:r>
              <a:rPr lang="en-US" altLang="zh-CN" sz="2800" b="1" dirty="0"/>
              <a:t>0”</a:t>
            </a:r>
            <a:r>
              <a:rPr lang="zh-CN" altLang="en-US" sz="2800" b="1" dirty="0"/>
              <a:t>表示，从</a:t>
            </a:r>
            <a:r>
              <a:rPr lang="en-US" altLang="zh-CN" sz="2800" b="1" dirty="0" err="1"/>
              <a:t>dp</a:t>
            </a:r>
            <a:r>
              <a:rPr lang="zh-CN" altLang="en-US" sz="2800" b="1" dirty="0"/>
              <a:t>到</a:t>
            </a:r>
            <a:r>
              <a:rPr lang="en-US" altLang="zh-CN" sz="2800" b="1" dirty="0"/>
              <a:t>a</a:t>
            </a:r>
            <a:r>
              <a:rPr lang="zh-CN" altLang="en-US" sz="2800" b="1" dirty="0"/>
              <a:t>这</a:t>
            </a:r>
            <a:r>
              <a:rPr lang="en-US" altLang="zh-CN" sz="2800" b="1" dirty="0"/>
              <a:t>8</a:t>
            </a:r>
            <a:r>
              <a:rPr lang="zh-CN" altLang="en-US" sz="2800" b="1" dirty="0"/>
              <a:t>段用</a:t>
            </a:r>
            <a:r>
              <a:rPr lang="en-US" altLang="zh-CN" sz="2800" b="1" dirty="0">
                <a:solidFill>
                  <a:srgbClr val="0000FF"/>
                </a:solidFill>
                <a:effectLst>
                  <a:outerShdw blurRad="38100" dist="38100" dir="2700000" algn="tl">
                    <a:srgbClr val="C0C0C0"/>
                  </a:outerShdw>
                </a:effectLst>
                <a:latin typeface="楷体_GB2312" pitchFamily="49" charset="-122"/>
                <a:ea typeface="楷体_GB2312" pitchFamily="49" charset="-122"/>
              </a:rPr>
              <a:t>8</a:t>
            </a:r>
            <a:r>
              <a:rPr lang="zh-CN" altLang="en-US" sz="2800" b="1" dirty="0">
                <a:solidFill>
                  <a:srgbClr val="0000FF"/>
                </a:solidFill>
                <a:effectLst>
                  <a:outerShdw blurRad="38100" dist="38100" dir="2700000" algn="tl">
                    <a:srgbClr val="C0C0C0"/>
                  </a:outerShdw>
                </a:effectLst>
                <a:latin typeface="楷体_GB2312" pitchFamily="49" charset="-122"/>
                <a:ea typeface="楷体_GB2312" pitchFamily="49" charset="-122"/>
              </a:rPr>
              <a:t>位二进制码</a:t>
            </a:r>
            <a:r>
              <a:rPr lang="zh-CN" altLang="en-US" sz="2800" b="1" dirty="0"/>
              <a:t>表示，称为段码。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diamond(in)">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735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735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nodeType="clickEffect">
                                  <p:stCondLst>
                                    <p:cond delay="0"/>
                                  </p:stCondLst>
                                  <p:childTnLst>
                                    <p:set>
                                      <p:cBhvr>
                                        <p:cTn id="19" dur="1" fill="hold">
                                          <p:stCondLst>
                                            <p:cond delay="0"/>
                                          </p:stCondLst>
                                        </p:cTn>
                                        <p:tgtEl>
                                          <p:spTgt spid="57389"/>
                                        </p:tgtEl>
                                        <p:attrNameLst>
                                          <p:attrName>style.visibility</p:attrName>
                                        </p:attrNameLst>
                                      </p:cBhvr>
                                      <p:to>
                                        <p:strVal val="visible"/>
                                      </p:to>
                                    </p:set>
                                    <p:anim calcmode="lin" valueType="num">
                                      <p:cBhvr>
                                        <p:cTn id="20" dur="500" fill="hold"/>
                                        <p:tgtEl>
                                          <p:spTgt spid="57389"/>
                                        </p:tgtEl>
                                        <p:attrNameLst>
                                          <p:attrName>ppt_w</p:attrName>
                                        </p:attrNameLst>
                                      </p:cBhvr>
                                      <p:tavLst>
                                        <p:tav tm="0">
                                          <p:val>
                                            <p:fltVal val="0"/>
                                          </p:val>
                                        </p:tav>
                                        <p:tav tm="100000">
                                          <p:val>
                                            <p:strVal val="#ppt_w"/>
                                          </p:val>
                                        </p:tav>
                                      </p:tavLst>
                                    </p:anim>
                                    <p:anim calcmode="lin" valueType="num">
                                      <p:cBhvr>
                                        <p:cTn id="21" dur="500" fill="hold"/>
                                        <p:tgtEl>
                                          <p:spTgt spid="57389"/>
                                        </p:tgtEl>
                                        <p:attrNameLst>
                                          <p:attrName>ppt_h</p:attrName>
                                        </p:attrNameLst>
                                      </p:cBhvr>
                                      <p:tavLst>
                                        <p:tav tm="0">
                                          <p:val>
                                            <p:fltVal val="0"/>
                                          </p:val>
                                        </p:tav>
                                        <p:tav tm="100000">
                                          <p:val>
                                            <p:strVal val="#ppt_h"/>
                                          </p:val>
                                        </p:tav>
                                      </p:tavLst>
                                    </p:anim>
                                    <p:animEffect transition="in" filter="fade">
                                      <p:cBhvr>
                                        <p:cTn id="22" dur="500"/>
                                        <p:tgtEl>
                                          <p:spTgt spid="57389"/>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57395"/>
                                        </p:tgtEl>
                                        <p:attrNameLst>
                                          <p:attrName>style.visibility</p:attrName>
                                        </p:attrNameLst>
                                      </p:cBhvr>
                                      <p:to>
                                        <p:strVal val="visible"/>
                                      </p:to>
                                    </p:set>
                                    <p:anim calcmode="lin" valueType="num">
                                      <p:cBhvr>
                                        <p:cTn id="27" dur="500" fill="hold"/>
                                        <p:tgtEl>
                                          <p:spTgt spid="57395"/>
                                        </p:tgtEl>
                                        <p:attrNameLst>
                                          <p:attrName>ppt_w</p:attrName>
                                        </p:attrNameLst>
                                      </p:cBhvr>
                                      <p:tavLst>
                                        <p:tav tm="0">
                                          <p:val>
                                            <p:fltVal val="0"/>
                                          </p:val>
                                        </p:tav>
                                        <p:tav tm="100000">
                                          <p:val>
                                            <p:strVal val="#ppt_w"/>
                                          </p:val>
                                        </p:tav>
                                      </p:tavLst>
                                    </p:anim>
                                    <p:anim calcmode="lin" valueType="num">
                                      <p:cBhvr>
                                        <p:cTn id="28" dur="500" fill="hold"/>
                                        <p:tgtEl>
                                          <p:spTgt spid="57395"/>
                                        </p:tgtEl>
                                        <p:attrNameLst>
                                          <p:attrName>ppt_h</p:attrName>
                                        </p:attrNameLst>
                                      </p:cBhvr>
                                      <p:tavLst>
                                        <p:tav tm="0">
                                          <p:val>
                                            <p:fltVal val="0"/>
                                          </p:val>
                                        </p:tav>
                                        <p:tav tm="100000">
                                          <p:val>
                                            <p:strVal val="#ppt_h"/>
                                          </p:val>
                                        </p:tav>
                                      </p:tavLst>
                                    </p:anim>
                                    <p:animEffect transition="in" filter="fade">
                                      <p:cBhvr>
                                        <p:cTn id="29" dur="500"/>
                                        <p:tgtEl>
                                          <p:spTgt spid="57395"/>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nodeType="clickEffect">
                                  <p:stCondLst>
                                    <p:cond delay="0"/>
                                  </p:stCondLst>
                                  <p:childTnLst>
                                    <p:set>
                                      <p:cBhvr>
                                        <p:cTn id="33" dur="1" fill="hold">
                                          <p:stCondLst>
                                            <p:cond delay="0"/>
                                          </p:stCondLst>
                                        </p:cTn>
                                        <p:tgtEl>
                                          <p:spTgt spid="57396"/>
                                        </p:tgtEl>
                                        <p:attrNameLst>
                                          <p:attrName>style.visibility</p:attrName>
                                        </p:attrNameLst>
                                      </p:cBhvr>
                                      <p:to>
                                        <p:strVal val="visible"/>
                                      </p:to>
                                    </p:set>
                                    <p:animEffect transition="in" filter="barn(inVertical)">
                                      <p:cBhvr>
                                        <p:cTn id="34" dur="500"/>
                                        <p:tgtEl>
                                          <p:spTgt spid="57396"/>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57388"/>
                                        </p:tgtEl>
                                        <p:attrNameLst>
                                          <p:attrName>style.visibility</p:attrName>
                                        </p:attrNameLst>
                                      </p:cBhvr>
                                      <p:to>
                                        <p:strVal val="visible"/>
                                      </p:to>
                                    </p:set>
                                    <p:animEffect transition="in" filter="barn(inVertical)">
                                      <p:cBhvr>
                                        <p:cTn id="37" dur="500"/>
                                        <p:tgtEl>
                                          <p:spTgt spid="573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7" grpId="0"/>
      <p:bldP spid="57388" grpId="0"/>
      <p:bldP spid="50"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60969" y="562681"/>
            <a:ext cx="8283575" cy="404813"/>
          </a:xfrm>
          <a:noFill/>
        </p:spPr>
        <p:txBody>
          <a:bodyPr>
            <a:normAutofit fontScale="90000"/>
          </a:bodyPr>
          <a:lstStyle/>
          <a:p>
            <a:pPr eaLnBrk="1" hangingPunct="1">
              <a:defRPr/>
            </a:pPr>
            <a:r>
              <a:rPr lang="zh-CN" altLang="zh-CN" sz="2800" b="1" dirty="0">
                <a:effectLst>
                  <a:outerShdw blurRad="38100" dist="38100" dir="2700000" algn="tl">
                    <a:srgbClr val="FFFFFF"/>
                  </a:outerShdw>
                </a:effectLst>
                <a:latin typeface="楷体" panose="02010609060101010101" pitchFamily="49" charset="-122"/>
                <a:ea typeface="楷体" panose="02010609060101010101" pitchFamily="49" charset="-122"/>
                <a:cs typeface="华文行楷" charset="-122"/>
              </a:rPr>
              <a:t>共阴极和共阳极</a:t>
            </a:r>
            <a:r>
              <a:rPr lang="en-US" altLang="zh-CN" sz="2800" b="1" dirty="0">
                <a:effectLst>
                  <a:outerShdw blurRad="38100" dist="38100" dir="2700000" algn="tl">
                    <a:srgbClr val="FFFFFF"/>
                  </a:outerShdw>
                </a:effectLst>
                <a:latin typeface="楷体" panose="02010609060101010101" pitchFamily="49" charset="-122"/>
                <a:ea typeface="楷体" panose="02010609060101010101" pitchFamily="49" charset="-122"/>
                <a:cs typeface="华文行楷" charset="-122"/>
              </a:rPr>
              <a:t>LED</a:t>
            </a:r>
            <a:r>
              <a:rPr lang="zh-CN" altLang="zh-CN" sz="2800" b="1" dirty="0">
                <a:effectLst>
                  <a:outerShdw blurRad="38100" dist="38100" dir="2700000" algn="tl">
                    <a:srgbClr val="FFFFFF"/>
                  </a:outerShdw>
                </a:effectLst>
                <a:latin typeface="楷体" panose="02010609060101010101" pitchFamily="49" charset="-122"/>
                <a:ea typeface="楷体" panose="02010609060101010101" pitchFamily="49" charset="-122"/>
                <a:cs typeface="华文行楷" charset="-122"/>
              </a:rPr>
              <a:t>数码管字形与对应段码表</a:t>
            </a:r>
            <a:endParaRPr lang="zh-CN" altLang="en-US" sz="2800" b="1" dirty="0">
              <a:effectLst>
                <a:outerShdw blurRad="38100" dist="38100" dir="2700000" algn="tl">
                  <a:srgbClr val="FFFFFF"/>
                </a:outerShdw>
              </a:effectLst>
              <a:latin typeface="楷体" panose="02010609060101010101" pitchFamily="49" charset="-122"/>
              <a:ea typeface="楷体" panose="02010609060101010101" pitchFamily="49" charset="-122"/>
              <a:cs typeface="华文行楷" charset="-122"/>
            </a:endParaRPr>
          </a:p>
        </p:txBody>
      </p:sp>
      <p:graphicFrame>
        <p:nvGraphicFramePr>
          <p:cNvPr id="327763" name="Group 83"/>
          <p:cNvGraphicFramePr>
            <a:graphicFrameLocks noGrp="1"/>
          </p:cNvGraphicFramePr>
          <p:nvPr>
            <p:ph idx="1"/>
            <p:custDataLst>
              <p:tags r:id="rId1"/>
            </p:custDataLst>
            <p:extLst>
              <p:ext uri="{D42A27DB-BD31-4B8C-83A1-F6EECF244321}">
                <p14:modId xmlns:p14="http://schemas.microsoft.com/office/powerpoint/2010/main" val="2214347738"/>
              </p:ext>
            </p:extLst>
          </p:nvPr>
        </p:nvGraphicFramePr>
        <p:xfrm>
          <a:off x="157957" y="1451152"/>
          <a:ext cx="8828086" cy="2228850"/>
        </p:xfrm>
        <a:graphic>
          <a:graphicData uri="http://schemas.openxmlformats.org/drawingml/2006/table">
            <a:tbl>
              <a:tblPr/>
              <a:tblGrid>
                <a:gridCol w="1452956">
                  <a:extLst>
                    <a:ext uri="{9D8B030D-6E8A-4147-A177-3AD203B41FA5}">
                      <a16:colId xmlns:a16="http://schemas.microsoft.com/office/drawing/2014/main" val="20000"/>
                    </a:ext>
                  </a:extLst>
                </a:gridCol>
                <a:gridCol w="754066">
                  <a:extLst>
                    <a:ext uri="{9D8B030D-6E8A-4147-A177-3AD203B41FA5}">
                      <a16:colId xmlns:a16="http://schemas.microsoft.com/office/drawing/2014/main" val="20001"/>
                    </a:ext>
                  </a:extLst>
                </a:gridCol>
                <a:gridCol w="754066">
                  <a:extLst>
                    <a:ext uri="{9D8B030D-6E8A-4147-A177-3AD203B41FA5}">
                      <a16:colId xmlns:a16="http://schemas.microsoft.com/office/drawing/2014/main" val="20002"/>
                    </a:ext>
                  </a:extLst>
                </a:gridCol>
                <a:gridCol w="807708">
                  <a:extLst>
                    <a:ext uri="{9D8B030D-6E8A-4147-A177-3AD203B41FA5}">
                      <a16:colId xmlns:a16="http://schemas.microsoft.com/office/drawing/2014/main" val="20003"/>
                    </a:ext>
                  </a:extLst>
                </a:gridCol>
                <a:gridCol w="766327">
                  <a:extLst>
                    <a:ext uri="{9D8B030D-6E8A-4147-A177-3AD203B41FA5}">
                      <a16:colId xmlns:a16="http://schemas.microsoft.com/office/drawing/2014/main" val="20004"/>
                    </a:ext>
                  </a:extLst>
                </a:gridCol>
                <a:gridCol w="754066">
                  <a:extLst>
                    <a:ext uri="{9D8B030D-6E8A-4147-A177-3AD203B41FA5}">
                      <a16:colId xmlns:a16="http://schemas.microsoft.com/office/drawing/2014/main" val="20005"/>
                    </a:ext>
                  </a:extLst>
                </a:gridCol>
                <a:gridCol w="726478">
                  <a:extLst>
                    <a:ext uri="{9D8B030D-6E8A-4147-A177-3AD203B41FA5}">
                      <a16:colId xmlns:a16="http://schemas.microsoft.com/office/drawing/2014/main" val="20006"/>
                    </a:ext>
                  </a:extLst>
                </a:gridCol>
                <a:gridCol w="754066">
                  <a:extLst>
                    <a:ext uri="{9D8B030D-6E8A-4147-A177-3AD203B41FA5}">
                      <a16:colId xmlns:a16="http://schemas.microsoft.com/office/drawing/2014/main" val="20007"/>
                    </a:ext>
                  </a:extLst>
                </a:gridCol>
                <a:gridCol w="698890">
                  <a:extLst>
                    <a:ext uri="{9D8B030D-6E8A-4147-A177-3AD203B41FA5}">
                      <a16:colId xmlns:a16="http://schemas.microsoft.com/office/drawing/2014/main" val="20008"/>
                    </a:ext>
                  </a:extLst>
                </a:gridCol>
                <a:gridCol w="686629">
                  <a:extLst>
                    <a:ext uri="{9D8B030D-6E8A-4147-A177-3AD203B41FA5}">
                      <a16:colId xmlns:a16="http://schemas.microsoft.com/office/drawing/2014/main" val="20009"/>
                    </a:ext>
                  </a:extLst>
                </a:gridCol>
                <a:gridCol w="672834">
                  <a:extLst>
                    <a:ext uri="{9D8B030D-6E8A-4147-A177-3AD203B41FA5}">
                      <a16:colId xmlns:a16="http://schemas.microsoft.com/office/drawing/2014/main" val="20010"/>
                    </a:ext>
                  </a:extLst>
                </a:gridCol>
              </a:tblGrid>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字形</a:t>
                      </a: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0</a:t>
                      </a:r>
                      <a:endParaRPr kumimoji="0" lang="zh-CN" altLang="en-US"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1</a:t>
                      </a:r>
                      <a:endParaRPr kumimoji="0" lang="zh-CN" altLang="en-US"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2</a:t>
                      </a:r>
                      <a:endParaRPr kumimoji="0" lang="zh-CN" altLang="en-US"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3</a:t>
                      </a:r>
                      <a:endParaRPr kumimoji="0" lang="zh-CN" altLang="en-US"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4</a:t>
                      </a:r>
                      <a:endParaRPr kumimoji="0" lang="zh-CN" altLang="en-US"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5</a:t>
                      </a:r>
                      <a:endParaRPr kumimoji="0" lang="zh-CN" altLang="en-US"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6</a:t>
                      </a:r>
                      <a:endParaRPr kumimoji="0" lang="zh-CN" altLang="en-US"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7</a:t>
                      </a:r>
                      <a:endParaRPr kumimoji="0" lang="zh-CN" altLang="en-US"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8</a:t>
                      </a:r>
                      <a:endParaRPr kumimoji="0" lang="zh-CN" altLang="en-US"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9</a:t>
                      </a:r>
                      <a:endParaRPr kumimoji="0" lang="zh-CN" altLang="en-US"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extLst>
                  <a:ext uri="{0D108BD9-81ED-4DB2-BD59-A6C34878D82A}">
                    <a16:rowId xmlns:a16="http://schemas.microsoft.com/office/drawing/2014/main" val="10000"/>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共阴段码</a:t>
                      </a: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3FH</a:t>
                      </a:r>
                      <a:endParaRPr kumimoji="0" lang="zh-CN" altLang="en-US"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06H</a:t>
                      </a:r>
                      <a:endParaRPr kumimoji="0" lang="zh-CN" altLang="en-US"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5BH</a:t>
                      </a:r>
                      <a:endParaRPr kumimoji="0" lang="zh-CN" altLang="en-US"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4FH</a:t>
                      </a:r>
                      <a:endParaRPr kumimoji="0" lang="zh-CN" altLang="en-US"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66H</a:t>
                      </a:r>
                      <a:endParaRPr kumimoji="0" lang="zh-CN" altLang="en-US"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6DH</a:t>
                      </a:r>
                      <a:endParaRPr kumimoji="0" lang="zh-CN" altLang="en-US"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7DH</a:t>
                      </a:r>
                      <a:endParaRPr kumimoji="0" lang="zh-CN" altLang="en-US"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07H</a:t>
                      </a:r>
                      <a:endParaRPr kumimoji="0" lang="zh-CN" altLang="en-US"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7FH</a:t>
                      </a:r>
                      <a:endParaRPr kumimoji="0" lang="zh-CN" altLang="en-US"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6FH</a:t>
                      </a:r>
                      <a:endParaRPr kumimoji="0" lang="zh-CN" altLang="en-US"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共阳段码</a:t>
                      </a: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C0H</a:t>
                      </a:r>
                      <a:endParaRPr kumimoji="0" lang="zh-CN" altLang="en-US"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F9H</a:t>
                      </a:r>
                      <a:endParaRPr kumimoji="0" lang="zh-CN" altLang="en-US"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A4H</a:t>
                      </a:r>
                      <a:endParaRPr kumimoji="0" lang="zh-CN" altLang="en-US"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B0H</a:t>
                      </a:r>
                      <a:endParaRPr kumimoji="0" lang="zh-CN" altLang="en-US"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99H</a:t>
                      </a:r>
                      <a:endParaRPr kumimoji="0" lang="zh-CN" altLang="en-US"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92H</a:t>
                      </a:r>
                      <a:endParaRPr kumimoji="0" lang="zh-CN" altLang="en-US"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82H</a:t>
                      </a:r>
                      <a:endParaRPr kumimoji="0" lang="zh-CN" altLang="en-US"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F8H</a:t>
                      </a:r>
                      <a:endParaRPr kumimoji="0" lang="zh-CN" altLang="en-US"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80H</a:t>
                      </a:r>
                      <a:endParaRPr kumimoji="0" lang="zh-CN" altLang="en-US"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90H</a:t>
                      </a:r>
                      <a:endParaRPr kumimoji="0" lang="zh-CN" altLang="en-US"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FF66"/>
                    </a:solidFill>
                  </a:tcPr>
                </a:tc>
                <a:extLst>
                  <a:ext uri="{0D108BD9-81ED-4DB2-BD59-A6C34878D82A}">
                    <a16:rowId xmlns:a16="http://schemas.microsoft.com/office/drawing/2014/main" val="10002"/>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kern="1200" cap="none" normalizeH="0" baseline="0" dirty="0">
                          <a:ln>
                            <a:noFill/>
                          </a:ln>
                          <a:solidFill>
                            <a:srgbClr val="FFFFFF"/>
                          </a:solidFill>
                          <a:effectLst/>
                          <a:latin typeface="Calibri" panose="020F0502020204030204" pitchFamily="34" charset="0"/>
                          <a:ea typeface="宋体" panose="02010600030101010101" pitchFamily="2" charset="-122"/>
                          <a:cs typeface="+mn-cs"/>
                        </a:rPr>
                        <a:t>字形</a:t>
                      </a:r>
                    </a:p>
                  </a:txBody>
                  <a:tcPr marL="68578" marR="68578"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800" b="1" i="0" u="none" strike="noStrike" kern="1200" cap="none" normalizeH="0" baseline="0" dirty="0">
                          <a:ln>
                            <a:noFill/>
                          </a:ln>
                          <a:solidFill>
                            <a:srgbClr val="FFFFFF"/>
                          </a:solidFill>
                          <a:effectLst/>
                          <a:latin typeface="Calibri" panose="020F0502020204030204" pitchFamily="34" charset="0"/>
                          <a:ea typeface="宋体" panose="02010600030101010101" pitchFamily="2" charset="-122"/>
                          <a:cs typeface="+mn-cs"/>
                        </a:rPr>
                        <a:t>A</a:t>
                      </a:r>
                      <a:endParaRPr kumimoji="0" lang="zh-CN" altLang="en-US" sz="1800" b="1" i="0" u="none" strike="noStrike" kern="1200" cap="none" normalizeH="0" baseline="0" dirty="0">
                        <a:ln>
                          <a:noFill/>
                        </a:ln>
                        <a:solidFill>
                          <a:srgbClr val="FFFFFF"/>
                        </a:solidFill>
                        <a:effectLst/>
                        <a:latin typeface="Calibri" panose="020F0502020204030204" pitchFamily="34" charset="0"/>
                        <a:ea typeface="宋体" panose="02010600030101010101" pitchFamily="2" charset="-122"/>
                        <a:cs typeface="+mn-cs"/>
                      </a:endParaRPr>
                    </a:p>
                  </a:txBody>
                  <a:tcPr marL="68578" marR="68578"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800" b="1" i="0" u="none" strike="noStrike" kern="1200" cap="none" normalizeH="0" baseline="0" dirty="0">
                          <a:ln>
                            <a:noFill/>
                          </a:ln>
                          <a:solidFill>
                            <a:srgbClr val="FFFFFF"/>
                          </a:solidFill>
                          <a:effectLst/>
                          <a:latin typeface="Calibri" panose="020F0502020204030204" pitchFamily="34" charset="0"/>
                          <a:ea typeface="宋体" panose="02010600030101010101" pitchFamily="2" charset="-122"/>
                          <a:cs typeface="+mn-cs"/>
                        </a:rPr>
                        <a:t>B</a:t>
                      </a:r>
                      <a:endParaRPr kumimoji="0" lang="zh-CN" altLang="en-US" sz="1800" b="1" i="0" u="none" strike="noStrike" kern="1200" cap="none" normalizeH="0" baseline="0" dirty="0">
                        <a:ln>
                          <a:noFill/>
                        </a:ln>
                        <a:solidFill>
                          <a:srgbClr val="FFFFFF"/>
                        </a:solidFill>
                        <a:effectLst/>
                        <a:latin typeface="Calibri" panose="020F0502020204030204" pitchFamily="34" charset="0"/>
                        <a:ea typeface="宋体" panose="02010600030101010101" pitchFamily="2" charset="-122"/>
                        <a:cs typeface="+mn-cs"/>
                      </a:endParaRPr>
                    </a:p>
                  </a:txBody>
                  <a:tcPr marL="68578" marR="68578"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800" b="1" i="0" u="none" strike="noStrike" kern="1200" cap="none" normalizeH="0" baseline="0" dirty="0">
                          <a:ln>
                            <a:noFill/>
                          </a:ln>
                          <a:solidFill>
                            <a:srgbClr val="FFFFFF"/>
                          </a:solidFill>
                          <a:effectLst/>
                          <a:latin typeface="Calibri" panose="020F0502020204030204" pitchFamily="34" charset="0"/>
                          <a:ea typeface="宋体" panose="02010600030101010101" pitchFamily="2" charset="-122"/>
                          <a:cs typeface="+mn-cs"/>
                        </a:rPr>
                        <a:t>C</a:t>
                      </a:r>
                      <a:endParaRPr kumimoji="0" lang="zh-CN" altLang="en-US" sz="1800" b="1" i="0" u="none" strike="noStrike" kern="1200" cap="none" normalizeH="0" baseline="0" dirty="0">
                        <a:ln>
                          <a:noFill/>
                        </a:ln>
                        <a:solidFill>
                          <a:srgbClr val="FFFFFF"/>
                        </a:solidFill>
                        <a:effectLst/>
                        <a:latin typeface="Calibri" panose="020F0502020204030204" pitchFamily="34" charset="0"/>
                        <a:ea typeface="宋体" panose="02010600030101010101" pitchFamily="2" charset="-122"/>
                        <a:cs typeface="+mn-cs"/>
                      </a:endParaRPr>
                    </a:p>
                  </a:txBody>
                  <a:tcPr marL="68578" marR="68578"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800" b="1" i="0" u="none" strike="noStrike" kern="1200" cap="none" normalizeH="0" baseline="0" dirty="0">
                          <a:ln>
                            <a:noFill/>
                          </a:ln>
                          <a:solidFill>
                            <a:srgbClr val="FFFFFF"/>
                          </a:solidFill>
                          <a:effectLst/>
                          <a:latin typeface="Calibri" panose="020F0502020204030204" pitchFamily="34" charset="0"/>
                          <a:ea typeface="宋体" panose="02010600030101010101" pitchFamily="2" charset="-122"/>
                          <a:cs typeface="+mn-cs"/>
                        </a:rPr>
                        <a:t>D</a:t>
                      </a:r>
                      <a:endParaRPr kumimoji="0" lang="zh-CN" altLang="en-US" sz="1800" b="1" i="0" u="none" strike="noStrike" kern="1200" cap="none" normalizeH="0" baseline="0" dirty="0">
                        <a:ln>
                          <a:noFill/>
                        </a:ln>
                        <a:solidFill>
                          <a:srgbClr val="FFFFFF"/>
                        </a:solidFill>
                        <a:effectLst/>
                        <a:latin typeface="Calibri" panose="020F0502020204030204" pitchFamily="34" charset="0"/>
                        <a:ea typeface="宋体" panose="02010600030101010101" pitchFamily="2" charset="-122"/>
                        <a:cs typeface="+mn-cs"/>
                      </a:endParaRPr>
                    </a:p>
                  </a:txBody>
                  <a:tcPr marL="68578" marR="68578"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800" b="1" i="0" u="none" strike="noStrike" kern="1200" cap="none" normalizeH="0" baseline="0" dirty="0">
                          <a:ln>
                            <a:noFill/>
                          </a:ln>
                          <a:solidFill>
                            <a:srgbClr val="FFFFFF"/>
                          </a:solidFill>
                          <a:effectLst/>
                          <a:latin typeface="Calibri" panose="020F0502020204030204" pitchFamily="34" charset="0"/>
                          <a:ea typeface="宋体" panose="02010600030101010101" pitchFamily="2" charset="-122"/>
                          <a:cs typeface="+mn-cs"/>
                        </a:rPr>
                        <a:t>E</a:t>
                      </a:r>
                      <a:endParaRPr kumimoji="0" lang="zh-CN" altLang="en-US" sz="1800" b="1" i="0" u="none" strike="noStrike" kern="1200" cap="none" normalizeH="0" baseline="0" dirty="0">
                        <a:ln>
                          <a:noFill/>
                        </a:ln>
                        <a:solidFill>
                          <a:srgbClr val="FFFFFF"/>
                        </a:solidFill>
                        <a:effectLst/>
                        <a:latin typeface="Calibri" panose="020F0502020204030204" pitchFamily="34" charset="0"/>
                        <a:ea typeface="宋体" panose="02010600030101010101" pitchFamily="2" charset="-122"/>
                        <a:cs typeface="+mn-cs"/>
                      </a:endParaRPr>
                    </a:p>
                  </a:txBody>
                  <a:tcPr marL="68578" marR="68578"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800" b="1" i="0" u="none" strike="noStrike" kern="1200" cap="none" normalizeH="0" baseline="0" dirty="0">
                          <a:ln>
                            <a:noFill/>
                          </a:ln>
                          <a:solidFill>
                            <a:srgbClr val="FFFFFF"/>
                          </a:solidFill>
                          <a:effectLst/>
                          <a:latin typeface="Calibri" panose="020F0502020204030204" pitchFamily="34" charset="0"/>
                          <a:ea typeface="宋体" panose="02010600030101010101" pitchFamily="2" charset="-122"/>
                          <a:cs typeface="+mn-cs"/>
                        </a:rPr>
                        <a:t>F</a:t>
                      </a:r>
                      <a:endParaRPr kumimoji="0" lang="zh-CN" altLang="en-US" sz="1800" b="1" i="0" u="none" strike="noStrike" kern="1200" cap="none" normalizeH="0" baseline="0" dirty="0">
                        <a:ln>
                          <a:noFill/>
                        </a:ln>
                        <a:solidFill>
                          <a:srgbClr val="FFFFFF"/>
                        </a:solidFill>
                        <a:effectLst/>
                        <a:latin typeface="Calibri" panose="020F0502020204030204" pitchFamily="34" charset="0"/>
                        <a:ea typeface="宋体" panose="02010600030101010101" pitchFamily="2" charset="-122"/>
                        <a:cs typeface="+mn-cs"/>
                      </a:endParaRPr>
                    </a:p>
                  </a:txBody>
                  <a:tcPr marL="68578" marR="68578"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800" b="1" i="0" u="none" strike="noStrike" kern="1200" cap="none" normalizeH="0" baseline="0" dirty="0">
                          <a:ln>
                            <a:noFill/>
                          </a:ln>
                          <a:solidFill>
                            <a:srgbClr val="FFFFFF"/>
                          </a:solidFill>
                          <a:effectLst/>
                          <a:latin typeface="Calibri" panose="020F0502020204030204" pitchFamily="34" charset="0"/>
                          <a:ea typeface="宋体" panose="02010600030101010101" pitchFamily="2" charset="-122"/>
                          <a:cs typeface="+mn-cs"/>
                        </a:rPr>
                        <a:t>P.</a:t>
                      </a:r>
                      <a:endParaRPr kumimoji="0" lang="zh-CN" altLang="en-US" sz="1800" b="1" i="0" u="none" strike="noStrike" kern="1200" cap="none" normalizeH="0" baseline="0" dirty="0">
                        <a:ln>
                          <a:noFill/>
                        </a:ln>
                        <a:solidFill>
                          <a:srgbClr val="FFFFFF"/>
                        </a:solidFill>
                        <a:effectLst/>
                        <a:latin typeface="Calibri" panose="020F0502020204030204" pitchFamily="34" charset="0"/>
                        <a:ea typeface="宋体" panose="02010600030101010101" pitchFamily="2" charset="-122"/>
                        <a:cs typeface="+mn-cs"/>
                      </a:endParaRPr>
                    </a:p>
                  </a:txBody>
                  <a:tcPr marL="68578" marR="68578"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800" b="1" i="0" u="none" strike="noStrike" kern="1200" cap="none" normalizeH="0" baseline="0" dirty="0">
                          <a:ln>
                            <a:noFill/>
                          </a:ln>
                          <a:solidFill>
                            <a:srgbClr val="FFFFFF"/>
                          </a:solidFill>
                          <a:effectLst/>
                          <a:latin typeface="Calibri" panose="020F0502020204030204" pitchFamily="34" charset="0"/>
                          <a:ea typeface="宋体" panose="02010600030101010101" pitchFamily="2" charset="-122"/>
                          <a:cs typeface="+mn-cs"/>
                        </a:rPr>
                        <a:t>H</a:t>
                      </a:r>
                      <a:endParaRPr kumimoji="0" lang="zh-CN" altLang="en-US" sz="1800" b="1" i="0" u="none" strike="noStrike" kern="1200" cap="none" normalizeH="0" baseline="0" dirty="0">
                        <a:ln>
                          <a:noFill/>
                        </a:ln>
                        <a:solidFill>
                          <a:srgbClr val="FFFFFF"/>
                        </a:solidFill>
                        <a:effectLst/>
                        <a:latin typeface="Calibri" panose="020F0502020204030204" pitchFamily="34" charset="0"/>
                        <a:ea typeface="宋体" panose="02010600030101010101" pitchFamily="2" charset="-122"/>
                        <a:cs typeface="+mn-cs"/>
                      </a:endParaRPr>
                    </a:p>
                  </a:txBody>
                  <a:tcPr marL="68578" marR="68578"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kern="1200" cap="none" normalizeH="0" baseline="0" dirty="0">
                          <a:ln>
                            <a:noFill/>
                          </a:ln>
                          <a:solidFill>
                            <a:srgbClr val="FFFFFF"/>
                          </a:solidFill>
                          <a:effectLst/>
                          <a:latin typeface="Calibri" panose="020F0502020204030204" pitchFamily="34" charset="0"/>
                          <a:ea typeface="宋体" panose="02010600030101010101" pitchFamily="2" charset="-122"/>
                          <a:cs typeface="+mn-cs"/>
                        </a:rPr>
                        <a:t>－</a:t>
                      </a:r>
                    </a:p>
                  </a:txBody>
                  <a:tcPr marL="68578" marR="68578"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dirty="0">
                          <a:ln>
                            <a:noFill/>
                          </a:ln>
                          <a:solidFill>
                            <a:srgbClr val="FFFFFF"/>
                          </a:solidFill>
                          <a:effectLst/>
                          <a:latin typeface="Calibri" panose="020F0502020204030204" pitchFamily="34" charset="0"/>
                          <a:ea typeface="宋体" panose="02010600030101010101" pitchFamily="2" charset="-122"/>
                          <a:cs typeface="+mn-cs"/>
                        </a:rPr>
                        <a:t>无显示</a:t>
                      </a:r>
                    </a:p>
                  </a:txBody>
                  <a:tcPr marL="68578" marR="68578"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50"/>
                    </a:solidFill>
                  </a:tcPr>
                </a:tc>
                <a:extLst>
                  <a:ext uri="{0D108BD9-81ED-4DB2-BD59-A6C34878D82A}">
                    <a16:rowId xmlns:a16="http://schemas.microsoft.com/office/drawing/2014/main" val="10003"/>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共阴段码</a:t>
                      </a: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77H</a:t>
                      </a:r>
                      <a:endParaRPr kumimoji="0" lang="zh-CN" altLang="en-US"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7CH</a:t>
                      </a:r>
                      <a:endParaRPr kumimoji="0" lang="zh-CN" altLang="en-US"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39H</a:t>
                      </a:r>
                      <a:endParaRPr kumimoji="0" lang="zh-CN" altLang="en-US"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5EH</a:t>
                      </a:r>
                      <a:endParaRPr kumimoji="0" lang="zh-CN" altLang="en-US"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79H</a:t>
                      </a:r>
                      <a:endParaRPr kumimoji="0" lang="zh-CN" altLang="en-US"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71H</a:t>
                      </a:r>
                      <a:endParaRPr kumimoji="0" lang="zh-CN" altLang="en-US"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F3H</a:t>
                      </a:r>
                      <a:endParaRPr kumimoji="0" lang="zh-CN" altLang="en-US"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76H</a:t>
                      </a:r>
                      <a:endParaRPr kumimoji="0" lang="zh-CN" altLang="en-US"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40H</a:t>
                      </a:r>
                      <a:endParaRPr kumimoji="0" lang="zh-CN" altLang="en-US"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00H</a:t>
                      </a:r>
                      <a:endParaRPr kumimoji="0" lang="zh-CN" altLang="en-US"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4"/>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共阳段码</a:t>
                      </a: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88H</a:t>
                      </a:r>
                      <a:endParaRPr kumimoji="0" lang="zh-CN" altLang="en-US"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83H</a:t>
                      </a:r>
                      <a:endParaRPr kumimoji="0" lang="zh-CN" altLang="en-US"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C6H</a:t>
                      </a:r>
                      <a:endParaRPr kumimoji="0" lang="zh-CN" altLang="en-US"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A1H</a:t>
                      </a:r>
                      <a:endParaRPr kumimoji="0" lang="zh-CN" altLang="en-US"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86H</a:t>
                      </a:r>
                      <a:endParaRPr kumimoji="0" lang="zh-CN" altLang="en-US"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8EH</a:t>
                      </a:r>
                      <a:endParaRPr kumimoji="0" lang="zh-CN" altLang="en-US"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0CH</a:t>
                      </a:r>
                      <a:endParaRPr kumimoji="0" lang="zh-CN" altLang="en-US"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89H</a:t>
                      </a:r>
                      <a:endParaRPr kumimoji="0" lang="zh-CN" altLang="en-US"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BFH</a:t>
                      </a:r>
                      <a:endParaRPr kumimoji="0" lang="zh-CN" altLang="en-US"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FFH</a:t>
                      </a:r>
                      <a:endParaRPr kumimoji="0" lang="zh-CN" altLang="en-US"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91438" marR="914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FF66"/>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ChangeArrowheads="1"/>
          </p:cNvSpPr>
          <p:nvPr/>
        </p:nvSpPr>
        <p:spPr bwMode="auto">
          <a:xfrm>
            <a:off x="595313" y="835353"/>
            <a:ext cx="42989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defRPr/>
            </a:pPr>
            <a:r>
              <a:rPr lang="zh-CN" altLang="en-US" sz="2800" b="1" dirty="0">
                <a:solidFill>
                  <a:srgbClr val="0000FF"/>
                </a:solidFill>
                <a:effectLst>
                  <a:outerShdw blurRad="38100" dist="38100" dir="2700000" algn="tl">
                    <a:srgbClr val="000000">
                      <a:alpha val="43137"/>
                    </a:srgbClr>
                  </a:outerShdw>
                </a:effectLst>
              </a:rPr>
              <a:t>实例</a:t>
            </a:r>
            <a:r>
              <a:rPr lang="en-US" altLang="zh-CN" sz="2800" b="1" dirty="0">
                <a:solidFill>
                  <a:srgbClr val="0000FF"/>
                </a:solidFill>
                <a:effectLst>
                  <a:outerShdw blurRad="38100" dist="38100" dir="2700000" algn="tl">
                    <a:srgbClr val="000000">
                      <a:alpha val="43137"/>
                    </a:srgbClr>
                  </a:outerShdw>
                </a:effectLst>
              </a:rPr>
              <a:t>4  LED</a:t>
            </a:r>
            <a:r>
              <a:rPr lang="zh-CN" altLang="en-US" sz="2800" b="1" dirty="0">
                <a:solidFill>
                  <a:srgbClr val="0000FF"/>
                </a:solidFill>
                <a:effectLst>
                  <a:outerShdw blurRad="38100" dist="38100" dir="2700000" algn="tl">
                    <a:srgbClr val="000000">
                      <a:alpha val="43137"/>
                    </a:srgbClr>
                  </a:outerShdw>
                </a:effectLst>
              </a:rPr>
              <a:t>数码管显示</a:t>
            </a:r>
          </a:p>
        </p:txBody>
      </p:sp>
      <p:sp>
        <p:nvSpPr>
          <p:cNvPr id="27651" name="Rectangle 4"/>
          <p:cNvSpPr>
            <a:spLocks noChangeArrowheads="1"/>
          </p:cNvSpPr>
          <p:nvPr/>
        </p:nvSpPr>
        <p:spPr bwMode="auto">
          <a:xfrm>
            <a:off x="595313" y="1450975"/>
            <a:ext cx="81375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dirty="0">
                <a:effectLst>
                  <a:outerShdw blurRad="38100" dist="38100" dir="2700000" algn="tl">
                    <a:srgbClr val="000000">
                      <a:alpha val="43137"/>
                    </a:srgbClr>
                  </a:outerShdw>
                </a:effectLst>
              </a:rPr>
              <a:t>利用</a:t>
            </a:r>
            <a:r>
              <a:rPr lang="zh-CN" altLang="zh-CN" sz="2400" b="1" dirty="0">
                <a:effectLst>
                  <a:outerShdw blurRad="38100" dist="38100" dir="2700000" algn="tl">
                    <a:srgbClr val="000000">
                      <a:alpha val="43137"/>
                    </a:srgbClr>
                  </a:outerShdw>
                </a:effectLst>
              </a:rPr>
              <a:t>一个</a:t>
            </a:r>
            <a:r>
              <a:rPr lang="en-US" altLang="zh-CN" sz="2400" b="1" dirty="0">
                <a:effectLst>
                  <a:outerShdw blurRad="38100" dist="38100" dir="2700000" algn="tl">
                    <a:srgbClr val="000000">
                      <a:alpha val="43137"/>
                    </a:srgbClr>
                  </a:outerShdw>
                </a:effectLst>
              </a:rPr>
              <a:t>8</a:t>
            </a:r>
            <a:r>
              <a:rPr lang="zh-CN" altLang="zh-CN" sz="2400" b="1" dirty="0">
                <a:effectLst>
                  <a:outerShdw blurRad="38100" dist="38100" dir="2700000" algn="tl">
                    <a:srgbClr val="000000">
                      <a:alpha val="43137"/>
                    </a:srgbClr>
                  </a:outerShdw>
                </a:effectLst>
              </a:rPr>
              <a:t>位数码管循环显示</a:t>
            </a:r>
            <a:r>
              <a:rPr lang="en-US" altLang="zh-CN" sz="2400" b="1" dirty="0">
                <a:effectLst>
                  <a:outerShdw blurRad="38100" dist="38100" dir="2700000" algn="tl">
                    <a:srgbClr val="000000">
                      <a:alpha val="43137"/>
                    </a:srgbClr>
                  </a:outerShdw>
                </a:effectLst>
              </a:rPr>
              <a:t>0</a:t>
            </a:r>
            <a:r>
              <a:rPr lang="zh-CN" altLang="zh-CN" sz="2400" b="1" dirty="0">
                <a:effectLst>
                  <a:outerShdw blurRad="38100" dist="38100" dir="2700000" algn="tl">
                    <a:srgbClr val="000000">
                      <a:alpha val="43137"/>
                    </a:srgbClr>
                  </a:outerShdw>
                </a:effectLst>
              </a:rPr>
              <a:t>～</a:t>
            </a:r>
            <a:r>
              <a:rPr lang="en-US" altLang="zh-CN" sz="2400" b="1" dirty="0">
                <a:effectLst>
                  <a:outerShdw blurRad="38100" dist="38100" dir="2700000" algn="tl">
                    <a:srgbClr val="000000">
                      <a:alpha val="43137"/>
                    </a:srgbClr>
                  </a:outerShdw>
                </a:effectLst>
              </a:rPr>
              <a:t>9</a:t>
            </a:r>
            <a:r>
              <a:rPr lang="zh-CN" altLang="zh-CN" sz="2400" b="1" dirty="0">
                <a:effectLst>
                  <a:outerShdw blurRad="38100" dist="38100" dir="2700000" algn="tl">
                    <a:srgbClr val="000000">
                      <a:alpha val="43137"/>
                    </a:srgbClr>
                  </a:outerShdw>
                </a:effectLst>
              </a:rPr>
              <a:t>字符</a:t>
            </a:r>
            <a:r>
              <a:rPr lang="zh-CN" altLang="en-US" sz="2400" b="1" dirty="0">
                <a:effectLst>
                  <a:outerShdw blurRad="38100" dist="38100" dir="2700000" algn="tl">
                    <a:srgbClr val="000000">
                      <a:alpha val="43137"/>
                    </a:srgbClr>
                  </a:outerShdw>
                </a:effectLst>
              </a:rPr>
              <a:t>。电路如下，</a:t>
            </a:r>
            <a:r>
              <a:rPr lang="zh-CN" altLang="zh-CN" sz="2400" b="1" dirty="0">
                <a:effectLst>
                  <a:outerShdw blurRad="38100" dist="38100" dir="2700000" algn="tl">
                    <a:srgbClr val="000000">
                      <a:alpha val="43137"/>
                    </a:srgbClr>
                  </a:outerShdw>
                </a:effectLst>
              </a:rPr>
              <a:t>其中</a:t>
            </a:r>
            <a:r>
              <a:rPr lang="en-US" altLang="zh-CN" sz="2400" b="1" dirty="0">
                <a:effectLst>
                  <a:outerShdw blurRad="38100" dist="38100" dir="2700000" algn="tl">
                    <a:srgbClr val="000000">
                      <a:alpha val="43137"/>
                    </a:srgbClr>
                  </a:outerShdw>
                </a:effectLst>
              </a:rPr>
              <a:t>80C51</a:t>
            </a:r>
            <a:r>
              <a:rPr lang="zh-CN" altLang="zh-CN" sz="2400" b="1" dirty="0">
                <a:effectLst>
                  <a:outerShdw blurRad="38100" dist="38100" dir="2700000" algn="tl">
                    <a:srgbClr val="000000">
                      <a:alpha val="43137"/>
                    </a:srgbClr>
                  </a:outerShdw>
                </a:effectLst>
              </a:rPr>
              <a:t>单片机</a:t>
            </a:r>
            <a:r>
              <a:rPr lang="en-US" altLang="zh-CN" sz="2400" b="1" dirty="0">
                <a:effectLst>
                  <a:outerShdw blurRad="38100" dist="38100" dir="2700000" algn="tl">
                    <a:srgbClr val="000000">
                      <a:alpha val="43137"/>
                    </a:srgbClr>
                  </a:outerShdw>
                </a:effectLst>
              </a:rPr>
              <a:t>P0</a:t>
            </a:r>
            <a:r>
              <a:rPr lang="zh-CN" altLang="zh-CN" sz="2400" b="1" dirty="0">
                <a:effectLst>
                  <a:outerShdw blurRad="38100" dist="38100" dir="2700000" algn="tl">
                    <a:srgbClr val="000000">
                      <a:alpha val="43137"/>
                    </a:srgbClr>
                  </a:outerShdw>
                </a:effectLst>
              </a:rPr>
              <a:t>口的引脚与共阴极数码管的段码引脚相连。时间间隔为</a:t>
            </a:r>
            <a:r>
              <a:rPr lang="en-US" altLang="zh-CN" sz="2400" b="1" dirty="0">
                <a:effectLst>
                  <a:outerShdw blurRad="38100" dist="38100" dir="2700000" algn="tl">
                    <a:srgbClr val="000000">
                      <a:alpha val="43137"/>
                    </a:srgbClr>
                  </a:outerShdw>
                </a:effectLst>
              </a:rPr>
              <a:t>500</a:t>
            </a:r>
            <a:r>
              <a:rPr lang="zh-CN" altLang="zh-CN" sz="2400" b="1" dirty="0">
                <a:effectLst>
                  <a:outerShdw blurRad="38100" dist="38100" dir="2700000" algn="tl">
                    <a:srgbClr val="000000">
                      <a:alpha val="43137"/>
                    </a:srgbClr>
                  </a:outerShdw>
                </a:effectLst>
              </a:rPr>
              <a:t>循环步的功能。</a:t>
            </a:r>
            <a:endParaRPr lang="zh-CN" altLang="en-US" sz="2400" b="1" dirty="0">
              <a:effectLst>
                <a:outerShdw blurRad="38100" dist="38100" dir="2700000" algn="tl">
                  <a:srgbClr val="000000">
                    <a:alpha val="43137"/>
                  </a:srgbClr>
                </a:outerShdw>
              </a:effectLst>
            </a:endParaRPr>
          </a:p>
        </p:txBody>
      </p:sp>
      <p:pic>
        <p:nvPicPr>
          <p:cNvPr id="27652" name="Picture 5" descr="led"/>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21881" t="20566" r="19891" b="25111"/>
          <a:stretch>
            <a:fillRect/>
          </a:stretch>
        </p:blipFill>
        <p:spPr bwMode="auto">
          <a:xfrm>
            <a:off x="1638300" y="2587625"/>
            <a:ext cx="5399088"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a:extLst>
              <a:ext uri="{FF2B5EF4-FFF2-40B4-BE49-F238E27FC236}">
                <a16:creationId xmlns:a16="http://schemas.microsoft.com/office/drawing/2014/main" id="{AA11E0CB-EB50-42E7-ADDE-C72E91FB8C15}"/>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spect="1" noChangeArrowheads="1"/>
          </p:cNvSpPr>
          <p:nvPr/>
        </p:nvSpPr>
        <p:spPr bwMode="auto">
          <a:xfrm>
            <a:off x="774700" y="1035050"/>
            <a:ext cx="7999413" cy="5004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pt-BR" sz="2800" b="1" dirty="0">
                <a:solidFill>
                  <a:srgbClr val="CC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分析：</a:t>
            </a:r>
          </a:p>
          <a:p>
            <a:r>
              <a:rPr lang="zh-CN"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数码管的显示字符与显示字模之间没有特别的规律可循。通常的做法是：将显示字模按显示字符代表的数值大小顺序存入一字符数组中，例如字符</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0</a:t>
            </a:r>
            <a:r>
              <a:rPr lang="zh-CN"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9</a:t>
            </a:r>
            <a:r>
              <a:rPr lang="zh-CN"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的共阴极显示字模的数组为</a:t>
            </a:r>
            <a:r>
              <a:rPr lang="en-US" altLang="zh-CN" sz="2800" b="1" dirty="0" err="1">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led_mod</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[]={0x3f,0x06,0x5b,0x4f,0x66,0x6d,0x7d,0x07,0x7f,0x6f}</a:t>
            </a:r>
            <a:r>
              <a:rPr lang="zh-CN"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endPar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r>
              <a:rPr lang="zh-CN"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使用时，只需用待显示值作为下标变量调用该数组，即可取得相应的字模。本例中只要提取出</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0</a:t>
            </a:r>
            <a:r>
              <a:rPr lang="zh-CN"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9</a:t>
            </a:r>
            <a:r>
              <a:rPr lang="zh-CN"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的显示字模并送</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P0</a:t>
            </a:r>
            <a:r>
              <a:rPr lang="zh-CN"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口输出，便可实现题意要求的功能。</a:t>
            </a:r>
          </a:p>
        </p:txBody>
      </p:sp>
      <p:sp>
        <p:nvSpPr>
          <p:cNvPr id="5" name="Rectangle 2">
            <a:extLst>
              <a:ext uri="{FF2B5EF4-FFF2-40B4-BE49-F238E27FC236}">
                <a16:creationId xmlns:a16="http://schemas.microsoft.com/office/drawing/2014/main" id="{0D54EC88-D7E5-4F1D-9D25-F84D47FFE165}"/>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9" name="图片 1"/>
          <p:cNvPicPr>
            <a:picLocks noChangeAspect="1"/>
          </p:cNvPicPr>
          <p:nvPr/>
        </p:nvPicPr>
        <p:blipFill rotWithShape="1">
          <a:blip r:embed="rId2">
            <a:extLst>
              <a:ext uri="{28A0092B-C50C-407E-A947-70E740481C1C}">
                <a14:useLocalDpi xmlns:a14="http://schemas.microsoft.com/office/drawing/2010/main" val="0"/>
              </a:ext>
            </a:extLst>
          </a:blip>
          <a:srcRect t="4473"/>
          <a:stretch/>
        </p:blipFill>
        <p:spPr bwMode="auto">
          <a:xfrm>
            <a:off x="827088" y="1754372"/>
            <a:ext cx="7620000" cy="4479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706438" y="969963"/>
            <a:ext cx="2528256" cy="523220"/>
          </a:xfrm>
          <a:prstGeom prst="rect">
            <a:avLst/>
          </a:prstGeom>
        </p:spPr>
        <p:txBody>
          <a:bodyPr wrap="none">
            <a:spAutoFit/>
          </a:bodyPr>
          <a:lstStyle/>
          <a:p>
            <a:pPr>
              <a:defRPr/>
            </a:pPr>
            <a:r>
              <a:rPr lang="zh-CN" altLang="zh-CN" sz="2800" b="1" kern="100" dirty="0">
                <a:effectLst>
                  <a:outerShdw blurRad="38100" dist="38100" dir="2700000" algn="tl">
                    <a:srgbClr val="000000">
                      <a:alpha val="43137"/>
                    </a:srgbClr>
                  </a:outerShdw>
                </a:effectLst>
                <a:cs typeface="Times New Roman" panose="02020603050405020304" pitchFamily="18" charset="0"/>
              </a:rPr>
              <a:t>实例</a:t>
            </a:r>
            <a:r>
              <a:rPr lang="en-US" altLang="zh-CN" sz="2800" b="1" kern="100" dirty="0">
                <a:effectLst>
                  <a:outerShdw blurRad="38100" dist="38100" dir="2700000" algn="tl">
                    <a:srgbClr val="000000">
                      <a:alpha val="43137"/>
                    </a:srgbClr>
                  </a:outerShdw>
                </a:effectLst>
              </a:rPr>
              <a:t>4</a:t>
            </a:r>
            <a:r>
              <a:rPr lang="zh-CN" altLang="zh-CN" sz="2800" b="1" kern="100" dirty="0">
                <a:effectLst>
                  <a:outerShdw blurRad="38100" dist="38100" dir="2700000" algn="tl">
                    <a:srgbClr val="000000">
                      <a:alpha val="43137"/>
                    </a:srgbClr>
                  </a:outerShdw>
                </a:effectLst>
                <a:cs typeface="Times New Roman" panose="02020603050405020304" pitchFamily="18" charset="0"/>
              </a:rPr>
              <a:t>的源程序</a:t>
            </a:r>
            <a:endParaRPr lang="zh-CN" altLang="en-US" sz="2800" b="1" dirty="0">
              <a:effectLst>
                <a:outerShdw blurRad="38100" dist="38100" dir="2700000" algn="tl">
                  <a:srgbClr val="000000">
                    <a:alpha val="43137"/>
                  </a:srgbClr>
                </a:outerShdw>
              </a:effectLst>
            </a:endParaRPr>
          </a:p>
        </p:txBody>
      </p:sp>
      <p:sp>
        <p:nvSpPr>
          <p:cNvPr id="6" name="Rectangle 2">
            <a:extLst>
              <a:ext uri="{FF2B5EF4-FFF2-40B4-BE49-F238E27FC236}">
                <a16:creationId xmlns:a16="http://schemas.microsoft.com/office/drawing/2014/main" id="{1230AE65-5136-4CDB-8120-E523BF1DEFB1}"/>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文本框 2"/>
          <p:cNvSpPr txBox="1">
            <a:spLocks noChangeArrowheads="1"/>
          </p:cNvSpPr>
          <p:nvPr/>
        </p:nvSpPr>
        <p:spPr bwMode="auto">
          <a:xfrm>
            <a:off x="658813" y="1162050"/>
            <a:ext cx="33305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400" dirty="0"/>
              <a:t>实例</a:t>
            </a:r>
            <a:r>
              <a:rPr lang="en-US" altLang="zh-CN" sz="2400" dirty="0"/>
              <a:t>4</a:t>
            </a:r>
            <a:r>
              <a:rPr lang="zh-CN" altLang="en-US" sz="2400" dirty="0"/>
              <a:t>仿真运行</a:t>
            </a:r>
          </a:p>
        </p:txBody>
      </p:sp>
      <p:pic>
        <p:nvPicPr>
          <p:cNvPr id="30724" name="图片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73500" y="1022350"/>
            <a:ext cx="4875213"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5" name="矩形 1"/>
          <p:cNvSpPr>
            <a:spLocks noChangeArrowheads="1"/>
          </p:cNvSpPr>
          <p:nvPr/>
        </p:nvSpPr>
        <p:spPr bwMode="auto">
          <a:xfrm>
            <a:off x="658813" y="5597525"/>
            <a:ext cx="80899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zh-CN" sz="2400">
                <a:latin typeface="Calibri" panose="020F0502020204030204" pitchFamily="34" charset="0"/>
                <a:cs typeface="Times New Roman" panose="02020603050405020304" pitchFamily="18" charset="0"/>
              </a:rPr>
              <a:t>仿真运行表明，数码循环显示功能已满足题意要求，</a:t>
            </a:r>
            <a:r>
              <a:rPr lang="zh-CN" altLang="en-US" sz="2400">
                <a:latin typeface="Calibri" panose="020F0502020204030204" pitchFamily="34" charset="0"/>
                <a:cs typeface="Times New Roman" panose="02020603050405020304" pitchFamily="18" charset="0"/>
              </a:rPr>
              <a:t>实例</a:t>
            </a:r>
            <a:r>
              <a:rPr lang="en-US" altLang="zh-CN" sz="2400">
                <a:latin typeface="Calibri" panose="020F0502020204030204" pitchFamily="34" charset="0"/>
                <a:cs typeface="Times New Roman" panose="02020603050405020304" pitchFamily="18" charset="0"/>
              </a:rPr>
              <a:t>5</a:t>
            </a:r>
            <a:r>
              <a:rPr lang="zh-CN" altLang="zh-CN" sz="2400">
                <a:latin typeface="Calibri" panose="020F0502020204030204" pitchFamily="34" charset="0"/>
                <a:cs typeface="Times New Roman" panose="02020603050405020304" pitchFamily="18" charset="0"/>
              </a:rPr>
              <a:t>程序设计结束。</a:t>
            </a:r>
            <a:endParaRPr lang="zh-CN" altLang="en-US" sz="2400"/>
          </a:p>
        </p:txBody>
      </p:sp>
      <p:pic>
        <p:nvPicPr>
          <p:cNvPr id="30726" name="图片 62885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600" y="1801813"/>
            <a:ext cx="4868863" cy="361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2">
            <a:extLst>
              <a:ext uri="{FF2B5EF4-FFF2-40B4-BE49-F238E27FC236}">
                <a16:creationId xmlns:a16="http://schemas.microsoft.com/office/drawing/2014/main" id="{067FCC77-4AAC-41C3-AC8E-14F7EF6A81BE}"/>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图片 1"/>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9901" t="24428" r="23663" b="19292"/>
          <a:stretch>
            <a:fillRect/>
          </a:stretch>
        </p:blipFill>
        <p:spPr bwMode="auto">
          <a:xfrm>
            <a:off x="706438" y="2620963"/>
            <a:ext cx="5160962" cy="362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8" name="Rectangle 4"/>
          <p:cNvSpPr>
            <a:spLocks noChangeArrowheads="1"/>
          </p:cNvSpPr>
          <p:nvPr/>
        </p:nvSpPr>
        <p:spPr bwMode="auto">
          <a:xfrm>
            <a:off x="552450" y="1106398"/>
            <a:ext cx="813752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FontTx/>
              <a:buNone/>
              <a:defRPr/>
            </a:pPr>
            <a:r>
              <a:rPr lang="zh-CN" altLang="en-US" sz="2400" b="1" dirty="0">
                <a:solidFill>
                  <a:srgbClr val="0000FF"/>
                </a:solidFill>
                <a:effectLst>
                  <a:outerShdw blurRad="38100" dist="38100" dir="2700000" algn="tl">
                    <a:srgbClr val="000000">
                      <a:alpha val="43137"/>
                    </a:srgbClr>
                  </a:outerShdw>
                </a:effectLst>
              </a:rPr>
              <a:t>实例</a:t>
            </a:r>
            <a:r>
              <a:rPr lang="en-US" altLang="zh-CN" sz="2400" b="1" dirty="0">
                <a:solidFill>
                  <a:srgbClr val="0000FF"/>
                </a:solidFill>
                <a:effectLst>
                  <a:outerShdw blurRad="38100" dist="38100" dir="2700000" algn="tl">
                    <a:srgbClr val="000000">
                      <a:alpha val="43137"/>
                    </a:srgbClr>
                  </a:outerShdw>
                </a:effectLst>
              </a:rPr>
              <a:t>5 </a:t>
            </a:r>
            <a:r>
              <a:rPr lang="zh-CN" altLang="zh-CN" sz="2400" b="1" dirty="0">
                <a:solidFill>
                  <a:srgbClr val="FF0000"/>
                </a:solidFill>
                <a:effectLst>
                  <a:outerShdw blurRad="38100" dist="38100" dir="2700000" algn="tl">
                    <a:srgbClr val="000000">
                      <a:alpha val="43137"/>
                    </a:srgbClr>
                  </a:outerShdw>
                </a:effectLst>
              </a:rPr>
              <a:t>计数显示器</a:t>
            </a:r>
            <a:r>
              <a:rPr lang="zh-CN" altLang="en-US" sz="2400" b="1" dirty="0">
                <a:effectLst>
                  <a:outerShdw blurRad="38100" dist="38100" dir="2700000" algn="tl">
                    <a:srgbClr val="000000">
                      <a:alpha val="43137"/>
                    </a:srgbClr>
                  </a:outerShdw>
                </a:effectLst>
              </a:rPr>
              <a:t>。</a:t>
            </a:r>
            <a:r>
              <a:rPr lang="zh-CN" altLang="zh-CN" sz="2400" b="1" dirty="0">
                <a:effectLst>
                  <a:outerShdw blurRad="38100" dist="38100" dir="2700000" algn="tl">
                    <a:srgbClr val="000000">
                      <a:alpha val="43137"/>
                    </a:srgbClr>
                  </a:outerShdw>
                </a:effectLst>
              </a:rPr>
              <a:t>要求：数码管的显示初值为</a:t>
            </a:r>
            <a:r>
              <a:rPr lang="en-US" altLang="zh-CN" sz="2400" b="1" dirty="0">
                <a:effectLst>
                  <a:outerShdw blurRad="38100" dist="38100" dir="2700000" algn="tl">
                    <a:srgbClr val="000000">
                      <a:alpha val="43137"/>
                    </a:srgbClr>
                  </a:outerShdw>
                </a:effectLst>
              </a:rPr>
              <a:t>0</a:t>
            </a:r>
            <a:r>
              <a:rPr lang="zh-CN" altLang="zh-CN" sz="2400" b="1" dirty="0">
                <a:effectLst>
                  <a:outerShdw blurRad="38100" dist="38100" dir="2700000" algn="tl">
                    <a:srgbClr val="000000">
                      <a:alpha val="43137"/>
                    </a:srgbClr>
                  </a:outerShdw>
                </a:effectLst>
              </a:rPr>
              <a:t>，单击按键后，按增量</a:t>
            </a:r>
            <a:r>
              <a:rPr lang="en-US" altLang="zh-CN" sz="2400" b="1" dirty="0">
                <a:effectLst>
                  <a:outerShdw blurRad="38100" dist="38100" dir="2700000" algn="tl">
                    <a:srgbClr val="000000">
                      <a:alpha val="43137"/>
                    </a:srgbClr>
                  </a:outerShdw>
                </a:effectLst>
              </a:rPr>
              <a:t>1</a:t>
            </a:r>
            <a:r>
              <a:rPr lang="zh-CN" altLang="zh-CN" sz="2400" b="1" dirty="0">
                <a:effectLst>
                  <a:outerShdw blurRad="38100" dist="38100" dir="2700000" algn="tl">
                    <a:srgbClr val="000000">
                      <a:alpha val="43137"/>
                    </a:srgbClr>
                  </a:outerShdw>
                </a:effectLst>
              </a:rPr>
              <a:t>进行累加，累加值实时显示在数码管上。当累加值达到</a:t>
            </a:r>
            <a:r>
              <a:rPr lang="en-US" altLang="zh-CN" sz="2400" b="1" dirty="0">
                <a:effectLst>
                  <a:outerShdw blurRad="38100" dist="38100" dir="2700000" algn="tl">
                    <a:srgbClr val="000000">
                      <a:alpha val="43137"/>
                    </a:srgbClr>
                  </a:outerShdw>
                </a:effectLst>
              </a:rPr>
              <a:t>99</a:t>
            </a:r>
            <a:r>
              <a:rPr lang="zh-CN" altLang="zh-CN" sz="2400" b="1" dirty="0">
                <a:effectLst>
                  <a:outerShdw blurRad="38100" dist="38100" dir="2700000" algn="tl">
                    <a:srgbClr val="000000">
                      <a:alpha val="43137"/>
                    </a:srgbClr>
                  </a:outerShdw>
                </a:effectLst>
              </a:rPr>
              <a:t>后清零重新开始计数，如此无限循环。</a:t>
            </a:r>
          </a:p>
        </p:txBody>
      </p:sp>
      <p:sp>
        <p:nvSpPr>
          <p:cNvPr id="329734" name="Rectangle 6"/>
          <p:cNvSpPr>
            <a:spLocks noChangeArrowheads="1"/>
          </p:cNvSpPr>
          <p:nvPr/>
        </p:nvSpPr>
        <p:spPr bwMode="auto">
          <a:xfrm>
            <a:off x="6373813" y="2773789"/>
            <a:ext cx="277018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dirty="0">
                <a:effectLst>
                  <a:outerShdw blurRad="38100" dist="38100" dir="2700000" algn="tl">
                    <a:srgbClr val="000000">
                      <a:alpha val="43137"/>
                    </a:srgbClr>
                  </a:outerShdw>
                </a:effectLst>
              </a:rPr>
              <a:t>个位</a:t>
            </a:r>
            <a:r>
              <a:rPr lang="en-US" altLang="zh-CN" sz="2400" b="1" dirty="0">
                <a:effectLst>
                  <a:outerShdw blurRad="38100" dist="38100" dir="2700000" algn="tl">
                    <a:srgbClr val="000000">
                      <a:alpha val="43137"/>
                    </a:srgbClr>
                  </a:outerShdw>
                </a:effectLst>
              </a:rPr>
              <a:t>LED</a:t>
            </a:r>
            <a:r>
              <a:rPr lang="zh-CN" altLang="en-US" sz="2400" b="1" dirty="0">
                <a:effectLst>
                  <a:outerShdw blurRad="38100" dist="38100" dir="2700000" algn="tl">
                    <a:srgbClr val="000000">
                      <a:alpha val="43137"/>
                    </a:srgbClr>
                  </a:outerShdw>
                </a:effectLst>
              </a:rPr>
              <a:t>接</a:t>
            </a:r>
            <a:r>
              <a:rPr lang="en-US" altLang="zh-CN" sz="2400" b="1" dirty="0">
                <a:effectLst>
                  <a:outerShdw blurRad="38100" dist="38100" dir="2700000" algn="tl">
                    <a:srgbClr val="000000">
                      <a:alpha val="43137"/>
                    </a:srgbClr>
                  </a:outerShdw>
                </a:effectLst>
              </a:rPr>
              <a:t>P2</a:t>
            </a:r>
            <a:r>
              <a:rPr lang="zh-CN" altLang="en-US" sz="2400" b="1" dirty="0">
                <a:effectLst>
                  <a:outerShdw blurRad="38100" dist="38100" dir="2700000" algn="tl">
                    <a:srgbClr val="000000">
                      <a:alpha val="43137"/>
                    </a:srgbClr>
                  </a:outerShdw>
                </a:effectLst>
              </a:rPr>
              <a:t>口，十位</a:t>
            </a:r>
            <a:r>
              <a:rPr lang="en-US" altLang="zh-CN" sz="2400" b="1" dirty="0">
                <a:effectLst>
                  <a:outerShdw blurRad="38100" dist="38100" dir="2700000" algn="tl">
                    <a:srgbClr val="000000">
                      <a:alpha val="43137"/>
                    </a:srgbClr>
                  </a:outerShdw>
                </a:effectLst>
              </a:rPr>
              <a:t>LED</a:t>
            </a:r>
            <a:r>
              <a:rPr lang="zh-CN" altLang="en-US" sz="2400" b="1" dirty="0">
                <a:effectLst>
                  <a:outerShdw blurRad="38100" dist="38100" dir="2700000" algn="tl">
                    <a:srgbClr val="000000">
                      <a:alpha val="43137"/>
                    </a:srgbClr>
                  </a:outerShdw>
                </a:effectLst>
              </a:rPr>
              <a:t>接</a:t>
            </a:r>
            <a:r>
              <a:rPr lang="en-US" altLang="zh-CN" sz="2400" b="1" dirty="0">
                <a:effectLst>
                  <a:outerShdw blurRad="38100" dist="38100" dir="2700000" algn="tl">
                    <a:srgbClr val="000000">
                      <a:alpha val="43137"/>
                    </a:srgbClr>
                  </a:outerShdw>
                </a:effectLst>
              </a:rPr>
              <a:t>P0</a:t>
            </a:r>
            <a:r>
              <a:rPr lang="zh-CN" altLang="en-US" sz="2400" b="1" dirty="0">
                <a:effectLst>
                  <a:outerShdw blurRad="38100" dist="38100" dir="2700000" algn="tl">
                    <a:srgbClr val="000000">
                      <a:alpha val="43137"/>
                    </a:srgbClr>
                  </a:outerShdw>
                </a:effectLst>
              </a:rPr>
              <a:t>口</a:t>
            </a:r>
          </a:p>
        </p:txBody>
      </p:sp>
      <p:sp>
        <p:nvSpPr>
          <p:cNvPr id="329737" name="Rectangle 6"/>
          <p:cNvSpPr>
            <a:spLocks noChangeArrowheads="1"/>
          </p:cNvSpPr>
          <p:nvPr/>
        </p:nvSpPr>
        <p:spPr bwMode="auto">
          <a:xfrm>
            <a:off x="5246688" y="5094714"/>
            <a:ext cx="344328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dirty="0">
                <a:effectLst>
                  <a:outerShdw blurRad="38100" dist="38100" dir="2700000" algn="tl">
                    <a:srgbClr val="000000">
                      <a:alpha val="43137"/>
                    </a:srgbClr>
                  </a:outerShdw>
                </a:effectLst>
              </a:rPr>
              <a:t>按钮接</a:t>
            </a:r>
            <a:r>
              <a:rPr lang="en-US" altLang="zh-CN" sz="2400" b="1" dirty="0">
                <a:effectLst>
                  <a:outerShdw blurRad="38100" dist="38100" dir="2700000" algn="tl">
                    <a:srgbClr val="000000">
                      <a:alpha val="43137"/>
                    </a:srgbClr>
                  </a:outerShdw>
                </a:effectLst>
              </a:rPr>
              <a:t>P3.7</a:t>
            </a:r>
            <a:r>
              <a:rPr lang="zh-CN" altLang="en-US" sz="2400" b="1" dirty="0">
                <a:effectLst>
                  <a:outerShdw blurRad="38100" dist="38100" dir="2700000" algn="tl">
                    <a:srgbClr val="000000">
                      <a:alpha val="43137"/>
                    </a:srgbClr>
                  </a:outerShdw>
                </a:effectLst>
              </a:rPr>
              <a:t>，抬起时为</a:t>
            </a:r>
            <a:r>
              <a:rPr lang="en-US" altLang="zh-CN" sz="2400" b="1" dirty="0">
                <a:effectLst>
                  <a:outerShdw blurRad="38100" dist="38100" dir="2700000" algn="tl">
                    <a:srgbClr val="000000">
                      <a:alpha val="43137"/>
                    </a:srgbClr>
                  </a:outerShdw>
                </a:effectLst>
              </a:rPr>
              <a:t>1</a:t>
            </a:r>
            <a:r>
              <a:rPr lang="zh-CN" altLang="en-US" sz="2400" b="1" dirty="0">
                <a:effectLst>
                  <a:outerShdw blurRad="38100" dist="38100" dir="2700000" algn="tl">
                    <a:srgbClr val="000000">
                      <a:alpha val="43137"/>
                    </a:srgbClr>
                  </a:outerShdw>
                </a:effectLst>
              </a:rPr>
              <a:t>电平，按压时为</a:t>
            </a:r>
            <a:r>
              <a:rPr lang="en-US" altLang="zh-CN" sz="2400" b="1" dirty="0">
                <a:effectLst>
                  <a:outerShdw blurRad="38100" dist="38100" dir="2700000" algn="tl">
                    <a:srgbClr val="000000">
                      <a:alpha val="43137"/>
                    </a:srgbClr>
                  </a:outerShdw>
                </a:effectLst>
              </a:rPr>
              <a:t>0</a:t>
            </a:r>
            <a:r>
              <a:rPr lang="zh-CN" altLang="en-US" sz="2400" b="1" dirty="0">
                <a:effectLst>
                  <a:outerShdw blurRad="38100" dist="38100" dir="2700000" algn="tl">
                    <a:srgbClr val="000000">
                      <a:alpha val="43137"/>
                    </a:srgbClr>
                  </a:outerShdw>
                </a:effectLst>
              </a:rPr>
              <a:t>电平。</a:t>
            </a:r>
          </a:p>
        </p:txBody>
      </p:sp>
      <p:sp>
        <p:nvSpPr>
          <p:cNvPr id="8" name="Rectangle 2">
            <a:extLst>
              <a:ext uri="{FF2B5EF4-FFF2-40B4-BE49-F238E27FC236}">
                <a16:creationId xmlns:a16="http://schemas.microsoft.com/office/drawing/2014/main" id="{EE7DB01E-DBA5-4A69-AC54-65EDB6E7D6AA}"/>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9734"/>
                                        </p:tgtEl>
                                        <p:attrNameLst>
                                          <p:attrName>style.visibility</p:attrName>
                                        </p:attrNameLst>
                                      </p:cBhvr>
                                      <p:to>
                                        <p:strVal val="visible"/>
                                      </p:to>
                                    </p:set>
                                    <p:animEffect transition="in" filter="blinds(horizontal)">
                                      <p:cBhvr>
                                        <p:cTn id="7" dur="500"/>
                                        <p:tgtEl>
                                          <p:spTgt spid="32973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9737"/>
                                        </p:tgtEl>
                                        <p:attrNameLst>
                                          <p:attrName>style.visibility</p:attrName>
                                        </p:attrNameLst>
                                      </p:cBhvr>
                                      <p:to>
                                        <p:strVal val="visible"/>
                                      </p:to>
                                    </p:set>
                                    <p:animEffect transition="in" filter="blinds(horizontal)">
                                      <p:cBhvr>
                                        <p:cTn id="12" dur="500"/>
                                        <p:tgtEl>
                                          <p:spTgt spid="3297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734" grpId="0"/>
      <p:bldP spid="32973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ChangeArrowheads="1"/>
          </p:cNvSpPr>
          <p:nvPr/>
        </p:nvSpPr>
        <p:spPr bwMode="auto">
          <a:xfrm>
            <a:off x="488950" y="1009650"/>
            <a:ext cx="2011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defRPr/>
            </a:pPr>
            <a:r>
              <a:rPr lang="zh-CN" altLang="en-US" sz="2400" b="1" dirty="0">
                <a:solidFill>
                  <a:srgbClr val="C00000"/>
                </a:solidFill>
                <a:effectLst>
                  <a:outerShdw blurRad="38100" dist="38100" dir="2700000" algn="tl">
                    <a:srgbClr val="000000">
                      <a:alpha val="43137"/>
                    </a:srgbClr>
                  </a:outerShdw>
                </a:effectLst>
              </a:rPr>
              <a:t>解题分析</a:t>
            </a:r>
            <a:r>
              <a:rPr lang="zh-CN" altLang="en-US" sz="2400" b="1" dirty="0">
                <a:effectLst>
                  <a:outerShdw blurRad="38100" dist="38100" dir="2700000" algn="tl">
                    <a:srgbClr val="000000">
                      <a:alpha val="43137"/>
                    </a:srgbClr>
                  </a:outerShdw>
                </a:effectLst>
              </a:rPr>
              <a:t>：</a:t>
            </a:r>
          </a:p>
        </p:txBody>
      </p:sp>
      <p:sp>
        <p:nvSpPr>
          <p:cNvPr id="330756" name="Rectangle 4"/>
          <p:cNvSpPr>
            <a:spLocks noChangeArrowheads="1"/>
          </p:cNvSpPr>
          <p:nvPr/>
        </p:nvSpPr>
        <p:spPr bwMode="auto">
          <a:xfrm>
            <a:off x="488950" y="1463675"/>
            <a:ext cx="8385175" cy="326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FontTx/>
              <a:buNone/>
              <a:defRPr/>
            </a:pPr>
            <a:r>
              <a:rPr lang="zh-CN" altLang="zh-CN" sz="2400" b="1" dirty="0">
                <a:effectLst>
                  <a:outerShdw blurRad="38100" dist="38100" dir="2700000" algn="tl">
                    <a:srgbClr val="000000">
                      <a:alpha val="43137"/>
                    </a:srgbClr>
                  </a:outerShdw>
                </a:effectLst>
              </a:rPr>
              <a:t>本题只要设置一个按键闭合次数变量</a:t>
            </a:r>
            <a:r>
              <a:rPr lang="fr-FR" altLang="zh-CN" sz="2400" b="1" dirty="0">
                <a:effectLst>
                  <a:outerShdw blurRad="38100" dist="38100" dir="2700000" algn="tl">
                    <a:srgbClr val="000000">
                      <a:alpha val="43137"/>
                    </a:srgbClr>
                  </a:outerShdw>
                </a:effectLst>
              </a:rPr>
              <a:t>count</a:t>
            </a:r>
            <a:r>
              <a:rPr lang="zh-CN" altLang="zh-CN" sz="2400" b="1" dirty="0">
                <a:effectLst>
                  <a:outerShdw blurRad="38100" dist="38100" dir="2700000" algn="tl">
                    <a:srgbClr val="000000">
                      <a:alpha val="43137"/>
                    </a:srgbClr>
                  </a:outerShdw>
                </a:effectLst>
              </a:rPr>
              <a:t>，并将其值送到</a:t>
            </a:r>
            <a:r>
              <a:rPr lang="fr-FR" altLang="zh-CN" sz="2400" b="1" dirty="0">
                <a:effectLst>
                  <a:outerShdw blurRad="38100" dist="38100" dir="2700000" algn="tl">
                    <a:srgbClr val="000000">
                      <a:alpha val="43137"/>
                    </a:srgbClr>
                  </a:outerShdw>
                </a:effectLst>
              </a:rPr>
              <a:t>P0</a:t>
            </a:r>
            <a:r>
              <a:rPr lang="zh-CN" altLang="zh-CN" sz="2400" b="1" dirty="0">
                <a:effectLst>
                  <a:outerShdw blurRad="38100" dist="38100" dir="2700000" algn="tl">
                    <a:srgbClr val="000000">
                      <a:alpha val="43137"/>
                    </a:srgbClr>
                  </a:outerShdw>
                </a:effectLst>
              </a:rPr>
              <a:t>和</a:t>
            </a:r>
            <a:r>
              <a:rPr lang="fr-FR" altLang="zh-CN" sz="2400" b="1" dirty="0">
                <a:effectLst>
                  <a:outerShdw blurRad="38100" dist="38100" dir="2700000" algn="tl">
                    <a:srgbClr val="000000">
                      <a:alpha val="43137"/>
                    </a:srgbClr>
                  </a:outerShdw>
                </a:effectLst>
              </a:rPr>
              <a:t>P2</a:t>
            </a:r>
            <a:r>
              <a:rPr lang="zh-CN" altLang="zh-CN" sz="2400" b="1" dirty="0">
                <a:effectLst>
                  <a:outerShdw blurRad="38100" dist="38100" dir="2700000" algn="tl">
                    <a:srgbClr val="000000">
                      <a:alpha val="43137"/>
                    </a:srgbClr>
                  </a:outerShdw>
                </a:effectLst>
              </a:rPr>
              <a:t>口即可实现题意要求。</a:t>
            </a:r>
            <a:endParaRPr lang="en-US" altLang="zh-CN" sz="2400" b="1" dirty="0">
              <a:effectLst>
                <a:outerShdw blurRad="38100" dist="38100" dir="2700000" algn="tl">
                  <a:srgbClr val="000000">
                    <a:alpha val="43137"/>
                  </a:srgbClr>
                </a:outerShdw>
              </a:effectLst>
            </a:endParaRPr>
          </a:p>
          <a:p>
            <a:pPr>
              <a:buFontTx/>
              <a:buNone/>
              <a:defRPr/>
            </a:pPr>
            <a:r>
              <a:rPr lang="zh-CN" altLang="zh-CN" sz="2400" b="1" dirty="0">
                <a:effectLst>
                  <a:outerShdw blurRad="38100" dist="38100" dir="2700000" algn="tl">
                    <a:srgbClr val="000000">
                      <a:alpha val="43137"/>
                    </a:srgbClr>
                  </a:outerShdw>
                </a:effectLst>
              </a:rPr>
              <a:t>两个关键问题需要</a:t>
            </a:r>
            <a:r>
              <a:rPr lang="zh-CN" altLang="en-US" sz="2400" b="1" dirty="0">
                <a:effectLst>
                  <a:outerShdw blurRad="38100" dist="38100" dir="2700000" algn="tl">
                    <a:srgbClr val="000000">
                      <a:alpha val="43137"/>
                    </a:srgbClr>
                  </a:outerShdw>
                </a:effectLst>
              </a:rPr>
              <a:t>关注</a:t>
            </a:r>
            <a:r>
              <a:rPr lang="zh-CN" altLang="zh-CN" sz="2400" b="1" dirty="0">
                <a:effectLst>
                  <a:outerShdw blurRad="38100" dist="38100" dir="2700000" algn="tl">
                    <a:srgbClr val="000000">
                      <a:alpha val="43137"/>
                    </a:srgbClr>
                  </a:outerShdw>
                </a:effectLst>
              </a:rPr>
              <a:t>：</a:t>
            </a:r>
          </a:p>
          <a:p>
            <a:pPr>
              <a:buFontTx/>
              <a:buNone/>
              <a:defRPr/>
            </a:pPr>
            <a:r>
              <a:rPr lang="zh-CN" altLang="zh-CN" sz="2400" b="1" dirty="0">
                <a:effectLst>
                  <a:outerShdw blurRad="38100" dist="38100" dir="2700000" algn="tl">
                    <a:srgbClr val="000000">
                      <a:alpha val="43137"/>
                    </a:srgbClr>
                  </a:outerShdw>
                </a:effectLst>
              </a:rPr>
              <a:t>①</a:t>
            </a:r>
            <a:r>
              <a:rPr lang="zh-CN" altLang="zh-CN" sz="2400" b="1" dirty="0">
                <a:solidFill>
                  <a:srgbClr val="C00000"/>
                </a:solidFill>
                <a:effectLst>
                  <a:outerShdw blurRad="38100" dist="38100" dir="2700000" algn="tl">
                    <a:srgbClr val="000000">
                      <a:alpha val="43137"/>
                    </a:srgbClr>
                  </a:outerShdw>
                </a:effectLst>
              </a:rPr>
              <a:t>按键的处理问题</a:t>
            </a:r>
          </a:p>
          <a:p>
            <a:pPr>
              <a:buFontTx/>
              <a:buNone/>
              <a:defRPr/>
            </a:pPr>
            <a:r>
              <a:rPr lang="zh-CN" altLang="zh-CN" sz="2400" b="1" dirty="0">
                <a:effectLst>
                  <a:outerShdw blurRad="38100" dist="38100" dir="2700000" algn="tl">
                    <a:srgbClr val="000000">
                      <a:alpha val="43137"/>
                    </a:srgbClr>
                  </a:outerShdw>
                </a:effectLst>
              </a:rPr>
              <a:t>按键通常为机械式弹性开关。当机械触点断开、闭合时，由于触点的弹性作用，按键开关在闭合时不会马上稳定地接通，在断开时也不会一下子断开。因而</a:t>
            </a:r>
            <a:r>
              <a:rPr lang="zh-CN" altLang="zh-CN" sz="2400" b="1" dirty="0">
                <a:solidFill>
                  <a:srgbClr val="0000FF"/>
                </a:solidFill>
                <a:effectLst>
                  <a:outerShdw blurRad="38100" dist="38100" dir="2700000" algn="tl">
                    <a:srgbClr val="000000">
                      <a:alpha val="43137"/>
                    </a:srgbClr>
                  </a:outerShdw>
                </a:effectLst>
              </a:rPr>
              <a:t>在闭合及断开的瞬间均伴随有一连串的抖动，抖动造成电压的波动</a:t>
            </a:r>
            <a:r>
              <a:rPr lang="zh-CN" altLang="zh-CN" sz="2400" b="1" dirty="0">
                <a:effectLst>
                  <a:outerShdw blurRad="38100" dist="38100" dir="2700000" algn="tl">
                    <a:srgbClr val="000000">
                      <a:alpha val="43137"/>
                    </a:srgbClr>
                  </a:outerShdw>
                </a:effectLst>
              </a:rPr>
              <a:t>。</a:t>
            </a:r>
            <a:endParaRPr lang="zh-CN" altLang="en-US" sz="2400" b="1" dirty="0">
              <a:effectLst>
                <a:outerShdw blurRad="38100" dist="38100" dir="2700000" algn="tl">
                  <a:srgbClr val="000000">
                    <a:alpha val="43137"/>
                  </a:srgbClr>
                </a:outerShdw>
              </a:effectLst>
            </a:endParaRPr>
          </a:p>
        </p:txBody>
      </p:sp>
      <p:pic>
        <p:nvPicPr>
          <p:cNvPr id="32773" name="图片 6"/>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66950" y="4953000"/>
            <a:ext cx="4319588" cy="124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a:extLst>
              <a:ext uri="{FF2B5EF4-FFF2-40B4-BE49-F238E27FC236}">
                <a16:creationId xmlns:a16="http://schemas.microsoft.com/office/drawing/2014/main" id="{CF893E5B-4608-41C7-8632-5924E3696C01}"/>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330756"/>
                                        </p:tgtEl>
                                        <p:attrNameLst>
                                          <p:attrName>style.visibility</p:attrName>
                                        </p:attrNameLst>
                                      </p:cBhvr>
                                      <p:to>
                                        <p:strVal val="visible"/>
                                      </p:to>
                                    </p:set>
                                    <p:animEffect transition="in" filter="blinds(horizontal)">
                                      <p:cBhvr>
                                        <p:cTn id="7" dur="500"/>
                                        <p:tgtEl>
                                          <p:spTgt spid="3307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75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6" name="Rectangle 4"/>
          <p:cNvSpPr>
            <a:spLocks noChangeArrowheads="1"/>
          </p:cNvSpPr>
          <p:nvPr/>
        </p:nvSpPr>
        <p:spPr bwMode="auto">
          <a:xfrm>
            <a:off x="488950" y="624682"/>
            <a:ext cx="8385175" cy="467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50000"/>
              </a:lnSpc>
              <a:buFontTx/>
              <a:buNone/>
              <a:defRPr/>
            </a:pPr>
            <a:r>
              <a:rPr lang="zh-CN" altLang="zh-CN" sz="2400" b="1" dirty="0">
                <a:effectLst>
                  <a:outerShdw blurRad="38100" dist="38100" dir="2700000" algn="tl">
                    <a:srgbClr val="000000">
                      <a:alpha val="43137"/>
                    </a:srgbClr>
                  </a:outerShdw>
                </a:effectLst>
              </a:rPr>
              <a:t>显然</a:t>
            </a:r>
            <a:r>
              <a:rPr lang="zh-CN" altLang="zh-CN" sz="2400" b="1" dirty="0">
                <a:solidFill>
                  <a:srgbClr val="C00000"/>
                </a:solidFill>
                <a:effectLst>
                  <a:outerShdw blurRad="38100" dist="38100" dir="2700000" algn="tl">
                    <a:srgbClr val="000000">
                      <a:alpha val="43137"/>
                    </a:srgbClr>
                  </a:outerShdw>
                </a:effectLst>
              </a:rPr>
              <a:t>按键抖动会造成难以判断按键闭合状态</a:t>
            </a:r>
            <a:r>
              <a:rPr lang="zh-CN" altLang="zh-CN" sz="2400" b="1" dirty="0">
                <a:effectLst>
                  <a:outerShdw blurRad="38100" dist="38100" dir="2700000" algn="tl">
                    <a:srgbClr val="000000">
                      <a:alpha val="43137"/>
                    </a:srgbClr>
                  </a:outerShdw>
                </a:effectLst>
              </a:rPr>
              <a:t>的问题</a:t>
            </a:r>
            <a:endParaRPr lang="en-US" altLang="zh-CN" sz="2400" b="1" dirty="0">
              <a:effectLst>
                <a:outerShdw blurRad="38100" dist="38100" dir="2700000" algn="tl">
                  <a:srgbClr val="000000">
                    <a:alpha val="43137"/>
                  </a:srgbClr>
                </a:outerShdw>
              </a:effectLst>
            </a:endParaRPr>
          </a:p>
          <a:p>
            <a:pPr marL="342900" indent="-342900">
              <a:lnSpc>
                <a:spcPct val="150000"/>
              </a:lnSpc>
              <a:defRPr/>
            </a:pPr>
            <a:r>
              <a:rPr lang="zh-CN" altLang="zh-CN" sz="2400" b="1" dirty="0">
                <a:effectLst>
                  <a:outerShdw blurRad="38100" dist="38100" dir="2700000" algn="tl">
                    <a:srgbClr val="000000">
                      <a:alpha val="43137"/>
                    </a:srgbClr>
                  </a:outerShdw>
                </a:effectLst>
              </a:rPr>
              <a:t>按键消抖最简单的方法是</a:t>
            </a:r>
            <a:r>
              <a:rPr lang="zh-CN" altLang="zh-CN" sz="2400" b="1" dirty="0">
                <a:solidFill>
                  <a:srgbClr val="0000FF"/>
                </a:solidFill>
                <a:effectLst>
                  <a:outerShdw blurRad="38100" dist="38100" dir="2700000" algn="tl">
                    <a:srgbClr val="000000">
                      <a:alpha val="43137"/>
                    </a:srgbClr>
                  </a:outerShdw>
                </a:effectLst>
              </a:rPr>
              <a:t>软件消抖法</a:t>
            </a:r>
            <a:r>
              <a:rPr lang="zh-CN" altLang="zh-CN" sz="2400" b="1" dirty="0">
                <a:effectLst>
                  <a:outerShdw blurRad="38100" dist="38100" dir="2700000" algn="tl">
                    <a:srgbClr val="000000">
                      <a:alpha val="43137"/>
                    </a:srgbClr>
                  </a:outerShdw>
                </a:effectLst>
              </a:rPr>
              <a:t>，即当检测到有键按下时，先用</a:t>
            </a:r>
            <a:r>
              <a:rPr lang="zh-CN" altLang="zh-CN" sz="2400" b="1" dirty="0">
                <a:solidFill>
                  <a:srgbClr val="C00000"/>
                </a:solidFill>
                <a:effectLst>
                  <a:outerShdw blurRad="38100" dist="38100" dir="2700000" algn="tl">
                    <a:srgbClr val="000000">
                      <a:alpha val="43137"/>
                    </a:srgbClr>
                  </a:outerShdw>
                </a:effectLst>
              </a:rPr>
              <a:t>软件延时</a:t>
            </a:r>
            <a:r>
              <a:rPr lang="en-US" altLang="zh-CN" sz="2400" b="1" dirty="0">
                <a:solidFill>
                  <a:srgbClr val="C00000"/>
                </a:solidFill>
                <a:effectLst>
                  <a:outerShdw blurRad="38100" dist="38100" dir="2700000" algn="tl">
                    <a:srgbClr val="000000">
                      <a:alpha val="43137"/>
                    </a:srgbClr>
                  </a:outerShdw>
                </a:effectLst>
              </a:rPr>
              <a:t>10ms</a:t>
            </a:r>
            <a:r>
              <a:rPr lang="zh-CN" altLang="zh-CN" sz="2400" b="1" dirty="0">
                <a:effectLst>
                  <a:outerShdw blurRad="38100" dist="38100" dir="2700000" algn="tl">
                    <a:srgbClr val="000000">
                      <a:alpha val="43137"/>
                    </a:srgbClr>
                  </a:outerShdw>
                </a:effectLst>
              </a:rPr>
              <a:t>，然后再次检测按键的状态。若仍是闭合状态电平，则可认为是真正有键按下。反之则应作为误判处理。同理，按键释放时的检测也需做类似的处理。</a:t>
            </a:r>
            <a:endParaRPr lang="en-US" altLang="zh-CN" sz="2400" b="1" dirty="0">
              <a:effectLst>
                <a:outerShdw blurRad="38100" dist="38100" dir="2700000" algn="tl">
                  <a:srgbClr val="000000">
                    <a:alpha val="43137"/>
                  </a:srgbClr>
                </a:outerShdw>
              </a:effectLst>
            </a:endParaRPr>
          </a:p>
          <a:p>
            <a:pPr marL="342900" indent="-342900">
              <a:lnSpc>
                <a:spcPct val="150000"/>
              </a:lnSpc>
              <a:defRPr/>
            </a:pPr>
            <a:r>
              <a:rPr lang="zh-CN" altLang="zh-CN" sz="2400" b="1" dirty="0">
                <a:effectLst>
                  <a:outerShdw blurRad="38100" dist="38100" dir="2700000" algn="tl">
                    <a:srgbClr val="000000">
                      <a:alpha val="43137"/>
                    </a:srgbClr>
                  </a:outerShdw>
                </a:effectLst>
              </a:rPr>
              <a:t>虽然电路仿真时不可能有按键抖动问题，但在程序设计时还是应该按实际电路的消抖考虑。</a:t>
            </a:r>
          </a:p>
        </p:txBody>
      </p:sp>
      <p:sp>
        <p:nvSpPr>
          <p:cNvPr id="5" name="Rectangle 2">
            <a:extLst>
              <a:ext uri="{FF2B5EF4-FFF2-40B4-BE49-F238E27FC236}">
                <a16:creationId xmlns:a16="http://schemas.microsoft.com/office/drawing/2014/main" id="{B4634B5C-E886-41D8-9B38-48513D6CAE47}"/>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0756"/>
                                        </p:tgtEl>
                                        <p:attrNameLst>
                                          <p:attrName>style.visibility</p:attrName>
                                        </p:attrNameLst>
                                      </p:cBhvr>
                                      <p:to>
                                        <p:strVal val="visible"/>
                                      </p:to>
                                    </p:set>
                                    <p:animEffect transition="in" filter="blinds(horizontal)">
                                      <p:cBhvr>
                                        <p:cTn id="7" dur="500"/>
                                        <p:tgtEl>
                                          <p:spTgt spid="3307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75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6" name="Rectangle 4"/>
          <p:cNvSpPr>
            <a:spLocks noChangeArrowheads="1"/>
          </p:cNvSpPr>
          <p:nvPr/>
        </p:nvSpPr>
        <p:spPr bwMode="auto">
          <a:xfrm>
            <a:off x="488950" y="1231900"/>
            <a:ext cx="83851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a:defRPr/>
            </a:pPr>
            <a:r>
              <a:rPr lang="zh-CN" altLang="zh-CN" sz="2400" b="1" dirty="0">
                <a:effectLst>
                  <a:outerShdw blurRad="38100" dist="38100" dir="2700000" algn="tl">
                    <a:srgbClr val="000000">
                      <a:alpha val="43137"/>
                    </a:srgbClr>
                  </a:outerShdw>
                </a:effectLst>
              </a:rPr>
              <a:t>此外，为避免按键在压下期间被连续统计，</a:t>
            </a:r>
            <a:r>
              <a:rPr lang="zh-CN" altLang="zh-CN" sz="2400" b="1" dirty="0">
                <a:solidFill>
                  <a:srgbClr val="0000FF"/>
                </a:solidFill>
                <a:effectLst>
                  <a:outerShdw blurRad="38100" dist="38100" dir="2700000" algn="tl">
                    <a:srgbClr val="000000">
                      <a:alpha val="43137"/>
                    </a:srgbClr>
                  </a:outerShdw>
                </a:effectLst>
              </a:rPr>
              <a:t>确保一次点击仅能被统计一次</a:t>
            </a:r>
            <a:r>
              <a:rPr lang="zh-CN" altLang="zh-CN" sz="2400" b="1" dirty="0">
                <a:effectLst>
                  <a:outerShdw blurRad="38100" dist="38100" dir="2700000" algn="tl">
                    <a:srgbClr val="000000">
                      <a:alpha val="43137"/>
                    </a:srgbClr>
                  </a:outerShdw>
                </a:effectLst>
              </a:rPr>
              <a:t>，计数值应该在按键先被压下然后又被释放之后才能更新。</a:t>
            </a:r>
            <a:endParaRPr lang="zh-CN" altLang="en-US" sz="2400" b="1" dirty="0">
              <a:effectLst>
                <a:outerShdw blurRad="38100" dist="38100" dir="2700000" algn="tl">
                  <a:srgbClr val="000000">
                    <a:alpha val="43137"/>
                  </a:srgbClr>
                </a:outerShdw>
              </a:effectLst>
            </a:endParaRPr>
          </a:p>
        </p:txBody>
      </p:sp>
      <p:pic>
        <p:nvPicPr>
          <p:cNvPr id="4" name="Picture 27"/>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23341" t="23314" r="49713" b="30339"/>
          <a:stretch>
            <a:fillRect/>
          </a:stretch>
        </p:blipFill>
        <p:spPr bwMode="auto">
          <a:xfrm>
            <a:off x="3267075" y="2254250"/>
            <a:ext cx="3429000" cy="364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2">
            <a:extLst>
              <a:ext uri="{FF2B5EF4-FFF2-40B4-BE49-F238E27FC236}">
                <a16:creationId xmlns:a16="http://schemas.microsoft.com/office/drawing/2014/main" id="{7315E34A-DD60-476A-8681-CD466843A793}"/>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0756"/>
                                        </p:tgtEl>
                                        <p:attrNameLst>
                                          <p:attrName>style.visibility</p:attrName>
                                        </p:attrNameLst>
                                      </p:cBhvr>
                                      <p:to>
                                        <p:strVal val="visible"/>
                                      </p:to>
                                    </p:set>
                                    <p:animEffect transition="in" filter="blinds(horizontal)">
                                      <p:cBhvr>
                                        <p:cTn id="7" dur="500"/>
                                        <p:tgtEl>
                                          <p:spTgt spid="33075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75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6" name="Rectangle 4"/>
          <p:cNvSpPr>
            <a:spLocks noChangeArrowheads="1"/>
          </p:cNvSpPr>
          <p:nvPr/>
        </p:nvSpPr>
        <p:spPr bwMode="auto">
          <a:xfrm>
            <a:off x="488950" y="1201738"/>
            <a:ext cx="8385175" cy="301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ts val="3200"/>
              </a:lnSpc>
              <a:spcBef>
                <a:spcPts val="600"/>
              </a:spcBef>
              <a:spcAft>
                <a:spcPts val="600"/>
              </a:spcAft>
              <a:buFontTx/>
              <a:buNone/>
              <a:defRPr/>
            </a:pPr>
            <a:r>
              <a:rPr lang="zh-CN" altLang="zh-CN" sz="2400" b="1" dirty="0">
                <a:effectLst>
                  <a:outerShdw blurRad="38100" dist="38100" dir="2700000" algn="tl">
                    <a:srgbClr val="000000">
                      <a:alpha val="43137"/>
                    </a:srgbClr>
                  </a:outerShdw>
                </a:effectLst>
              </a:rPr>
              <a:t>②计数值的拆分显示原理</a:t>
            </a:r>
          </a:p>
          <a:p>
            <a:pPr>
              <a:lnSpc>
                <a:spcPts val="3200"/>
              </a:lnSpc>
              <a:spcBef>
                <a:spcPts val="600"/>
              </a:spcBef>
              <a:spcAft>
                <a:spcPts val="600"/>
              </a:spcAft>
              <a:buFontTx/>
              <a:buNone/>
              <a:defRPr/>
            </a:pPr>
            <a:r>
              <a:rPr lang="zh-CN" altLang="zh-CN" sz="2400" b="1" dirty="0">
                <a:effectLst>
                  <a:outerShdw blurRad="38100" dist="38100" dir="2700000" algn="tl">
                    <a:srgbClr val="000000">
                      <a:alpha val="43137"/>
                    </a:srgbClr>
                  </a:outerShdw>
                </a:effectLst>
              </a:rPr>
              <a:t>为使计数器变量</a:t>
            </a:r>
            <a:r>
              <a:rPr lang="fr-FR" altLang="zh-CN" sz="2400" b="1" dirty="0">
                <a:effectLst>
                  <a:outerShdw blurRad="38100" dist="38100" dir="2700000" algn="tl">
                    <a:srgbClr val="000000">
                      <a:alpha val="43137"/>
                    </a:srgbClr>
                  </a:outerShdw>
                </a:effectLst>
              </a:rPr>
              <a:t>count</a:t>
            </a:r>
            <a:r>
              <a:rPr lang="zh-CN" altLang="zh-CN" sz="2400" b="1" dirty="0">
                <a:effectLst>
                  <a:outerShdw blurRad="38100" dist="38100" dir="2700000" algn="tl">
                    <a:srgbClr val="000000">
                      <a:alpha val="43137"/>
                    </a:srgbClr>
                  </a:outerShdw>
                </a:effectLst>
              </a:rPr>
              <a:t>中的两位十进制数能分别显示在两只数码管上，需要将计数值先进行拆分再送交显示。</a:t>
            </a:r>
            <a:endParaRPr lang="en-US" altLang="zh-CN" sz="2400" b="1" dirty="0">
              <a:effectLst>
                <a:outerShdw blurRad="38100" dist="38100" dir="2700000" algn="tl">
                  <a:srgbClr val="000000">
                    <a:alpha val="43137"/>
                  </a:srgbClr>
                </a:outerShdw>
              </a:effectLst>
            </a:endParaRPr>
          </a:p>
          <a:p>
            <a:pPr>
              <a:lnSpc>
                <a:spcPts val="3200"/>
              </a:lnSpc>
              <a:spcBef>
                <a:spcPts val="600"/>
              </a:spcBef>
              <a:spcAft>
                <a:spcPts val="600"/>
              </a:spcAft>
              <a:buFontTx/>
              <a:buNone/>
              <a:defRPr/>
            </a:pPr>
            <a:r>
              <a:rPr lang="zh-CN" altLang="zh-CN" sz="2400" b="1" dirty="0">
                <a:solidFill>
                  <a:srgbClr val="C00000"/>
                </a:solidFill>
                <a:effectLst>
                  <a:outerShdw blurRad="38100" dist="38100" dir="2700000" algn="tl">
                    <a:srgbClr val="000000">
                      <a:alpha val="43137"/>
                    </a:srgbClr>
                  </a:outerShdw>
                </a:effectLst>
              </a:rPr>
              <a:t>拆分原理</a:t>
            </a:r>
            <a:r>
              <a:rPr lang="zh-CN" altLang="en-US" sz="2400" b="1" dirty="0">
                <a:effectLst>
                  <a:outerShdw blurRad="38100" dist="38100" dir="2700000" algn="tl">
                    <a:srgbClr val="000000">
                      <a:alpha val="43137"/>
                    </a:srgbClr>
                  </a:outerShdw>
                </a:effectLst>
              </a:rPr>
              <a:t>：</a:t>
            </a:r>
            <a:endParaRPr lang="en-US" altLang="zh-CN" sz="2400" b="1" dirty="0">
              <a:effectLst>
                <a:outerShdw blurRad="38100" dist="38100" dir="2700000" algn="tl">
                  <a:srgbClr val="000000">
                    <a:alpha val="43137"/>
                  </a:srgbClr>
                </a:outerShdw>
              </a:effectLst>
            </a:endParaRPr>
          </a:p>
          <a:p>
            <a:pPr>
              <a:lnSpc>
                <a:spcPts val="3200"/>
              </a:lnSpc>
              <a:spcBef>
                <a:spcPts val="600"/>
              </a:spcBef>
              <a:spcAft>
                <a:spcPts val="600"/>
              </a:spcAft>
              <a:buFontTx/>
              <a:buNone/>
              <a:defRPr/>
            </a:pPr>
            <a:r>
              <a:rPr lang="zh-CN" altLang="zh-CN" sz="2400" b="1" dirty="0">
                <a:effectLst>
                  <a:outerShdw blurRad="38100" dist="38100" dir="2700000" algn="tl">
                    <a:srgbClr val="000000">
                      <a:alpha val="43137"/>
                    </a:srgbClr>
                  </a:outerShdw>
                </a:effectLst>
              </a:rPr>
              <a:t>将</a:t>
            </a:r>
            <a:r>
              <a:rPr lang="fr-FR" altLang="zh-CN" sz="2400" b="1" dirty="0">
                <a:effectLst>
                  <a:outerShdw blurRad="38100" dist="38100" dir="2700000" algn="tl">
                    <a:srgbClr val="000000">
                      <a:alpha val="43137"/>
                    </a:srgbClr>
                  </a:outerShdw>
                </a:effectLst>
              </a:rPr>
              <a:t>count</a:t>
            </a:r>
            <a:r>
              <a:rPr lang="zh-CN" altLang="zh-CN" sz="2400" b="1" dirty="0">
                <a:effectLst>
                  <a:outerShdw blurRad="38100" dist="38100" dir="2700000" algn="tl">
                    <a:srgbClr val="000000">
                      <a:alpha val="43137"/>
                    </a:srgbClr>
                  </a:outerShdw>
                </a:effectLst>
              </a:rPr>
              <a:t>用取模运算（</a:t>
            </a:r>
            <a:r>
              <a:rPr lang="fr-FR" altLang="zh-CN" sz="2400" b="1" dirty="0">
                <a:solidFill>
                  <a:srgbClr val="C00000"/>
                </a:solidFill>
                <a:effectLst>
                  <a:outerShdw blurRad="38100" dist="38100" dir="2700000" algn="tl">
                    <a:srgbClr val="000000">
                      <a:alpha val="43137"/>
                    </a:srgbClr>
                  </a:outerShdw>
                </a:effectLst>
              </a:rPr>
              <a:t>count%10</a:t>
            </a:r>
            <a:r>
              <a:rPr lang="zh-CN" altLang="zh-CN" sz="2400" b="1" dirty="0">
                <a:effectLst>
                  <a:outerShdw blurRad="38100" dist="38100" dir="2700000" algn="tl">
                    <a:srgbClr val="000000">
                      <a:alpha val="43137"/>
                    </a:srgbClr>
                  </a:outerShdw>
                </a:effectLst>
              </a:rPr>
              <a:t>）拆出个位值，用整除运算</a:t>
            </a:r>
            <a:r>
              <a:rPr lang="en-US" altLang="zh-CN" sz="2400" b="1" dirty="0">
                <a:effectLst>
                  <a:outerShdw blurRad="38100" dist="38100" dir="2700000" algn="tl">
                    <a:srgbClr val="000000">
                      <a:alpha val="43137"/>
                    </a:srgbClr>
                  </a:outerShdw>
                </a:effectLst>
              </a:rPr>
              <a:t> </a:t>
            </a:r>
            <a:r>
              <a:rPr lang="zh-CN" altLang="zh-CN" sz="2400" b="1" dirty="0">
                <a:effectLst>
                  <a:outerShdw blurRad="38100" dist="38100" dir="2700000" algn="tl">
                    <a:srgbClr val="000000">
                      <a:alpha val="43137"/>
                    </a:srgbClr>
                  </a:outerShdw>
                </a:effectLst>
              </a:rPr>
              <a:t>（</a:t>
            </a:r>
            <a:r>
              <a:rPr lang="fr-FR" altLang="zh-CN" sz="2400" b="1" dirty="0">
                <a:solidFill>
                  <a:srgbClr val="C00000"/>
                </a:solidFill>
                <a:effectLst>
                  <a:outerShdw blurRad="38100" dist="38100" dir="2700000" algn="tl">
                    <a:srgbClr val="000000">
                      <a:alpha val="43137"/>
                    </a:srgbClr>
                  </a:outerShdw>
                </a:effectLst>
              </a:rPr>
              <a:t>count/10</a:t>
            </a:r>
            <a:r>
              <a:rPr lang="zh-CN" altLang="zh-CN" sz="2400" b="1" dirty="0">
                <a:effectLst>
                  <a:outerShdw blurRad="38100" dist="38100" dir="2700000" algn="tl">
                    <a:srgbClr val="000000">
                      <a:alpha val="43137"/>
                    </a:srgbClr>
                  </a:outerShdw>
                </a:effectLst>
              </a:rPr>
              <a:t>）拆出十位值。</a:t>
            </a:r>
            <a:endParaRPr lang="zh-CN" altLang="en-US" sz="2400" b="1" dirty="0">
              <a:effectLst>
                <a:outerShdw blurRad="38100" dist="38100" dir="2700000" algn="tl">
                  <a:srgbClr val="000000">
                    <a:alpha val="43137"/>
                  </a:srgbClr>
                </a:outerShdw>
              </a:effectLst>
            </a:endParaRPr>
          </a:p>
        </p:txBody>
      </p:sp>
      <p:sp>
        <p:nvSpPr>
          <p:cNvPr id="6" name="Rectangle 28"/>
          <p:cNvSpPr>
            <a:spLocks noChangeArrowheads="1"/>
          </p:cNvSpPr>
          <p:nvPr/>
        </p:nvSpPr>
        <p:spPr bwMode="auto">
          <a:xfrm>
            <a:off x="2203450" y="4295775"/>
            <a:ext cx="316304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fr-FR" altLang="zh-CN" sz="2400" b="1">
                <a:effectLst>
                  <a:outerShdw blurRad="38100" dist="38100" dir="2700000" algn="tl">
                    <a:srgbClr val="000000">
                      <a:alpha val="43137"/>
                    </a:srgbClr>
                  </a:outerShdw>
                </a:effectLst>
              </a:rPr>
              <a:t>P2 = table[</a:t>
            </a:r>
            <a:r>
              <a:rPr lang="fr-FR" altLang="zh-CN" sz="2400" b="1">
                <a:solidFill>
                  <a:srgbClr val="FF3300"/>
                </a:solidFill>
                <a:effectLst>
                  <a:outerShdw blurRad="38100" dist="38100" dir="2700000" algn="tl">
                    <a:srgbClr val="000000">
                      <a:alpha val="43137"/>
                    </a:srgbClr>
                  </a:outerShdw>
                </a:effectLst>
              </a:rPr>
              <a:t>count%10</a:t>
            </a:r>
            <a:r>
              <a:rPr lang="fr-FR" altLang="zh-CN" sz="2400" b="1">
                <a:effectLst>
                  <a:outerShdw blurRad="38100" dist="38100" dir="2700000" algn="tl">
                    <a:srgbClr val="000000">
                      <a:alpha val="43137"/>
                    </a:srgbClr>
                  </a:outerShdw>
                </a:effectLst>
              </a:rPr>
              <a:t>];</a:t>
            </a:r>
            <a:endParaRPr lang="zh-CN" altLang="en-US" sz="2400" b="1">
              <a:effectLst>
                <a:outerShdw blurRad="38100" dist="38100" dir="2700000" algn="tl">
                  <a:srgbClr val="000000">
                    <a:alpha val="43137"/>
                  </a:srgbClr>
                </a:outerShdw>
              </a:effectLst>
            </a:endParaRPr>
          </a:p>
        </p:txBody>
      </p:sp>
      <p:sp>
        <p:nvSpPr>
          <p:cNvPr id="7" name="Rectangle 29"/>
          <p:cNvSpPr>
            <a:spLocks noChangeArrowheads="1"/>
          </p:cNvSpPr>
          <p:nvPr/>
        </p:nvSpPr>
        <p:spPr bwMode="auto">
          <a:xfrm>
            <a:off x="2203450" y="4764088"/>
            <a:ext cx="28194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fr-FR" altLang="zh-CN" sz="2400" b="1">
                <a:effectLst>
                  <a:outerShdw blurRad="38100" dist="38100" dir="2700000" algn="tl">
                    <a:srgbClr val="000000">
                      <a:alpha val="43137"/>
                    </a:srgbClr>
                  </a:outerShdw>
                </a:effectLst>
              </a:rPr>
              <a:t>P0 = table[</a:t>
            </a:r>
            <a:r>
              <a:rPr lang="fr-FR" altLang="zh-CN" sz="2400" b="1">
                <a:solidFill>
                  <a:srgbClr val="FF3300"/>
                </a:solidFill>
                <a:effectLst>
                  <a:outerShdw blurRad="38100" dist="38100" dir="2700000" algn="tl">
                    <a:srgbClr val="000000">
                      <a:alpha val="43137"/>
                    </a:srgbClr>
                  </a:outerShdw>
                </a:effectLst>
              </a:rPr>
              <a:t>count/10</a:t>
            </a:r>
            <a:r>
              <a:rPr lang="fr-FR" altLang="zh-CN" sz="2400" b="1">
                <a:effectLst>
                  <a:outerShdw blurRad="38100" dist="38100" dir="2700000" algn="tl">
                    <a:srgbClr val="000000">
                      <a:alpha val="43137"/>
                    </a:srgbClr>
                  </a:outerShdw>
                </a:effectLst>
              </a:rPr>
              <a:t>];</a:t>
            </a:r>
            <a:endParaRPr lang="zh-CN" altLang="en-US" sz="2400" b="1">
              <a:effectLst>
                <a:outerShdw blurRad="38100" dist="38100" dir="2700000" algn="tl">
                  <a:srgbClr val="000000">
                    <a:alpha val="43137"/>
                  </a:srgbClr>
                </a:outerShdw>
              </a:effectLst>
            </a:endParaRPr>
          </a:p>
        </p:txBody>
      </p:sp>
      <p:sp>
        <p:nvSpPr>
          <p:cNvPr id="8" name="Rectangle 2">
            <a:extLst>
              <a:ext uri="{FF2B5EF4-FFF2-40B4-BE49-F238E27FC236}">
                <a16:creationId xmlns:a16="http://schemas.microsoft.com/office/drawing/2014/main" id="{0656AAD4-876C-4E5A-A4CA-3236BEDF9012}"/>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0756"/>
                                        </p:tgtEl>
                                        <p:attrNameLst>
                                          <p:attrName>style.visibility</p:attrName>
                                        </p:attrNameLst>
                                      </p:cBhvr>
                                      <p:to>
                                        <p:strVal val="visible"/>
                                      </p:to>
                                    </p:set>
                                    <p:animEffect transition="in" filter="blinds(horizontal)">
                                      <p:cBhvr>
                                        <p:cTn id="7" dur="500"/>
                                        <p:tgtEl>
                                          <p:spTgt spid="33075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756" grpId="0"/>
      <p:bldP spid="6" grpId="0"/>
      <p:bldP spid="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6" name="Rectangle 4"/>
          <p:cNvSpPr>
            <a:spLocks noChangeArrowheads="1"/>
          </p:cNvSpPr>
          <p:nvPr/>
        </p:nvSpPr>
        <p:spPr bwMode="auto">
          <a:xfrm>
            <a:off x="269875" y="176213"/>
            <a:ext cx="2074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ts val="3200"/>
              </a:lnSpc>
              <a:spcBef>
                <a:spcPts val="600"/>
              </a:spcBef>
              <a:spcAft>
                <a:spcPts val="600"/>
              </a:spcAft>
              <a:buFontTx/>
              <a:buNone/>
            </a:pPr>
            <a:r>
              <a:rPr lang="zh-CN" altLang="en-US" sz="1800" dirty="0"/>
              <a:t>实例</a:t>
            </a:r>
            <a:r>
              <a:rPr lang="en-US" altLang="zh-CN" sz="1800" dirty="0"/>
              <a:t>5</a:t>
            </a:r>
            <a:r>
              <a:rPr lang="zh-CN" altLang="en-US" sz="1800" dirty="0"/>
              <a:t>源程序</a:t>
            </a:r>
            <a:endParaRPr lang="zh-CN" altLang="zh-CN" sz="1800" dirty="0"/>
          </a:p>
        </p:txBody>
      </p:sp>
      <p:pic>
        <p:nvPicPr>
          <p:cNvPr id="36868"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84767" y="825685"/>
            <a:ext cx="7370763" cy="595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3D4C82A3-A1BE-4BC2-8944-63AA0F92DC3C}"/>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0756"/>
                                        </p:tgtEl>
                                        <p:attrNameLst>
                                          <p:attrName>style.visibility</p:attrName>
                                        </p:attrNameLst>
                                      </p:cBhvr>
                                      <p:to>
                                        <p:strVal val="visible"/>
                                      </p:to>
                                    </p:set>
                                    <p:animEffect transition="in" filter="blinds(horizontal)">
                                      <p:cBhvr>
                                        <p:cTn id="7" dur="500"/>
                                        <p:tgtEl>
                                          <p:spTgt spid="3307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75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1" name="图片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16325" y="1924050"/>
            <a:ext cx="4867275"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2" name="矩形 1"/>
          <p:cNvSpPr>
            <a:spLocks noChangeArrowheads="1"/>
          </p:cNvSpPr>
          <p:nvPr/>
        </p:nvSpPr>
        <p:spPr bwMode="auto">
          <a:xfrm>
            <a:off x="673100" y="973138"/>
            <a:ext cx="24939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zh-CN" sz="24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实例</a:t>
            </a:r>
            <a:r>
              <a:rPr lang="fr-FR" altLang="zh-CN" sz="24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5</a:t>
            </a:r>
            <a:r>
              <a:rPr lang="zh-CN" altLang="zh-CN" sz="24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的仿真运行</a:t>
            </a:r>
            <a:endParaRPr lang="zh-CN" altLang="en-US" sz="2400" b="1" dirty="0">
              <a:effectLst>
                <a:outerShdw blurRad="38100" dist="38100" dir="2700000" algn="tl">
                  <a:srgbClr val="000000">
                    <a:alpha val="43137"/>
                  </a:srgbClr>
                </a:outerShdw>
              </a:effectLst>
            </a:endParaRPr>
          </a:p>
        </p:txBody>
      </p:sp>
      <p:sp>
        <p:nvSpPr>
          <p:cNvPr id="37893" name="矩形 2"/>
          <p:cNvSpPr>
            <a:spLocks noChangeArrowheads="1"/>
          </p:cNvSpPr>
          <p:nvPr/>
        </p:nvSpPr>
        <p:spPr bwMode="auto">
          <a:xfrm>
            <a:off x="673100" y="5648325"/>
            <a:ext cx="78105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zh-CN" sz="2400">
                <a:latin typeface="Calibri" panose="020F0502020204030204" pitchFamily="34" charset="0"/>
                <a:cs typeface="Times New Roman" panose="02020603050405020304" pitchFamily="18" charset="0"/>
              </a:rPr>
              <a:t>仿真运行表明，循环计数显示功能已满足题意要求，程序设计</a:t>
            </a:r>
            <a:r>
              <a:rPr lang="zh-CN" altLang="en-US" sz="2400">
                <a:latin typeface="Calibri" panose="020F0502020204030204" pitchFamily="34" charset="0"/>
                <a:cs typeface="Times New Roman" panose="02020603050405020304" pitchFamily="18" charset="0"/>
              </a:rPr>
              <a:t>顺利</a:t>
            </a:r>
            <a:r>
              <a:rPr lang="zh-CN" altLang="zh-CN" sz="2400">
                <a:latin typeface="Calibri" panose="020F0502020204030204" pitchFamily="34" charset="0"/>
                <a:cs typeface="Times New Roman" panose="02020603050405020304" pitchFamily="18" charset="0"/>
              </a:rPr>
              <a:t>结束。</a:t>
            </a:r>
            <a:endParaRPr lang="zh-CN" altLang="en-US" sz="2400"/>
          </a:p>
        </p:txBody>
      </p:sp>
      <p:pic>
        <p:nvPicPr>
          <p:cNvPr id="37894" name="图片 62885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213" y="1485900"/>
            <a:ext cx="4852987"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2">
            <a:extLst>
              <a:ext uri="{FF2B5EF4-FFF2-40B4-BE49-F238E27FC236}">
                <a16:creationId xmlns:a16="http://schemas.microsoft.com/office/drawing/2014/main" id="{47854C5D-56ED-4647-AFE3-BB623C86C22B}"/>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116013" y="620713"/>
            <a:ext cx="7340600" cy="731837"/>
          </a:xfrm>
        </p:spPr>
        <p:txBody>
          <a:bodyPr/>
          <a:lstStyle/>
          <a:p>
            <a:pPr algn="l" eaLnBrk="1" hangingPunct="1"/>
            <a:r>
              <a:rPr lang="zh-CN" altLang="en-US" sz="3600" b="1">
                <a:solidFill>
                  <a:srgbClr val="0000FF"/>
                </a:solidFill>
                <a:latin typeface="黑体" panose="02010609060101010101" pitchFamily="49" charset="-122"/>
                <a:ea typeface="黑体" panose="02010609060101010101" pitchFamily="49" charset="-122"/>
              </a:rPr>
              <a:t>五、</a:t>
            </a:r>
            <a:r>
              <a:rPr lang="en-US" altLang="zh-CN" sz="3600" b="1">
                <a:solidFill>
                  <a:srgbClr val="0000FF"/>
                </a:solidFill>
                <a:latin typeface="黑体" panose="02010609060101010101" pitchFamily="49" charset="-122"/>
                <a:ea typeface="黑体" panose="02010609060101010101" pitchFamily="49" charset="-122"/>
              </a:rPr>
              <a:t>LED</a:t>
            </a:r>
            <a:r>
              <a:rPr lang="zh-CN" altLang="en-US" sz="3600" b="1">
                <a:solidFill>
                  <a:srgbClr val="0000FF"/>
                </a:solidFill>
                <a:latin typeface="黑体" panose="02010609060101010101" pitchFamily="49" charset="-122"/>
                <a:ea typeface="黑体" panose="02010609060101010101" pitchFamily="49" charset="-122"/>
              </a:rPr>
              <a:t>显示方式</a:t>
            </a:r>
          </a:p>
        </p:txBody>
      </p:sp>
      <p:sp>
        <p:nvSpPr>
          <p:cNvPr id="120836" name="Text Box 4"/>
          <p:cNvSpPr txBox="1">
            <a:spLocks noChangeArrowheads="1"/>
          </p:cNvSpPr>
          <p:nvPr/>
        </p:nvSpPr>
        <p:spPr bwMode="auto">
          <a:xfrm>
            <a:off x="1476375" y="1916113"/>
            <a:ext cx="4608513" cy="1311275"/>
          </a:xfrm>
          <a:prstGeom prst="rect">
            <a:avLst/>
          </a:prstGeom>
          <a:noFill/>
          <a:ln>
            <a:noFill/>
          </a:ln>
          <a:effectLst/>
        </p:spPr>
        <p:txBody>
          <a:bodyPr>
            <a:spAutoFit/>
          </a:bodyPr>
          <a:lstStyle/>
          <a:p>
            <a:pPr eaLnBrk="1" hangingPunct="1">
              <a:spcBef>
                <a:spcPct val="50000"/>
              </a:spcBef>
              <a:defRPr/>
            </a:pPr>
            <a:r>
              <a:rPr lang="zh-CN" altLang="en-US" sz="3200" b="1" dirty="0">
                <a:effectLst>
                  <a:outerShdw blurRad="38100" dist="38100" dir="2700000" algn="tl">
                    <a:srgbClr val="000000">
                      <a:alpha val="43137"/>
                    </a:srgbClr>
                  </a:outerShdw>
                </a:effectLst>
              </a:rPr>
              <a:t>（</a:t>
            </a:r>
            <a:r>
              <a:rPr lang="en-US" altLang="zh-CN" sz="3200" b="1" dirty="0">
                <a:effectLst>
                  <a:outerShdw blurRad="38100" dist="38100" dir="2700000" algn="tl">
                    <a:srgbClr val="000000">
                      <a:alpha val="43137"/>
                    </a:srgbClr>
                  </a:outerShdw>
                </a:effectLst>
              </a:rPr>
              <a:t>1</a:t>
            </a:r>
            <a:r>
              <a:rPr lang="zh-CN" altLang="en-US" sz="3200" b="1" dirty="0">
                <a:effectLst>
                  <a:outerShdw blurRad="38100" dist="38100" dir="2700000" algn="tl">
                    <a:srgbClr val="000000">
                      <a:alpha val="43137"/>
                    </a:srgbClr>
                  </a:outerShdw>
                </a:effectLst>
              </a:rPr>
              <a:t>）静态显示方式</a:t>
            </a:r>
          </a:p>
          <a:p>
            <a:pPr eaLnBrk="1" hangingPunct="1">
              <a:spcBef>
                <a:spcPct val="50000"/>
              </a:spcBef>
              <a:defRPr/>
            </a:pPr>
            <a:r>
              <a:rPr lang="zh-CN" altLang="en-US" sz="3200" b="1" dirty="0">
                <a:effectLst>
                  <a:outerShdw blurRad="38100" dist="38100" dir="2700000" algn="tl">
                    <a:srgbClr val="000000">
                      <a:alpha val="43137"/>
                    </a:srgbClr>
                  </a:outerShdw>
                </a:effectLst>
              </a:rPr>
              <a:t>（</a:t>
            </a:r>
            <a:r>
              <a:rPr lang="en-US" altLang="zh-CN" sz="3200" b="1" dirty="0">
                <a:effectLst>
                  <a:outerShdw blurRad="38100" dist="38100" dir="2700000" algn="tl">
                    <a:srgbClr val="000000">
                      <a:alpha val="43137"/>
                    </a:srgbClr>
                  </a:outerShdw>
                </a:effectLst>
              </a:rPr>
              <a:t>2</a:t>
            </a:r>
            <a:r>
              <a:rPr lang="zh-CN" altLang="en-US" sz="3200" b="1" dirty="0">
                <a:effectLst>
                  <a:outerShdw blurRad="38100" dist="38100" dir="2700000" algn="tl">
                    <a:srgbClr val="000000">
                      <a:alpha val="43137"/>
                    </a:srgbClr>
                  </a:outerShdw>
                </a:effectLst>
              </a:rPr>
              <a:t>）动态显示方式</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body" idx="1"/>
          </p:nvPr>
        </p:nvSpPr>
        <p:spPr>
          <a:xfrm>
            <a:off x="479503" y="735323"/>
            <a:ext cx="8140390" cy="5441958"/>
          </a:xfrm>
        </p:spPr>
        <p:txBody>
          <a:bodyPr>
            <a:normAutofit/>
          </a:bodyPr>
          <a:lstStyle/>
          <a:p>
            <a:pPr eaLnBrk="1" hangingPunct="1">
              <a:lnSpc>
                <a:spcPct val="80000"/>
              </a:lnSpc>
              <a:buFontTx/>
              <a:buNone/>
              <a:defRPr/>
            </a:pPr>
            <a:r>
              <a:rPr lang="zh-CN" altLang="en-US" sz="2800" b="1" dirty="0">
                <a:solidFill>
                  <a:srgbClr val="0000FF"/>
                </a:solidFill>
                <a:latin typeface="黑体" panose="02010609060101010101" pitchFamily="49" charset="-122"/>
                <a:ea typeface="黑体" panose="02010609060101010101" pitchFamily="49" charset="-122"/>
              </a:rPr>
              <a:t>（</a:t>
            </a:r>
            <a:r>
              <a:rPr lang="en-US" altLang="zh-CN" sz="2800" b="1" dirty="0">
                <a:solidFill>
                  <a:srgbClr val="0000FF"/>
                </a:solidFill>
                <a:latin typeface="黑体" panose="02010609060101010101" pitchFamily="49" charset="-122"/>
                <a:ea typeface="黑体" panose="02010609060101010101" pitchFamily="49" charset="-122"/>
              </a:rPr>
              <a:t>1</a:t>
            </a:r>
            <a:r>
              <a:rPr lang="zh-CN" altLang="en-US" sz="2800" b="1" dirty="0">
                <a:solidFill>
                  <a:srgbClr val="0000FF"/>
                </a:solidFill>
                <a:latin typeface="黑体" panose="02010609060101010101" pitchFamily="49" charset="-122"/>
                <a:ea typeface="黑体" panose="02010609060101010101" pitchFamily="49" charset="-122"/>
              </a:rPr>
              <a:t>）静态显示接口</a:t>
            </a:r>
          </a:p>
          <a:p>
            <a:pPr indent="342900" eaLnBrk="1" hangingPunct="1">
              <a:lnSpc>
                <a:spcPct val="130000"/>
              </a:lnSpc>
              <a:buFontTx/>
              <a:buNone/>
              <a:defRPr/>
            </a:pPr>
            <a:r>
              <a:rPr lang="zh-CN" altLang="zh-CN" sz="2800" b="1" i="1" u="sng" dirty="0">
                <a:solidFill>
                  <a:srgbClr val="CC33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无位选</a:t>
            </a:r>
            <a:r>
              <a:rPr lang="zh-CN" altLang="zh-CN" sz="2800" b="1" dirty="0">
                <a:effectLst>
                  <a:outerShdw blurRad="38100" dist="38100" dir="2700000" algn="tl">
                    <a:srgbClr val="000000">
                      <a:alpha val="43137"/>
                    </a:srgbClr>
                  </a:outerShdw>
                </a:effectLst>
                <a:latin typeface="仿宋_GB2312" pitchFamily="49" charset="-122"/>
                <a:ea typeface="仿宋_GB2312" pitchFamily="49" charset="-122"/>
              </a:rPr>
              <a:t>信息，</a:t>
            </a:r>
            <a:r>
              <a:rPr lang="zh-CN" altLang="zh-CN" sz="2800" b="1" dirty="0">
                <a:solidFill>
                  <a:srgbClr val="003399"/>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无论多少位</a:t>
            </a:r>
            <a:r>
              <a:rPr lang="en-US" altLang="zh-CN" sz="2800" b="1" dirty="0">
                <a:solidFill>
                  <a:srgbClr val="003399"/>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LED</a:t>
            </a:r>
            <a:r>
              <a:rPr lang="zh-CN" altLang="zh-CN" sz="2800" b="1" dirty="0">
                <a:solidFill>
                  <a:srgbClr val="003399"/>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数码管，同时处于显示状态，</a:t>
            </a:r>
            <a:r>
              <a:rPr lang="zh-CN" altLang="zh-CN" sz="2800" b="1" u="sng" dirty="0">
                <a:solidFill>
                  <a:srgbClr val="8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因此显示相比动态显示更清晰、亮度也更高。</a:t>
            </a:r>
            <a:endParaRPr lang="zh-CN" altLang="en-US" sz="2800" b="1" u="sng" dirty="0">
              <a:solidFill>
                <a:srgbClr val="8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indent="342900" eaLnBrk="1" hangingPunct="1">
              <a:lnSpc>
                <a:spcPct val="130000"/>
              </a:lnSpc>
              <a:buFontTx/>
              <a:buNone/>
              <a:defRPr/>
            </a:pP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各数码管接口的</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I/O</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口线是专用的，</a:t>
            </a:r>
            <a:r>
              <a:rPr lang="zh-CN" altLang="en-US"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无闪烁</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占</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I/O</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口线多。</a:t>
            </a:r>
            <a:endPar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indent="342900" eaLnBrk="1" hangingPunct="1">
              <a:lnSpc>
                <a:spcPct val="130000"/>
              </a:lnSpc>
              <a:spcBef>
                <a:spcPct val="0"/>
              </a:spcBef>
              <a:buFontTx/>
              <a:buNone/>
              <a:defRPr/>
            </a:pP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优点：被显示数据只要送入并行口后就不再需要</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CPU</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干预，因而显示效果稳定。</a:t>
            </a:r>
          </a:p>
          <a:p>
            <a:pPr indent="342900">
              <a:lnSpc>
                <a:spcPct val="130000"/>
              </a:lnSpc>
              <a:spcBef>
                <a:spcPct val="0"/>
              </a:spcBef>
              <a:buNone/>
              <a:defRPr/>
            </a:pP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缺点：占用资源较多。</a:t>
            </a:r>
            <a:endParaRPr lang="zh-CN" altLang="en-US" sz="2800" b="1" dirty="0">
              <a:solidFill>
                <a:srgbClr val="FF0000"/>
              </a:solidFill>
              <a:latin typeface="楷体_GB2312" pitchFamily="49" charset="-122"/>
              <a:ea typeface="楷体_GB2312" pitchFamily="49"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body" idx="1"/>
          </p:nvPr>
        </p:nvSpPr>
        <p:spPr>
          <a:xfrm>
            <a:off x="603250" y="908050"/>
            <a:ext cx="8083550" cy="685800"/>
          </a:xfrm>
        </p:spPr>
        <p:txBody>
          <a:bodyPr/>
          <a:lstStyle/>
          <a:p>
            <a:pPr eaLnBrk="1" hangingPunct="1">
              <a:buFontTx/>
              <a:buNone/>
            </a:pP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例</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:4</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个</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LED</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组合的静态显示电路如下图所示 </a:t>
            </a:r>
          </a:p>
        </p:txBody>
      </p:sp>
      <p:graphicFrame>
        <p:nvGraphicFramePr>
          <p:cNvPr id="19459" name="Object 3"/>
          <p:cNvGraphicFramePr>
            <a:graphicFrameLocks noChangeAspect="1"/>
          </p:cNvGraphicFramePr>
          <p:nvPr/>
        </p:nvGraphicFramePr>
        <p:xfrm>
          <a:off x="1295400" y="1517650"/>
          <a:ext cx="6589713" cy="3927475"/>
        </p:xfrm>
        <a:graphic>
          <a:graphicData uri="http://schemas.openxmlformats.org/presentationml/2006/ole">
            <mc:AlternateContent xmlns:mc="http://schemas.openxmlformats.org/markup-compatibility/2006">
              <mc:Choice xmlns:v="urn:schemas-microsoft-com:vml" Requires="v">
                <p:oleObj spid="_x0000_s1046" r:id="rId3" imgW="4769485" imgH="3009265" progId="Flash.Movie">
                  <p:embed/>
                </p:oleObj>
              </mc:Choice>
              <mc:Fallback>
                <p:oleObj r:id="rId3" imgW="4769485" imgH="3009265" progId="Flash.Movie">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b="16557"/>
                      <a:stretch>
                        <a:fillRect/>
                      </a:stretch>
                    </p:blipFill>
                    <p:spPr bwMode="auto">
                      <a:xfrm>
                        <a:off x="1295400" y="1517650"/>
                        <a:ext cx="6589713" cy="392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60" name="Text Box 4"/>
          <p:cNvSpPr txBox="1">
            <a:spLocks noChangeArrowheads="1"/>
          </p:cNvSpPr>
          <p:nvPr/>
        </p:nvSpPr>
        <p:spPr bwMode="auto">
          <a:xfrm>
            <a:off x="1331913" y="5589588"/>
            <a:ext cx="563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kumimoji="0" lang="en-US" altLang="zh-CN" sz="2400" b="1">
                <a:latin typeface="楷体_GB2312" pitchFamily="49" charset="-122"/>
                <a:ea typeface="楷体_GB2312" pitchFamily="49" charset="-122"/>
              </a:rPr>
              <a:t> </a:t>
            </a:r>
            <a:r>
              <a:rPr kumimoji="0" lang="zh-CN" altLang="en-US" sz="2400" b="1">
                <a:latin typeface="楷体_GB2312" pitchFamily="49" charset="-122"/>
                <a:ea typeface="楷体_GB2312" pitchFamily="49" charset="-122"/>
              </a:rPr>
              <a:t>图 </a:t>
            </a:r>
            <a:r>
              <a:rPr kumimoji="0" lang="en-US" altLang="zh-CN" sz="2400" b="1">
                <a:latin typeface="楷体_GB2312" pitchFamily="49" charset="-122"/>
                <a:ea typeface="楷体_GB2312" pitchFamily="49" charset="-122"/>
              </a:rPr>
              <a:t>LED</a:t>
            </a:r>
            <a:r>
              <a:rPr kumimoji="0" lang="zh-CN" altLang="en-US" sz="2400" b="1">
                <a:latin typeface="楷体_GB2312" pitchFamily="49" charset="-122"/>
                <a:ea typeface="楷体_GB2312" pitchFamily="49" charset="-122"/>
              </a:rPr>
              <a:t>静态显示方式</a:t>
            </a:r>
            <a:r>
              <a:rPr kumimoji="0" lang="zh-CN" altLang="en-US" sz="1800" b="1">
                <a:latin typeface="楷体_GB2312" pitchFamily="49" charset="-122"/>
                <a:ea typeface="楷体_GB2312" pitchFamily="49" charset="-122"/>
              </a:rPr>
              <a:t>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a:xfrm>
            <a:off x="611188" y="549275"/>
            <a:ext cx="8172450" cy="439738"/>
          </a:xfrm>
        </p:spPr>
        <p:txBody>
          <a:bodyPr>
            <a:normAutofit fontScale="90000"/>
          </a:bodyPr>
          <a:lstStyle/>
          <a:p>
            <a:pPr algn="l" eaLnBrk="1" hangingPunct="1">
              <a:defRPr/>
            </a:pPr>
            <a:r>
              <a:rPr lang="zh-CN" altLang="en-US" sz="2600" b="1" dirty="0">
                <a:solidFill>
                  <a:schemeClr val="tx1"/>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分析</a:t>
            </a:r>
            <a:r>
              <a:rPr lang="en-US" altLang="zh-CN" sz="2600" b="1" dirty="0">
                <a:solidFill>
                  <a:schemeClr val="tx1"/>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2600" b="1" dirty="0">
                <a:solidFill>
                  <a:schemeClr val="tx1"/>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说明</a:t>
            </a:r>
            <a:r>
              <a:rPr lang="en-US" altLang="zh-CN" sz="2600" b="1" dirty="0">
                <a:solidFill>
                  <a:schemeClr val="tx1"/>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4</a:t>
            </a:r>
            <a:r>
              <a:rPr lang="zh-CN" altLang="en-US" sz="2600" b="1" dirty="0">
                <a:solidFill>
                  <a:schemeClr val="tx1"/>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个</a:t>
            </a:r>
            <a:r>
              <a:rPr lang="zh-CN" altLang="en-US" sz="26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共阴极</a:t>
            </a:r>
            <a:r>
              <a:rPr lang="en-US" altLang="zh-CN" sz="2600" b="1" dirty="0">
                <a:solidFill>
                  <a:schemeClr val="tx1"/>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LED</a:t>
            </a:r>
            <a:r>
              <a:rPr lang="zh-CN" altLang="en-US" sz="26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静态显示</a:t>
            </a:r>
            <a:r>
              <a:rPr lang="en-US" altLang="zh-CN" sz="26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3456</a:t>
            </a:r>
            <a:r>
              <a:rPr lang="zh-CN" altLang="en-US" sz="2600" b="1" dirty="0">
                <a:solidFill>
                  <a:schemeClr val="tx1"/>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数字的工作过程。</a:t>
            </a:r>
            <a:endParaRPr lang="en-US" altLang="zh-CN" sz="2600" b="1" dirty="0">
              <a:solidFill>
                <a:schemeClr val="tx1"/>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124931" name="Rectangle 3"/>
          <p:cNvSpPr>
            <a:spLocks noGrp="1" noChangeArrowheads="1"/>
          </p:cNvSpPr>
          <p:nvPr>
            <p:ph type="body" idx="1"/>
          </p:nvPr>
        </p:nvSpPr>
        <p:spPr>
          <a:xfrm>
            <a:off x="152400" y="1447800"/>
            <a:ext cx="8740775" cy="4502150"/>
          </a:xfrm>
        </p:spPr>
        <p:txBody>
          <a:bodyPr/>
          <a:lstStyle/>
          <a:p>
            <a:pPr marL="0" indent="0" algn="just" eaLnBrk="1" hangingPunct="1">
              <a:lnSpc>
                <a:spcPct val="90000"/>
              </a:lnSpc>
              <a:buFontTx/>
              <a:buNone/>
              <a:defRPr/>
            </a:pP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看图</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当所有</a:t>
            </a:r>
            <a:r>
              <a:rPr lang="en-US" altLang="zh-CN"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COM</a:t>
            </a:r>
            <a:r>
              <a:rPr lang="zh-CN" altLang="en-US"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端</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连接在一起并</a:t>
            </a:r>
            <a:r>
              <a:rPr lang="zh-CN" altLang="en-US"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接地</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时</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p>
          <a:p>
            <a:pPr marL="0" indent="0" algn="just" eaLnBrk="1" hangingPunct="1">
              <a:lnSpc>
                <a:spcPct val="90000"/>
              </a:lnSpc>
              <a:buFontTx/>
              <a:buNone/>
              <a:defRPr/>
            </a:pP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首先由</a:t>
            </a:r>
            <a:r>
              <a:rPr lang="en-US" altLang="zh-CN"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I/O</a:t>
            </a:r>
            <a:r>
              <a:rPr lang="zh-CN" altLang="en-US"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口</a:t>
            </a:r>
            <a:r>
              <a:rPr lang="en-US" altLang="zh-CN"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(1)</a:t>
            </a:r>
            <a:r>
              <a:rPr lang="zh-CN" altLang="en-US"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送出数字</a:t>
            </a:r>
            <a:r>
              <a:rPr lang="en-US" altLang="zh-CN"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3</a:t>
            </a:r>
            <a:r>
              <a:rPr lang="zh-CN" altLang="en-US"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的段选码</a:t>
            </a:r>
            <a:r>
              <a:rPr lang="en-US" altLang="zh-CN"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4FH</a:t>
            </a:r>
            <a:r>
              <a:rPr lang="en-US" altLang="zh-CN" sz="2400" b="1" dirty="0">
                <a:solidFill>
                  <a:srgbClr val="FF33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即数据</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01001111</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到左边第一个</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LED</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的段选线上</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阳极接受到高电平“</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1”</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的发光管</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g</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d</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c</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b</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段因为有电流流过则被点亮</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则结果为左边第一个</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LED</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显示</a:t>
            </a:r>
            <a:r>
              <a:rPr lang="en-US" altLang="zh-CN" sz="24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3</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p>
          <a:p>
            <a:pPr marL="0" indent="0" algn="just" eaLnBrk="1" hangingPunct="1">
              <a:lnSpc>
                <a:spcPct val="90000"/>
              </a:lnSpc>
              <a:buFontTx/>
              <a:buNone/>
              <a:defRPr/>
            </a:pP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接着由</a:t>
            </a:r>
            <a:r>
              <a:rPr lang="en-US" altLang="zh-CN"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I/O</a:t>
            </a:r>
            <a:r>
              <a:rPr lang="zh-CN" altLang="en-US"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口</a:t>
            </a:r>
            <a:r>
              <a:rPr lang="en-US" altLang="zh-CN"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(2)</a:t>
            </a:r>
            <a:r>
              <a:rPr lang="zh-CN" altLang="en-US"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送出数字</a:t>
            </a:r>
            <a:r>
              <a:rPr lang="en-US" altLang="zh-CN"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4</a:t>
            </a:r>
            <a:r>
              <a:rPr lang="zh-CN" altLang="en-US"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的段选码</a:t>
            </a:r>
            <a:r>
              <a:rPr lang="en-US" altLang="zh-CN"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66H</a:t>
            </a:r>
            <a:r>
              <a:rPr lang="en-US" altLang="zh-CN" sz="2400" b="1" dirty="0">
                <a:solidFill>
                  <a:srgbClr val="FF33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即数据</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01100110</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到左边第二个</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LED</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的段选线上</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阳极接受到高电平“</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1”</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的共阴极发光管</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g</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f</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c</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b</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段则被点亮</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则结果为左边第二个</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LED</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显示</a:t>
            </a:r>
            <a:r>
              <a:rPr lang="en-US" altLang="zh-CN" sz="24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4</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p>
          <a:p>
            <a:pPr marL="0" indent="0" algn="just" eaLnBrk="1" hangingPunct="1">
              <a:lnSpc>
                <a:spcPct val="90000"/>
              </a:lnSpc>
              <a:buFontTx/>
              <a:buNone/>
              <a:defRPr/>
            </a:pP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同理</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由</a:t>
            </a:r>
            <a:r>
              <a:rPr lang="en-US" altLang="zh-CN"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I/O</a:t>
            </a:r>
            <a:r>
              <a:rPr lang="zh-CN" altLang="en-US"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口</a:t>
            </a:r>
            <a:r>
              <a:rPr lang="en-US" altLang="zh-CN"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(3)</a:t>
            </a:r>
            <a:r>
              <a:rPr lang="zh-CN" altLang="en-US"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送出数字</a:t>
            </a:r>
            <a:r>
              <a:rPr lang="en-US" altLang="zh-CN"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5</a:t>
            </a:r>
            <a:r>
              <a:rPr lang="zh-CN" altLang="en-US"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的段选码</a:t>
            </a:r>
            <a:r>
              <a:rPr lang="en-US" altLang="zh-CN"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6DH</a:t>
            </a:r>
            <a:r>
              <a:rPr lang="en-US" altLang="zh-CN" sz="2400" b="1" dirty="0">
                <a:solidFill>
                  <a:srgbClr val="FF33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即</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01101101</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到左边第三个</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LED</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的段选线上；</a:t>
            </a:r>
            <a:endPar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marL="0" indent="0" algn="just" eaLnBrk="1" hangingPunct="1">
              <a:lnSpc>
                <a:spcPct val="90000"/>
              </a:lnSpc>
              <a:buFontTx/>
              <a:buNone/>
              <a:defRPr/>
            </a:pP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由</a:t>
            </a:r>
            <a:r>
              <a:rPr lang="en-US" altLang="zh-CN"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I/O</a:t>
            </a:r>
            <a:r>
              <a:rPr lang="zh-CN" altLang="en-US"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口</a:t>
            </a:r>
            <a:r>
              <a:rPr lang="en-US" altLang="zh-CN"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(4)</a:t>
            </a:r>
            <a:r>
              <a:rPr lang="zh-CN" altLang="en-US"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送出数字</a:t>
            </a:r>
            <a:r>
              <a:rPr lang="en-US" altLang="zh-CN"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6</a:t>
            </a:r>
            <a:r>
              <a:rPr lang="zh-CN" altLang="en-US"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的段选码</a:t>
            </a:r>
            <a:r>
              <a:rPr lang="en-US" altLang="zh-CN"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7DH</a:t>
            </a:r>
            <a:r>
              <a:rPr lang="en-US" altLang="zh-CN" sz="2400" b="1" dirty="0">
                <a:solidFill>
                  <a:srgbClr val="FF33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即</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01111101</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到左边第四个</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LED</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的段选线上</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则四个</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LED</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显示</a:t>
            </a:r>
            <a:r>
              <a:rPr lang="en-US" altLang="zh-CN" sz="24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6</a:t>
            </a:r>
            <a:r>
              <a:rPr lang="zh-CN" altLang="en-US" sz="24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endPar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5" name="Rectangle 3"/>
          <p:cNvSpPr>
            <a:spLocks noChangeArrowheads="1"/>
          </p:cNvSpPr>
          <p:nvPr/>
        </p:nvSpPr>
        <p:spPr bwMode="auto">
          <a:xfrm>
            <a:off x="167943" y="830262"/>
            <a:ext cx="4129087" cy="641350"/>
          </a:xfrm>
          <a:prstGeom prst="rect">
            <a:avLst/>
          </a:prstGeom>
          <a:noFill/>
          <a:ln>
            <a:noFill/>
          </a:ln>
          <a:effectLst/>
        </p:spPr>
        <p:txBody>
          <a:bodyPr>
            <a:spAutoFit/>
          </a:bodyPr>
          <a:lstStyle/>
          <a:p>
            <a:pPr eaLnBrk="1" hangingPunct="1">
              <a:defRPr/>
            </a:pPr>
            <a:r>
              <a:rPr lang="zh-CN" altLang="en-US" sz="3600" b="1" dirty="0">
                <a:solidFill>
                  <a:schemeClr val="accent2"/>
                </a:solidFill>
                <a:effectLst>
                  <a:outerShdw blurRad="38100" dist="38100" dir="2700000" algn="tl">
                    <a:srgbClr val="C0C0C0"/>
                  </a:outerShdw>
                </a:effectLst>
                <a:ea typeface="黑体" panose="02010609060101010101" pitchFamily="49" charset="-122"/>
              </a:rPr>
              <a:t>（</a:t>
            </a:r>
            <a:r>
              <a:rPr lang="en-US" altLang="zh-CN" sz="3600" b="1" dirty="0">
                <a:solidFill>
                  <a:schemeClr val="accent2"/>
                </a:solidFill>
                <a:effectLst>
                  <a:outerShdw blurRad="38100" dist="38100" dir="2700000" algn="tl">
                    <a:srgbClr val="C0C0C0"/>
                  </a:outerShdw>
                </a:effectLst>
                <a:ea typeface="黑体" panose="02010609060101010101" pitchFamily="49" charset="-122"/>
              </a:rPr>
              <a:t>2</a:t>
            </a:r>
            <a:r>
              <a:rPr lang="zh-CN" altLang="en-US" sz="3600" b="1" dirty="0">
                <a:solidFill>
                  <a:schemeClr val="accent2"/>
                </a:solidFill>
                <a:effectLst>
                  <a:outerShdw blurRad="38100" dist="38100" dir="2700000" algn="tl">
                    <a:srgbClr val="C0C0C0"/>
                  </a:outerShdw>
                </a:effectLst>
                <a:ea typeface="黑体" panose="02010609060101010101" pitchFamily="49" charset="-122"/>
              </a:rPr>
              <a:t>）动态显示接口</a:t>
            </a:r>
          </a:p>
        </p:txBody>
      </p:sp>
      <p:sp>
        <p:nvSpPr>
          <p:cNvPr id="125956" name="Text Box 4"/>
          <p:cNvSpPr txBox="1">
            <a:spLocks noChangeArrowheads="1"/>
          </p:cNvSpPr>
          <p:nvPr/>
        </p:nvSpPr>
        <p:spPr bwMode="auto">
          <a:xfrm>
            <a:off x="611188" y="1628775"/>
            <a:ext cx="7920037" cy="4078288"/>
          </a:xfrm>
          <a:prstGeom prst="rect">
            <a:avLst/>
          </a:prstGeom>
          <a:noFill/>
          <a:ln>
            <a:noFill/>
          </a:ln>
          <a:effectLst/>
        </p:spPr>
        <p:txBody>
          <a:bodyPr>
            <a:spAutoFit/>
          </a:bodyPr>
          <a:lstStyle/>
          <a:p>
            <a:pPr eaLnBrk="1" hangingPunct="1">
              <a:lnSpc>
                <a:spcPct val="125000"/>
              </a:lnSpc>
              <a:spcBef>
                <a:spcPct val="50000"/>
              </a:spcBef>
              <a:defRPr/>
            </a:pPr>
            <a:r>
              <a:rPr lang="en-US" altLang="zh-CN" sz="2800" b="1" dirty="0">
                <a:solidFill>
                  <a:srgbClr val="800000"/>
                </a:solidFill>
                <a:effectLst>
                  <a:outerShdw blurRad="38100" dist="38100" dir="2700000" algn="tl">
                    <a:srgbClr val="000000">
                      <a:alpha val="43137"/>
                    </a:srgbClr>
                  </a:outerShdw>
                </a:effectLst>
                <a:latin typeface="+mn-ea"/>
                <a:ea typeface="+mn-ea"/>
              </a:rPr>
              <a:t>    </a:t>
            </a:r>
            <a:r>
              <a:rPr lang="zh-CN" altLang="zh-CN" sz="2800" b="1" dirty="0">
                <a:solidFill>
                  <a:srgbClr val="800000"/>
                </a:solidFill>
                <a:effectLst>
                  <a:outerShdw blurRad="38100" dist="38100" dir="2700000" algn="tl">
                    <a:srgbClr val="000000">
                      <a:alpha val="43137"/>
                    </a:srgbClr>
                  </a:outerShdw>
                </a:effectLst>
                <a:latin typeface="宋体" panose="02010600030101010101" pitchFamily="2" charset="-122"/>
              </a:rPr>
              <a:t>动态循环扫描数码管，轮流依次点亮，无论在任何时刻只有一个</a:t>
            </a:r>
            <a:r>
              <a:rPr lang="en-US" altLang="zh-CN" sz="2800" b="1" dirty="0">
                <a:solidFill>
                  <a:srgbClr val="800000"/>
                </a:solidFill>
                <a:effectLst>
                  <a:outerShdw blurRad="38100" dist="38100" dir="2700000" algn="tl">
                    <a:srgbClr val="000000">
                      <a:alpha val="43137"/>
                    </a:srgbClr>
                  </a:outerShdw>
                </a:effectLst>
                <a:latin typeface="宋体" panose="02010600030101010101" pitchFamily="2" charset="-122"/>
              </a:rPr>
              <a:t>LED</a:t>
            </a:r>
            <a:r>
              <a:rPr lang="zh-CN" altLang="zh-CN" sz="2800" b="1" dirty="0">
                <a:solidFill>
                  <a:srgbClr val="800000"/>
                </a:solidFill>
                <a:effectLst>
                  <a:outerShdw blurRad="38100" dist="38100" dir="2700000" algn="tl">
                    <a:srgbClr val="000000">
                      <a:alpha val="43137"/>
                    </a:srgbClr>
                  </a:outerShdw>
                </a:effectLst>
                <a:latin typeface="宋体" panose="02010600030101010101" pitchFamily="2" charset="-122"/>
              </a:rPr>
              <a:t>数码管处于显示状态，</a:t>
            </a:r>
            <a:r>
              <a:rPr lang="zh-CN" altLang="zh-CN" sz="2800" b="1" dirty="0">
                <a:effectLst>
                  <a:outerShdw blurRad="38100" dist="38100" dir="2700000" algn="tl">
                    <a:srgbClr val="000000">
                      <a:alpha val="43137"/>
                    </a:srgbClr>
                  </a:outerShdw>
                </a:effectLst>
                <a:latin typeface="宋体" panose="02010600030101010101" pitchFamily="2" charset="-122"/>
              </a:rPr>
              <a:t>即单片机利用余辉和人眼的“</a:t>
            </a:r>
            <a:r>
              <a:rPr lang="zh-CN" altLang="zh-CN" sz="2800" b="1" u="sng" dirty="0">
                <a:solidFill>
                  <a:srgbClr val="003399"/>
                </a:solidFill>
                <a:effectLst>
                  <a:outerShdw blurRad="38100" dist="38100" dir="2700000" algn="tl">
                    <a:srgbClr val="000000">
                      <a:alpha val="43137"/>
                    </a:srgbClr>
                  </a:outerShdw>
                </a:effectLst>
                <a:latin typeface="宋体" panose="02010600030101010101" pitchFamily="2" charset="-122"/>
              </a:rPr>
              <a:t>视觉暂留</a:t>
            </a:r>
            <a:r>
              <a:rPr lang="zh-CN" altLang="zh-CN" sz="2800" b="1" dirty="0">
                <a:effectLst>
                  <a:outerShdw blurRad="38100" dist="38100" dir="2700000" algn="tl">
                    <a:srgbClr val="000000">
                      <a:alpha val="43137"/>
                    </a:srgbClr>
                  </a:outerShdw>
                </a:effectLst>
                <a:latin typeface="宋体" panose="02010600030101010101" pitchFamily="2" charset="-122"/>
              </a:rPr>
              <a:t>”作用，</a:t>
            </a:r>
            <a:r>
              <a:rPr lang="zh-CN" altLang="zh-CN" sz="2800" b="1" u="sng" dirty="0">
                <a:solidFill>
                  <a:srgbClr val="800000"/>
                </a:solidFill>
                <a:effectLst>
                  <a:outerShdw blurRad="38100" dist="38100" dir="2700000" algn="tl">
                    <a:srgbClr val="000000">
                      <a:alpha val="43137"/>
                    </a:srgbClr>
                  </a:outerShdw>
                </a:effectLst>
                <a:latin typeface="宋体" panose="02010600030101010101" pitchFamily="2" charset="-122"/>
              </a:rPr>
              <a:t>采用</a:t>
            </a:r>
            <a:r>
              <a:rPr lang="en-US" altLang="zh-CN" sz="2800" b="1" u="sng" dirty="0">
                <a:solidFill>
                  <a:srgbClr val="800000"/>
                </a:solidFill>
                <a:effectLst>
                  <a:outerShdw blurRad="38100" dist="38100" dir="2700000" algn="tl">
                    <a:srgbClr val="000000">
                      <a:alpha val="43137"/>
                    </a:srgbClr>
                  </a:outerShdw>
                </a:effectLst>
                <a:latin typeface="宋体" panose="02010600030101010101" pitchFamily="2" charset="-122"/>
              </a:rPr>
              <a:t>“</a:t>
            </a:r>
            <a:r>
              <a:rPr lang="zh-CN" altLang="zh-CN" sz="2800" b="1" u="sng" dirty="0">
                <a:solidFill>
                  <a:srgbClr val="800000"/>
                </a:solidFill>
                <a:effectLst>
                  <a:outerShdw blurRad="38100" dist="38100" dir="2700000" algn="tl">
                    <a:srgbClr val="000000">
                      <a:alpha val="43137"/>
                    </a:srgbClr>
                  </a:outerShdw>
                </a:effectLst>
                <a:latin typeface="宋体" panose="02010600030101010101" pitchFamily="2" charset="-122"/>
              </a:rPr>
              <a:t>扫描</a:t>
            </a:r>
            <a:r>
              <a:rPr lang="en-US" altLang="zh-CN" sz="2800" b="1" u="sng" dirty="0">
                <a:solidFill>
                  <a:srgbClr val="800000"/>
                </a:solidFill>
                <a:effectLst>
                  <a:outerShdw blurRad="38100" dist="38100" dir="2700000" algn="tl">
                    <a:srgbClr val="000000">
                      <a:alpha val="43137"/>
                    </a:srgbClr>
                  </a:outerShdw>
                </a:effectLst>
                <a:latin typeface="宋体" panose="02010600030101010101" pitchFamily="2" charset="-122"/>
              </a:rPr>
              <a:t>”</a:t>
            </a:r>
            <a:r>
              <a:rPr lang="zh-CN" altLang="zh-CN" sz="2800" b="1" u="sng" dirty="0">
                <a:solidFill>
                  <a:srgbClr val="800000"/>
                </a:solidFill>
                <a:effectLst>
                  <a:outerShdw blurRad="38100" dist="38100" dir="2700000" algn="tl">
                    <a:srgbClr val="000000">
                      <a:alpha val="43137"/>
                    </a:srgbClr>
                  </a:outerShdw>
                </a:effectLst>
                <a:latin typeface="宋体" panose="02010600030101010101" pitchFamily="2" charset="-122"/>
              </a:rPr>
              <a:t>方式控制各个数码管轮流显示。</a:t>
            </a:r>
          </a:p>
          <a:p>
            <a:pPr eaLnBrk="1" hangingPunct="1">
              <a:lnSpc>
                <a:spcPct val="125000"/>
              </a:lnSpc>
              <a:spcBef>
                <a:spcPct val="50000"/>
              </a:spcBef>
              <a:defRPr/>
            </a:pPr>
            <a:r>
              <a:rPr lang="zh-CN" altLang="en-US" sz="2800" b="1" dirty="0">
                <a:effectLst>
                  <a:outerShdw blurRad="38100" dist="38100" dir="2700000" algn="tl">
                    <a:srgbClr val="000000">
                      <a:alpha val="43137"/>
                    </a:srgbClr>
                  </a:outerShdw>
                </a:effectLst>
              </a:rPr>
              <a:t>      各数码管接口</a:t>
            </a:r>
            <a:r>
              <a:rPr lang="zh-CN" altLang="en-US" sz="2800" b="1" dirty="0">
                <a:solidFill>
                  <a:srgbClr val="FF0000"/>
                </a:solidFill>
                <a:effectLst>
                  <a:outerShdw blurRad="38100" dist="38100" dir="2700000" algn="tl">
                    <a:srgbClr val="000000">
                      <a:alpha val="43137"/>
                    </a:srgbClr>
                  </a:outerShdw>
                </a:effectLst>
              </a:rPr>
              <a:t>共用</a:t>
            </a:r>
            <a:r>
              <a:rPr lang="en-US" altLang="zh-CN" sz="2800" b="1" dirty="0">
                <a:solidFill>
                  <a:srgbClr val="FF0000"/>
                </a:solidFill>
                <a:effectLst>
                  <a:outerShdw blurRad="38100" dist="38100" dir="2700000" algn="tl">
                    <a:srgbClr val="000000">
                      <a:alpha val="43137"/>
                    </a:srgbClr>
                  </a:outerShdw>
                </a:effectLst>
              </a:rPr>
              <a:t>I/O</a:t>
            </a:r>
            <a:r>
              <a:rPr lang="zh-CN" altLang="en-US" sz="2800" b="1" dirty="0">
                <a:solidFill>
                  <a:srgbClr val="FF0000"/>
                </a:solidFill>
                <a:effectLst>
                  <a:outerShdw blurRad="38100" dist="38100" dir="2700000" algn="tl">
                    <a:srgbClr val="000000">
                      <a:alpha val="43137"/>
                    </a:srgbClr>
                  </a:outerShdw>
                </a:effectLst>
              </a:rPr>
              <a:t>口线</a:t>
            </a:r>
            <a:r>
              <a:rPr lang="zh-CN" altLang="en-US" sz="2800" b="1" dirty="0">
                <a:effectLst>
                  <a:outerShdw blurRad="38100" dist="38100" dir="2700000" algn="tl">
                    <a:srgbClr val="000000">
                      <a:alpha val="43137"/>
                    </a:srgbClr>
                  </a:outerShdw>
                </a:effectLst>
              </a:rPr>
              <a:t>。</a:t>
            </a:r>
            <a:r>
              <a:rPr lang="zh-CN" altLang="en-US" sz="2800" b="1" dirty="0">
                <a:solidFill>
                  <a:srgbClr val="FF0000"/>
                </a:solidFill>
                <a:effectLst>
                  <a:outerShdw blurRad="38100" dist="38100" dir="2700000" algn="tl">
                    <a:srgbClr val="000000">
                      <a:alpha val="43137"/>
                    </a:srgbClr>
                  </a:outerShdw>
                </a:effectLst>
              </a:rPr>
              <a:t>有闪烁</a:t>
            </a:r>
            <a:r>
              <a:rPr lang="en-US" altLang="zh-CN" sz="2800" b="1" dirty="0">
                <a:effectLst>
                  <a:outerShdw blurRad="38100" dist="38100" dir="2700000" algn="tl">
                    <a:srgbClr val="000000">
                      <a:alpha val="43137"/>
                    </a:srgbClr>
                  </a:outerShdw>
                </a:effectLst>
              </a:rPr>
              <a:t>,</a:t>
            </a:r>
            <a:r>
              <a:rPr lang="zh-CN" altLang="en-US" sz="2800" b="1" dirty="0">
                <a:effectLst>
                  <a:outerShdw blurRad="38100" dist="38100" dir="2700000" algn="tl">
                    <a:srgbClr val="000000">
                      <a:alpha val="43137"/>
                    </a:srgbClr>
                  </a:outerShdw>
                </a:effectLst>
              </a:rPr>
              <a:t>使用的元器件较少</a:t>
            </a:r>
            <a:r>
              <a:rPr lang="en-US" altLang="zh-CN" sz="2800" b="1" dirty="0">
                <a:effectLst>
                  <a:outerShdw blurRad="38100" dist="38100" dir="2700000" algn="tl">
                    <a:srgbClr val="000000">
                      <a:alpha val="43137"/>
                    </a:srgbClr>
                  </a:outerShdw>
                </a:effectLst>
              </a:rPr>
              <a:t>,</a:t>
            </a:r>
            <a:r>
              <a:rPr lang="zh-CN" altLang="en-US" sz="2800" b="1" dirty="0">
                <a:effectLst>
                  <a:outerShdw blurRad="38100" dist="38100" dir="2700000" algn="tl">
                    <a:srgbClr val="000000">
                      <a:alpha val="43137"/>
                    </a:srgbClr>
                  </a:outerShdw>
                </a:effectLst>
              </a:rPr>
              <a:t>占</a:t>
            </a:r>
            <a:r>
              <a:rPr lang="en-US" altLang="zh-CN" sz="2800" b="1" dirty="0">
                <a:effectLst>
                  <a:outerShdw blurRad="38100" dist="38100" dir="2700000" algn="tl">
                    <a:srgbClr val="000000">
                      <a:alpha val="43137"/>
                    </a:srgbClr>
                  </a:outerShdw>
                </a:effectLst>
              </a:rPr>
              <a:t>I/O</a:t>
            </a:r>
            <a:r>
              <a:rPr lang="zh-CN" altLang="en-US" sz="2800" b="1" dirty="0">
                <a:effectLst>
                  <a:outerShdw blurRad="38100" dist="38100" dir="2700000" algn="tl">
                    <a:srgbClr val="000000">
                      <a:alpha val="43137"/>
                    </a:srgbClr>
                  </a:outerShdw>
                </a:effectLst>
              </a:rPr>
              <a:t>线少</a:t>
            </a:r>
            <a:r>
              <a:rPr lang="en-US" altLang="zh-CN" sz="2800" b="1" dirty="0">
                <a:effectLst>
                  <a:outerShdw blurRad="38100" dist="38100" dir="2700000" algn="tl">
                    <a:srgbClr val="000000">
                      <a:alpha val="43137"/>
                    </a:srgbClr>
                  </a:outerShdw>
                </a:effectLst>
              </a:rPr>
              <a:t>,</a:t>
            </a:r>
            <a:r>
              <a:rPr lang="zh-CN" altLang="en-US" sz="2800" b="1" dirty="0">
                <a:effectLst>
                  <a:outerShdw blurRad="38100" dist="38100" dir="2700000" algn="tl">
                    <a:srgbClr val="000000">
                      <a:alpha val="43137"/>
                    </a:srgbClr>
                  </a:outerShdw>
                </a:effectLst>
              </a:rPr>
              <a:t>必须扫描</a:t>
            </a:r>
            <a:r>
              <a:rPr lang="en-US" altLang="zh-CN" sz="2800" b="1" dirty="0">
                <a:effectLst>
                  <a:outerShdw blurRad="38100" dist="38100" dir="2700000" algn="tl">
                    <a:srgbClr val="000000">
                      <a:alpha val="43137"/>
                    </a:srgbClr>
                  </a:outerShdw>
                </a:effectLst>
              </a:rPr>
              <a:t>,</a:t>
            </a:r>
            <a:r>
              <a:rPr lang="zh-CN" altLang="en-US" sz="2800" b="1" dirty="0">
                <a:effectLst>
                  <a:outerShdw blurRad="38100" dist="38100" dir="2700000" algn="tl">
                    <a:srgbClr val="000000">
                      <a:alpha val="43137"/>
                    </a:srgbClr>
                  </a:outerShdw>
                </a:effectLst>
              </a:rPr>
              <a:t>花费</a:t>
            </a:r>
            <a:r>
              <a:rPr lang="en-US" altLang="zh-CN" sz="2800" b="1" dirty="0">
                <a:effectLst>
                  <a:outerShdw blurRad="38100" dist="38100" dir="2700000" algn="tl">
                    <a:srgbClr val="000000">
                      <a:alpha val="43137"/>
                    </a:srgbClr>
                  </a:outerShdw>
                </a:effectLst>
              </a:rPr>
              <a:t>CPU</a:t>
            </a:r>
            <a:r>
              <a:rPr lang="zh-CN" altLang="en-US" sz="2800" b="1" dirty="0">
                <a:effectLst>
                  <a:outerShdw blurRad="38100" dist="38100" dir="2700000" algn="tl">
                    <a:srgbClr val="000000">
                      <a:alpha val="43137"/>
                    </a:srgbClr>
                  </a:outerShdw>
                </a:effectLst>
              </a:rPr>
              <a:t>时间</a:t>
            </a:r>
            <a:r>
              <a:rPr lang="en-US" altLang="zh-CN" sz="2800" b="1" dirty="0">
                <a:effectLst>
                  <a:outerShdw blurRad="38100" dist="38100" dir="2700000" algn="tl">
                    <a:srgbClr val="000000">
                      <a:alpha val="43137"/>
                    </a:srgbClr>
                  </a:outerShdw>
                </a:effectLst>
              </a:rPr>
              <a:t>,</a:t>
            </a:r>
            <a:r>
              <a:rPr lang="zh-CN" altLang="en-US" sz="2800" b="1" dirty="0">
                <a:effectLst>
                  <a:outerShdw blurRad="38100" dist="38100" dir="2700000" algn="tl">
                    <a:srgbClr val="000000">
                      <a:alpha val="43137"/>
                    </a:srgbClr>
                  </a:outerShdw>
                </a:effectLst>
              </a:rPr>
              <a:t>编程复杂。</a:t>
            </a:r>
          </a:p>
        </p:txBody>
      </p:sp>
      <p:sp>
        <p:nvSpPr>
          <p:cNvPr id="5" name="Rectangle 2">
            <a:extLst>
              <a:ext uri="{FF2B5EF4-FFF2-40B4-BE49-F238E27FC236}">
                <a16:creationId xmlns:a16="http://schemas.microsoft.com/office/drawing/2014/main" id="{E850BFCA-C61F-4E61-B216-93A57D5FDD38}"/>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ChangeArrowheads="1"/>
          </p:cNvSpPr>
          <p:nvPr/>
        </p:nvSpPr>
        <p:spPr bwMode="auto">
          <a:xfrm>
            <a:off x="468313" y="765175"/>
            <a:ext cx="8066087" cy="4635500"/>
          </a:xfrm>
          <a:prstGeom prst="rect">
            <a:avLst/>
          </a:prstGeom>
          <a:noFill/>
          <a:ln>
            <a:noFill/>
          </a:ln>
          <a:effectLst/>
        </p:spPr>
        <p:txBody>
          <a:bodyPr>
            <a:spAutoFit/>
          </a:bodyPr>
          <a:lstStyle/>
          <a:p>
            <a:pPr eaLnBrk="1" hangingPunct="1">
              <a:lnSpc>
                <a:spcPct val="115000"/>
              </a:lnSpc>
              <a:spcBef>
                <a:spcPct val="30000"/>
              </a:spcBef>
              <a:defRPr/>
            </a:pP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动态显示特点：采用</a:t>
            </a:r>
            <a:r>
              <a:rPr lang="zh-CN" altLang="en-US"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逐位扫描显示方式</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。即从</a:t>
            </a:r>
            <a:r>
              <a:rPr lang="zh-CN" altLang="en-US" sz="28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段选口</a:t>
            </a:r>
            <a:r>
              <a:rPr lang="en-US" altLang="zh-CN" sz="28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28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段控</a:t>
            </a:r>
            <a:r>
              <a:rPr lang="en-US" altLang="zh-CN" sz="28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送出某位</a:t>
            </a:r>
            <a:r>
              <a:rPr lang="en-US" altLang="zh-CN"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LED</a:t>
            </a:r>
            <a:r>
              <a:rPr lang="zh-CN" altLang="en-US"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的字型码</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，然后</a:t>
            </a:r>
            <a:r>
              <a:rPr lang="zh-CN" altLang="en-US" sz="28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选通该位</a:t>
            </a:r>
            <a:r>
              <a:rPr lang="en-US" altLang="zh-CN" sz="28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LED(</a:t>
            </a:r>
            <a:r>
              <a:rPr lang="zh-CN" altLang="en-US" sz="28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位控</a:t>
            </a:r>
            <a:r>
              <a:rPr lang="en-US" altLang="zh-CN" sz="28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并保持一段</a:t>
            </a:r>
            <a:r>
              <a:rPr lang="zh-CN" altLang="en-US" sz="28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延时时间</a:t>
            </a:r>
            <a:r>
              <a:rPr lang="en-US" altLang="zh-CN"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(1ms </a:t>
            </a:r>
            <a:r>
              <a:rPr lang="zh-CN" altLang="en-US"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记忆</a:t>
            </a:r>
            <a:r>
              <a:rPr lang="en-US" altLang="zh-CN"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然后选通下一位，直到所有位扫描完。</a:t>
            </a:r>
          </a:p>
          <a:p>
            <a:pPr eaLnBrk="1" hangingPunct="1">
              <a:lnSpc>
                <a:spcPct val="115000"/>
              </a:lnSpc>
              <a:spcBef>
                <a:spcPct val="30000"/>
              </a:spcBef>
              <a:defRPr/>
            </a:pPr>
            <a:r>
              <a:rPr kumimoji="0" lang="zh-CN" altLang="en-US" sz="2800" b="1" dirty="0">
                <a:solidFill>
                  <a:srgbClr val="0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硬件连接：所有</a:t>
            </a:r>
            <a:r>
              <a:rPr kumimoji="0" lang="en-US" altLang="zh-CN" sz="2800" b="1" dirty="0">
                <a:solidFill>
                  <a:srgbClr val="0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LED</a:t>
            </a:r>
            <a:r>
              <a:rPr kumimoji="0" lang="zh-CN" altLang="en-US" sz="2800" b="1" dirty="0">
                <a:solidFill>
                  <a:srgbClr val="0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的</a:t>
            </a:r>
            <a:r>
              <a:rPr kumimoji="0" lang="zh-CN" altLang="en-US" sz="28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段控线共同连接在一起共用一个</a:t>
            </a:r>
            <a:r>
              <a:rPr kumimoji="0" lang="en-US" altLang="zh-CN" sz="28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8</a:t>
            </a:r>
            <a:r>
              <a:rPr kumimoji="0" lang="zh-CN" altLang="en-US" sz="28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位</a:t>
            </a:r>
            <a:r>
              <a:rPr kumimoji="0" lang="en-US" altLang="zh-CN" sz="28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I/O</a:t>
            </a:r>
            <a:r>
              <a:rPr kumimoji="0" lang="zh-CN" altLang="en-US" sz="28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口</a:t>
            </a:r>
            <a:r>
              <a:rPr kumimoji="0" lang="zh-CN" altLang="en-US" sz="2800" b="1" dirty="0">
                <a:solidFill>
                  <a:srgbClr val="0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，而每个</a:t>
            </a:r>
            <a:r>
              <a:rPr kumimoji="0" lang="en-US" altLang="zh-CN" sz="2800" b="1" dirty="0">
                <a:solidFill>
                  <a:srgbClr val="0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LED</a:t>
            </a:r>
            <a:r>
              <a:rPr kumimoji="0" lang="zh-CN" altLang="en-US" sz="2800" b="1" dirty="0">
                <a:solidFill>
                  <a:srgbClr val="0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的</a:t>
            </a:r>
            <a:r>
              <a:rPr kumimoji="0" lang="zh-CN" altLang="en-US"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位控线分别由一根相应的</a:t>
            </a:r>
            <a:r>
              <a:rPr kumimoji="0" lang="en-US" altLang="zh-CN"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I/O</a:t>
            </a:r>
            <a:r>
              <a:rPr kumimoji="0" lang="zh-CN" altLang="en-US"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口线控制</a:t>
            </a:r>
            <a:r>
              <a:rPr kumimoji="0" lang="zh-CN" altLang="en-US" sz="2800" b="1" dirty="0">
                <a:solidFill>
                  <a:srgbClr val="0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。因此必须采用</a:t>
            </a:r>
            <a:r>
              <a:rPr kumimoji="0"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动态扫描</a:t>
            </a:r>
            <a:r>
              <a:rPr kumimoji="0" lang="zh-CN" altLang="en-US" sz="2800" b="1" dirty="0">
                <a:solidFill>
                  <a:srgbClr val="0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显示方式，</a:t>
            </a:r>
            <a:r>
              <a:rPr kumimoji="0" lang="zh-CN" altLang="en-US"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每一个时刻只选通其中一个数码管</a:t>
            </a:r>
            <a:r>
              <a:rPr kumimoji="0" lang="zh-CN" altLang="en-US" sz="2800" b="1" dirty="0">
                <a:solidFill>
                  <a:srgbClr val="0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kumimoji="0"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同时在段选口送出该位</a:t>
            </a:r>
            <a:r>
              <a:rPr kumimoji="0"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LED</a:t>
            </a:r>
            <a:r>
              <a:rPr kumimoji="0"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的字型码。</a:t>
            </a:r>
            <a:endPar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22531" name="Rectangle 3"/>
          <p:cNvSpPr>
            <a:spLocks noChangeArrowheads="1"/>
          </p:cNvSpPr>
          <p:nvPr/>
        </p:nvSpPr>
        <p:spPr bwMode="auto">
          <a:xfrm>
            <a:off x="0" y="5011738"/>
            <a:ext cx="8893175"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lang="zh-CN" altLang="zh-CN" sz="2600" b="1">
              <a:solidFill>
                <a:srgbClr val="000000"/>
              </a:solidFill>
              <a:latin typeface="仿宋_GB2312" pitchFamily="49" charset="-122"/>
              <a:ea typeface="仿宋_GB2312" pitchFamily="49" charset="-122"/>
            </a:endParaRPr>
          </a:p>
        </p:txBody>
      </p:sp>
      <p:sp>
        <p:nvSpPr>
          <p:cNvPr id="5" name="Rectangle 2">
            <a:extLst>
              <a:ext uri="{FF2B5EF4-FFF2-40B4-BE49-F238E27FC236}">
                <a16:creationId xmlns:a16="http://schemas.microsoft.com/office/drawing/2014/main" id="{A0E889C6-0B11-4B8C-995F-A147490A44E8}"/>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p:cNvSpPr txBox="1">
            <a:spLocks noChangeArrowheads="1"/>
          </p:cNvSpPr>
          <p:nvPr/>
        </p:nvSpPr>
        <p:spPr bwMode="auto">
          <a:xfrm>
            <a:off x="609600" y="165099"/>
            <a:ext cx="8077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动态显示</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举例</a:t>
            </a:r>
            <a:endParaRPr lang="zh-CN" altLang="en-US"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23555" name="Text Box 3"/>
          <p:cNvSpPr txBox="1">
            <a:spLocks noChangeArrowheads="1"/>
          </p:cNvSpPr>
          <p:nvPr/>
        </p:nvSpPr>
        <p:spPr bwMode="auto">
          <a:xfrm>
            <a:off x="609600" y="612775"/>
            <a:ext cx="8077200" cy="156966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工作原理</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从</a:t>
            </a:r>
            <a:r>
              <a:rPr lang="en-US" altLang="zh-CN" sz="2400" b="1" dirty="0">
                <a:solidFill>
                  <a:srgbClr val="FF33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P0</a:t>
            </a:r>
            <a:r>
              <a:rPr lang="zh-CN" altLang="en-US" sz="2400" b="1" dirty="0">
                <a:solidFill>
                  <a:srgbClr val="FF33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口送段代码</a:t>
            </a:r>
            <a:r>
              <a:rPr lang="en-US" altLang="zh-CN" sz="2400" b="1" dirty="0">
                <a:solidFill>
                  <a:srgbClr val="FF33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,P1</a:t>
            </a:r>
            <a:r>
              <a:rPr lang="zh-CN" altLang="en-US" sz="2400" b="1" dirty="0">
                <a:solidFill>
                  <a:srgbClr val="FF33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口送位选信号</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。段码虽同时到达</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6</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个</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LED,</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但</a:t>
            </a:r>
            <a:r>
              <a:rPr lang="zh-CN" altLang="en-US" sz="2400" b="1" dirty="0">
                <a:solidFill>
                  <a:srgbClr val="FF33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一次仅一个</a:t>
            </a:r>
            <a:r>
              <a:rPr lang="en-US" altLang="zh-CN" sz="2400" b="1" dirty="0">
                <a:solidFill>
                  <a:srgbClr val="FF33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LED</a:t>
            </a:r>
            <a:r>
              <a:rPr lang="zh-CN" altLang="en-US" sz="2400" b="1" dirty="0">
                <a:solidFill>
                  <a:srgbClr val="FF33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被选中</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。利用</a:t>
            </a:r>
            <a:r>
              <a:rPr lang="zh-CN" altLang="en-US" sz="2400" b="1" dirty="0">
                <a:solidFill>
                  <a:srgbClr val="FF33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“视觉暂留”</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每送一个字符并选中相应位线</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2400" b="1" dirty="0">
                <a:solidFill>
                  <a:srgbClr val="FF33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延时一会儿</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再送</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选下一个</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循环扫描即可</a:t>
            </a:r>
            <a:r>
              <a:rPr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p>
        </p:txBody>
      </p:sp>
      <p:grpSp>
        <p:nvGrpSpPr>
          <p:cNvPr id="23556" name="Group 4"/>
          <p:cNvGrpSpPr/>
          <p:nvPr/>
        </p:nvGrpSpPr>
        <p:grpSpPr bwMode="auto">
          <a:xfrm>
            <a:off x="609600" y="1989138"/>
            <a:ext cx="8305800" cy="4451350"/>
            <a:chOff x="384" y="1253"/>
            <a:chExt cx="5232" cy="2804"/>
          </a:xfrm>
        </p:grpSpPr>
        <p:sp>
          <p:nvSpPr>
            <p:cNvPr id="23557" name="Rectangle 5"/>
            <p:cNvSpPr>
              <a:spLocks noChangeArrowheads="1"/>
            </p:cNvSpPr>
            <p:nvPr/>
          </p:nvSpPr>
          <p:spPr bwMode="auto">
            <a:xfrm>
              <a:off x="1584" y="2461"/>
              <a:ext cx="480" cy="672"/>
            </a:xfrm>
            <a:prstGeom prst="rect">
              <a:avLst/>
            </a:prstGeom>
            <a:noFill/>
            <a:ln w="9525"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58" name="AutoShape 6"/>
            <p:cNvSpPr>
              <a:spLocks noChangeArrowheads="1"/>
            </p:cNvSpPr>
            <p:nvPr/>
          </p:nvSpPr>
          <p:spPr bwMode="auto">
            <a:xfrm>
              <a:off x="1758" y="2545"/>
              <a:ext cx="192" cy="48"/>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59" name="AutoShape 7"/>
            <p:cNvSpPr>
              <a:spLocks noChangeArrowheads="1"/>
            </p:cNvSpPr>
            <p:nvPr/>
          </p:nvSpPr>
          <p:spPr bwMode="auto">
            <a:xfrm>
              <a:off x="1734" y="2755"/>
              <a:ext cx="192" cy="48"/>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60" name="AutoShape 8"/>
            <p:cNvSpPr>
              <a:spLocks noChangeArrowheads="1"/>
            </p:cNvSpPr>
            <p:nvPr/>
          </p:nvSpPr>
          <p:spPr bwMode="auto">
            <a:xfrm>
              <a:off x="1716" y="2977"/>
              <a:ext cx="192" cy="48"/>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61" name="AutoShape 9"/>
            <p:cNvSpPr>
              <a:spLocks noChangeArrowheads="1"/>
            </p:cNvSpPr>
            <p:nvPr/>
          </p:nvSpPr>
          <p:spPr bwMode="auto">
            <a:xfrm rot="447124">
              <a:off x="1704" y="2593"/>
              <a:ext cx="48" cy="144"/>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62" name="AutoShape 10"/>
            <p:cNvSpPr>
              <a:spLocks noChangeArrowheads="1"/>
            </p:cNvSpPr>
            <p:nvPr/>
          </p:nvSpPr>
          <p:spPr bwMode="auto">
            <a:xfrm rot="447124">
              <a:off x="1932" y="2593"/>
              <a:ext cx="48" cy="144"/>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63" name="AutoShape 11"/>
            <p:cNvSpPr>
              <a:spLocks noChangeArrowheads="1"/>
            </p:cNvSpPr>
            <p:nvPr/>
          </p:nvSpPr>
          <p:spPr bwMode="auto">
            <a:xfrm rot="447124">
              <a:off x="1908" y="2833"/>
              <a:ext cx="48" cy="144"/>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64" name="AutoShape 12"/>
            <p:cNvSpPr>
              <a:spLocks noChangeArrowheads="1"/>
            </p:cNvSpPr>
            <p:nvPr/>
          </p:nvSpPr>
          <p:spPr bwMode="auto">
            <a:xfrm rot="447124">
              <a:off x="1680" y="2833"/>
              <a:ext cx="48" cy="144"/>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65" name="AutoShape 13"/>
            <p:cNvSpPr>
              <a:spLocks noChangeArrowheads="1"/>
            </p:cNvSpPr>
            <p:nvPr/>
          </p:nvSpPr>
          <p:spPr bwMode="auto">
            <a:xfrm>
              <a:off x="1962" y="3001"/>
              <a:ext cx="48" cy="48"/>
            </a:xfrm>
            <a:prstGeom prst="flowChartConnector">
              <a:avLst/>
            </a:prstGeom>
            <a:solidFill>
              <a:srgbClr val="00FF00"/>
            </a:solidFill>
            <a:ln w="28575" cap="sq">
              <a:solidFill>
                <a:srgbClr val="00FF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66" name="Rectangle 14"/>
            <p:cNvSpPr>
              <a:spLocks noChangeArrowheads="1"/>
            </p:cNvSpPr>
            <p:nvPr/>
          </p:nvSpPr>
          <p:spPr bwMode="auto">
            <a:xfrm>
              <a:off x="2112" y="2461"/>
              <a:ext cx="480" cy="672"/>
            </a:xfrm>
            <a:prstGeom prst="rect">
              <a:avLst/>
            </a:prstGeom>
            <a:noFill/>
            <a:ln w="9525"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67" name="AutoShape 15"/>
            <p:cNvSpPr>
              <a:spLocks noChangeArrowheads="1"/>
            </p:cNvSpPr>
            <p:nvPr/>
          </p:nvSpPr>
          <p:spPr bwMode="auto">
            <a:xfrm>
              <a:off x="2286" y="2545"/>
              <a:ext cx="192" cy="48"/>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68" name="AutoShape 16"/>
            <p:cNvSpPr>
              <a:spLocks noChangeArrowheads="1"/>
            </p:cNvSpPr>
            <p:nvPr/>
          </p:nvSpPr>
          <p:spPr bwMode="auto">
            <a:xfrm>
              <a:off x="2262" y="2755"/>
              <a:ext cx="192" cy="48"/>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69" name="AutoShape 17"/>
            <p:cNvSpPr>
              <a:spLocks noChangeArrowheads="1"/>
            </p:cNvSpPr>
            <p:nvPr/>
          </p:nvSpPr>
          <p:spPr bwMode="auto">
            <a:xfrm>
              <a:off x="2244" y="2977"/>
              <a:ext cx="192" cy="48"/>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70" name="AutoShape 18"/>
            <p:cNvSpPr>
              <a:spLocks noChangeArrowheads="1"/>
            </p:cNvSpPr>
            <p:nvPr/>
          </p:nvSpPr>
          <p:spPr bwMode="auto">
            <a:xfrm rot="447124">
              <a:off x="2232" y="2593"/>
              <a:ext cx="48" cy="144"/>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71" name="AutoShape 19"/>
            <p:cNvSpPr>
              <a:spLocks noChangeArrowheads="1"/>
            </p:cNvSpPr>
            <p:nvPr/>
          </p:nvSpPr>
          <p:spPr bwMode="auto">
            <a:xfrm rot="447124">
              <a:off x="2460" y="2593"/>
              <a:ext cx="48" cy="144"/>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72" name="AutoShape 20"/>
            <p:cNvSpPr>
              <a:spLocks noChangeArrowheads="1"/>
            </p:cNvSpPr>
            <p:nvPr/>
          </p:nvSpPr>
          <p:spPr bwMode="auto">
            <a:xfrm rot="447124">
              <a:off x="2436" y="2833"/>
              <a:ext cx="48" cy="144"/>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73" name="AutoShape 21"/>
            <p:cNvSpPr>
              <a:spLocks noChangeArrowheads="1"/>
            </p:cNvSpPr>
            <p:nvPr/>
          </p:nvSpPr>
          <p:spPr bwMode="auto">
            <a:xfrm rot="447124">
              <a:off x="2208" y="2833"/>
              <a:ext cx="48" cy="144"/>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74" name="AutoShape 22"/>
            <p:cNvSpPr>
              <a:spLocks noChangeArrowheads="1"/>
            </p:cNvSpPr>
            <p:nvPr/>
          </p:nvSpPr>
          <p:spPr bwMode="auto">
            <a:xfrm>
              <a:off x="2490" y="3001"/>
              <a:ext cx="48" cy="48"/>
            </a:xfrm>
            <a:prstGeom prst="flowChartConnector">
              <a:avLst/>
            </a:prstGeom>
            <a:solidFill>
              <a:srgbClr val="00FF00"/>
            </a:solidFill>
            <a:ln w="28575" cap="sq">
              <a:solidFill>
                <a:srgbClr val="00FF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75" name="Rectangle 23"/>
            <p:cNvSpPr>
              <a:spLocks noChangeArrowheads="1"/>
            </p:cNvSpPr>
            <p:nvPr/>
          </p:nvSpPr>
          <p:spPr bwMode="auto">
            <a:xfrm>
              <a:off x="2640" y="2461"/>
              <a:ext cx="480" cy="672"/>
            </a:xfrm>
            <a:prstGeom prst="rect">
              <a:avLst/>
            </a:prstGeom>
            <a:noFill/>
            <a:ln w="9525"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76" name="AutoShape 24"/>
            <p:cNvSpPr>
              <a:spLocks noChangeArrowheads="1"/>
            </p:cNvSpPr>
            <p:nvPr/>
          </p:nvSpPr>
          <p:spPr bwMode="auto">
            <a:xfrm>
              <a:off x="2814" y="2545"/>
              <a:ext cx="192" cy="48"/>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77" name="AutoShape 25"/>
            <p:cNvSpPr>
              <a:spLocks noChangeArrowheads="1"/>
            </p:cNvSpPr>
            <p:nvPr/>
          </p:nvSpPr>
          <p:spPr bwMode="auto">
            <a:xfrm>
              <a:off x="2790" y="2755"/>
              <a:ext cx="192" cy="48"/>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78" name="AutoShape 26"/>
            <p:cNvSpPr>
              <a:spLocks noChangeArrowheads="1"/>
            </p:cNvSpPr>
            <p:nvPr/>
          </p:nvSpPr>
          <p:spPr bwMode="auto">
            <a:xfrm>
              <a:off x="2772" y="2977"/>
              <a:ext cx="192" cy="48"/>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79" name="AutoShape 27"/>
            <p:cNvSpPr>
              <a:spLocks noChangeArrowheads="1"/>
            </p:cNvSpPr>
            <p:nvPr/>
          </p:nvSpPr>
          <p:spPr bwMode="auto">
            <a:xfrm rot="447124">
              <a:off x="2760" y="2593"/>
              <a:ext cx="48" cy="144"/>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80" name="AutoShape 28"/>
            <p:cNvSpPr>
              <a:spLocks noChangeArrowheads="1"/>
            </p:cNvSpPr>
            <p:nvPr/>
          </p:nvSpPr>
          <p:spPr bwMode="auto">
            <a:xfrm rot="447124">
              <a:off x="2988" y="2593"/>
              <a:ext cx="48" cy="144"/>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81" name="AutoShape 29"/>
            <p:cNvSpPr>
              <a:spLocks noChangeArrowheads="1"/>
            </p:cNvSpPr>
            <p:nvPr/>
          </p:nvSpPr>
          <p:spPr bwMode="auto">
            <a:xfrm rot="447124">
              <a:off x="2964" y="2833"/>
              <a:ext cx="48" cy="144"/>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82" name="AutoShape 30"/>
            <p:cNvSpPr>
              <a:spLocks noChangeArrowheads="1"/>
            </p:cNvSpPr>
            <p:nvPr/>
          </p:nvSpPr>
          <p:spPr bwMode="auto">
            <a:xfrm rot="447124">
              <a:off x="2736" y="2833"/>
              <a:ext cx="48" cy="144"/>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83" name="AutoShape 31"/>
            <p:cNvSpPr>
              <a:spLocks noChangeArrowheads="1"/>
            </p:cNvSpPr>
            <p:nvPr/>
          </p:nvSpPr>
          <p:spPr bwMode="auto">
            <a:xfrm>
              <a:off x="3018" y="3001"/>
              <a:ext cx="48" cy="48"/>
            </a:xfrm>
            <a:prstGeom prst="flowChartConnector">
              <a:avLst/>
            </a:prstGeom>
            <a:solidFill>
              <a:srgbClr val="00FF00"/>
            </a:solidFill>
            <a:ln w="28575" cap="sq">
              <a:solidFill>
                <a:srgbClr val="00FF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84" name="Rectangle 32"/>
            <p:cNvSpPr>
              <a:spLocks noChangeArrowheads="1"/>
            </p:cNvSpPr>
            <p:nvPr/>
          </p:nvSpPr>
          <p:spPr bwMode="auto">
            <a:xfrm>
              <a:off x="3168" y="2461"/>
              <a:ext cx="480" cy="672"/>
            </a:xfrm>
            <a:prstGeom prst="rect">
              <a:avLst/>
            </a:prstGeom>
            <a:noFill/>
            <a:ln w="9525"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85" name="AutoShape 33"/>
            <p:cNvSpPr>
              <a:spLocks noChangeArrowheads="1"/>
            </p:cNvSpPr>
            <p:nvPr/>
          </p:nvSpPr>
          <p:spPr bwMode="auto">
            <a:xfrm>
              <a:off x="3342" y="2545"/>
              <a:ext cx="192" cy="48"/>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86" name="AutoShape 34"/>
            <p:cNvSpPr>
              <a:spLocks noChangeArrowheads="1"/>
            </p:cNvSpPr>
            <p:nvPr/>
          </p:nvSpPr>
          <p:spPr bwMode="auto">
            <a:xfrm>
              <a:off x="3318" y="2755"/>
              <a:ext cx="192" cy="48"/>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87" name="AutoShape 35"/>
            <p:cNvSpPr>
              <a:spLocks noChangeArrowheads="1"/>
            </p:cNvSpPr>
            <p:nvPr/>
          </p:nvSpPr>
          <p:spPr bwMode="auto">
            <a:xfrm>
              <a:off x="3300" y="2977"/>
              <a:ext cx="192" cy="48"/>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88" name="AutoShape 36"/>
            <p:cNvSpPr>
              <a:spLocks noChangeArrowheads="1"/>
            </p:cNvSpPr>
            <p:nvPr/>
          </p:nvSpPr>
          <p:spPr bwMode="auto">
            <a:xfrm rot="447124">
              <a:off x="3288" y="2593"/>
              <a:ext cx="48" cy="144"/>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89" name="AutoShape 37"/>
            <p:cNvSpPr>
              <a:spLocks noChangeArrowheads="1"/>
            </p:cNvSpPr>
            <p:nvPr/>
          </p:nvSpPr>
          <p:spPr bwMode="auto">
            <a:xfrm rot="447124">
              <a:off x="3516" y="2593"/>
              <a:ext cx="48" cy="144"/>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90" name="AutoShape 38"/>
            <p:cNvSpPr>
              <a:spLocks noChangeArrowheads="1"/>
            </p:cNvSpPr>
            <p:nvPr/>
          </p:nvSpPr>
          <p:spPr bwMode="auto">
            <a:xfrm rot="447124">
              <a:off x="3492" y="2833"/>
              <a:ext cx="48" cy="144"/>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91" name="AutoShape 39"/>
            <p:cNvSpPr>
              <a:spLocks noChangeArrowheads="1"/>
            </p:cNvSpPr>
            <p:nvPr/>
          </p:nvSpPr>
          <p:spPr bwMode="auto">
            <a:xfrm rot="447124">
              <a:off x="3264" y="2833"/>
              <a:ext cx="48" cy="144"/>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92" name="AutoShape 40"/>
            <p:cNvSpPr>
              <a:spLocks noChangeArrowheads="1"/>
            </p:cNvSpPr>
            <p:nvPr/>
          </p:nvSpPr>
          <p:spPr bwMode="auto">
            <a:xfrm>
              <a:off x="3546" y="3001"/>
              <a:ext cx="48" cy="48"/>
            </a:xfrm>
            <a:prstGeom prst="flowChartConnector">
              <a:avLst/>
            </a:prstGeom>
            <a:solidFill>
              <a:srgbClr val="00FF00"/>
            </a:solidFill>
            <a:ln w="28575" cap="sq">
              <a:solidFill>
                <a:srgbClr val="00FF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93" name="Rectangle 41"/>
            <p:cNvSpPr>
              <a:spLocks noChangeArrowheads="1"/>
            </p:cNvSpPr>
            <p:nvPr/>
          </p:nvSpPr>
          <p:spPr bwMode="auto">
            <a:xfrm>
              <a:off x="3696" y="2461"/>
              <a:ext cx="480" cy="672"/>
            </a:xfrm>
            <a:prstGeom prst="rect">
              <a:avLst/>
            </a:prstGeom>
            <a:noFill/>
            <a:ln w="9525"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94" name="AutoShape 42"/>
            <p:cNvSpPr>
              <a:spLocks noChangeArrowheads="1"/>
            </p:cNvSpPr>
            <p:nvPr/>
          </p:nvSpPr>
          <p:spPr bwMode="auto">
            <a:xfrm>
              <a:off x="3870" y="2545"/>
              <a:ext cx="192" cy="48"/>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95" name="AutoShape 43"/>
            <p:cNvSpPr>
              <a:spLocks noChangeArrowheads="1"/>
            </p:cNvSpPr>
            <p:nvPr/>
          </p:nvSpPr>
          <p:spPr bwMode="auto">
            <a:xfrm>
              <a:off x="3846" y="2755"/>
              <a:ext cx="192" cy="48"/>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96" name="AutoShape 44"/>
            <p:cNvSpPr>
              <a:spLocks noChangeArrowheads="1"/>
            </p:cNvSpPr>
            <p:nvPr/>
          </p:nvSpPr>
          <p:spPr bwMode="auto">
            <a:xfrm>
              <a:off x="3828" y="2977"/>
              <a:ext cx="192" cy="48"/>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97" name="AutoShape 45"/>
            <p:cNvSpPr>
              <a:spLocks noChangeArrowheads="1"/>
            </p:cNvSpPr>
            <p:nvPr/>
          </p:nvSpPr>
          <p:spPr bwMode="auto">
            <a:xfrm rot="447124">
              <a:off x="3816" y="2593"/>
              <a:ext cx="48" cy="144"/>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98" name="AutoShape 46"/>
            <p:cNvSpPr>
              <a:spLocks noChangeArrowheads="1"/>
            </p:cNvSpPr>
            <p:nvPr/>
          </p:nvSpPr>
          <p:spPr bwMode="auto">
            <a:xfrm rot="447124">
              <a:off x="4044" y="2593"/>
              <a:ext cx="48" cy="144"/>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599" name="AutoShape 47"/>
            <p:cNvSpPr>
              <a:spLocks noChangeArrowheads="1"/>
            </p:cNvSpPr>
            <p:nvPr/>
          </p:nvSpPr>
          <p:spPr bwMode="auto">
            <a:xfrm rot="447124">
              <a:off x="4020" y="2833"/>
              <a:ext cx="48" cy="144"/>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600" name="AutoShape 48"/>
            <p:cNvSpPr>
              <a:spLocks noChangeArrowheads="1"/>
            </p:cNvSpPr>
            <p:nvPr/>
          </p:nvSpPr>
          <p:spPr bwMode="auto">
            <a:xfrm rot="447124">
              <a:off x="3792" y="2833"/>
              <a:ext cx="48" cy="144"/>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601" name="AutoShape 49"/>
            <p:cNvSpPr>
              <a:spLocks noChangeArrowheads="1"/>
            </p:cNvSpPr>
            <p:nvPr/>
          </p:nvSpPr>
          <p:spPr bwMode="auto">
            <a:xfrm>
              <a:off x="4074" y="3001"/>
              <a:ext cx="48" cy="48"/>
            </a:xfrm>
            <a:prstGeom prst="flowChartConnector">
              <a:avLst/>
            </a:prstGeom>
            <a:solidFill>
              <a:srgbClr val="00FF00"/>
            </a:solidFill>
            <a:ln w="28575" cap="sq">
              <a:solidFill>
                <a:srgbClr val="00FF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602" name="Rectangle 50"/>
            <p:cNvSpPr>
              <a:spLocks noChangeArrowheads="1"/>
            </p:cNvSpPr>
            <p:nvPr/>
          </p:nvSpPr>
          <p:spPr bwMode="auto">
            <a:xfrm>
              <a:off x="4224" y="2461"/>
              <a:ext cx="480" cy="672"/>
            </a:xfrm>
            <a:prstGeom prst="rect">
              <a:avLst/>
            </a:prstGeom>
            <a:noFill/>
            <a:ln w="9525"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603" name="AutoShape 51"/>
            <p:cNvSpPr>
              <a:spLocks noChangeArrowheads="1"/>
            </p:cNvSpPr>
            <p:nvPr/>
          </p:nvSpPr>
          <p:spPr bwMode="auto">
            <a:xfrm>
              <a:off x="4398" y="2545"/>
              <a:ext cx="192" cy="48"/>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604" name="AutoShape 52"/>
            <p:cNvSpPr>
              <a:spLocks noChangeArrowheads="1"/>
            </p:cNvSpPr>
            <p:nvPr/>
          </p:nvSpPr>
          <p:spPr bwMode="auto">
            <a:xfrm>
              <a:off x="4374" y="2755"/>
              <a:ext cx="192" cy="48"/>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605" name="AutoShape 53"/>
            <p:cNvSpPr>
              <a:spLocks noChangeArrowheads="1"/>
            </p:cNvSpPr>
            <p:nvPr/>
          </p:nvSpPr>
          <p:spPr bwMode="auto">
            <a:xfrm>
              <a:off x="4356" y="2977"/>
              <a:ext cx="192" cy="48"/>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606" name="AutoShape 54"/>
            <p:cNvSpPr>
              <a:spLocks noChangeArrowheads="1"/>
            </p:cNvSpPr>
            <p:nvPr/>
          </p:nvSpPr>
          <p:spPr bwMode="auto">
            <a:xfrm rot="447124">
              <a:off x="4344" y="2593"/>
              <a:ext cx="48" cy="144"/>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607" name="AutoShape 55"/>
            <p:cNvSpPr>
              <a:spLocks noChangeArrowheads="1"/>
            </p:cNvSpPr>
            <p:nvPr/>
          </p:nvSpPr>
          <p:spPr bwMode="auto">
            <a:xfrm rot="447124">
              <a:off x="4572" y="2593"/>
              <a:ext cx="48" cy="144"/>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608" name="AutoShape 56"/>
            <p:cNvSpPr>
              <a:spLocks noChangeArrowheads="1"/>
            </p:cNvSpPr>
            <p:nvPr/>
          </p:nvSpPr>
          <p:spPr bwMode="auto">
            <a:xfrm rot="447124">
              <a:off x="4548" y="2833"/>
              <a:ext cx="48" cy="144"/>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609" name="AutoShape 57"/>
            <p:cNvSpPr>
              <a:spLocks noChangeArrowheads="1"/>
            </p:cNvSpPr>
            <p:nvPr/>
          </p:nvSpPr>
          <p:spPr bwMode="auto">
            <a:xfrm rot="447124">
              <a:off x="4320" y="2833"/>
              <a:ext cx="48" cy="144"/>
            </a:xfrm>
            <a:prstGeom prst="flowChartTerminator">
              <a:avLst/>
            </a:prstGeom>
            <a:solidFill>
              <a:srgbClr val="00FF00"/>
            </a:solidFill>
            <a:ln w="9525" cap="sq">
              <a:solidFill>
                <a:srgbClr val="99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610" name="AutoShape 58"/>
            <p:cNvSpPr>
              <a:spLocks noChangeArrowheads="1"/>
            </p:cNvSpPr>
            <p:nvPr/>
          </p:nvSpPr>
          <p:spPr bwMode="auto">
            <a:xfrm>
              <a:off x="4602" y="3001"/>
              <a:ext cx="48" cy="48"/>
            </a:xfrm>
            <a:prstGeom prst="flowChartConnector">
              <a:avLst/>
            </a:prstGeom>
            <a:solidFill>
              <a:srgbClr val="00FF00"/>
            </a:solidFill>
            <a:ln w="28575" cap="sq">
              <a:solidFill>
                <a:srgbClr val="00FF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611" name="Line 59"/>
            <p:cNvSpPr>
              <a:spLocks noChangeShapeType="1"/>
            </p:cNvSpPr>
            <p:nvPr/>
          </p:nvSpPr>
          <p:spPr bwMode="auto">
            <a:xfrm flipV="1">
              <a:off x="1662"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12" name="Line 60"/>
            <p:cNvSpPr>
              <a:spLocks noChangeShapeType="1"/>
            </p:cNvSpPr>
            <p:nvPr/>
          </p:nvSpPr>
          <p:spPr bwMode="auto">
            <a:xfrm flipV="1">
              <a:off x="1710"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13" name="Line 61"/>
            <p:cNvSpPr>
              <a:spLocks noChangeShapeType="1"/>
            </p:cNvSpPr>
            <p:nvPr/>
          </p:nvSpPr>
          <p:spPr bwMode="auto">
            <a:xfrm flipV="1">
              <a:off x="1758"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14" name="Line 62"/>
            <p:cNvSpPr>
              <a:spLocks noChangeShapeType="1"/>
            </p:cNvSpPr>
            <p:nvPr/>
          </p:nvSpPr>
          <p:spPr bwMode="auto">
            <a:xfrm flipV="1">
              <a:off x="1806"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15" name="Line 63"/>
            <p:cNvSpPr>
              <a:spLocks noChangeShapeType="1"/>
            </p:cNvSpPr>
            <p:nvPr/>
          </p:nvSpPr>
          <p:spPr bwMode="auto">
            <a:xfrm flipV="1">
              <a:off x="1854"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16" name="Line 64"/>
            <p:cNvSpPr>
              <a:spLocks noChangeShapeType="1"/>
            </p:cNvSpPr>
            <p:nvPr/>
          </p:nvSpPr>
          <p:spPr bwMode="auto">
            <a:xfrm flipV="1">
              <a:off x="1902"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17" name="Line 65"/>
            <p:cNvSpPr>
              <a:spLocks noChangeShapeType="1"/>
            </p:cNvSpPr>
            <p:nvPr/>
          </p:nvSpPr>
          <p:spPr bwMode="auto">
            <a:xfrm flipV="1">
              <a:off x="1950"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18" name="Line 66"/>
            <p:cNvSpPr>
              <a:spLocks noChangeShapeType="1"/>
            </p:cNvSpPr>
            <p:nvPr/>
          </p:nvSpPr>
          <p:spPr bwMode="auto">
            <a:xfrm flipV="1">
              <a:off x="1998"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19" name="Line 67"/>
            <p:cNvSpPr>
              <a:spLocks noChangeShapeType="1"/>
            </p:cNvSpPr>
            <p:nvPr/>
          </p:nvSpPr>
          <p:spPr bwMode="auto">
            <a:xfrm flipV="1">
              <a:off x="2178"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20" name="Line 68"/>
            <p:cNvSpPr>
              <a:spLocks noChangeShapeType="1"/>
            </p:cNvSpPr>
            <p:nvPr/>
          </p:nvSpPr>
          <p:spPr bwMode="auto">
            <a:xfrm flipV="1">
              <a:off x="2226"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21" name="Line 69"/>
            <p:cNvSpPr>
              <a:spLocks noChangeShapeType="1"/>
            </p:cNvSpPr>
            <p:nvPr/>
          </p:nvSpPr>
          <p:spPr bwMode="auto">
            <a:xfrm flipV="1">
              <a:off x="2274"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22" name="Line 70"/>
            <p:cNvSpPr>
              <a:spLocks noChangeShapeType="1"/>
            </p:cNvSpPr>
            <p:nvPr/>
          </p:nvSpPr>
          <p:spPr bwMode="auto">
            <a:xfrm flipV="1">
              <a:off x="2322"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23" name="Line 71"/>
            <p:cNvSpPr>
              <a:spLocks noChangeShapeType="1"/>
            </p:cNvSpPr>
            <p:nvPr/>
          </p:nvSpPr>
          <p:spPr bwMode="auto">
            <a:xfrm flipV="1">
              <a:off x="2370"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24" name="Line 72"/>
            <p:cNvSpPr>
              <a:spLocks noChangeShapeType="1"/>
            </p:cNvSpPr>
            <p:nvPr/>
          </p:nvSpPr>
          <p:spPr bwMode="auto">
            <a:xfrm flipV="1">
              <a:off x="2418"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25" name="Line 73"/>
            <p:cNvSpPr>
              <a:spLocks noChangeShapeType="1"/>
            </p:cNvSpPr>
            <p:nvPr/>
          </p:nvSpPr>
          <p:spPr bwMode="auto">
            <a:xfrm flipV="1">
              <a:off x="2466"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26" name="Line 74"/>
            <p:cNvSpPr>
              <a:spLocks noChangeShapeType="1"/>
            </p:cNvSpPr>
            <p:nvPr/>
          </p:nvSpPr>
          <p:spPr bwMode="auto">
            <a:xfrm flipV="1">
              <a:off x="2514"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27" name="Line 75"/>
            <p:cNvSpPr>
              <a:spLocks noChangeShapeType="1"/>
            </p:cNvSpPr>
            <p:nvPr/>
          </p:nvSpPr>
          <p:spPr bwMode="auto">
            <a:xfrm flipV="1">
              <a:off x="2724"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28" name="Line 76"/>
            <p:cNvSpPr>
              <a:spLocks noChangeShapeType="1"/>
            </p:cNvSpPr>
            <p:nvPr/>
          </p:nvSpPr>
          <p:spPr bwMode="auto">
            <a:xfrm flipV="1">
              <a:off x="2772"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29" name="Line 77"/>
            <p:cNvSpPr>
              <a:spLocks noChangeShapeType="1"/>
            </p:cNvSpPr>
            <p:nvPr/>
          </p:nvSpPr>
          <p:spPr bwMode="auto">
            <a:xfrm flipV="1">
              <a:off x="2820"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30" name="Line 78"/>
            <p:cNvSpPr>
              <a:spLocks noChangeShapeType="1"/>
            </p:cNvSpPr>
            <p:nvPr/>
          </p:nvSpPr>
          <p:spPr bwMode="auto">
            <a:xfrm flipV="1">
              <a:off x="2868"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31" name="Line 79"/>
            <p:cNvSpPr>
              <a:spLocks noChangeShapeType="1"/>
            </p:cNvSpPr>
            <p:nvPr/>
          </p:nvSpPr>
          <p:spPr bwMode="auto">
            <a:xfrm flipV="1">
              <a:off x="2916"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32" name="Line 80"/>
            <p:cNvSpPr>
              <a:spLocks noChangeShapeType="1"/>
            </p:cNvSpPr>
            <p:nvPr/>
          </p:nvSpPr>
          <p:spPr bwMode="auto">
            <a:xfrm flipV="1">
              <a:off x="2964"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33" name="Line 81"/>
            <p:cNvSpPr>
              <a:spLocks noChangeShapeType="1"/>
            </p:cNvSpPr>
            <p:nvPr/>
          </p:nvSpPr>
          <p:spPr bwMode="auto">
            <a:xfrm flipV="1">
              <a:off x="3012"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34" name="Line 82"/>
            <p:cNvSpPr>
              <a:spLocks noChangeShapeType="1"/>
            </p:cNvSpPr>
            <p:nvPr/>
          </p:nvSpPr>
          <p:spPr bwMode="auto">
            <a:xfrm flipV="1">
              <a:off x="3060"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35" name="Line 83"/>
            <p:cNvSpPr>
              <a:spLocks noChangeShapeType="1"/>
            </p:cNvSpPr>
            <p:nvPr/>
          </p:nvSpPr>
          <p:spPr bwMode="auto">
            <a:xfrm flipV="1">
              <a:off x="3240"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36" name="Line 84"/>
            <p:cNvSpPr>
              <a:spLocks noChangeShapeType="1"/>
            </p:cNvSpPr>
            <p:nvPr/>
          </p:nvSpPr>
          <p:spPr bwMode="auto">
            <a:xfrm flipV="1">
              <a:off x="3288"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37" name="Line 85"/>
            <p:cNvSpPr>
              <a:spLocks noChangeShapeType="1"/>
            </p:cNvSpPr>
            <p:nvPr/>
          </p:nvSpPr>
          <p:spPr bwMode="auto">
            <a:xfrm flipV="1">
              <a:off x="3336"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38" name="Line 86"/>
            <p:cNvSpPr>
              <a:spLocks noChangeShapeType="1"/>
            </p:cNvSpPr>
            <p:nvPr/>
          </p:nvSpPr>
          <p:spPr bwMode="auto">
            <a:xfrm flipV="1">
              <a:off x="3384"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39" name="Line 87"/>
            <p:cNvSpPr>
              <a:spLocks noChangeShapeType="1"/>
            </p:cNvSpPr>
            <p:nvPr/>
          </p:nvSpPr>
          <p:spPr bwMode="auto">
            <a:xfrm flipV="1">
              <a:off x="3432"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40" name="Line 88"/>
            <p:cNvSpPr>
              <a:spLocks noChangeShapeType="1"/>
            </p:cNvSpPr>
            <p:nvPr/>
          </p:nvSpPr>
          <p:spPr bwMode="auto">
            <a:xfrm flipV="1">
              <a:off x="3480"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41" name="Line 89"/>
            <p:cNvSpPr>
              <a:spLocks noChangeShapeType="1"/>
            </p:cNvSpPr>
            <p:nvPr/>
          </p:nvSpPr>
          <p:spPr bwMode="auto">
            <a:xfrm flipV="1">
              <a:off x="3528"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42" name="Line 90"/>
            <p:cNvSpPr>
              <a:spLocks noChangeShapeType="1"/>
            </p:cNvSpPr>
            <p:nvPr/>
          </p:nvSpPr>
          <p:spPr bwMode="auto">
            <a:xfrm flipV="1">
              <a:off x="3576"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43" name="Line 91"/>
            <p:cNvSpPr>
              <a:spLocks noChangeShapeType="1"/>
            </p:cNvSpPr>
            <p:nvPr/>
          </p:nvSpPr>
          <p:spPr bwMode="auto">
            <a:xfrm flipV="1">
              <a:off x="3768"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44" name="Line 92"/>
            <p:cNvSpPr>
              <a:spLocks noChangeShapeType="1"/>
            </p:cNvSpPr>
            <p:nvPr/>
          </p:nvSpPr>
          <p:spPr bwMode="auto">
            <a:xfrm flipV="1">
              <a:off x="3816"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45" name="Line 93"/>
            <p:cNvSpPr>
              <a:spLocks noChangeShapeType="1"/>
            </p:cNvSpPr>
            <p:nvPr/>
          </p:nvSpPr>
          <p:spPr bwMode="auto">
            <a:xfrm flipV="1">
              <a:off x="3864"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46" name="Line 94"/>
            <p:cNvSpPr>
              <a:spLocks noChangeShapeType="1"/>
            </p:cNvSpPr>
            <p:nvPr/>
          </p:nvSpPr>
          <p:spPr bwMode="auto">
            <a:xfrm flipV="1">
              <a:off x="3912"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47" name="Line 95"/>
            <p:cNvSpPr>
              <a:spLocks noChangeShapeType="1"/>
            </p:cNvSpPr>
            <p:nvPr/>
          </p:nvSpPr>
          <p:spPr bwMode="auto">
            <a:xfrm flipV="1">
              <a:off x="3960"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48" name="Line 96"/>
            <p:cNvSpPr>
              <a:spLocks noChangeShapeType="1"/>
            </p:cNvSpPr>
            <p:nvPr/>
          </p:nvSpPr>
          <p:spPr bwMode="auto">
            <a:xfrm flipV="1">
              <a:off x="4008"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49" name="Line 97"/>
            <p:cNvSpPr>
              <a:spLocks noChangeShapeType="1"/>
            </p:cNvSpPr>
            <p:nvPr/>
          </p:nvSpPr>
          <p:spPr bwMode="auto">
            <a:xfrm flipV="1">
              <a:off x="4056"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50" name="Line 98"/>
            <p:cNvSpPr>
              <a:spLocks noChangeShapeType="1"/>
            </p:cNvSpPr>
            <p:nvPr/>
          </p:nvSpPr>
          <p:spPr bwMode="auto">
            <a:xfrm flipV="1">
              <a:off x="4104"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51" name="Line 99"/>
            <p:cNvSpPr>
              <a:spLocks noChangeShapeType="1"/>
            </p:cNvSpPr>
            <p:nvPr/>
          </p:nvSpPr>
          <p:spPr bwMode="auto">
            <a:xfrm flipV="1">
              <a:off x="4296"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52" name="Line 100"/>
            <p:cNvSpPr>
              <a:spLocks noChangeShapeType="1"/>
            </p:cNvSpPr>
            <p:nvPr/>
          </p:nvSpPr>
          <p:spPr bwMode="auto">
            <a:xfrm flipV="1">
              <a:off x="4344"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53" name="Line 101"/>
            <p:cNvSpPr>
              <a:spLocks noChangeShapeType="1"/>
            </p:cNvSpPr>
            <p:nvPr/>
          </p:nvSpPr>
          <p:spPr bwMode="auto">
            <a:xfrm flipV="1">
              <a:off x="4392"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54" name="Line 102"/>
            <p:cNvSpPr>
              <a:spLocks noChangeShapeType="1"/>
            </p:cNvSpPr>
            <p:nvPr/>
          </p:nvSpPr>
          <p:spPr bwMode="auto">
            <a:xfrm flipV="1">
              <a:off x="4440"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55" name="Line 103"/>
            <p:cNvSpPr>
              <a:spLocks noChangeShapeType="1"/>
            </p:cNvSpPr>
            <p:nvPr/>
          </p:nvSpPr>
          <p:spPr bwMode="auto">
            <a:xfrm flipV="1">
              <a:off x="4488"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56" name="Line 104"/>
            <p:cNvSpPr>
              <a:spLocks noChangeShapeType="1"/>
            </p:cNvSpPr>
            <p:nvPr/>
          </p:nvSpPr>
          <p:spPr bwMode="auto">
            <a:xfrm flipV="1">
              <a:off x="4536"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57" name="Line 105"/>
            <p:cNvSpPr>
              <a:spLocks noChangeShapeType="1"/>
            </p:cNvSpPr>
            <p:nvPr/>
          </p:nvSpPr>
          <p:spPr bwMode="auto">
            <a:xfrm flipV="1">
              <a:off x="4584"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58" name="Line 106"/>
            <p:cNvSpPr>
              <a:spLocks noChangeShapeType="1"/>
            </p:cNvSpPr>
            <p:nvPr/>
          </p:nvSpPr>
          <p:spPr bwMode="auto">
            <a:xfrm flipV="1">
              <a:off x="4632" y="2317"/>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59" name="Line 107"/>
            <p:cNvSpPr>
              <a:spLocks noChangeShapeType="1"/>
            </p:cNvSpPr>
            <p:nvPr/>
          </p:nvSpPr>
          <p:spPr bwMode="auto">
            <a:xfrm>
              <a:off x="1416" y="2323"/>
              <a:ext cx="3216"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60" name="Line 108"/>
            <p:cNvSpPr>
              <a:spLocks noChangeShapeType="1"/>
            </p:cNvSpPr>
            <p:nvPr/>
          </p:nvSpPr>
          <p:spPr bwMode="auto">
            <a:xfrm>
              <a:off x="1416" y="2227"/>
              <a:ext cx="3168"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61" name="Line 109"/>
            <p:cNvSpPr>
              <a:spLocks noChangeShapeType="1"/>
            </p:cNvSpPr>
            <p:nvPr/>
          </p:nvSpPr>
          <p:spPr bwMode="auto">
            <a:xfrm>
              <a:off x="1416" y="2131"/>
              <a:ext cx="3120"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62" name="Line 110"/>
            <p:cNvSpPr>
              <a:spLocks noChangeShapeType="1"/>
            </p:cNvSpPr>
            <p:nvPr/>
          </p:nvSpPr>
          <p:spPr bwMode="auto">
            <a:xfrm>
              <a:off x="1416" y="2035"/>
              <a:ext cx="3072"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63" name="Line 111"/>
            <p:cNvSpPr>
              <a:spLocks noChangeShapeType="1"/>
            </p:cNvSpPr>
            <p:nvPr/>
          </p:nvSpPr>
          <p:spPr bwMode="auto">
            <a:xfrm>
              <a:off x="1416" y="1939"/>
              <a:ext cx="3024"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64" name="Line 112"/>
            <p:cNvSpPr>
              <a:spLocks noChangeShapeType="1"/>
            </p:cNvSpPr>
            <p:nvPr/>
          </p:nvSpPr>
          <p:spPr bwMode="auto">
            <a:xfrm>
              <a:off x="1416" y="1843"/>
              <a:ext cx="2976"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65" name="Line 113"/>
            <p:cNvSpPr>
              <a:spLocks noChangeShapeType="1"/>
            </p:cNvSpPr>
            <p:nvPr/>
          </p:nvSpPr>
          <p:spPr bwMode="auto">
            <a:xfrm>
              <a:off x="1416" y="1747"/>
              <a:ext cx="2928"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66" name="Line 114"/>
            <p:cNvSpPr>
              <a:spLocks noChangeShapeType="1"/>
            </p:cNvSpPr>
            <p:nvPr/>
          </p:nvSpPr>
          <p:spPr bwMode="auto">
            <a:xfrm>
              <a:off x="1416" y="1651"/>
              <a:ext cx="2880"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67" name="Line 115"/>
            <p:cNvSpPr>
              <a:spLocks noChangeShapeType="1"/>
            </p:cNvSpPr>
            <p:nvPr/>
          </p:nvSpPr>
          <p:spPr bwMode="auto">
            <a:xfrm flipV="1">
              <a:off x="1662" y="1657"/>
              <a:ext cx="0" cy="672"/>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68" name="Line 116"/>
            <p:cNvSpPr>
              <a:spLocks noChangeShapeType="1"/>
            </p:cNvSpPr>
            <p:nvPr/>
          </p:nvSpPr>
          <p:spPr bwMode="auto">
            <a:xfrm flipV="1">
              <a:off x="1710" y="1753"/>
              <a:ext cx="0" cy="576"/>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69" name="Line 117"/>
            <p:cNvSpPr>
              <a:spLocks noChangeShapeType="1"/>
            </p:cNvSpPr>
            <p:nvPr/>
          </p:nvSpPr>
          <p:spPr bwMode="auto">
            <a:xfrm flipV="1">
              <a:off x="1758" y="1843"/>
              <a:ext cx="0" cy="48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70" name="Line 118"/>
            <p:cNvSpPr>
              <a:spLocks noChangeShapeType="1"/>
            </p:cNvSpPr>
            <p:nvPr/>
          </p:nvSpPr>
          <p:spPr bwMode="auto">
            <a:xfrm flipV="1">
              <a:off x="1806" y="1939"/>
              <a:ext cx="0" cy="38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71" name="Line 119"/>
            <p:cNvSpPr>
              <a:spLocks noChangeShapeType="1"/>
            </p:cNvSpPr>
            <p:nvPr/>
          </p:nvSpPr>
          <p:spPr bwMode="auto">
            <a:xfrm flipV="1">
              <a:off x="1854" y="2035"/>
              <a:ext cx="0" cy="288"/>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72" name="Line 120"/>
            <p:cNvSpPr>
              <a:spLocks noChangeShapeType="1"/>
            </p:cNvSpPr>
            <p:nvPr/>
          </p:nvSpPr>
          <p:spPr bwMode="auto">
            <a:xfrm flipV="1">
              <a:off x="1902" y="2131"/>
              <a:ext cx="0" cy="192"/>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73" name="Line 121"/>
            <p:cNvSpPr>
              <a:spLocks noChangeShapeType="1"/>
            </p:cNvSpPr>
            <p:nvPr/>
          </p:nvSpPr>
          <p:spPr bwMode="auto">
            <a:xfrm flipV="1">
              <a:off x="1950" y="2227"/>
              <a:ext cx="0" cy="96"/>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74" name="AutoShape 122"/>
            <p:cNvSpPr>
              <a:spLocks noChangeArrowheads="1"/>
            </p:cNvSpPr>
            <p:nvPr/>
          </p:nvSpPr>
          <p:spPr bwMode="auto">
            <a:xfrm>
              <a:off x="1638" y="1621"/>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675" name="AutoShape 123"/>
            <p:cNvSpPr>
              <a:spLocks noChangeArrowheads="1"/>
            </p:cNvSpPr>
            <p:nvPr/>
          </p:nvSpPr>
          <p:spPr bwMode="auto">
            <a:xfrm>
              <a:off x="1686" y="1723"/>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676" name="AutoShape 124"/>
            <p:cNvSpPr>
              <a:spLocks noChangeArrowheads="1"/>
            </p:cNvSpPr>
            <p:nvPr/>
          </p:nvSpPr>
          <p:spPr bwMode="auto">
            <a:xfrm>
              <a:off x="1734" y="1819"/>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677" name="AutoShape 125"/>
            <p:cNvSpPr>
              <a:spLocks noChangeArrowheads="1"/>
            </p:cNvSpPr>
            <p:nvPr/>
          </p:nvSpPr>
          <p:spPr bwMode="auto">
            <a:xfrm>
              <a:off x="1782" y="1915"/>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678" name="AutoShape 126"/>
            <p:cNvSpPr>
              <a:spLocks noChangeArrowheads="1"/>
            </p:cNvSpPr>
            <p:nvPr/>
          </p:nvSpPr>
          <p:spPr bwMode="auto">
            <a:xfrm>
              <a:off x="1830" y="2011"/>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679" name="AutoShape 127"/>
            <p:cNvSpPr>
              <a:spLocks noChangeArrowheads="1"/>
            </p:cNvSpPr>
            <p:nvPr/>
          </p:nvSpPr>
          <p:spPr bwMode="auto">
            <a:xfrm>
              <a:off x="1878" y="2107"/>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680" name="AutoShape 128"/>
            <p:cNvSpPr>
              <a:spLocks noChangeArrowheads="1"/>
            </p:cNvSpPr>
            <p:nvPr/>
          </p:nvSpPr>
          <p:spPr bwMode="auto">
            <a:xfrm>
              <a:off x="1926" y="2203"/>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681" name="AutoShape 129"/>
            <p:cNvSpPr>
              <a:spLocks noChangeArrowheads="1"/>
            </p:cNvSpPr>
            <p:nvPr/>
          </p:nvSpPr>
          <p:spPr bwMode="auto">
            <a:xfrm>
              <a:off x="1974" y="2299"/>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682" name="Line 130"/>
            <p:cNvSpPr>
              <a:spLocks noChangeShapeType="1"/>
            </p:cNvSpPr>
            <p:nvPr/>
          </p:nvSpPr>
          <p:spPr bwMode="auto">
            <a:xfrm flipV="1">
              <a:off x="2178" y="1651"/>
              <a:ext cx="0" cy="672"/>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83" name="Line 131"/>
            <p:cNvSpPr>
              <a:spLocks noChangeShapeType="1"/>
            </p:cNvSpPr>
            <p:nvPr/>
          </p:nvSpPr>
          <p:spPr bwMode="auto">
            <a:xfrm flipV="1">
              <a:off x="2226" y="1747"/>
              <a:ext cx="0" cy="576"/>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84" name="Line 132"/>
            <p:cNvSpPr>
              <a:spLocks noChangeShapeType="1"/>
            </p:cNvSpPr>
            <p:nvPr/>
          </p:nvSpPr>
          <p:spPr bwMode="auto">
            <a:xfrm flipV="1">
              <a:off x="2274" y="1837"/>
              <a:ext cx="0" cy="48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85" name="Line 133"/>
            <p:cNvSpPr>
              <a:spLocks noChangeShapeType="1"/>
            </p:cNvSpPr>
            <p:nvPr/>
          </p:nvSpPr>
          <p:spPr bwMode="auto">
            <a:xfrm flipV="1">
              <a:off x="2322" y="1933"/>
              <a:ext cx="0" cy="38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86" name="Line 134"/>
            <p:cNvSpPr>
              <a:spLocks noChangeShapeType="1"/>
            </p:cNvSpPr>
            <p:nvPr/>
          </p:nvSpPr>
          <p:spPr bwMode="auto">
            <a:xfrm flipV="1">
              <a:off x="2370" y="2029"/>
              <a:ext cx="0" cy="288"/>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87" name="Line 135"/>
            <p:cNvSpPr>
              <a:spLocks noChangeShapeType="1"/>
            </p:cNvSpPr>
            <p:nvPr/>
          </p:nvSpPr>
          <p:spPr bwMode="auto">
            <a:xfrm flipV="1">
              <a:off x="2418" y="2125"/>
              <a:ext cx="0" cy="192"/>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88" name="Line 136"/>
            <p:cNvSpPr>
              <a:spLocks noChangeShapeType="1"/>
            </p:cNvSpPr>
            <p:nvPr/>
          </p:nvSpPr>
          <p:spPr bwMode="auto">
            <a:xfrm flipV="1">
              <a:off x="2466" y="2221"/>
              <a:ext cx="0" cy="96"/>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89" name="AutoShape 137"/>
            <p:cNvSpPr>
              <a:spLocks noChangeArrowheads="1"/>
            </p:cNvSpPr>
            <p:nvPr/>
          </p:nvSpPr>
          <p:spPr bwMode="auto">
            <a:xfrm>
              <a:off x="2154" y="1615"/>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690" name="AutoShape 138"/>
            <p:cNvSpPr>
              <a:spLocks noChangeArrowheads="1"/>
            </p:cNvSpPr>
            <p:nvPr/>
          </p:nvSpPr>
          <p:spPr bwMode="auto">
            <a:xfrm>
              <a:off x="2202" y="1717"/>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691" name="AutoShape 139"/>
            <p:cNvSpPr>
              <a:spLocks noChangeArrowheads="1"/>
            </p:cNvSpPr>
            <p:nvPr/>
          </p:nvSpPr>
          <p:spPr bwMode="auto">
            <a:xfrm>
              <a:off x="2250" y="1813"/>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692" name="AutoShape 140"/>
            <p:cNvSpPr>
              <a:spLocks noChangeArrowheads="1"/>
            </p:cNvSpPr>
            <p:nvPr/>
          </p:nvSpPr>
          <p:spPr bwMode="auto">
            <a:xfrm>
              <a:off x="2298" y="1909"/>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693" name="AutoShape 141"/>
            <p:cNvSpPr>
              <a:spLocks noChangeArrowheads="1"/>
            </p:cNvSpPr>
            <p:nvPr/>
          </p:nvSpPr>
          <p:spPr bwMode="auto">
            <a:xfrm>
              <a:off x="2346" y="2005"/>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694" name="AutoShape 142"/>
            <p:cNvSpPr>
              <a:spLocks noChangeArrowheads="1"/>
            </p:cNvSpPr>
            <p:nvPr/>
          </p:nvSpPr>
          <p:spPr bwMode="auto">
            <a:xfrm>
              <a:off x="2394" y="2101"/>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695" name="AutoShape 143"/>
            <p:cNvSpPr>
              <a:spLocks noChangeArrowheads="1"/>
            </p:cNvSpPr>
            <p:nvPr/>
          </p:nvSpPr>
          <p:spPr bwMode="auto">
            <a:xfrm>
              <a:off x="2442" y="2197"/>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696" name="AutoShape 144"/>
            <p:cNvSpPr>
              <a:spLocks noChangeArrowheads="1"/>
            </p:cNvSpPr>
            <p:nvPr/>
          </p:nvSpPr>
          <p:spPr bwMode="auto">
            <a:xfrm>
              <a:off x="2490" y="2293"/>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697" name="Line 145"/>
            <p:cNvSpPr>
              <a:spLocks noChangeShapeType="1"/>
            </p:cNvSpPr>
            <p:nvPr/>
          </p:nvSpPr>
          <p:spPr bwMode="auto">
            <a:xfrm flipV="1">
              <a:off x="2724" y="1663"/>
              <a:ext cx="0" cy="672"/>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98" name="Line 146"/>
            <p:cNvSpPr>
              <a:spLocks noChangeShapeType="1"/>
            </p:cNvSpPr>
            <p:nvPr/>
          </p:nvSpPr>
          <p:spPr bwMode="auto">
            <a:xfrm flipV="1">
              <a:off x="2772" y="1759"/>
              <a:ext cx="0" cy="576"/>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99" name="Line 147"/>
            <p:cNvSpPr>
              <a:spLocks noChangeShapeType="1"/>
            </p:cNvSpPr>
            <p:nvPr/>
          </p:nvSpPr>
          <p:spPr bwMode="auto">
            <a:xfrm flipV="1">
              <a:off x="2820" y="1849"/>
              <a:ext cx="0" cy="48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00" name="Line 148"/>
            <p:cNvSpPr>
              <a:spLocks noChangeShapeType="1"/>
            </p:cNvSpPr>
            <p:nvPr/>
          </p:nvSpPr>
          <p:spPr bwMode="auto">
            <a:xfrm flipV="1">
              <a:off x="2868" y="1945"/>
              <a:ext cx="0" cy="38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01" name="Line 149"/>
            <p:cNvSpPr>
              <a:spLocks noChangeShapeType="1"/>
            </p:cNvSpPr>
            <p:nvPr/>
          </p:nvSpPr>
          <p:spPr bwMode="auto">
            <a:xfrm flipV="1">
              <a:off x="2916" y="2041"/>
              <a:ext cx="0" cy="288"/>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02" name="Line 150"/>
            <p:cNvSpPr>
              <a:spLocks noChangeShapeType="1"/>
            </p:cNvSpPr>
            <p:nvPr/>
          </p:nvSpPr>
          <p:spPr bwMode="auto">
            <a:xfrm flipV="1">
              <a:off x="2964" y="2137"/>
              <a:ext cx="0" cy="192"/>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03" name="Line 151"/>
            <p:cNvSpPr>
              <a:spLocks noChangeShapeType="1"/>
            </p:cNvSpPr>
            <p:nvPr/>
          </p:nvSpPr>
          <p:spPr bwMode="auto">
            <a:xfrm flipV="1">
              <a:off x="3012" y="2233"/>
              <a:ext cx="0" cy="96"/>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04" name="AutoShape 152"/>
            <p:cNvSpPr>
              <a:spLocks noChangeArrowheads="1"/>
            </p:cNvSpPr>
            <p:nvPr/>
          </p:nvSpPr>
          <p:spPr bwMode="auto">
            <a:xfrm>
              <a:off x="2700" y="1627"/>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05" name="AutoShape 153"/>
            <p:cNvSpPr>
              <a:spLocks noChangeArrowheads="1"/>
            </p:cNvSpPr>
            <p:nvPr/>
          </p:nvSpPr>
          <p:spPr bwMode="auto">
            <a:xfrm>
              <a:off x="2748" y="1729"/>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06" name="AutoShape 154"/>
            <p:cNvSpPr>
              <a:spLocks noChangeArrowheads="1"/>
            </p:cNvSpPr>
            <p:nvPr/>
          </p:nvSpPr>
          <p:spPr bwMode="auto">
            <a:xfrm>
              <a:off x="2796" y="1825"/>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07" name="AutoShape 155"/>
            <p:cNvSpPr>
              <a:spLocks noChangeArrowheads="1"/>
            </p:cNvSpPr>
            <p:nvPr/>
          </p:nvSpPr>
          <p:spPr bwMode="auto">
            <a:xfrm>
              <a:off x="2844" y="1921"/>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08" name="AutoShape 156"/>
            <p:cNvSpPr>
              <a:spLocks noChangeArrowheads="1"/>
            </p:cNvSpPr>
            <p:nvPr/>
          </p:nvSpPr>
          <p:spPr bwMode="auto">
            <a:xfrm>
              <a:off x="2892" y="2017"/>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09" name="AutoShape 157"/>
            <p:cNvSpPr>
              <a:spLocks noChangeArrowheads="1"/>
            </p:cNvSpPr>
            <p:nvPr/>
          </p:nvSpPr>
          <p:spPr bwMode="auto">
            <a:xfrm>
              <a:off x="2940" y="2113"/>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10" name="AutoShape 158"/>
            <p:cNvSpPr>
              <a:spLocks noChangeArrowheads="1"/>
            </p:cNvSpPr>
            <p:nvPr/>
          </p:nvSpPr>
          <p:spPr bwMode="auto">
            <a:xfrm>
              <a:off x="2988" y="2209"/>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11" name="AutoShape 159"/>
            <p:cNvSpPr>
              <a:spLocks noChangeArrowheads="1"/>
            </p:cNvSpPr>
            <p:nvPr/>
          </p:nvSpPr>
          <p:spPr bwMode="auto">
            <a:xfrm>
              <a:off x="3036" y="2305"/>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12" name="Line 160"/>
            <p:cNvSpPr>
              <a:spLocks noChangeShapeType="1"/>
            </p:cNvSpPr>
            <p:nvPr/>
          </p:nvSpPr>
          <p:spPr bwMode="auto">
            <a:xfrm flipV="1">
              <a:off x="3240" y="1651"/>
              <a:ext cx="0" cy="672"/>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13" name="Line 161"/>
            <p:cNvSpPr>
              <a:spLocks noChangeShapeType="1"/>
            </p:cNvSpPr>
            <p:nvPr/>
          </p:nvSpPr>
          <p:spPr bwMode="auto">
            <a:xfrm flipV="1">
              <a:off x="3288" y="1747"/>
              <a:ext cx="0" cy="576"/>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14" name="Line 162"/>
            <p:cNvSpPr>
              <a:spLocks noChangeShapeType="1"/>
            </p:cNvSpPr>
            <p:nvPr/>
          </p:nvSpPr>
          <p:spPr bwMode="auto">
            <a:xfrm flipV="1">
              <a:off x="3336" y="1837"/>
              <a:ext cx="0" cy="48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15" name="Line 163"/>
            <p:cNvSpPr>
              <a:spLocks noChangeShapeType="1"/>
            </p:cNvSpPr>
            <p:nvPr/>
          </p:nvSpPr>
          <p:spPr bwMode="auto">
            <a:xfrm flipV="1">
              <a:off x="3384" y="1933"/>
              <a:ext cx="0" cy="38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16" name="Line 164"/>
            <p:cNvSpPr>
              <a:spLocks noChangeShapeType="1"/>
            </p:cNvSpPr>
            <p:nvPr/>
          </p:nvSpPr>
          <p:spPr bwMode="auto">
            <a:xfrm flipV="1">
              <a:off x="3432" y="2029"/>
              <a:ext cx="0" cy="288"/>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17" name="Line 165"/>
            <p:cNvSpPr>
              <a:spLocks noChangeShapeType="1"/>
            </p:cNvSpPr>
            <p:nvPr/>
          </p:nvSpPr>
          <p:spPr bwMode="auto">
            <a:xfrm flipV="1">
              <a:off x="3480" y="2125"/>
              <a:ext cx="0" cy="192"/>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18" name="Line 166"/>
            <p:cNvSpPr>
              <a:spLocks noChangeShapeType="1"/>
            </p:cNvSpPr>
            <p:nvPr/>
          </p:nvSpPr>
          <p:spPr bwMode="auto">
            <a:xfrm flipV="1">
              <a:off x="3528" y="2221"/>
              <a:ext cx="0" cy="96"/>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19" name="AutoShape 167"/>
            <p:cNvSpPr>
              <a:spLocks noChangeArrowheads="1"/>
            </p:cNvSpPr>
            <p:nvPr/>
          </p:nvSpPr>
          <p:spPr bwMode="auto">
            <a:xfrm>
              <a:off x="3216" y="1615"/>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20" name="AutoShape 168"/>
            <p:cNvSpPr>
              <a:spLocks noChangeArrowheads="1"/>
            </p:cNvSpPr>
            <p:nvPr/>
          </p:nvSpPr>
          <p:spPr bwMode="auto">
            <a:xfrm>
              <a:off x="3264" y="1717"/>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21" name="AutoShape 169"/>
            <p:cNvSpPr>
              <a:spLocks noChangeArrowheads="1"/>
            </p:cNvSpPr>
            <p:nvPr/>
          </p:nvSpPr>
          <p:spPr bwMode="auto">
            <a:xfrm>
              <a:off x="3312" y="1813"/>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22" name="AutoShape 170"/>
            <p:cNvSpPr>
              <a:spLocks noChangeArrowheads="1"/>
            </p:cNvSpPr>
            <p:nvPr/>
          </p:nvSpPr>
          <p:spPr bwMode="auto">
            <a:xfrm>
              <a:off x="3360" y="1909"/>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23" name="AutoShape 171"/>
            <p:cNvSpPr>
              <a:spLocks noChangeArrowheads="1"/>
            </p:cNvSpPr>
            <p:nvPr/>
          </p:nvSpPr>
          <p:spPr bwMode="auto">
            <a:xfrm>
              <a:off x="3408" y="2005"/>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24" name="AutoShape 172"/>
            <p:cNvSpPr>
              <a:spLocks noChangeArrowheads="1"/>
            </p:cNvSpPr>
            <p:nvPr/>
          </p:nvSpPr>
          <p:spPr bwMode="auto">
            <a:xfrm>
              <a:off x="3456" y="2101"/>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25" name="AutoShape 173"/>
            <p:cNvSpPr>
              <a:spLocks noChangeArrowheads="1"/>
            </p:cNvSpPr>
            <p:nvPr/>
          </p:nvSpPr>
          <p:spPr bwMode="auto">
            <a:xfrm>
              <a:off x="3504" y="2197"/>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26" name="AutoShape 174"/>
            <p:cNvSpPr>
              <a:spLocks noChangeArrowheads="1"/>
            </p:cNvSpPr>
            <p:nvPr/>
          </p:nvSpPr>
          <p:spPr bwMode="auto">
            <a:xfrm>
              <a:off x="3552" y="2293"/>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27" name="Line 175"/>
            <p:cNvSpPr>
              <a:spLocks noChangeShapeType="1"/>
            </p:cNvSpPr>
            <p:nvPr/>
          </p:nvSpPr>
          <p:spPr bwMode="auto">
            <a:xfrm flipV="1">
              <a:off x="3768" y="1657"/>
              <a:ext cx="0" cy="672"/>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28" name="Line 176"/>
            <p:cNvSpPr>
              <a:spLocks noChangeShapeType="1"/>
            </p:cNvSpPr>
            <p:nvPr/>
          </p:nvSpPr>
          <p:spPr bwMode="auto">
            <a:xfrm flipV="1">
              <a:off x="3816" y="1753"/>
              <a:ext cx="0" cy="576"/>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29" name="Line 177"/>
            <p:cNvSpPr>
              <a:spLocks noChangeShapeType="1"/>
            </p:cNvSpPr>
            <p:nvPr/>
          </p:nvSpPr>
          <p:spPr bwMode="auto">
            <a:xfrm flipV="1">
              <a:off x="3864" y="1843"/>
              <a:ext cx="0" cy="48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30" name="Line 178"/>
            <p:cNvSpPr>
              <a:spLocks noChangeShapeType="1"/>
            </p:cNvSpPr>
            <p:nvPr/>
          </p:nvSpPr>
          <p:spPr bwMode="auto">
            <a:xfrm flipV="1">
              <a:off x="3912" y="1939"/>
              <a:ext cx="0" cy="38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31" name="Line 179"/>
            <p:cNvSpPr>
              <a:spLocks noChangeShapeType="1"/>
            </p:cNvSpPr>
            <p:nvPr/>
          </p:nvSpPr>
          <p:spPr bwMode="auto">
            <a:xfrm flipV="1">
              <a:off x="3960" y="2035"/>
              <a:ext cx="0" cy="288"/>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32" name="Line 180"/>
            <p:cNvSpPr>
              <a:spLocks noChangeShapeType="1"/>
            </p:cNvSpPr>
            <p:nvPr/>
          </p:nvSpPr>
          <p:spPr bwMode="auto">
            <a:xfrm flipV="1">
              <a:off x="4008" y="2131"/>
              <a:ext cx="0" cy="192"/>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33" name="Line 181"/>
            <p:cNvSpPr>
              <a:spLocks noChangeShapeType="1"/>
            </p:cNvSpPr>
            <p:nvPr/>
          </p:nvSpPr>
          <p:spPr bwMode="auto">
            <a:xfrm flipV="1">
              <a:off x="4056" y="2227"/>
              <a:ext cx="0" cy="96"/>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34" name="AutoShape 182"/>
            <p:cNvSpPr>
              <a:spLocks noChangeArrowheads="1"/>
            </p:cNvSpPr>
            <p:nvPr/>
          </p:nvSpPr>
          <p:spPr bwMode="auto">
            <a:xfrm>
              <a:off x="3744" y="1621"/>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35" name="AutoShape 183"/>
            <p:cNvSpPr>
              <a:spLocks noChangeArrowheads="1"/>
            </p:cNvSpPr>
            <p:nvPr/>
          </p:nvSpPr>
          <p:spPr bwMode="auto">
            <a:xfrm>
              <a:off x="3792" y="1723"/>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36" name="AutoShape 184"/>
            <p:cNvSpPr>
              <a:spLocks noChangeArrowheads="1"/>
            </p:cNvSpPr>
            <p:nvPr/>
          </p:nvSpPr>
          <p:spPr bwMode="auto">
            <a:xfrm>
              <a:off x="3840" y="1819"/>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37" name="AutoShape 185"/>
            <p:cNvSpPr>
              <a:spLocks noChangeArrowheads="1"/>
            </p:cNvSpPr>
            <p:nvPr/>
          </p:nvSpPr>
          <p:spPr bwMode="auto">
            <a:xfrm>
              <a:off x="3888" y="1915"/>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38" name="AutoShape 186"/>
            <p:cNvSpPr>
              <a:spLocks noChangeArrowheads="1"/>
            </p:cNvSpPr>
            <p:nvPr/>
          </p:nvSpPr>
          <p:spPr bwMode="auto">
            <a:xfrm>
              <a:off x="3936" y="2011"/>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39" name="AutoShape 187"/>
            <p:cNvSpPr>
              <a:spLocks noChangeArrowheads="1"/>
            </p:cNvSpPr>
            <p:nvPr/>
          </p:nvSpPr>
          <p:spPr bwMode="auto">
            <a:xfrm>
              <a:off x="3984" y="2107"/>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40" name="AutoShape 188"/>
            <p:cNvSpPr>
              <a:spLocks noChangeArrowheads="1"/>
            </p:cNvSpPr>
            <p:nvPr/>
          </p:nvSpPr>
          <p:spPr bwMode="auto">
            <a:xfrm>
              <a:off x="4032" y="2203"/>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41" name="AutoShape 189"/>
            <p:cNvSpPr>
              <a:spLocks noChangeArrowheads="1"/>
            </p:cNvSpPr>
            <p:nvPr/>
          </p:nvSpPr>
          <p:spPr bwMode="auto">
            <a:xfrm>
              <a:off x="4080" y="2299"/>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42" name="Line 190"/>
            <p:cNvSpPr>
              <a:spLocks noChangeShapeType="1"/>
            </p:cNvSpPr>
            <p:nvPr/>
          </p:nvSpPr>
          <p:spPr bwMode="auto">
            <a:xfrm flipV="1">
              <a:off x="4296" y="1663"/>
              <a:ext cx="0" cy="672"/>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43" name="Line 191"/>
            <p:cNvSpPr>
              <a:spLocks noChangeShapeType="1"/>
            </p:cNvSpPr>
            <p:nvPr/>
          </p:nvSpPr>
          <p:spPr bwMode="auto">
            <a:xfrm flipV="1">
              <a:off x="4344" y="1759"/>
              <a:ext cx="0" cy="576"/>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44" name="Line 192"/>
            <p:cNvSpPr>
              <a:spLocks noChangeShapeType="1"/>
            </p:cNvSpPr>
            <p:nvPr/>
          </p:nvSpPr>
          <p:spPr bwMode="auto">
            <a:xfrm flipV="1">
              <a:off x="4392" y="1849"/>
              <a:ext cx="0" cy="48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45" name="Line 193"/>
            <p:cNvSpPr>
              <a:spLocks noChangeShapeType="1"/>
            </p:cNvSpPr>
            <p:nvPr/>
          </p:nvSpPr>
          <p:spPr bwMode="auto">
            <a:xfrm flipV="1">
              <a:off x="4440" y="1945"/>
              <a:ext cx="0" cy="38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46" name="Line 194"/>
            <p:cNvSpPr>
              <a:spLocks noChangeShapeType="1"/>
            </p:cNvSpPr>
            <p:nvPr/>
          </p:nvSpPr>
          <p:spPr bwMode="auto">
            <a:xfrm flipV="1">
              <a:off x="4488" y="2041"/>
              <a:ext cx="0" cy="288"/>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47" name="Line 195"/>
            <p:cNvSpPr>
              <a:spLocks noChangeShapeType="1"/>
            </p:cNvSpPr>
            <p:nvPr/>
          </p:nvSpPr>
          <p:spPr bwMode="auto">
            <a:xfrm flipV="1">
              <a:off x="4536" y="2137"/>
              <a:ext cx="0" cy="192"/>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48" name="Line 196"/>
            <p:cNvSpPr>
              <a:spLocks noChangeShapeType="1"/>
            </p:cNvSpPr>
            <p:nvPr/>
          </p:nvSpPr>
          <p:spPr bwMode="auto">
            <a:xfrm flipV="1">
              <a:off x="4584" y="2233"/>
              <a:ext cx="0" cy="96"/>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49" name="AutoShape 197"/>
            <p:cNvSpPr>
              <a:spLocks noChangeArrowheads="1"/>
            </p:cNvSpPr>
            <p:nvPr/>
          </p:nvSpPr>
          <p:spPr bwMode="auto">
            <a:xfrm>
              <a:off x="4272" y="1627"/>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50" name="AutoShape 198"/>
            <p:cNvSpPr>
              <a:spLocks noChangeArrowheads="1"/>
            </p:cNvSpPr>
            <p:nvPr/>
          </p:nvSpPr>
          <p:spPr bwMode="auto">
            <a:xfrm>
              <a:off x="4320" y="1729"/>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51" name="AutoShape 199"/>
            <p:cNvSpPr>
              <a:spLocks noChangeArrowheads="1"/>
            </p:cNvSpPr>
            <p:nvPr/>
          </p:nvSpPr>
          <p:spPr bwMode="auto">
            <a:xfrm>
              <a:off x="4368" y="1825"/>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52" name="AutoShape 200"/>
            <p:cNvSpPr>
              <a:spLocks noChangeArrowheads="1"/>
            </p:cNvSpPr>
            <p:nvPr/>
          </p:nvSpPr>
          <p:spPr bwMode="auto">
            <a:xfrm>
              <a:off x="4416" y="1921"/>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53" name="AutoShape 201"/>
            <p:cNvSpPr>
              <a:spLocks noChangeArrowheads="1"/>
            </p:cNvSpPr>
            <p:nvPr/>
          </p:nvSpPr>
          <p:spPr bwMode="auto">
            <a:xfrm>
              <a:off x="4464" y="2017"/>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54" name="AutoShape 202"/>
            <p:cNvSpPr>
              <a:spLocks noChangeArrowheads="1"/>
            </p:cNvSpPr>
            <p:nvPr/>
          </p:nvSpPr>
          <p:spPr bwMode="auto">
            <a:xfrm>
              <a:off x="4512" y="2113"/>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55" name="AutoShape 203"/>
            <p:cNvSpPr>
              <a:spLocks noChangeArrowheads="1"/>
            </p:cNvSpPr>
            <p:nvPr/>
          </p:nvSpPr>
          <p:spPr bwMode="auto">
            <a:xfrm>
              <a:off x="4560" y="2209"/>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56" name="AutoShape 204"/>
            <p:cNvSpPr>
              <a:spLocks noChangeArrowheads="1"/>
            </p:cNvSpPr>
            <p:nvPr/>
          </p:nvSpPr>
          <p:spPr bwMode="auto">
            <a:xfrm>
              <a:off x="4608" y="2305"/>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57" name="Line 205"/>
            <p:cNvSpPr>
              <a:spLocks noChangeShapeType="1"/>
            </p:cNvSpPr>
            <p:nvPr/>
          </p:nvSpPr>
          <p:spPr bwMode="auto">
            <a:xfrm>
              <a:off x="5040" y="1513"/>
              <a:ext cx="0" cy="816"/>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58" name="Line 206"/>
            <p:cNvSpPr>
              <a:spLocks noChangeShapeType="1"/>
            </p:cNvSpPr>
            <p:nvPr/>
          </p:nvSpPr>
          <p:spPr bwMode="auto">
            <a:xfrm>
              <a:off x="4608" y="2329"/>
              <a:ext cx="144"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59" name="Rectangle 207"/>
            <p:cNvSpPr>
              <a:spLocks noChangeArrowheads="1"/>
            </p:cNvSpPr>
            <p:nvPr/>
          </p:nvSpPr>
          <p:spPr bwMode="auto">
            <a:xfrm>
              <a:off x="4752" y="2305"/>
              <a:ext cx="192" cy="48"/>
            </a:xfrm>
            <a:prstGeom prst="rect">
              <a:avLst/>
            </a:prstGeom>
            <a:noFill/>
            <a:ln w="9525"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60" name="Line 208"/>
            <p:cNvSpPr>
              <a:spLocks noChangeShapeType="1"/>
            </p:cNvSpPr>
            <p:nvPr/>
          </p:nvSpPr>
          <p:spPr bwMode="auto">
            <a:xfrm>
              <a:off x="4944" y="2329"/>
              <a:ext cx="96"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61" name="Line 209"/>
            <p:cNvSpPr>
              <a:spLocks noChangeShapeType="1"/>
            </p:cNvSpPr>
            <p:nvPr/>
          </p:nvSpPr>
          <p:spPr bwMode="auto">
            <a:xfrm>
              <a:off x="4560" y="2233"/>
              <a:ext cx="192"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62" name="Line 210"/>
            <p:cNvSpPr>
              <a:spLocks noChangeShapeType="1"/>
            </p:cNvSpPr>
            <p:nvPr/>
          </p:nvSpPr>
          <p:spPr bwMode="auto">
            <a:xfrm>
              <a:off x="4512" y="2137"/>
              <a:ext cx="240"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63" name="Line 211"/>
            <p:cNvSpPr>
              <a:spLocks noChangeShapeType="1"/>
            </p:cNvSpPr>
            <p:nvPr/>
          </p:nvSpPr>
          <p:spPr bwMode="auto">
            <a:xfrm>
              <a:off x="4464" y="2035"/>
              <a:ext cx="288"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64" name="Line 212"/>
            <p:cNvSpPr>
              <a:spLocks noChangeShapeType="1"/>
            </p:cNvSpPr>
            <p:nvPr/>
          </p:nvSpPr>
          <p:spPr bwMode="auto">
            <a:xfrm>
              <a:off x="4416" y="1939"/>
              <a:ext cx="336"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65" name="Line 213"/>
            <p:cNvSpPr>
              <a:spLocks noChangeShapeType="1"/>
            </p:cNvSpPr>
            <p:nvPr/>
          </p:nvSpPr>
          <p:spPr bwMode="auto">
            <a:xfrm>
              <a:off x="4368" y="1843"/>
              <a:ext cx="384"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66" name="Line 214"/>
            <p:cNvSpPr>
              <a:spLocks noChangeShapeType="1"/>
            </p:cNvSpPr>
            <p:nvPr/>
          </p:nvSpPr>
          <p:spPr bwMode="auto">
            <a:xfrm>
              <a:off x="4320" y="1747"/>
              <a:ext cx="432"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67" name="Line 215"/>
            <p:cNvSpPr>
              <a:spLocks noChangeShapeType="1"/>
            </p:cNvSpPr>
            <p:nvPr/>
          </p:nvSpPr>
          <p:spPr bwMode="auto">
            <a:xfrm>
              <a:off x="4272" y="1651"/>
              <a:ext cx="480"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68" name="Rectangle 216"/>
            <p:cNvSpPr>
              <a:spLocks noChangeArrowheads="1"/>
            </p:cNvSpPr>
            <p:nvPr/>
          </p:nvSpPr>
          <p:spPr bwMode="auto">
            <a:xfrm>
              <a:off x="4752" y="2209"/>
              <a:ext cx="192" cy="48"/>
            </a:xfrm>
            <a:prstGeom prst="rect">
              <a:avLst/>
            </a:prstGeom>
            <a:noFill/>
            <a:ln w="9525"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69" name="Line 217"/>
            <p:cNvSpPr>
              <a:spLocks noChangeShapeType="1"/>
            </p:cNvSpPr>
            <p:nvPr/>
          </p:nvSpPr>
          <p:spPr bwMode="auto">
            <a:xfrm>
              <a:off x="4944" y="2233"/>
              <a:ext cx="96"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70" name="Rectangle 218"/>
            <p:cNvSpPr>
              <a:spLocks noChangeArrowheads="1"/>
            </p:cNvSpPr>
            <p:nvPr/>
          </p:nvSpPr>
          <p:spPr bwMode="auto">
            <a:xfrm>
              <a:off x="4752" y="1627"/>
              <a:ext cx="192" cy="48"/>
            </a:xfrm>
            <a:prstGeom prst="rect">
              <a:avLst/>
            </a:prstGeom>
            <a:noFill/>
            <a:ln w="9525"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71" name="Line 219"/>
            <p:cNvSpPr>
              <a:spLocks noChangeShapeType="1"/>
            </p:cNvSpPr>
            <p:nvPr/>
          </p:nvSpPr>
          <p:spPr bwMode="auto">
            <a:xfrm>
              <a:off x="4944" y="1651"/>
              <a:ext cx="96"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72" name="Rectangle 220"/>
            <p:cNvSpPr>
              <a:spLocks noChangeArrowheads="1"/>
            </p:cNvSpPr>
            <p:nvPr/>
          </p:nvSpPr>
          <p:spPr bwMode="auto">
            <a:xfrm>
              <a:off x="4752" y="1723"/>
              <a:ext cx="192" cy="48"/>
            </a:xfrm>
            <a:prstGeom prst="rect">
              <a:avLst/>
            </a:prstGeom>
            <a:noFill/>
            <a:ln w="9525"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73" name="Line 221"/>
            <p:cNvSpPr>
              <a:spLocks noChangeShapeType="1"/>
            </p:cNvSpPr>
            <p:nvPr/>
          </p:nvSpPr>
          <p:spPr bwMode="auto">
            <a:xfrm>
              <a:off x="4944" y="1747"/>
              <a:ext cx="96"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74" name="Rectangle 222"/>
            <p:cNvSpPr>
              <a:spLocks noChangeArrowheads="1"/>
            </p:cNvSpPr>
            <p:nvPr/>
          </p:nvSpPr>
          <p:spPr bwMode="auto">
            <a:xfrm>
              <a:off x="4752" y="1819"/>
              <a:ext cx="192" cy="48"/>
            </a:xfrm>
            <a:prstGeom prst="rect">
              <a:avLst/>
            </a:prstGeom>
            <a:noFill/>
            <a:ln w="9525"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75" name="Line 223"/>
            <p:cNvSpPr>
              <a:spLocks noChangeShapeType="1"/>
            </p:cNvSpPr>
            <p:nvPr/>
          </p:nvSpPr>
          <p:spPr bwMode="auto">
            <a:xfrm>
              <a:off x="4944" y="1843"/>
              <a:ext cx="96"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76" name="Rectangle 224"/>
            <p:cNvSpPr>
              <a:spLocks noChangeArrowheads="1"/>
            </p:cNvSpPr>
            <p:nvPr/>
          </p:nvSpPr>
          <p:spPr bwMode="auto">
            <a:xfrm>
              <a:off x="4752" y="1915"/>
              <a:ext cx="192" cy="48"/>
            </a:xfrm>
            <a:prstGeom prst="rect">
              <a:avLst/>
            </a:prstGeom>
            <a:noFill/>
            <a:ln w="9525"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77" name="Line 225"/>
            <p:cNvSpPr>
              <a:spLocks noChangeShapeType="1"/>
            </p:cNvSpPr>
            <p:nvPr/>
          </p:nvSpPr>
          <p:spPr bwMode="auto">
            <a:xfrm>
              <a:off x="4944" y="1939"/>
              <a:ext cx="96"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78" name="Rectangle 226"/>
            <p:cNvSpPr>
              <a:spLocks noChangeArrowheads="1"/>
            </p:cNvSpPr>
            <p:nvPr/>
          </p:nvSpPr>
          <p:spPr bwMode="auto">
            <a:xfrm>
              <a:off x="4752" y="2011"/>
              <a:ext cx="192" cy="48"/>
            </a:xfrm>
            <a:prstGeom prst="rect">
              <a:avLst/>
            </a:prstGeom>
            <a:noFill/>
            <a:ln w="9525"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79" name="Line 227"/>
            <p:cNvSpPr>
              <a:spLocks noChangeShapeType="1"/>
            </p:cNvSpPr>
            <p:nvPr/>
          </p:nvSpPr>
          <p:spPr bwMode="auto">
            <a:xfrm>
              <a:off x="4944" y="2035"/>
              <a:ext cx="96"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80" name="Rectangle 228"/>
            <p:cNvSpPr>
              <a:spLocks noChangeArrowheads="1"/>
            </p:cNvSpPr>
            <p:nvPr/>
          </p:nvSpPr>
          <p:spPr bwMode="auto">
            <a:xfrm>
              <a:off x="4752" y="2107"/>
              <a:ext cx="192" cy="48"/>
            </a:xfrm>
            <a:prstGeom prst="rect">
              <a:avLst/>
            </a:prstGeom>
            <a:noFill/>
            <a:ln w="9525"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81" name="Line 229"/>
            <p:cNvSpPr>
              <a:spLocks noChangeShapeType="1"/>
            </p:cNvSpPr>
            <p:nvPr/>
          </p:nvSpPr>
          <p:spPr bwMode="auto">
            <a:xfrm>
              <a:off x="4944" y="2131"/>
              <a:ext cx="96"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82" name="AutoShape 230"/>
            <p:cNvSpPr>
              <a:spLocks noChangeArrowheads="1"/>
            </p:cNvSpPr>
            <p:nvPr/>
          </p:nvSpPr>
          <p:spPr bwMode="auto">
            <a:xfrm>
              <a:off x="5010" y="1723"/>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83" name="AutoShape 231"/>
            <p:cNvSpPr>
              <a:spLocks noChangeArrowheads="1"/>
            </p:cNvSpPr>
            <p:nvPr/>
          </p:nvSpPr>
          <p:spPr bwMode="auto">
            <a:xfrm>
              <a:off x="5016" y="1819"/>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84" name="AutoShape 232"/>
            <p:cNvSpPr>
              <a:spLocks noChangeArrowheads="1"/>
            </p:cNvSpPr>
            <p:nvPr/>
          </p:nvSpPr>
          <p:spPr bwMode="auto">
            <a:xfrm>
              <a:off x="5016" y="1915"/>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85" name="AutoShape 233"/>
            <p:cNvSpPr>
              <a:spLocks noChangeArrowheads="1"/>
            </p:cNvSpPr>
            <p:nvPr/>
          </p:nvSpPr>
          <p:spPr bwMode="auto">
            <a:xfrm>
              <a:off x="5016" y="2011"/>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86" name="AutoShape 234"/>
            <p:cNvSpPr>
              <a:spLocks noChangeArrowheads="1"/>
            </p:cNvSpPr>
            <p:nvPr/>
          </p:nvSpPr>
          <p:spPr bwMode="auto">
            <a:xfrm>
              <a:off x="5016" y="2107"/>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87" name="AutoShape 235"/>
            <p:cNvSpPr>
              <a:spLocks noChangeArrowheads="1"/>
            </p:cNvSpPr>
            <p:nvPr/>
          </p:nvSpPr>
          <p:spPr bwMode="auto">
            <a:xfrm>
              <a:off x="5016" y="2203"/>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88" name="AutoShape 236"/>
            <p:cNvSpPr>
              <a:spLocks noChangeArrowheads="1"/>
            </p:cNvSpPr>
            <p:nvPr/>
          </p:nvSpPr>
          <p:spPr bwMode="auto">
            <a:xfrm>
              <a:off x="5016" y="1627"/>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89" name="AutoShape 237"/>
            <p:cNvSpPr>
              <a:spLocks noChangeArrowheads="1"/>
            </p:cNvSpPr>
            <p:nvPr/>
          </p:nvSpPr>
          <p:spPr bwMode="auto">
            <a:xfrm>
              <a:off x="5016" y="1465"/>
              <a:ext cx="48" cy="48"/>
            </a:xfrm>
            <a:prstGeom prst="flowChartConnector">
              <a:avLst/>
            </a:prstGeom>
            <a:noFill/>
            <a:ln w="28575" cap="sq">
              <a:solidFill>
                <a:schemeClr val="tx1"/>
              </a:solidFill>
              <a:rou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90" name="AutoShape 238"/>
            <p:cNvSpPr>
              <a:spLocks noChangeArrowheads="1"/>
            </p:cNvSpPr>
            <p:nvPr/>
          </p:nvSpPr>
          <p:spPr bwMode="auto">
            <a:xfrm rot="5291475">
              <a:off x="1266" y="1609"/>
              <a:ext cx="96" cy="96"/>
            </a:xfrm>
            <a:prstGeom prst="triangle">
              <a:avLst>
                <a:gd name="adj" fmla="val 50000"/>
              </a:avLst>
            </a:prstGeom>
            <a:noFill/>
            <a:ln w="19050"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91" name="AutoShape 239"/>
            <p:cNvSpPr>
              <a:spLocks noChangeArrowheads="1"/>
            </p:cNvSpPr>
            <p:nvPr/>
          </p:nvSpPr>
          <p:spPr bwMode="auto">
            <a:xfrm>
              <a:off x="1362" y="1633"/>
              <a:ext cx="48" cy="48"/>
            </a:xfrm>
            <a:prstGeom prst="flowChartConnector">
              <a:avLst/>
            </a:prstGeom>
            <a:noFill/>
            <a:ln w="19050" cap="sq">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92" name="Line 240"/>
            <p:cNvSpPr>
              <a:spLocks noChangeShapeType="1"/>
            </p:cNvSpPr>
            <p:nvPr/>
          </p:nvSpPr>
          <p:spPr bwMode="auto">
            <a:xfrm flipH="1">
              <a:off x="1170" y="1657"/>
              <a:ext cx="96"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93" name="AutoShape 241"/>
            <p:cNvSpPr>
              <a:spLocks noChangeArrowheads="1"/>
            </p:cNvSpPr>
            <p:nvPr/>
          </p:nvSpPr>
          <p:spPr bwMode="auto">
            <a:xfrm rot="5291475">
              <a:off x="1266" y="1699"/>
              <a:ext cx="96" cy="96"/>
            </a:xfrm>
            <a:prstGeom prst="triangle">
              <a:avLst>
                <a:gd name="adj" fmla="val 50000"/>
              </a:avLst>
            </a:prstGeom>
            <a:noFill/>
            <a:ln w="19050"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94" name="AutoShape 242"/>
            <p:cNvSpPr>
              <a:spLocks noChangeArrowheads="1"/>
            </p:cNvSpPr>
            <p:nvPr/>
          </p:nvSpPr>
          <p:spPr bwMode="auto">
            <a:xfrm>
              <a:off x="1362" y="1723"/>
              <a:ext cx="48" cy="48"/>
            </a:xfrm>
            <a:prstGeom prst="flowChartConnector">
              <a:avLst/>
            </a:prstGeom>
            <a:noFill/>
            <a:ln w="19050" cap="sq">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95" name="Line 243"/>
            <p:cNvSpPr>
              <a:spLocks noChangeShapeType="1"/>
            </p:cNvSpPr>
            <p:nvPr/>
          </p:nvSpPr>
          <p:spPr bwMode="auto">
            <a:xfrm flipH="1">
              <a:off x="1170" y="1747"/>
              <a:ext cx="96"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96" name="AutoShape 244"/>
            <p:cNvSpPr>
              <a:spLocks noChangeArrowheads="1"/>
            </p:cNvSpPr>
            <p:nvPr/>
          </p:nvSpPr>
          <p:spPr bwMode="auto">
            <a:xfrm rot="5291475">
              <a:off x="1266" y="1795"/>
              <a:ext cx="96" cy="96"/>
            </a:xfrm>
            <a:prstGeom prst="triangle">
              <a:avLst>
                <a:gd name="adj" fmla="val 50000"/>
              </a:avLst>
            </a:prstGeom>
            <a:noFill/>
            <a:ln w="19050"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97" name="AutoShape 245"/>
            <p:cNvSpPr>
              <a:spLocks noChangeArrowheads="1"/>
            </p:cNvSpPr>
            <p:nvPr/>
          </p:nvSpPr>
          <p:spPr bwMode="auto">
            <a:xfrm>
              <a:off x="1362" y="1819"/>
              <a:ext cx="48" cy="48"/>
            </a:xfrm>
            <a:prstGeom prst="flowChartConnector">
              <a:avLst/>
            </a:prstGeom>
            <a:noFill/>
            <a:ln w="19050" cap="sq">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798" name="Line 246"/>
            <p:cNvSpPr>
              <a:spLocks noChangeShapeType="1"/>
            </p:cNvSpPr>
            <p:nvPr/>
          </p:nvSpPr>
          <p:spPr bwMode="auto">
            <a:xfrm flipH="1">
              <a:off x="1170" y="1843"/>
              <a:ext cx="96"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99" name="AutoShape 247"/>
            <p:cNvSpPr>
              <a:spLocks noChangeArrowheads="1"/>
            </p:cNvSpPr>
            <p:nvPr/>
          </p:nvSpPr>
          <p:spPr bwMode="auto">
            <a:xfrm rot="5291475">
              <a:off x="1266" y="1891"/>
              <a:ext cx="96" cy="96"/>
            </a:xfrm>
            <a:prstGeom prst="triangle">
              <a:avLst>
                <a:gd name="adj" fmla="val 50000"/>
              </a:avLst>
            </a:prstGeom>
            <a:noFill/>
            <a:ln w="19050"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00" name="AutoShape 248"/>
            <p:cNvSpPr>
              <a:spLocks noChangeArrowheads="1"/>
            </p:cNvSpPr>
            <p:nvPr/>
          </p:nvSpPr>
          <p:spPr bwMode="auto">
            <a:xfrm>
              <a:off x="1362" y="1915"/>
              <a:ext cx="48" cy="48"/>
            </a:xfrm>
            <a:prstGeom prst="flowChartConnector">
              <a:avLst/>
            </a:prstGeom>
            <a:noFill/>
            <a:ln w="19050" cap="sq">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01" name="Line 249"/>
            <p:cNvSpPr>
              <a:spLocks noChangeShapeType="1"/>
            </p:cNvSpPr>
            <p:nvPr/>
          </p:nvSpPr>
          <p:spPr bwMode="auto">
            <a:xfrm flipH="1">
              <a:off x="1170" y="1939"/>
              <a:ext cx="96"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02" name="AutoShape 250"/>
            <p:cNvSpPr>
              <a:spLocks noChangeArrowheads="1"/>
            </p:cNvSpPr>
            <p:nvPr/>
          </p:nvSpPr>
          <p:spPr bwMode="auto">
            <a:xfrm rot="5291475">
              <a:off x="1266" y="1987"/>
              <a:ext cx="96" cy="96"/>
            </a:xfrm>
            <a:prstGeom prst="triangle">
              <a:avLst>
                <a:gd name="adj" fmla="val 50000"/>
              </a:avLst>
            </a:prstGeom>
            <a:noFill/>
            <a:ln w="19050"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03" name="AutoShape 251"/>
            <p:cNvSpPr>
              <a:spLocks noChangeArrowheads="1"/>
            </p:cNvSpPr>
            <p:nvPr/>
          </p:nvSpPr>
          <p:spPr bwMode="auto">
            <a:xfrm>
              <a:off x="1362" y="2011"/>
              <a:ext cx="48" cy="48"/>
            </a:xfrm>
            <a:prstGeom prst="flowChartConnector">
              <a:avLst/>
            </a:prstGeom>
            <a:noFill/>
            <a:ln w="19050" cap="sq">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04" name="Line 252"/>
            <p:cNvSpPr>
              <a:spLocks noChangeShapeType="1"/>
            </p:cNvSpPr>
            <p:nvPr/>
          </p:nvSpPr>
          <p:spPr bwMode="auto">
            <a:xfrm flipH="1">
              <a:off x="1170" y="2035"/>
              <a:ext cx="96"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05" name="AutoShape 253"/>
            <p:cNvSpPr>
              <a:spLocks noChangeArrowheads="1"/>
            </p:cNvSpPr>
            <p:nvPr/>
          </p:nvSpPr>
          <p:spPr bwMode="auto">
            <a:xfrm rot="5291475">
              <a:off x="1266" y="2083"/>
              <a:ext cx="96" cy="96"/>
            </a:xfrm>
            <a:prstGeom prst="triangle">
              <a:avLst>
                <a:gd name="adj" fmla="val 50000"/>
              </a:avLst>
            </a:prstGeom>
            <a:noFill/>
            <a:ln w="19050"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06" name="AutoShape 254"/>
            <p:cNvSpPr>
              <a:spLocks noChangeArrowheads="1"/>
            </p:cNvSpPr>
            <p:nvPr/>
          </p:nvSpPr>
          <p:spPr bwMode="auto">
            <a:xfrm>
              <a:off x="1362" y="2107"/>
              <a:ext cx="48" cy="48"/>
            </a:xfrm>
            <a:prstGeom prst="flowChartConnector">
              <a:avLst/>
            </a:prstGeom>
            <a:noFill/>
            <a:ln w="19050" cap="sq">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07" name="Line 255"/>
            <p:cNvSpPr>
              <a:spLocks noChangeShapeType="1"/>
            </p:cNvSpPr>
            <p:nvPr/>
          </p:nvSpPr>
          <p:spPr bwMode="auto">
            <a:xfrm flipH="1">
              <a:off x="1170" y="2131"/>
              <a:ext cx="96"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08" name="AutoShape 256"/>
            <p:cNvSpPr>
              <a:spLocks noChangeArrowheads="1"/>
            </p:cNvSpPr>
            <p:nvPr/>
          </p:nvSpPr>
          <p:spPr bwMode="auto">
            <a:xfrm rot="5291475">
              <a:off x="1266" y="2179"/>
              <a:ext cx="96" cy="96"/>
            </a:xfrm>
            <a:prstGeom prst="triangle">
              <a:avLst>
                <a:gd name="adj" fmla="val 50000"/>
              </a:avLst>
            </a:prstGeom>
            <a:noFill/>
            <a:ln w="19050"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09" name="AutoShape 257"/>
            <p:cNvSpPr>
              <a:spLocks noChangeArrowheads="1"/>
            </p:cNvSpPr>
            <p:nvPr/>
          </p:nvSpPr>
          <p:spPr bwMode="auto">
            <a:xfrm>
              <a:off x="1362" y="2203"/>
              <a:ext cx="48" cy="48"/>
            </a:xfrm>
            <a:prstGeom prst="flowChartConnector">
              <a:avLst/>
            </a:prstGeom>
            <a:noFill/>
            <a:ln w="19050" cap="sq">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10" name="Line 258"/>
            <p:cNvSpPr>
              <a:spLocks noChangeShapeType="1"/>
            </p:cNvSpPr>
            <p:nvPr/>
          </p:nvSpPr>
          <p:spPr bwMode="auto">
            <a:xfrm flipH="1">
              <a:off x="1170" y="2227"/>
              <a:ext cx="96"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11" name="AutoShape 259"/>
            <p:cNvSpPr>
              <a:spLocks noChangeArrowheads="1"/>
            </p:cNvSpPr>
            <p:nvPr/>
          </p:nvSpPr>
          <p:spPr bwMode="auto">
            <a:xfrm rot="5291475">
              <a:off x="1266" y="2275"/>
              <a:ext cx="96" cy="96"/>
            </a:xfrm>
            <a:prstGeom prst="triangle">
              <a:avLst>
                <a:gd name="adj" fmla="val 50000"/>
              </a:avLst>
            </a:prstGeom>
            <a:noFill/>
            <a:ln w="19050"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12" name="AutoShape 260"/>
            <p:cNvSpPr>
              <a:spLocks noChangeArrowheads="1"/>
            </p:cNvSpPr>
            <p:nvPr/>
          </p:nvSpPr>
          <p:spPr bwMode="auto">
            <a:xfrm>
              <a:off x="1362" y="2299"/>
              <a:ext cx="48" cy="48"/>
            </a:xfrm>
            <a:prstGeom prst="flowChartConnector">
              <a:avLst/>
            </a:prstGeom>
            <a:noFill/>
            <a:ln w="19050" cap="sq">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13" name="Line 261"/>
            <p:cNvSpPr>
              <a:spLocks noChangeShapeType="1"/>
            </p:cNvSpPr>
            <p:nvPr/>
          </p:nvSpPr>
          <p:spPr bwMode="auto">
            <a:xfrm flipH="1">
              <a:off x="1170" y="2323"/>
              <a:ext cx="96"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14" name="Rectangle 262"/>
            <p:cNvSpPr>
              <a:spLocks noChangeArrowheads="1"/>
            </p:cNvSpPr>
            <p:nvPr/>
          </p:nvSpPr>
          <p:spPr bwMode="auto">
            <a:xfrm>
              <a:off x="384" y="1561"/>
              <a:ext cx="768" cy="2496"/>
            </a:xfrm>
            <a:prstGeom prst="rect">
              <a:avLst/>
            </a:prstGeom>
            <a:solidFill>
              <a:srgbClr val="E5BEF4"/>
            </a:solidFill>
            <a:ln w="9525" cap="sq">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15" name="AutoShape 263"/>
            <p:cNvSpPr>
              <a:spLocks noChangeArrowheads="1"/>
            </p:cNvSpPr>
            <p:nvPr/>
          </p:nvSpPr>
          <p:spPr bwMode="auto">
            <a:xfrm rot="5291475">
              <a:off x="1248" y="3241"/>
              <a:ext cx="96" cy="96"/>
            </a:xfrm>
            <a:prstGeom prst="triangle">
              <a:avLst>
                <a:gd name="adj" fmla="val 50000"/>
              </a:avLst>
            </a:prstGeom>
            <a:noFill/>
            <a:ln w="19050"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16" name="AutoShape 264"/>
            <p:cNvSpPr>
              <a:spLocks noChangeArrowheads="1"/>
            </p:cNvSpPr>
            <p:nvPr/>
          </p:nvSpPr>
          <p:spPr bwMode="auto">
            <a:xfrm>
              <a:off x="1344" y="3265"/>
              <a:ext cx="48" cy="48"/>
            </a:xfrm>
            <a:prstGeom prst="flowChartConnector">
              <a:avLst/>
            </a:prstGeom>
            <a:noFill/>
            <a:ln w="19050" cap="sq">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17" name="Line 265"/>
            <p:cNvSpPr>
              <a:spLocks noChangeShapeType="1"/>
            </p:cNvSpPr>
            <p:nvPr/>
          </p:nvSpPr>
          <p:spPr bwMode="auto">
            <a:xfrm flipH="1">
              <a:off x="1152" y="3289"/>
              <a:ext cx="96"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18" name="AutoShape 266"/>
            <p:cNvSpPr>
              <a:spLocks noChangeArrowheads="1"/>
            </p:cNvSpPr>
            <p:nvPr/>
          </p:nvSpPr>
          <p:spPr bwMode="auto">
            <a:xfrm rot="5291475">
              <a:off x="1248" y="3385"/>
              <a:ext cx="96" cy="96"/>
            </a:xfrm>
            <a:prstGeom prst="triangle">
              <a:avLst>
                <a:gd name="adj" fmla="val 50000"/>
              </a:avLst>
            </a:prstGeom>
            <a:noFill/>
            <a:ln w="19050"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19" name="AutoShape 267"/>
            <p:cNvSpPr>
              <a:spLocks noChangeArrowheads="1"/>
            </p:cNvSpPr>
            <p:nvPr/>
          </p:nvSpPr>
          <p:spPr bwMode="auto">
            <a:xfrm>
              <a:off x="1344" y="3409"/>
              <a:ext cx="48" cy="48"/>
            </a:xfrm>
            <a:prstGeom prst="flowChartConnector">
              <a:avLst/>
            </a:prstGeom>
            <a:noFill/>
            <a:ln w="19050" cap="sq">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20" name="Line 268"/>
            <p:cNvSpPr>
              <a:spLocks noChangeShapeType="1"/>
            </p:cNvSpPr>
            <p:nvPr/>
          </p:nvSpPr>
          <p:spPr bwMode="auto">
            <a:xfrm flipH="1">
              <a:off x="1152" y="3433"/>
              <a:ext cx="96"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21" name="AutoShape 269"/>
            <p:cNvSpPr>
              <a:spLocks noChangeArrowheads="1"/>
            </p:cNvSpPr>
            <p:nvPr/>
          </p:nvSpPr>
          <p:spPr bwMode="auto">
            <a:xfrm rot="5291475">
              <a:off x="1248" y="3529"/>
              <a:ext cx="96" cy="96"/>
            </a:xfrm>
            <a:prstGeom prst="triangle">
              <a:avLst>
                <a:gd name="adj" fmla="val 50000"/>
              </a:avLst>
            </a:prstGeom>
            <a:noFill/>
            <a:ln w="19050"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22" name="AutoShape 270"/>
            <p:cNvSpPr>
              <a:spLocks noChangeArrowheads="1"/>
            </p:cNvSpPr>
            <p:nvPr/>
          </p:nvSpPr>
          <p:spPr bwMode="auto">
            <a:xfrm>
              <a:off x="1344" y="3553"/>
              <a:ext cx="48" cy="48"/>
            </a:xfrm>
            <a:prstGeom prst="flowChartConnector">
              <a:avLst/>
            </a:prstGeom>
            <a:noFill/>
            <a:ln w="19050" cap="sq">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23" name="Line 271"/>
            <p:cNvSpPr>
              <a:spLocks noChangeShapeType="1"/>
            </p:cNvSpPr>
            <p:nvPr/>
          </p:nvSpPr>
          <p:spPr bwMode="auto">
            <a:xfrm flipH="1">
              <a:off x="1152" y="3577"/>
              <a:ext cx="96"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24" name="AutoShape 272"/>
            <p:cNvSpPr>
              <a:spLocks noChangeArrowheads="1"/>
            </p:cNvSpPr>
            <p:nvPr/>
          </p:nvSpPr>
          <p:spPr bwMode="auto">
            <a:xfrm rot="5291475">
              <a:off x="1248" y="3673"/>
              <a:ext cx="96" cy="96"/>
            </a:xfrm>
            <a:prstGeom prst="triangle">
              <a:avLst>
                <a:gd name="adj" fmla="val 50000"/>
              </a:avLst>
            </a:prstGeom>
            <a:noFill/>
            <a:ln w="19050"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25" name="AutoShape 273"/>
            <p:cNvSpPr>
              <a:spLocks noChangeArrowheads="1"/>
            </p:cNvSpPr>
            <p:nvPr/>
          </p:nvSpPr>
          <p:spPr bwMode="auto">
            <a:xfrm>
              <a:off x="1344" y="3697"/>
              <a:ext cx="48" cy="48"/>
            </a:xfrm>
            <a:prstGeom prst="flowChartConnector">
              <a:avLst/>
            </a:prstGeom>
            <a:noFill/>
            <a:ln w="19050" cap="sq">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26" name="Line 274"/>
            <p:cNvSpPr>
              <a:spLocks noChangeShapeType="1"/>
            </p:cNvSpPr>
            <p:nvPr/>
          </p:nvSpPr>
          <p:spPr bwMode="auto">
            <a:xfrm flipH="1">
              <a:off x="1152" y="3721"/>
              <a:ext cx="96"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27" name="AutoShape 275"/>
            <p:cNvSpPr>
              <a:spLocks noChangeArrowheads="1"/>
            </p:cNvSpPr>
            <p:nvPr/>
          </p:nvSpPr>
          <p:spPr bwMode="auto">
            <a:xfrm rot="5291475">
              <a:off x="1248" y="3817"/>
              <a:ext cx="96" cy="96"/>
            </a:xfrm>
            <a:prstGeom prst="triangle">
              <a:avLst>
                <a:gd name="adj" fmla="val 50000"/>
              </a:avLst>
            </a:prstGeom>
            <a:noFill/>
            <a:ln w="19050"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28" name="AutoShape 276"/>
            <p:cNvSpPr>
              <a:spLocks noChangeArrowheads="1"/>
            </p:cNvSpPr>
            <p:nvPr/>
          </p:nvSpPr>
          <p:spPr bwMode="auto">
            <a:xfrm>
              <a:off x="1344" y="3841"/>
              <a:ext cx="48" cy="48"/>
            </a:xfrm>
            <a:prstGeom prst="flowChartConnector">
              <a:avLst/>
            </a:prstGeom>
            <a:noFill/>
            <a:ln w="19050" cap="sq">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29" name="Line 277"/>
            <p:cNvSpPr>
              <a:spLocks noChangeShapeType="1"/>
            </p:cNvSpPr>
            <p:nvPr/>
          </p:nvSpPr>
          <p:spPr bwMode="auto">
            <a:xfrm flipH="1">
              <a:off x="1152" y="3865"/>
              <a:ext cx="96"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30" name="AutoShape 278"/>
            <p:cNvSpPr>
              <a:spLocks noChangeArrowheads="1"/>
            </p:cNvSpPr>
            <p:nvPr/>
          </p:nvSpPr>
          <p:spPr bwMode="auto">
            <a:xfrm rot="5291475">
              <a:off x="1248" y="3961"/>
              <a:ext cx="96" cy="96"/>
            </a:xfrm>
            <a:prstGeom prst="triangle">
              <a:avLst>
                <a:gd name="adj" fmla="val 50000"/>
              </a:avLst>
            </a:prstGeom>
            <a:noFill/>
            <a:ln w="19050"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31" name="AutoShape 279"/>
            <p:cNvSpPr>
              <a:spLocks noChangeArrowheads="1"/>
            </p:cNvSpPr>
            <p:nvPr/>
          </p:nvSpPr>
          <p:spPr bwMode="auto">
            <a:xfrm>
              <a:off x="1344" y="3985"/>
              <a:ext cx="48" cy="48"/>
            </a:xfrm>
            <a:prstGeom prst="flowChartConnector">
              <a:avLst/>
            </a:prstGeom>
            <a:noFill/>
            <a:ln w="19050" cap="sq">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32" name="Line 280"/>
            <p:cNvSpPr>
              <a:spLocks noChangeShapeType="1"/>
            </p:cNvSpPr>
            <p:nvPr/>
          </p:nvSpPr>
          <p:spPr bwMode="auto">
            <a:xfrm flipH="1">
              <a:off x="1152" y="4009"/>
              <a:ext cx="96"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33" name="Line 281"/>
            <p:cNvSpPr>
              <a:spLocks noChangeShapeType="1"/>
            </p:cNvSpPr>
            <p:nvPr/>
          </p:nvSpPr>
          <p:spPr bwMode="auto">
            <a:xfrm>
              <a:off x="1392" y="3289"/>
              <a:ext cx="432"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34" name="Line 282"/>
            <p:cNvSpPr>
              <a:spLocks noChangeShapeType="1"/>
            </p:cNvSpPr>
            <p:nvPr/>
          </p:nvSpPr>
          <p:spPr bwMode="auto">
            <a:xfrm flipV="1">
              <a:off x="1830" y="3145"/>
              <a:ext cx="0" cy="14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35" name="Line 283"/>
            <p:cNvSpPr>
              <a:spLocks noChangeShapeType="1"/>
            </p:cNvSpPr>
            <p:nvPr/>
          </p:nvSpPr>
          <p:spPr bwMode="auto">
            <a:xfrm>
              <a:off x="1392" y="3433"/>
              <a:ext cx="960"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36" name="Line 284"/>
            <p:cNvSpPr>
              <a:spLocks noChangeShapeType="1"/>
            </p:cNvSpPr>
            <p:nvPr/>
          </p:nvSpPr>
          <p:spPr bwMode="auto">
            <a:xfrm flipV="1">
              <a:off x="2352" y="3145"/>
              <a:ext cx="0" cy="288"/>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37" name="Line 285"/>
            <p:cNvSpPr>
              <a:spLocks noChangeShapeType="1"/>
            </p:cNvSpPr>
            <p:nvPr/>
          </p:nvSpPr>
          <p:spPr bwMode="auto">
            <a:xfrm>
              <a:off x="1392" y="3577"/>
              <a:ext cx="1488"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38" name="Line 286"/>
            <p:cNvSpPr>
              <a:spLocks noChangeShapeType="1"/>
            </p:cNvSpPr>
            <p:nvPr/>
          </p:nvSpPr>
          <p:spPr bwMode="auto">
            <a:xfrm flipV="1">
              <a:off x="2880" y="3145"/>
              <a:ext cx="0" cy="432"/>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39" name="Line 287"/>
            <p:cNvSpPr>
              <a:spLocks noChangeShapeType="1"/>
            </p:cNvSpPr>
            <p:nvPr/>
          </p:nvSpPr>
          <p:spPr bwMode="auto">
            <a:xfrm>
              <a:off x="1392" y="3721"/>
              <a:ext cx="2016"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40" name="Line 288"/>
            <p:cNvSpPr>
              <a:spLocks noChangeShapeType="1"/>
            </p:cNvSpPr>
            <p:nvPr/>
          </p:nvSpPr>
          <p:spPr bwMode="auto">
            <a:xfrm flipV="1">
              <a:off x="3408" y="3145"/>
              <a:ext cx="0" cy="576"/>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41" name="Line 289"/>
            <p:cNvSpPr>
              <a:spLocks noChangeShapeType="1"/>
            </p:cNvSpPr>
            <p:nvPr/>
          </p:nvSpPr>
          <p:spPr bwMode="auto">
            <a:xfrm>
              <a:off x="1392" y="3865"/>
              <a:ext cx="2544"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42" name="Line 290"/>
            <p:cNvSpPr>
              <a:spLocks noChangeShapeType="1"/>
            </p:cNvSpPr>
            <p:nvPr/>
          </p:nvSpPr>
          <p:spPr bwMode="auto">
            <a:xfrm>
              <a:off x="3936" y="3145"/>
              <a:ext cx="0" cy="72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43" name="Line 291"/>
            <p:cNvSpPr>
              <a:spLocks noChangeShapeType="1"/>
            </p:cNvSpPr>
            <p:nvPr/>
          </p:nvSpPr>
          <p:spPr bwMode="auto">
            <a:xfrm>
              <a:off x="1392" y="4009"/>
              <a:ext cx="3072"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44" name="Line 292"/>
            <p:cNvSpPr>
              <a:spLocks noChangeShapeType="1"/>
            </p:cNvSpPr>
            <p:nvPr/>
          </p:nvSpPr>
          <p:spPr bwMode="auto">
            <a:xfrm flipV="1">
              <a:off x="4464" y="3145"/>
              <a:ext cx="0" cy="864"/>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45" name="Line 293"/>
            <p:cNvSpPr>
              <a:spLocks noChangeShapeType="1"/>
            </p:cNvSpPr>
            <p:nvPr/>
          </p:nvSpPr>
          <p:spPr bwMode="auto">
            <a:xfrm>
              <a:off x="1824" y="3289"/>
              <a:ext cx="2928"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46" name="Line 294"/>
            <p:cNvSpPr>
              <a:spLocks noChangeShapeType="1"/>
            </p:cNvSpPr>
            <p:nvPr/>
          </p:nvSpPr>
          <p:spPr bwMode="auto">
            <a:xfrm>
              <a:off x="5040" y="2329"/>
              <a:ext cx="0" cy="168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47" name="Rectangle 295"/>
            <p:cNvSpPr>
              <a:spLocks noChangeArrowheads="1"/>
            </p:cNvSpPr>
            <p:nvPr/>
          </p:nvSpPr>
          <p:spPr bwMode="auto">
            <a:xfrm>
              <a:off x="4752" y="3985"/>
              <a:ext cx="192" cy="48"/>
            </a:xfrm>
            <a:prstGeom prst="rect">
              <a:avLst/>
            </a:prstGeom>
            <a:noFill/>
            <a:ln w="9525"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48" name="Line 296"/>
            <p:cNvSpPr>
              <a:spLocks noChangeShapeType="1"/>
            </p:cNvSpPr>
            <p:nvPr/>
          </p:nvSpPr>
          <p:spPr bwMode="auto">
            <a:xfrm>
              <a:off x="4944" y="4009"/>
              <a:ext cx="96"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49" name="Rectangle 297"/>
            <p:cNvSpPr>
              <a:spLocks noChangeArrowheads="1"/>
            </p:cNvSpPr>
            <p:nvPr/>
          </p:nvSpPr>
          <p:spPr bwMode="auto">
            <a:xfrm>
              <a:off x="4752" y="3847"/>
              <a:ext cx="192" cy="48"/>
            </a:xfrm>
            <a:prstGeom prst="rect">
              <a:avLst/>
            </a:prstGeom>
            <a:noFill/>
            <a:ln w="9525"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50" name="Line 298"/>
            <p:cNvSpPr>
              <a:spLocks noChangeShapeType="1"/>
            </p:cNvSpPr>
            <p:nvPr/>
          </p:nvSpPr>
          <p:spPr bwMode="auto">
            <a:xfrm>
              <a:off x="4944" y="3871"/>
              <a:ext cx="96"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51" name="Rectangle 299"/>
            <p:cNvSpPr>
              <a:spLocks noChangeArrowheads="1"/>
            </p:cNvSpPr>
            <p:nvPr/>
          </p:nvSpPr>
          <p:spPr bwMode="auto">
            <a:xfrm>
              <a:off x="4752" y="3265"/>
              <a:ext cx="192" cy="48"/>
            </a:xfrm>
            <a:prstGeom prst="rect">
              <a:avLst/>
            </a:prstGeom>
            <a:noFill/>
            <a:ln w="9525"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52" name="Line 300"/>
            <p:cNvSpPr>
              <a:spLocks noChangeShapeType="1"/>
            </p:cNvSpPr>
            <p:nvPr/>
          </p:nvSpPr>
          <p:spPr bwMode="auto">
            <a:xfrm>
              <a:off x="4944" y="3289"/>
              <a:ext cx="96"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53" name="Rectangle 301"/>
            <p:cNvSpPr>
              <a:spLocks noChangeArrowheads="1"/>
            </p:cNvSpPr>
            <p:nvPr/>
          </p:nvSpPr>
          <p:spPr bwMode="auto">
            <a:xfrm>
              <a:off x="4752" y="3409"/>
              <a:ext cx="192" cy="48"/>
            </a:xfrm>
            <a:prstGeom prst="rect">
              <a:avLst/>
            </a:prstGeom>
            <a:noFill/>
            <a:ln w="9525"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54" name="Line 302"/>
            <p:cNvSpPr>
              <a:spLocks noChangeShapeType="1"/>
            </p:cNvSpPr>
            <p:nvPr/>
          </p:nvSpPr>
          <p:spPr bwMode="auto">
            <a:xfrm>
              <a:off x="4944" y="3433"/>
              <a:ext cx="96"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55" name="Rectangle 303"/>
            <p:cNvSpPr>
              <a:spLocks noChangeArrowheads="1"/>
            </p:cNvSpPr>
            <p:nvPr/>
          </p:nvSpPr>
          <p:spPr bwMode="auto">
            <a:xfrm>
              <a:off x="4752" y="3553"/>
              <a:ext cx="192" cy="48"/>
            </a:xfrm>
            <a:prstGeom prst="rect">
              <a:avLst/>
            </a:prstGeom>
            <a:noFill/>
            <a:ln w="9525"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56" name="Line 304"/>
            <p:cNvSpPr>
              <a:spLocks noChangeShapeType="1"/>
            </p:cNvSpPr>
            <p:nvPr/>
          </p:nvSpPr>
          <p:spPr bwMode="auto">
            <a:xfrm>
              <a:off x="4944" y="3577"/>
              <a:ext cx="96"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57" name="Rectangle 305"/>
            <p:cNvSpPr>
              <a:spLocks noChangeArrowheads="1"/>
            </p:cNvSpPr>
            <p:nvPr/>
          </p:nvSpPr>
          <p:spPr bwMode="auto">
            <a:xfrm>
              <a:off x="4752" y="3697"/>
              <a:ext cx="192" cy="48"/>
            </a:xfrm>
            <a:prstGeom prst="rect">
              <a:avLst/>
            </a:prstGeom>
            <a:noFill/>
            <a:ln w="9525"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58" name="Line 306"/>
            <p:cNvSpPr>
              <a:spLocks noChangeShapeType="1"/>
            </p:cNvSpPr>
            <p:nvPr/>
          </p:nvSpPr>
          <p:spPr bwMode="auto">
            <a:xfrm>
              <a:off x="4944" y="3721"/>
              <a:ext cx="96"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59" name="AutoShape 307"/>
            <p:cNvSpPr>
              <a:spLocks noChangeArrowheads="1"/>
            </p:cNvSpPr>
            <p:nvPr/>
          </p:nvSpPr>
          <p:spPr bwMode="auto">
            <a:xfrm>
              <a:off x="5010" y="3409"/>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60" name="AutoShape 308"/>
            <p:cNvSpPr>
              <a:spLocks noChangeArrowheads="1"/>
            </p:cNvSpPr>
            <p:nvPr/>
          </p:nvSpPr>
          <p:spPr bwMode="auto">
            <a:xfrm>
              <a:off x="5016" y="3553"/>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61" name="AutoShape 309"/>
            <p:cNvSpPr>
              <a:spLocks noChangeArrowheads="1"/>
            </p:cNvSpPr>
            <p:nvPr/>
          </p:nvSpPr>
          <p:spPr bwMode="auto">
            <a:xfrm>
              <a:off x="5016" y="3697"/>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62" name="AutoShape 310"/>
            <p:cNvSpPr>
              <a:spLocks noChangeArrowheads="1"/>
            </p:cNvSpPr>
            <p:nvPr/>
          </p:nvSpPr>
          <p:spPr bwMode="auto">
            <a:xfrm>
              <a:off x="5016" y="3841"/>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63" name="AutoShape 311"/>
            <p:cNvSpPr>
              <a:spLocks noChangeArrowheads="1"/>
            </p:cNvSpPr>
            <p:nvPr/>
          </p:nvSpPr>
          <p:spPr bwMode="auto">
            <a:xfrm>
              <a:off x="5016" y="3265"/>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64" name="Line 312"/>
            <p:cNvSpPr>
              <a:spLocks noChangeShapeType="1"/>
            </p:cNvSpPr>
            <p:nvPr/>
          </p:nvSpPr>
          <p:spPr bwMode="auto">
            <a:xfrm>
              <a:off x="2352" y="3433"/>
              <a:ext cx="2400"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65" name="Line 313"/>
            <p:cNvSpPr>
              <a:spLocks noChangeShapeType="1"/>
            </p:cNvSpPr>
            <p:nvPr/>
          </p:nvSpPr>
          <p:spPr bwMode="auto">
            <a:xfrm>
              <a:off x="2880" y="3577"/>
              <a:ext cx="1872"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66" name="Line 314"/>
            <p:cNvSpPr>
              <a:spLocks noChangeShapeType="1"/>
            </p:cNvSpPr>
            <p:nvPr/>
          </p:nvSpPr>
          <p:spPr bwMode="auto">
            <a:xfrm>
              <a:off x="3408" y="3721"/>
              <a:ext cx="1344"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67" name="Line 315"/>
            <p:cNvSpPr>
              <a:spLocks noChangeShapeType="1"/>
            </p:cNvSpPr>
            <p:nvPr/>
          </p:nvSpPr>
          <p:spPr bwMode="auto">
            <a:xfrm>
              <a:off x="3936" y="3865"/>
              <a:ext cx="816"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68" name="Line 316"/>
            <p:cNvSpPr>
              <a:spLocks noChangeShapeType="1"/>
            </p:cNvSpPr>
            <p:nvPr/>
          </p:nvSpPr>
          <p:spPr bwMode="auto">
            <a:xfrm>
              <a:off x="4464" y="4009"/>
              <a:ext cx="288" cy="0"/>
            </a:xfrm>
            <a:prstGeom prst="line">
              <a:avLst/>
            </a:prstGeom>
            <a:noFill/>
            <a:ln w="952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69" name="AutoShape 317"/>
            <p:cNvSpPr>
              <a:spLocks noChangeArrowheads="1"/>
            </p:cNvSpPr>
            <p:nvPr/>
          </p:nvSpPr>
          <p:spPr bwMode="auto">
            <a:xfrm>
              <a:off x="5016" y="2305"/>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70" name="AutoShape 318"/>
            <p:cNvSpPr>
              <a:spLocks noChangeArrowheads="1"/>
            </p:cNvSpPr>
            <p:nvPr/>
          </p:nvSpPr>
          <p:spPr bwMode="auto">
            <a:xfrm>
              <a:off x="1806" y="3265"/>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71" name="AutoShape 319"/>
            <p:cNvSpPr>
              <a:spLocks noChangeArrowheads="1"/>
            </p:cNvSpPr>
            <p:nvPr/>
          </p:nvSpPr>
          <p:spPr bwMode="auto">
            <a:xfrm>
              <a:off x="2328" y="3409"/>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72" name="AutoShape 320"/>
            <p:cNvSpPr>
              <a:spLocks noChangeArrowheads="1"/>
            </p:cNvSpPr>
            <p:nvPr/>
          </p:nvSpPr>
          <p:spPr bwMode="auto">
            <a:xfrm>
              <a:off x="2856" y="3553"/>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73" name="AutoShape 321"/>
            <p:cNvSpPr>
              <a:spLocks noChangeArrowheads="1"/>
            </p:cNvSpPr>
            <p:nvPr/>
          </p:nvSpPr>
          <p:spPr bwMode="auto">
            <a:xfrm>
              <a:off x="3384" y="3697"/>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74" name="AutoShape 322"/>
            <p:cNvSpPr>
              <a:spLocks noChangeArrowheads="1"/>
            </p:cNvSpPr>
            <p:nvPr/>
          </p:nvSpPr>
          <p:spPr bwMode="auto">
            <a:xfrm>
              <a:off x="3912" y="3841"/>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75" name="AutoShape 323"/>
            <p:cNvSpPr>
              <a:spLocks noChangeArrowheads="1"/>
            </p:cNvSpPr>
            <p:nvPr/>
          </p:nvSpPr>
          <p:spPr bwMode="auto">
            <a:xfrm>
              <a:off x="4440" y="3985"/>
              <a:ext cx="48" cy="48"/>
            </a:xfrm>
            <a:prstGeom prst="flowChartConnector">
              <a:avLst/>
            </a:prstGeom>
            <a:solidFill>
              <a:schemeClr val="tx1"/>
            </a:solidFill>
            <a:ln w="9525"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76" name="Text Box 324"/>
            <p:cNvSpPr txBox="1">
              <a:spLocks noChangeArrowheads="1"/>
            </p:cNvSpPr>
            <p:nvPr/>
          </p:nvSpPr>
          <p:spPr bwMode="auto">
            <a:xfrm>
              <a:off x="780" y="3193"/>
              <a:ext cx="384" cy="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66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400" b="1">
                  <a:latin typeface="宋体" panose="02010600030101010101" pitchFamily="2" charset="-122"/>
                </a:rPr>
                <a:t>P1.5 P1.4P1.3P1.2P1.2P1.0</a:t>
              </a:r>
            </a:p>
          </p:txBody>
        </p:sp>
        <p:sp>
          <p:nvSpPr>
            <p:cNvPr id="23877" name="Text Box 325"/>
            <p:cNvSpPr txBox="1">
              <a:spLocks noChangeArrowheads="1"/>
            </p:cNvSpPr>
            <p:nvPr/>
          </p:nvSpPr>
          <p:spPr bwMode="auto">
            <a:xfrm>
              <a:off x="798" y="1525"/>
              <a:ext cx="384" cy="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66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200" b="1">
                  <a:latin typeface="宋体" panose="02010600030101010101" pitchFamily="2" charset="-122"/>
                </a:rPr>
                <a:t>P0.7 P0.6 P0.5 P0.4 P0.3 P0.2 P0.1 P0.0</a:t>
              </a:r>
            </a:p>
          </p:txBody>
        </p:sp>
        <p:sp>
          <p:nvSpPr>
            <p:cNvPr id="23878" name="Text Box 326"/>
            <p:cNvSpPr txBox="1">
              <a:spLocks noChangeArrowheads="1"/>
            </p:cNvSpPr>
            <p:nvPr/>
          </p:nvSpPr>
          <p:spPr bwMode="auto">
            <a:xfrm>
              <a:off x="1254" y="1417"/>
              <a:ext cx="100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66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600" b="1">
                  <a:latin typeface="宋体" panose="02010600030101010101" pitchFamily="2" charset="-122"/>
                </a:rPr>
                <a:t>7406 OC</a:t>
              </a:r>
              <a:r>
                <a:rPr lang="zh-CN" altLang="en-US" sz="1600" b="1">
                  <a:latin typeface="宋体" panose="02010600030101010101" pitchFamily="2" charset="-122"/>
                </a:rPr>
                <a:t>门 </a:t>
              </a:r>
              <a:r>
                <a:rPr lang="en-US" altLang="zh-CN" sz="1600" b="1">
                  <a:latin typeface="宋体" panose="02010600030101010101" pitchFamily="2" charset="-122"/>
                </a:rPr>
                <a:t>X 3</a:t>
              </a:r>
            </a:p>
          </p:txBody>
        </p:sp>
        <p:sp>
          <p:nvSpPr>
            <p:cNvPr id="23879" name="Text Box 327"/>
            <p:cNvSpPr txBox="1">
              <a:spLocks noChangeArrowheads="1"/>
            </p:cNvSpPr>
            <p:nvPr/>
          </p:nvSpPr>
          <p:spPr bwMode="auto">
            <a:xfrm>
              <a:off x="5088" y="1617"/>
              <a:ext cx="480"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66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zh-CN" altLang="en-US" sz="1800" b="1">
                  <a:latin typeface="仿宋_GB2312" pitchFamily="49" charset="-122"/>
                  <a:ea typeface="仿宋_GB2312" pitchFamily="49" charset="-122"/>
                </a:rPr>
                <a:t>上拉电阻</a:t>
              </a:r>
              <a:r>
                <a:rPr lang="en-US" altLang="zh-CN" sz="1800" b="1">
                  <a:latin typeface="仿宋_GB2312" pitchFamily="49" charset="-122"/>
                  <a:ea typeface="仿宋_GB2312" pitchFamily="49" charset="-122"/>
                </a:rPr>
                <a:t>×14</a:t>
              </a:r>
            </a:p>
          </p:txBody>
        </p:sp>
        <p:sp>
          <p:nvSpPr>
            <p:cNvPr id="23880" name="Text Box 328"/>
            <p:cNvSpPr txBox="1">
              <a:spLocks noChangeArrowheads="1"/>
            </p:cNvSpPr>
            <p:nvPr/>
          </p:nvSpPr>
          <p:spPr bwMode="auto">
            <a:xfrm>
              <a:off x="4694" y="1253"/>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800" b="1">
                  <a:latin typeface="宋体" panose="02010600030101010101" pitchFamily="2" charset="-122"/>
                </a:rPr>
                <a:t>+5V</a:t>
              </a:r>
            </a:p>
          </p:txBody>
        </p:sp>
        <p:sp>
          <p:nvSpPr>
            <p:cNvPr id="23881" name="Text Box 329"/>
            <p:cNvSpPr txBox="1">
              <a:spLocks noChangeArrowheads="1"/>
            </p:cNvSpPr>
            <p:nvPr/>
          </p:nvSpPr>
          <p:spPr bwMode="auto">
            <a:xfrm>
              <a:off x="456" y="2617"/>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66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800" b="1"/>
                <a:t>AT89C51</a:t>
              </a:r>
            </a:p>
          </p:txBody>
        </p:sp>
        <p:sp>
          <p:nvSpPr>
            <p:cNvPr id="23882" name="Text Box 330"/>
            <p:cNvSpPr txBox="1">
              <a:spLocks noChangeArrowheads="1"/>
            </p:cNvSpPr>
            <p:nvPr/>
          </p:nvSpPr>
          <p:spPr bwMode="auto">
            <a:xfrm>
              <a:off x="4944" y="2564"/>
              <a:ext cx="67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66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zh-CN" altLang="en-US" sz="2000" b="1">
                  <a:solidFill>
                    <a:srgbClr val="0000FF"/>
                  </a:solidFill>
                  <a:latin typeface="仿宋_GB2312" pitchFamily="49" charset="-122"/>
                  <a:ea typeface="仿宋_GB2312" pitchFamily="49" charset="-122"/>
                </a:rPr>
                <a:t>共阴       数码管</a:t>
              </a:r>
            </a:p>
          </p:txBody>
        </p:sp>
        <p:sp>
          <p:nvSpPr>
            <p:cNvPr id="23883" name="AutoShape 331"/>
            <p:cNvSpPr/>
            <p:nvPr/>
          </p:nvSpPr>
          <p:spPr bwMode="auto">
            <a:xfrm rot="-10782242">
              <a:off x="720" y="3217"/>
              <a:ext cx="144" cy="816"/>
            </a:xfrm>
            <a:prstGeom prst="rightBrace">
              <a:avLst>
                <a:gd name="adj1" fmla="val 47222"/>
                <a:gd name="adj2" fmla="val 50000"/>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84" name="Text Box 332"/>
            <p:cNvSpPr txBox="1">
              <a:spLocks noChangeArrowheads="1"/>
            </p:cNvSpPr>
            <p:nvPr/>
          </p:nvSpPr>
          <p:spPr bwMode="auto">
            <a:xfrm>
              <a:off x="480" y="3237"/>
              <a:ext cx="240"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latin typeface="Arial Narrow" panose="020B0606020202030204" pitchFamily="34" charset="0"/>
                </a:rPr>
                <a:t>位码</a:t>
              </a:r>
            </a:p>
          </p:txBody>
        </p:sp>
        <p:sp>
          <p:nvSpPr>
            <p:cNvPr id="23885" name="AutoShape 333"/>
            <p:cNvSpPr/>
            <p:nvPr/>
          </p:nvSpPr>
          <p:spPr bwMode="auto">
            <a:xfrm>
              <a:off x="756" y="1585"/>
              <a:ext cx="96" cy="864"/>
            </a:xfrm>
            <a:prstGeom prst="leftBrace">
              <a:avLst>
                <a:gd name="adj1" fmla="val 75000"/>
                <a:gd name="adj2" fmla="val 50000"/>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886" name="Text Box 334"/>
            <p:cNvSpPr txBox="1">
              <a:spLocks noChangeArrowheads="1"/>
            </p:cNvSpPr>
            <p:nvPr/>
          </p:nvSpPr>
          <p:spPr bwMode="auto">
            <a:xfrm>
              <a:off x="503" y="1653"/>
              <a:ext cx="336"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latin typeface="Arial Narrow" panose="020B0606020202030204" pitchFamily="34" charset="0"/>
                </a:rPr>
                <a:t>段码</a:t>
              </a:r>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578" name="Object 4"/>
          <p:cNvGraphicFramePr>
            <a:graphicFrameLocks noChangeAspect="1"/>
          </p:cNvGraphicFramePr>
          <p:nvPr/>
        </p:nvGraphicFramePr>
        <p:xfrm>
          <a:off x="1066800" y="1196975"/>
          <a:ext cx="6172200" cy="4681538"/>
        </p:xfrm>
        <a:graphic>
          <a:graphicData uri="http://schemas.openxmlformats.org/presentationml/2006/ole">
            <mc:AlternateContent xmlns:mc="http://schemas.openxmlformats.org/markup-compatibility/2006">
              <mc:Choice xmlns:v="urn:schemas-microsoft-com:vml" Requires="v">
                <p:oleObj spid="_x0000_s2070" r:id="rId3" imgW="5517515" imgH="3891915" progId="Flash.Movie">
                  <p:embed/>
                </p:oleObj>
              </mc:Choice>
              <mc:Fallback>
                <p:oleObj r:id="rId3" imgW="5517515" imgH="3891915" progId="Flash.Movie">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b="10541"/>
                      <a:stretch>
                        <a:fillRect/>
                      </a:stretch>
                    </p:blipFill>
                    <p:spPr bwMode="auto">
                      <a:xfrm>
                        <a:off x="1066800" y="1196975"/>
                        <a:ext cx="6172200" cy="468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79" name="Text Box 5"/>
          <p:cNvSpPr txBox="1">
            <a:spLocks noChangeArrowheads="1"/>
          </p:cNvSpPr>
          <p:nvPr/>
        </p:nvSpPr>
        <p:spPr bwMode="auto">
          <a:xfrm>
            <a:off x="2743200" y="6118225"/>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400" b="1">
                <a:latin typeface="楷体_GB2312" pitchFamily="49" charset="-122"/>
                <a:ea typeface="楷体_GB2312" pitchFamily="49" charset="-122"/>
              </a:rPr>
              <a:t> </a:t>
            </a:r>
            <a:r>
              <a:rPr kumimoji="0" lang="zh-CN" altLang="en-US" sz="2400" b="1">
                <a:latin typeface="楷体_GB2312" pitchFamily="49" charset="-122"/>
                <a:ea typeface="楷体_GB2312" pitchFamily="49" charset="-122"/>
              </a:rPr>
              <a:t>图 </a:t>
            </a:r>
            <a:r>
              <a:rPr kumimoji="0" lang="en-US" altLang="zh-CN" sz="2400" b="1">
                <a:latin typeface="楷体_GB2312" pitchFamily="49" charset="-122"/>
                <a:ea typeface="楷体_GB2312" pitchFamily="49" charset="-122"/>
              </a:rPr>
              <a:t>LED</a:t>
            </a:r>
            <a:r>
              <a:rPr kumimoji="0" lang="zh-CN" altLang="en-US" sz="2400" b="1">
                <a:latin typeface="楷体_GB2312" pitchFamily="49" charset="-122"/>
                <a:ea typeface="楷体_GB2312" pitchFamily="49" charset="-122"/>
              </a:rPr>
              <a:t>动态显示方式</a:t>
            </a:r>
            <a:r>
              <a:rPr kumimoji="0" lang="zh-CN" altLang="en-US" sz="1800">
                <a:latin typeface="楷体_GB2312" pitchFamily="49" charset="-122"/>
                <a:ea typeface="楷体_GB2312" pitchFamily="49" charset="-122"/>
              </a:rPr>
              <a:t> </a:t>
            </a:r>
          </a:p>
        </p:txBody>
      </p:sp>
      <p:sp>
        <p:nvSpPr>
          <p:cNvPr id="5" name="Rectangle 2">
            <a:extLst>
              <a:ext uri="{FF2B5EF4-FFF2-40B4-BE49-F238E27FC236}">
                <a16:creationId xmlns:a16="http://schemas.microsoft.com/office/drawing/2014/main" id="{7FD66D2A-855B-4A8D-B504-FB4173B89D19}"/>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4">
            <a:extLst>
              <a:ext uri="{FF2B5EF4-FFF2-40B4-BE49-F238E27FC236}">
                <a16:creationId xmlns:a16="http://schemas.microsoft.com/office/drawing/2014/main" id="{AC3D76E6-C713-4828-9EB1-908BC1B7DCF7}"/>
              </a:ext>
            </a:extLst>
          </p:cNvPr>
          <p:cNvSpPr>
            <a:spLocks noChangeArrowheads="1"/>
          </p:cNvSpPr>
          <p:nvPr/>
        </p:nvSpPr>
        <p:spPr bwMode="auto">
          <a:xfrm>
            <a:off x="743378" y="836334"/>
            <a:ext cx="7405687" cy="1200329"/>
          </a:xfrm>
          <a:prstGeom prst="rect">
            <a:avLst/>
          </a:prstGeom>
          <a:noFill/>
          <a:ln>
            <a:noFill/>
          </a:ln>
        </p:spPr>
        <p:txBody>
          <a:bodyPr wrap="squar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defRPr/>
            </a:pPr>
            <a:r>
              <a:rPr lang="zh-CN" altLang="en-US" sz="2400" b="1" dirty="0">
                <a:solidFill>
                  <a:srgbClr val="FF0000"/>
                </a:solidFill>
                <a:effectLst>
                  <a:outerShdw blurRad="38100" dist="38100" dir="2700000" algn="tl">
                    <a:srgbClr val="000000">
                      <a:alpha val="43137"/>
                    </a:srgbClr>
                  </a:outerShdw>
                </a:effectLst>
                <a:cs typeface="Times New Roman" panose="02020603050405020304" pitchFamily="18" charset="0"/>
              </a:rPr>
              <a:t>实例</a:t>
            </a:r>
            <a:r>
              <a:rPr lang="en-US" altLang="zh-CN" sz="2400" b="1" dirty="0">
                <a:solidFill>
                  <a:srgbClr val="FF0000"/>
                </a:solidFill>
                <a:effectLst>
                  <a:outerShdw blurRad="38100" dist="38100" dir="2700000" algn="tl">
                    <a:srgbClr val="000000">
                      <a:alpha val="43137"/>
                    </a:srgbClr>
                  </a:outerShdw>
                </a:effectLst>
                <a:cs typeface="Times New Roman" panose="02020603050405020304" pitchFamily="18" charset="0"/>
              </a:rPr>
              <a:t>6  </a:t>
            </a:r>
            <a:r>
              <a:rPr lang="zh-CN" altLang="zh-CN" sz="2400" dirty="0">
                <a:effectLst>
                  <a:outerShdw blurRad="38100" dist="38100" dir="2700000" algn="tl">
                    <a:srgbClr val="000000">
                      <a:alpha val="43137"/>
                    </a:srgbClr>
                  </a:outerShdw>
                </a:effectLst>
                <a:cs typeface="Times New Roman" panose="02020603050405020304" pitchFamily="18" charset="0"/>
              </a:rPr>
              <a:t>数码管动态显示</a:t>
            </a:r>
            <a:endParaRPr lang="en-US" altLang="zh-CN" sz="2400" b="1" dirty="0">
              <a:solidFill>
                <a:schemeClr val="accent6"/>
              </a:solidFill>
              <a:effectLst>
                <a:outerShdw blurRad="38100" dist="38100" dir="2700000" algn="tl">
                  <a:srgbClr val="000000">
                    <a:alpha val="43137"/>
                  </a:srgbClr>
                </a:outerShdw>
              </a:effectLst>
            </a:endParaRPr>
          </a:p>
          <a:p>
            <a:pPr eaLnBrk="1" hangingPunct="1">
              <a:spcBef>
                <a:spcPct val="0"/>
              </a:spcBef>
              <a:buFontTx/>
              <a:buNone/>
              <a:defRPr/>
            </a:pPr>
            <a:r>
              <a:rPr lang="zh-CN" altLang="zh-CN" sz="2400" dirty="0">
                <a:effectLst>
                  <a:outerShdw blurRad="38100" dist="38100" dir="2700000" algn="tl">
                    <a:srgbClr val="000000">
                      <a:alpha val="43137"/>
                    </a:srgbClr>
                  </a:outerShdw>
                </a:effectLst>
              </a:rPr>
              <a:t>图为采用共阴极</a:t>
            </a:r>
            <a:r>
              <a:rPr lang="en-US" altLang="zh-CN" sz="2400" dirty="0">
                <a:effectLst>
                  <a:outerShdw blurRad="38100" dist="38100" dir="2700000" algn="tl">
                    <a:srgbClr val="000000">
                      <a:alpha val="43137"/>
                    </a:srgbClr>
                  </a:outerShdw>
                </a:effectLst>
              </a:rPr>
              <a:t>LED</a:t>
            </a:r>
            <a:r>
              <a:rPr lang="zh-CN" altLang="zh-CN" sz="2400" dirty="0">
                <a:effectLst>
                  <a:outerShdw blurRad="38100" dist="38100" dir="2700000" algn="tl">
                    <a:srgbClr val="000000">
                      <a:alpha val="43137"/>
                    </a:srgbClr>
                  </a:outerShdw>
                </a:effectLst>
              </a:rPr>
              <a:t>数码管的电路原理图，要求采用动态显示原理显示字符“</a:t>
            </a:r>
            <a:r>
              <a:rPr lang="en-US" altLang="zh-CN" sz="2400" dirty="0" err="1">
                <a:effectLst>
                  <a:outerShdw blurRad="38100" dist="38100" dir="2700000" algn="tl">
                    <a:srgbClr val="000000">
                      <a:alpha val="43137"/>
                    </a:srgbClr>
                  </a:outerShdw>
                </a:effectLst>
              </a:rPr>
              <a:t>L2</a:t>
            </a:r>
            <a:r>
              <a:rPr lang="zh-CN" altLang="zh-CN" sz="2400" dirty="0">
                <a:effectLst>
                  <a:outerShdw blurRad="38100" dist="38100" dir="2700000" algn="tl">
                    <a:srgbClr val="000000">
                      <a:alpha val="43137"/>
                    </a:srgbClr>
                  </a:outerShdw>
                </a:effectLst>
              </a:rPr>
              <a:t>”。</a:t>
            </a:r>
          </a:p>
        </p:txBody>
      </p:sp>
      <p:pic>
        <p:nvPicPr>
          <p:cNvPr id="22531" name="Picture 10" descr="6">
            <a:extLst>
              <a:ext uri="{FF2B5EF4-FFF2-40B4-BE49-F238E27FC236}">
                <a16:creationId xmlns:a16="http://schemas.microsoft.com/office/drawing/2014/main" id="{A3310C05-574A-4B04-97A3-27E729A3A26D}"/>
              </a:ext>
            </a:extLst>
          </p:cNvPr>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25206" t="17462" r="24580" b="24017"/>
          <a:stretch>
            <a:fillRect/>
          </a:stretch>
        </p:blipFill>
        <p:spPr bwMode="auto">
          <a:xfrm>
            <a:off x="2778919" y="1916112"/>
            <a:ext cx="3995738" cy="327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028A828F-9D12-4EF3-8652-CBB36AA7979F}"/>
              </a:ext>
            </a:extLst>
          </p:cNvPr>
          <p:cNvSpPr/>
          <p:nvPr/>
        </p:nvSpPr>
        <p:spPr>
          <a:xfrm>
            <a:off x="1073944" y="5169128"/>
            <a:ext cx="7405687" cy="1200329"/>
          </a:xfrm>
          <a:prstGeom prst="rect">
            <a:avLst/>
          </a:prstGeom>
        </p:spPr>
        <p:txBody>
          <a:bodyPr wrap="square">
            <a:spAutoFit/>
          </a:bodyPr>
          <a:lstStyle/>
          <a:p>
            <a:pPr>
              <a:defRPr/>
            </a:pPr>
            <a:r>
              <a:rPr lang="zh-CN" altLang="zh-CN" b="1" kern="100" dirty="0">
                <a:effectLst>
                  <a:outerShdw blurRad="38100" dist="38100" dir="2700000" algn="tl">
                    <a:srgbClr val="000000">
                      <a:alpha val="43137"/>
                    </a:srgbClr>
                  </a:outerShdw>
                </a:effectLst>
                <a:latin typeface="宋体" panose="02010600030101010101" pitchFamily="2" charset="-122"/>
                <a:cs typeface="Times New Roman" panose="02020603050405020304" pitchFamily="18" charset="0"/>
              </a:rPr>
              <a:t>图中双联</a:t>
            </a:r>
            <a:r>
              <a:rPr lang="en-US" altLang="zh-CN" b="1" kern="100" dirty="0">
                <a:effectLst>
                  <a:outerShdw blurRad="38100" dist="38100" dir="2700000" algn="tl">
                    <a:srgbClr val="000000">
                      <a:alpha val="43137"/>
                    </a:srgbClr>
                  </a:outerShdw>
                </a:effectLst>
                <a:latin typeface="宋体" panose="02010600030101010101" pitchFamily="2" charset="-122"/>
              </a:rPr>
              <a:t>LED</a:t>
            </a:r>
            <a:r>
              <a:rPr lang="zh-CN" altLang="zh-CN" b="1" kern="100" dirty="0">
                <a:effectLst>
                  <a:outerShdw blurRad="38100" dist="38100" dir="2700000" algn="tl">
                    <a:srgbClr val="000000">
                      <a:alpha val="43137"/>
                    </a:srgbClr>
                  </a:outerShdw>
                </a:effectLst>
                <a:latin typeface="宋体" panose="02010600030101010101" pitchFamily="2" charset="-122"/>
                <a:cs typeface="Times New Roman" panose="02020603050405020304" pitchFamily="18" charset="0"/>
              </a:rPr>
              <a:t>数码管是</a:t>
            </a:r>
            <a:r>
              <a:rPr lang="en-US" altLang="zh-CN" b="1" kern="100" dirty="0">
                <a:effectLst>
                  <a:outerShdw blurRad="38100" dist="38100" dir="2700000" algn="tl">
                    <a:srgbClr val="000000">
                      <a:alpha val="43137"/>
                    </a:srgbClr>
                  </a:outerShdw>
                </a:effectLst>
                <a:latin typeface="宋体" panose="02010600030101010101" pitchFamily="2" charset="-122"/>
              </a:rPr>
              <a:t>Proteus</a:t>
            </a:r>
            <a:r>
              <a:rPr lang="zh-CN" altLang="zh-CN" b="1" kern="100" dirty="0">
                <a:effectLst>
                  <a:outerShdw blurRad="38100" dist="38100" dir="2700000" algn="tl">
                    <a:srgbClr val="000000">
                      <a:alpha val="43137"/>
                    </a:srgbClr>
                  </a:outerShdw>
                </a:effectLst>
                <a:latin typeface="宋体" panose="02010600030101010101" pitchFamily="2" charset="-122"/>
                <a:cs typeface="Times New Roman" panose="02020603050405020304" pitchFamily="18" charset="0"/>
              </a:rPr>
              <a:t>提供的控件模型，相当于段码位在内部做了并联，而位码位独立接出的两只数码管。</a:t>
            </a:r>
            <a:endParaRPr lang="zh-CN" altLang="en-US" b="1" dirty="0">
              <a:effectLst>
                <a:outerShdw blurRad="38100" dist="38100" dir="2700000" algn="tl">
                  <a:srgbClr val="000000">
                    <a:alpha val="43137"/>
                  </a:srgbClr>
                </a:outerShdw>
              </a:effectLst>
              <a:latin typeface="宋体" panose="02010600030101010101" pitchFamily="2" charset="-122"/>
            </a:endParaRPr>
          </a:p>
        </p:txBody>
      </p:sp>
      <p:sp>
        <p:nvSpPr>
          <p:cNvPr id="6" name="Rectangle 2">
            <a:extLst>
              <a:ext uri="{FF2B5EF4-FFF2-40B4-BE49-F238E27FC236}">
                <a16:creationId xmlns:a16="http://schemas.microsoft.com/office/drawing/2014/main" id="{3B8CE640-1D08-4D5C-A17D-036EAB5BEC8D}"/>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a:extLst>
              <a:ext uri="{FF2B5EF4-FFF2-40B4-BE49-F238E27FC236}">
                <a16:creationId xmlns:a16="http://schemas.microsoft.com/office/drawing/2014/main" id="{2599E301-0504-4FA0-967D-30A411E3F5DA}"/>
              </a:ext>
            </a:extLst>
          </p:cNvPr>
          <p:cNvSpPr>
            <a:spLocks noChangeArrowheads="1"/>
          </p:cNvSpPr>
          <p:nvPr/>
        </p:nvSpPr>
        <p:spPr bwMode="auto">
          <a:xfrm>
            <a:off x="782416" y="931921"/>
            <a:ext cx="757916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fr-FR" sz="2400" b="1" dirty="0">
                <a:effectLst>
                  <a:outerShdw blurRad="38100" dist="38100" dir="2700000" algn="tl">
                    <a:srgbClr val="000000">
                      <a:alpha val="43137"/>
                    </a:srgbClr>
                  </a:outerShdw>
                </a:effectLst>
              </a:rPr>
              <a:t>分析：</a:t>
            </a:r>
          </a:p>
          <a:p>
            <a:pPr eaLnBrk="1" hangingPunct="1">
              <a:spcBef>
                <a:spcPct val="0"/>
              </a:spcBef>
              <a:buFontTx/>
              <a:buNone/>
            </a:pPr>
            <a:r>
              <a:rPr lang="en-US" altLang="zh-CN" sz="2400" b="1" dirty="0">
                <a:effectLst>
                  <a:outerShdw blurRad="38100" dist="38100" dir="2700000" algn="tl">
                    <a:srgbClr val="000000">
                      <a:alpha val="43137"/>
                    </a:srgbClr>
                  </a:outerShdw>
                </a:effectLst>
              </a:rPr>
              <a:t>Proteus</a:t>
            </a:r>
            <a:r>
              <a:rPr lang="zh-CN" altLang="en-US" sz="2400" b="1" dirty="0">
                <a:effectLst>
                  <a:outerShdw blurRad="38100" dist="38100" dir="2700000" algn="tl">
                    <a:srgbClr val="000000">
                      <a:alpha val="43137"/>
                    </a:srgbClr>
                  </a:outerShdw>
                </a:effectLst>
              </a:rPr>
              <a:t>中的双联</a:t>
            </a:r>
            <a:r>
              <a:rPr lang="en-US" altLang="zh-CN" sz="2400" b="1" dirty="0">
                <a:effectLst>
                  <a:outerShdw blurRad="38100" dist="38100" dir="2700000" algn="tl">
                    <a:srgbClr val="000000">
                      <a:alpha val="43137"/>
                    </a:srgbClr>
                  </a:outerShdw>
                </a:effectLst>
              </a:rPr>
              <a:t>LED</a:t>
            </a:r>
            <a:r>
              <a:rPr lang="zh-CN" altLang="en-US" sz="2400" b="1" dirty="0">
                <a:effectLst>
                  <a:outerShdw blurRad="38100" dist="38100" dir="2700000" algn="tl">
                    <a:srgbClr val="000000">
                      <a:alpha val="43137"/>
                    </a:srgbClr>
                  </a:outerShdw>
                </a:effectLst>
              </a:rPr>
              <a:t>数码管相当于两个并联的数码管。</a:t>
            </a:r>
          </a:p>
        </p:txBody>
      </p:sp>
      <p:pic>
        <p:nvPicPr>
          <p:cNvPr id="339972" name="Picture 4" descr="led数码管1">
            <a:extLst>
              <a:ext uri="{FF2B5EF4-FFF2-40B4-BE49-F238E27FC236}">
                <a16:creationId xmlns:a16="http://schemas.microsoft.com/office/drawing/2014/main" id="{4EB58F9B-80DE-437B-89A4-01F4F56DA9CC}"/>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54158" t="33138" r="11270" b="32039"/>
          <a:stretch>
            <a:fillRect/>
          </a:stretch>
        </p:blipFill>
        <p:spPr bwMode="auto">
          <a:xfrm>
            <a:off x="4011613" y="1822450"/>
            <a:ext cx="3441700" cy="2436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6" name="Picture 8">
            <a:extLst>
              <a:ext uri="{FF2B5EF4-FFF2-40B4-BE49-F238E27FC236}">
                <a16:creationId xmlns:a16="http://schemas.microsoft.com/office/drawing/2014/main" id="{3A1C06FA-B569-489C-B1E5-4A2A75D3D5C4}"/>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40552" t="24211" r="4118" b="21373"/>
          <a:stretch>
            <a:fillRect/>
          </a:stretch>
        </p:blipFill>
        <p:spPr bwMode="auto">
          <a:xfrm>
            <a:off x="1381125" y="2079625"/>
            <a:ext cx="241935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557" name="Rectangle 9">
            <a:extLst>
              <a:ext uri="{FF2B5EF4-FFF2-40B4-BE49-F238E27FC236}">
                <a16:creationId xmlns:a16="http://schemas.microsoft.com/office/drawing/2014/main" id="{DBDDE9D3-521E-4F53-A990-96E8FE3E1DC1}"/>
              </a:ext>
            </a:extLst>
          </p:cNvPr>
          <p:cNvSpPr>
            <a:spLocks noChangeArrowheads="1"/>
          </p:cNvSpPr>
          <p:nvPr/>
        </p:nvSpPr>
        <p:spPr bwMode="auto">
          <a:xfrm>
            <a:off x="1065213" y="4024313"/>
            <a:ext cx="28400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b="1">
                <a:solidFill>
                  <a:srgbClr val="CC3300"/>
                </a:solidFill>
              </a:rPr>
              <a:t>7SEG-MPX2-CC-BLUE</a:t>
            </a:r>
            <a:endParaRPr lang="zh-CN" altLang="en-US" sz="2000"/>
          </a:p>
        </p:txBody>
      </p:sp>
      <p:sp>
        <p:nvSpPr>
          <p:cNvPr id="2" name="矩形 1">
            <a:extLst>
              <a:ext uri="{FF2B5EF4-FFF2-40B4-BE49-F238E27FC236}">
                <a16:creationId xmlns:a16="http://schemas.microsoft.com/office/drawing/2014/main" id="{83520CEF-8981-4308-A7DB-B50017E5D65E}"/>
              </a:ext>
            </a:extLst>
          </p:cNvPr>
          <p:cNvSpPr/>
          <p:nvPr/>
        </p:nvSpPr>
        <p:spPr>
          <a:xfrm>
            <a:off x="986151" y="4540251"/>
            <a:ext cx="7658230" cy="1961243"/>
          </a:xfrm>
          <a:prstGeom prst="rect">
            <a:avLst/>
          </a:prstGeom>
        </p:spPr>
        <p:txBody>
          <a:bodyPr wrap="square">
            <a:spAutoFit/>
          </a:bodyPr>
          <a:lstStyle/>
          <a:p>
            <a:pPr>
              <a:lnSpc>
                <a:spcPct val="130000"/>
              </a:lnSpc>
              <a:defRPr/>
            </a:pPr>
            <a:r>
              <a:rPr lang="en-US" altLang="zh-CN" b="1" kern="100" dirty="0">
                <a:solidFill>
                  <a:srgbClr val="FF0000"/>
                </a:solidFill>
                <a:effectLst>
                  <a:outerShdw blurRad="38100" dist="38100" dir="2700000" algn="tl">
                    <a:srgbClr val="000000">
                      <a:alpha val="43137"/>
                    </a:srgbClr>
                  </a:outerShdw>
                </a:effectLst>
              </a:rPr>
              <a:t>L2</a:t>
            </a:r>
            <a:r>
              <a:rPr lang="zh-CN" altLang="en-US" b="1" kern="100" dirty="0">
                <a:solidFill>
                  <a:srgbClr val="FF0000"/>
                </a:solidFill>
                <a:effectLst>
                  <a:outerShdw blurRad="38100" dist="38100" dir="2700000" algn="tl">
                    <a:srgbClr val="000000">
                      <a:alpha val="43137"/>
                    </a:srgbClr>
                  </a:outerShdw>
                </a:effectLst>
              </a:rPr>
              <a:t>的显示方法</a:t>
            </a:r>
            <a:endParaRPr lang="en-US" altLang="zh-CN" b="1" kern="100" dirty="0">
              <a:solidFill>
                <a:srgbClr val="FF0000"/>
              </a:solidFill>
              <a:effectLst>
                <a:outerShdw blurRad="38100" dist="38100" dir="2700000" algn="tl">
                  <a:srgbClr val="000000">
                    <a:alpha val="43137"/>
                  </a:srgbClr>
                </a:outerShdw>
              </a:effectLst>
              <a:cs typeface="Times New Roman" panose="02020603050405020304" pitchFamily="18" charset="0"/>
            </a:endParaRPr>
          </a:p>
          <a:p>
            <a:pPr>
              <a:lnSpc>
                <a:spcPct val="130000"/>
              </a:lnSpc>
              <a:defRPr/>
            </a:pPr>
            <a:r>
              <a:rPr lang="zh-CN" altLang="zh-CN" b="1" kern="100" dirty="0">
                <a:effectLst>
                  <a:outerShdw blurRad="38100" dist="38100" dir="2700000" algn="tl">
                    <a:srgbClr val="000000">
                      <a:alpha val="43137"/>
                    </a:srgbClr>
                  </a:outerShdw>
                </a:effectLst>
                <a:cs typeface="Times New Roman" panose="02020603050405020304" pitchFamily="18" charset="0"/>
              </a:rPr>
              <a:t>将位码</a:t>
            </a:r>
            <a:r>
              <a:rPr lang="en-US" altLang="zh-CN" b="1" kern="100" dirty="0" err="1">
                <a:effectLst>
                  <a:outerShdw blurRad="38100" dist="38100" dir="2700000" algn="tl">
                    <a:srgbClr val="000000">
                      <a:alpha val="43137"/>
                    </a:srgbClr>
                  </a:outerShdw>
                </a:effectLst>
              </a:rPr>
              <a:t>0x02</a:t>
            </a:r>
            <a:r>
              <a:rPr lang="zh-CN" altLang="zh-CN" b="1" kern="100" dirty="0">
                <a:effectLst>
                  <a:outerShdw blurRad="38100" dist="38100" dir="2700000" algn="tl">
                    <a:srgbClr val="000000">
                      <a:alpha val="43137"/>
                    </a:srgbClr>
                  </a:outerShdw>
                </a:effectLst>
                <a:cs typeface="Times New Roman" panose="02020603050405020304" pitchFamily="18" charset="0"/>
              </a:rPr>
              <a:t>和</a:t>
            </a:r>
            <a:r>
              <a:rPr lang="en-US" altLang="zh-CN" b="1" kern="100" dirty="0" err="1">
                <a:effectLst>
                  <a:outerShdw blurRad="38100" dist="38100" dir="2700000" algn="tl">
                    <a:srgbClr val="000000">
                      <a:alpha val="43137"/>
                    </a:srgbClr>
                  </a:outerShdw>
                </a:effectLst>
              </a:rPr>
              <a:t>0x01</a:t>
            </a:r>
            <a:r>
              <a:rPr lang="zh-CN" altLang="zh-CN" b="1" kern="100" dirty="0">
                <a:effectLst>
                  <a:outerShdw blurRad="38100" dist="38100" dir="2700000" algn="tl">
                    <a:srgbClr val="000000">
                      <a:alpha val="43137"/>
                    </a:srgbClr>
                  </a:outerShdw>
                </a:effectLst>
                <a:cs typeface="Times New Roman" panose="02020603050405020304" pitchFamily="18" charset="0"/>
              </a:rPr>
              <a:t>先后送入</a:t>
            </a:r>
            <a:r>
              <a:rPr lang="en-US" altLang="zh-CN" b="1" kern="100" dirty="0" err="1">
                <a:effectLst>
                  <a:outerShdw blurRad="38100" dist="38100" dir="2700000" algn="tl">
                    <a:srgbClr val="000000">
                      <a:alpha val="43137"/>
                    </a:srgbClr>
                  </a:outerShdw>
                </a:effectLst>
              </a:rPr>
              <a:t>P3</a:t>
            </a:r>
            <a:r>
              <a:rPr lang="zh-CN" altLang="zh-CN" b="1" kern="100" dirty="0">
                <a:effectLst>
                  <a:outerShdw blurRad="38100" dist="38100" dir="2700000" algn="tl">
                    <a:srgbClr val="000000">
                      <a:alpha val="43137"/>
                    </a:srgbClr>
                  </a:outerShdw>
                </a:effectLst>
                <a:cs typeface="Times New Roman" panose="02020603050405020304" pitchFamily="18" charset="0"/>
              </a:rPr>
              <a:t>口，可依次使能左、右两个数码管。此时若将</a:t>
            </a:r>
            <a:r>
              <a:rPr lang="en-US" altLang="zh-CN" b="1" kern="100" dirty="0" err="1">
                <a:effectLst>
                  <a:outerShdw blurRad="38100" dist="38100" dir="2700000" algn="tl">
                    <a:srgbClr val="000000">
                      <a:alpha val="43137"/>
                    </a:srgbClr>
                  </a:outerShdw>
                </a:effectLst>
              </a:rPr>
              <a:t>0x38</a:t>
            </a:r>
            <a:r>
              <a:rPr lang="zh-CN" altLang="zh-CN" b="1" kern="100" dirty="0">
                <a:effectLst>
                  <a:outerShdw blurRad="38100" dist="38100" dir="2700000" algn="tl">
                    <a:srgbClr val="000000">
                      <a:alpha val="43137"/>
                    </a:srgbClr>
                  </a:outerShdw>
                </a:effectLst>
                <a:cs typeface="Times New Roman" panose="02020603050405020304" pitchFamily="18" charset="0"/>
              </a:rPr>
              <a:t>和</a:t>
            </a:r>
            <a:r>
              <a:rPr lang="en-US" altLang="zh-CN" b="1" kern="100" dirty="0" err="1">
                <a:effectLst>
                  <a:outerShdw blurRad="38100" dist="38100" dir="2700000" algn="tl">
                    <a:srgbClr val="000000">
                      <a:alpha val="43137"/>
                    </a:srgbClr>
                  </a:outerShdw>
                </a:effectLst>
              </a:rPr>
              <a:t>0x5b</a:t>
            </a:r>
            <a:r>
              <a:rPr lang="zh-CN" altLang="zh-CN" b="1" kern="100" dirty="0">
                <a:effectLst>
                  <a:outerShdw blurRad="38100" dist="38100" dir="2700000" algn="tl">
                    <a:srgbClr val="000000">
                      <a:alpha val="43137"/>
                    </a:srgbClr>
                  </a:outerShdw>
                </a:effectLst>
                <a:cs typeface="Times New Roman" panose="02020603050405020304" pitchFamily="18" charset="0"/>
              </a:rPr>
              <a:t>两个段码（显示字模）依次送到</a:t>
            </a:r>
            <a:r>
              <a:rPr lang="en-US" altLang="zh-CN" b="1" kern="100" dirty="0" err="1">
                <a:effectLst>
                  <a:outerShdw blurRad="38100" dist="38100" dir="2700000" algn="tl">
                    <a:srgbClr val="000000">
                      <a:alpha val="43137"/>
                    </a:srgbClr>
                  </a:outerShdw>
                </a:effectLst>
              </a:rPr>
              <a:t>P2</a:t>
            </a:r>
            <a:r>
              <a:rPr lang="zh-CN" altLang="zh-CN" b="1" kern="100" dirty="0">
                <a:effectLst>
                  <a:outerShdw blurRad="38100" dist="38100" dir="2700000" algn="tl">
                    <a:srgbClr val="000000">
                      <a:alpha val="43137"/>
                    </a:srgbClr>
                  </a:outerShdw>
                </a:effectLst>
                <a:cs typeface="Times New Roman" panose="02020603050405020304" pitchFamily="18" charset="0"/>
              </a:rPr>
              <a:t>口，便可产生“</a:t>
            </a:r>
            <a:r>
              <a:rPr lang="en-US" altLang="zh-CN" b="1" kern="100" dirty="0" err="1">
                <a:effectLst>
                  <a:outerShdw blurRad="38100" dist="38100" dir="2700000" algn="tl">
                    <a:srgbClr val="000000">
                      <a:alpha val="43137"/>
                    </a:srgbClr>
                  </a:outerShdw>
                </a:effectLst>
              </a:rPr>
              <a:t>L2</a:t>
            </a:r>
            <a:r>
              <a:rPr lang="zh-CN" altLang="zh-CN" b="1" kern="100" dirty="0">
                <a:effectLst>
                  <a:outerShdw blurRad="38100" dist="38100" dir="2700000" algn="tl">
                    <a:srgbClr val="000000">
                      <a:alpha val="43137"/>
                    </a:srgbClr>
                  </a:outerShdw>
                </a:effectLst>
                <a:cs typeface="Times New Roman" panose="02020603050405020304" pitchFamily="18" charset="0"/>
              </a:rPr>
              <a:t>”的动态显示效果。</a:t>
            </a:r>
            <a:endParaRPr lang="zh-CN" altLang="en-US" b="1" dirty="0">
              <a:effectLst>
                <a:outerShdw blurRad="38100" dist="38100" dir="2700000" algn="tl">
                  <a:srgbClr val="000000">
                    <a:alpha val="43137"/>
                  </a:srgbClr>
                </a:outerShdw>
              </a:effectLst>
            </a:endParaRPr>
          </a:p>
        </p:txBody>
      </p:sp>
      <p:sp>
        <p:nvSpPr>
          <p:cNvPr id="8" name="Rectangle 2">
            <a:extLst>
              <a:ext uri="{FF2B5EF4-FFF2-40B4-BE49-F238E27FC236}">
                <a16:creationId xmlns:a16="http://schemas.microsoft.com/office/drawing/2014/main" id="{5CD9F1F5-5FF1-4B45-BADF-2E2FABC5414F}"/>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
        <p:nvSpPr>
          <p:cNvPr id="3" name="椭圆 2">
            <a:extLst>
              <a:ext uri="{FF2B5EF4-FFF2-40B4-BE49-F238E27FC236}">
                <a16:creationId xmlns:a16="http://schemas.microsoft.com/office/drawing/2014/main" id="{4CC9B15C-3719-4EC1-84B4-826C0E6A9260}"/>
              </a:ext>
            </a:extLst>
          </p:cNvPr>
          <p:cNvSpPr/>
          <p:nvPr/>
        </p:nvSpPr>
        <p:spPr>
          <a:xfrm>
            <a:off x="6538277" y="3891042"/>
            <a:ext cx="915036" cy="407195"/>
          </a:xfrm>
          <a:prstGeom prst="ellipse">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 name="文本框 3">
            <a:extLst>
              <a:ext uri="{FF2B5EF4-FFF2-40B4-BE49-F238E27FC236}">
                <a16:creationId xmlns:a16="http://schemas.microsoft.com/office/drawing/2014/main" id="{8484294C-4F96-4BA3-BF45-7625233195C9}"/>
              </a:ext>
            </a:extLst>
          </p:cNvPr>
          <p:cNvSpPr txBox="1"/>
          <p:nvPr/>
        </p:nvSpPr>
        <p:spPr>
          <a:xfrm>
            <a:off x="7366000" y="3429000"/>
            <a:ext cx="1676400" cy="1200329"/>
          </a:xfrm>
          <a:prstGeom prst="rect">
            <a:avLst/>
          </a:prstGeom>
          <a:noFill/>
        </p:spPr>
        <p:txBody>
          <a:bodyPr wrap="square" rtlCol="0">
            <a:spAutoFit/>
          </a:bodyPr>
          <a:lstStyle/>
          <a:p>
            <a:r>
              <a:rPr lang="zh-CN" altLang="en-US" b="1" dirty="0">
                <a:effectLst>
                  <a:outerShdw blurRad="38100" dist="38100" dir="2700000" algn="tl">
                    <a:srgbClr val="000000">
                      <a:alpha val="43137"/>
                    </a:srgbClr>
                  </a:outerShdw>
                </a:effectLst>
              </a:rPr>
              <a:t>位控端</a:t>
            </a:r>
            <a:endParaRPr lang="en-US" altLang="zh-CN" b="1" dirty="0">
              <a:effectLst>
                <a:outerShdw blurRad="38100" dist="38100" dir="2700000" algn="tl">
                  <a:srgbClr val="000000">
                    <a:alpha val="43137"/>
                  </a:srgbClr>
                </a:outerShdw>
              </a:effectLst>
            </a:endParaRPr>
          </a:p>
          <a:p>
            <a:r>
              <a:rPr lang="zh-CN" altLang="en-US" b="1" dirty="0">
                <a:effectLst>
                  <a:outerShdw blurRad="38100" dist="38100" dir="2700000" algn="tl">
                    <a:srgbClr val="000000">
                      <a:alpha val="43137"/>
                    </a:srgbClr>
                  </a:outerShdw>
                </a:effectLst>
              </a:rPr>
              <a:t>共阴极</a:t>
            </a:r>
            <a:endParaRPr lang="en-US" altLang="zh-CN" b="1" dirty="0">
              <a:effectLst>
                <a:outerShdw blurRad="38100" dist="38100" dir="2700000" algn="tl">
                  <a:srgbClr val="000000">
                    <a:alpha val="43137"/>
                  </a:srgbClr>
                </a:outerShdw>
              </a:effectLst>
            </a:endParaRPr>
          </a:p>
          <a:p>
            <a:r>
              <a:rPr lang="zh-CN" altLang="en-US" b="1" dirty="0">
                <a:effectLst>
                  <a:outerShdw blurRad="38100" dist="38100" dir="2700000" algn="tl">
                    <a:srgbClr val="000000">
                      <a:alpha val="43137"/>
                    </a:srgbClr>
                  </a:outerShdw>
                </a:effectLst>
              </a:rPr>
              <a:t>为</a:t>
            </a:r>
            <a:r>
              <a:rPr lang="en-US" altLang="zh-CN" b="1" dirty="0">
                <a:effectLst>
                  <a:outerShdw blurRad="38100" dist="38100" dir="2700000" algn="tl">
                    <a:srgbClr val="000000">
                      <a:alpha val="43137"/>
                    </a:srgbClr>
                  </a:outerShdw>
                </a:effectLst>
              </a:rPr>
              <a:t>0</a:t>
            </a:r>
            <a:r>
              <a:rPr lang="zh-CN" altLang="en-US" b="1" dirty="0">
                <a:effectLst>
                  <a:outerShdw blurRad="38100" dist="38100" dir="2700000" algn="tl">
                    <a:srgbClr val="000000">
                      <a:alpha val="43137"/>
                    </a:srgbClr>
                  </a:outerShdw>
                </a:effectLst>
              </a:rPr>
              <a:t>时选通</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5" descr="动态显示器">
            <a:extLst>
              <a:ext uri="{FF2B5EF4-FFF2-40B4-BE49-F238E27FC236}">
                <a16:creationId xmlns:a16="http://schemas.microsoft.com/office/drawing/2014/main" id="{B93DB2B1-05D7-4A52-9CDC-A231818EC7AA}"/>
              </a:ext>
            </a:extLst>
          </p:cNvPr>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23273" t="20670" r="26521" b="20718"/>
          <a:stretch>
            <a:fillRect/>
          </a:stretch>
        </p:blipFill>
        <p:spPr bwMode="auto">
          <a:xfrm>
            <a:off x="-23550" y="301941"/>
            <a:ext cx="4009763" cy="3295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3895" name="Picture 7">
            <a:extLst>
              <a:ext uri="{FF2B5EF4-FFF2-40B4-BE49-F238E27FC236}">
                <a16:creationId xmlns:a16="http://schemas.microsoft.com/office/drawing/2014/main" id="{6C93F131-A612-41BF-8E43-7C2C8D70E8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8743" t="31715" r="12592" b="46910"/>
          <a:stretch>
            <a:fillRect/>
          </a:stretch>
        </p:blipFill>
        <p:spPr bwMode="auto">
          <a:xfrm>
            <a:off x="3986213" y="1101725"/>
            <a:ext cx="1741487" cy="146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33896" name="Picture 8">
            <a:extLst>
              <a:ext uri="{FF2B5EF4-FFF2-40B4-BE49-F238E27FC236}">
                <a16:creationId xmlns:a16="http://schemas.microsoft.com/office/drawing/2014/main" id="{ABE867DB-9B9A-466A-96AE-9578D704D3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58846" t="31516" r="12489" b="46910"/>
          <a:stretch>
            <a:fillRect/>
          </a:stretch>
        </p:blipFill>
        <p:spPr bwMode="auto">
          <a:xfrm>
            <a:off x="5641975" y="1077913"/>
            <a:ext cx="1744663" cy="1477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33897" name="Picture 9">
            <a:extLst>
              <a:ext uri="{FF2B5EF4-FFF2-40B4-BE49-F238E27FC236}">
                <a16:creationId xmlns:a16="http://schemas.microsoft.com/office/drawing/2014/main" id="{9C267638-6890-4589-BEDF-7A4CE61FA2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42281" t="24010" r="16667" b="43983"/>
          <a:stretch>
            <a:fillRect/>
          </a:stretch>
        </p:blipFill>
        <p:spPr bwMode="auto">
          <a:xfrm>
            <a:off x="7354888" y="1079500"/>
            <a:ext cx="1665287"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933914" name="Group 26">
            <a:extLst>
              <a:ext uri="{FF2B5EF4-FFF2-40B4-BE49-F238E27FC236}">
                <a16:creationId xmlns:a16="http://schemas.microsoft.com/office/drawing/2014/main" id="{BC040605-67A6-48DE-A7DB-8DBFF92D00F4}"/>
              </a:ext>
            </a:extLst>
          </p:cNvPr>
          <p:cNvGrpSpPr>
            <a:grpSpLocks/>
          </p:cNvGrpSpPr>
          <p:nvPr/>
        </p:nvGrpSpPr>
        <p:grpSpPr bwMode="auto">
          <a:xfrm>
            <a:off x="6199188" y="3028950"/>
            <a:ext cx="2636837" cy="2559050"/>
            <a:chOff x="3905" y="1908"/>
            <a:chExt cx="1661" cy="1612"/>
          </a:xfrm>
        </p:grpSpPr>
        <p:sp>
          <p:nvSpPr>
            <p:cNvPr id="24586" name="Rectangle 12">
              <a:extLst>
                <a:ext uri="{FF2B5EF4-FFF2-40B4-BE49-F238E27FC236}">
                  <a16:creationId xmlns:a16="http://schemas.microsoft.com/office/drawing/2014/main" id="{6A4FAFF2-BEFF-4DC8-B7FD-3655EC2A85DD}"/>
                </a:ext>
              </a:extLst>
            </p:cNvPr>
            <p:cNvSpPr>
              <a:spLocks noChangeArrowheads="1"/>
            </p:cNvSpPr>
            <p:nvPr/>
          </p:nvSpPr>
          <p:spPr bwMode="auto">
            <a:xfrm>
              <a:off x="4410" y="1908"/>
              <a:ext cx="857"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t>led_point=0</a:t>
              </a:r>
            </a:p>
          </p:txBody>
        </p:sp>
        <p:sp>
          <p:nvSpPr>
            <p:cNvPr id="24587" name="Rectangle 14">
              <a:extLst>
                <a:ext uri="{FF2B5EF4-FFF2-40B4-BE49-F238E27FC236}">
                  <a16:creationId xmlns:a16="http://schemas.microsoft.com/office/drawing/2014/main" id="{646B7BA9-83FF-47B0-A4FA-B2FEE908D52C}"/>
                </a:ext>
              </a:extLst>
            </p:cNvPr>
            <p:cNvSpPr>
              <a:spLocks noChangeArrowheads="1"/>
            </p:cNvSpPr>
            <p:nvPr/>
          </p:nvSpPr>
          <p:spPr bwMode="auto">
            <a:xfrm>
              <a:off x="4159" y="2412"/>
              <a:ext cx="1305"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en-US" altLang="zh-CN" sz="1600"/>
            </a:p>
          </p:txBody>
        </p:sp>
        <p:sp>
          <p:nvSpPr>
            <p:cNvPr id="24588" name="Rectangle 16">
              <a:extLst>
                <a:ext uri="{FF2B5EF4-FFF2-40B4-BE49-F238E27FC236}">
                  <a16:creationId xmlns:a16="http://schemas.microsoft.com/office/drawing/2014/main" id="{648F23EA-D935-4C97-B123-AA2ED83BC295}"/>
                </a:ext>
              </a:extLst>
            </p:cNvPr>
            <p:cNvSpPr>
              <a:spLocks noChangeArrowheads="1"/>
            </p:cNvSpPr>
            <p:nvPr/>
          </p:nvSpPr>
          <p:spPr bwMode="auto">
            <a:xfrm>
              <a:off x="4261" y="2994"/>
              <a:ext cx="1305"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t>led_point=1-led_point</a:t>
              </a:r>
            </a:p>
          </p:txBody>
        </p:sp>
        <p:sp>
          <p:nvSpPr>
            <p:cNvPr id="24589" name="Line 17">
              <a:extLst>
                <a:ext uri="{FF2B5EF4-FFF2-40B4-BE49-F238E27FC236}">
                  <a16:creationId xmlns:a16="http://schemas.microsoft.com/office/drawing/2014/main" id="{3633739A-EDE4-4C82-B4BC-D9724C3F61ED}"/>
                </a:ext>
              </a:extLst>
            </p:cNvPr>
            <p:cNvSpPr>
              <a:spLocks noChangeShapeType="1"/>
            </p:cNvSpPr>
            <p:nvPr/>
          </p:nvSpPr>
          <p:spPr bwMode="auto">
            <a:xfrm>
              <a:off x="4826" y="2214"/>
              <a:ext cx="0" cy="20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590" name="Line 18">
              <a:extLst>
                <a:ext uri="{FF2B5EF4-FFF2-40B4-BE49-F238E27FC236}">
                  <a16:creationId xmlns:a16="http://schemas.microsoft.com/office/drawing/2014/main" id="{936C1EB3-F363-4C02-B199-50A1E805F195}"/>
                </a:ext>
              </a:extLst>
            </p:cNvPr>
            <p:cNvSpPr>
              <a:spLocks noChangeShapeType="1"/>
            </p:cNvSpPr>
            <p:nvPr/>
          </p:nvSpPr>
          <p:spPr bwMode="auto">
            <a:xfrm>
              <a:off x="4826" y="3283"/>
              <a:ext cx="0" cy="2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591" name="Line 19">
              <a:extLst>
                <a:ext uri="{FF2B5EF4-FFF2-40B4-BE49-F238E27FC236}">
                  <a16:creationId xmlns:a16="http://schemas.microsoft.com/office/drawing/2014/main" id="{6D76A7C0-D16E-4488-BDD8-CBBFF42A92B2}"/>
                </a:ext>
              </a:extLst>
            </p:cNvPr>
            <p:cNvSpPr>
              <a:spLocks noChangeShapeType="1"/>
            </p:cNvSpPr>
            <p:nvPr/>
          </p:nvSpPr>
          <p:spPr bwMode="auto">
            <a:xfrm flipH="1">
              <a:off x="3911" y="3514"/>
              <a:ext cx="90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592" name="Line 20">
              <a:extLst>
                <a:ext uri="{FF2B5EF4-FFF2-40B4-BE49-F238E27FC236}">
                  <a16:creationId xmlns:a16="http://schemas.microsoft.com/office/drawing/2014/main" id="{9001878F-80F5-4544-8AC1-9C0DC78E7B88}"/>
                </a:ext>
              </a:extLst>
            </p:cNvPr>
            <p:cNvSpPr>
              <a:spLocks noChangeShapeType="1"/>
            </p:cNvSpPr>
            <p:nvPr/>
          </p:nvSpPr>
          <p:spPr bwMode="auto">
            <a:xfrm flipV="1">
              <a:off x="3911" y="2272"/>
              <a:ext cx="0" cy="124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593" name="Line 21">
              <a:extLst>
                <a:ext uri="{FF2B5EF4-FFF2-40B4-BE49-F238E27FC236}">
                  <a16:creationId xmlns:a16="http://schemas.microsoft.com/office/drawing/2014/main" id="{C2C65766-CCD0-4550-852B-F3D386EBA673}"/>
                </a:ext>
              </a:extLst>
            </p:cNvPr>
            <p:cNvSpPr>
              <a:spLocks noChangeShapeType="1"/>
            </p:cNvSpPr>
            <p:nvPr/>
          </p:nvSpPr>
          <p:spPr bwMode="auto">
            <a:xfrm flipH="1">
              <a:off x="3905" y="2266"/>
              <a:ext cx="909" cy="0"/>
            </a:xfrm>
            <a:prstGeom prst="line">
              <a:avLst/>
            </a:prstGeom>
            <a:noFill/>
            <a:ln w="9525">
              <a:solidFill>
                <a:schemeClr val="tx1"/>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594" name="Rectangle 22">
              <a:extLst>
                <a:ext uri="{FF2B5EF4-FFF2-40B4-BE49-F238E27FC236}">
                  <a16:creationId xmlns:a16="http://schemas.microsoft.com/office/drawing/2014/main" id="{E3DF92C3-67EC-4C10-BF86-DBCCA221E2C0}"/>
                </a:ext>
              </a:extLst>
            </p:cNvPr>
            <p:cNvSpPr>
              <a:spLocks noChangeArrowheads="1"/>
            </p:cNvSpPr>
            <p:nvPr/>
          </p:nvSpPr>
          <p:spPr bwMode="auto">
            <a:xfrm>
              <a:off x="4161" y="2703"/>
              <a:ext cx="1305"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dirty="0"/>
                <a:t>P2=</a:t>
              </a:r>
              <a:r>
                <a:rPr lang="en-US" altLang="zh-CN" sz="1400" dirty="0" err="1"/>
                <a:t>led_mode</a:t>
              </a:r>
              <a:r>
                <a:rPr lang="en-US" altLang="zh-CN" sz="1400" dirty="0"/>
                <a:t>[</a:t>
              </a:r>
              <a:r>
                <a:rPr lang="en-US" altLang="zh-CN" sz="1400" dirty="0" err="1"/>
                <a:t>led_point</a:t>
              </a:r>
              <a:r>
                <a:rPr lang="en-US" altLang="zh-CN" sz="1400" dirty="0"/>
                <a:t>]</a:t>
              </a:r>
            </a:p>
            <a:p>
              <a:pPr algn="ctr" eaLnBrk="1" hangingPunct="1">
                <a:spcBef>
                  <a:spcPct val="0"/>
                </a:spcBef>
                <a:buFontTx/>
                <a:buNone/>
              </a:pPr>
              <a:endParaRPr lang="en-US" altLang="zh-CN" sz="900" dirty="0"/>
            </a:p>
          </p:txBody>
        </p:sp>
        <p:sp>
          <p:nvSpPr>
            <p:cNvPr id="24595" name="Rectangle 24">
              <a:extLst>
                <a:ext uri="{FF2B5EF4-FFF2-40B4-BE49-F238E27FC236}">
                  <a16:creationId xmlns:a16="http://schemas.microsoft.com/office/drawing/2014/main" id="{F7312410-F6B4-4C49-8AD1-15276D379737}"/>
                </a:ext>
              </a:extLst>
            </p:cNvPr>
            <p:cNvSpPr>
              <a:spLocks noChangeArrowheads="1"/>
            </p:cNvSpPr>
            <p:nvPr/>
          </p:nvSpPr>
          <p:spPr bwMode="auto">
            <a:xfrm>
              <a:off x="4287" y="2438"/>
              <a:ext cx="101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a:t>P3 =2 - led_point</a:t>
              </a:r>
              <a:endParaRPr lang="zh-CN" altLang="en-US" sz="1600"/>
            </a:p>
          </p:txBody>
        </p:sp>
      </p:grpSp>
      <p:sp>
        <p:nvSpPr>
          <p:cNvPr id="24584" name="矩形 1">
            <a:extLst>
              <a:ext uri="{FF2B5EF4-FFF2-40B4-BE49-F238E27FC236}">
                <a16:creationId xmlns:a16="http://schemas.microsoft.com/office/drawing/2014/main" id="{9F774695-17BE-4AFC-94D9-7F8BD32053C0}"/>
              </a:ext>
            </a:extLst>
          </p:cNvPr>
          <p:cNvSpPr>
            <a:spLocks noChangeArrowheads="1"/>
          </p:cNvSpPr>
          <p:nvPr/>
        </p:nvSpPr>
        <p:spPr bwMode="auto">
          <a:xfrm>
            <a:off x="671513" y="4572000"/>
            <a:ext cx="529748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zh-CN" sz="18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数组中的下标值起着穿针引线的作用，如果将其设为变量</a:t>
            </a:r>
            <a:r>
              <a:rPr lang="en-US" altLang="zh-CN" sz="1800" b="1" dirty="0" err="1">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led_point</a:t>
            </a:r>
            <a:r>
              <a:rPr lang="zh-CN" altLang="zh-CN" sz="18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，就可利用它“算出”段码（</a:t>
            </a:r>
            <a:r>
              <a:rPr lang="en-US" altLang="zh-CN" sz="18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P2</a:t>
            </a:r>
            <a:r>
              <a:rPr lang="zh-CN" altLang="zh-CN" sz="18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）和位码（</a:t>
            </a:r>
            <a:r>
              <a:rPr lang="en-US" altLang="zh-CN" sz="18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P3</a:t>
            </a:r>
            <a:r>
              <a:rPr lang="zh-CN" altLang="zh-CN" sz="18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）的当前值来</a:t>
            </a:r>
            <a:r>
              <a:rPr lang="zh-CN" altLang="en-US" sz="18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a:t>
            </a:r>
            <a:endParaRPr lang="zh-CN" altLang="en-US" sz="1800" b="1" dirty="0">
              <a:effectLst>
                <a:outerShdw blurRad="38100" dist="38100" dir="2700000" algn="tl">
                  <a:srgbClr val="000000">
                    <a:alpha val="43137"/>
                  </a:srgbClr>
                </a:outerShdw>
              </a:effectLst>
            </a:endParaRPr>
          </a:p>
        </p:txBody>
      </p:sp>
      <p:pic>
        <p:nvPicPr>
          <p:cNvPr id="24585" name="图片 3">
            <a:extLst>
              <a:ext uri="{FF2B5EF4-FFF2-40B4-BE49-F238E27FC236}">
                <a16:creationId xmlns:a16="http://schemas.microsoft.com/office/drawing/2014/main" id="{101F945C-C868-46AA-9011-511539E654B7}"/>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8044" y="3640138"/>
            <a:ext cx="5801919" cy="756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2">
            <a:extLst>
              <a:ext uri="{FF2B5EF4-FFF2-40B4-BE49-F238E27FC236}">
                <a16:creationId xmlns:a16="http://schemas.microsoft.com/office/drawing/2014/main" id="{6CB3EE44-D4E4-45B2-AE93-4A53369763A8}"/>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33895"/>
                                        </p:tgtEl>
                                        <p:attrNameLst>
                                          <p:attrName>style.visibility</p:attrName>
                                        </p:attrNameLst>
                                      </p:cBhvr>
                                      <p:to>
                                        <p:strVal val="visible"/>
                                      </p:to>
                                    </p:set>
                                    <p:animEffect transition="in" filter="blinds(horizontal)">
                                      <p:cBhvr>
                                        <p:cTn id="7" dur="500"/>
                                        <p:tgtEl>
                                          <p:spTgt spid="9338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933896"/>
                                        </p:tgtEl>
                                        <p:attrNameLst>
                                          <p:attrName>style.visibility</p:attrName>
                                        </p:attrNameLst>
                                      </p:cBhvr>
                                      <p:to>
                                        <p:strVal val="visible"/>
                                      </p:to>
                                    </p:set>
                                    <p:animEffect transition="in" filter="blinds(horizontal)">
                                      <p:cBhvr>
                                        <p:cTn id="12" dur="500"/>
                                        <p:tgtEl>
                                          <p:spTgt spid="9338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933897"/>
                                        </p:tgtEl>
                                        <p:attrNameLst>
                                          <p:attrName>style.visibility</p:attrName>
                                        </p:attrNameLst>
                                      </p:cBhvr>
                                      <p:to>
                                        <p:strVal val="visible"/>
                                      </p:to>
                                    </p:set>
                                    <p:animEffect transition="in" filter="blinds(horizontal)">
                                      <p:cBhvr>
                                        <p:cTn id="17" dur="500"/>
                                        <p:tgtEl>
                                          <p:spTgt spid="93389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933914"/>
                                        </p:tgtEl>
                                        <p:attrNameLst>
                                          <p:attrName>style.visibility</p:attrName>
                                        </p:attrNameLst>
                                      </p:cBhvr>
                                      <p:to>
                                        <p:strVal val="visible"/>
                                      </p:to>
                                    </p:set>
                                    <p:animEffect transition="in" filter="blinds(horizontal)">
                                      <p:cBhvr>
                                        <p:cTn id="22" dur="500"/>
                                        <p:tgtEl>
                                          <p:spTgt spid="9339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80EC5D06-5175-4A48-A3D3-7B3512673F80}"/>
              </a:ext>
            </a:extLst>
          </p:cNvPr>
          <p:cNvSpPr>
            <a:spLocks noChangeArrowheads="1"/>
          </p:cNvSpPr>
          <p:nvPr/>
        </p:nvSpPr>
        <p:spPr bwMode="auto">
          <a:xfrm>
            <a:off x="783872" y="913400"/>
            <a:ext cx="2805113" cy="400110"/>
          </a:xfrm>
          <a:prstGeom prst="rect">
            <a:avLst/>
          </a:prstGeom>
          <a:noFill/>
          <a:ln>
            <a:noFill/>
          </a:ln>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defRPr/>
            </a:pPr>
            <a:r>
              <a:rPr lang="zh-CN" altLang="en-US" sz="2000" b="1" dirty="0">
                <a:effectLst>
                  <a:outerShdw blurRad="38100" dist="38100" dir="2700000" algn="tl">
                    <a:srgbClr val="000000">
                      <a:alpha val="43137"/>
                    </a:srgbClr>
                  </a:outerShdw>
                </a:effectLst>
              </a:rPr>
              <a:t>实例</a:t>
            </a:r>
            <a:r>
              <a:rPr lang="en-US" altLang="zh-CN" sz="2000" b="1" dirty="0">
                <a:effectLst>
                  <a:outerShdw blurRad="38100" dist="38100" dir="2700000" algn="tl">
                    <a:srgbClr val="000000">
                      <a:alpha val="43137"/>
                    </a:srgbClr>
                  </a:outerShdw>
                </a:effectLst>
              </a:rPr>
              <a:t>6 </a:t>
            </a:r>
            <a:r>
              <a:rPr lang="zh-CN" altLang="en-US" sz="2000" b="1" dirty="0">
                <a:effectLst>
                  <a:outerShdw blurRad="38100" dist="38100" dir="2700000" algn="tl">
                    <a:srgbClr val="000000">
                      <a:alpha val="43137"/>
                    </a:srgbClr>
                  </a:outerShdw>
                </a:effectLst>
              </a:rPr>
              <a:t>源程序</a:t>
            </a:r>
            <a:endParaRPr lang="zh-CN" altLang="pt-BR" sz="2000" b="1" dirty="0">
              <a:effectLst>
                <a:outerShdw blurRad="38100" dist="38100" dir="2700000" algn="tl">
                  <a:srgbClr val="000000">
                    <a:alpha val="43137"/>
                  </a:srgbClr>
                </a:outerShdw>
              </a:effectLst>
            </a:endParaRPr>
          </a:p>
        </p:txBody>
      </p:sp>
      <p:pic>
        <p:nvPicPr>
          <p:cNvPr id="25604" name="图片 1">
            <a:extLst>
              <a:ext uri="{FF2B5EF4-FFF2-40B4-BE49-F238E27FC236}">
                <a16:creationId xmlns:a16="http://schemas.microsoft.com/office/drawing/2014/main" id="{D9744428-F699-4C0C-9B17-7FFB52DB9F3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93800" y="1506538"/>
            <a:ext cx="7046913" cy="498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5372E6A0-3134-4B9A-8D52-C1AB6482D5DF}"/>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82DF8B2-A66D-4C71-A1CB-B6EC7FD5F664}"/>
              </a:ext>
            </a:extLst>
          </p:cNvPr>
          <p:cNvSpPr txBox="1"/>
          <p:nvPr/>
        </p:nvSpPr>
        <p:spPr>
          <a:xfrm>
            <a:off x="855482" y="1083309"/>
            <a:ext cx="7433035" cy="707886"/>
          </a:xfrm>
          <a:prstGeom prst="rect">
            <a:avLst/>
          </a:prstGeom>
          <a:noFill/>
        </p:spPr>
        <p:txBody>
          <a:bodyPr wrap="square">
            <a:spAutoFit/>
          </a:bodyPr>
          <a:lstStyle/>
          <a:p>
            <a:r>
              <a:rPr lang="zh-CN" altLang="zh-CN" sz="20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操作：</a:t>
            </a:r>
            <a:r>
              <a:rPr lang="zh-CN" altLang="zh-CN" sz="2000" b="1" dirty="0">
                <a:effectLst/>
                <a:latin typeface="Times New Roman" panose="02020603050405020304" pitchFamily="18" charset="0"/>
                <a:ea typeface="宋体" panose="02010600030101010101" pitchFamily="2" charset="-122"/>
                <a:cs typeface="Times New Roman" panose="02020603050405020304" pitchFamily="18" charset="0"/>
              </a:rPr>
              <a:t>改写程序模板完成源程序输入→单击【调试】→【构建工程】→单击仿真运行按钮</a:t>
            </a:r>
            <a:r>
              <a:rPr lang="en-US" altLang="zh-CN" sz="2000" b="1"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000" b="1" dirty="0">
                <a:cs typeface="Times New Roman" panose="02020603050405020304" pitchFamily="18" charset="0"/>
              </a:rPr>
              <a:t>→编程界面和运行界面如图</a:t>
            </a:r>
            <a:r>
              <a:rPr lang="zh-CN" altLang="en-US" sz="2000" b="1" dirty="0">
                <a:cs typeface="Times New Roman" panose="02020603050405020304" pitchFamily="18" charset="0"/>
              </a:rPr>
              <a:t>所示。</a:t>
            </a:r>
            <a:endParaRPr lang="zh-CN" altLang="en-US" sz="2000" b="1" dirty="0"/>
          </a:p>
        </p:txBody>
      </p:sp>
      <p:pic>
        <p:nvPicPr>
          <p:cNvPr id="4" name="图片 3">
            <a:extLst>
              <a:ext uri="{FF2B5EF4-FFF2-40B4-BE49-F238E27FC236}">
                <a16:creationId xmlns:a16="http://schemas.microsoft.com/office/drawing/2014/main" id="{22BA8C15-9C5A-4D8B-A35C-FD57932BD01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798284" y="1474352"/>
            <a:ext cx="270255" cy="223848"/>
          </a:xfrm>
          <a:prstGeom prst="rect">
            <a:avLst/>
          </a:prstGeom>
          <a:noFill/>
          <a:ln w="6350">
            <a:solidFill>
              <a:schemeClr val="tx1"/>
            </a:solidFill>
          </a:ln>
        </p:spPr>
      </p:pic>
      <p:sp>
        <p:nvSpPr>
          <p:cNvPr id="11" name="文本框 10">
            <a:extLst>
              <a:ext uri="{FF2B5EF4-FFF2-40B4-BE49-F238E27FC236}">
                <a16:creationId xmlns:a16="http://schemas.microsoft.com/office/drawing/2014/main" id="{EA7D1E3D-3706-4A18-95F2-5305EFDDA795}"/>
              </a:ext>
            </a:extLst>
          </p:cNvPr>
          <p:cNvSpPr txBox="1"/>
          <p:nvPr/>
        </p:nvSpPr>
        <p:spPr>
          <a:xfrm>
            <a:off x="855482" y="5224435"/>
            <a:ext cx="7253925" cy="707886"/>
          </a:xfrm>
          <a:prstGeom prst="rect">
            <a:avLst/>
          </a:prstGeom>
          <a:noFill/>
        </p:spPr>
        <p:txBody>
          <a:bodyPr wrap="square">
            <a:spAutoFit/>
          </a:bodyPr>
          <a:lstStyle/>
          <a:p>
            <a:r>
              <a:rPr lang="zh-CN" altLang="zh-CN" sz="20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结果：</a:t>
            </a:r>
            <a:r>
              <a:rPr lang="zh-CN" altLang="zh-CN" sz="2000" b="1" dirty="0">
                <a:effectLst/>
                <a:latin typeface="Times New Roman" panose="02020603050405020304" pitchFamily="18" charset="0"/>
                <a:ea typeface="宋体" panose="02010600030101010101" pitchFamily="2" charset="-122"/>
                <a:cs typeface="Times New Roman" panose="02020603050405020304" pitchFamily="18" charset="0"/>
              </a:rPr>
              <a:t>实现了动态显示原理显示字符“</a:t>
            </a:r>
            <a:r>
              <a:rPr lang="en-US" altLang="zh-CN" sz="2000" b="1" dirty="0">
                <a:effectLst/>
                <a:latin typeface="Times New Roman" panose="02020603050405020304" pitchFamily="18" charset="0"/>
                <a:ea typeface="宋体" panose="02010600030101010101" pitchFamily="2" charset="-122"/>
              </a:rPr>
              <a:t>L2</a:t>
            </a:r>
            <a:r>
              <a:rPr lang="zh-CN" altLang="zh-CN" sz="2000" b="1" dirty="0">
                <a:effectLst/>
                <a:latin typeface="Times New Roman" panose="02020603050405020304" pitchFamily="18" charset="0"/>
                <a:ea typeface="宋体" panose="02010600030101010101" pitchFamily="2" charset="-122"/>
                <a:cs typeface="Times New Roman" panose="02020603050405020304" pitchFamily="18" charset="0"/>
              </a:rPr>
              <a:t>”的功能，符合题意要求，实例</a:t>
            </a:r>
            <a:r>
              <a:rPr lang="en-US" altLang="zh-CN" sz="2000" b="1" dirty="0">
                <a:effectLst/>
                <a:latin typeface="Times New Roman" panose="02020603050405020304" pitchFamily="18" charset="0"/>
                <a:ea typeface="宋体" panose="02010600030101010101" pitchFamily="2" charset="-122"/>
              </a:rPr>
              <a:t>6</a:t>
            </a:r>
            <a:r>
              <a:rPr lang="zh-CN" altLang="zh-CN" sz="2000" b="1" dirty="0">
                <a:effectLst/>
                <a:latin typeface="Times New Roman" panose="02020603050405020304" pitchFamily="18" charset="0"/>
                <a:ea typeface="宋体" panose="02010600030101010101" pitchFamily="2" charset="-122"/>
                <a:cs typeface="Times New Roman" panose="02020603050405020304" pitchFamily="18" charset="0"/>
              </a:rPr>
              <a:t>完成。</a:t>
            </a:r>
            <a:endParaRPr lang="zh-CN" altLang="en-US" sz="2000" b="1" dirty="0"/>
          </a:p>
        </p:txBody>
      </p:sp>
      <p:pic>
        <p:nvPicPr>
          <p:cNvPr id="10" name="图片 9">
            <a:extLst>
              <a:ext uri="{FF2B5EF4-FFF2-40B4-BE49-F238E27FC236}">
                <a16:creationId xmlns:a16="http://schemas.microsoft.com/office/drawing/2014/main" id="{19601C8B-D65C-45C0-8AD5-9D5CFC0E85FA}"/>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04303" y="2081236"/>
            <a:ext cx="3959860" cy="2545080"/>
          </a:xfrm>
          <a:prstGeom prst="rect">
            <a:avLst/>
          </a:prstGeom>
          <a:noFill/>
          <a:ln w="6350">
            <a:solidFill>
              <a:schemeClr val="tx1"/>
            </a:solidFill>
          </a:ln>
        </p:spPr>
      </p:pic>
      <p:pic>
        <p:nvPicPr>
          <p:cNvPr id="12" name="图片 11">
            <a:extLst>
              <a:ext uri="{FF2B5EF4-FFF2-40B4-BE49-F238E27FC236}">
                <a16:creationId xmlns:a16="http://schemas.microsoft.com/office/drawing/2014/main" id="{EE49DBFB-5FCD-4126-A047-1C0454096EB1}"/>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64417" y="2557267"/>
            <a:ext cx="3959860" cy="2545080"/>
          </a:xfrm>
          <a:prstGeom prst="rect">
            <a:avLst/>
          </a:prstGeom>
          <a:noFill/>
          <a:ln w="6350">
            <a:solidFill>
              <a:schemeClr val="tx1"/>
            </a:solidFill>
          </a:ln>
        </p:spPr>
      </p:pic>
      <p:sp>
        <p:nvSpPr>
          <p:cNvPr id="8" name="Rectangle 2">
            <a:extLst>
              <a:ext uri="{FF2B5EF4-FFF2-40B4-BE49-F238E27FC236}">
                <a16:creationId xmlns:a16="http://schemas.microsoft.com/office/drawing/2014/main" id="{6C1553C6-CA56-4340-8C58-F6535DA748E7}"/>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281793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6">
            <a:extLst>
              <a:ext uri="{FF2B5EF4-FFF2-40B4-BE49-F238E27FC236}">
                <a16:creationId xmlns:a16="http://schemas.microsoft.com/office/drawing/2014/main" id="{7FD57FAD-FDA4-4C00-93B6-D23F3FC30A7C}"/>
              </a:ext>
            </a:extLst>
          </p:cNvPr>
          <p:cNvSpPr txBox="1">
            <a:spLocks noChangeArrowheads="1"/>
          </p:cNvSpPr>
          <p:nvPr/>
        </p:nvSpPr>
        <p:spPr bwMode="auto">
          <a:xfrm>
            <a:off x="1646353" y="1846500"/>
            <a:ext cx="6347577" cy="2089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10000"/>
              </a:spcBef>
              <a:buFontTx/>
              <a:buNone/>
            </a:pPr>
            <a:r>
              <a:rPr lang="en-US" altLang="zh-CN" sz="2800" b="1" dirty="0">
                <a:effectLst>
                  <a:outerShdw blurRad="38100" dist="38100" dir="2700000" algn="tl">
                    <a:srgbClr val="000000">
                      <a:alpha val="43137"/>
                    </a:srgbClr>
                  </a:outerShdw>
                </a:effectLst>
              </a:rPr>
              <a:t>4.1  I/O</a:t>
            </a:r>
            <a:r>
              <a:rPr lang="zh-CN" altLang="zh-CN" sz="2800" b="1" dirty="0">
                <a:effectLst>
                  <a:outerShdw blurRad="38100" dist="38100" dir="2700000" algn="tl">
                    <a:srgbClr val="000000">
                      <a:alpha val="43137"/>
                    </a:srgbClr>
                  </a:outerShdw>
                </a:effectLst>
              </a:rPr>
              <a:t>端口的简单应用</a:t>
            </a:r>
            <a:endParaRPr lang="zh-CN" altLang="en-US" sz="2800" b="1" dirty="0">
              <a:effectLst>
                <a:outerShdw blurRad="38100" dist="38100" dir="2700000" algn="tl">
                  <a:srgbClr val="000000">
                    <a:alpha val="43137"/>
                  </a:srgbClr>
                </a:outerShdw>
              </a:effectLst>
            </a:endParaRPr>
          </a:p>
          <a:p>
            <a:pPr eaLnBrk="1" hangingPunct="1">
              <a:spcBef>
                <a:spcPct val="10000"/>
              </a:spcBef>
              <a:buFontTx/>
              <a:buNone/>
            </a:pPr>
            <a:r>
              <a:rPr lang="en-US" altLang="zh-CN" sz="2800" b="1" dirty="0">
                <a:solidFill>
                  <a:srgbClr val="C00000"/>
                </a:solidFill>
                <a:effectLst>
                  <a:outerShdw blurRad="38100" dist="38100" dir="2700000" algn="tl">
                    <a:srgbClr val="000000">
                      <a:alpha val="43137"/>
                    </a:srgbClr>
                  </a:outerShdw>
                </a:effectLst>
              </a:rPr>
              <a:t>4.2  I/O</a:t>
            </a:r>
            <a:r>
              <a:rPr lang="zh-CN" altLang="zh-CN" sz="2800" b="1" dirty="0">
                <a:solidFill>
                  <a:srgbClr val="C00000"/>
                </a:solidFill>
                <a:effectLst>
                  <a:outerShdw blurRad="38100" dist="38100" dir="2700000" algn="tl">
                    <a:srgbClr val="000000">
                      <a:alpha val="43137"/>
                    </a:srgbClr>
                  </a:outerShdw>
                </a:effectLst>
              </a:rPr>
              <a:t>端口的进阶实践</a:t>
            </a:r>
            <a:endParaRPr lang="en-US" altLang="zh-CN" sz="2800" b="1" dirty="0">
              <a:solidFill>
                <a:srgbClr val="C00000"/>
              </a:solidFill>
              <a:effectLst>
                <a:outerShdw blurRad="38100" dist="38100" dir="2700000" algn="tl">
                  <a:srgbClr val="000000">
                    <a:alpha val="43137"/>
                  </a:srgbClr>
                </a:outerShdw>
              </a:effectLst>
            </a:endParaRPr>
          </a:p>
          <a:p>
            <a:pPr eaLnBrk="1" hangingPunct="1">
              <a:spcBef>
                <a:spcPts val="600"/>
              </a:spcBef>
              <a:spcAft>
                <a:spcPts val="600"/>
              </a:spcAft>
              <a:buFontTx/>
              <a:buNone/>
            </a:pPr>
            <a:r>
              <a:rPr lang="en-US" altLang="zh-CN" sz="2800" b="1" dirty="0">
                <a:effectLst>
                  <a:outerShdw blurRad="38100" dist="38100" dir="2700000" algn="tl">
                    <a:srgbClr val="000000">
                      <a:alpha val="43137"/>
                    </a:srgbClr>
                  </a:outerShdw>
                </a:effectLst>
              </a:rPr>
              <a:t>      4.2.1</a:t>
            </a:r>
            <a:r>
              <a:rPr lang="zh-CN" altLang="en-US" sz="2800" b="1" dirty="0">
                <a:effectLst>
                  <a:outerShdw blurRad="38100" dist="38100" dir="2700000" algn="tl">
                    <a:srgbClr val="000000">
                      <a:alpha val="43137"/>
                    </a:srgbClr>
                  </a:outerShdw>
                </a:effectLst>
              </a:rPr>
              <a:t>数码管动态显示原理与编程</a:t>
            </a:r>
            <a:endParaRPr lang="en-US" altLang="zh-CN" sz="2800" b="1" dirty="0">
              <a:effectLst>
                <a:outerShdw blurRad="38100" dist="38100" dir="2700000" algn="tl">
                  <a:srgbClr val="000000">
                    <a:alpha val="43137"/>
                  </a:srgbClr>
                </a:outerShdw>
              </a:effectLst>
            </a:endParaRPr>
          </a:p>
          <a:p>
            <a:pPr eaLnBrk="1" hangingPunct="1">
              <a:spcBef>
                <a:spcPts val="600"/>
              </a:spcBef>
              <a:spcAft>
                <a:spcPts val="600"/>
              </a:spcAft>
              <a:buFontTx/>
              <a:buNone/>
            </a:pPr>
            <a:r>
              <a:rPr lang="zh-CN" altLang="en-US" sz="2800" b="1" dirty="0">
                <a:solidFill>
                  <a:srgbClr val="C00000"/>
                </a:solidFill>
                <a:effectLst>
                  <a:outerShdw blurRad="38100" dist="38100" dir="2700000" algn="tl">
                    <a:srgbClr val="000000">
                      <a:alpha val="43137"/>
                    </a:srgbClr>
                  </a:outerShdw>
                </a:effectLst>
              </a:rPr>
              <a:t>    </a:t>
            </a:r>
            <a:r>
              <a:rPr lang="en-US" altLang="zh-CN" sz="2800" b="1" dirty="0">
                <a:solidFill>
                  <a:srgbClr val="C00000"/>
                </a:solidFill>
                <a:effectLst>
                  <a:outerShdw blurRad="38100" dist="38100" dir="2700000" algn="tl">
                    <a:srgbClr val="000000">
                      <a:alpha val="43137"/>
                    </a:srgbClr>
                  </a:outerShdw>
                </a:effectLst>
              </a:rPr>
              <a:t>  </a:t>
            </a:r>
            <a:r>
              <a:rPr lang="en-US" altLang="zh-CN" sz="2800" b="1" dirty="0">
                <a:solidFill>
                  <a:srgbClr val="FF0000"/>
                </a:solidFill>
                <a:effectLst>
                  <a:outerShdw blurRad="38100" dist="38100" dir="2700000" algn="tl">
                    <a:srgbClr val="000000">
                      <a:alpha val="43137"/>
                    </a:srgbClr>
                  </a:outerShdw>
                </a:effectLst>
              </a:rPr>
              <a:t>4.2.2</a:t>
            </a:r>
            <a:r>
              <a:rPr lang="zh-CN" altLang="en-US" sz="2800" b="1" dirty="0">
                <a:solidFill>
                  <a:srgbClr val="FF0000"/>
                </a:solidFill>
                <a:effectLst>
                  <a:outerShdw blurRad="38100" dist="38100" dir="2700000" algn="tl">
                    <a:srgbClr val="000000">
                      <a:alpha val="43137"/>
                    </a:srgbClr>
                  </a:outerShdw>
                </a:effectLst>
              </a:rPr>
              <a:t>行列式键盘原理与编程 </a:t>
            </a:r>
          </a:p>
        </p:txBody>
      </p:sp>
      <p:sp>
        <p:nvSpPr>
          <p:cNvPr id="4" name="Rectangle 2">
            <a:extLst>
              <a:ext uri="{FF2B5EF4-FFF2-40B4-BE49-F238E27FC236}">
                <a16:creationId xmlns:a16="http://schemas.microsoft.com/office/drawing/2014/main" id="{FF403FAF-7C21-41AC-BA38-C6C2CD2A8E7F}"/>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11293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000" fill="hold"/>
                                        <p:tgtEl>
                                          <p:spTgt spid="18434">
                                            <p:txEl>
                                              <p:pRg st="3" end="3"/>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a:extLst>
              <a:ext uri="{FF2B5EF4-FFF2-40B4-BE49-F238E27FC236}">
                <a16:creationId xmlns:a16="http://schemas.microsoft.com/office/drawing/2014/main" id="{49019220-6029-42CC-B3BE-A9D0642D0D31}"/>
              </a:ext>
            </a:extLst>
          </p:cNvPr>
          <p:cNvSpPr txBox="1">
            <a:spLocks noChangeArrowheads="1"/>
          </p:cNvSpPr>
          <p:nvPr/>
        </p:nvSpPr>
        <p:spPr bwMode="auto">
          <a:xfrm>
            <a:off x="2796363" y="2144211"/>
            <a:ext cx="4931753" cy="1031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10000"/>
              </a:spcBef>
              <a:buFontTx/>
              <a:buNone/>
            </a:pPr>
            <a:r>
              <a:rPr lang="en-US" altLang="zh-CN" sz="2800" b="1" dirty="0">
                <a:effectLst>
                  <a:outerShdw blurRad="38100" dist="38100" dir="2700000" algn="tl">
                    <a:srgbClr val="000000">
                      <a:alpha val="43137"/>
                    </a:srgbClr>
                  </a:outerShdw>
                </a:effectLst>
              </a:rPr>
              <a:t>1  </a:t>
            </a:r>
            <a:r>
              <a:rPr lang="zh-CN" altLang="en-US" sz="2800" b="1" dirty="0">
                <a:effectLst>
                  <a:outerShdw blurRad="38100" dist="38100" dir="2700000" algn="tl">
                    <a:srgbClr val="000000">
                      <a:alpha val="43137"/>
                    </a:srgbClr>
                  </a:outerShdw>
                </a:effectLst>
              </a:rPr>
              <a:t>独立式键盘</a:t>
            </a:r>
            <a:endParaRPr lang="en-US" altLang="zh-CN" sz="2800" b="1" dirty="0">
              <a:effectLst>
                <a:outerShdw blurRad="38100" dist="38100" dir="2700000" algn="tl">
                  <a:srgbClr val="000000">
                    <a:alpha val="43137"/>
                  </a:srgbClr>
                </a:outerShdw>
              </a:effectLst>
            </a:endParaRPr>
          </a:p>
          <a:p>
            <a:pPr eaLnBrk="1" hangingPunct="1">
              <a:spcBef>
                <a:spcPts val="600"/>
              </a:spcBef>
              <a:spcAft>
                <a:spcPts val="600"/>
              </a:spcAft>
              <a:buFontTx/>
              <a:buNone/>
            </a:pPr>
            <a:r>
              <a:rPr lang="en-US" altLang="zh-CN" sz="2800" b="1" dirty="0">
                <a:solidFill>
                  <a:srgbClr val="C00000"/>
                </a:solidFill>
                <a:effectLst>
                  <a:outerShdw blurRad="38100" dist="38100" dir="2700000" algn="tl">
                    <a:srgbClr val="000000">
                      <a:alpha val="43137"/>
                    </a:srgbClr>
                  </a:outerShdw>
                </a:effectLst>
              </a:rPr>
              <a:t>2  </a:t>
            </a:r>
            <a:r>
              <a:rPr lang="zh-CN" altLang="en-US" sz="2800" b="1" dirty="0">
                <a:solidFill>
                  <a:srgbClr val="FF0000"/>
                </a:solidFill>
                <a:effectLst>
                  <a:outerShdw blurRad="38100" dist="38100" dir="2700000" algn="tl">
                    <a:srgbClr val="000000">
                      <a:alpha val="43137"/>
                    </a:srgbClr>
                  </a:outerShdw>
                </a:effectLst>
              </a:rPr>
              <a:t>行列式键盘</a:t>
            </a:r>
          </a:p>
        </p:txBody>
      </p:sp>
    </p:spTree>
    <p:extLst>
      <p:ext uri="{BB962C8B-B14F-4D97-AF65-F5344CB8AC3E}">
        <p14:creationId xmlns:p14="http://schemas.microsoft.com/office/powerpoint/2010/main" val="2911534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000" fill="hold"/>
                                        <p:tgtEl>
                                          <p:spTgt spid="2">
                                            <p:txEl>
                                              <p:pRg st="1" end="1"/>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4">
            <a:extLst>
              <a:ext uri="{FF2B5EF4-FFF2-40B4-BE49-F238E27FC236}">
                <a16:creationId xmlns:a16="http://schemas.microsoft.com/office/drawing/2014/main" id="{6B437450-6ED7-4BF8-8611-1BB582F117E8}"/>
              </a:ext>
            </a:extLst>
          </p:cNvPr>
          <p:cNvSpPr>
            <a:spLocks noChangeArrowheads="1"/>
          </p:cNvSpPr>
          <p:nvPr/>
        </p:nvSpPr>
        <p:spPr bwMode="auto">
          <a:xfrm>
            <a:off x="853505" y="803440"/>
            <a:ext cx="7436989" cy="936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FontTx/>
              <a:buNone/>
            </a:pPr>
            <a:r>
              <a:rPr lang="zh-CN" altLang="en-US" sz="2400" b="1" dirty="0">
                <a:effectLst>
                  <a:outerShdw blurRad="38100" dist="38100" dir="2700000" algn="tl">
                    <a:srgbClr val="000000">
                      <a:alpha val="43137"/>
                    </a:srgbClr>
                  </a:outerShdw>
                </a:effectLst>
              </a:rPr>
              <a:t>独立式键盘的电路简单，易于编程，但占用的</a:t>
            </a:r>
            <a:r>
              <a:rPr lang="en-US" altLang="zh-CN" sz="2400" b="1" dirty="0">
                <a:effectLst>
                  <a:outerShdw blurRad="38100" dist="38100" dir="2700000" algn="tl">
                    <a:srgbClr val="000000">
                      <a:alpha val="43137"/>
                    </a:srgbClr>
                  </a:outerShdw>
                </a:effectLst>
              </a:rPr>
              <a:t>I/O</a:t>
            </a:r>
            <a:r>
              <a:rPr lang="zh-CN" altLang="en-US" sz="2400" b="1" dirty="0">
                <a:effectLst>
                  <a:outerShdw blurRad="38100" dist="38100" dir="2700000" algn="tl">
                    <a:srgbClr val="000000">
                      <a:alpha val="43137"/>
                    </a:srgbClr>
                  </a:outerShdw>
                </a:effectLst>
              </a:rPr>
              <a:t>口线较多，当需要较多按键时可能产生</a:t>
            </a:r>
            <a:r>
              <a:rPr lang="en-US" altLang="zh-CN" sz="2400" b="1" dirty="0">
                <a:effectLst>
                  <a:outerShdw blurRad="38100" dist="38100" dir="2700000" algn="tl">
                    <a:srgbClr val="000000">
                      <a:alpha val="43137"/>
                    </a:srgbClr>
                  </a:outerShdw>
                </a:effectLst>
              </a:rPr>
              <a:t>IO</a:t>
            </a:r>
            <a:r>
              <a:rPr lang="zh-CN" altLang="en-US" sz="2400" b="1" dirty="0">
                <a:effectLst>
                  <a:outerShdw blurRad="38100" dist="38100" dir="2700000" algn="tl">
                    <a:srgbClr val="000000">
                      <a:alpha val="43137"/>
                    </a:srgbClr>
                  </a:outerShdw>
                </a:effectLst>
              </a:rPr>
              <a:t>口资源紧张问题。</a:t>
            </a:r>
          </a:p>
        </p:txBody>
      </p:sp>
      <p:sp>
        <p:nvSpPr>
          <p:cNvPr id="27652" name="Rectangle 6">
            <a:extLst>
              <a:ext uri="{FF2B5EF4-FFF2-40B4-BE49-F238E27FC236}">
                <a16:creationId xmlns:a16="http://schemas.microsoft.com/office/drawing/2014/main" id="{DF36495B-8599-4263-9CC1-02DDD0C4B9B7}"/>
              </a:ext>
            </a:extLst>
          </p:cNvPr>
          <p:cNvSpPr>
            <a:spLocks noChangeArrowheads="1"/>
          </p:cNvSpPr>
          <p:nvPr/>
        </p:nvSpPr>
        <p:spPr bwMode="auto">
          <a:xfrm>
            <a:off x="6021356" y="2653853"/>
            <a:ext cx="26797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b="1" dirty="0">
                <a:solidFill>
                  <a:srgbClr val="FF3300"/>
                </a:solidFill>
                <a:effectLst>
                  <a:outerShdw blurRad="38100" dist="38100" dir="2700000" algn="tl">
                    <a:srgbClr val="000000">
                      <a:alpha val="43137"/>
                    </a:srgbClr>
                  </a:outerShdw>
                </a:effectLst>
              </a:rPr>
              <a:t>独立式键盘电路</a:t>
            </a:r>
          </a:p>
        </p:txBody>
      </p:sp>
      <p:pic>
        <p:nvPicPr>
          <p:cNvPr id="27653" name="Picture 22" descr="实例1">
            <a:extLst>
              <a:ext uri="{FF2B5EF4-FFF2-40B4-BE49-F238E27FC236}">
                <a16:creationId xmlns:a16="http://schemas.microsoft.com/office/drawing/2014/main" id="{81F58DBA-B4E8-45C2-9FDD-5952BA0E0FC5}"/>
              </a:ext>
            </a:extLst>
          </p:cNvPr>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23698" t="23399" r="30119" b="24060"/>
          <a:stretch>
            <a:fillRect/>
          </a:stretch>
        </p:blipFill>
        <p:spPr bwMode="auto">
          <a:xfrm>
            <a:off x="1281081" y="2167522"/>
            <a:ext cx="5140039" cy="4055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5890F9EA-01DC-4E33-970F-91FB870D59B7}"/>
              </a:ext>
            </a:extLst>
          </p:cNvPr>
          <p:cNvSpPr/>
          <p:nvPr/>
        </p:nvSpPr>
        <p:spPr bwMode="auto">
          <a:xfrm>
            <a:off x="3308808" y="2167522"/>
            <a:ext cx="2306148" cy="1772882"/>
          </a:xfrm>
          <a:prstGeom prst="rect">
            <a:avLst/>
          </a:prstGeom>
          <a:noFill/>
          <a:ln w="9525" cap="flat" cmpd="sng" algn="ctr">
            <a:solidFill>
              <a:srgbClr val="FF000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a:ln>
                <a:noFill/>
              </a:ln>
              <a:solidFill>
                <a:schemeClr val="tx1"/>
              </a:solidFill>
              <a:effectLst>
                <a:outerShdw blurRad="38100" dist="38100" dir="2700000" algn="tl">
                  <a:srgbClr val="000000">
                    <a:alpha val="43137"/>
                  </a:srgbClr>
                </a:outerShdw>
              </a:effectLst>
              <a:latin typeface="Times New Roman" pitchFamily="18" charset="0"/>
              <a:ea typeface="宋体" pitchFamily="2" charset="-122"/>
            </a:endParaRPr>
          </a:p>
        </p:txBody>
      </p:sp>
      <p:sp>
        <p:nvSpPr>
          <p:cNvPr id="7" name="Rectangle 2">
            <a:extLst>
              <a:ext uri="{FF2B5EF4-FFF2-40B4-BE49-F238E27FC236}">
                <a16:creationId xmlns:a16="http://schemas.microsoft.com/office/drawing/2014/main" id="{C2CCCD42-43C6-48B4-BC77-F7673D5C79FA}"/>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
        <p:nvSpPr>
          <p:cNvPr id="8" name="Text Box 6">
            <a:extLst>
              <a:ext uri="{FF2B5EF4-FFF2-40B4-BE49-F238E27FC236}">
                <a16:creationId xmlns:a16="http://schemas.microsoft.com/office/drawing/2014/main" id="{BEF02FA5-A8E5-415D-BE10-BDED34522B40}"/>
              </a:ext>
            </a:extLst>
          </p:cNvPr>
          <p:cNvSpPr txBox="1">
            <a:spLocks noChangeArrowheads="1"/>
          </p:cNvSpPr>
          <p:nvPr/>
        </p:nvSpPr>
        <p:spPr bwMode="auto">
          <a:xfrm>
            <a:off x="432410" y="165253"/>
            <a:ext cx="493175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10000"/>
              </a:spcBef>
              <a:buFontTx/>
              <a:buNone/>
            </a:pPr>
            <a:r>
              <a:rPr lang="en-US" altLang="zh-CN" sz="2800" b="1" dirty="0">
                <a:solidFill>
                  <a:srgbClr val="0000FF"/>
                </a:solidFill>
                <a:effectLst>
                  <a:outerShdw blurRad="38100" dist="38100" dir="2700000" algn="tl">
                    <a:srgbClr val="000000">
                      <a:alpha val="43137"/>
                    </a:srgbClr>
                  </a:outerShdw>
                </a:effectLst>
              </a:rPr>
              <a:t>1  </a:t>
            </a:r>
            <a:r>
              <a:rPr lang="zh-CN" altLang="en-US" sz="2800" b="1" dirty="0">
                <a:solidFill>
                  <a:srgbClr val="0000FF"/>
                </a:solidFill>
                <a:effectLst>
                  <a:outerShdw blurRad="38100" dist="38100" dir="2700000" algn="tl">
                    <a:srgbClr val="000000">
                      <a:alpha val="43137"/>
                    </a:srgbClr>
                  </a:outerShdw>
                </a:effectLst>
              </a:rPr>
              <a:t>独立式键盘</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7" name="图片 2">
            <a:extLst>
              <a:ext uri="{FF2B5EF4-FFF2-40B4-BE49-F238E27FC236}">
                <a16:creationId xmlns:a16="http://schemas.microsoft.com/office/drawing/2014/main" id="{8DE31B1E-6DA7-4009-8BBA-2A1F064533CF}"/>
              </a:ext>
            </a:extLst>
          </p:cNvPr>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4042" t="20350" r="18065" b="35634"/>
          <a:stretch/>
        </p:blipFill>
        <p:spPr bwMode="auto">
          <a:xfrm>
            <a:off x="814183" y="1931165"/>
            <a:ext cx="6478136" cy="3306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4" name="Rectangle 3">
            <a:extLst>
              <a:ext uri="{FF2B5EF4-FFF2-40B4-BE49-F238E27FC236}">
                <a16:creationId xmlns:a16="http://schemas.microsoft.com/office/drawing/2014/main" id="{748AF1C6-0C09-4560-B88D-425A56D28AF1}"/>
              </a:ext>
            </a:extLst>
          </p:cNvPr>
          <p:cNvSpPr>
            <a:spLocks noChangeArrowheads="1"/>
          </p:cNvSpPr>
          <p:nvPr/>
        </p:nvSpPr>
        <p:spPr bwMode="auto">
          <a:xfrm>
            <a:off x="814183" y="894041"/>
            <a:ext cx="7515634" cy="936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None/>
            </a:pPr>
            <a:r>
              <a:rPr lang="zh-CN" altLang="en-US" sz="2400" b="1" dirty="0">
                <a:effectLst>
                  <a:outerShdw blurRad="38100" dist="38100" dir="2700000" algn="tl">
                    <a:srgbClr val="000000">
                      <a:alpha val="43137"/>
                    </a:srgbClr>
                  </a:outerShdw>
                </a:effectLst>
              </a:rPr>
              <a:t>行列式键盘</a:t>
            </a:r>
            <a:r>
              <a:rPr lang="en-US" altLang="zh-CN" sz="2400" b="1" dirty="0">
                <a:effectLst>
                  <a:outerShdw blurRad="38100" dist="38100" dir="2700000" algn="tl">
                    <a:srgbClr val="000000">
                      <a:alpha val="43137"/>
                    </a:srgbClr>
                  </a:outerShdw>
                </a:effectLst>
              </a:rPr>
              <a:t>——</a:t>
            </a:r>
            <a:r>
              <a:rPr lang="zh-CN" altLang="en-US" sz="2400" b="1" dirty="0">
                <a:effectLst>
                  <a:outerShdw blurRad="38100" dist="38100" dir="2700000" algn="tl">
                    <a:srgbClr val="000000">
                      <a:alpha val="43137"/>
                    </a:srgbClr>
                  </a:outerShdw>
                </a:effectLst>
              </a:rPr>
              <a:t>将</a:t>
            </a:r>
            <a:r>
              <a:rPr lang="en-US" altLang="zh-CN" sz="2400" b="1" dirty="0">
                <a:effectLst>
                  <a:outerShdw blurRad="38100" dist="38100" dir="2700000" algn="tl">
                    <a:srgbClr val="000000">
                      <a:alpha val="43137"/>
                    </a:srgbClr>
                  </a:outerShdw>
                </a:effectLst>
              </a:rPr>
              <a:t>I/O</a:t>
            </a:r>
            <a:r>
              <a:rPr lang="zh-CN" altLang="en-US" sz="2400" b="1" dirty="0">
                <a:effectLst>
                  <a:outerShdw blurRad="38100" dist="38100" dir="2700000" algn="tl">
                    <a:srgbClr val="000000">
                      <a:alpha val="43137"/>
                    </a:srgbClr>
                  </a:outerShdw>
                </a:effectLst>
              </a:rPr>
              <a:t>口分为行线和列线，按键跨接在行线和列线上，列线通过上拉电阻接正电源。 </a:t>
            </a:r>
          </a:p>
        </p:txBody>
      </p:sp>
      <p:sp>
        <p:nvSpPr>
          <p:cNvPr id="28675" name="Rectangle 4">
            <a:extLst>
              <a:ext uri="{FF2B5EF4-FFF2-40B4-BE49-F238E27FC236}">
                <a16:creationId xmlns:a16="http://schemas.microsoft.com/office/drawing/2014/main" id="{163538A5-914F-4180-A1B5-B7062273B4F1}"/>
              </a:ext>
            </a:extLst>
          </p:cNvPr>
          <p:cNvSpPr>
            <a:spLocks noChangeArrowheads="1"/>
          </p:cNvSpPr>
          <p:nvPr/>
        </p:nvSpPr>
        <p:spPr bwMode="auto">
          <a:xfrm>
            <a:off x="7327905" y="2025784"/>
            <a:ext cx="114589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b="1" dirty="0">
                <a:solidFill>
                  <a:srgbClr val="CC3300"/>
                </a:solidFill>
                <a:effectLst>
                  <a:outerShdw blurRad="38100" dist="38100" dir="2700000" algn="tl">
                    <a:srgbClr val="000000">
                      <a:alpha val="43137"/>
                    </a:srgbClr>
                  </a:outerShdw>
                </a:effectLst>
              </a:rPr>
              <a:t>4×4</a:t>
            </a:r>
            <a:r>
              <a:rPr lang="zh-CN" altLang="en-US" sz="1800" b="1" dirty="0">
                <a:solidFill>
                  <a:srgbClr val="CC3300"/>
                </a:solidFill>
                <a:effectLst>
                  <a:outerShdw blurRad="38100" dist="38100" dir="2700000" algn="tl">
                    <a:srgbClr val="000000">
                      <a:alpha val="43137"/>
                    </a:srgbClr>
                  </a:outerShdw>
                </a:effectLst>
              </a:rPr>
              <a:t>行列式键盘</a:t>
            </a:r>
          </a:p>
        </p:txBody>
      </p:sp>
      <p:sp>
        <p:nvSpPr>
          <p:cNvPr id="373765" name="Rectangle 5">
            <a:extLst>
              <a:ext uri="{FF2B5EF4-FFF2-40B4-BE49-F238E27FC236}">
                <a16:creationId xmlns:a16="http://schemas.microsoft.com/office/drawing/2014/main" id="{259852C5-8454-4486-9519-FF91CA411833}"/>
              </a:ext>
            </a:extLst>
          </p:cNvPr>
          <p:cNvSpPr>
            <a:spLocks noChangeArrowheads="1"/>
          </p:cNvSpPr>
          <p:nvPr/>
        </p:nvSpPr>
        <p:spPr bwMode="auto">
          <a:xfrm>
            <a:off x="814183" y="5338288"/>
            <a:ext cx="759829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dirty="0">
                <a:solidFill>
                  <a:srgbClr val="CC3300"/>
                </a:solidFill>
                <a:effectLst>
                  <a:outerShdw blurRad="38100" dist="38100" dir="2700000" algn="tl">
                    <a:srgbClr val="000000">
                      <a:alpha val="43137"/>
                    </a:srgbClr>
                  </a:outerShdw>
                </a:effectLst>
              </a:rPr>
              <a:t>行列式键盘的特点</a:t>
            </a:r>
            <a:r>
              <a:rPr lang="zh-CN" altLang="en-US" sz="2400" b="1" dirty="0">
                <a:effectLst>
                  <a:outerShdw blurRad="38100" dist="38100" dir="2700000" algn="tl">
                    <a:srgbClr val="000000">
                      <a:alpha val="43137"/>
                    </a:srgbClr>
                  </a:outerShdw>
                </a:effectLst>
              </a:rPr>
              <a:t>：占用</a:t>
            </a:r>
            <a:r>
              <a:rPr lang="en-US" altLang="zh-CN" sz="2400" b="1" dirty="0">
                <a:effectLst>
                  <a:outerShdw blurRad="38100" dist="38100" dir="2700000" algn="tl">
                    <a:srgbClr val="000000">
                      <a:alpha val="43137"/>
                    </a:srgbClr>
                  </a:outerShdw>
                </a:effectLst>
              </a:rPr>
              <a:t>I/O</a:t>
            </a:r>
            <a:r>
              <a:rPr lang="zh-CN" altLang="en-US" sz="2400" b="1" dirty="0">
                <a:effectLst>
                  <a:outerShdw blurRad="38100" dist="38100" dir="2700000" algn="tl">
                    <a:srgbClr val="000000">
                      <a:alpha val="43137"/>
                    </a:srgbClr>
                  </a:outerShdw>
                </a:effectLst>
              </a:rPr>
              <a:t>口线少，但软件处理过程复杂。</a:t>
            </a:r>
          </a:p>
        </p:txBody>
      </p:sp>
      <p:sp>
        <p:nvSpPr>
          <p:cNvPr id="7" name="Rectangle 2">
            <a:extLst>
              <a:ext uri="{FF2B5EF4-FFF2-40B4-BE49-F238E27FC236}">
                <a16:creationId xmlns:a16="http://schemas.microsoft.com/office/drawing/2014/main" id="{83B9C7B1-3E47-4A95-AC30-32C96A06B079}"/>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
        <p:nvSpPr>
          <p:cNvPr id="8" name="Rectangle 4">
            <a:extLst>
              <a:ext uri="{FF2B5EF4-FFF2-40B4-BE49-F238E27FC236}">
                <a16:creationId xmlns:a16="http://schemas.microsoft.com/office/drawing/2014/main" id="{AA225CEF-0DE8-4937-A0A5-6DD13C07B2AD}"/>
              </a:ext>
            </a:extLst>
          </p:cNvPr>
          <p:cNvSpPr>
            <a:spLocks noChangeArrowheads="1"/>
          </p:cNvSpPr>
          <p:nvPr/>
        </p:nvSpPr>
        <p:spPr bwMode="auto">
          <a:xfrm>
            <a:off x="7292319" y="2867512"/>
            <a:ext cx="1581806"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b="1" dirty="0">
                <a:solidFill>
                  <a:srgbClr val="CC3300"/>
                </a:solidFill>
                <a:effectLst>
                  <a:outerShdw blurRad="38100" dist="38100" dir="2700000" algn="tl">
                    <a:srgbClr val="000000">
                      <a:alpha val="43137"/>
                    </a:srgbClr>
                  </a:outerShdw>
                </a:effectLst>
              </a:rPr>
              <a:t>根据按键按压前后，所在行线的</a:t>
            </a:r>
            <a:r>
              <a:rPr lang="en-US" altLang="zh-CN" sz="2000" b="1" dirty="0">
                <a:solidFill>
                  <a:srgbClr val="CC3300"/>
                </a:solidFill>
                <a:effectLst>
                  <a:outerShdw blurRad="38100" dist="38100" dir="2700000" algn="tl">
                    <a:srgbClr val="000000">
                      <a:alpha val="43137"/>
                    </a:srgbClr>
                  </a:outerShdw>
                </a:effectLst>
              </a:rPr>
              <a:t>I/O</a:t>
            </a:r>
            <a:r>
              <a:rPr lang="zh-CN" altLang="en-US" sz="2000" b="1" dirty="0">
                <a:solidFill>
                  <a:srgbClr val="CC3300"/>
                </a:solidFill>
                <a:effectLst>
                  <a:outerShdw blurRad="38100" dist="38100" dir="2700000" algn="tl">
                    <a:srgbClr val="000000">
                      <a:alpha val="43137"/>
                    </a:srgbClr>
                  </a:outerShdw>
                </a:effectLst>
              </a:rPr>
              <a:t>口电平是否出现翻转，判断有无按键闭合动作。</a:t>
            </a:r>
          </a:p>
        </p:txBody>
      </p:sp>
      <p:sp>
        <p:nvSpPr>
          <p:cNvPr id="9" name="Text Box 6">
            <a:extLst>
              <a:ext uri="{FF2B5EF4-FFF2-40B4-BE49-F238E27FC236}">
                <a16:creationId xmlns:a16="http://schemas.microsoft.com/office/drawing/2014/main" id="{27236855-1B5E-4B1E-8D58-AAF99053A893}"/>
              </a:ext>
            </a:extLst>
          </p:cNvPr>
          <p:cNvSpPr txBox="1">
            <a:spLocks noChangeArrowheads="1"/>
          </p:cNvSpPr>
          <p:nvPr/>
        </p:nvSpPr>
        <p:spPr bwMode="auto">
          <a:xfrm>
            <a:off x="432410" y="137545"/>
            <a:ext cx="493175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ts val="600"/>
              </a:spcBef>
              <a:spcAft>
                <a:spcPts val="600"/>
              </a:spcAft>
              <a:buFontTx/>
              <a:buNone/>
            </a:pPr>
            <a:r>
              <a:rPr lang="en-US" altLang="zh-CN" sz="2800" b="1" dirty="0">
                <a:solidFill>
                  <a:srgbClr val="0000FF"/>
                </a:solidFill>
                <a:effectLst>
                  <a:outerShdw blurRad="38100" dist="38100" dir="2700000" algn="tl">
                    <a:srgbClr val="000000">
                      <a:alpha val="43137"/>
                    </a:srgbClr>
                  </a:outerShdw>
                </a:effectLst>
              </a:rPr>
              <a:t>2  </a:t>
            </a:r>
            <a:r>
              <a:rPr lang="zh-CN" altLang="en-US" sz="2800" b="1" dirty="0">
                <a:solidFill>
                  <a:srgbClr val="0000FF"/>
                </a:solidFill>
                <a:effectLst>
                  <a:outerShdw blurRad="38100" dist="38100" dir="2700000" algn="tl">
                    <a:srgbClr val="000000">
                      <a:alpha val="43137"/>
                    </a:srgbClr>
                  </a:outerShdw>
                </a:effectLst>
              </a:rPr>
              <a:t>行列式键盘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000" fill="hold"/>
                                        <p:tgtEl>
                                          <p:spTgt spid="9">
                                            <p:txEl>
                                              <p:pRg st="0" end="0"/>
                                            </p:txEl>
                                          </p:spTgt>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arn(inVertical)">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图片 11">
            <a:extLst>
              <a:ext uri="{FF2B5EF4-FFF2-40B4-BE49-F238E27FC236}">
                <a16:creationId xmlns:a16="http://schemas.microsoft.com/office/drawing/2014/main" id="{EA53D822-91CF-4795-B80E-860EA2391BC4}"/>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1237" t="16289" r="18065" b="32974"/>
          <a:stretch>
            <a:fillRect/>
          </a:stretch>
        </p:blipFill>
        <p:spPr bwMode="auto">
          <a:xfrm>
            <a:off x="622300" y="1624013"/>
            <a:ext cx="6102350" cy="308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6115" name="Rectangle 3">
            <a:extLst>
              <a:ext uri="{FF2B5EF4-FFF2-40B4-BE49-F238E27FC236}">
                <a16:creationId xmlns:a16="http://schemas.microsoft.com/office/drawing/2014/main" id="{651287A9-72AD-4EA0-8469-69717B40AFBE}"/>
              </a:ext>
            </a:extLst>
          </p:cNvPr>
          <p:cNvSpPr>
            <a:spLocks noChangeArrowheads="1"/>
          </p:cNvSpPr>
          <p:nvPr/>
        </p:nvSpPr>
        <p:spPr bwMode="auto">
          <a:xfrm>
            <a:off x="955675" y="4745008"/>
            <a:ext cx="5435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b="1" dirty="0">
                <a:solidFill>
                  <a:srgbClr val="0066FF"/>
                </a:solidFill>
                <a:effectLst>
                  <a:outerShdw blurRad="38100" dist="38100" dir="2700000" algn="tl">
                    <a:srgbClr val="000000">
                      <a:alpha val="43137"/>
                    </a:srgbClr>
                  </a:outerShdw>
                </a:effectLst>
              </a:rPr>
              <a:t>第一步</a:t>
            </a:r>
            <a:r>
              <a:rPr lang="en-US" altLang="zh-CN" sz="2000" b="1" dirty="0">
                <a:solidFill>
                  <a:srgbClr val="0066FF"/>
                </a:solidFill>
                <a:effectLst>
                  <a:outerShdw blurRad="38100" dist="38100" dir="2700000" algn="tl">
                    <a:srgbClr val="000000">
                      <a:alpha val="43137"/>
                    </a:srgbClr>
                  </a:outerShdw>
                </a:effectLst>
              </a:rPr>
              <a:t> </a:t>
            </a:r>
            <a:r>
              <a:rPr lang="zh-CN" altLang="en-US" sz="2000" b="1" dirty="0">
                <a:solidFill>
                  <a:srgbClr val="0066FF"/>
                </a:solidFill>
                <a:effectLst>
                  <a:outerShdw blurRad="38100" dist="38100" dir="2700000" algn="tl">
                    <a:srgbClr val="000000">
                      <a:alpha val="43137"/>
                    </a:srgbClr>
                  </a:outerShdw>
                </a:effectLst>
              </a:rPr>
              <a:t>键盘列扫描</a:t>
            </a:r>
            <a:endParaRPr lang="zh-CN" altLang="en-US" sz="2000" b="1" dirty="0">
              <a:effectLst>
                <a:outerShdw blurRad="38100" dist="38100" dir="2700000" algn="tl">
                  <a:srgbClr val="000000">
                    <a:alpha val="43137"/>
                  </a:srgbClr>
                </a:outerShdw>
              </a:effectLst>
            </a:endParaRPr>
          </a:p>
        </p:txBody>
      </p:sp>
      <p:sp>
        <p:nvSpPr>
          <p:cNvPr id="346127" name="Rectangle 3">
            <a:extLst>
              <a:ext uri="{FF2B5EF4-FFF2-40B4-BE49-F238E27FC236}">
                <a16:creationId xmlns:a16="http://schemas.microsoft.com/office/drawing/2014/main" id="{2C3DFAD2-98BC-439B-ABD4-C77E92CE5080}"/>
              </a:ext>
            </a:extLst>
          </p:cNvPr>
          <p:cNvSpPr>
            <a:spLocks noChangeArrowheads="1"/>
          </p:cNvSpPr>
          <p:nvPr/>
        </p:nvSpPr>
        <p:spPr bwMode="auto">
          <a:xfrm>
            <a:off x="3438720" y="4723576"/>
            <a:ext cx="494170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b="1" dirty="0">
                <a:solidFill>
                  <a:srgbClr val="FF3300"/>
                </a:solidFill>
                <a:effectLst>
                  <a:outerShdw blurRad="38100" dist="38100" dir="2700000" algn="tl">
                    <a:srgbClr val="000000">
                      <a:alpha val="43137"/>
                    </a:srgbClr>
                  </a:outerShdw>
                </a:effectLst>
              </a:rPr>
              <a:t>    各行电平同时置</a:t>
            </a:r>
            <a:r>
              <a:rPr lang="en-US" altLang="zh-CN" sz="2000" b="1" dirty="0">
                <a:solidFill>
                  <a:srgbClr val="FF3300"/>
                </a:solidFill>
                <a:effectLst>
                  <a:outerShdw blurRad="38100" dist="38100" dir="2700000" algn="tl">
                    <a:srgbClr val="000000">
                      <a:alpha val="43137"/>
                    </a:srgbClr>
                  </a:outerShdw>
                </a:effectLst>
              </a:rPr>
              <a:t>1</a:t>
            </a:r>
            <a:r>
              <a:rPr lang="zh-CN" altLang="en-US" sz="2000" b="1" dirty="0">
                <a:solidFill>
                  <a:srgbClr val="FF3300"/>
                </a:solidFill>
                <a:effectLst>
                  <a:outerShdw blurRad="38100" dist="38100" dir="2700000" algn="tl">
                    <a:srgbClr val="000000">
                      <a:alpha val="43137"/>
                    </a:srgbClr>
                  </a:outerShdw>
                </a:effectLst>
              </a:rPr>
              <a:t>，各列电平轮流清</a:t>
            </a:r>
            <a:r>
              <a:rPr lang="en-US" altLang="zh-CN" sz="2000" b="1" dirty="0">
                <a:solidFill>
                  <a:srgbClr val="FF3300"/>
                </a:solidFill>
                <a:effectLst>
                  <a:outerShdw blurRad="38100" dist="38100" dir="2700000" algn="tl">
                    <a:srgbClr val="000000">
                      <a:alpha val="43137"/>
                    </a:srgbClr>
                  </a:outerShdw>
                </a:effectLst>
              </a:rPr>
              <a:t>0</a:t>
            </a:r>
            <a:r>
              <a:rPr lang="zh-CN" altLang="en-US" sz="2000" b="1" dirty="0">
                <a:solidFill>
                  <a:srgbClr val="FF3300"/>
                </a:solidFill>
                <a:effectLst>
                  <a:outerShdw blurRad="38100" dist="38100" dir="2700000" algn="tl">
                    <a:srgbClr val="000000">
                      <a:alpha val="43137"/>
                    </a:srgbClr>
                  </a:outerShdw>
                </a:effectLst>
              </a:rPr>
              <a:t>。</a:t>
            </a:r>
          </a:p>
        </p:txBody>
      </p:sp>
      <p:sp>
        <p:nvSpPr>
          <p:cNvPr id="346129" name="Rectangle 3">
            <a:extLst>
              <a:ext uri="{FF2B5EF4-FFF2-40B4-BE49-F238E27FC236}">
                <a16:creationId xmlns:a16="http://schemas.microsoft.com/office/drawing/2014/main" id="{8717B0A4-A0CC-4F40-BBDB-4BD75BFE2E2B}"/>
              </a:ext>
            </a:extLst>
          </p:cNvPr>
          <p:cNvSpPr>
            <a:spLocks noChangeArrowheads="1"/>
          </p:cNvSpPr>
          <p:nvPr/>
        </p:nvSpPr>
        <p:spPr bwMode="auto">
          <a:xfrm>
            <a:off x="1473200" y="5243581"/>
            <a:ext cx="655796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b="1" dirty="0">
                <a:solidFill>
                  <a:srgbClr val="FF0000"/>
                </a:solidFill>
                <a:effectLst>
                  <a:outerShdw blurRad="38100" dist="38100" dir="2700000" algn="tl">
                    <a:srgbClr val="000000">
                      <a:alpha val="43137"/>
                    </a:srgbClr>
                  </a:outerShdw>
                </a:effectLst>
              </a:rPr>
              <a:t>扫描码</a:t>
            </a:r>
            <a:r>
              <a:rPr lang="zh-CN" altLang="en-US" sz="2000" b="1" dirty="0">
                <a:effectLst>
                  <a:outerShdw blurRad="38100" dist="38100" dir="2700000" algn="tl">
                    <a:srgbClr val="000000">
                      <a:alpha val="43137"/>
                    </a:srgbClr>
                  </a:outerShdw>
                </a:effectLst>
              </a:rPr>
              <a:t>：</a:t>
            </a:r>
            <a:r>
              <a:rPr lang="en-US" altLang="zh-CN" sz="2000" b="1" dirty="0" err="1">
                <a:effectLst>
                  <a:outerShdw blurRad="38100" dist="38100" dir="2700000" algn="tl">
                    <a:srgbClr val="000000">
                      <a:alpha val="43137"/>
                    </a:srgbClr>
                  </a:outerShdw>
                </a:effectLst>
              </a:rPr>
              <a:t>key_scan</a:t>
            </a:r>
            <a:r>
              <a:rPr lang="en-US" altLang="zh-CN" sz="2000" b="1" dirty="0">
                <a:effectLst>
                  <a:outerShdw blurRad="38100" dist="38100" dir="2700000" algn="tl">
                    <a:srgbClr val="000000">
                      <a:alpha val="43137"/>
                    </a:srgbClr>
                  </a:outerShdw>
                </a:effectLst>
              </a:rPr>
              <a:t>[] = {0xef, 0xdf, 0xbf, 0x7f};</a:t>
            </a:r>
          </a:p>
          <a:p>
            <a:pPr eaLnBrk="1" hangingPunct="1">
              <a:spcBef>
                <a:spcPct val="0"/>
              </a:spcBef>
              <a:buFontTx/>
              <a:buNone/>
            </a:pPr>
            <a:r>
              <a:rPr lang="zh-CN" altLang="en-US" sz="2000" b="1" dirty="0">
                <a:solidFill>
                  <a:srgbClr val="FF0000"/>
                </a:solidFill>
                <a:effectLst>
                  <a:outerShdw blurRad="38100" dist="38100" dir="2700000" algn="tl">
                    <a:srgbClr val="000000">
                      <a:alpha val="43137"/>
                    </a:srgbClr>
                  </a:outerShdw>
                </a:effectLst>
              </a:rPr>
              <a:t>写</a:t>
            </a:r>
            <a:r>
              <a:rPr lang="en-US" altLang="zh-CN" sz="2000" b="1" dirty="0">
                <a:solidFill>
                  <a:srgbClr val="FF0000"/>
                </a:solidFill>
                <a:effectLst>
                  <a:outerShdw blurRad="38100" dist="38100" dir="2700000" algn="tl">
                    <a:srgbClr val="000000">
                      <a:alpha val="43137"/>
                    </a:srgbClr>
                  </a:outerShdw>
                </a:effectLst>
              </a:rPr>
              <a:t>P2:</a:t>
            </a:r>
            <a:r>
              <a:rPr lang="en-US" altLang="zh-CN" sz="2000" b="1" dirty="0">
                <a:effectLst>
                  <a:outerShdw blurRad="38100" dist="38100" dir="2700000" algn="tl">
                    <a:srgbClr val="000000">
                      <a:alpha val="43137"/>
                    </a:srgbClr>
                  </a:outerShdw>
                </a:effectLst>
              </a:rPr>
              <a:t>	  P2=</a:t>
            </a:r>
            <a:r>
              <a:rPr lang="en-US" altLang="zh-CN" sz="2000" b="1" dirty="0" err="1">
                <a:effectLst>
                  <a:outerShdw blurRad="38100" dist="38100" dir="2700000" algn="tl">
                    <a:srgbClr val="000000">
                      <a:alpha val="43137"/>
                    </a:srgbClr>
                  </a:outerShdw>
                </a:effectLst>
              </a:rPr>
              <a:t>key_scan</a:t>
            </a:r>
            <a:r>
              <a:rPr lang="en-US" altLang="zh-CN" sz="2000" b="1" dirty="0">
                <a:effectLst>
                  <a:outerShdw blurRad="38100" dist="38100" dir="2700000" algn="tl">
                    <a:srgbClr val="000000">
                      <a:alpha val="43137"/>
                    </a:srgbClr>
                  </a:outerShdw>
                </a:effectLst>
              </a:rPr>
              <a:t>[</a:t>
            </a:r>
            <a:r>
              <a:rPr lang="en-US" altLang="zh-CN" sz="2000" b="1" dirty="0" err="1">
                <a:effectLst>
                  <a:outerShdw blurRad="38100" dist="38100" dir="2700000" algn="tl">
                    <a:srgbClr val="000000">
                      <a:alpha val="43137"/>
                    </a:srgbClr>
                  </a:outerShdw>
                </a:effectLst>
              </a:rPr>
              <a:t>i</a:t>
            </a:r>
            <a:r>
              <a:rPr lang="en-US" altLang="zh-CN" sz="2000" b="1" dirty="0">
                <a:effectLst>
                  <a:outerShdw blurRad="38100" dist="38100" dir="2700000" algn="tl">
                    <a:srgbClr val="000000">
                      <a:alpha val="43137"/>
                    </a:srgbClr>
                  </a:outerShdw>
                </a:effectLst>
              </a:rPr>
              <a:t>];</a:t>
            </a:r>
          </a:p>
        </p:txBody>
      </p:sp>
      <p:sp>
        <p:nvSpPr>
          <p:cNvPr id="29702" name="Rectangle 4">
            <a:extLst>
              <a:ext uri="{FF2B5EF4-FFF2-40B4-BE49-F238E27FC236}">
                <a16:creationId xmlns:a16="http://schemas.microsoft.com/office/drawing/2014/main" id="{D26BF159-F383-41BD-AB1A-68724C4055E3}"/>
              </a:ext>
            </a:extLst>
          </p:cNvPr>
          <p:cNvSpPr>
            <a:spLocks noChangeArrowheads="1"/>
          </p:cNvSpPr>
          <p:nvPr/>
        </p:nvSpPr>
        <p:spPr bwMode="auto">
          <a:xfrm>
            <a:off x="873126" y="1160433"/>
            <a:ext cx="71580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2000" b="1" dirty="0">
                <a:solidFill>
                  <a:srgbClr val="CC0000"/>
                </a:solidFill>
                <a:effectLst>
                  <a:outerShdw blurRad="38100" dist="38100" dir="2700000" algn="tl">
                    <a:srgbClr val="000000">
                      <a:alpha val="43137"/>
                    </a:srgbClr>
                  </a:outerShdw>
                </a:effectLst>
              </a:rPr>
              <a:t>行列式键盘编程</a:t>
            </a:r>
            <a:r>
              <a:rPr lang="zh-CN" altLang="en-US" sz="2000" b="1" dirty="0">
                <a:solidFill>
                  <a:srgbClr val="CC0000"/>
                </a:solidFill>
                <a:effectLst>
                  <a:outerShdw blurRad="38100" dist="38100" dir="2700000" algn="tl">
                    <a:srgbClr val="000000">
                      <a:alpha val="43137"/>
                    </a:srgbClr>
                  </a:outerShdw>
                </a:effectLst>
              </a:rPr>
              <a:t>原理</a:t>
            </a:r>
            <a:r>
              <a:rPr lang="zh-CN" altLang="en-US" sz="1800" b="1" dirty="0">
                <a:effectLst>
                  <a:outerShdw blurRad="38100" dist="38100" dir="2700000" algn="tl">
                    <a:srgbClr val="000000">
                      <a:alpha val="43137"/>
                    </a:srgbClr>
                  </a:outerShdw>
                </a:effectLst>
              </a:rPr>
              <a:t>（以</a:t>
            </a:r>
            <a:r>
              <a:rPr lang="en-US" altLang="zh-CN" sz="1800" b="1" dirty="0">
                <a:effectLst>
                  <a:outerShdw blurRad="38100" dist="38100" dir="2700000" algn="tl">
                    <a:srgbClr val="000000">
                      <a:alpha val="43137"/>
                    </a:srgbClr>
                  </a:outerShdw>
                </a:effectLst>
              </a:rPr>
              <a:t>P2</a:t>
            </a:r>
            <a:r>
              <a:rPr lang="zh-CN" altLang="en-US" sz="1800" b="1" dirty="0">
                <a:effectLst>
                  <a:outerShdw blurRad="38100" dist="38100" dir="2700000" algn="tl">
                    <a:srgbClr val="000000">
                      <a:alpha val="43137"/>
                    </a:srgbClr>
                  </a:outerShdw>
                </a:effectLst>
              </a:rPr>
              <a:t>口接</a:t>
            </a:r>
            <a:r>
              <a:rPr lang="en-US" altLang="zh-CN" sz="1800" b="1" dirty="0">
                <a:effectLst>
                  <a:outerShdw blurRad="38100" dist="38100" dir="2700000" algn="tl">
                    <a:srgbClr val="000000">
                      <a:alpha val="43137"/>
                    </a:srgbClr>
                  </a:outerShdw>
                </a:effectLst>
              </a:rPr>
              <a:t>4</a:t>
            </a:r>
            <a:r>
              <a:rPr lang="en-US" altLang="en-US" sz="1800" b="1" dirty="0">
                <a:effectLst>
                  <a:outerShdw blurRad="38100" dist="38100" dir="2700000" algn="tl">
                    <a:srgbClr val="000000">
                      <a:alpha val="43137"/>
                    </a:srgbClr>
                  </a:outerShdw>
                </a:effectLst>
              </a:rPr>
              <a:t>×</a:t>
            </a:r>
            <a:r>
              <a:rPr lang="en-US" altLang="zh-CN" sz="1800" b="1" dirty="0">
                <a:effectLst>
                  <a:outerShdw blurRad="38100" dist="38100" dir="2700000" algn="tl">
                    <a:srgbClr val="000000">
                      <a:alpha val="43137"/>
                    </a:srgbClr>
                  </a:outerShdw>
                </a:effectLst>
              </a:rPr>
              <a:t>4</a:t>
            </a:r>
            <a:r>
              <a:rPr lang="zh-CN" altLang="en-US" sz="1800" b="1" dirty="0">
                <a:effectLst>
                  <a:outerShdw blurRad="38100" dist="38100" dir="2700000" algn="tl">
                    <a:srgbClr val="000000">
                      <a:alpha val="43137"/>
                    </a:srgbClr>
                  </a:outerShdw>
                </a:effectLst>
              </a:rPr>
              <a:t>键盘为例）</a:t>
            </a:r>
            <a:endParaRPr lang="zh-CN" altLang="en-US" sz="2000" b="1" dirty="0">
              <a:effectLst>
                <a:outerShdw blurRad="38100" dist="38100" dir="2700000" algn="tl">
                  <a:srgbClr val="000000">
                    <a:alpha val="43137"/>
                  </a:srgbClr>
                </a:outerShdw>
              </a:effectLst>
            </a:endParaRPr>
          </a:p>
        </p:txBody>
      </p:sp>
      <p:sp>
        <p:nvSpPr>
          <p:cNvPr id="346132" name="Text Box 20">
            <a:extLst>
              <a:ext uri="{FF2B5EF4-FFF2-40B4-BE49-F238E27FC236}">
                <a16:creationId xmlns:a16="http://schemas.microsoft.com/office/drawing/2014/main" id="{AA5E54C4-67FC-47D2-9135-3706E03D5FFA}"/>
              </a:ext>
            </a:extLst>
          </p:cNvPr>
          <p:cNvSpPr txBox="1">
            <a:spLocks noChangeArrowheads="1"/>
          </p:cNvSpPr>
          <p:nvPr/>
        </p:nvSpPr>
        <p:spPr bwMode="auto">
          <a:xfrm>
            <a:off x="6484938" y="3006725"/>
            <a:ext cx="1754187" cy="1277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1400" b="1" dirty="0">
                <a:effectLst>
                  <a:outerShdw blurRad="38100" dist="38100" dir="2700000" algn="tl">
                    <a:srgbClr val="000000">
                      <a:alpha val="43137"/>
                    </a:srgbClr>
                  </a:outerShdw>
                </a:effectLst>
              </a:rPr>
              <a:t>第一次  </a:t>
            </a:r>
            <a:r>
              <a:rPr lang="en-US" altLang="zh-CN" sz="1400" b="1" dirty="0">
                <a:effectLst>
                  <a:outerShdw blurRad="38100" dist="38100" dir="2700000" algn="tl">
                    <a:srgbClr val="000000">
                      <a:alpha val="43137"/>
                    </a:srgbClr>
                  </a:outerShdw>
                </a:effectLst>
              </a:rPr>
              <a:t>1110  1111B </a:t>
            </a:r>
          </a:p>
          <a:p>
            <a:pPr eaLnBrk="1" hangingPunct="1">
              <a:spcBef>
                <a:spcPct val="50000"/>
              </a:spcBef>
              <a:buFontTx/>
              <a:buNone/>
            </a:pPr>
            <a:r>
              <a:rPr lang="zh-CN" altLang="en-US" sz="1400" b="1" dirty="0">
                <a:effectLst>
                  <a:outerShdw blurRad="38100" dist="38100" dir="2700000" algn="tl">
                    <a:srgbClr val="000000">
                      <a:alpha val="43137"/>
                    </a:srgbClr>
                  </a:outerShdw>
                </a:effectLst>
              </a:rPr>
              <a:t>第二次  </a:t>
            </a:r>
            <a:r>
              <a:rPr lang="en-US" altLang="zh-CN" sz="1400" b="1" dirty="0">
                <a:effectLst>
                  <a:outerShdw blurRad="38100" dist="38100" dir="2700000" algn="tl">
                    <a:srgbClr val="000000">
                      <a:alpha val="43137"/>
                    </a:srgbClr>
                  </a:outerShdw>
                </a:effectLst>
              </a:rPr>
              <a:t>1101  1111B</a:t>
            </a:r>
          </a:p>
          <a:p>
            <a:pPr eaLnBrk="1" hangingPunct="1">
              <a:spcBef>
                <a:spcPct val="50000"/>
              </a:spcBef>
              <a:buFontTx/>
              <a:buNone/>
            </a:pPr>
            <a:r>
              <a:rPr lang="zh-CN" altLang="en-US" sz="1400" b="1" dirty="0">
                <a:effectLst>
                  <a:outerShdw blurRad="38100" dist="38100" dir="2700000" algn="tl">
                    <a:srgbClr val="000000">
                      <a:alpha val="43137"/>
                    </a:srgbClr>
                  </a:outerShdw>
                </a:effectLst>
              </a:rPr>
              <a:t>第三次  </a:t>
            </a:r>
            <a:r>
              <a:rPr lang="en-US" altLang="zh-CN" sz="1400" b="1" dirty="0">
                <a:effectLst>
                  <a:outerShdw blurRad="38100" dist="38100" dir="2700000" algn="tl">
                    <a:srgbClr val="000000">
                      <a:alpha val="43137"/>
                    </a:srgbClr>
                  </a:outerShdw>
                </a:effectLst>
              </a:rPr>
              <a:t>1011  1111B</a:t>
            </a:r>
          </a:p>
          <a:p>
            <a:pPr eaLnBrk="1" hangingPunct="1">
              <a:spcBef>
                <a:spcPct val="50000"/>
              </a:spcBef>
              <a:buFontTx/>
              <a:buNone/>
            </a:pPr>
            <a:r>
              <a:rPr lang="zh-CN" altLang="en-US" sz="1400" b="1" dirty="0">
                <a:effectLst>
                  <a:outerShdw blurRad="38100" dist="38100" dir="2700000" algn="tl">
                    <a:srgbClr val="000000">
                      <a:alpha val="43137"/>
                    </a:srgbClr>
                  </a:outerShdw>
                </a:effectLst>
              </a:rPr>
              <a:t>第四次  </a:t>
            </a:r>
            <a:r>
              <a:rPr lang="en-US" altLang="zh-CN" sz="1400" b="1" dirty="0">
                <a:effectLst>
                  <a:outerShdw blurRad="38100" dist="38100" dir="2700000" algn="tl">
                    <a:srgbClr val="000000">
                      <a:alpha val="43137"/>
                    </a:srgbClr>
                  </a:outerShdw>
                </a:effectLst>
              </a:rPr>
              <a:t>0111  1111B</a:t>
            </a:r>
          </a:p>
        </p:txBody>
      </p:sp>
      <p:sp>
        <p:nvSpPr>
          <p:cNvPr id="346133" name="Text Box 21">
            <a:extLst>
              <a:ext uri="{FF2B5EF4-FFF2-40B4-BE49-F238E27FC236}">
                <a16:creationId xmlns:a16="http://schemas.microsoft.com/office/drawing/2014/main" id="{C78CD079-850F-4D1F-9895-A0E30D73F053}"/>
              </a:ext>
            </a:extLst>
          </p:cNvPr>
          <p:cNvSpPr txBox="1">
            <a:spLocks noChangeArrowheads="1"/>
          </p:cNvSpPr>
          <p:nvPr/>
        </p:nvSpPr>
        <p:spPr bwMode="auto">
          <a:xfrm>
            <a:off x="8069263" y="2987675"/>
            <a:ext cx="820737" cy="1277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400" b="1" dirty="0">
                <a:effectLst>
                  <a:outerShdw blurRad="38100" dist="38100" dir="2700000" algn="tl">
                    <a:srgbClr val="000000">
                      <a:alpha val="43137"/>
                    </a:srgbClr>
                  </a:outerShdw>
                </a:effectLst>
              </a:rPr>
              <a:t>= </a:t>
            </a:r>
            <a:r>
              <a:rPr lang="en-US" altLang="zh-CN" sz="1400" b="1" dirty="0">
                <a:solidFill>
                  <a:srgbClr val="FF3300"/>
                </a:solidFill>
                <a:effectLst>
                  <a:outerShdw blurRad="38100" dist="38100" dir="2700000" algn="tl">
                    <a:srgbClr val="000000">
                      <a:alpha val="43137"/>
                    </a:srgbClr>
                  </a:outerShdw>
                </a:effectLst>
              </a:rPr>
              <a:t>0xef</a:t>
            </a:r>
          </a:p>
          <a:p>
            <a:pPr eaLnBrk="1" hangingPunct="1">
              <a:spcBef>
                <a:spcPct val="50000"/>
              </a:spcBef>
              <a:buFontTx/>
              <a:buNone/>
            </a:pPr>
            <a:r>
              <a:rPr lang="en-US" altLang="zh-CN" sz="1400" b="1" dirty="0">
                <a:effectLst>
                  <a:outerShdw blurRad="38100" dist="38100" dir="2700000" algn="tl">
                    <a:srgbClr val="000000">
                      <a:alpha val="43137"/>
                    </a:srgbClr>
                  </a:outerShdw>
                </a:effectLst>
              </a:rPr>
              <a:t>= </a:t>
            </a:r>
            <a:r>
              <a:rPr lang="en-US" altLang="zh-CN" sz="1400" b="1" dirty="0">
                <a:solidFill>
                  <a:srgbClr val="FF3300"/>
                </a:solidFill>
                <a:effectLst>
                  <a:outerShdw blurRad="38100" dist="38100" dir="2700000" algn="tl">
                    <a:srgbClr val="000000">
                      <a:alpha val="43137"/>
                    </a:srgbClr>
                  </a:outerShdw>
                </a:effectLst>
              </a:rPr>
              <a:t>0xdf</a:t>
            </a:r>
          </a:p>
          <a:p>
            <a:pPr eaLnBrk="1" hangingPunct="1">
              <a:spcBef>
                <a:spcPct val="50000"/>
              </a:spcBef>
              <a:buFontTx/>
              <a:buNone/>
            </a:pPr>
            <a:r>
              <a:rPr lang="en-US" altLang="zh-CN" sz="1400" b="1" dirty="0">
                <a:effectLst>
                  <a:outerShdw blurRad="38100" dist="38100" dir="2700000" algn="tl">
                    <a:srgbClr val="000000">
                      <a:alpha val="43137"/>
                    </a:srgbClr>
                  </a:outerShdw>
                </a:effectLst>
              </a:rPr>
              <a:t>= </a:t>
            </a:r>
            <a:r>
              <a:rPr lang="en-US" altLang="zh-CN" sz="1400" b="1" dirty="0">
                <a:solidFill>
                  <a:srgbClr val="FF3300"/>
                </a:solidFill>
                <a:effectLst>
                  <a:outerShdw blurRad="38100" dist="38100" dir="2700000" algn="tl">
                    <a:srgbClr val="000000">
                      <a:alpha val="43137"/>
                    </a:srgbClr>
                  </a:outerShdw>
                </a:effectLst>
              </a:rPr>
              <a:t>0xbf</a:t>
            </a:r>
          </a:p>
          <a:p>
            <a:pPr eaLnBrk="1" hangingPunct="1">
              <a:spcBef>
                <a:spcPct val="50000"/>
              </a:spcBef>
              <a:buFontTx/>
              <a:buNone/>
            </a:pPr>
            <a:r>
              <a:rPr lang="en-US" altLang="zh-CN" sz="1400" b="1" dirty="0">
                <a:effectLst>
                  <a:outerShdw blurRad="38100" dist="38100" dir="2700000" algn="tl">
                    <a:srgbClr val="000000">
                      <a:alpha val="43137"/>
                    </a:srgbClr>
                  </a:outerShdw>
                </a:effectLst>
              </a:rPr>
              <a:t>= </a:t>
            </a:r>
            <a:r>
              <a:rPr lang="en-US" altLang="zh-CN" sz="1400" b="1" dirty="0">
                <a:solidFill>
                  <a:srgbClr val="FF3300"/>
                </a:solidFill>
                <a:effectLst>
                  <a:outerShdw blurRad="38100" dist="38100" dir="2700000" algn="tl">
                    <a:srgbClr val="000000">
                      <a:alpha val="43137"/>
                    </a:srgbClr>
                  </a:outerShdw>
                </a:effectLst>
              </a:rPr>
              <a:t>0x7f</a:t>
            </a:r>
          </a:p>
        </p:txBody>
      </p:sp>
      <p:sp>
        <p:nvSpPr>
          <p:cNvPr id="346134" name="Rectangle 22">
            <a:extLst>
              <a:ext uri="{FF2B5EF4-FFF2-40B4-BE49-F238E27FC236}">
                <a16:creationId xmlns:a16="http://schemas.microsoft.com/office/drawing/2014/main" id="{B5C5C789-F031-4A92-83F9-686BA05E334B}"/>
              </a:ext>
            </a:extLst>
          </p:cNvPr>
          <p:cNvSpPr>
            <a:spLocks noChangeArrowheads="1"/>
          </p:cNvSpPr>
          <p:nvPr/>
        </p:nvSpPr>
        <p:spPr bwMode="auto">
          <a:xfrm>
            <a:off x="6511925" y="2570163"/>
            <a:ext cx="16462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a:effectLst>
                  <a:outerShdw blurRad="38100" dist="38100" dir="2700000" algn="tl">
                    <a:srgbClr val="000000">
                      <a:alpha val="43137"/>
                    </a:srgbClr>
                  </a:outerShdw>
                </a:effectLst>
              </a:rPr>
              <a:t>扫描输出码</a:t>
            </a:r>
          </a:p>
        </p:txBody>
      </p:sp>
      <p:sp>
        <p:nvSpPr>
          <p:cNvPr id="2" name="箭头: 右 1">
            <a:extLst>
              <a:ext uri="{FF2B5EF4-FFF2-40B4-BE49-F238E27FC236}">
                <a16:creationId xmlns:a16="http://schemas.microsoft.com/office/drawing/2014/main" id="{11CED043-6D88-4A8B-A6B5-AA6C05323F2E}"/>
              </a:ext>
            </a:extLst>
          </p:cNvPr>
          <p:cNvSpPr/>
          <p:nvPr/>
        </p:nvSpPr>
        <p:spPr bwMode="auto">
          <a:xfrm>
            <a:off x="3271101" y="4834320"/>
            <a:ext cx="433633" cy="200055"/>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a:ln>
                <a:noFill/>
              </a:ln>
              <a:solidFill>
                <a:schemeClr val="tx1"/>
              </a:solidFill>
              <a:effectLst>
                <a:outerShdw blurRad="38100" dist="38100" dir="2700000" algn="tl">
                  <a:srgbClr val="000000">
                    <a:alpha val="43137"/>
                  </a:srgbClr>
                </a:outerShdw>
              </a:effectLst>
              <a:latin typeface="Times New Roman" pitchFamily="18" charset="0"/>
              <a:ea typeface="宋体" pitchFamily="2" charset="-122"/>
            </a:endParaRPr>
          </a:p>
        </p:txBody>
      </p:sp>
      <p:sp>
        <p:nvSpPr>
          <p:cNvPr id="12" name="Rectangle 2">
            <a:extLst>
              <a:ext uri="{FF2B5EF4-FFF2-40B4-BE49-F238E27FC236}">
                <a16:creationId xmlns:a16="http://schemas.microsoft.com/office/drawing/2014/main" id="{D09AE42C-4441-45F7-8DCF-F6DA1E8FFB9D}"/>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a:extLst>
              <a:ext uri="{FF2B5EF4-FFF2-40B4-BE49-F238E27FC236}">
                <a16:creationId xmlns:a16="http://schemas.microsoft.com/office/drawing/2014/main" id="{B273AD16-C3D3-41AA-A040-90C0FB52B08F}"/>
              </a:ext>
            </a:extLst>
          </p:cNvPr>
          <p:cNvSpPr>
            <a:spLocks noChangeArrowheads="1"/>
          </p:cNvSpPr>
          <p:nvPr/>
        </p:nvSpPr>
        <p:spPr bwMode="auto">
          <a:xfrm>
            <a:off x="687388" y="1156405"/>
            <a:ext cx="5435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b="1" dirty="0">
                <a:solidFill>
                  <a:srgbClr val="0066FF"/>
                </a:solidFill>
                <a:effectLst>
                  <a:outerShdw blurRad="38100" dist="38100" dir="2700000" algn="tl">
                    <a:srgbClr val="000000">
                      <a:alpha val="43137"/>
                    </a:srgbClr>
                  </a:outerShdw>
                </a:effectLst>
              </a:rPr>
              <a:t>第二步 </a:t>
            </a:r>
            <a:r>
              <a:rPr lang="en-US" altLang="zh-CN" sz="2000" b="1" dirty="0">
                <a:solidFill>
                  <a:srgbClr val="0066FF"/>
                </a:solidFill>
                <a:effectLst>
                  <a:outerShdw blurRad="38100" dist="38100" dir="2700000" algn="tl">
                    <a:srgbClr val="000000">
                      <a:alpha val="43137"/>
                    </a:srgbClr>
                  </a:outerShdw>
                </a:effectLst>
              </a:rPr>
              <a:t> </a:t>
            </a:r>
            <a:r>
              <a:rPr lang="zh-CN" altLang="en-US" sz="2000" b="1" dirty="0">
                <a:solidFill>
                  <a:srgbClr val="0066FF"/>
                </a:solidFill>
                <a:effectLst>
                  <a:outerShdw blurRad="38100" dist="38100" dir="2700000" algn="tl">
                    <a:srgbClr val="000000">
                      <a:alpha val="43137"/>
                    </a:srgbClr>
                  </a:outerShdw>
                </a:effectLst>
              </a:rPr>
              <a:t>按键闭合状态判断</a:t>
            </a:r>
          </a:p>
        </p:txBody>
      </p:sp>
      <p:sp>
        <p:nvSpPr>
          <p:cNvPr id="878604" name="Rectangle 3">
            <a:extLst>
              <a:ext uri="{FF2B5EF4-FFF2-40B4-BE49-F238E27FC236}">
                <a16:creationId xmlns:a16="http://schemas.microsoft.com/office/drawing/2014/main" id="{DDF1205A-3776-4140-A0DD-57ECFCC44C20}"/>
              </a:ext>
            </a:extLst>
          </p:cNvPr>
          <p:cNvSpPr>
            <a:spLocks noChangeArrowheads="1"/>
          </p:cNvSpPr>
          <p:nvPr/>
        </p:nvSpPr>
        <p:spPr bwMode="auto">
          <a:xfrm>
            <a:off x="987278" y="4276878"/>
            <a:ext cx="3709987"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b="1" dirty="0">
                <a:solidFill>
                  <a:srgbClr val="CC3300"/>
                </a:solidFill>
                <a:effectLst>
                  <a:outerShdw blurRad="38100" dist="38100" dir="2700000" algn="tl">
                    <a:srgbClr val="000000">
                      <a:alpha val="43137"/>
                    </a:srgbClr>
                  </a:outerShdw>
                </a:effectLst>
              </a:rPr>
              <a:t>0#</a:t>
            </a:r>
            <a:r>
              <a:rPr lang="zh-CN" altLang="en-US" sz="2000" b="1" dirty="0">
                <a:solidFill>
                  <a:srgbClr val="CC3300"/>
                </a:solidFill>
                <a:effectLst>
                  <a:outerShdw blurRad="38100" dist="38100" dir="2700000" algn="tl">
                    <a:srgbClr val="000000">
                      <a:alpha val="43137"/>
                    </a:srgbClr>
                  </a:outerShdw>
                </a:effectLst>
              </a:rPr>
              <a:t>： </a:t>
            </a:r>
            <a:r>
              <a:rPr lang="en-US" altLang="zh-CN" sz="2000" b="1" dirty="0">
                <a:effectLst>
                  <a:outerShdw blurRad="38100" dist="38100" dir="2700000" algn="tl">
                    <a:srgbClr val="000000">
                      <a:alpha val="43137"/>
                    </a:srgbClr>
                  </a:outerShdw>
                </a:effectLst>
              </a:rPr>
              <a:t>1110 1110B——0xee  </a:t>
            </a:r>
            <a:endParaRPr lang="zh-CN" altLang="en-US" sz="2000" b="1" dirty="0">
              <a:effectLst>
                <a:outerShdw blurRad="38100" dist="38100" dir="2700000" algn="tl">
                  <a:srgbClr val="000000">
                    <a:alpha val="43137"/>
                  </a:srgbClr>
                </a:outerShdw>
              </a:effectLst>
            </a:endParaRPr>
          </a:p>
          <a:p>
            <a:pPr eaLnBrk="1" hangingPunct="1">
              <a:spcBef>
                <a:spcPct val="0"/>
              </a:spcBef>
              <a:buFontTx/>
              <a:buNone/>
            </a:pPr>
            <a:r>
              <a:rPr lang="en-US" altLang="zh-CN" sz="2000" b="1" dirty="0">
                <a:solidFill>
                  <a:srgbClr val="CC3300"/>
                </a:solidFill>
                <a:effectLst>
                  <a:outerShdw blurRad="38100" dist="38100" dir="2700000" algn="tl">
                    <a:srgbClr val="000000">
                      <a:alpha val="43137"/>
                    </a:srgbClr>
                  </a:outerShdw>
                </a:effectLst>
              </a:rPr>
              <a:t>1#</a:t>
            </a:r>
            <a:r>
              <a:rPr lang="zh-CN" altLang="en-US" sz="2000" b="1" dirty="0">
                <a:solidFill>
                  <a:srgbClr val="CC3300"/>
                </a:solidFill>
                <a:effectLst>
                  <a:outerShdw blurRad="38100" dist="38100" dir="2700000" algn="tl">
                    <a:srgbClr val="000000">
                      <a:alpha val="43137"/>
                    </a:srgbClr>
                  </a:outerShdw>
                </a:effectLst>
              </a:rPr>
              <a:t>：</a:t>
            </a:r>
            <a:r>
              <a:rPr lang="zh-CN" altLang="en-US" sz="2000" b="1" dirty="0">
                <a:effectLst>
                  <a:outerShdw blurRad="38100" dist="38100" dir="2700000" algn="tl">
                    <a:srgbClr val="000000">
                      <a:alpha val="43137"/>
                    </a:srgbClr>
                  </a:outerShdw>
                </a:effectLst>
              </a:rPr>
              <a:t> </a:t>
            </a:r>
            <a:r>
              <a:rPr lang="en-US" altLang="zh-CN" sz="2000" b="1" dirty="0">
                <a:effectLst>
                  <a:outerShdw blurRad="38100" dist="38100" dir="2700000" algn="tl">
                    <a:srgbClr val="000000">
                      <a:alpha val="43137"/>
                    </a:srgbClr>
                  </a:outerShdw>
                </a:effectLst>
              </a:rPr>
              <a:t>1101 1110B——0xde</a:t>
            </a:r>
          </a:p>
          <a:p>
            <a:pPr eaLnBrk="1" hangingPunct="1">
              <a:spcBef>
                <a:spcPct val="0"/>
              </a:spcBef>
              <a:buFontTx/>
              <a:buNone/>
            </a:pPr>
            <a:r>
              <a:rPr lang="en-US" altLang="zh-CN" sz="2000" b="1" dirty="0">
                <a:effectLst>
                  <a:outerShdw blurRad="38100" dist="38100" dir="2700000" algn="tl">
                    <a:srgbClr val="000000">
                      <a:alpha val="43137"/>
                    </a:srgbClr>
                  </a:outerShdw>
                </a:effectLst>
              </a:rPr>
              <a:t>… …</a:t>
            </a:r>
          </a:p>
          <a:p>
            <a:pPr eaLnBrk="1" hangingPunct="1">
              <a:spcBef>
                <a:spcPct val="0"/>
              </a:spcBef>
              <a:buFontTx/>
              <a:buNone/>
            </a:pPr>
            <a:r>
              <a:rPr lang="en-US" altLang="zh-CN" sz="2000" b="1" dirty="0">
                <a:solidFill>
                  <a:srgbClr val="CC3300"/>
                </a:solidFill>
                <a:effectLst>
                  <a:outerShdw blurRad="38100" dist="38100" dir="2700000" algn="tl">
                    <a:srgbClr val="000000">
                      <a:alpha val="43137"/>
                    </a:srgbClr>
                  </a:outerShdw>
                </a:effectLst>
              </a:rPr>
              <a:t>F#</a:t>
            </a:r>
            <a:r>
              <a:rPr lang="zh-CN" altLang="en-US" sz="2000" b="1" dirty="0">
                <a:solidFill>
                  <a:srgbClr val="CC3300"/>
                </a:solidFill>
                <a:effectLst>
                  <a:outerShdw blurRad="38100" dist="38100" dir="2700000" algn="tl">
                    <a:srgbClr val="000000">
                      <a:alpha val="43137"/>
                    </a:srgbClr>
                  </a:outerShdw>
                </a:effectLst>
              </a:rPr>
              <a:t>：</a:t>
            </a:r>
            <a:r>
              <a:rPr lang="zh-CN" altLang="en-US" sz="2000" b="1" dirty="0">
                <a:effectLst>
                  <a:outerShdw blurRad="38100" dist="38100" dir="2700000" algn="tl">
                    <a:srgbClr val="000000">
                      <a:alpha val="43137"/>
                    </a:srgbClr>
                  </a:outerShdw>
                </a:effectLst>
              </a:rPr>
              <a:t> </a:t>
            </a:r>
            <a:r>
              <a:rPr lang="en-US" altLang="zh-CN" sz="2000" b="1" dirty="0">
                <a:effectLst>
                  <a:outerShdw blurRad="38100" dist="38100" dir="2700000" algn="tl">
                    <a:srgbClr val="000000">
                      <a:alpha val="43137"/>
                    </a:srgbClr>
                  </a:outerShdw>
                </a:effectLst>
              </a:rPr>
              <a:t>0111 0111B——0x77 </a:t>
            </a:r>
            <a:endParaRPr lang="zh-CN" altLang="en-US" sz="2000" b="1" dirty="0">
              <a:effectLst>
                <a:outerShdw blurRad="38100" dist="38100" dir="2700000" algn="tl">
                  <a:srgbClr val="000000">
                    <a:alpha val="43137"/>
                  </a:srgbClr>
                </a:outerShdw>
              </a:effectLst>
            </a:endParaRPr>
          </a:p>
        </p:txBody>
      </p:sp>
      <p:sp>
        <p:nvSpPr>
          <p:cNvPr id="878606" name="Rectangle 14">
            <a:extLst>
              <a:ext uri="{FF2B5EF4-FFF2-40B4-BE49-F238E27FC236}">
                <a16:creationId xmlns:a16="http://schemas.microsoft.com/office/drawing/2014/main" id="{243871FD-08BE-4C71-A03A-F4756DD7C3E0}"/>
              </a:ext>
            </a:extLst>
          </p:cNvPr>
          <p:cNvSpPr>
            <a:spLocks noChangeArrowheads="1"/>
          </p:cNvSpPr>
          <p:nvPr/>
        </p:nvSpPr>
        <p:spPr bwMode="auto">
          <a:xfrm>
            <a:off x="5709059" y="2516596"/>
            <a:ext cx="2706916"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b="1" dirty="0">
                <a:solidFill>
                  <a:srgbClr val="CC0000"/>
                </a:solidFill>
                <a:effectLst>
                  <a:outerShdw blurRad="38100" dist="38100" dir="2700000" algn="tl">
                    <a:srgbClr val="000000">
                      <a:alpha val="43137"/>
                    </a:srgbClr>
                  </a:outerShdw>
                </a:effectLst>
              </a:rPr>
              <a:t>键值</a:t>
            </a:r>
            <a:r>
              <a:rPr lang="en-US" altLang="zh-CN" sz="2000" b="1" dirty="0">
                <a:effectLst>
                  <a:outerShdw blurRad="38100" dist="38100" dir="2700000" algn="tl">
                    <a:srgbClr val="000000">
                      <a:alpha val="43137"/>
                    </a:srgbClr>
                  </a:outerShdw>
                </a:effectLst>
              </a:rPr>
              <a:t>——</a:t>
            </a:r>
            <a:r>
              <a:rPr kumimoji="0" lang="zh-CN" altLang="en-US" sz="2000" b="1" dirty="0">
                <a:effectLst>
                  <a:outerShdw blurRad="38100" dist="38100" dir="2700000" algn="tl">
                    <a:srgbClr val="000000">
                      <a:alpha val="43137"/>
                    </a:srgbClr>
                  </a:outerShdw>
                </a:effectLst>
              </a:rPr>
              <a:t>按键闭合时从引脚读出的数值。</a:t>
            </a:r>
          </a:p>
        </p:txBody>
      </p:sp>
      <p:sp>
        <p:nvSpPr>
          <p:cNvPr id="878607" name="Rectangle 3">
            <a:extLst>
              <a:ext uri="{FF2B5EF4-FFF2-40B4-BE49-F238E27FC236}">
                <a16:creationId xmlns:a16="http://schemas.microsoft.com/office/drawing/2014/main" id="{86564FF1-A0FC-4173-AC15-FFD2DF586A8A}"/>
              </a:ext>
            </a:extLst>
          </p:cNvPr>
          <p:cNvSpPr>
            <a:spLocks noChangeArrowheads="1"/>
          </p:cNvSpPr>
          <p:nvPr/>
        </p:nvSpPr>
        <p:spPr bwMode="auto">
          <a:xfrm>
            <a:off x="4470006" y="4103688"/>
            <a:ext cx="3784747" cy="1508105"/>
          </a:xfrm>
          <a:prstGeom prst="rect">
            <a:avLst/>
          </a:prstGeom>
          <a:noFill/>
          <a:ln>
            <a:noFill/>
          </a:ln>
        </p:spPr>
        <p:txBody>
          <a:bodyPr wrap="squar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b="1" dirty="0">
                <a:solidFill>
                  <a:srgbClr val="CC0000"/>
                </a:solidFill>
                <a:effectLst>
                  <a:outerShdw blurRad="38100" dist="38100" dir="2700000" algn="tl">
                    <a:srgbClr val="000000">
                      <a:alpha val="43137"/>
                    </a:srgbClr>
                  </a:outerShdw>
                </a:effectLst>
              </a:rPr>
              <a:t>键值数组</a:t>
            </a:r>
          </a:p>
          <a:p>
            <a:pPr eaLnBrk="1" hangingPunct="1">
              <a:spcBef>
                <a:spcPct val="0"/>
              </a:spcBef>
              <a:buFontTx/>
              <a:buNone/>
            </a:pPr>
            <a:r>
              <a:rPr lang="en-US" altLang="zh-CN" sz="1800" b="1" dirty="0" err="1">
                <a:effectLst>
                  <a:outerShdw blurRad="38100" dist="38100" dir="2700000" algn="tl">
                    <a:srgbClr val="000000">
                      <a:alpha val="43137"/>
                    </a:srgbClr>
                  </a:outerShdw>
                </a:effectLst>
              </a:rPr>
              <a:t>key_buf</a:t>
            </a:r>
            <a:r>
              <a:rPr lang="en-US" altLang="zh-CN" sz="1800" b="1" dirty="0">
                <a:effectLst>
                  <a:outerShdw blurRad="38100" dist="38100" dir="2700000" algn="tl">
                    <a:srgbClr val="000000">
                      <a:alpha val="43137"/>
                    </a:srgbClr>
                  </a:outerShdw>
                </a:effectLst>
              </a:rPr>
              <a:t> [] = {0xee, 0xde, 0xbe, 0x7e,</a:t>
            </a:r>
          </a:p>
          <a:p>
            <a:pPr eaLnBrk="1" hangingPunct="1">
              <a:spcBef>
                <a:spcPct val="0"/>
              </a:spcBef>
              <a:buFontTx/>
              <a:buNone/>
            </a:pPr>
            <a:r>
              <a:rPr lang="en-US" altLang="zh-CN" sz="1800" b="1" dirty="0">
                <a:effectLst>
                  <a:outerShdw blurRad="38100" dist="38100" dir="2700000" algn="tl">
                    <a:srgbClr val="000000">
                      <a:alpha val="43137"/>
                    </a:srgbClr>
                  </a:outerShdw>
                </a:effectLst>
              </a:rPr>
              <a:t>                      0xed, 0xdd, 0xbd, 0x7d,</a:t>
            </a:r>
          </a:p>
          <a:p>
            <a:pPr eaLnBrk="1" hangingPunct="1">
              <a:spcBef>
                <a:spcPct val="0"/>
              </a:spcBef>
              <a:buFontTx/>
              <a:buNone/>
            </a:pPr>
            <a:r>
              <a:rPr lang="en-US" altLang="zh-CN" sz="1800" b="1" dirty="0">
                <a:effectLst>
                  <a:outerShdw blurRad="38100" dist="38100" dir="2700000" algn="tl">
                    <a:srgbClr val="000000">
                      <a:alpha val="43137"/>
                    </a:srgbClr>
                  </a:outerShdw>
                </a:effectLst>
              </a:rPr>
              <a:t>                      0xeb, 0xdb, 0xbb, 0x7b,</a:t>
            </a:r>
          </a:p>
          <a:p>
            <a:pPr eaLnBrk="1" hangingPunct="1">
              <a:spcBef>
                <a:spcPct val="0"/>
              </a:spcBef>
              <a:buFontTx/>
              <a:buNone/>
            </a:pPr>
            <a:r>
              <a:rPr lang="en-US" altLang="zh-CN" sz="1800" b="1" dirty="0">
                <a:effectLst>
                  <a:outerShdw blurRad="38100" dist="38100" dir="2700000" algn="tl">
                    <a:srgbClr val="000000">
                      <a:alpha val="43137"/>
                    </a:srgbClr>
                  </a:outerShdw>
                </a:effectLst>
              </a:rPr>
              <a:t>                      0xe7, 0xd7, 0xb7, 0x77};</a:t>
            </a:r>
            <a:endParaRPr lang="zh-CN" altLang="en-US" sz="1800" b="1" dirty="0">
              <a:effectLst>
                <a:outerShdw blurRad="38100" dist="38100" dir="2700000" algn="tl">
                  <a:srgbClr val="000000">
                    <a:alpha val="43137"/>
                  </a:srgbClr>
                </a:outerShdw>
              </a:effectLst>
            </a:endParaRPr>
          </a:p>
        </p:txBody>
      </p:sp>
      <p:pic>
        <p:nvPicPr>
          <p:cNvPr id="30728" name="图片 9">
            <a:extLst>
              <a:ext uri="{FF2B5EF4-FFF2-40B4-BE49-F238E27FC236}">
                <a16:creationId xmlns:a16="http://schemas.microsoft.com/office/drawing/2014/main" id="{8673A8D9-A821-4F44-A823-F609C8EC2A53}"/>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1237" t="16289" r="18065" b="32974"/>
          <a:stretch>
            <a:fillRect/>
          </a:stretch>
        </p:blipFill>
        <p:spPr bwMode="auto">
          <a:xfrm>
            <a:off x="498083" y="1470581"/>
            <a:ext cx="5372198" cy="2713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箭头: 右 1">
            <a:extLst>
              <a:ext uri="{FF2B5EF4-FFF2-40B4-BE49-F238E27FC236}">
                <a16:creationId xmlns:a16="http://schemas.microsoft.com/office/drawing/2014/main" id="{EEA63DDF-C0A7-423A-8819-31148BB28B38}"/>
              </a:ext>
            </a:extLst>
          </p:cNvPr>
          <p:cNvSpPr/>
          <p:nvPr/>
        </p:nvSpPr>
        <p:spPr bwMode="auto">
          <a:xfrm>
            <a:off x="4015819" y="4857740"/>
            <a:ext cx="556181" cy="232734"/>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a:ln>
                <a:noFill/>
              </a:ln>
              <a:solidFill>
                <a:schemeClr val="tx1"/>
              </a:solidFill>
              <a:effectLst>
                <a:outerShdw blurRad="38100" dist="38100" dir="2700000" algn="tl">
                  <a:srgbClr val="000000">
                    <a:alpha val="43137"/>
                  </a:srgbClr>
                </a:outerShdw>
              </a:effectLst>
              <a:latin typeface="Times New Roman" pitchFamily="18" charset="0"/>
              <a:ea typeface="宋体" pitchFamily="2" charset="-122"/>
            </a:endParaRPr>
          </a:p>
        </p:txBody>
      </p:sp>
      <p:sp>
        <p:nvSpPr>
          <p:cNvPr id="9" name="Rectangle 2">
            <a:extLst>
              <a:ext uri="{FF2B5EF4-FFF2-40B4-BE49-F238E27FC236}">
                <a16:creationId xmlns:a16="http://schemas.microsoft.com/office/drawing/2014/main" id="{1D8B6C92-0612-4D1F-A0D0-5D3D07C1A725}"/>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8598" name="Rectangle 3">
            <a:extLst>
              <a:ext uri="{FF2B5EF4-FFF2-40B4-BE49-F238E27FC236}">
                <a16:creationId xmlns:a16="http://schemas.microsoft.com/office/drawing/2014/main" id="{DB42F16D-D299-4B9A-959A-667A904313E2}"/>
              </a:ext>
            </a:extLst>
          </p:cNvPr>
          <p:cNvSpPr>
            <a:spLocks noChangeArrowheads="1"/>
          </p:cNvSpPr>
          <p:nvPr/>
        </p:nvSpPr>
        <p:spPr bwMode="auto">
          <a:xfrm>
            <a:off x="1062557" y="4637972"/>
            <a:ext cx="75898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b="1" dirty="0">
                <a:solidFill>
                  <a:srgbClr val="FF3300"/>
                </a:solidFill>
                <a:effectLst>
                  <a:outerShdw blurRad="38100" dist="38100" dir="2700000" algn="tl">
                    <a:srgbClr val="000000">
                      <a:alpha val="43137"/>
                    </a:srgbClr>
                  </a:outerShdw>
                </a:effectLst>
              </a:rPr>
              <a:t>          </a:t>
            </a:r>
            <a:r>
              <a:rPr lang="zh-CN" altLang="en-US" sz="2000" b="1" dirty="0">
                <a:effectLst>
                  <a:outerShdw blurRad="38100" dist="38100" dir="2700000" algn="tl">
                    <a:srgbClr val="000000">
                      <a:alpha val="43137"/>
                    </a:srgbClr>
                  </a:outerShdw>
                </a:effectLst>
              </a:rPr>
              <a:t>如果</a:t>
            </a:r>
            <a:r>
              <a:rPr lang="zh-CN" altLang="en-US" sz="2000" b="1" dirty="0">
                <a:solidFill>
                  <a:srgbClr val="FF3300"/>
                </a:solidFill>
                <a:effectLst>
                  <a:outerShdw blurRad="38100" dist="38100" dir="2700000" algn="tl">
                    <a:srgbClr val="000000">
                      <a:alpha val="43137"/>
                    </a:srgbClr>
                  </a:outerShdw>
                </a:effectLst>
              </a:rPr>
              <a:t> </a:t>
            </a:r>
            <a:r>
              <a:rPr lang="en-US" altLang="zh-CN" sz="2000" b="1" dirty="0">
                <a:solidFill>
                  <a:srgbClr val="FF3300"/>
                </a:solidFill>
                <a:effectLst>
                  <a:outerShdw blurRad="38100" dist="38100" dir="2700000" algn="tl">
                    <a:srgbClr val="000000">
                      <a:alpha val="43137"/>
                    </a:srgbClr>
                  </a:outerShdw>
                </a:effectLst>
              </a:rPr>
              <a:t>(P2 &amp; 0x0f) = 0x0f </a:t>
            </a:r>
            <a:r>
              <a:rPr lang="en-US" altLang="zh-CN" sz="2000" b="1" dirty="0">
                <a:effectLst>
                  <a:outerShdw blurRad="38100" dist="38100" dir="2700000" algn="tl">
                    <a:srgbClr val="000000">
                      <a:alpha val="43137"/>
                    </a:srgbClr>
                  </a:outerShdw>
                </a:effectLst>
              </a:rPr>
              <a:t> </a:t>
            </a:r>
            <a:r>
              <a:rPr lang="zh-CN" altLang="en-US" sz="2000" b="1" dirty="0">
                <a:effectLst>
                  <a:outerShdw blurRad="38100" dist="38100" dir="2700000" algn="tl">
                    <a:srgbClr val="000000">
                      <a:alpha val="43137"/>
                    </a:srgbClr>
                  </a:outerShdw>
                </a:effectLst>
              </a:rPr>
              <a:t>→无键压下</a:t>
            </a:r>
            <a:r>
              <a:rPr lang="en-US" altLang="zh-CN" sz="2000" b="1" dirty="0">
                <a:effectLst>
                  <a:outerShdw blurRad="38100" dist="38100" dir="2700000" algn="tl">
                    <a:srgbClr val="000000">
                      <a:alpha val="43137"/>
                    </a:srgbClr>
                  </a:outerShdw>
                </a:effectLst>
              </a:rPr>
              <a:t> </a:t>
            </a:r>
          </a:p>
          <a:p>
            <a:pPr eaLnBrk="1" hangingPunct="1">
              <a:spcBef>
                <a:spcPct val="0"/>
              </a:spcBef>
              <a:buFontTx/>
              <a:buNone/>
            </a:pPr>
            <a:r>
              <a:rPr lang="zh-CN" altLang="en-US" sz="2000" b="1" dirty="0">
                <a:effectLst>
                  <a:outerShdw blurRad="38100" dist="38100" dir="2700000" algn="tl">
                    <a:srgbClr val="000000">
                      <a:alpha val="43137"/>
                    </a:srgbClr>
                  </a:outerShdw>
                </a:effectLst>
              </a:rPr>
              <a:t>          如果 </a:t>
            </a:r>
            <a:r>
              <a:rPr lang="en-US" altLang="zh-CN" sz="2000" b="1" dirty="0">
                <a:solidFill>
                  <a:srgbClr val="FF3300"/>
                </a:solidFill>
                <a:effectLst>
                  <a:outerShdw blurRad="38100" dist="38100" dir="2700000" algn="tl">
                    <a:srgbClr val="000000">
                      <a:alpha val="43137"/>
                    </a:srgbClr>
                  </a:outerShdw>
                </a:effectLst>
              </a:rPr>
              <a:t>(P2 &amp; 0x0f) </a:t>
            </a:r>
            <a:r>
              <a:rPr lang="en-US" altLang="en-US" sz="2000" b="1" dirty="0">
                <a:solidFill>
                  <a:srgbClr val="FF3300"/>
                </a:solidFill>
                <a:effectLst>
                  <a:outerShdw blurRad="38100" dist="38100" dir="2700000" algn="tl">
                    <a:srgbClr val="000000">
                      <a:alpha val="43137"/>
                    </a:srgbClr>
                  </a:outerShdw>
                </a:effectLst>
              </a:rPr>
              <a:t>≠ </a:t>
            </a:r>
            <a:r>
              <a:rPr lang="en-US" altLang="zh-CN" sz="2000" b="1" dirty="0">
                <a:solidFill>
                  <a:srgbClr val="FF3300"/>
                </a:solidFill>
                <a:effectLst>
                  <a:outerShdw blurRad="38100" dist="38100" dir="2700000" algn="tl">
                    <a:srgbClr val="000000">
                      <a:alpha val="43137"/>
                    </a:srgbClr>
                  </a:outerShdw>
                </a:effectLst>
              </a:rPr>
              <a:t>0x0f</a:t>
            </a:r>
            <a:r>
              <a:rPr lang="en-US" altLang="zh-CN" sz="2000" b="1" dirty="0">
                <a:effectLst>
                  <a:outerShdw blurRad="38100" dist="38100" dir="2700000" algn="tl">
                    <a:srgbClr val="000000">
                      <a:alpha val="43137"/>
                    </a:srgbClr>
                  </a:outerShdw>
                </a:effectLst>
              </a:rPr>
              <a:t>  </a:t>
            </a:r>
            <a:r>
              <a:rPr lang="zh-CN" altLang="en-US" sz="2000" b="1" dirty="0">
                <a:effectLst>
                  <a:outerShdw blurRad="38100" dist="38100" dir="2700000" algn="tl">
                    <a:srgbClr val="000000">
                      <a:alpha val="43137"/>
                    </a:srgbClr>
                  </a:outerShdw>
                </a:effectLst>
              </a:rPr>
              <a:t>→有键压下</a:t>
            </a:r>
            <a:r>
              <a:rPr lang="zh-CN" altLang="en-US" sz="2000" b="1" dirty="0">
                <a:solidFill>
                  <a:srgbClr val="CC3300"/>
                </a:solidFill>
                <a:effectLst>
                  <a:outerShdw blurRad="38100" dist="38100" dir="2700000" algn="tl">
                    <a:srgbClr val="000000">
                      <a:alpha val="43137"/>
                    </a:srgbClr>
                  </a:outerShdw>
                </a:effectLst>
              </a:rPr>
              <a:t> </a:t>
            </a:r>
          </a:p>
        </p:txBody>
      </p:sp>
      <p:sp>
        <p:nvSpPr>
          <p:cNvPr id="878605" name="Rectangle 4">
            <a:extLst>
              <a:ext uri="{FF2B5EF4-FFF2-40B4-BE49-F238E27FC236}">
                <a16:creationId xmlns:a16="http://schemas.microsoft.com/office/drawing/2014/main" id="{A9DF838F-6C74-4908-B203-209658C997A1}"/>
              </a:ext>
            </a:extLst>
          </p:cNvPr>
          <p:cNvSpPr>
            <a:spLocks noChangeArrowheads="1"/>
          </p:cNvSpPr>
          <p:nvPr/>
        </p:nvSpPr>
        <p:spPr bwMode="auto">
          <a:xfrm>
            <a:off x="1062557" y="3833451"/>
            <a:ext cx="701888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b="1" dirty="0">
                <a:effectLst>
                  <a:outerShdw blurRad="38100" dist="38100" dir="2700000" algn="tl">
                    <a:srgbClr val="000000">
                      <a:alpha val="43137"/>
                    </a:srgbClr>
                  </a:outerShdw>
                </a:effectLst>
              </a:rPr>
              <a:t>按键闭合前后，所在行线端口电平反转；</a:t>
            </a:r>
          </a:p>
          <a:p>
            <a:pPr eaLnBrk="1" hangingPunct="1">
              <a:spcBef>
                <a:spcPct val="0"/>
              </a:spcBef>
              <a:buFontTx/>
              <a:buNone/>
            </a:pPr>
            <a:r>
              <a:rPr lang="zh-CN" altLang="en-US" sz="2000" b="1" dirty="0">
                <a:effectLst>
                  <a:outerShdw blurRad="38100" dist="38100" dir="2700000" algn="tl">
                    <a:srgbClr val="000000">
                      <a:alpha val="43137"/>
                    </a:srgbClr>
                  </a:outerShdw>
                </a:effectLst>
              </a:rPr>
              <a:t>读</a:t>
            </a:r>
            <a:r>
              <a:rPr lang="en-US" altLang="zh-CN" sz="2000" b="1" dirty="0">
                <a:effectLst>
                  <a:outerShdw blurRad="38100" dist="38100" dir="2700000" algn="tl">
                    <a:srgbClr val="000000">
                      <a:alpha val="43137"/>
                    </a:srgbClr>
                  </a:outerShdw>
                </a:effectLst>
              </a:rPr>
              <a:t>P2</a:t>
            </a:r>
            <a:r>
              <a:rPr lang="zh-CN" altLang="en-US" sz="2000" b="1" dirty="0">
                <a:effectLst>
                  <a:outerShdw blurRad="38100" dist="38100" dir="2700000" algn="tl">
                    <a:srgbClr val="000000">
                      <a:alpha val="43137"/>
                    </a:srgbClr>
                  </a:outerShdw>
                </a:effectLst>
              </a:rPr>
              <a:t>后，若发现其低</a:t>
            </a:r>
            <a:r>
              <a:rPr lang="en-US" altLang="zh-CN" sz="2000" b="1" dirty="0">
                <a:effectLst>
                  <a:outerShdw blurRad="38100" dist="38100" dir="2700000" algn="tl">
                    <a:srgbClr val="000000">
                      <a:alpha val="43137"/>
                    </a:srgbClr>
                  </a:outerShdw>
                </a:effectLst>
              </a:rPr>
              <a:t>4</a:t>
            </a:r>
            <a:r>
              <a:rPr lang="zh-CN" altLang="en-US" sz="2000" b="1" dirty="0">
                <a:effectLst>
                  <a:outerShdw blurRad="38100" dist="38100" dir="2700000" algn="tl">
                    <a:srgbClr val="000000">
                      <a:alpha val="43137"/>
                    </a:srgbClr>
                  </a:outerShdw>
                </a:effectLst>
              </a:rPr>
              <a:t>位为</a:t>
            </a:r>
            <a:r>
              <a:rPr lang="en-US" altLang="zh-CN" sz="2000" b="1" dirty="0">
                <a:effectLst>
                  <a:outerShdw blurRad="38100" dist="38100" dir="2700000" algn="tl">
                    <a:srgbClr val="000000">
                      <a:alpha val="43137"/>
                    </a:srgbClr>
                  </a:outerShdw>
                </a:effectLst>
              </a:rPr>
              <a:t>f</a:t>
            </a:r>
            <a:r>
              <a:rPr lang="zh-CN" altLang="en-US" sz="2000" b="1" dirty="0">
                <a:effectLst>
                  <a:outerShdw blurRad="38100" dist="38100" dir="2700000" algn="tl">
                    <a:srgbClr val="000000">
                      <a:alpha val="43137"/>
                    </a:srgbClr>
                  </a:outerShdw>
                </a:effectLst>
              </a:rPr>
              <a:t>，说明无键压下；反之则相反。</a:t>
            </a:r>
          </a:p>
        </p:txBody>
      </p:sp>
      <p:pic>
        <p:nvPicPr>
          <p:cNvPr id="30728" name="图片 9">
            <a:extLst>
              <a:ext uri="{FF2B5EF4-FFF2-40B4-BE49-F238E27FC236}">
                <a16:creationId xmlns:a16="http://schemas.microsoft.com/office/drawing/2014/main" id="{8673A8D9-A821-4F44-A823-F609C8EC2A53}"/>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1237" t="16289" r="18065" b="32974"/>
          <a:stretch>
            <a:fillRect/>
          </a:stretch>
        </p:blipFill>
        <p:spPr bwMode="auto">
          <a:xfrm>
            <a:off x="1804644" y="1273031"/>
            <a:ext cx="5100446" cy="2576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a:extLst>
              <a:ext uri="{FF2B5EF4-FFF2-40B4-BE49-F238E27FC236}">
                <a16:creationId xmlns:a16="http://schemas.microsoft.com/office/drawing/2014/main" id="{24C4553F-CB7F-43E9-83D9-4FCF242766CB}"/>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10784343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图片 8">
            <a:extLst>
              <a:ext uri="{FF2B5EF4-FFF2-40B4-BE49-F238E27FC236}">
                <a16:creationId xmlns:a16="http://schemas.microsoft.com/office/drawing/2014/main" id="{C5CBEA0C-21A4-4147-8DAF-D975C7350C3B}"/>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1237" t="16289" r="18065" b="32974"/>
          <a:stretch>
            <a:fillRect/>
          </a:stretch>
        </p:blipFill>
        <p:spPr bwMode="auto">
          <a:xfrm>
            <a:off x="457200" y="2003425"/>
            <a:ext cx="4587875" cy="231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7" name="Rectangle 3">
            <a:extLst>
              <a:ext uri="{FF2B5EF4-FFF2-40B4-BE49-F238E27FC236}">
                <a16:creationId xmlns:a16="http://schemas.microsoft.com/office/drawing/2014/main" id="{9EE777C0-E249-4A26-B23C-E5BF0006E5E4}"/>
              </a:ext>
            </a:extLst>
          </p:cNvPr>
          <p:cNvSpPr>
            <a:spLocks noChangeArrowheads="1"/>
          </p:cNvSpPr>
          <p:nvPr/>
        </p:nvSpPr>
        <p:spPr bwMode="auto">
          <a:xfrm>
            <a:off x="657225" y="1104870"/>
            <a:ext cx="5435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b="1" dirty="0">
                <a:solidFill>
                  <a:srgbClr val="0066FF"/>
                </a:solidFill>
                <a:effectLst>
                  <a:outerShdw blurRad="38100" dist="38100" dir="2700000" algn="tl">
                    <a:srgbClr val="000000">
                      <a:alpha val="43137"/>
                    </a:srgbClr>
                  </a:outerShdw>
                </a:effectLst>
              </a:rPr>
              <a:t>第三步 查找闭合键键号</a:t>
            </a:r>
          </a:p>
        </p:txBody>
      </p:sp>
      <p:sp>
        <p:nvSpPr>
          <p:cNvPr id="879624" name="Text Box 8">
            <a:extLst>
              <a:ext uri="{FF2B5EF4-FFF2-40B4-BE49-F238E27FC236}">
                <a16:creationId xmlns:a16="http://schemas.microsoft.com/office/drawing/2014/main" id="{2A3D39A8-6B4E-45D6-843C-E820E0BF5BD4}"/>
              </a:ext>
            </a:extLst>
          </p:cNvPr>
          <p:cNvSpPr txBox="1">
            <a:spLocks noChangeArrowheads="1"/>
          </p:cNvSpPr>
          <p:nvPr/>
        </p:nvSpPr>
        <p:spPr bwMode="auto">
          <a:xfrm>
            <a:off x="2168516" y="4856948"/>
            <a:ext cx="4656138"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b="1" dirty="0">
                <a:effectLst>
                  <a:outerShdw blurRad="38100" dist="38100" dir="2700000" algn="tl">
                    <a:srgbClr val="000000">
                      <a:alpha val="43137"/>
                    </a:srgbClr>
                  </a:outerShdw>
                </a:effectLst>
              </a:rPr>
              <a:t>for (j = 0 ; j &lt; 16 ;</a:t>
            </a:r>
            <a:r>
              <a:rPr lang="en-US" altLang="zh-CN" sz="1800" b="1" dirty="0" err="1">
                <a:effectLst>
                  <a:outerShdw blurRad="38100" dist="38100" dir="2700000" algn="tl">
                    <a:srgbClr val="000000">
                      <a:alpha val="43137"/>
                    </a:srgbClr>
                  </a:outerShdw>
                </a:effectLst>
              </a:rPr>
              <a:t>j++</a:t>
            </a:r>
            <a:r>
              <a:rPr lang="en-US" altLang="zh-CN" sz="1800" b="1" dirty="0">
                <a:effectLst>
                  <a:outerShdw blurRad="38100" dist="38100" dir="2700000" algn="tl">
                    <a:srgbClr val="000000">
                      <a:alpha val="43137"/>
                    </a:srgbClr>
                  </a:outerShdw>
                </a:effectLst>
              </a:rPr>
              <a:t>) {          </a:t>
            </a:r>
            <a:endParaRPr lang="zh-CN" altLang="en-US" sz="1800" b="1" dirty="0">
              <a:effectLst>
                <a:outerShdw blurRad="38100" dist="38100" dir="2700000" algn="tl">
                  <a:srgbClr val="000000">
                    <a:alpha val="43137"/>
                  </a:srgbClr>
                </a:outerShdw>
              </a:effectLst>
            </a:endParaRPr>
          </a:p>
          <a:p>
            <a:pPr eaLnBrk="1" hangingPunct="1">
              <a:spcBef>
                <a:spcPct val="0"/>
              </a:spcBef>
              <a:buFontTx/>
              <a:buNone/>
            </a:pPr>
            <a:r>
              <a:rPr lang="en-US" altLang="zh-CN" sz="1800" b="1" dirty="0">
                <a:effectLst>
                  <a:outerShdw blurRad="38100" dist="38100" dir="2700000" algn="tl">
                    <a:srgbClr val="000000">
                      <a:alpha val="43137"/>
                    </a:srgbClr>
                  </a:outerShdw>
                </a:effectLst>
              </a:rPr>
              <a:t>    if (P2== </a:t>
            </a:r>
            <a:r>
              <a:rPr lang="en-US" altLang="zh-CN" sz="1800" b="1" dirty="0" err="1">
                <a:effectLst>
                  <a:outerShdw blurRad="38100" dist="38100" dir="2700000" algn="tl">
                    <a:srgbClr val="000000">
                      <a:alpha val="43137"/>
                    </a:srgbClr>
                  </a:outerShdw>
                </a:effectLst>
              </a:rPr>
              <a:t>key_buf</a:t>
            </a:r>
            <a:r>
              <a:rPr lang="en-US" altLang="zh-CN" sz="1800" b="1" dirty="0">
                <a:effectLst>
                  <a:outerShdw blurRad="38100" dist="38100" dir="2700000" algn="tl">
                    <a:srgbClr val="000000">
                      <a:alpha val="43137"/>
                    </a:srgbClr>
                  </a:outerShdw>
                </a:effectLst>
              </a:rPr>
              <a:t> [j])  return j;  </a:t>
            </a:r>
          </a:p>
          <a:p>
            <a:pPr eaLnBrk="1" hangingPunct="1">
              <a:spcBef>
                <a:spcPct val="0"/>
              </a:spcBef>
              <a:buFontTx/>
              <a:buNone/>
            </a:pPr>
            <a:r>
              <a:rPr lang="en-US" altLang="zh-CN" sz="1800" b="1" dirty="0">
                <a:effectLst>
                  <a:outerShdw blurRad="38100" dist="38100" dir="2700000" algn="tl">
                    <a:srgbClr val="000000">
                      <a:alpha val="43137"/>
                    </a:srgbClr>
                  </a:outerShdw>
                </a:effectLst>
              </a:rPr>
              <a:t>}</a:t>
            </a:r>
            <a:r>
              <a:rPr lang="en-US" altLang="zh-CN" sz="2000" b="1" dirty="0">
                <a:effectLst>
                  <a:outerShdw blurRad="38100" dist="38100" dir="2700000" algn="tl">
                    <a:srgbClr val="000000">
                      <a:alpha val="43137"/>
                    </a:srgbClr>
                  </a:outerShdw>
                </a:effectLst>
              </a:rPr>
              <a:t> </a:t>
            </a:r>
            <a:endParaRPr lang="zh-CN" altLang="en-US" sz="2000" b="1" dirty="0">
              <a:effectLst>
                <a:outerShdw blurRad="38100" dist="38100" dir="2700000" algn="tl">
                  <a:srgbClr val="000000">
                    <a:alpha val="43137"/>
                  </a:srgbClr>
                </a:outerShdw>
              </a:effectLst>
            </a:endParaRPr>
          </a:p>
        </p:txBody>
      </p:sp>
      <p:sp>
        <p:nvSpPr>
          <p:cNvPr id="879630" name="Rectangle 3">
            <a:extLst>
              <a:ext uri="{FF2B5EF4-FFF2-40B4-BE49-F238E27FC236}">
                <a16:creationId xmlns:a16="http://schemas.microsoft.com/office/drawing/2014/main" id="{ED0A0E0E-AF7C-4B69-B1A3-A370724CAFA9}"/>
              </a:ext>
            </a:extLst>
          </p:cNvPr>
          <p:cNvSpPr>
            <a:spLocks noChangeArrowheads="1"/>
          </p:cNvSpPr>
          <p:nvPr/>
        </p:nvSpPr>
        <p:spPr bwMode="auto">
          <a:xfrm>
            <a:off x="4905375" y="2299812"/>
            <a:ext cx="4238625"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dirty="0">
                <a:effectLst>
                  <a:outerShdw blurRad="38100" dist="38100" dir="2700000" algn="tl">
                    <a:srgbClr val="000000">
                      <a:alpha val="43137"/>
                    </a:srgbClr>
                  </a:outerShdw>
                </a:effectLst>
              </a:rPr>
              <a:t>键值数组</a:t>
            </a:r>
          </a:p>
          <a:p>
            <a:pPr eaLnBrk="1" hangingPunct="1">
              <a:spcBef>
                <a:spcPct val="0"/>
              </a:spcBef>
              <a:buFontTx/>
              <a:buNone/>
            </a:pPr>
            <a:r>
              <a:rPr lang="en-US" altLang="zh-CN" sz="1800" b="1" dirty="0" err="1">
                <a:effectLst>
                  <a:outerShdw blurRad="38100" dist="38100" dir="2700000" algn="tl">
                    <a:srgbClr val="000000">
                      <a:alpha val="43137"/>
                    </a:srgbClr>
                  </a:outerShdw>
                </a:effectLst>
              </a:rPr>
              <a:t>key_buf</a:t>
            </a:r>
            <a:r>
              <a:rPr lang="en-US" altLang="zh-CN" sz="1800" b="1" dirty="0">
                <a:effectLst>
                  <a:outerShdw blurRad="38100" dist="38100" dir="2700000" algn="tl">
                    <a:srgbClr val="000000">
                      <a:alpha val="43137"/>
                    </a:srgbClr>
                  </a:outerShdw>
                </a:effectLst>
              </a:rPr>
              <a:t> [] = {0xee, 0xde, 0xbe, 0x7e,</a:t>
            </a:r>
          </a:p>
          <a:p>
            <a:pPr eaLnBrk="1" hangingPunct="1">
              <a:spcBef>
                <a:spcPct val="0"/>
              </a:spcBef>
              <a:buFontTx/>
              <a:buNone/>
            </a:pPr>
            <a:r>
              <a:rPr lang="en-US" altLang="zh-CN" sz="1800" b="1" dirty="0">
                <a:effectLst>
                  <a:outerShdw blurRad="38100" dist="38100" dir="2700000" algn="tl">
                    <a:srgbClr val="000000">
                      <a:alpha val="43137"/>
                    </a:srgbClr>
                  </a:outerShdw>
                </a:effectLst>
              </a:rPr>
              <a:t>                      0xed, 0xdd, 0xbd, 0x7d,</a:t>
            </a:r>
          </a:p>
          <a:p>
            <a:pPr eaLnBrk="1" hangingPunct="1">
              <a:spcBef>
                <a:spcPct val="0"/>
              </a:spcBef>
              <a:buFontTx/>
              <a:buNone/>
            </a:pPr>
            <a:r>
              <a:rPr lang="en-US" altLang="zh-CN" sz="1800" b="1" dirty="0">
                <a:effectLst>
                  <a:outerShdw blurRad="38100" dist="38100" dir="2700000" algn="tl">
                    <a:srgbClr val="000000">
                      <a:alpha val="43137"/>
                    </a:srgbClr>
                  </a:outerShdw>
                </a:effectLst>
              </a:rPr>
              <a:t>                      0xeb, 0xdb, 0xbb, 0x7b,</a:t>
            </a:r>
          </a:p>
          <a:p>
            <a:pPr eaLnBrk="1" hangingPunct="1">
              <a:spcBef>
                <a:spcPct val="0"/>
              </a:spcBef>
              <a:buFontTx/>
              <a:buNone/>
            </a:pPr>
            <a:r>
              <a:rPr lang="en-US" altLang="zh-CN" sz="1800" b="1" dirty="0">
                <a:effectLst>
                  <a:outerShdw blurRad="38100" dist="38100" dir="2700000" algn="tl">
                    <a:srgbClr val="000000">
                      <a:alpha val="43137"/>
                    </a:srgbClr>
                  </a:outerShdw>
                </a:effectLst>
              </a:rPr>
              <a:t>                      0xe7, 0xd7, 0xb7, 0x77};</a:t>
            </a:r>
            <a:endParaRPr lang="zh-CN" altLang="en-US" sz="1800" b="1" dirty="0">
              <a:effectLst>
                <a:outerShdw blurRad="38100" dist="38100" dir="2700000" algn="tl">
                  <a:srgbClr val="000000">
                    <a:alpha val="43137"/>
                  </a:srgbClr>
                </a:outerShdw>
              </a:effectLst>
            </a:endParaRPr>
          </a:p>
        </p:txBody>
      </p:sp>
      <p:sp>
        <p:nvSpPr>
          <p:cNvPr id="31750" name="Rectangle 7">
            <a:extLst>
              <a:ext uri="{FF2B5EF4-FFF2-40B4-BE49-F238E27FC236}">
                <a16:creationId xmlns:a16="http://schemas.microsoft.com/office/drawing/2014/main" id="{751DC300-881E-4D21-BDDA-1F1D3D8A6FC0}"/>
              </a:ext>
            </a:extLst>
          </p:cNvPr>
          <p:cNvSpPr>
            <a:spLocks noChangeArrowheads="1"/>
          </p:cNvSpPr>
          <p:nvPr/>
        </p:nvSpPr>
        <p:spPr bwMode="auto">
          <a:xfrm>
            <a:off x="995363" y="1570038"/>
            <a:ext cx="54308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b="1" dirty="0">
                <a:solidFill>
                  <a:srgbClr val="CC3300"/>
                </a:solidFill>
                <a:effectLst>
                  <a:outerShdw blurRad="38100" dist="38100" dir="2700000" algn="tl">
                    <a:srgbClr val="000000">
                      <a:alpha val="43137"/>
                    </a:srgbClr>
                  </a:outerShdw>
                </a:effectLst>
              </a:rPr>
              <a:t>键号</a:t>
            </a:r>
            <a:r>
              <a:rPr lang="en-US" altLang="zh-CN" sz="2000" b="1" dirty="0">
                <a:effectLst>
                  <a:outerShdw blurRad="38100" dist="38100" dir="2700000" algn="tl">
                    <a:srgbClr val="000000">
                      <a:alpha val="43137"/>
                    </a:srgbClr>
                  </a:outerShdw>
                </a:effectLst>
              </a:rPr>
              <a:t>——</a:t>
            </a:r>
            <a:r>
              <a:rPr lang="zh-CN" altLang="en-US" sz="2000" b="1" dirty="0">
                <a:effectLst>
                  <a:outerShdw blurRad="38100" dist="38100" dir="2700000" algn="tl">
                    <a:srgbClr val="000000">
                      <a:alpha val="43137"/>
                    </a:srgbClr>
                  </a:outerShdw>
                </a:effectLst>
              </a:rPr>
              <a:t>按照一定规则给按键分配的编号</a:t>
            </a:r>
          </a:p>
        </p:txBody>
      </p:sp>
      <p:sp>
        <p:nvSpPr>
          <p:cNvPr id="879638" name="Rectangle 22">
            <a:extLst>
              <a:ext uri="{FF2B5EF4-FFF2-40B4-BE49-F238E27FC236}">
                <a16:creationId xmlns:a16="http://schemas.microsoft.com/office/drawing/2014/main" id="{21EECC0D-A0F8-4345-8748-AC7DE8CC3546}"/>
              </a:ext>
            </a:extLst>
          </p:cNvPr>
          <p:cNvSpPr>
            <a:spLocks noChangeArrowheads="1"/>
          </p:cNvSpPr>
          <p:nvPr/>
        </p:nvSpPr>
        <p:spPr bwMode="auto">
          <a:xfrm>
            <a:off x="1661319" y="4448701"/>
            <a:ext cx="67675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b="1" dirty="0">
                <a:effectLst>
                  <a:outerShdw blurRad="38100" dist="38100" dir="2700000" algn="tl">
                    <a:srgbClr val="000000">
                      <a:alpha val="43137"/>
                    </a:srgbClr>
                  </a:outerShdw>
                </a:effectLst>
              </a:rPr>
              <a:t>闭合键键号</a:t>
            </a:r>
            <a:r>
              <a:rPr lang="en-US" altLang="zh-CN" sz="2000" b="1" dirty="0">
                <a:effectLst>
                  <a:outerShdw blurRad="38100" dist="38100" dir="2700000" algn="tl">
                    <a:srgbClr val="000000">
                      <a:alpha val="43137"/>
                    </a:srgbClr>
                  </a:outerShdw>
                </a:effectLst>
              </a:rPr>
              <a:t>: </a:t>
            </a:r>
            <a:r>
              <a:rPr lang="zh-CN" altLang="en-US" sz="2000" b="1" dirty="0">
                <a:effectLst>
                  <a:outerShdw blurRad="38100" dist="38100" dir="2700000" algn="tl">
                    <a:srgbClr val="000000">
                      <a:alpha val="43137"/>
                    </a:srgbClr>
                  </a:outerShdw>
                </a:effectLst>
              </a:rPr>
              <a:t>闭合键值与键值数组相等时的查询号</a:t>
            </a:r>
          </a:p>
        </p:txBody>
      </p:sp>
      <p:sp>
        <p:nvSpPr>
          <p:cNvPr id="9" name="Rectangle 2">
            <a:extLst>
              <a:ext uri="{FF2B5EF4-FFF2-40B4-BE49-F238E27FC236}">
                <a16:creationId xmlns:a16="http://schemas.microsoft.com/office/drawing/2014/main" id="{539D2CBC-7BFE-4EF0-8C56-B31102755A57}"/>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a:extLst>
              <a:ext uri="{FF2B5EF4-FFF2-40B4-BE49-F238E27FC236}">
                <a16:creationId xmlns:a16="http://schemas.microsoft.com/office/drawing/2014/main" id="{A89485C4-4E2A-41B4-A342-CDE7282615E1}"/>
              </a:ext>
            </a:extLst>
          </p:cNvPr>
          <p:cNvSpPr>
            <a:spLocks noChangeArrowheads="1"/>
          </p:cNvSpPr>
          <p:nvPr/>
        </p:nvSpPr>
        <p:spPr bwMode="auto">
          <a:xfrm>
            <a:off x="661042" y="1014935"/>
            <a:ext cx="12874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b="1" dirty="0">
                <a:solidFill>
                  <a:srgbClr val="FF0000"/>
                </a:solidFill>
                <a:effectLst>
                  <a:outerShdw blurRad="38100" dist="38100" dir="2700000" algn="tl">
                    <a:srgbClr val="000000">
                      <a:alpha val="43137"/>
                    </a:srgbClr>
                  </a:outerShdw>
                </a:effectLst>
              </a:rPr>
              <a:t>实例</a:t>
            </a:r>
            <a:r>
              <a:rPr lang="en-US" altLang="zh-CN" sz="2000" b="1" dirty="0">
                <a:solidFill>
                  <a:srgbClr val="FF0000"/>
                </a:solidFill>
                <a:effectLst>
                  <a:outerShdw blurRad="38100" dist="38100" dir="2700000" algn="tl">
                    <a:srgbClr val="000000">
                      <a:alpha val="43137"/>
                    </a:srgbClr>
                  </a:outerShdw>
                </a:effectLst>
              </a:rPr>
              <a:t>7</a:t>
            </a:r>
            <a:endParaRPr lang="zh-CN" altLang="en-US" sz="2000" b="1" dirty="0">
              <a:solidFill>
                <a:srgbClr val="FF0000"/>
              </a:solidFill>
              <a:effectLst>
                <a:outerShdw blurRad="38100" dist="38100" dir="2700000" algn="tl">
                  <a:srgbClr val="000000">
                    <a:alpha val="43137"/>
                  </a:srgbClr>
                </a:outerShdw>
              </a:effectLst>
            </a:endParaRPr>
          </a:p>
        </p:txBody>
      </p:sp>
      <p:sp>
        <p:nvSpPr>
          <p:cNvPr id="32771" name="Rectangle 4">
            <a:extLst>
              <a:ext uri="{FF2B5EF4-FFF2-40B4-BE49-F238E27FC236}">
                <a16:creationId xmlns:a16="http://schemas.microsoft.com/office/drawing/2014/main" id="{517038D8-3CAA-4868-A1D6-75BE8F64D267}"/>
              </a:ext>
            </a:extLst>
          </p:cNvPr>
          <p:cNvSpPr>
            <a:spLocks noChangeArrowheads="1"/>
          </p:cNvSpPr>
          <p:nvPr/>
        </p:nvSpPr>
        <p:spPr bwMode="auto">
          <a:xfrm>
            <a:off x="661042" y="1939389"/>
            <a:ext cx="746719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b="1" dirty="0">
                <a:solidFill>
                  <a:srgbClr val="FF3300"/>
                </a:solidFill>
                <a:effectLst>
                  <a:outerShdw blurRad="38100" dist="38100" dir="2700000" algn="tl">
                    <a:srgbClr val="000000">
                      <a:alpha val="43137"/>
                    </a:srgbClr>
                  </a:outerShdw>
                </a:effectLst>
              </a:rPr>
              <a:t>功能要求</a:t>
            </a:r>
            <a:r>
              <a:rPr lang="zh-CN" altLang="en-US" sz="2000" b="1" dirty="0">
                <a:effectLst>
                  <a:outerShdw blurRad="38100" dist="38100" dir="2700000" algn="tl">
                    <a:srgbClr val="000000">
                      <a:alpha val="43137"/>
                    </a:srgbClr>
                  </a:outerShdw>
                </a:effectLst>
              </a:rPr>
              <a:t>：开机黑屏→按下任意按键后，数码管上显示该键的键号（</a:t>
            </a:r>
            <a:r>
              <a:rPr lang="en-US" altLang="zh-CN" sz="2000" b="1" dirty="0">
                <a:effectLst>
                  <a:outerShdw blurRad="38100" dist="38100" dir="2700000" algn="tl">
                    <a:srgbClr val="000000">
                      <a:alpha val="43137"/>
                    </a:srgbClr>
                  </a:outerShdw>
                </a:effectLst>
              </a:rPr>
              <a:t>0</a:t>
            </a:r>
            <a:r>
              <a:rPr lang="en-US" altLang="en-US" sz="2000" b="1" dirty="0">
                <a:effectLst>
                  <a:outerShdw blurRad="38100" dist="38100" dir="2700000" algn="tl">
                    <a:srgbClr val="000000">
                      <a:alpha val="43137"/>
                    </a:srgbClr>
                  </a:outerShdw>
                </a:effectLst>
              </a:rPr>
              <a:t>～</a:t>
            </a:r>
            <a:r>
              <a:rPr lang="en-US" altLang="zh-CN" sz="2000" b="1" dirty="0">
                <a:effectLst>
                  <a:outerShdw blurRad="38100" dist="38100" dir="2700000" algn="tl">
                    <a:srgbClr val="000000">
                      <a:alpha val="43137"/>
                    </a:srgbClr>
                  </a:outerShdw>
                </a:effectLst>
              </a:rPr>
              <a:t>F</a:t>
            </a:r>
            <a:r>
              <a:rPr lang="zh-CN" altLang="en-US" sz="2000" b="1" dirty="0">
                <a:effectLst>
                  <a:outerShdw blurRad="38100" dist="38100" dir="2700000" algn="tl">
                    <a:srgbClr val="000000">
                      <a:alpha val="43137"/>
                    </a:srgbClr>
                  </a:outerShdw>
                </a:effectLst>
              </a:rPr>
              <a:t>）→若没有新键按下，维持前次按键结果</a:t>
            </a:r>
            <a:r>
              <a:rPr lang="zh-CN" altLang="en-US" sz="2400" b="1" dirty="0">
                <a:effectLst>
                  <a:outerShdw blurRad="38100" dist="38100" dir="2700000" algn="tl">
                    <a:srgbClr val="000000">
                      <a:alpha val="43137"/>
                    </a:srgbClr>
                  </a:outerShdw>
                </a:effectLst>
              </a:rPr>
              <a:t>。  </a:t>
            </a:r>
          </a:p>
        </p:txBody>
      </p:sp>
      <p:sp>
        <p:nvSpPr>
          <p:cNvPr id="32772" name="Text Box 12">
            <a:extLst>
              <a:ext uri="{FF2B5EF4-FFF2-40B4-BE49-F238E27FC236}">
                <a16:creationId xmlns:a16="http://schemas.microsoft.com/office/drawing/2014/main" id="{F354BF13-8F84-4EC5-BC75-A18A729AA6C4}"/>
              </a:ext>
            </a:extLst>
          </p:cNvPr>
          <p:cNvSpPr txBox="1">
            <a:spLocks noChangeArrowheads="1"/>
          </p:cNvSpPr>
          <p:nvPr/>
        </p:nvSpPr>
        <p:spPr bwMode="auto">
          <a:xfrm>
            <a:off x="1479240" y="1014935"/>
            <a:ext cx="43640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b="1" dirty="0">
                <a:effectLst>
                  <a:outerShdw blurRad="38100" dist="38100" dir="2700000" algn="tl">
                    <a:srgbClr val="000000">
                      <a:alpha val="43137"/>
                    </a:srgbClr>
                  </a:outerShdw>
                </a:effectLst>
              </a:rPr>
              <a:t>行列式键盘</a:t>
            </a:r>
          </a:p>
        </p:txBody>
      </p:sp>
      <p:pic>
        <p:nvPicPr>
          <p:cNvPr id="32773" name="图片 1">
            <a:extLst>
              <a:ext uri="{FF2B5EF4-FFF2-40B4-BE49-F238E27FC236}">
                <a16:creationId xmlns:a16="http://schemas.microsoft.com/office/drawing/2014/main" id="{FAEFEEE9-DC29-47EE-8740-EBC90107798B}"/>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3541" t="9589" r="16354" b="25575"/>
          <a:stretch>
            <a:fillRect/>
          </a:stretch>
        </p:blipFill>
        <p:spPr bwMode="auto">
          <a:xfrm>
            <a:off x="1877518" y="2739241"/>
            <a:ext cx="5741281" cy="373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4">
            <a:extLst>
              <a:ext uri="{FF2B5EF4-FFF2-40B4-BE49-F238E27FC236}">
                <a16:creationId xmlns:a16="http://schemas.microsoft.com/office/drawing/2014/main" id="{DE84E338-7072-480B-BDA0-B0CA6EDE28CC}"/>
              </a:ext>
            </a:extLst>
          </p:cNvPr>
          <p:cNvSpPr>
            <a:spLocks noChangeArrowheads="1"/>
          </p:cNvSpPr>
          <p:nvPr/>
        </p:nvSpPr>
        <p:spPr bwMode="auto">
          <a:xfrm>
            <a:off x="661042" y="1521356"/>
            <a:ext cx="74671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b="1" dirty="0">
                <a:effectLst>
                  <a:outerShdw blurRad="38100" dist="38100" dir="2700000" algn="tl">
                    <a:srgbClr val="000000">
                      <a:alpha val="43137"/>
                    </a:srgbClr>
                  </a:outerShdw>
                </a:effectLst>
              </a:rPr>
              <a:t>4×4</a:t>
            </a:r>
            <a:r>
              <a:rPr lang="zh-CN" altLang="en-US" sz="2000" b="1" dirty="0">
                <a:effectLst>
                  <a:outerShdw blurRad="38100" dist="38100" dir="2700000" algn="tl">
                    <a:srgbClr val="000000">
                      <a:alpha val="43137"/>
                    </a:srgbClr>
                  </a:outerShdw>
                </a:effectLst>
              </a:rPr>
              <a:t>行列式键盘如下图所示</a:t>
            </a:r>
            <a:endParaRPr lang="zh-CN" altLang="en-US" sz="2400" b="1" dirty="0">
              <a:effectLst>
                <a:outerShdw blurRad="38100" dist="38100" dir="2700000" algn="tl">
                  <a:srgbClr val="000000">
                    <a:alpha val="43137"/>
                  </a:srgbClr>
                </a:outerShdw>
              </a:effectLst>
            </a:endParaRPr>
          </a:p>
        </p:txBody>
      </p:sp>
      <p:sp>
        <p:nvSpPr>
          <p:cNvPr id="8" name="Rectangle 2">
            <a:extLst>
              <a:ext uri="{FF2B5EF4-FFF2-40B4-BE49-F238E27FC236}">
                <a16:creationId xmlns:a16="http://schemas.microsoft.com/office/drawing/2014/main" id="{2111BF64-2AE3-4459-8586-05F705BDE905}"/>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a:extLst>
              <a:ext uri="{FF2B5EF4-FFF2-40B4-BE49-F238E27FC236}">
                <a16:creationId xmlns:a16="http://schemas.microsoft.com/office/drawing/2014/main" id="{93A1A233-D0A5-4FC2-A035-F684463B8A29}"/>
              </a:ext>
            </a:extLst>
          </p:cNvPr>
          <p:cNvSpPr>
            <a:spLocks noChangeArrowheads="1"/>
          </p:cNvSpPr>
          <p:nvPr/>
        </p:nvSpPr>
        <p:spPr bwMode="auto">
          <a:xfrm>
            <a:off x="781051" y="1317512"/>
            <a:ext cx="32702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b="1" dirty="0"/>
              <a:t>主程序流程图  </a:t>
            </a:r>
          </a:p>
        </p:txBody>
      </p:sp>
      <p:grpSp>
        <p:nvGrpSpPr>
          <p:cNvPr id="33795" name="Group 60">
            <a:extLst>
              <a:ext uri="{FF2B5EF4-FFF2-40B4-BE49-F238E27FC236}">
                <a16:creationId xmlns:a16="http://schemas.microsoft.com/office/drawing/2014/main" id="{E214DBF6-451F-47F0-8D99-4EFE92A444FF}"/>
              </a:ext>
            </a:extLst>
          </p:cNvPr>
          <p:cNvGrpSpPr>
            <a:grpSpLocks/>
          </p:cNvGrpSpPr>
          <p:nvPr/>
        </p:nvGrpSpPr>
        <p:grpSpPr bwMode="auto">
          <a:xfrm>
            <a:off x="1000044" y="2056583"/>
            <a:ext cx="2631049" cy="2580048"/>
            <a:chOff x="472" y="1125"/>
            <a:chExt cx="1754" cy="1720"/>
          </a:xfrm>
        </p:grpSpPr>
        <p:sp>
          <p:nvSpPr>
            <p:cNvPr id="33798" name="AutoShape 24">
              <a:extLst>
                <a:ext uri="{FF2B5EF4-FFF2-40B4-BE49-F238E27FC236}">
                  <a16:creationId xmlns:a16="http://schemas.microsoft.com/office/drawing/2014/main" id="{F7CF5AF8-433B-4338-94F5-4BBFF4896F66}"/>
                </a:ext>
              </a:extLst>
            </p:cNvPr>
            <p:cNvSpPr>
              <a:spLocks noChangeArrowheads="1"/>
            </p:cNvSpPr>
            <p:nvPr/>
          </p:nvSpPr>
          <p:spPr bwMode="auto">
            <a:xfrm>
              <a:off x="1104" y="1125"/>
              <a:ext cx="617" cy="174"/>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400"/>
                <a:t>主函数</a:t>
              </a:r>
            </a:p>
          </p:txBody>
        </p:sp>
        <p:sp>
          <p:nvSpPr>
            <p:cNvPr id="33799" name="AutoShape 43">
              <a:extLst>
                <a:ext uri="{FF2B5EF4-FFF2-40B4-BE49-F238E27FC236}">
                  <a16:creationId xmlns:a16="http://schemas.microsoft.com/office/drawing/2014/main" id="{CAAC65BB-5F6A-45B4-91AD-7FA12AEA0368}"/>
                </a:ext>
              </a:extLst>
            </p:cNvPr>
            <p:cNvSpPr>
              <a:spLocks noChangeArrowheads="1"/>
            </p:cNvSpPr>
            <p:nvPr/>
          </p:nvSpPr>
          <p:spPr bwMode="auto">
            <a:xfrm>
              <a:off x="896" y="1810"/>
              <a:ext cx="1082" cy="139"/>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400"/>
                <a:t>获取键号函数</a:t>
              </a:r>
            </a:p>
          </p:txBody>
        </p:sp>
        <p:sp>
          <p:nvSpPr>
            <p:cNvPr id="33800" name="AutoShape 44">
              <a:extLst>
                <a:ext uri="{FF2B5EF4-FFF2-40B4-BE49-F238E27FC236}">
                  <a16:creationId xmlns:a16="http://schemas.microsoft.com/office/drawing/2014/main" id="{93452791-E81A-4E2B-B043-6C769270FF52}"/>
                </a:ext>
              </a:extLst>
            </p:cNvPr>
            <p:cNvSpPr>
              <a:spLocks noChangeArrowheads="1"/>
            </p:cNvSpPr>
            <p:nvPr/>
          </p:nvSpPr>
          <p:spPr bwMode="auto">
            <a:xfrm>
              <a:off x="651" y="2095"/>
              <a:ext cx="1575" cy="250"/>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400"/>
                <a:t>键号 </a:t>
              </a:r>
              <a:r>
                <a:rPr lang="en-US" altLang="zh-CN" sz="1400"/>
                <a:t>= -1?</a:t>
              </a:r>
            </a:p>
          </p:txBody>
        </p:sp>
        <p:sp>
          <p:nvSpPr>
            <p:cNvPr id="33801" name="AutoShape 46">
              <a:extLst>
                <a:ext uri="{FF2B5EF4-FFF2-40B4-BE49-F238E27FC236}">
                  <a16:creationId xmlns:a16="http://schemas.microsoft.com/office/drawing/2014/main" id="{64FB99FA-9F09-4902-9FD8-C644224BEA06}"/>
                </a:ext>
              </a:extLst>
            </p:cNvPr>
            <p:cNvSpPr>
              <a:spLocks noChangeArrowheads="1"/>
            </p:cNvSpPr>
            <p:nvPr/>
          </p:nvSpPr>
          <p:spPr bwMode="auto">
            <a:xfrm>
              <a:off x="958" y="2489"/>
              <a:ext cx="964" cy="174"/>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a:t>P0←</a:t>
              </a:r>
              <a:r>
                <a:rPr lang="zh-CN" altLang="en-US" sz="1400"/>
                <a:t>键号显示码</a:t>
              </a:r>
            </a:p>
          </p:txBody>
        </p:sp>
        <p:sp>
          <p:nvSpPr>
            <p:cNvPr id="33802" name="Line 47">
              <a:extLst>
                <a:ext uri="{FF2B5EF4-FFF2-40B4-BE49-F238E27FC236}">
                  <a16:creationId xmlns:a16="http://schemas.microsoft.com/office/drawing/2014/main" id="{73B4CB4A-2E64-4D06-A8D5-BA19465F007F}"/>
                </a:ext>
              </a:extLst>
            </p:cNvPr>
            <p:cNvSpPr>
              <a:spLocks noChangeShapeType="1"/>
            </p:cNvSpPr>
            <p:nvPr/>
          </p:nvSpPr>
          <p:spPr bwMode="auto">
            <a:xfrm>
              <a:off x="1430" y="2360"/>
              <a:ext cx="0" cy="11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3" name="Text Box 48">
              <a:extLst>
                <a:ext uri="{FF2B5EF4-FFF2-40B4-BE49-F238E27FC236}">
                  <a16:creationId xmlns:a16="http://schemas.microsoft.com/office/drawing/2014/main" id="{75AB7B31-FF3E-49ED-ABBA-5C3CEF0DFD56}"/>
                </a:ext>
              </a:extLst>
            </p:cNvPr>
            <p:cNvSpPr txBox="1">
              <a:spLocks noChangeArrowheads="1"/>
            </p:cNvSpPr>
            <p:nvPr/>
          </p:nvSpPr>
          <p:spPr bwMode="auto">
            <a:xfrm>
              <a:off x="1465" y="2317"/>
              <a:ext cx="21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400"/>
                <a:t>N</a:t>
              </a:r>
            </a:p>
          </p:txBody>
        </p:sp>
        <p:sp>
          <p:nvSpPr>
            <p:cNvPr id="33804" name="Line 49">
              <a:extLst>
                <a:ext uri="{FF2B5EF4-FFF2-40B4-BE49-F238E27FC236}">
                  <a16:creationId xmlns:a16="http://schemas.microsoft.com/office/drawing/2014/main" id="{0926075D-CE26-42CB-B259-54C7ED10DAA8}"/>
                </a:ext>
              </a:extLst>
            </p:cNvPr>
            <p:cNvSpPr>
              <a:spLocks noChangeShapeType="1"/>
            </p:cNvSpPr>
            <p:nvPr/>
          </p:nvSpPr>
          <p:spPr bwMode="auto">
            <a:xfrm>
              <a:off x="1423" y="1948"/>
              <a:ext cx="0"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5" name="Line 51">
              <a:extLst>
                <a:ext uri="{FF2B5EF4-FFF2-40B4-BE49-F238E27FC236}">
                  <a16:creationId xmlns:a16="http://schemas.microsoft.com/office/drawing/2014/main" id="{A7EF41C2-88C4-482F-82CE-F8BC6615D709}"/>
                </a:ext>
              </a:extLst>
            </p:cNvPr>
            <p:cNvSpPr>
              <a:spLocks noChangeShapeType="1"/>
            </p:cNvSpPr>
            <p:nvPr/>
          </p:nvSpPr>
          <p:spPr bwMode="auto">
            <a:xfrm flipH="1">
              <a:off x="486" y="2214"/>
              <a:ext cx="1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6" name="Line 52">
              <a:extLst>
                <a:ext uri="{FF2B5EF4-FFF2-40B4-BE49-F238E27FC236}">
                  <a16:creationId xmlns:a16="http://schemas.microsoft.com/office/drawing/2014/main" id="{FDF9A728-3A54-4C4C-9D10-1BB9852A9A8E}"/>
                </a:ext>
              </a:extLst>
            </p:cNvPr>
            <p:cNvSpPr>
              <a:spLocks noChangeShapeType="1"/>
            </p:cNvSpPr>
            <p:nvPr/>
          </p:nvSpPr>
          <p:spPr bwMode="auto">
            <a:xfrm>
              <a:off x="479" y="1707"/>
              <a:ext cx="0" cy="1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7" name="Line 53">
              <a:extLst>
                <a:ext uri="{FF2B5EF4-FFF2-40B4-BE49-F238E27FC236}">
                  <a16:creationId xmlns:a16="http://schemas.microsoft.com/office/drawing/2014/main" id="{0F3E4480-BE54-401A-8C5B-5492D0BB7E5A}"/>
                </a:ext>
              </a:extLst>
            </p:cNvPr>
            <p:cNvSpPr>
              <a:spLocks noChangeShapeType="1"/>
            </p:cNvSpPr>
            <p:nvPr/>
          </p:nvSpPr>
          <p:spPr bwMode="auto">
            <a:xfrm>
              <a:off x="1416" y="1625"/>
              <a:ext cx="0" cy="17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8" name="Line 54">
              <a:extLst>
                <a:ext uri="{FF2B5EF4-FFF2-40B4-BE49-F238E27FC236}">
                  <a16:creationId xmlns:a16="http://schemas.microsoft.com/office/drawing/2014/main" id="{AC546569-C298-49BA-BE6D-7E316644E445}"/>
                </a:ext>
              </a:extLst>
            </p:cNvPr>
            <p:cNvSpPr>
              <a:spLocks noChangeShapeType="1"/>
            </p:cNvSpPr>
            <p:nvPr/>
          </p:nvSpPr>
          <p:spPr bwMode="auto">
            <a:xfrm flipH="1">
              <a:off x="472" y="1699"/>
              <a:ext cx="937"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9" name="Text Box 55">
              <a:extLst>
                <a:ext uri="{FF2B5EF4-FFF2-40B4-BE49-F238E27FC236}">
                  <a16:creationId xmlns:a16="http://schemas.microsoft.com/office/drawing/2014/main" id="{06243AC1-DC7A-4C7E-A627-E564C4B27207}"/>
                </a:ext>
              </a:extLst>
            </p:cNvPr>
            <p:cNvSpPr txBox="1">
              <a:spLocks noChangeArrowheads="1"/>
            </p:cNvSpPr>
            <p:nvPr/>
          </p:nvSpPr>
          <p:spPr bwMode="auto">
            <a:xfrm>
              <a:off x="550" y="2026"/>
              <a:ext cx="21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400"/>
                <a:t>Y</a:t>
              </a:r>
            </a:p>
          </p:txBody>
        </p:sp>
        <p:sp>
          <p:nvSpPr>
            <p:cNvPr id="33810" name="Line 56">
              <a:extLst>
                <a:ext uri="{FF2B5EF4-FFF2-40B4-BE49-F238E27FC236}">
                  <a16:creationId xmlns:a16="http://schemas.microsoft.com/office/drawing/2014/main" id="{D8CB1ADF-A68A-4798-AC04-9B750DB5E39D}"/>
                </a:ext>
              </a:extLst>
            </p:cNvPr>
            <p:cNvSpPr>
              <a:spLocks noChangeShapeType="1"/>
            </p:cNvSpPr>
            <p:nvPr/>
          </p:nvSpPr>
          <p:spPr bwMode="auto">
            <a:xfrm>
              <a:off x="1443" y="2670"/>
              <a:ext cx="0" cy="15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11" name="Line 57">
              <a:extLst>
                <a:ext uri="{FF2B5EF4-FFF2-40B4-BE49-F238E27FC236}">
                  <a16:creationId xmlns:a16="http://schemas.microsoft.com/office/drawing/2014/main" id="{42ED6F22-AF34-4BA2-BF4E-C02E3FE52D83}"/>
                </a:ext>
              </a:extLst>
            </p:cNvPr>
            <p:cNvSpPr>
              <a:spLocks noChangeShapeType="1"/>
            </p:cNvSpPr>
            <p:nvPr/>
          </p:nvSpPr>
          <p:spPr bwMode="auto">
            <a:xfrm>
              <a:off x="486" y="2838"/>
              <a:ext cx="9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12" name="Line 58">
              <a:extLst>
                <a:ext uri="{FF2B5EF4-FFF2-40B4-BE49-F238E27FC236}">
                  <a16:creationId xmlns:a16="http://schemas.microsoft.com/office/drawing/2014/main" id="{219B79B6-2AC3-4264-BE8D-CE18D08F7423}"/>
                </a:ext>
              </a:extLst>
            </p:cNvPr>
            <p:cNvSpPr>
              <a:spLocks noChangeShapeType="1"/>
            </p:cNvSpPr>
            <p:nvPr/>
          </p:nvSpPr>
          <p:spPr bwMode="auto">
            <a:xfrm>
              <a:off x="1416" y="1310"/>
              <a:ext cx="0"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13" name="AutoShape 59">
              <a:extLst>
                <a:ext uri="{FF2B5EF4-FFF2-40B4-BE49-F238E27FC236}">
                  <a16:creationId xmlns:a16="http://schemas.microsoft.com/office/drawing/2014/main" id="{D1F69299-A84A-44CA-A2E4-614E153CFD6E}"/>
                </a:ext>
              </a:extLst>
            </p:cNvPr>
            <p:cNvSpPr>
              <a:spLocks noChangeArrowheads="1"/>
            </p:cNvSpPr>
            <p:nvPr/>
          </p:nvSpPr>
          <p:spPr bwMode="auto">
            <a:xfrm>
              <a:off x="923" y="1455"/>
              <a:ext cx="964" cy="174"/>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a:t>P0←</a:t>
              </a:r>
              <a:r>
                <a:rPr lang="zh-CN" altLang="en-US" sz="1400"/>
                <a:t>黑屏显示码</a:t>
              </a:r>
            </a:p>
          </p:txBody>
        </p:sp>
      </p:grpSp>
      <p:sp>
        <p:nvSpPr>
          <p:cNvPr id="33796" name="文本框 1">
            <a:extLst>
              <a:ext uri="{FF2B5EF4-FFF2-40B4-BE49-F238E27FC236}">
                <a16:creationId xmlns:a16="http://schemas.microsoft.com/office/drawing/2014/main" id="{DB67369C-7560-403E-803A-1B93DE8DBB6E}"/>
              </a:ext>
            </a:extLst>
          </p:cNvPr>
          <p:cNvSpPr txBox="1">
            <a:spLocks noChangeArrowheads="1"/>
          </p:cNvSpPr>
          <p:nvPr/>
        </p:nvSpPr>
        <p:spPr bwMode="auto">
          <a:xfrm>
            <a:off x="3562352" y="2056583"/>
            <a:ext cx="5273675" cy="2496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ts val="2100"/>
              </a:lnSpc>
              <a:spcBef>
                <a:spcPct val="0"/>
              </a:spcBef>
              <a:buFontTx/>
              <a:buNone/>
            </a:pPr>
            <a:r>
              <a:rPr lang="en-US" altLang="zh-CN" sz="1600" b="1" dirty="0"/>
              <a:t>void main(void) {</a:t>
            </a:r>
          </a:p>
          <a:p>
            <a:pPr>
              <a:lnSpc>
                <a:spcPts val="2100"/>
              </a:lnSpc>
              <a:spcBef>
                <a:spcPct val="0"/>
              </a:spcBef>
              <a:buFontTx/>
              <a:buNone/>
            </a:pPr>
            <a:r>
              <a:rPr lang="en-US" altLang="zh-CN" sz="1600" b="1" dirty="0"/>
              <a:t>        char key = 0;				</a:t>
            </a:r>
          </a:p>
          <a:p>
            <a:pPr>
              <a:lnSpc>
                <a:spcPts val="2100"/>
              </a:lnSpc>
              <a:spcBef>
                <a:spcPct val="0"/>
              </a:spcBef>
              <a:buFontTx/>
              <a:buNone/>
            </a:pPr>
            <a:r>
              <a:rPr lang="en-US" altLang="zh-CN" sz="1600" b="1" dirty="0"/>
              <a:t>        P0 = 0x00;    	           //</a:t>
            </a:r>
            <a:r>
              <a:rPr lang="zh-CN" altLang="en-US" sz="1600" b="1" dirty="0"/>
              <a:t>开机黑屏</a:t>
            </a:r>
          </a:p>
          <a:p>
            <a:pPr>
              <a:lnSpc>
                <a:spcPts val="2100"/>
              </a:lnSpc>
              <a:spcBef>
                <a:spcPct val="0"/>
              </a:spcBef>
              <a:buFontTx/>
              <a:buNone/>
            </a:pPr>
            <a:r>
              <a:rPr lang="zh-CN" altLang="en-US" sz="1600" b="1" dirty="0"/>
              <a:t>        </a:t>
            </a:r>
            <a:r>
              <a:rPr lang="en-US" altLang="zh-CN" sz="1600" b="1" dirty="0"/>
              <a:t>while(1) {</a:t>
            </a:r>
          </a:p>
          <a:p>
            <a:pPr>
              <a:lnSpc>
                <a:spcPts val="2100"/>
              </a:lnSpc>
              <a:spcBef>
                <a:spcPct val="0"/>
              </a:spcBef>
              <a:buFontTx/>
              <a:buNone/>
            </a:pPr>
            <a:r>
              <a:rPr lang="en-US" altLang="zh-CN" sz="1600" b="1" dirty="0"/>
              <a:t>	key = </a:t>
            </a:r>
            <a:r>
              <a:rPr lang="en-US" altLang="zh-CN" sz="1600" b="1" dirty="0" err="1"/>
              <a:t>getKey</a:t>
            </a:r>
            <a:r>
              <a:rPr lang="en-US" altLang="zh-CN" sz="1600" b="1" dirty="0"/>
              <a:t>();   //</a:t>
            </a:r>
            <a:r>
              <a:rPr lang="zh-CN" altLang="en-US" sz="1600" b="1" dirty="0"/>
              <a:t>获得闭合键号</a:t>
            </a:r>
          </a:p>
          <a:p>
            <a:pPr>
              <a:lnSpc>
                <a:spcPts val="2100"/>
              </a:lnSpc>
              <a:spcBef>
                <a:spcPct val="0"/>
              </a:spcBef>
              <a:buFontTx/>
              <a:buNone/>
            </a:pPr>
            <a:r>
              <a:rPr lang="zh-CN" altLang="en-US" sz="1600" b="1" dirty="0"/>
              <a:t>	</a:t>
            </a:r>
            <a:r>
              <a:rPr lang="en-US" altLang="zh-CN" sz="1600" b="1" dirty="0"/>
              <a:t>if (key != -1) P0 = </a:t>
            </a:r>
            <a:r>
              <a:rPr lang="en-US" altLang="zh-CN" sz="1600" b="1" dirty="0" err="1"/>
              <a:t>led_mod</a:t>
            </a:r>
            <a:r>
              <a:rPr lang="en-US" altLang="zh-CN" sz="1600" b="1" dirty="0"/>
              <a:t>[key];	</a:t>
            </a:r>
          </a:p>
          <a:p>
            <a:pPr>
              <a:lnSpc>
                <a:spcPts val="2100"/>
              </a:lnSpc>
              <a:spcBef>
                <a:spcPct val="0"/>
              </a:spcBef>
              <a:buFontTx/>
              <a:buNone/>
            </a:pPr>
            <a:r>
              <a:rPr lang="en-US" altLang="zh-CN" sz="1600" b="1" dirty="0"/>
              <a:t>	//</a:t>
            </a:r>
            <a:r>
              <a:rPr lang="zh-CN" altLang="en-US" sz="1600" b="1" dirty="0"/>
              <a:t>显示闭合键号</a:t>
            </a:r>
          </a:p>
          <a:p>
            <a:pPr>
              <a:lnSpc>
                <a:spcPts val="2100"/>
              </a:lnSpc>
              <a:spcBef>
                <a:spcPct val="0"/>
              </a:spcBef>
              <a:buFontTx/>
              <a:buNone/>
            </a:pPr>
            <a:r>
              <a:rPr lang="zh-CN" altLang="en-US" sz="1600" b="1" dirty="0"/>
              <a:t>        </a:t>
            </a:r>
            <a:r>
              <a:rPr lang="en-US" altLang="zh-CN" sz="1600" b="1" dirty="0"/>
              <a:t>}</a:t>
            </a:r>
          </a:p>
          <a:p>
            <a:pPr>
              <a:lnSpc>
                <a:spcPts val="2100"/>
              </a:lnSpc>
              <a:spcBef>
                <a:spcPct val="0"/>
              </a:spcBef>
              <a:buFontTx/>
              <a:buNone/>
            </a:pPr>
            <a:r>
              <a:rPr lang="en-US" altLang="zh-CN" sz="1600" b="1" dirty="0"/>
              <a:t>}</a:t>
            </a:r>
            <a:endParaRPr lang="zh-CN" altLang="en-US" sz="1600" b="1" dirty="0"/>
          </a:p>
        </p:txBody>
      </p:sp>
      <p:sp>
        <p:nvSpPr>
          <p:cNvPr id="22" name="Rectangle 2">
            <a:extLst>
              <a:ext uri="{FF2B5EF4-FFF2-40B4-BE49-F238E27FC236}">
                <a16:creationId xmlns:a16="http://schemas.microsoft.com/office/drawing/2014/main" id="{369DF1CB-C79F-4AE7-A592-CEAB28FCA77F}"/>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a:extLst>
              <a:ext uri="{FF2B5EF4-FFF2-40B4-BE49-F238E27FC236}">
                <a16:creationId xmlns:a16="http://schemas.microsoft.com/office/drawing/2014/main" id="{29A4C791-7AB3-44AC-B325-808F65CC424A}"/>
              </a:ext>
            </a:extLst>
          </p:cNvPr>
          <p:cNvSpPr>
            <a:spLocks noChangeArrowheads="1"/>
          </p:cNvSpPr>
          <p:nvPr/>
        </p:nvSpPr>
        <p:spPr bwMode="auto">
          <a:xfrm>
            <a:off x="1190085" y="1100370"/>
            <a:ext cx="32702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b="1" dirty="0"/>
              <a:t>获取键号流程图</a:t>
            </a:r>
          </a:p>
        </p:txBody>
      </p:sp>
      <p:pic>
        <p:nvPicPr>
          <p:cNvPr id="34819" name="图片 1">
            <a:extLst>
              <a:ext uri="{FF2B5EF4-FFF2-40B4-BE49-F238E27FC236}">
                <a16:creationId xmlns:a16="http://schemas.microsoft.com/office/drawing/2014/main" id="{DF7D55B2-BDAB-45BF-A98C-E782438463DD}"/>
              </a:ext>
            </a:extLst>
          </p:cNvPr>
          <p:cNvPicPr>
            <a:picLocks noChangeAspect="1"/>
          </p:cNvPicPr>
          <p:nvPr/>
        </p:nvPicPr>
        <p:blipFill>
          <a:blip r:embed="rId2">
            <a:extLst>
              <a:ext uri="{28A0092B-C50C-407E-A947-70E740481C1C}">
                <a14:useLocalDpi xmlns:a14="http://schemas.microsoft.com/office/drawing/2010/main" val="0"/>
              </a:ext>
            </a:extLst>
          </a:blip>
          <a:srcRect l="22565" t="24846" r="33929" b="42972"/>
          <a:stretch>
            <a:fillRect/>
          </a:stretch>
        </p:blipFill>
        <p:spPr bwMode="auto">
          <a:xfrm>
            <a:off x="4133736" y="1857899"/>
            <a:ext cx="4384675" cy="3022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1" name="Picture 31" descr="4-31">
            <a:extLst>
              <a:ext uri="{FF2B5EF4-FFF2-40B4-BE49-F238E27FC236}">
                <a16:creationId xmlns:a16="http://schemas.microsoft.com/office/drawing/2014/main" id="{1CAC8169-086E-4E5B-B8C6-358A592946D5}"/>
              </a:ext>
            </a:extLst>
          </p:cNvP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16513" y="1603375"/>
            <a:ext cx="2744084" cy="3277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a:extLst>
              <a:ext uri="{FF2B5EF4-FFF2-40B4-BE49-F238E27FC236}">
                <a16:creationId xmlns:a16="http://schemas.microsoft.com/office/drawing/2014/main" id="{320332CF-8BED-457F-8FE7-AF1A23812941}"/>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a:extLst>
              <a:ext uri="{FF2B5EF4-FFF2-40B4-BE49-F238E27FC236}">
                <a16:creationId xmlns:a16="http://schemas.microsoft.com/office/drawing/2014/main" id="{645373D2-B9F2-4111-92DC-08A9069FBF62}"/>
              </a:ext>
            </a:extLst>
          </p:cNvPr>
          <p:cNvSpPr>
            <a:spLocks noChangeArrowheads="1"/>
          </p:cNvSpPr>
          <p:nvPr/>
        </p:nvSpPr>
        <p:spPr bwMode="auto">
          <a:xfrm>
            <a:off x="677863" y="885001"/>
            <a:ext cx="151836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dirty="0">
                <a:effectLst>
                  <a:outerShdw blurRad="38100" dist="38100" dir="2700000" algn="tl">
                    <a:srgbClr val="000000">
                      <a:alpha val="43137"/>
                    </a:srgbClr>
                  </a:outerShdw>
                </a:effectLst>
              </a:rPr>
              <a:t>实例</a:t>
            </a:r>
            <a:r>
              <a:rPr lang="en-US" altLang="zh-CN" sz="1800" b="1" dirty="0">
                <a:effectLst>
                  <a:outerShdw blurRad="38100" dist="38100" dir="2700000" algn="tl">
                    <a:srgbClr val="000000">
                      <a:alpha val="43137"/>
                    </a:srgbClr>
                  </a:outerShdw>
                </a:effectLst>
              </a:rPr>
              <a:t>7</a:t>
            </a:r>
            <a:r>
              <a:rPr lang="zh-CN" altLang="en-US" sz="1800" b="1" dirty="0">
                <a:effectLst>
                  <a:outerShdw blurRad="38100" dist="38100" dir="2700000" algn="tl">
                    <a:srgbClr val="000000">
                      <a:alpha val="43137"/>
                    </a:srgbClr>
                  </a:outerShdw>
                </a:effectLst>
              </a:rPr>
              <a:t>源程序</a:t>
            </a:r>
            <a:r>
              <a:rPr lang="zh-CN" altLang="en-US" sz="2000" b="1" dirty="0">
                <a:effectLst>
                  <a:outerShdw blurRad="38100" dist="38100" dir="2700000" algn="tl">
                    <a:srgbClr val="000000">
                      <a:alpha val="43137"/>
                    </a:srgbClr>
                  </a:outerShdw>
                </a:effectLst>
              </a:rPr>
              <a:t> </a:t>
            </a:r>
          </a:p>
        </p:txBody>
      </p:sp>
      <p:pic>
        <p:nvPicPr>
          <p:cNvPr id="35844" name="图片 1">
            <a:extLst>
              <a:ext uri="{FF2B5EF4-FFF2-40B4-BE49-F238E27FC236}">
                <a16:creationId xmlns:a16="http://schemas.microsoft.com/office/drawing/2014/main" id="{30D21350-7BAC-43C9-B6E5-3E04B73F85F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51922" y="974454"/>
            <a:ext cx="6249351" cy="4909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8EB375EB-F736-4E8D-A5B9-312B23A72EA4}"/>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82DF8B2-A66D-4C71-A1CB-B6EC7FD5F664}"/>
              </a:ext>
            </a:extLst>
          </p:cNvPr>
          <p:cNvSpPr txBox="1"/>
          <p:nvPr/>
        </p:nvSpPr>
        <p:spPr>
          <a:xfrm>
            <a:off x="855482" y="1083309"/>
            <a:ext cx="7433035" cy="707886"/>
          </a:xfrm>
          <a:prstGeom prst="rect">
            <a:avLst/>
          </a:prstGeom>
          <a:noFill/>
        </p:spPr>
        <p:txBody>
          <a:bodyPr wrap="square">
            <a:spAutoFit/>
          </a:bodyPr>
          <a:lstStyle/>
          <a:p>
            <a:r>
              <a:rPr lang="zh-CN"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操作：</a:t>
            </a:r>
            <a:r>
              <a:rPr lang="zh-CN" altLang="zh-CN" sz="20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改写程序模板完成源程序输入→单击【调试】→【构建工程】→单击仿真运行按钮</a:t>
            </a:r>
            <a:r>
              <a:rPr lang="en-US" altLang="zh-CN" sz="20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000" b="1" dirty="0">
                <a:effectLst>
                  <a:outerShdw blurRad="38100" dist="38100" dir="2700000" algn="tl">
                    <a:srgbClr val="000000">
                      <a:alpha val="43137"/>
                    </a:srgbClr>
                  </a:outerShdw>
                </a:effectLst>
                <a:cs typeface="Times New Roman" panose="02020603050405020304" pitchFamily="18" charset="0"/>
              </a:rPr>
              <a:t>→编程界面和运行界面如图</a:t>
            </a:r>
            <a:r>
              <a:rPr lang="zh-CN" altLang="en-US" sz="2000" b="1" dirty="0">
                <a:effectLst>
                  <a:outerShdw blurRad="38100" dist="38100" dir="2700000" algn="tl">
                    <a:srgbClr val="000000">
                      <a:alpha val="43137"/>
                    </a:srgbClr>
                  </a:outerShdw>
                </a:effectLst>
                <a:cs typeface="Times New Roman" panose="02020603050405020304" pitchFamily="18" charset="0"/>
              </a:rPr>
              <a:t>所示。</a:t>
            </a:r>
            <a:endParaRPr lang="zh-CN" altLang="en-US" sz="2000" b="1" dirty="0">
              <a:effectLst>
                <a:outerShdw blurRad="38100" dist="38100" dir="2700000" algn="tl">
                  <a:srgbClr val="000000">
                    <a:alpha val="43137"/>
                  </a:srgbClr>
                </a:outerShdw>
              </a:effectLst>
            </a:endParaRPr>
          </a:p>
        </p:txBody>
      </p:sp>
      <p:pic>
        <p:nvPicPr>
          <p:cNvPr id="4" name="图片 3">
            <a:extLst>
              <a:ext uri="{FF2B5EF4-FFF2-40B4-BE49-F238E27FC236}">
                <a16:creationId xmlns:a16="http://schemas.microsoft.com/office/drawing/2014/main" id="{22BA8C15-9C5A-4D8B-A35C-FD57932BD01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754990" y="1503445"/>
            <a:ext cx="270255" cy="223848"/>
          </a:xfrm>
          <a:prstGeom prst="rect">
            <a:avLst/>
          </a:prstGeom>
          <a:noFill/>
          <a:ln w="6350">
            <a:solidFill>
              <a:schemeClr val="tx1"/>
            </a:solidFill>
          </a:ln>
        </p:spPr>
      </p:pic>
      <p:sp>
        <p:nvSpPr>
          <p:cNvPr id="11" name="文本框 10">
            <a:extLst>
              <a:ext uri="{FF2B5EF4-FFF2-40B4-BE49-F238E27FC236}">
                <a16:creationId xmlns:a16="http://schemas.microsoft.com/office/drawing/2014/main" id="{EA7D1E3D-3706-4A18-95F2-5305EFDDA795}"/>
              </a:ext>
            </a:extLst>
          </p:cNvPr>
          <p:cNvSpPr txBox="1"/>
          <p:nvPr/>
        </p:nvSpPr>
        <p:spPr>
          <a:xfrm>
            <a:off x="855482" y="5224435"/>
            <a:ext cx="7253925" cy="707886"/>
          </a:xfrm>
          <a:prstGeom prst="rect">
            <a:avLst/>
          </a:prstGeom>
          <a:noFill/>
        </p:spPr>
        <p:txBody>
          <a:bodyPr wrap="square">
            <a:spAutoFit/>
          </a:bodyPr>
          <a:lstStyle/>
          <a:p>
            <a:r>
              <a:rPr lang="zh-CN"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结果：</a:t>
            </a:r>
            <a:r>
              <a:rPr lang="zh-CN" altLang="zh-CN" sz="20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实现了由</a:t>
            </a:r>
            <a:r>
              <a:rPr lang="en-US" altLang="zh-CN" sz="20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4</a:t>
            </a:r>
            <a:r>
              <a:rPr lang="zh-CN" altLang="zh-CN" sz="20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4</a:t>
            </a:r>
            <a:r>
              <a:rPr lang="zh-CN" altLang="zh-CN" sz="20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行列式键盘和</a:t>
            </a:r>
            <a:r>
              <a:rPr lang="en-US" altLang="zh-CN" sz="20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1</a:t>
            </a:r>
            <a:r>
              <a:rPr lang="zh-CN" altLang="zh-CN" sz="20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位数码管组成的键盘值采集与显示功能，符合题意要求，实例</a:t>
            </a:r>
            <a:r>
              <a:rPr lang="en-US" altLang="zh-CN" sz="20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7</a:t>
            </a:r>
            <a:r>
              <a:rPr lang="zh-CN" altLang="zh-CN" sz="2000" b="1" dirty="0">
                <a:effectLst>
                  <a:outerShdw blurRad="38100" dist="38100" dir="2700000" algn="tl">
                    <a:srgbClr val="000000">
                      <a:alpha val="43137"/>
                    </a:srgbClr>
                  </a:outerShdw>
                </a:effectLst>
                <a:cs typeface="Times New Roman" panose="02020603050405020304" pitchFamily="18" charset="0"/>
              </a:rPr>
              <a:t>完成。</a:t>
            </a:r>
            <a:endParaRPr lang="zh-CN" altLang="en-US" sz="2000" b="1" dirty="0">
              <a:effectLst>
                <a:outerShdw blurRad="38100" dist="38100" dir="2700000" algn="tl">
                  <a:srgbClr val="000000">
                    <a:alpha val="43137"/>
                  </a:srgbClr>
                </a:outerShdw>
              </a:effectLst>
            </a:endParaRPr>
          </a:p>
        </p:txBody>
      </p:sp>
      <p:pic>
        <p:nvPicPr>
          <p:cNvPr id="8" name="图片 7">
            <a:extLst>
              <a:ext uri="{FF2B5EF4-FFF2-40B4-BE49-F238E27FC236}">
                <a16:creationId xmlns:a16="http://schemas.microsoft.com/office/drawing/2014/main" id="{1609E379-F88A-4A21-9119-B35D4E94AEE3}"/>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11110" y="1887239"/>
            <a:ext cx="3959860" cy="2545080"/>
          </a:xfrm>
          <a:prstGeom prst="rect">
            <a:avLst/>
          </a:prstGeom>
          <a:noFill/>
          <a:ln w="6350">
            <a:solidFill>
              <a:schemeClr val="tx1"/>
            </a:solidFill>
          </a:ln>
        </p:spPr>
      </p:pic>
      <p:pic>
        <p:nvPicPr>
          <p:cNvPr id="9" name="图片 8">
            <a:extLst>
              <a:ext uri="{FF2B5EF4-FFF2-40B4-BE49-F238E27FC236}">
                <a16:creationId xmlns:a16="http://schemas.microsoft.com/office/drawing/2014/main" id="{1B6DF173-6666-4205-B94F-5679786B1155}"/>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54990" y="2519409"/>
            <a:ext cx="3959860" cy="2545080"/>
          </a:xfrm>
          <a:prstGeom prst="rect">
            <a:avLst/>
          </a:prstGeom>
          <a:noFill/>
          <a:ln w="6350">
            <a:solidFill>
              <a:schemeClr val="tx1"/>
            </a:solidFill>
          </a:ln>
        </p:spPr>
      </p:pic>
      <p:sp>
        <p:nvSpPr>
          <p:cNvPr id="10" name="Rectangle 2">
            <a:extLst>
              <a:ext uri="{FF2B5EF4-FFF2-40B4-BE49-F238E27FC236}">
                <a16:creationId xmlns:a16="http://schemas.microsoft.com/office/drawing/2014/main" id="{F3A7C701-6969-4289-960A-997ACCC9239E}"/>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7999597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FD8F432-243E-43BC-9E45-D316C214DE9C}"/>
              </a:ext>
            </a:extLst>
          </p:cNvPr>
          <p:cNvSpPr/>
          <p:nvPr/>
        </p:nvSpPr>
        <p:spPr>
          <a:xfrm>
            <a:off x="837038" y="1218530"/>
            <a:ext cx="7722500" cy="4247317"/>
          </a:xfrm>
          <a:prstGeom prst="rect">
            <a:avLst/>
          </a:prstGeom>
        </p:spPr>
        <p:txBody>
          <a:bodyPr wrap="square">
            <a:spAutoFit/>
          </a:bodyPr>
          <a:lstStyle/>
          <a:p>
            <a:pPr>
              <a:defRPr/>
            </a:pPr>
            <a:r>
              <a:rPr lang="zh-CN" altLang="zh-CN" sz="2000" b="1" dirty="0">
                <a:solidFill>
                  <a:srgbClr val="FF0000"/>
                </a:solidFill>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实例</a:t>
            </a:r>
            <a:r>
              <a:rPr lang="en-US" altLang="zh-CN" sz="2000" b="1" dirty="0">
                <a:solidFill>
                  <a:srgbClr val="FF0000"/>
                </a:solidFill>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8 </a:t>
            </a:r>
            <a:r>
              <a:rPr lang="zh-CN" altLang="en-US"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一位密码锁</a:t>
            </a:r>
            <a:endParaRPr lang="en-US"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endParaRPr>
          </a:p>
          <a:p>
            <a:pPr>
              <a:spcBef>
                <a:spcPts val="600"/>
              </a:spcBef>
              <a:defRPr/>
            </a:pPr>
            <a:r>
              <a:rPr lang="zh-CN"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假定</a:t>
            </a:r>
            <a:r>
              <a:rPr lang="zh-CN" altLang="zh-CN" sz="2000" b="1" dirty="0">
                <a:solidFill>
                  <a:srgbClr val="0000FF"/>
                </a:solidFill>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一位密码锁</a:t>
            </a:r>
            <a:r>
              <a:rPr lang="zh-CN"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的</a:t>
            </a:r>
            <a:r>
              <a:rPr lang="zh-CN" altLang="en-US"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规则</a:t>
            </a:r>
            <a:r>
              <a:rPr lang="zh-CN"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是：</a:t>
            </a:r>
            <a:endParaRPr lang="en-US"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endParaRPr>
          </a:p>
          <a:p>
            <a:pPr marL="342900" indent="-342900">
              <a:spcBef>
                <a:spcPts val="600"/>
              </a:spcBef>
              <a:buFont typeface="Arial" panose="020B0604020202020204" pitchFamily="34" charset="0"/>
              <a:buChar char="•"/>
              <a:defRPr/>
            </a:pPr>
            <a:r>
              <a:rPr lang="zh-CN"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用</a:t>
            </a:r>
            <a:r>
              <a:rPr lang="en-US"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16</a:t>
            </a:r>
            <a:r>
              <a:rPr lang="zh-CN"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个按键分别代表字符</a:t>
            </a:r>
            <a:r>
              <a:rPr lang="en-US"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0</a:t>
            </a:r>
            <a:r>
              <a:rPr lang="zh-CN" altLang="zh-CN" sz="2000" b="1" dirty="0">
                <a:effectLst>
                  <a:outerShdw blurRad="38100" dist="38100" dir="2700000" algn="tl">
                    <a:srgbClr val="000000">
                      <a:alpha val="43137"/>
                    </a:srgbClr>
                  </a:outerShdw>
                </a:effectLst>
                <a:cs typeface="Times New Roman" panose="02020603050405020304" pitchFamily="18" charset="0"/>
              </a:rPr>
              <a:t>～</a:t>
            </a:r>
            <a:r>
              <a:rPr lang="en-US"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9</a:t>
            </a:r>
            <a:r>
              <a:rPr lang="zh-CN"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和</a:t>
            </a:r>
            <a:r>
              <a:rPr lang="en-US"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A</a:t>
            </a:r>
            <a:r>
              <a:rPr lang="zh-CN" altLang="zh-CN" sz="2000" b="1" dirty="0">
                <a:effectLst>
                  <a:outerShdw blurRad="38100" dist="38100" dir="2700000" algn="tl">
                    <a:srgbClr val="000000">
                      <a:alpha val="43137"/>
                    </a:srgbClr>
                  </a:outerShdw>
                </a:effectLst>
                <a:cs typeface="Times New Roman" panose="02020603050405020304" pitchFamily="18" charset="0"/>
              </a:rPr>
              <a:t>～</a:t>
            </a:r>
            <a:r>
              <a:rPr lang="en-US"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F</a:t>
            </a:r>
            <a:r>
              <a:rPr lang="zh-CN"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，开锁密码为字符</a:t>
            </a:r>
            <a:r>
              <a:rPr lang="en-US"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7</a:t>
            </a:r>
            <a:r>
              <a:rPr lang="zh-CN"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a:t>
            </a:r>
            <a:endParaRPr lang="en-US"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endParaRPr>
          </a:p>
          <a:p>
            <a:pPr marL="342900" indent="-342900">
              <a:spcBef>
                <a:spcPts val="600"/>
              </a:spcBef>
              <a:buFont typeface="Arial" panose="020B0604020202020204" pitchFamily="34" charset="0"/>
              <a:buChar char="•"/>
              <a:defRPr/>
            </a:pPr>
            <a:r>
              <a:rPr lang="zh-CN"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系统上电后</a:t>
            </a:r>
            <a:r>
              <a:rPr lang="en-US"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LED</a:t>
            </a:r>
            <a:r>
              <a:rPr lang="zh-CN"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灭（代表上锁），数码管显示闪烁“</a:t>
            </a:r>
            <a:r>
              <a:rPr lang="en-US"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8</a:t>
            </a:r>
            <a:r>
              <a:rPr lang="zh-CN"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”，约</a:t>
            </a:r>
            <a:r>
              <a:rPr lang="en-US"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1</a:t>
            </a:r>
            <a:r>
              <a:rPr lang="zh-CN"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秒后改为“</a:t>
            </a:r>
            <a:r>
              <a:rPr lang="en-US"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a:t>
            </a:r>
            <a:r>
              <a:rPr lang="zh-CN"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”（即待机状态）；</a:t>
            </a:r>
            <a:endParaRPr lang="en-US"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endParaRPr>
          </a:p>
          <a:p>
            <a:pPr marL="342900" indent="-342900">
              <a:spcBef>
                <a:spcPts val="600"/>
              </a:spcBef>
              <a:buFont typeface="Arial" panose="020B0604020202020204" pitchFamily="34" charset="0"/>
              <a:buChar char="•"/>
              <a:defRPr/>
            </a:pPr>
            <a:r>
              <a:rPr lang="zh-CN"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单击按键表示输入一位密码，若密码输入正确，则显示“</a:t>
            </a:r>
            <a:r>
              <a:rPr lang="en-US"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P</a:t>
            </a:r>
            <a:r>
              <a:rPr lang="zh-CN"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a:t>
            </a:r>
            <a:r>
              <a:rPr lang="en-US"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LED</a:t>
            </a:r>
            <a:r>
              <a:rPr lang="zh-CN"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亮（代表开锁），持续约</a:t>
            </a:r>
            <a:r>
              <a:rPr lang="en-US"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3</a:t>
            </a:r>
            <a:r>
              <a:rPr lang="zh-CN"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秒钟后自动进入待机状态（表示过期自动上锁）；</a:t>
            </a:r>
            <a:endParaRPr lang="en-US"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endParaRPr>
          </a:p>
          <a:p>
            <a:pPr marL="342900" indent="-342900">
              <a:spcBef>
                <a:spcPts val="600"/>
              </a:spcBef>
              <a:buFont typeface="Arial" panose="020B0604020202020204" pitchFamily="34" charset="0"/>
              <a:buChar char="•"/>
              <a:defRPr/>
            </a:pPr>
            <a:r>
              <a:rPr lang="zh-CN"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否则显示“</a:t>
            </a:r>
            <a:r>
              <a:rPr lang="en-US"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E</a:t>
            </a:r>
            <a:r>
              <a:rPr lang="zh-CN"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a:t>
            </a:r>
            <a:r>
              <a:rPr lang="en-US"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LED</a:t>
            </a:r>
            <a:r>
              <a:rPr lang="zh-CN"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保持灭（表示开锁错误），持续约</a:t>
            </a:r>
            <a:r>
              <a:rPr lang="en-US"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3</a:t>
            </a:r>
            <a:r>
              <a:rPr lang="zh-CN"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秒钟后自动进入待机状态。</a:t>
            </a:r>
            <a:endParaRPr lang="en-US"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endParaRPr>
          </a:p>
          <a:p>
            <a:pPr marL="342900" indent="-342900">
              <a:spcBef>
                <a:spcPts val="600"/>
              </a:spcBef>
              <a:buFont typeface="Arial" panose="020B0604020202020204" pitchFamily="34" charset="0"/>
              <a:buChar char="•"/>
              <a:defRPr/>
            </a:pPr>
            <a:r>
              <a:rPr lang="zh-CN"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如此反复无限循环。试根据上述要求完成一个基于</a:t>
            </a:r>
            <a:r>
              <a:rPr lang="en-US"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51</a:t>
            </a:r>
            <a:r>
              <a:rPr lang="zh-CN"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单片机的软硬件系统设计。</a:t>
            </a:r>
            <a:endParaRPr lang="zh-CN" altLang="en-US" sz="2000" b="1" dirty="0">
              <a:effectLst>
                <a:outerShdw blurRad="38100" dist="38100" dir="2700000" algn="tl">
                  <a:srgbClr val="000000">
                    <a:alpha val="43137"/>
                  </a:srgbClr>
                </a:outerShdw>
              </a:effectLst>
            </a:endParaRPr>
          </a:p>
        </p:txBody>
      </p:sp>
      <p:sp>
        <p:nvSpPr>
          <p:cNvPr id="4" name="Rectangle 2">
            <a:extLst>
              <a:ext uri="{FF2B5EF4-FFF2-40B4-BE49-F238E27FC236}">
                <a16:creationId xmlns:a16="http://schemas.microsoft.com/office/drawing/2014/main" id="{381DAD88-5300-4C6D-BFAB-3C4F4EBE22FC}"/>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矩形 1">
            <a:extLst>
              <a:ext uri="{FF2B5EF4-FFF2-40B4-BE49-F238E27FC236}">
                <a16:creationId xmlns:a16="http://schemas.microsoft.com/office/drawing/2014/main" id="{4E14B492-3C81-430A-AC20-A58E09E491F4}"/>
              </a:ext>
            </a:extLst>
          </p:cNvPr>
          <p:cNvSpPr>
            <a:spLocks noChangeArrowheads="1"/>
          </p:cNvSpPr>
          <p:nvPr/>
        </p:nvSpPr>
        <p:spPr bwMode="auto">
          <a:xfrm>
            <a:off x="816007" y="1069449"/>
            <a:ext cx="7053197"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zh-CN" sz="2000" b="1" dirty="0">
                <a:effectLst>
                  <a:outerShdw blurRad="38100" dist="38100" dir="2700000" algn="tl">
                    <a:srgbClr val="000000">
                      <a:alpha val="43137"/>
                    </a:srgbClr>
                  </a:outerShdw>
                </a:effectLst>
              </a:rPr>
              <a:t>解题分析：</a:t>
            </a:r>
            <a:endParaRPr lang="en-US" altLang="zh-CN" sz="2000" b="1" dirty="0">
              <a:effectLst>
                <a:outerShdw blurRad="38100" dist="38100" dir="2700000" algn="tl">
                  <a:srgbClr val="000000">
                    <a:alpha val="43137"/>
                  </a:srgbClr>
                </a:outerShdw>
              </a:effectLst>
            </a:endParaRPr>
          </a:p>
          <a:p>
            <a:pPr>
              <a:spcBef>
                <a:spcPct val="0"/>
              </a:spcBef>
              <a:buFontTx/>
              <a:buNone/>
            </a:pPr>
            <a:r>
              <a:rPr lang="zh-CN" altLang="zh-CN" sz="2000" b="1" dirty="0">
                <a:effectLst>
                  <a:outerShdw blurRad="38100" dist="38100" dir="2700000" algn="tl">
                    <a:srgbClr val="000000">
                      <a:alpha val="43137"/>
                    </a:srgbClr>
                  </a:outerShdw>
                </a:effectLst>
              </a:rPr>
              <a:t>根据任务要求，硬件系统中可以用一位共阴极</a:t>
            </a:r>
            <a:r>
              <a:rPr lang="en-US" altLang="zh-CN" sz="2000" b="1" dirty="0">
                <a:effectLst>
                  <a:outerShdw blurRad="38100" dist="38100" dir="2700000" algn="tl">
                    <a:srgbClr val="000000">
                      <a:alpha val="43137"/>
                    </a:srgbClr>
                  </a:outerShdw>
                </a:effectLst>
              </a:rPr>
              <a:t>LED</a:t>
            </a:r>
            <a:r>
              <a:rPr lang="zh-CN" altLang="zh-CN" sz="2000" b="1" dirty="0">
                <a:effectLst>
                  <a:outerShdw blurRad="38100" dist="38100" dir="2700000" algn="tl">
                    <a:srgbClr val="000000">
                      <a:alpha val="43137"/>
                    </a:srgbClr>
                  </a:outerShdw>
                </a:effectLst>
              </a:rPr>
              <a:t>数码管作为显示器件，采用静态连接方式；</a:t>
            </a:r>
            <a:r>
              <a:rPr lang="en-US" altLang="zh-CN" sz="2000" b="1" dirty="0">
                <a:effectLst>
                  <a:outerShdw blurRad="38100" dist="38100" dir="2700000" algn="tl">
                    <a:srgbClr val="000000">
                      <a:alpha val="43137"/>
                    </a:srgbClr>
                  </a:outerShdw>
                </a:effectLst>
              </a:rPr>
              <a:t>16</a:t>
            </a:r>
            <a:r>
              <a:rPr lang="zh-CN" altLang="zh-CN" sz="2000" b="1" dirty="0">
                <a:effectLst>
                  <a:outerShdw blurRad="38100" dist="38100" dir="2700000" algn="tl">
                    <a:srgbClr val="000000">
                      <a:alpha val="43137"/>
                    </a:srgbClr>
                  </a:outerShdw>
                </a:effectLst>
              </a:rPr>
              <a:t>个按键采用</a:t>
            </a:r>
            <a:r>
              <a:rPr lang="en-US" altLang="zh-CN" sz="2000" b="1" dirty="0">
                <a:effectLst>
                  <a:outerShdw blurRad="38100" dist="38100" dir="2700000" algn="tl">
                    <a:srgbClr val="000000">
                      <a:alpha val="43137"/>
                    </a:srgbClr>
                  </a:outerShdw>
                </a:effectLst>
              </a:rPr>
              <a:t>4</a:t>
            </a:r>
            <a:r>
              <a:rPr lang="zh-CN" altLang="zh-CN" sz="2000" b="1" dirty="0">
                <a:effectLst>
                  <a:outerShdw blurRad="38100" dist="38100" dir="2700000" algn="tl">
                    <a:srgbClr val="000000">
                      <a:alpha val="43137"/>
                    </a:srgbClr>
                  </a:outerShdw>
                </a:effectLst>
              </a:rPr>
              <a:t>×</a:t>
            </a:r>
            <a:r>
              <a:rPr lang="en-US" altLang="zh-CN" sz="2000" b="1" dirty="0">
                <a:effectLst>
                  <a:outerShdw blurRad="38100" dist="38100" dir="2700000" algn="tl">
                    <a:srgbClr val="000000">
                      <a:alpha val="43137"/>
                    </a:srgbClr>
                  </a:outerShdw>
                </a:effectLst>
              </a:rPr>
              <a:t>4</a:t>
            </a:r>
            <a:r>
              <a:rPr lang="zh-CN" altLang="zh-CN" sz="2000" b="1" dirty="0">
                <a:effectLst>
                  <a:outerShdw blurRad="38100" dist="38100" dir="2700000" algn="tl">
                    <a:srgbClr val="000000">
                      <a:alpha val="43137"/>
                    </a:srgbClr>
                  </a:outerShdw>
                </a:effectLst>
              </a:rPr>
              <a:t>矩阵键盘连接方式；一位共阴极发光二极管作为密码锁开锁开关。</a:t>
            </a:r>
            <a:endParaRPr lang="zh-CN" altLang="en-US" sz="2000" b="1" dirty="0">
              <a:effectLst>
                <a:outerShdw blurRad="38100" dist="38100" dir="2700000" algn="tl">
                  <a:srgbClr val="000000">
                    <a:alpha val="43137"/>
                  </a:srgbClr>
                </a:outerShdw>
              </a:effectLst>
            </a:endParaRPr>
          </a:p>
        </p:txBody>
      </p:sp>
      <p:pic>
        <p:nvPicPr>
          <p:cNvPr id="38916" name="图片 3">
            <a:extLst>
              <a:ext uri="{FF2B5EF4-FFF2-40B4-BE49-F238E27FC236}">
                <a16:creationId xmlns:a16="http://schemas.microsoft.com/office/drawing/2014/main" id="{F8AE5D89-A9A7-40C2-A64B-616AA2CA61E1}"/>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898683" y="2522605"/>
            <a:ext cx="4928843" cy="3265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96D7352E-AD19-4338-8D15-E7F9F25B0B36}"/>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CA3D5DE-CBA4-4F3E-B612-485A2E7F45AD}"/>
              </a:ext>
            </a:extLst>
          </p:cNvPr>
          <p:cNvSpPr/>
          <p:nvPr/>
        </p:nvSpPr>
        <p:spPr>
          <a:xfrm>
            <a:off x="573088" y="1001713"/>
            <a:ext cx="8156133" cy="1938992"/>
          </a:xfrm>
          <a:prstGeom prst="rect">
            <a:avLst/>
          </a:prstGeom>
        </p:spPr>
        <p:txBody>
          <a:bodyPr wrap="square">
            <a:spAutoFit/>
          </a:bodyPr>
          <a:lstStyle/>
          <a:p>
            <a:pPr>
              <a:defRPr/>
            </a:pPr>
            <a:r>
              <a:rPr lang="zh-CN" altLang="zh-CN" sz="2000" b="1" dirty="0">
                <a:effectLst>
                  <a:outerShdw blurRad="38100" dist="38100" dir="2700000" algn="tl">
                    <a:srgbClr val="000000">
                      <a:alpha val="43137"/>
                    </a:srgbClr>
                  </a:outerShdw>
                </a:effectLst>
              </a:rPr>
              <a:t>源程序设计思路：</a:t>
            </a:r>
            <a:endParaRPr lang="en-US" altLang="zh-CN" sz="2000" b="1" dirty="0">
              <a:effectLst>
                <a:outerShdw blurRad="38100" dist="38100" dir="2700000" algn="tl">
                  <a:srgbClr val="000000">
                    <a:alpha val="43137"/>
                  </a:srgbClr>
                </a:outerShdw>
              </a:effectLst>
            </a:endParaRPr>
          </a:p>
          <a:p>
            <a:pPr marL="342900" indent="-342900">
              <a:buFont typeface="Arial" panose="020B0604020202020204" pitchFamily="34" charset="0"/>
              <a:buChar char="•"/>
              <a:defRPr/>
            </a:pPr>
            <a:r>
              <a:rPr lang="zh-CN" altLang="zh-CN" sz="2000" b="1" dirty="0">
                <a:effectLst>
                  <a:outerShdw blurRad="38100" dist="38100" dir="2700000" algn="tl">
                    <a:srgbClr val="000000">
                      <a:alpha val="43137"/>
                    </a:srgbClr>
                  </a:outerShdw>
                </a:effectLst>
              </a:rPr>
              <a:t>按键闭合检测可以采用实例</a:t>
            </a:r>
            <a:r>
              <a:rPr lang="en-US" altLang="zh-CN" sz="2000" b="1" dirty="0">
                <a:effectLst>
                  <a:outerShdw blurRad="38100" dist="38100" dir="2700000" algn="tl">
                    <a:srgbClr val="000000">
                      <a:alpha val="43137"/>
                    </a:srgbClr>
                  </a:outerShdw>
                </a:effectLst>
              </a:rPr>
              <a:t>7</a:t>
            </a:r>
            <a:r>
              <a:rPr lang="zh-CN" altLang="zh-CN" sz="2000" b="1" dirty="0">
                <a:effectLst>
                  <a:outerShdw blurRad="38100" dist="38100" dir="2700000" algn="tl">
                    <a:srgbClr val="000000">
                      <a:alpha val="43137"/>
                    </a:srgbClr>
                  </a:outerShdw>
                </a:effectLst>
              </a:rPr>
              <a:t>的</a:t>
            </a:r>
            <a:r>
              <a:rPr lang="en-US" altLang="zh-CN" sz="2000" b="1" dirty="0" err="1">
                <a:effectLst>
                  <a:outerShdw blurRad="38100" dist="38100" dir="2700000" algn="tl">
                    <a:srgbClr val="000000">
                      <a:alpha val="43137"/>
                    </a:srgbClr>
                  </a:outerShdw>
                </a:effectLst>
              </a:rPr>
              <a:t>getkey</a:t>
            </a:r>
            <a:r>
              <a:rPr lang="en-US" altLang="zh-CN" sz="2000" b="1" dirty="0">
                <a:effectLst>
                  <a:outerShdw blurRad="38100" dist="38100" dir="2700000" algn="tl">
                    <a:srgbClr val="000000">
                      <a:alpha val="43137"/>
                    </a:srgbClr>
                  </a:outerShdw>
                </a:effectLst>
              </a:rPr>
              <a:t>()</a:t>
            </a:r>
            <a:r>
              <a:rPr lang="zh-CN" altLang="zh-CN" sz="2000" b="1" dirty="0">
                <a:effectLst>
                  <a:outerShdw blurRad="38100" dist="38100" dir="2700000" algn="tl">
                    <a:srgbClr val="000000">
                      <a:alpha val="43137"/>
                    </a:srgbClr>
                  </a:outerShdw>
                </a:effectLst>
              </a:rPr>
              <a:t>函数；</a:t>
            </a:r>
            <a:endParaRPr lang="en-US" altLang="zh-CN" sz="2000" b="1" dirty="0">
              <a:effectLst>
                <a:outerShdw blurRad="38100" dist="38100" dir="2700000" algn="tl">
                  <a:srgbClr val="000000">
                    <a:alpha val="43137"/>
                  </a:srgbClr>
                </a:outerShdw>
              </a:effectLst>
            </a:endParaRPr>
          </a:p>
          <a:p>
            <a:pPr marL="342900" indent="-342900">
              <a:buFont typeface="Arial" panose="020B0604020202020204" pitchFamily="34" charset="0"/>
              <a:buChar char="•"/>
              <a:defRPr/>
            </a:pPr>
            <a:r>
              <a:rPr lang="en-US" altLang="zh-CN" sz="2000" b="1" dirty="0">
                <a:effectLst>
                  <a:outerShdw blurRad="38100" dist="38100" dir="2700000" algn="tl">
                    <a:srgbClr val="000000">
                      <a:alpha val="43137"/>
                    </a:srgbClr>
                  </a:outerShdw>
                </a:effectLst>
              </a:rPr>
              <a:t>LED</a:t>
            </a:r>
            <a:r>
              <a:rPr lang="zh-CN" altLang="zh-CN" sz="2000" b="1" dirty="0">
                <a:effectLst>
                  <a:outerShdw blurRad="38100" dist="38100" dir="2700000" algn="tl">
                    <a:srgbClr val="000000">
                      <a:alpha val="43137"/>
                    </a:srgbClr>
                  </a:outerShdw>
                </a:effectLst>
              </a:rPr>
              <a:t>操作和数码管显示</a:t>
            </a:r>
            <a:r>
              <a:rPr lang="zh-CN" altLang="en-US" sz="2000" b="1" dirty="0">
                <a:effectLst>
                  <a:outerShdw blurRad="38100" dist="38100" dir="2700000" algn="tl">
                    <a:srgbClr val="000000">
                      <a:alpha val="43137"/>
                    </a:srgbClr>
                  </a:outerShdw>
                </a:effectLst>
              </a:rPr>
              <a:t>可由</a:t>
            </a:r>
            <a:r>
              <a:rPr lang="zh-CN" altLang="zh-CN" sz="2000" b="1" dirty="0">
                <a:effectLst>
                  <a:outerShdw blurRad="38100" dist="38100" dir="2700000" algn="tl">
                    <a:srgbClr val="000000">
                      <a:alpha val="43137"/>
                    </a:srgbClr>
                  </a:outerShdw>
                </a:effectLst>
              </a:rPr>
              <a:t>自定义有参函数</a:t>
            </a:r>
            <a:r>
              <a:rPr lang="en-US" altLang="zh-CN" sz="2000" b="1" dirty="0">
                <a:effectLst>
                  <a:outerShdw blurRad="38100" dist="38100" dir="2700000" algn="tl">
                    <a:srgbClr val="000000">
                      <a:alpha val="43137"/>
                    </a:srgbClr>
                  </a:outerShdw>
                </a:effectLst>
              </a:rPr>
              <a:t>action(char </a:t>
            </a:r>
            <a:r>
              <a:rPr lang="en-US" altLang="zh-CN" sz="2000" b="1" dirty="0" err="1">
                <a:effectLst>
                  <a:outerShdw blurRad="38100" dist="38100" dir="2700000" algn="tl">
                    <a:srgbClr val="000000">
                      <a:alpha val="43137"/>
                    </a:srgbClr>
                  </a:outerShdw>
                </a:effectLst>
              </a:rPr>
              <a:t>stat,char</a:t>
            </a:r>
            <a:r>
              <a:rPr lang="en-US" altLang="zh-CN" sz="2000" b="1" dirty="0">
                <a:effectLst>
                  <a:outerShdw blurRad="38100" dist="38100" dir="2700000" algn="tl">
                    <a:srgbClr val="000000">
                      <a:alpha val="43137"/>
                    </a:srgbClr>
                  </a:outerShdw>
                </a:effectLst>
              </a:rPr>
              <a:t> </a:t>
            </a:r>
            <a:r>
              <a:rPr lang="en-US" altLang="zh-CN" sz="2000" b="1" dirty="0" err="1">
                <a:effectLst>
                  <a:outerShdw blurRad="38100" dist="38100" dir="2700000" algn="tl">
                    <a:srgbClr val="000000">
                      <a:alpha val="43137"/>
                    </a:srgbClr>
                  </a:outerShdw>
                </a:effectLst>
              </a:rPr>
              <a:t>num</a:t>
            </a:r>
            <a:r>
              <a:rPr lang="en-US" altLang="zh-CN" sz="2000" b="1" dirty="0">
                <a:effectLst>
                  <a:outerShdw blurRad="38100" dist="38100" dir="2700000" algn="tl">
                    <a:srgbClr val="000000">
                      <a:alpha val="43137"/>
                    </a:srgbClr>
                  </a:outerShdw>
                </a:effectLst>
              </a:rPr>
              <a:t>)</a:t>
            </a:r>
            <a:r>
              <a:rPr lang="zh-CN" altLang="zh-CN" sz="2000" b="1" dirty="0">
                <a:effectLst>
                  <a:outerShdw blurRad="38100" dist="38100" dir="2700000" algn="tl">
                    <a:srgbClr val="000000">
                      <a:alpha val="43137"/>
                    </a:srgbClr>
                  </a:outerShdw>
                </a:effectLst>
              </a:rPr>
              <a:t>完成，其中形参</a:t>
            </a:r>
            <a:r>
              <a:rPr lang="en-US" altLang="zh-CN" sz="2000" b="1" dirty="0">
                <a:effectLst>
                  <a:outerShdw blurRad="38100" dist="38100" dir="2700000" algn="tl">
                    <a:srgbClr val="000000">
                      <a:alpha val="43137"/>
                    </a:srgbClr>
                  </a:outerShdw>
                </a:effectLst>
              </a:rPr>
              <a:t>stat</a:t>
            </a:r>
            <a:r>
              <a:rPr lang="zh-CN" altLang="zh-CN" sz="2000" b="1" dirty="0">
                <a:effectLst>
                  <a:outerShdw blurRad="38100" dist="38100" dir="2700000" algn="tl">
                    <a:srgbClr val="000000">
                      <a:alpha val="43137"/>
                    </a:srgbClr>
                  </a:outerShdw>
                </a:effectLst>
              </a:rPr>
              <a:t>代表</a:t>
            </a:r>
            <a:r>
              <a:rPr lang="en-US" altLang="zh-CN" sz="2000" b="1" dirty="0">
                <a:effectLst>
                  <a:outerShdw blurRad="38100" dist="38100" dir="2700000" algn="tl">
                    <a:srgbClr val="000000">
                      <a:alpha val="43137"/>
                    </a:srgbClr>
                  </a:outerShdw>
                </a:effectLst>
              </a:rPr>
              <a:t>8</a:t>
            </a:r>
            <a:r>
              <a:rPr lang="zh-CN" altLang="zh-CN" sz="2000" b="1" dirty="0">
                <a:effectLst>
                  <a:outerShdw blurRad="38100" dist="38100" dir="2700000" algn="tl">
                    <a:srgbClr val="000000">
                      <a:alpha val="43137"/>
                    </a:srgbClr>
                  </a:outerShdw>
                </a:effectLst>
              </a:rPr>
              <a:t>、</a:t>
            </a:r>
            <a:r>
              <a:rPr lang="en-US" altLang="zh-CN" sz="2000" b="1" dirty="0">
                <a:effectLst>
                  <a:outerShdw blurRad="38100" dist="38100" dir="2700000" algn="tl">
                    <a:srgbClr val="000000">
                      <a:alpha val="43137"/>
                    </a:srgbClr>
                  </a:outerShdw>
                </a:effectLst>
              </a:rPr>
              <a:t>P</a:t>
            </a:r>
            <a:r>
              <a:rPr lang="zh-CN" altLang="zh-CN" sz="2000" b="1" dirty="0">
                <a:effectLst>
                  <a:outerShdw blurRad="38100" dist="38100" dir="2700000" algn="tl">
                    <a:srgbClr val="000000">
                      <a:alpha val="43137"/>
                    </a:srgbClr>
                  </a:outerShdw>
                </a:effectLst>
              </a:rPr>
              <a:t>和</a:t>
            </a:r>
            <a:r>
              <a:rPr lang="en-US" altLang="zh-CN" sz="2000" b="1" dirty="0">
                <a:effectLst>
                  <a:outerShdw blurRad="38100" dist="38100" dir="2700000" algn="tl">
                    <a:srgbClr val="000000">
                      <a:alpha val="43137"/>
                    </a:srgbClr>
                  </a:outerShdw>
                </a:effectLst>
              </a:rPr>
              <a:t>E</a:t>
            </a:r>
            <a:r>
              <a:rPr lang="zh-CN" altLang="zh-CN" sz="2000" b="1" dirty="0">
                <a:effectLst>
                  <a:outerShdw blurRad="38100" dist="38100" dir="2700000" algn="tl">
                    <a:srgbClr val="000000">
                      <a:alpha val="43137"/>
                    </a:srgbClr>
                  </a:outerShdw>
                </a:effectLst>
              </a:rPr>
              <a:t>的显示码，</a:t>
            </a:r>
            <a:r>
              <a:rPr lang="en-US" altLang="zh-CN" sz="2000" b="1" dirty="0" err="1">
                <a:effectLst>
                  <a:outerShdw blurRad="38100" dist="38100" dir="2700000" algn="tl">
                    <a:srgbClr val="000000">
                      <a:alpha val="43137"/>
                    </a:srgbClr>
                  </a:outerShdw>
                </a:effectLst>
              </a:rPr>
              <a:t>num</a:t>
            </a:r>
            <a:r>
              <a:rPr lang="zh-CN" altLang="zh-CN" sz="2000" b="1" dirty="0">
                <a:effectLst>
                  <a:outerShdw blurRad="38100" dist="38100" dir="2700000" algn="tl">
                    <a:srgbClr val="000000">
                      <a:alpha val="43137"/>
                    </a:srgbClr>
                  </a:outerShdw>
                </a:effectLst>
              </a:rPr>
              <a:t>代表开锁和上锁的操作码。</a:t>
            </a:r>
            <a:endParaRPr lang="en-US" altLang="zh-CN" sz="2000" b="1" dirty="0">
              <a:effectLst>
                <a:outerShdw blurRad="38100" dist="38100" dir="2700000" algn="tl">
                  <a:srgbClr val="000000">
                    <a:alpha val="43137"/>
                  </a:srgbClr>
                </a:outerShdw>
              </a:effectLst>
            </a:endParaRPr>
          </a:p>
          <a:p>
            <a:pPr marL="342900" indent="-342900">
              <a:buFont typeface="Arial" panose="020B0604020202020204" pitchFamily="34" charset="0"/>
              <a:buChar char="•"/>
              <a:defRPr/>
            </a:pPr>
            <a:r>
              <a:rPr lang="zh-CN" altLang="zh-CN" sz="2000" b="1" dirty="0">
                <a:effectLst>
                  <a:outerShdw blurRad="38100" dist="38100" dir="2700000" algn="tl">
                    <a:srgbClr val="000000">
                      <a:alpha val="43137"/>
                    </a:srgbClr>
                  </a:outerShdw>
                </a:effectLst>
              </a:rPr>
              <a:t>函数</a:t>
            </a:r>
            <a:r>
              <a:rPr lang="en-US" altLang="zh-CN" sz="2000" b="1" dirty="0">
                <a:effectLst>
                  <a:outerShdw blurRad="38100" dist="38100" dir="2700000" algn="tl">
                    <a:srgbClr val="000000">
                      <a:alpha val="43137"/>
                    </a:srgbClr>
                  </a:outerShdw>
                </a:effectLst>
              </a:rPr>
              <a:t>action()</a:t>
            </a:r>
            <a:r>
              <a:rPr lang="zh-CN" altLang="zh-CN" sz="2000" b="1" dirty="0">
                <a:effectLst>
                  <a:outerShdw blurRad="38100" dist="38100" dir="2700000" algn="tl">
                    <a:srgbClr val="000000">
                      <a:alpha val="43137"/>
                    </a:srgbClr>
                  </a:outerShdw>
                </a:effectLst>
              </a:rPr>
              <a:t>还要承担字符闪烁控制和待机字符显示的任务。</a:t>
            </a:r>
            <a:endParaRPr lang="zh-CN" altLang="en-US" sz="2000" b="1" dirty="0">
              <a:effectLst>
                <a:outerShdw blurRad="38100" dist="38100" dir="2700000" algn="tl">
                  <a:srgbClr val="000000">
                    <a:alpha val="43137"/>
                  </a:srgbClr>
                </a:outerShdw>
              </a:effectLst>
            </a:endParaRPr>
          </a:p>
        </p:txBody>
      </p:sp>
      <p:pic>
        <p:nvPicPr>
          <p:cNvPr id="39940" name="图片 3">
            <a:extLst>
              <a:ext uri="{FF2B5EF4-FFF2-40B4-BE49-F238E27FC236}">
                <a16:creationId xmlns:a16="http://schemas.microsoft.com/office/drawing/2014/main" id="{67B00381-685D-484E-8D57-5E112E3AB7ED}"/>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0618" y="2994024"/>
            <a:ext cx="4322763"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99F75184-D34D-4621-B108-78F23074314D}"/>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矩形 1">
            <a:extLst>
              <a:ext uri="{FF2B5EF4-FFF2-40B4-BE49-F238E27FC236}">
                <a16:creationId xmlns:a16="http://schemas.microsoft.com/office/drawing/2014/main" id="{F0E558FD-6AEE-4474-B87D-D3913262DA4B}"/>
              </a:ext>
            </a:extLst>
          </p:cNvPr>
          <p:cNvSpPr>
            <a:spLocks noChangeArrowheads="1"/>
          </p:cNvSpPr>
          <p:nvPr/>
        </p:nvSpPr>
        <p:spPr bwMode="auto">
          <a:xfrm>
            <a:off x="573088" y="1001713"/>
            <a:ext cx="85709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000" b="1" dirty="0"/>
              <a:t>实例</a:t>
            </a:r>
            <a:r>
              <a:rPr lang="en-US" altLang="zh-CN" sz="2000" b="1" dirty="0"/>
              <a:t>8</a:t>
            </a:r>
            <a:r>
              <a:rPr lang="zh-CN" altLang="zh-CN" sz="2000" b="1" dirty="0"/>
              <a:t>源程序</a:t>
            </a:r>
            <a:endParaRPr lang="zh-CN" altLang="en-US" sz="2000" b="1" dirty="0"/>
          </a:p>
        </p:txBody>
      </p:sp>
      <p:pic>
        <p:nvPicPr>
          <p:cNvPr id="3" name="图片 2">
            <a:extLst>
              <a:ext uri="{FF2B5EF4-FFF2-40B4-BE49-F238E27FC236}">
                <a16:creationId xmlns:a16="http://schemas.microsoft.com/office/drawing/2014/main" id="{2DADEB8B-E3BC-4D66-B6E2-8A9DF4857300}"/>
              </a:ext>
            </a:extLst>
          </p:cNvPr>
          <p:cNvPicPr>
            <a:picLocks noChangeAspect="1"/>
          </p:cNvPicPr>
          <p:nvPr/>
        </p:nvPicPr>
        <p:blipFill rotWithShape="1">
          <a:blip r:embed="rId2"/>
          <a:srcRect b="52057"/>
          <a:stretch/>
        </p:blipFill>
        <p:spPr>
          <a:xfrm>
            <a:off x="573088" y="1462088"/>
            <a:ext cx="5000625" cy="3219450"/>
          </a:xfrm>
          <a:prstGeom prst="rect">
            <a:avLst/>
          </a:prstGeom>
          <a:ln w="12700">
            <a:solidFill>
              <a:schemeClr val="accent6"/>
            </a:solidFill>
          </a:ln>
        </p:spPr>
      </p:pic>
      <p:pic>
        <p:nvPicPr>
          <p:cNvPr id="6" name="图片 5">
            <a:extLst>
              <a:ext uri="{FF2B5EF4-FFF2-40B4-BE49-F238E27FC236}">
                <a16:creationId xmlns:a16="http://schemas.microsoft.com/office/drawing/2014/main" id="{32A0F282-4606-4676-810C-849EAD7621CD}"/>
              </a:ext>
            </a:extLst>
          </p:cNvPr>
          <p:cNvPicPr>
            <a:picLocks noChangeAspect="1"/>
          </p:cNvPicPr>
          <p:nvPr/>
        </p:nvPicPr>
        <p:blipFill rotWithShape="1">
          <a:blip r:embed="rId2"/>
          <a:srcRect t="47390"/>
          <a:stretch/>
        </p:blipFill>
        <p:spPr>
          <a:xfrm>
            <a:off x="3578225" y="2487613"/>
            <a:ext cx="5000625" cy="3533775"/>
          </a:xfrm>
          <a:prstGeom prst="rect">
            <a:avLst/>
          </a:prstGeom>
          <a:ln w="12700">
            <a:solidFill>
              <a:schemeClr val="accent6"/>
            </a:solidFill>
          </a:ln>
        </p:spPr>
      </p:pic>
      <p:sp>
        <p:nvSpPr>
          <p:cNvPr id="7" name="Rectangle 2">
            <a:extLst>
              <a:ext uri="{FF2B5EF4-FFF2-40B4-BE49-F238E27FC236}">
                <a16:creationId xmlns:a16="http://schemas.microsoft.com/office/drawing/2014/main" id="{5220EC4C-8108-4B93-8D30-00052D1F2661}"/>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82DF8B2-A66D-4C71-A1CB-B6EC7FD5F664}"/>
              </a:ext>
            </a:extLst>
          </p:cNvPr>
          <p:cNvSpPr txBox="1"/>
          <p:nvPr/>
        </p:nvSpPr>
        <p:spPr>
          <a:xfrm>
            <a:off x="855482" y="1083309"/>
            <a:ext cx="7433035" cy="707886"/>
          </a:xfrm>
          <a:prstGeom prst="rect">
            <a:avLst/>
          </a:prstGeom>
          <a:noFill/>
        </p:spPr>
        <p:txBody>
          <a:bodyPr wrap="square">
            <a:spAutoFit/>
          </a:bodyPr>
          <a:lstStyle/>
          <a:p>
            <a:r>
              <a:rPr lang="zh-CN"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操作：</a:t>
            </a:r>
            <a:r>
              <a:rPr lang="zh-CN" altLang="zh-CN" sz="20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改写程序模板完成源程序输入→单击【调试】→【构建工程】→单击仿真运行按钮</a:t>
            </a:r>
            <a:r>
              <a:rPr lang="en-US" altLang="zh-CN" sz="20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000" b="1" dirty="0">
                <a:effectLst>
                  <a:outerShdw blurRad="38100" dist="38100" dir="2700000" algn="tl">
                    <a:srgbClr val="000000">
                      <a:alpha val="43137"/>
                    </a:srgbClr>
                  </a:outerShdw>
                </a:effectLst>
                <a:cs typeface="Times New Roman" panose="02020603050405020304" pitchFamily="18" charset="0"/>
              </a:rPr>
              <a:t>→编程界面和运行界面如图</a:t>
            </a:r>
            <a:r>
              <a:rPr lang="zh-CN" altLang="en-US" sz="2000" b="1" dirty="0">
                <a:effectLst>
                  <a:outerShdw blurRad="38100" dist="38100" dir="2700000" algn="tl">
                    <a:srgbClr val="000000">
                      <a:alpha val="43137"/>
                    </a:srgbClr>
                  </a:outerShdw>
                </a:effectLst>
                <a:cs typeface="Times New Roman" panose="02020603050405020304" pitchFamily="18" charset="0"/>
              </a:rPr>
              <a:t>所示。</a:t>
            </a:r>
            <a:endParaRPr lang="zh-CN" altLang="en-US" sz="2000" b="1" dirty="0">
              <a:effectLst>
                <a:outerShdw blurRad="38100" dist="38100" dir="2700000" algn="tl">
                  <a:srgbClr val="000000">
                    <a:alpha val="43137"/>
                  </a:srgbClr>
                </a:outerShdw>
              </a:effectLst>
            </a:endParaRPr>
          </a:p>
        </p:txBody>
      </p:sp>
      <p:pic>
        <p:nvPicPr>
          <p:cNvPr id="4" name="图片 3">
            <a:extLst>
              <a:ext uri="{FF2B5EF4-FFF2-40B4-BE49-F238E27FC236}">
                <a16:creationId xmlns:a16="http://schemas.microsoft.com/office/drawing/2014/main" id="{22BA8C15-9C5A-4D8B-A35C-FD57932BD01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769419" y="1519457"/>
            <a:ext cx="241395" cy="199944"/>
          </a:xfrm>
          <a:prstGeom prst="rect">
            <a:avLst/>
          </a:prstGeom>
          <a:noFill/>
          <a:ln w="6350">
            <a:solidFill>
              <a:schemeClr val="tx1"/>
            </a:solidFill>
          </a:ln>
        </p:spPr>
      </p:pic>
      <p:sp>
        <p:nvSpPr>
          <p:cNvPr id="11" name="文本框 10">
            <a:extLst>
              <a:ext uri="{FF2B5EF4-FFF2-40B4-BE49-F238E27FC236}">
                <a16:creationId xmlns:a16="http://schemas.microsoft.com/office/drawing/2014/main" id="{EA7D1E3D-3706-4A18-95F2-5305EFDDA795}"/>
              </a:ext>
            </a:extLst>
          </p:cNvPr>
          <p:cNvSpPr txBox="1"/>
          <p:nvPr/>
        </p:nvSpPr>
        <p:spPr>
          <a:xfrm>
            <a:off x="855482" y="5224435"/>
            <a:ext cx="7253925" cy="707886"/>
          </a:xfrm>
          <a:prstGeom prst="rect">
            <a:avLst/>
          </a:prstGeom>
          <a:noFill/>
        </p:spPr>
        <p:txBody>
          <a:bodyPr wrap="square">
            <a:spAutoFit/>
          </a:bodyPr>
          <a:lstStyle/>
          <a:p>
            <a:r>
              <a:rPr lang="zh-CN"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结果：</a:t>
            </a:r>
            <a:r>
              <a:rPr lang="zh-CN" altLang="zh-CN" sz="20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实现了基于给定规则的密码锁功能，符合题意要求，实例</a:t>
            </a:r>
            <a:r>
              <a:rPr lang="en-US" altLang="zh-CN" sz="20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8</a:t>
            </a:r>
            <a:r>
              <a:rPr lang="zh-CN" altLang="zh-CN" sz="2000" b="1" dirty="0">
                <a:effectLst>
                  <a:outerShdw blurRad="38100" dist="38100" dir="2700000" algn="tl">
                    <a:srgbClr val="000000">
                      <a:alpha val="43137"/>
                    </a:srgbClr>
                  </a:outerShdw>
                </a:effectLst>
                <a:cs typeface="Times New Roman" panose="02020603050405020304" pitchFamily="18" charset="0"/>
              </a:rPr>
              <a:t>完成。</a:t>
            </a:r>
            <a:endParaRPr lang="zh-CN" altLang="en-US" sz="2000" b="1" dirty="0">
              <a:effectLst>
                <a:outerShdw blurRad="38100" dist="38100" dir="2700000" algn="tl">
                  <a:srgbClr val="000000">
                    <a:alpha val="43137"/>
                  </a:srgbClr>
                </a:outerShdw>
              </a:effectLst>
            </a:endParaRPr>
          </a:p>
        </p:txBody>
      </p:sp>
      <p:pic>
        <p:nvPicPr>
          <p:cNvPr id="10" name="图片 9">
            <a:extLst>
              <a:ext uri="{FF2B5EF4-FFF2-40B4-BE49-F238E27FC236}">
                <a16:creationId xmlns:a16="http://schemas.microsoft.com/office/drawing/2014/main" id="{EE7EAB44-4E3D-47BB-A1C9-ED47AB23EE61}"/>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6841" y="1877030"/>
            <a:ext cx="3959860" cy="2545080"/>
          </a:xfrm>
          <a:prstGeom prst="rect">
            <a:avLst/>
          </a:prstGeom>
          <a:noFill/>
          <a:ln w="6350">
            <a:solidFill>
              <a:schemeClr val="tx1"/>
            </a:solidFill>
          </a:ln>
        </p:spPr>
      </p:pic>
      <p:pic>
        <p:nvPicPr>
          <p:cNvPr id="12" name="图片 11">
            <a:extLst>
              <a:ext uri="{FF2B5EF4-FFF2-40B4-BE49-F238E27FC236}">
                <a16:creationId xmlns:a16="http://schemas.microsoft.com/office/drawing/2014/main" id="{8083C02B-A2E9-49FF-A186-8E0D9CFBBCF6}"/>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90117" y="2521726"/>
            <a:ext cx="3959860" cy="2545080"/>
          </a:xfrm>
          <a:prstGeom prst="rect">
            <a:avLst/>
          </a:prstGeom>
          <a:noFill/>
          <a:ln w="6350">
            <a:solidFill>
              <a:schemeClr val="tx1"/>
            </a:solidFill>
          </a:ln>
        </p:spPr>
      </p:pic>
      <p:sp>
        <p:nvSpPr>
          <p:cNvPr id="8" name="Rectangle 2">
            <a:extLst>
              <a:ext uri="{FF2B5EF4-FFF2-40B4-BE49-F238E27FC236}">
                <a16:creationId xmlns:a16="http://schemas.microsoft.com/office/drawing/2014/main" id="{A6F84976-F684-4205-9F8B-E04AA0FD8C8F}"/>
              </a:ext>
            </a:extLst>
          </p:cNvPr>
          <p:cNvSpPr>
            <a:spLocks noChangeArrowheads="1"/>
          </p:cNvSpPr>
          <p:nvPr/>
        </p:nvSpPr>
        <p:spPr bwMode="auto">
          <a:xfrm>
            <a:off x="5364163" y="382235"/>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r>
              <a:rPr lang="zh-CN" altLang="en-US" sz="1600" b="1" dirty="0">
                <a:solidFill>
                  <a:srgbClr val="C00000"/>
                </a:solidFill>
                <a:effectLst>
                  <a:outerShdw blurRad="38100" dist="38100" dir="2700000" algn="tl">
                    <a:srgbClr val="000000">
                      <a:alpha val="43137"/>
                    </a:srgbClr>
                  </a:outerShdw>
                </a:effectLst>
              </a:rPr>
              <a:t>第</a:t>
            </a:r>
            <a:r>
              <a:rPr lang="en-US" altLang="zh-CN" sz="1600" b="1" dirty="0">
                <a:solidFill>
                  <a:srgbClr val="C00000"/>
                </a:solidFill>
                <a:effectLst>
                  <a:outerShdw blurRad="38100" dist="38100" dir="2700000" algn="tl">
                    <a:srgbClr val="000000">
                      <a:alpha val="43137"/>
                    </a:srgbClr>
                  </a:outerShdw>
                </a:effectLst>
              </a:rPr>
              <a:t>4</a:t>
            </a:r>
            <a:r>
              <a:rPr lang="zh-CN" altLang="en-US" sz="1600" b="1" dirty="0">
                <a:solidFill>
                  <a:srgbClr val="C00000"/>
                </a:solidFill>
                <a:effectLst>
                  <a:outerShdw blurRad="38100" dist="38100" dir="2700000" algn="tl">
                    <a:srgbClr val="000000">
                      <a:alpha val="43137"/>
                    </a:srgbClr>
                  </a:outerShdw>
                </a:effectLst>
              </a:rPr>
              <a:t>章 </a:t>
            </a:r>
            <a:r>
              <a:rPr lang="zh-CN" altLang="zh-CN" sz="1600" b="1" dirty="0">
                <a:solidFill>
                  <a:srgbClr val="C00000"/>
                </a:solidFill>
                <a:effectLst>
                  <a:outerShdw blurRad="38100" dist="38100" dir="2700000" algn="tl">
                    <a:srgbClr val="000000">
                      <a:alpha val="43137"/>
                    </a:srgbClr>
                  </a:outerShdw>
                </a:effectLst>
              </a:rPr>
              <a:t>单片机</a:t>
            </a:r>
            <a:r>
              <a:rPr lang="zh-CN" altLang="en-US" sz="1600" b="1" dirty="0">
                <a:solidFill>
                  <a:srgbClr val="C00000"/>
                </a:solidFill>
                <a:effectLst>
                  <a:outerShdw blurRad="38100" dist="38100" dir="2700000" algn="tl">
                    <a:srgbClr val="000000">
                      <a:alpha val="43137"/>
                    </a:srgbClr>
                  </a:outerShdw>
                </a:effectLst>
              </a:rPr>
              <a:t>的通用</a:t>
            </a:r>
            <a:r>
              <a:rPr lang="en-US" altLang="zh-CN" sz="1600" b="1" dirty="0">
                <a:solidFill>
                  <a:srgbClr val="C00000"/>
                </a:solidFill>
                <a:effectLst>
                  <a:outerShdw blurRad="38100" dist="38100" dir="2700000" algn="tl">
                    <a:srgbClr val="000000">
                      <a:alpha val="43137"/>
                    </a:srgbClr>
                  </a:outerShdw>
                </a:effectLst>
              </a:rPr>
              <a:t>I/O</a:t>
            </a:r>
            <a:r>
              <a:rPr lang="zh-CN" altLang="zh-CN" sz="1600" b="1" dirty="0">
                <a:solidFill>
                  <a:srgbClr val="C00000"/>
                </a:solidFill>
                <a:effectLst>
                  <a:outerShdw blurRad="38100" dist="38100" dir="2700000" algn="tl">
                    <a:srgbClr val="000000">
                      <a:alpha val="43137"/>
                    </a:srgbClr>
                  </a:outerShdw>
                </a:effectLst>
              </a:rPr>
              <a:t>口方式应用</a:t>
            </a:r>
            <a:endParaRPr lang="zh-CN" altLang="en-US" sz="1600" b="1" dirty="0">
              <a:solidFill>
                <a:srgbClr val="C0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08102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DlhNzhkNzI3NzgzMjVmNTVjOTdmNzdiNmViZTJjM2MifQ=="/>
  <p:tag name="KSO_WPP_MARK_KEY" val="eac48f14-6e7d-4e50-8beb-635407391fb4"/>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5359f4c3-7e1d-4e19-b6bc-7f124675b0bd}"/>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c5ffed16-9bd6-4856-9689-b99741611b5c}"/>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553</TotalTime>
  <Words>5227</Words>
  <Application>Microsoft Office PowerPoint</Application>
  <PresentationFormat>全屏显示(4:3)</PresentationFormat>
  <Paragraphs>512</Paragraphs>
  <Slides>77</Slides>
  <Notes>0</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1</vt:i4>
      </vt:variant>
      <vt:variant>
        <vt:lpstr>幻灯片标题</vt:lpstr>
      </vt:variant>
      <vt:variant>
        <vt:i4>77</vt:i4>
      </vt:variant>
    </vt:vector>
  </HeadingPairs>
  <TitlesOfParts>
    <vt:vector size="95" baseType="lpstr">
      <vt:lpstr>等线</vt:lpstr>
      <vt:lpstr>等线 Light</vt:lpstr>
      <vt:lpstr>仿宋</vt:lpstr>
      <vt:lpstr>仿宋_GB2312</vt:lpstr>
      <vt:lpstr>黑体</vt:lpstr>
      <vt:lpstr>华文行楷</vt:lpstr>
      <vt:lpstr>楷体</vt:lpstr>
      <vt:lpstr>楷体_GB2312</vt:lpstr>
      <vt:lpstr>宋体</vt:lpstr>
      <vt:lpstr>Arial</vt:lpstr>
      <vt:lpstr>Arial Black</vt:lpstr>
      <vt:lpstr>Arial Narrow</vt:lpstr>
      <vt:lpstr>Calibri</vt:lpstr>
      <vt:lpstr>Times New Roman</vt:lpstr>
      <vt:lpstr>Verdana</vt:lpstr>
      <vt:lpstr>Wingdings</vt:lpstr>
      <vt:lpstr>Office 主题​​</vt:lpstr>
      <vt:lpstr>Flash.Movie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一、LED概念</vt:lpstr>
      <vt:lpstr>PowerPoint 演示文稿</vt:lpstr>
      <vt:lpstr>PowerPoint 演示文稿</vt:lpstr>
      <vt:lpstr>PowerPoint 演示文稿</vt:lpstr>
      <vt:lpstr>二、LED结构</vt:lpstr>
      <vt:lpstr>PowerPoint 演示文稿</vt:lpstr>
      <vt:lpstr>PowerPoint 演示文稿</vt:lpstr>
      <vt:lpstr>四、LED数码管编码方式</vt:lpstr>
      <vt:lpstr>PowerPoint 演示文稿</vt:lpstr>
      <vt:lpstr>共阴极和共阳极LED数码管字形与对应段码表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五、LED显示方式</vt:lpstr>
      <vt:lpstr>PowerPoint 演示文稿</vt:lpstr>
      <vt:lpstr>PowerPoint 演示文稿</vt:lpstr>
      <vt:lpstr>分析:说明4个共阴极LED静态显示3456数字的工作过程。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admin</cp:lastModifiedBy>
  <cp:revision>2424</cp:revision>
  <dcterms:created xsi:type="dcterms:W3CDTF">2008-12-23T04:22:00Z</dcterms:created>
  <dcterms:modified xsi:type="dcterms:W3CDTF">2024-03-21T13:59:09Z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7EF56C9B59544E6797CB2D34897BCC46</vt:lpwstr>
  </property>
  <property fmtid="{D5CDD505-2E9C-101B-9397-08002B2CF9AE}" pid="3" name="KSOProductBuildVer">
    <vt:lpwstr>2052-11.1.0.12358</vt:lpwstr>
  </property>
</Properties>
</file>